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4" r:id="rId4"/>
    <p:sldId id="286" r:id="rId5"/>
    <p:sldId id="287" r:id="rId6"/>
    <p:sldId id="288" r:id="rId7"/>
    <p:sldId id="289" r:id="rId8"/>
    <p:sldId id="290" r:id="rId9"/>
    <p:sldId id="291" r:id="rId10"/>
    <p:sldId id="292" r:id="rId11"/>
    <p:sldId id="293" r:id="rId12"/>
    <p:sldId id="294" r:id="rId13"/>
    <p:sldId id="296" r:id="rId14"/>
    <p:sldId id="297" r:id="rId15"/>
    <p:sldId id="298" r:id="rId16"/>
    <p:sldId id="303" r:id="rId17"/>
    <p:sldId id="299" r:id="rId18"/>
    <p:sldId id="300" r:id="rId19"/>
    <p:sldId id="295" r:id="rId20"/>
    <p:sldId id="301" r:id="rId21"/>
    <p:sldId id="305" r:id="rId22"/>
    <p:sldId id="302" r:id="rId2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5620"/>
    <p:restoredTop sz="94660"/>
  </p:normalViewPr>
  <p:slideViewPr>
    <p:cSldViewPr>
      <p:cViewPr varScale="1">
        <p:scale>
          <a:sx n="106" d="100"/>
          <a:sy n="106" d="100"/>
        </p:scale>
        <p:origin x="-92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printerSettings" Target="printerSettings/printerSettings1.bin"/><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12/11/13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44825"/>
            <a:ext cx="7772400" cy="2592288"/>
          </a:xfrm>
        </p:spPr>
        <p:txBody>
          <a:bodyPr>
            <a:normAutofit fontScale="90000"/>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第７回、８回</a:t>
            </a:r>
            <a:r>
              <a:rPr lang="en-US" altLang="ja-JP" dirty="0" smtClean="0"/>
              <a:t/>
            </a:r>
            <a:br>
              <a:rPr lang="en-US" altLang="ja-JP" dirty="0" smtClean="0"/>
            </a:br>
            <a:r>
              <a:rPr lang="ja-JP" altLang="en-US" dirty="0" smtClean="0"/>
              <a:t>ファイルシステム関連の</a:t>
            </a:r>
            <a:r>
              <a:rPr lang="en-US" altLang="ja-JP" dirty="0" smtClean="0"/>
              <a:t/>
            </a:r>
            <a:br>
              <a:rPr lang="en-US" altLang="ja-JP" dirty="0" smtClean="0"/>
            </a:br>
            <a:r>
              <a:rPr lang="ja-JP" altLang="en-US" dirty="0" smtClean="0"/>
              <a:t>システムコール</a:t>
            </a:r>
            <a:endParaRPr kumimoji="1" lang="ja-JP" altLang="en-US" dirty="0"/>
          </a:p>
        </p:txBody>
      </p:sp>
      <p:sp>
        <p:nvSpPr>
          <p:cNvPr id="4" name="テキスト ボックス 3"/>
          <p:cNvSpPr txBox="1"/>
          <p:nvPr/>
        </p:nvSpPr>
        <p:spPr>
          <a:xfrm>
            <a:off x="2734842" y="4929198"/>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ディレクトリファイル</a:t>
            </a:r>
            <a:endParaRPr kumimoji="1" lang="ja-JP" altLang="en-US" dirty="0"/>
          </a:p>
        </p:txBody>
      </p:sp>
      <p:sp>
        <p:nvSpPr>
          <p:cNvPr id="4" name="テキスト ボックス 3"/>
          <p:cNvSpPr txBox="1"/>
          <p:nvPr/>
        </p:nvSpPr>
        <p:spPr>
          <a:xfrm>
            <a:off x="1142977" y="1643050"/>
            <a:ext cx="7286676" cy="4401205"/>
          </a:xfrm>
          <a:prstGeom prst="rect">
            <a:avLst/>
          </a:prstGeom>
          <a:noFill/>
        </p:spPr>
        <p:txBody>
          <a:bodyPr wrap="square" rtlCol="0">
            <a:spAutoFit/>
          </a:bodyPr>
          <a:lstStyle/>
          <a:p>
            <a:r>
              <a:rPr kumimoji="1" lang="ja-JP" altLang="en-US" sz="2800" dirty="0" smtClean="0"/>
              <a:t>ディレクトリファイルには、ファイル名から</a:t>
            </a:r>
            <a:r>
              <a:rPr kumimoji="1" lang="en-US" altLang="ja-JP" sz="2800" dirty="0" err="1" smtClean="0"/>
              <a:t>i</a:t>
            </a:r>
            <a:r>
              <a:rPr kumimoji="1" lang="ja-JP" altLang="en-US" sz="2800" dirty="0" smtClean="0"/>
              <a:t>ノード番号</a:t>
            </a:r>
            <a:r>
              <a:rPr kumimoji="1" lang="en-US" altLang="ja-JP" sz="2800" dirty="0" smtClean="0"/>
              <a:t>(</a:t>
            </a:r>
            <a:r>
              <a:rPr kumimoji="1" lang="en-US" altLang="ja-JP" sz="2800" dirty="0" err="1" smtClean="0"/>
              <a:t>i</a:t>
            </a:r>
            <a:r>
              <a:rPr kumimoji="1" lang="ja-JP" altLang="en-US" sz="2800" dirty="0" smtClean="0"/>
              <a:t>ノードは</a:t>
            </a:r>
            <a:r>
              <a:rPr kumimoji="1" lang="en-US" altLang="ja-JP" sz="2800" dirty="0" smtClean="0"/>
              <a:t>index node</a:t>
            </a:r>
            <a:r>
              <a:rPr lang="ja-JP" altLang="en-US" sz="2800" dirty="0" smtClean="0"/>
              <a:t>の略</a:t>
            </a:r>
            <a:r>
              <a:rPr lang="en-US" altLang="ja-JP" sz="2800" dirty="0" smtClean="0"/>
              <a:t>)</a:t>
            </a:r>
            <a:r>
              <a:rPr lang="ja-JP" altLang="en-US" sz="2800" dirty="0" err="1" smtClean="0"/>
              <a:t>への</a:t>
            </a:r>
            <a:r>
              <a:rPr lang="ja-JP" altLang="en-US" sz="2800" dirty="0" smtClean="0"/>
              <a:t>対応がファイルの数だけ格納されている。（実際のデータ構造は、ハッシュテーブルや線形リストなど。）</a:t>
            </a:r>
            <a:endParaRPr lang="en-US" altLang="ja-JP" sz="2800" dirty="0" smtClean="0"/>
          </a:p>
          <a:p>
            <a:endParaRPr kumimoji="1" lang="en-US" altLang="ja-JP" sz="2800" dirty="0" smtClean="0"/>
          </a:p>
          <a:p>
            <a:r>
              <a:rPr lang="ja-JP" altLang="en-US" sz="2800" dirty="0" smtClean="0"/>
              <a:t>ファイルの</a:t>
            </a:r>
            <a:r>
              <a:rPr lang="en-US" altLang="ja-JP" sz="2800" dirty="0" err="1" smtClean="0"/>
              <a:t>i</a:t>
            </a:r>
            <a:r>
              <a:rPr lang="ja-JP" altLang="en-US" sz="2800" dirty="0" smtClean="0"/>
              <a:t>ノード番号は</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a:t>
            </a:r>
            <a:r>
              <a:rPr kumimoji="1" lang="en-US" altLang="ja-JP" sz="2800" dirty="0" err="1" smtClean="0"/>
              <a:t>li</a:t>
            </a:r>
            <a:endParaRPr kumimoji="1" lang="en-US" altLang="ja-JP" sz="2800" dirty="0" smtClean="0"/>
          </a:p>
          <a:p>
            <a:r>
              <a:rPr lang="ja-JP" altLang="en-US" sz="2800" dirty="0" smtClean="0"/>
              <a:t>等、</a:t>
            </a:r>
            <a:r>
              <a:rPr lang="en-US" altLang="ja-JP" sz="2800" dirty="0" err="1" smtClean="0"/>
              <a:t>ls</a:t>
            </a:r>
            <a:r>
              <a:rPr lang="ja-JP" altLang="en-US" sz="2800" dirty="0" smtClean="0"/>
              <a:t>に</a:t>
            </a:r>
            <a:r>
              <a:rPr lang="en-US" altLang="ja-JP" sz="2800" dirty="0" smtClean="0"/>
              <a:t>-</a:t>
            </a:r>
            <a:r>
              <a:rPr lang="en-US" altLang="ja-JP" sz="2800" dirty="0" err="1" smtClean="0"/>
              <a:t>i</a:t>
            </a:r>
            <a:r>
              <a:rPr lang="ja-JP" altLang="en-US" sz="2800" dirty="0" smtClean="0"/>
              <a:t>オプションを与えると確認できる。</a:t>
            </a:r>
            <a:endParaRPr lang="en-US" altLang="ja-JP" sz="2800" dirty="0" smtClean="0"/>
          </a:p>
          <a:p>
            <a:endParaRPr kumimoji="1" lang="en-US" altLang="ja-JP" sz="2800" dirty="0" smtClean="0"/>
          </a:p>
          <a:p>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ファイルシステムの実装</a:t>
            </a:r>
            <a:endParaRPr kumimoji="1" lang="ja-JP" altLang="en-US" dirty="0"/>
          </a:p>
        </p:txBody>
      </p:sp>
      <p:sp>
        <p:nvSpPr>
          <p:cNvPr id="5" name="テキスト ボックス 4"/>
          <p:cNvSpPr txBox="1"/>
          <p:nvPr/>
        </p:nvSpPr>
        <p:spPr>
          <a:xfrm>
            <a:off x="428596" y="1285860"/>
            <a:ext cx="8358246" cy="5262979"/>
          </a:xfrm>
          <a:prstGeom prst="rect">
            <a:avLst/>
          </a:prstGeom>
          <a:noFill/>
        </p:spPr>
        <p:txBody>
          <a:bodyPr wrap="square" rtlCol="0">
            <a:spAutoFit/>
          </a:bodyPr>
          <a:lstStyle/>
          <a:p>
            <a:r>
              <a:rPr kumimoji="1" lang="ja-JP" altLang="en-US" sz="2800" dirty="0" smtClean="0"/>
              <a:t>ファイルシステムは、ブートブロック、スーパーブロック、</a:t>
            </a:r>
            <a:r>
              <a:rPr kumimoji="1" lang="en-US" altLang="ja-JP" sz="2800" dirty="0" err="1" smtClean="0"/>
              <a:t>i</a:t>
            </a:r>
            <a:r>
              <a:rPr kumimoji="1" lang="ja-JP" altLang="en-US" sz="2800" dirty="0" smtClean="0"/>
              <a:t>ノードリスト、データブロックの４つの領域から構成される。</a:t>
            </a:r>
            <a:endParaRPr lang="en-US" altLang="ja-JP" sz="2800" dirty="0" smtClean="0"/>
          </a:p>
          <a:p>
            <a:pPr>
              <a:buFont typeface="Arial" pitchFamily="34" charset="0"/>
              <a:buChar char="•"/>
            </a:pPr>
            <a:r>
              <a:rPr kumimoji="1" lang="ja-JP" altLang="en-US" sz="2800" dirty="0" smtClean="0"/>
              <a:t>  ブートブロック </a:t>
            </a:r>
            <a:r>
              <a:rPr kumimoji="1" lang="en-US" altLang="ja-JP" sz="2800" dirty="0" smtClean="0"/>
              <a:t>--- </a:t>
            </a:r>
            <a:r>
              <a:rPr lang="en-US" altLang="ja-JP" sz="2800" dirty="0" smtClean="0"/>
              <a:t>OS</a:t>
            </a:r>
            <a:r>
              <a:rPr kumimoji="1" lang="ja-JP" altLang="en-US" sz="2800" dirty="0" smtClean="0"/>
              <a:t>を起動するためのプログラムを格納。</a:t>
            </a:r>
            <a:endParaRPr kumimoji="1" lang="en-US" altLang="ja-JP" sz="2800" dirty="0" smtClean="0"/>
          </a:p>
          <a:p>
            <a:pPr>
              <a:buFont typeface="Arial" pitchFamily="34" charset="0"/>
              <a:buChar char="•"/>
            </a:pPr>
            <a:r>
              <a:rPr lang="ja-JP" altLang="en-US" sz="2800" dirty="0" smtClean="0"/>
              <a:t>  スーパーブロック </a:t>
            </a:r>
            <a:r>
              <a:rPr lang="en-US" altLang="ja-JP" sz="2800" dirty="0" smtClean="0"/>
              <a:t>--- </a:t>
            </a:r>
            <a:r>
              <a:rPr lang="ja-JP" altLang="en-US" sz="2800" dirty="0" smtClean="0"/>
              <a:t>ファイルシステムの大きさ、ブロック数、ブロックサイズ、空きブロック、</a:t>
            </a:r>
            <a:r>
              <a:rPr lang="en-US" altLang="ja-JP" sz="2800" dirty="0" err="1" smtClean="0"/>
              <a:t>i</a:t>
            </a:r>
            <a:r>
              <a:rPr lang="ja-JP" altLang="en-US" sz="2800" dirty="0" smtClean="0"/>
              <a:t>ノードリストの大きさ、空き</a:t>
            </a:r>
            <a:r>
              <a:rPr lang="en-US" altLang="ja-JP" sz="2800" dirty="0" err="1" smtClean="0"/>
              <a:t>i</a:t>
            </a:r>
            <a:r>
              <a:rPr lang="ja-JP" altLang="en-US" sz="2800" dirty="0" smtClean="0"/>
              <a:t>ノードリストの情報などを格納。</a:t>
            </a:r>
            <a:endParaRPr lang="en-US" altLang="ja-JP" sz="2800" dirty="0" smtClean="0"/>
          </a:p>
          <a:p>
            <a:pPr>
              <a:buFont typeface="Arial" pitchFamily="34" charset="0"/>
              <a:buChar char="•"/>
            </a:pPr>
            <a:r>
              <a:rPr lang="en-US" altLang="ja-JP" sz="2800" dirty="0" smtClean="0"/>
              <a:t>  </a:t>
            </a:r>
            <a:r>
              <a:rPr lang="en-US" altLang="ja-JP" sz="2800" dirty="0" err="1" smtClean="0"/>
              <a:t>i</a:t>
            </a:r>
            <a:r>
              <a:rPr lang="ja-JP" altLang="en-US" sz="2800" dirty="0" smtClean="0"/>
              <a:t>ノードリスト </a:t>
            </a:r>
            <a:r>
              <a:rPr lang="en-US" altLang="ja-JP" sz="2800" dirty="0" smtClean="0"/>
              <a:t>--- </a:t>
            </a:r>
            <a:r>
              <a:rPr lang="en-US" altLang="ja-JP" sz="2800" dirty="0" err="1" smtClean="0"/>
              <a:t>i</a:t>
            </a:r>
            <a:r>
              <a:rPr lang="ja-JP" altLang="en-US" sz="2800" dirty="0" smtClean="0"/>
              <a:t>ノードのリスト。</a:t>
            </a:r>
            <a:r>
              <a:rPr lang="en-US" altLang="ja-JP" sz="2800" dirty="0" err="1" smtClean="0"/>
              <a:t>i</a:t>
            </a:r>
            <a:r>
              <a:rPr lang="ja-JP" altLang="en-US" sz="2800" dirty="0" smtClean="0"/>
              <a:t>ノードには各ファイルの種類、所有者、</a:t>
            </a:r>
            <a:r>
              <a:rPr lang="en-US" altLang="ja-JP" sz="2800" dirty="0" smtClean="0"/>
              <a:t>permission</a:t>
            </a:r>
            <a:r>
              <a:rPr lang="ja-JP" altLang="en-US" sz="2800" dirty="0" err="1" smtClean="0"/>
              <a:t>、</a:t>
            </a:r>
            <a:r>
              <a:rPr lang="ja-JP" altLang="en-US" sz="2800" dirty="0" smtClean="0"/>
              <a:t>変更時刻、ファイルサイズ、データブロック内の場所などが格納されている。</a:t>
            </a:r>
            <a:endParaRPr lang="en-US" altLang="ja-JP" sz="2800" dirty="0" smtClean="0"/>
          </a:p>
          <a:p>
            <a:pPr>
              <a:buFont typeface="Arial" pitchFamily="34" charset="0"/>
              <a:buChar char="•"/>
            </a:pPr>
            <a:r>
              <a:rPr lang="ja-JP" altLang="en-US" sz="2800" dirty="0" smtClean="0"/>
              <a:t>  データブロック </a:t>
            </a:r>
            <a:r>
              <a:rPr lang="en-US" altLang="ja-JP" sz="2800" dirty="0" smtClean="0"/>
              <a:t>--- </a:t>
            </a:r>
            <a:r>
              <a:rPr lang="ja-JP" altLang="en-US" sz="2800" dirty="0" smtClean="0"/>
              <a:t>ファイルの中身が格納されている。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o</a:t>
            </a:r>
            <a:r>
              <a:rPr kumimoji="1" lang="en-US" altLang="ja-JP" dirty="0" smtClean="0"/>
              <a:t>pen</a:t>
            </a:r>
            <a:r>
              <a:rPr kumimoji="1" lang="ja-JP" altLang="en-US" dirty="0" smtClean="0"/>
              <a:t>システム</a:t>
            </a:r>
            <a:r>
              <a:rPr lang="ja-JP" altLang="en-US" dirty="0" smtClean="0"/>
              <a:t>コール</a:t>
            </a:r>
            <a:endParaRPr kumimoji="1" lang="ja-JP" altLang="en-US" dirty="0"/>
          </a:p>
        </p:txBody>
      </p:sp>
      <p:sp>
        <p:nvSpPr>
          <p:cNvPr id="4" name="テキスト ボックス 3"/>
          <p:cNvSpPr txBox="1"/>
          <p:nvPr/>
        </p:nvSpPr>
        <p:spPr>
          <a:xfrm>
            <a:off x="500034" y="1428736"/>
            <a:ext cx="8143900" cy="2677656"/>
          </a:xfrm>
          <a:prstGeom prst="rect">
            <a:avLst/>
          </a:prstGeom>
          <a:noFill/>
        </p:spPr>
        <p:txBody>
          <a:bodyPr wrap="square" rtlCol="0">
            <a:spAutoFit/>
          </a:bodyPr>
          <a:lstStyle/>
          <a:p>
            <a:r>
              <a:rPr kumimoji="1" lang="ja-JP" altLang="en-US" sz="2800" dirty="0" smtClean="0"/>
              <a:t>ファイルからのデータの読み込み</a:t>
            </a:r>
            <a:r>
              <a:rPr lang="ja-JP" altLang="en-US" sz="2800" dirty="0" smtClean="0"/>
              <a:t>、ファイルへのデータの書き込みを</a:t>
            </a:r>
            <a:r>
              <a:rPr kumimoji="1" lang="ja-JP" altLang="en-US" sz="2800" dirty="0" smtClean="0"/>
              <a:t>するには、まずファイルをオープンする。これを行うのが</a:t>
            </a:r>
            <a:r>
              <a:rPr kumimoji="1" lang="en-US" altLang="ja-JP" sz="2800" dirty="0" smtClean="0"/>
              <a:t>open</a:t>
            </a:r>
            <a:r>
              <a:rPr kumimoji="1" lang="ja-JP" altLang="en-US" sz="2800" dirty="0" smtClean="0"/>
              <a:t>システムコールである。</a:t>
            </a:r>
            <a:endParaRPr kumimoji="1" lang="en-US" altLang="ja-JP" sz="2800" dirty="0" smtClean="0"/>
          </a:p>
          <a:p>
            <a:endParaRPr lang="en-US" altLang="ja-JP" sz="2800" dirty="0" smtClean="0"/>
          </a:p>
          <a:p>
            <a:r>
              <a:rPr lang="en-US" altLang="ja-JP" sz="2800" dirty="0" smtClean="0"/>
              <a:t>open</a:t>
            </a:r>
            <a:r>
              <a:rPr lang="ja-JP" altLang="en-US" sz="2800" dirty="0" smtClean="0"/>
              <a:t>システムコールを使う場合、</a:t>
            </a:r>
            <a:r>
              <a:rPr lang="en-US" altLang="ja-JP" sz="2800" dirty="0" err="1" smtClean="0"/>
              <a:t>types.h</a:t>
            </a:r>
            <a:r>
              <a:rPr lang="en-US" altLang="ja-JP" sz="2800" dirty="0" smtClean="0"/>
              <a:t>, </a:t>
            </a:r>
            <a:r>
              <a:rPr lang="en-US" altLang="ja-JP" sz="2800" dirty="0" err="1" smtClean="0"/>
              <a:t>stat.h</a:t>
            </a:r>
            <a:r>
              <a:rPr lang="en-US" altLang="ja-JP" sz="2800" dirty="0" smtClean="0"/>
              <a:t>, </a:t>
            </a:r>
            <a:r>
              <a:rPr lang="en-US" altLang="ja-JP" sz="2800" dirty="0" err="1" smtClean="0"/>
              <a:t>fcntl.h</a:t>
            </a:r>
            <a:r>
              <a:rPr lang="ja-JP" altLang="en-US" sz="2800" dirty="0" smtClean="0"/>
              <a:t>をインクルードする。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85804" y="357166"/>
            <a:ext cx="8229600" cy="500066"/>
          </a:xfrm>
        </p:spPr>
        <p:txBody>
          <a:bodyPr>
            <a:normAutofit fontScale="90000"/>
          </a:bodyPr>
          <a:lstStyle/>
          <a:p>
            <a:r>
              <a:rPr lang="en-US" altLang="ja-JP" dirty="0" smtClean="0"/>
              <a:t>o</a:t>
            </a:r>
            <a:r>
              <a:rPr kumimoji="1" lang="en-US" altLang="ja-JP" dirty="0" smtClean="0"/>
              <a:t>pen</a:t>
            </a:r>
            <a:r>
              <a:rPr kumimoji="1" lang="ja-JP" altLang="en-US" dirty="0" smtClean="0"/>
              <a:t>システムコールの引数</a:t>
            </a:r>
            <a:endParaRPr kumimoji="1" lang="ja-JP" altLang="en-US" dirty="0"/>
          </a:p>
        </p:txBody>
      </p:sp>
      <p:sp>
        <p:nvSpPr>
          <p:cNvPr id="4" name="テキスト ボックス 3"/>
          <p:cNvSpPr txBox="1"/>
          <p:nvPr/>
        </p:nvSpPr>
        <p:spPr>
          <a:xfrm>
            <a:off x="500034" y="1166417"/>
            <a:ext cx="8215370" cy="5262979"/>
          </a:xfrm>
          <a:prstGeom prst="rect">
            <a:avLst/>
          </a:prstGeom>
          <a:noFill/>
        </p:spPr>
        <p:txBody>
          <a:bodyPr wrap="square" rtlCol="0">
            <a:spAutoFit/>
          </a:bodyPr>
          <a:lstStyle/>
          <a:p>
            <a:r>
              <a:rPr lang="en-US" altLang="ja-JP" sz="2800" dirty="0" smtClean="0"/>
              <a:t>o</a:t>
            </a:r>
            <a:r>
              <a:rPr kumimoji="1" lang="en-US" altLang="ja-JP" sz="2800" dirty="0" smtClean="0"/>
              <a:t>pen</a:t>
            </a:r>
            <a:r>
              <a:rPr kumimoji="1" lang="ja-JP" altLang="en-US" sz="2800" dirty="0" smtClean="0"/>
              <a:t>システムコールは、パス名、フラグ</a:t>
            </a:r>
            <a:r>
              <a:rPr lang="ja-JP" altLang="en-US" sz="2800" dirty="0" smtClean="0"/>
              <a:t>の２引数あるいは、これらに</a:t>
            </a:r>
            <a:r>
              <a:rPr kumimoji="1" lang="ja-JP" altLang="en-US" sz="2800" dirty="0" smtClean="0"/>
              <a:t>モードを加えた３引数で呼び出す。</a:t>
            </a:r>
            <a:endParaRPr lang="en-US" altLang="ja-JP" sz="2800" dirty="0" smtClean="0"/>
          </a:p>
          <a:p>
            <a:r>
              <a:rPr kumimoji="1" lang="ja-JP" altLang="en-US" sz="2800" dirty="0" smtClean="0"/>
              <a:t>パス名で指定されたファイルを、フラグに従ってオープンし、ファイル記述子</a:t>
            </a:r>
            <a:r>
              <a:rPr kumimoji="1" lang="en-US" altLang="ja-JP" sz="2800" dirty="0" smtClean="0"/>
              <a:t>(file descriptor,  </a:t>
            </a:r>
            <a:r>
              <a:rPr kumimoji="1" lang="en-US" altLang="ja-JP" sz="2800" dirty="0" err="1" smtClean="0"/>
              <a:t>int</a:t>
            </a:r>
            <a:r>
              <a:rPr kumimoji="1" lang="ja-JP" altLang="en-US" sz="2800" dirty="0" smtClean="0"/>
              <a:t>型</a:t>
            </a:r>
            <a:r>
              <a:rPr kumimoji="1" lang="en-US" altLang="ja-JP" sz="2800" dirty="0" smtClean="0"/>
              <a:t>)</a:t>
            </a:r>
            <a:r>
              <a:rPr kumimoji="1" lang="ja-JP" altLang="en-US" sz="2800" dirty="0" smtClean="0"/>
              <a:t>を返す。フラグが</a:t>
            </a:r>
            <a:r>
              <a:rPr kumimoji="1" lang="en-US" altLang="ja-JP" sz="2800" dirty="0" smtClean="0"/>
              <a:t>O_CREAT</a:t>
            </a:r>
            <a:r>
              <a:rPr kumimoji="1" lang="ja-JP" altLang="en-US" sz="2800" dirty="0" smtClean="0"/>
              <a:t>の場合、モードが必要。</a:t>
            </a:r>
            <a:endParaRPr kumimoji="1" lang="en-US" altLang="ja-JP" sz="2800" dirty="0" smtClean="0"/>
          </a:p>
          <a:p>
            <a:r>
              <a:rPr lang="ja-JP" altLang="en-US" sz="2800" dirty="0" smtClean="0"/>
              <a:t>ファイル記述子は、利用者ファイル記述子表の</a:t>
            </a:r>
            <a:endParaRPr kumimoji="1" lang="en-US" altLang="ja-JP" sz="2800" dirty="0" smtClean="0"/>
          </a:p>
          <a:p>
            <a:r>
              <a:rPr lang="ja-JP" altLang="en-US" sz="2800" dirty="0" smtClean="0"/>
              <a:t>何番目かを表す。</a:t>
            </a:r>
            <a:endParaRPr lang="en-US" altLang="ja-JP" sz="2800" dirty="0" smtClean="0"/>
          </a:p>
          <a:p>
            <a:r>
              <a:rPr kumimoji="1" lang="ja-JP" altLang="en-US" sz="2800" dirty="0" smtClean="0"/>
              <a:t>オープンするとは、データ入出力用のバッファを確保し、利用者ファイル記述子表中の１つの構造体を割り当て、構造体の各メンバーに初期値を設定することをいう。</a:t>
            </a:r>
            <a:endParaRPr kumimoji="1" lang="en-US" altLang="ja-JP" sz="2800" dirty="0" smtClean="0"/>
          </a:p>
          <a:p>
            <a:r>
              <a:rPr lang="ja-JP" altLang="en-US" sz="2800" dirty="0" smtClean="0"/>
              <a:t>利用者ファイル記述子表については</a:t>
            </a:r>
            <a:r>
              <a:rPr lang="en-US" altLang="ja-JP" sz="2800" dirty="0" smtClean="0"/>
              <a:t>dup</a:t>
            </a:r>
            <a:r>
              <a:rPr lang="ja-JP" altLang="en-US" sz="2800" dirty="0" smtClean="0"/>
              <a:t>システムコールの説明時に説明する。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normAutofit/>
          </a:bodyPr>
          <a:lstStyle/>
          <a:p>
            <a:r>
              <a:rPr lang="en-US" altLang="ja-JP" sz="3600" dirty="0" smtClean="0"/>
              <a:t>o</a:t>
            </a:r>
            <a:r>
              <a:rPr kumimoji="1" lang="en-US" altLang="ja-JP" sz="3600" dirty="0" smtClean="0"/>
              <a:t>pen</a:t>
            </a:r>
            <a:r>
              <a:rPr kumimoji="1" lang="ja-JP" altLang="en-US" sz="3600" dirty="0" smtClean="0"/>
              <a:t>システムコールの代表的なフラグ</a:t>
            </a:r>
            <a:endParaRPr kumimoji="1" lang="ja-JP" altLang="en-US" sz="3600" dirty="0"/>
          </a:p>
        </p:txBody>
      </p:sp>
      <p:sp>
        <p:nvSpPr>
          <p:cNvPr id="4" name="テキスト ボックス 3"/>
          <p:cNvSpPr txBox="1"/>
          <p:nvPr/>
        </p:nvSpPr>
        <p:spPr>
          <a:xfrm>
            <a:off x="357158" y="1714488"/>
            <a:ext cx="8501122" cy="3539430"/>
          </a:xfrm>
          <a:prstGeom prst="rect">
            <a:avLst/>
          </a:prstGeom>
          <a:noFill/>
        </p:spPr>
        <p:txBody>
          <a:bodyPr wrap="square" rtlCol="0">
            <a:spAutoFit/>
          </a:bodyPr>
          <a:lstStyle/>
          <a:p>
            <a:r>
              <a:rPr kumimoji="1" lang="en-US" altLang="ja-JP" sz="2800" dirty="0" smtClean="0"/>
              <a:t>O_RDONLY --- </a:t>
            </a:r>
            <a:r>
              <a:rPr kumimoji="1" lang="ja-JP" altLang="en-US" sz="2800" dirty="0" smtClean="0"/>
              <a:t>読みだしのみ</a:t>
            </a:r>
            <a:endParaRPr kumimoji="1" lang="en-US" altLang="ja-JP" sz="2800" dirty="0" smtClean="0"/>
          </a:p>
          <a:p>
            <a:r>
              <a:rPr lang="en-US" altLang="ja-JP" sz="2800" dirty="0" smtClean="0"/>
              <a:t>O_WRONLY --- </a:t>
            </a:r>
            <a:r>
              <a:rPr lang="ja-JP" altLang="en-US" sz="2800" dirty="0" smtClean="0"/>
              <a:t>書き込みのみ</a:t>
            </a:r>
            <a:endParaRPr lang="en-US" altLang="ja-JP" sz="2800" dirty="0" smtClean="0"/>
          </a:p>
          <a:p>
            <a:r>
              <a:rPr kumimoji="1" lang="en-US" altLang="ja-JP" sz="2800" dirty="0" smtClean="0"/>
              <a:t>O_RDWR --- </a:t>
            </a:r>
            <a:r>
              <a:rPr kumimoji="1" lang="ja-JP" altLang="en-US" sz="2800" dirty="0" smtClean="0"/>
              <a:t>読み出し、書き込みの両方</a:t>
            </a:r>
            <a:r>
              <a:rPr lang="ja-JP" altLang="en-US" sz="2800" dirty="0" smtClean="0"/>
              <a:t>を行う</a:t>
            </a:r>
            <a:endParaRPr lang="en-US" altLang="ja-JP" sz="2800" dirty="0" smtClean="0"/>
          </a:p>
          <a:p>
            <a:r>
              <a:rPr kumimoji="1" lang="en-US" altLang="ja-JP" sz="2800" dirty="0" smtClean="0"/>
              <a:t>O_CREAT </a:t>
            </a:r>
            <a:r>
              <a:rPr lang="en-US" altLang="ja-JP" sz="2800" dirty="0" smtClean="0"/>
              <a:t>--- </a:t>
            </a:r>
            <a:r>
              <a:rPr lang="ja-JP" altLang="en-US" sz="2800" dirty="0" smtClean="0"/>
              <a:t>ファイルが存在しない場合作成する。第３引数のモードでファイルの</a:t>
            </a:r>
            <a:r>
              <a:rPr lang="en-US" altLang="ja-JP" sz="2800" dirty="0" smtClean="0"/>
              <a:t>permission</a:t>
            </a:r>
            <a:r>
              <a:rPr lang="ja-JP" altLang="en-US" sz="2800" dirty="0" smtClean="0"/>
              <a:t>等を設定する。</a:t>
            </a:r>
            <a:endParaRPr lang="en-US" altLang="ja-JP" sz="2800" dirty="0" smtClean="0"/>
          </a:p>
          <a:p>
            <a:endParaRPr lang="en-US" altLang="ja-JP" sz="2800" dirty="0" smtClean="0"/>
          </a:p>
          <a:p>
            <a:r>
              <a:rPr lang="ja-JP" altLang="en-US" sz="2800" dirty="0" smtClean="0"/>
              <a:t>これらのフラグは</a:t>
            </a:r>
            <a:r>
              <a:rPr lang="en-US" altLang="ja-JP" sz="2800" dirty="0" err="1" smtClean="0"/>
              <a:t>fcntl.h</a:t>
            </a:r>
            <a:r>
              <a:rPr lang="ja-JP" altLang="en-US" sz="2800" dirty="0" smtClean="0"/>
              <a:t>に記述されているので、インクルードして使う。</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モード</a:t>
            </a:r>
            <a:endParaRPr kumimoji="1" lang="ja-JP" altLang="en-US" dirty="0"/>
          </a:p>
        </p:txBody>
      </p:sp>
      <p:sp>
        <p:nvSpPr>
          <p:cNvPr id="5" name="テキスト ボックス 4"/>
          <p:cNvSpPr txBox="1"/>
          <p:nvPr/>
        </p:nvSpPr>
        <p:spPr>
          <a:xfrm>
            <a:off x="785786" y="1500174"/>
            <a:ext cx="7643866" cy="5262979"/>
          </a:xfrm>
          <a:prstGeom prst="rect">
            <a:avLst/>
          </a:prstGeom>
          <a:noFill/>
        </p:spPr>
        <p:txBody>
          <a:bodyPr wrap="square" rtlCol="0">
            <a:spAutoFit/>
          </a:bodyPr>
          <a:lstStyle/>
          <a:p>
            <a:r>
              <a:rPr lang="en-US" altLang="ja-JP" sz="2800" dirty="0" smtClean="0"/>
              <a:t>open</a:t>
            </a:r>
            <a:r>
              <a:rPr lang="ja-JP" altLang="en-US" sz="2800" dirty="0" smtClean="0"/>
              <a:t>システムコールの第３引数に与えられるモードでは、ファイルの</a:t>
            </a:r>
            <a:r>
              <a:rPr lang="en-US" altLang="ja-JP" sz="2800" dirty="0" smtClean="0"/>
              <a:t>permission</a:t>
            </a:r>
            <a:r>
              <a:rPr lang="ja-JP" altLang="en-US" sz="2800" dirty="0" smtClean="0"/>
              <a:t>およびセットユーザ</a:t>
            </a:r>
            <a:r>
              <a:rPr lang="en-US" altLang="ja-JP" sz="2800" dirty="0" smtClean="0"/>
              <a:t>ID</a:t>
            </a:r>
            <a:r>
              <a:rPr lang="ja-JP" altLang="en-US" sz="2800" dirty="0" smtClean="0"/>
              <a:t>ビット、セットグループ</a:t>
            </a:r>
            <a:r>
              <a:rPr lang="en-US" altLang="ja-JP" sz="2800" dirty="0" smtClean="0"/>
              <a:t>ID</a:t>
            </a:r>
            <a:r>
              <a:rPr lang="ja-JP" altLang="en-US" sz="2800" dirty="0" smtClean="0"/>
              <a:t>ビット、</a:t>
            </a:r>
            <a:r>
              <a:rPr lang="en-US" altLang="ja-JP" sz="2800" dirty="0" smtClean="0"/>
              <a:t>sticky</a:t>
            </a:r>
            <a:r>
              <a:rPr lang="ja-JP" altLang="en-US" sz="2800" dirty="0" smtClean="0"/>
              <a:t>ビット</a:t>
            </a:r>
            <a:r>
              <a:rPr lang="en-US" altLang="ja-JP" sz="2800" dirty="0" smtClean="0"/>
              <a:t>(/</a:t>
            </a:r>
            <a:r>
              <a:rPr lang="en-US" altLang="ja-JP" sz="2800" dirty="0" err="1" smtClean="0"/>
              <a:t>tmp</a:t>
            </a:r>
            <a:r>
              <a:rPr lang="ja-JP" altLang="en-US" sz="2800" dirty="0" smtClean="0"/>
              <a:t>などで使用</a:t>
            </a:r>
            <a:r>
              <a:rPr lang="en-US" altLang="ja-JP" sz="2800" dirty="0" smtClean="0"/>
              <a:t>)</a:t>
            </a:r>
            <a:r>
              <a:rPr lang="ja-JP" altLang="en-US" sz="2800" dirty="0" smtClean="0"/>
              <a:t>を</a:t>
            </a:r>
            <a:r>
              <a:rPr lang="en-US" altLang="ja-JP" sz="2800" dirty="0" smtClean="0"/>
              <a:t>12</a:t>
            </a:r>
            <a:r>
              <a:rPr lang="ja-JP" altLang="en-US" sz="2800" dirty="0" smtClean="0"/>
              <a:t>桁の２進数で表す。代表的な数値は</a:t>
            </a:r>
            <a:r>
              <a:rPr lang="en-US" altLang="ja-JP" sz="2800" dirty="0" err="1" smtClean="0"/>
              <a:t>stat.h</a:t>
            </a:r>
            <a:r>
              <a:rPr lang="ja-JP" altLang="en-US" sz="2800" dirty="0" smtClean="0"/>
              <a:t>でマクロとして提供されているが、数値で直接指定してよい。</a:t>
            </a:r>
            <a:endParaRPr lang="en-US" altLang="ja-JP" sz="2800" dirty="0" smtClean="0"/>
          </a:p>
          <a:p>
            <a:endParaRPr lang="en-US" altLang="ja-JP" sz="2800" dirty="0" smtClean="0"/>
          </a:p>
          <a:p>
            <a:r>
              <a:rPr lang="ja-JP" altLang="en-US" sz="2800" dirty="0" smtClean="0"/>
              <a:t>（例）</a:t>
            </a:r>
            <a:r>
              <a:rPr lang="en-US" altLang="ja-JP" sz="2800" dirty="0" smtClean="0"/>
              <a:t>S_IRWXU</a:t>
            </a:r>
            <a:r>
              <a:rPr lang="ja-JP" altLang="en-US" sz="2800" dirty="0" smtClean="0"/>
              <a:t> </a:t>
            </a:r>
            <a:r>
              <a:rPr lang="en-US" altLang="ja-JP" sz="2800" dirty="0" smtClean="0"/>
              <a:t>--- </a:t>
            </a:r>
            <a:r>
              <a:rPr lang="ja-JP" altLang="en-US" sz="2800" dirty="0" smtClean="0"/>
              <a:t>所有者は</a:t>
            </a:r>
            <a:r>
              <a:rPr lang="en-US" altLang="ja-JP" sz="2800" dirty="0" smtClean="0"/>
              <a:t>read, write, execute</a:t>
            </a:r>
            <a:r>
              <a:rPr lang="ja-JP" altLang="en-US" sz="2800" dirty="0" smtClean="0"/>
              <a:t>ができる。</a:t>
            </a:r>
            <a:endParaRPr lang="en-US" altLang="ja-JP" sz="2800" dirty="0" smtClean="0"/>
          </a:p>
          <a:p>
            <a:r>
              <a:rPr lang="ja-JP" altLang="en-US" sz="2800" dirty="0" smtClean="0"/>
              <a:t>その他にもあるが、</a:t>
            </a:r>
            <a:endParaRPr lang="en-US" altLang="ja-JP" sz="2800" dirty="0" smtClean="0"/>
          </a:p>
          <a:p>
            <a:r>
              <a:rPr lang="en-US" altLang="ja-JP" sz="2800" dirty="0" smtClean="0"/>
              <a:t>  </a:t>
            </a:r>
            <a:r>
              <a:rPr lang="ja-JP" altLang="en-US" sz="2800" dirty="0" smtClean="0"/>
              <a:t>  </a:t>
            </a:r>
            <a:r>
              <a:rPr lang="en-US" altLang="ja-JP" sz="2800" dirty="0" smtClean="0"/>
              <a:t>$  man –S 2 open</a:t>
            </a:r>
          </a:p>
          <a:p>
            <a:r>
              <a:rPr lang="ja-JP" altLang="en-US" sz="2800" dirty="0" smtClean="0"/>
              <a:t>で確認。</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ead</a:t>
            </a:r>
            <a:r>
              <a:rPr kumimoji="1" lang="ja-JP" altLang="en-US" dirty="0" smtClean="0"/>
              <a:t>システムコール</a:t>
            </a:r>
            <a:endParaRPr kumimoji="1" lang="ja-JP" altLang="en-US" dirty="0"/>
          </a:p>
        </p:txBody>
      </p:sp>
      <p:sp>
        <p:nvSpPr>
          <p:cNvPr id="4" name="テキスト ボックス 3"/>
          <p:cNvSpPr txBox="1"/>
          <p:nvPr/>
        </p:nvSpPr>
        <p:spPr>
          <a:xfrm>
            <a:off x="714348" y="1571612"/>
            <a:ext cx="8001056" cy="4832092"/>
          </a:xfrm>
          <a:prstGeom prst="rect">
            <a:avLst/>
          </a:prstGeom>
          <a:noFill/>
        </p:spPr>
        <p:txBody>
          <a:bodyPr wrap="square" rtlCol="0">
            <a:spAutoFit/>
          </a:bodyPr>
          <a:lstStyle/>
          <a:p>
            <a:r>
              <a:rPr kumimoji="1" lang="ja-JP" altLang="en-US" sz="2800" dirty="0" smtClean="0"/>
              <a:t>ファイルからデータを読み出すためのシステムコールが</a:t>
            </a:r>
            <a:r>
              <a:rPr kumimoji="1" lang="en-US" altLang="ja-JP" sz="2800" dirty="0" smtClean="0"/>
              <a:t>read</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ファイル記述子、データ格納領域へのポインタ、読み出しバイト数を引数に与える。返り値は読み出したバイト数。これが</a:t>
            </a:r>
            <a:r>
              <a:rPr kumimoji="1" lang="en-US" altLang="ja-JP" sz="2800" dirty="0" smtClean="0"/>
              <a:t>0</a:t>
            </a:r>
            <a:r>
              <a:rPr kumimoji="1" lang="ja-JP" altLang="en-US" sz="2800" dirty="0" smtClean="0"/>
              <a:t>のときはファイルの最後まで読み終わっているということになる。</a:t>
            </a:r>
            <a:endParaRPr lang="en-US" altLang="ja-JP" sz="2800" dirty="0" smtClean="0"/>
          </a:p>
          <a:p>
            <a:r>
              <a:rPr lang="en-US" altLang="ja-JP" sz="2800" dirty="0" smtClean="0"/>
              <a:t>r</a:t>
            </a:r>
            <a:r>
              <a:rPr kumimoji="1" lang="en-US" altLang="ja-JP" sz="2800" dirty="0" smtClean="0"/>
              <a:t>ead</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rite</a:t>
            </a:r>
            <a:r>
              <a:rPr kumimoji="1" lang="ja-JP" altLang="en-US" dirty="0" smtClean="0"/>
              <a:t>システムコール</a:t>
            </a:r>
            <a:endParaRPr kumimoji="1" lang="ja-JP" altLang="en-US" dirty="0"/>
          </a:p>
        </p:txBody>
      </p:sp>
      <p:sp>
        <p:nvSpPr>
          <p:cNvPr id="5" name="テキスト ボックス 4"/>
          <p:cNvSpPr txBox="1"/>
          <p:nvPr/>
        </p:nvSpPr>
        <p:spPr>
          <a:xfrm>
            <a:off x="714348" y="1571612"/>
            <a:ext cx="8001056" cy="4401205"/>
          </a:xfrm>
          <a:prstGeom prst="rect">
            <a:avLst/>
          </a:prstGeom>
          <a:noFill/>
        </p:spPr>
        <p:txBody>
          <a:bodyPr wrap="square" rtlCol="0">
            <a:spAutoFit/>
          </a:bodyPr>
          <a:lstStyle/>
          <a:p>
            <a:r>
              <a:rPr kumimoji="1" lang="ja-JP" altLang="en-US" sz="2800" dirty="0" smtClean="0"/>
              <a:t>ファイル</a:t>
            </a:r>
            <a:r>
              <a:rPr lang="ja-JP" altLang="en-US" sz="2800" dirty="0" smtClean="0"/>
              <a:t>へ</a:t>
            </a:r>
            <a:r>
              <a:rPr kumimoji="1" lang="ja-JP" altLang="en-US" sz="2800" dirty="0" smtClean="0"/>
              <a:t>データを書き込むためのシステムコールが</a:t>
            </a:r>
            <a:r>
              <a:rPr lang="en-US" altLang="ja-JP" sz="2800" dirty="0" smtClean="0"/>
              <a:t>write</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ファイル記述子、書き込むデータが格納されている領域へのポインタ、書き込みバイト数を引数に与える。返り値は書きこんだバイト数。</a:t>
            </a:r>
            <a:endParaRPr lang="en-US" altLang="ja-JP" sz="2800" dirty="0" smtClean="0"/>
          </a:p>
          <a:p>
            <a:r>
              <a:rPr lang="en-US" altLang="ja-JP" sz="2800" dirty="0" smtClean="0"/>
              <a:t>write</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lose</a:t>
            </a:r>
            <a:r>
              <a:rPr kumimoji="1" lang="ja-JP" altLang="en-US" dirty="0" smtClean="0"/>
              <a:t>システムコール</a:t>
            </a:r>
            <a:endParaRPr kumimoji="1" lang="ja-JP" altLang="en-US" dirty="0"/>
          </a:p>
        </p:txBody>
      </p:sp>
      <p:sp>
        <p:nvSpPr>
          <p:cNvPr id="4" name="テキスト ボックス 3"/>
          <p:cNvSpPr txBox="1"/>
          <p:nvPr/>
        </p:nvSpPr>
        <p:spPr>
          <a:xfrm>
            <a:off x="928662" y="1571612"/>
            <a:ext cx="7572428" cy="3108543"/>
          </a:xfrm>
          <a:prstGeom prst="rect">
            <a:avLst/>
          </a:prstGeom>
          <a:noFill/>
        </p:spPr>
        <p:txBody>
          <a:bodyPr wrap="square" rtlCol="0">
            <a:spAutoFit/>
          </a:bodyPr>
          <a:lstStyle/>
          <a:p>
            <a:r>
              <a:rPr lang="en-US" altLang="ja-JP" sz="2800" dirty="0" smtClean="0"/>
              <a:t>c</a:t>
            </a:r>
            <a:r>
              <a:rPr kumimoji="1" lang="en-US" altLang="ja-JP" sz="2800" dirty="0" smtClean="0"/>
              <a:t>lose</a:t>
            </a:r>
            <a:r>
              <a:rPr kumimoji="1" lang="ja-JP" altLang="en-US" sz="2800" dirty="0" smtClean="0"/>
              <a:t>システムは、ファイル記述子を引数に受け取り、そのファイルをクローズする。</a:t>
            </a:r>
            <a:endParaRPr kumimoji="1" lang="en-US" altLang="ja-JP" sz="2800" dirty="0" smtClean="0"/>
          </a:p>
          <a:p>
            <a:r>
              <a:rPr lang="ja-JP" altLang="en-US" sz="2800" dirty="0" smtClean="0"/>
              <a:t>クローズするとは、入出力用バッファを解放し、利用者記述子表内の構造体を解放することをいう。</a:t>
            </a:r>
            <a:endParaRPr lang="en-US" altLang="ja-JP" sz="2800" dirty="0" smtClean="0"/>
          </a:p>
          <a:p>
            <a:r>
              <a:rPr lang="ja-JP" altLang="en-US" sz="2800" dirty="0" smtClean="0"/>
              <a:t>（同時に開けるファイル数に制限があるので、閉じるのがよい。閉じなければプロセス終了時に閉じられる。）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582594"/>
          </a:xfrm>
        </p:spPr>
        <p:txBody>
          <a:bodyPr>
            <a:noAutofit/>
          </a:bodyPr>
          <a:lstStyle/>
          <a:p>
            <a:r>
              <a:rPr kumimoji="1" lang="ja-JP" altLang="en-US" sz="3600" dirty="0" smtClean="0"/>
              <a:t>例</a:t>
            </a:r>
            <a:r>
              <a:rPr lang="en-US" altLang="ja-JP" sz="3600" dirty="0" smtClean="0"/>
              <a:t>1</a:t>
            </a:r>
            <a:r>
              <a:rPr kumimoji="1" lang="ja-JP" altLang="en-US" sz="3600" dirty="0" smtClean="0"/>
              <a:t>：</a:t>
            </a:r>
            <a:r>
              <a:rPr lang="ja-JP" altLang="en-US" sz="3600" dirty="0" smtClean="0"/>
              <a:t>テキストファイルの先頭に</a:t>
            </a:r>
            <a:r>
              <a:rPr lang="en-US" altLang="ja-JP" sz="3600" dirty="0" smtClean="0"/>
              <a:t>a</a:t>
            </a:r>
            <a:r>
              <a:rPr lang="ja-JP" altLang="en-US" sz="3600" dirty="0" smtClean="0"/>
              <a:t>を書き込む</a:t>
            </a:r>
            <a:endParaRPr kumimoji="1" lang="ja-JP" altLang="en-US" sz="3600" dirty="0"/>
          </a:p>
        </p:txBody>
      </p:sp>
      <p:sp>
        <p:nvSpPr>
          <p:cNvPr id="6" name="正方形/長方形 5"/>
          <p:cNvSpPr/>
          <p:nvPr/>
        </p:nvSpPr>
        <p:spPr>
          <a:xfrm>
            <a:off x="251520" y="1124744"/>
            <a:ext cx="4536504" cy="5589240"/>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stdlib.h</a:t>
            </a:r>
            <a:r>
              <a:rPr lang="en-US" altLang="ja-JP" sz="2400" dirty="0" smtClean="0"/>
              <a:t>&gt;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 = 'a';</a:t>
            </a:r>
          </a:p>
          <a:p>
            <a:r>
              <a:rPr lang="en-US" altLang="ja-JP" sz="2400" dirty="0" smtClean="0"/>
              <a:t>  if ((</a:t>
            </a:r>
            <a:r>
              <a:rPr lang="en-US" altLang="ja-JP" sz="2400" dirty="0" err="1" smtClean="0"/>
              <a:t>fd</a:t>
            </a:r>
            <a:r>
              <a:rPr lang="en-US" altLang="ja-JP" sz="2400" dirty="0" smtClean="0"/>
              <a:t> = open ("test", </a:t>
            </a:r>
            <a:r>
              <a:rPr lang="en-US" altLang="ja-JP" sz="2400" dirty="0" smtClean="0">
                <a:solidFill>
                  <a:srgbClr val="FF0000"/>
                </a:solidFill>
              </a:rPr>
              <a:t>O_WRONLY</a:t>
            </a:r>
            <a:r>
              <a:rPr lang="en-US" altLang="ja-JP" sz="2400" dirty="0" smtClean="0"/>
              <a:t>))</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p:txBody>
      </p:sp>
      <p:sp>
        <p:nvSpPr>
          <p:cNvPr id="7" name="正方形/長方形 6"/>
          <p:cNvSpPr/>
          <p:nvPr/>
        </p:nvSpPr>
        <p:spPr>
          <a:xfrm>
            <a:off x="4929158" y="1142984"/>
            <a:ext cx="4000560" cy="4154984"/>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smtClean="0">
                <a:solidFill>
                  <a:srgbClr val="FF0000"/>
                </a:solidFill>
              </a:rPr>
              <a:t>write</a:t>
            </a:r>
            <a:r>
              <a:rPr lang="en-US" altLang="ja-JP" sz="2400" dirty="0" smtClean="0"/>
              <a:t> (</a:t>
            </a:r>
            <a:r>
              <a:rPr lang="en-US" altLang="ja-JP" sz="2400" dirty="0" err="1" smtClean="0"/>
              <a:t>fd</a:t>
            </a:r>
            <a:r>
              <a:rPr lang="en-US" altLang="ja-JP" sz="2400" dirty="0" smtClean="0"/>
              <a:t>, &amp;c, 1) != 1){</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演習課題２</a:t>
            </a:r>
            <a:endParaRPr kumimoji="1" lang="ja-JP" altLang="en-US" dirty="0"/>
          </a:p>
        </p:txBody>
      </p:sp>
      <p:sp>
        <p:nvSpPr>
          <p:cNvPr id="3" name="コンテンツ プレースホルダ 2"/>
          <p:cNvSpPr>
            <a:spLocks noGrp="1"/>
          </p:cNvSpPr>
          <p:nvPr>
            <p:ph idx="1"/>
          </p:nvPr>
        </p:nvSpPr>
        <p:spPr>
          <a:xfrm>
            <a:off x="457200" y="1600201"/>
            <a:ext cx="8229600" cy="2114552"/>
          </a:xfrm>
        </p:spPr>
        <p:txBody>
          <a:bodyPr>
            <a:normAutofit/>
          </a:bodyPr>
          <a:lstStyle/>
          <a:p>
            <a:r>
              <a:rPr lang="ja-JP" altLang="en-US" dirty="0" smtClean="0"/>
              <a:t>テキストファイル（ファイル名は</a:t>
            </a:r>
            <a:r>
              <a:rPr lang="en-US" altLang="ja-JP" dirty="0" smtClean="0"/>
              <a:t>test</a:t>
            </a:r>
            <a:r>
              <a:rPr lang="ja-JP" altLang="en-US" dirty="0" smtClean="0"/>
              <a:t>など）の先頭文字を読み取り、その文字を２文字目に書きこむ。</a:t>
            </a:r>
            <a:r>
              <a:rPr lang="en-US" altLang="ja-JP" dirty="0" smtClean="0"/>
              <a:t>Open</a:t>
            </a:r>
            <a:r>
              <a:rPr lang="ja-JP" altLang="en-US" dirty="0" smtClean="0"/>
              <a:t>システムコールの第２引数（フラグ）は</a:t>
            </a:r>
            <a:r>
              <a:rPr lang="en-US" altLang="ja-JP" dirty="0" smtClean="0"/>
              <a:t>O_RDWR</a:t>
            </a:r>
            <a:r>
              <a:rPr lang="ja-JP" altLang="en-US" dirty="0" smtClean="0"/>
              <a:t>にする。</a:t>
            </a:r>
            <a:endParaRPr lang="en-US" altLang="ja-JP" dirty="0" smtClean="0"/>
          </a:p>
        </p:txBody>
      </p:sp>
      <p:sp>
        <p:nvSpPr>
          <p:cNvPr id="4" name="正方形/長方形 3"/>
          <p:cNvSpPr/>
          <p:nvPr/>
        </p:nvSpPr>
        <p:spPr>
          <a:xfrm>
            <a:off x="1071538" y="4071942"/>
            <a:ext cx="6929486" cy="2246769"/>
          </a:xfrm>
          <a:prstGeom prst="rect">
            <a:avLst/>
          </a:prstGeom>
        </p:spPr>
        <p:txBody>
          <a:bodyPr wrap="square">
            <a:spAutoFit/>
          </a:bodyPr>
          <a:lstStyle/>
          <a:p>
            <a:pPr>
              <a:buNone/>
            </a:pPr>
            <a:r>
              <a:rPr lang="en-US" altLang="ja-JP" sz="2800" dirty="0" smtClean="0"/>
              <a:t>read, write</a:t>
            </a:r>
            <a:r>
              <a:rPr lang="ja-JP" altLang="en-US" sz="2800" dirty="0" smtClean="0"/>
              <a:t>システムコールを呼ぶたびに、読み書きのためのポインタ</a:t>
            </a:r>
            <a:r>
              <a:rPr lang="en-US" altLang="ja-JP" sz="2800" dirty="0" smtClean="0"/>
              <a:t>(kernel</a:t>
            </a:r>
            <a:r>
              <a:rPr lang="ja-JP" altLang="en-US" sz="2800" dirty="0" smtClean="0"/>
              <a:t>内部のポインタ</a:t>
            </a:r>
            <a:r>
              <a:rPr lang="en-US" altLang="ja-JP" sz="2800" dirty="0" smtClean="0"/>
              <a:t>)</a:t>
            </a:r>
            <a:r>
              <a:rPr lang="ja-JP" altLang="en-US" sz="2800" dirty="0" smtClean="0"/>
              <a:t>が１つ進むので、</a:t>
            </a:r>
            <a:r>
              <a:rPr lang="en-US" altLang="ja-JP" sz="2800" dirty="0" smtClean="0"/>
              <a:t>read</a:t>
            </a:r>
            <a:r>
              <a:rPr lang="ja-JP" altLang="en-US" sz="2800" dirty="0" smtClean="0"/>
              <a:t>で読み取ったあとに</a:t>
            </a:r>
            <a:r>
              <a:rPr lang="en-US" altLang="ja-JP" sz="2800" dirty="0" smtClean="0"/>
              <a:t>write</a:t>
            </a:r>
            <a:r>
              <a:rPr lang="ja-JP" altLang="en-US" sz="2800" dirty="0" smtClean="0"/>
              <a:t>で書き込めば、</a:t>
            </a:r>
            <a:r>
              <a:rPr lang="en-US" altLang="ja-JP" sz="2800" dirty="0" smtClean="0"/>
              <a:t>2</a:t>
            </a:r>
            <a:r>
              <a:rPr lang="ja-JP" altLang="en-US" sz="2800" dirty="0" smtClean="0"/>
              <a:t>文字目に書きこまれることになる。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2</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94" y="44624"/>
            <a:ext cx="4643438"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a:t>
            </a:r>
            <a:r>
              <a:rPr lang="en-US" altLang="ja-JP" sz="2400" dirty="0" err="1" smtClean="0"/>
              <a:t>fd</a:t>
            </a:r>
            <a:r>
              <a:rPr lang="en-US" altLang="ja-JP" sz="2400" dirty="0" smtClean="0"/>
              <a:t> = open (</a:t>
            </a:r>
            <a:r>
              <a:rPr lang="en-US" altLang="ja-JP" sz="2400" dirty="0" err="1" smtClean="0"/>
              <a:t>argv</a:t>
            </a:r>
            <a:r>
              <a:rPr lang="en-US" altLang="ja-JP" sz="2400" dirty="0" smtClean="0"/>
              <a:t>[1]</a:t>
            </a:r>
            <a:r>
              <a:rPr lang="en-US" altLang="ja-JP" sz="2400" dirty="0" smtClean="0"/>
              <a:t>,O_RDONLY</a:t>
            </a:r>
            <a:r>
              <a:rPr lang="en-US" altLang="ja-JP" sz="2400" dirty="0" smtClean="0"/>
              <a:t>))</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a:p>
            <a:r>
              <a:rPr lang="en-US" altLang="ja-JP" sz="2400" dirty="0" smtClean="0"/>
              <a:t>  while ((n = read (</a:t>
            </a:r>
            <a:r>
              <a:rPr lang="en-US" altLang="ja-JP" sz="2400" dirty="0" err="1" smtClean="0"/>
              <a:t>fd</a:t>
            </a:r>
            <a:r>
              <a:rPr lang="en-US" altLang="ja-JP" sz="2400" dirty="0" smtClean="0"/>
              <a:t>, &amp;c, 1) ) &gt; 0)</a:t>
            </a:r>
          </a:p>
          <a:p>
            <a:r>
              <a:rPr lang="en-US" altLang="ja-JP" sz="2400" dirty="0" smtClean="0"/>
              <a:t>     </a:t>
            </a:r>
            <a:r>
              <a:rPr lang="en-US" altLang="ja-JP" sz="2400" dirty="0" err="1" smtClean="0"/>
              <a:t>printf</a:t>
            </a:r>
            <a:r>
              <a:rPr lang="en-US" altLang="ja-JP" sz="2400" dirty="0" smtClean="0"/>
              <a:t> ("%c", c);</a:t>
            </a:r>
          </a:p>
          <a:p>
            <a:r>
              <a:rPr lang="en-US" altLang="ja-JP" sz="2400" dirty="0" smtClean="0"/>
              <a:t>  if (n==-1)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lang="ja-JP" altLang="en-US" dirty="0" smtClean="0"/>
              <a:t>複数バイトずつ読み込む</a:t>
            </a:r>
            <a:endParaRPr kumimoji="1" lang="ja-JP" altLang="en-US" dirty="0"/>
          </a:p>
        </p:txBody>
      </p:sp>
      <p:sp>
        <p:nvSpPr>
          <p:cNvPr id="4" name="テキスト ボックス 3"/>
          <p:cNvSpPr txBox="1"/>
          <p:nvPr/>
        </p:nvSpPr>
        <p:spPr>
          <a:xfrm>
            <a:off x="642910" y="928670"/>
            <a:ext cx="7929618" cy="5693866"/>
          </a:xfrm>
          <a:prstGeom prst="rect">
            <a:avLst/>
          </a:prstGeom>
          <a:noFill/>
        </p:spPr>
        <p:txBody>
          <a:bodyPr wrap="square" rtlCol="0">
            <a:spAutoFit/>
          </a:bodyPr>
          <a:lstStyle/>
          <a:p>
            <a:r>
              <a:rPr kumimoji="1" lang="en-US" altLang="ja-JP" sz="2800" dirty="0" smtClean="0"/>
              <a:t> read</a:t>
            </a:r>
            <a:r>
              <a:rPr kumimoji="1" lang="ja-JP" altLang="en-US" sz="2800" dirty="0" smtClean="0"/>
              <a:t>システムコールで、複数バイト単位で読み込むこともできる。</a:t>
            </a:r>
            <a:endParaRPr kumimoji="1" lang="en-US" altLang="ja-JP" sz="2800" dirty="0" smtClean="0"/>
          </a:p>
          <a:p>
            <a:r>
              <a:rPr lang="en-US" altLang="ja-JP" sz="2800" dirty="0" smtClean="0"/>
              <a:t>read</a:t>
            </a:r>
            <a:r>
              <a:rPr lang="ja-JP" altLang="en-US" sz="2800" dirty="0" smtClean="0"/>
              <a:t>システムコールの返り値は、</a:t>
            </a:r>
            <a:endParaRPr lang="en-US" altLang="ja-JP" sz="2800" dirty="0" smtClean="0"/>
          </a:p>
          <a:p>
            <a:r>
              <a:rPr kumimoji="1" lang="en-US" altLang="ja-JP" sz="2800" dirty="0" smtClean="0"/>
              <a:t> </a:t>
            </a:r>
            <a:r>
              <a:rPr lang="ja-JP" altLang="en-US" sz="2800" dirty="0" smtClean="0"/>
              <a:t>  </a:t>
            </a:r>
            <a:r>
              <a:rPr lang="en-US" altLang="ja-JP" sz="2800" dirty="0" smtClean="0"/>
              <a:t>(1) </a:t>
            </a:r>
            <a:r>
              <a:rPr lang="ja-JP" altLang="en-US" sz="2800" dirty="0" smtClean="0"/>
              <a:t>正の場合、読み込んだバイト数を表す。</a:t>
            </a:r>
            <a:endParaRPr lang="en-US" altLang="ja-JP" sz="2800" dirty="0" smtClean="0"/>
          </a:p>
          <a:p>
            <a:r>
              <a:rPr kumimoji="1" lang="en-US" altLang="ja-JP" sz="2800" dirty="0" smtClean="0"/>
              <a:t>   (2) 0 </a:t>
            </a:r>
            <a:r>
              <a:rPr kumimoji="1" lang="ja-JP" altLang="en-US" sz="2800" dirty="0" smtClean="0"/>
              <a:t>の場合、ファイルの内容を既に全部読み終わっていたことを表す。</a:t>
            </a:r>
            <a:endParaRPr kumimoji="1" lang="en-US" altLang="ja-JP" sz="2800" dirty="0" smtClean="0"/>
          </a:p>
          <a:p>
            <a:r>
              <a:rPr lang="en-US" altLang="ja-JP" sz="2800" dirty="0" smtClean="0"/>
              <a:t>   (3) -1</a:t>
            </a:r>
            <a:r>
              <a:rPr lang="ja-JP" altLang="en-US" sz="2800" dirty="0" smtClean="0"/>
              <a:t>の場合、システムコールが何らかの理由で正常終了しなかったことを表す。この場合はライブラリ関数</a:t>
            </a:r>
            <a:r>
              <a:rPr lang="en-US" altLang="ja-JP" sz="2800" dirty="0" err="1" smtClean="0"/>
              <a:t>perror</a:t>
            </a:r>
            <a:r>
              <a:rPr lang="ja-JP" altLang="en-US" sz="2800" dirty="0" smtClean="0"/>
              <a:t>でエラー内容を表示するべき。</a:t>
            </a:r>
            <a:endParaRPr lang="en-US" altLang="ja-JP" sz="2800" dirty="0" smtClean="0"/>
          </a:p>
          <a:p>
            <a:endParaRPr kumimoji="1" lang="en-US" altLang="ja-JP" sz="2800" dirty="0" smtClean="0"/>
          </a:p>
          <a:p>
            <a:r>
              <a:rPr lang="ja-JP" altLang="en-US" sz="2800" dirty="0" smtClean="0"/>
              <a:t>例えば、ファイルサイズ</a:t>
            </a:r>
            <a:r>
              <a:rPr lang="en-US" altLang="ja-JP" sz="2800" dirty="0" smtClean="0"/>
              <a:t>260</a:t>
            </a:r>
            <a:r>
              <a:rPr lang="ja-JP" altLang="en-US" sz="2800" dirty="0" smtClean="0"/>
              <a:t>バイトのファイルを</a:t>
            </a:r>
            <a:r>
              <a:rPr lang="en-US" altLang="ja-JP" sz="2800" dirty="0" smtClean="0"/>
              <a:t>100</a:t>
            </a:r>
            <a:r>
              <a:rPr lang="ja-JP" altLang="en-US" sz="2800" dirty="0" smtClean="0"/>
              <a:t>バイト単位で読み込むと、最後の回は</a:t>
            </a:r>
            <a:r>
              <a:rPr lang="en-US" altLang="ja-JP" sz="2800" dirty="0" smtClean="0"/>
              <a:t>60</a:t>
            </a:r>
            <a:r>
              <a:rPr lang="ja-JP" altLang="en-US" sz="2800" dirty="0" smtClean="0"/>
              <a:t>バイト（返り値も</a:t>
            </a:r>
            <a:r>
              <a:rPr lang="en-US" altLang="ja-JP" sz="2800" dirty="0" smtClean="0"/>
              <a:t>60</a:t>
            </a:r>
            <a:r>
              <a:rPr lang="ja-JP" altLang="en-US" sz="2800" dirty="0" smtClean="0"/>
              <a:t>）になり、その後は返り値は</a:t>
            </a:r>
            <a:r>
              <a:rPr lang="en-US" altLang="ja-JP" sz="2800" dirty="0" smtClean="0"/>
              <a:t>0</a:t>
            </a:r>
            <a:r>
              <a:rPr lang="ja-JP" altLang="en-US" sz="2800" dirty="0" smtClean="0"/>
              <a:t>となる。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kumimoji="1" lang="en-US" altLang="ja-JP" sz="3600" dirty="0" smtClean="0"/>
              <a:t>3</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stdlib.h</a:t>
            </a:r>
            <a:r>
              <a:rPr lang="en-US" altLang="ja-JP" sz="2400" dirty="0" smtClean="0"/>
              <a:t>&gt;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272735"/>
            <a:ext cx="4572032" cy="6370975"/>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err="1" smtClean="0"/>
              <a:t>fd</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7122115" y="2967335"/>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4</a:t>
            </a:r>
            <a:endParaRPr kumimoji="1" lang="ja-JP" altLang="en-US" sz="3600" dirty="0"/>
          </a:p>
        </p:txBody>
      </p:sp>
      <p:sp>
        <p:nvSpPr>
          <p:cNvPr id="6" name="正方形/長方形 5"/>
          <p:cNvSpPr/>
          <p:nvPr/>
        </p:nvSpPr>
        <p:spPr>
          <a:xfrm>
            <a:off x="71406" y="642918"/>
            <a:ext cx="4429156"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標準入力を標準出力へ書きだす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p:txBody>
      </p:sp>
      <p:sp>
        <p:nvSpPr>
          <p:cNvPr id="7" name="正方形/長方形 6"/>
          <p:cNvSpPr/>
          <p:nvPr/>
        </p:nvSpPr>
        <p:spPr>
          <a:xfrm>
            <a:off x="5072066" y="642918"/>
            <a:ext cx="3357618" cy="2677656"/>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8" name="テキスト ボックス 7"/>
          <p:cNvSpPr txBox="1"/>
          <p:nvPr/>
        </p:nvSpPr>
        <p:spPr>
          <a:xfrm>
            <a:off x="4643438" y="4643446"/>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
        <p:nvSpPr>
          <p:cNvPr id="9" name="テキスト ボックス 8"/>
          <p:cNvSpPr txBox="1"/>
          <p:nvPr/>
        </p:nvSpPr>
        <p:spPr>
          <a:xfrm>
            <a:off x="4643438" y="4110343"/>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a:t>
            </a:r>
            <a:r>
              <a:rPr lang="ja-JP" altLang="en-US" sz="2400" dirty="0" smtClean="0"/>
              <a:t>入力</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kumimoji="1" lang="ja-JP" altLang="en-US" dirty="0" smtClean="0"/>
              <a:t>新しいファイルの作成</a:t>
            </a:r>
            <a:endParaRPr kumimoji="1" lang="ja-JP" altLang="en-US" dirty="0"/>
          </a:p>
        </p:txBody>
      </p:sp>
      <p:sp>
        <p:nvSpPr>
          <p:cNvPr id="4" name="テキスト ボックス 3"/>
          <p:cNvSpPr txBox="1"/>
          <p:nvPr/>
        </p:nvSpPr>
        <p:spPr>
          <a:xfrm>
            <a:off x="785786" y="1000108"/>
            <a:ext cx="7500990" cy="5693866"/>
          </a:xfrm>
          <a:prstGeom prst="rect">
            <a:avLst/>
          </a:prstGeom>
          <a:noFill/>
        </p:spPr>
        <p:txBody>
          <a:bodyPr wrap="square" rtlCol="0">
            <a:spAutoFit/>
          </a:bodyPr>
          <a:lstStyle/>
          <a:p>
            <a:r>
              <a:rPr lang="ja-JP" altLang="en-US" sz="2800" dirty="0" smtClean="0"/>
              <a:t>新しいファイルの作成は、</a:t>
            </a:r>
            <a:r>
              <a:rPr lang="en-US" altLang="ja-JP" sz="2800" dirty="0" smtClean="0"/>
              <a:t>open</a:t>
            </a:r>
            <a:r>
              <a:rPr lang="ja-JP" altLang="en-US" sz="2800" dirty="0" smtClean="0"/>
              <a:t>システムコールの第２引数のフラグに</a:t>
            </a:r>
            <a:r>
              <a:rPr lang="en-US" altLang="ja-JP" sz="2800" dirty="0" smtClean="0"/>
              <a:t>O_CREAT</a:t>
            </a:r>
            <a:r>
              <a:rPr lang="ja-JP" altLang="en-US" sz="2800" dirty="0" smtClean="0"/>
              <a:t>を指定する。（ファイルが存在していたらそのファイルを使う。存在しなければファイルを新しく作る。）</a:t>
            </a:r>
            <a:endParaRPr lang="en-US" altLang="ja-JP" sz="2800" dirty="0" smtClean="0"/>
          </a:p>
          <a:p>
            <a:endParaRPr lang="en-US" altLang="ja-JP" sz="2800" dirty="0" smtClean="0"/>
          </a:p>
          <a:p>
            <a:r>
              <a:rPr lang="ja-JP" altLang="en-US" sz="2800" dirty="0" smtClean="0"/>
              <a:t>他のフラグと組み合わせて指定できる。組み合わせるときはビットの</a:t>
            </a:r>
            <a:r>
              <a:rPr lang="en-US" altLang="ja-JP" sz="2800" dirty="0" smtClean="0"/>
              <a:t>or</a:t>
            </a:r>
            <a:r>
              <a:rPr lang="ja-JP" altLang="en-US" sz="2800" dirty="0" smtClean="0"/>
              <a:t>演算子</a:t>
            </a:r>
            <a:r>
              <a:rPr lang="en-US" altLang="ja-JP" sz="2800" dirty="0" smtClean="0"/>
              <a:t>|</a:t>
            </a:r>
            <a:r>
              <a:rPr lang="ja-JP" altLang="en-US" sz="2800" dirty="0" smtClean="0"/>
              <a:t>を用いる。</a:t>
            </a:r>
            <a:endParaRPr lang="en-US" altLang="ja-JP" sz="2800" dirty="0" smtClean="0"/>
          </a:p>
          <a:p>
            <a:endParaRPr lang="en-US" altLang="ja-JP" sz="2800" dirty="0" smtClean="0"/>
          </a:p>
          <a:p>
            <a:r>
              <a:rPr lang="ja-JP" altLang="en-US" sz="2800" dirty="0" smtClean="0"/>
              <a:t>例えば、</a:t>
            </a:r>
            <a:r>
              <a:rPr lang="en-US" altLang="ja-JP" sz="2800" dirty="0" smtClean="0"/>
              <a:t>write only</a:t>
            </a:r>
            <a:r>
              <a:rPr lang="ja-JP" altLang="en-US" sz="2800" dirty="0" smtClean="0"/>
              <a:t>で開きたい場合は、</a:t>
            </a:r>
            <a:r>
              <a:rPr lang="en-US" altLang="ja-JP" sz="2800" dirty="0" smtClean="0"/>
              <a:t>open</a:t>
            </a:r>
            <a:r>
              <a:rPr lang="ja-JP" altLang="en-US" sz="2800" dirty="0" smtClean="0"/>
              <a:t>システムコールの第２引数に </a:t>
            </a:r>
            <a:endParaRPr lang="en-US" altLang="ja-JP" sz="2800" dirty="0" smtClean="0"/>
          </a:p>
          <a:p>
            <a:r>
              <a:rPr lang="en-US" altLang="ja-JP" sz="2800" dirty="0" smtClean="0"/>
              <a:t>    O_WRONLY | O_CREAT</a:t>
            </a:r>
          </a:p>
          <a:p>
            <a:r>
              <a:rPr lang="ja-JP" altLang="en-US" sz="2800" dirty="0" smtClean="0"/>
              <a:t>を指定する。さらに、存在しているときに内容を消したいときは </a:t>
            </a:r>
            <a:r>
              <a:rPr lang="en-US" altLang="ja-JP" sz="2800" dirty="0" smtClean="0"/>
              <a:t>O_TRUNC</a:t>
            </a:r>
            <a:r>
              <a:rPr lang="ja-JP" altLang="en-US" sz="2800" dirty="0" smtClean="0"/>
              <a:t>をさらに追加で指定する。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5</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入力をファイルへ書きだす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117717"/>
            <a:ext cx="4572032"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a:t>
            </a:r>
          </a:p>
          <a:p>
            <a:r>
              <a:rPr lang="en-US" altLang="ja-JP" sz="2400" dirty="0" smtClean="0"/>
              <a:t>                 O_WRONLY | O_CREAT |</a:t>
            </a:r>
          </a:p>
          <a:p>
            <a:r>
              <a:rPr lang="en-US" altLang="ja-JP" sz="2400" dirty="0" smtClean="0"/>
              <a:t>                 O_TRUNC,  0644))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err="1" smtClean="0"/>
              <a:t>fd</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 </a:t>
            </a:r>
          </a:p>
          <a:p>
            <a:r>
              <a:rPr lang="ja-JP" altLang="en-US" sz="2400" dirty="0" smtClean="0"/>
              <a:t>  </a:t>
            </a:r>
            <a:r>
              <a:rPr lang="en-US" altLang="ja-JP" sz="2400" dirty="0" smtClean="0"/>
              <a:t>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6979239" y="1857364"/>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は標準入力</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演習課題３</a:t>
            </a:r>
            <a:endParaRPr kumimoji="1" lang="ja-JP" altLang="en-US" dirty="0"/>
          </a:p>
        </p:txBody>
      </p:sp>
      <p:sp>
        <p:nvSpPr>
          <p:cNvPr id="4" name="テキスト ボックス 3"/>
          <p:cNvSpPr txBox="1"/>
          <p:nvPr/>
        </p:nvSpPr>
        <p:spPr>
          <a:xfrm>
            <a:off x="785786" y="1428736"/>
            <a:ext cx="7929617" cy="4401205"/>
          </a:xfrm>
          <a:prstGeom prst="rect">
            <a:avLst/>
          </a:prstGeom>
          <a:noFill/>
        </p:spPr>
        <p:txBody>
          <a:bodyPr wrap="square" rtlCol="0">
            <a:spAutoFit/>
          </a:bodyPr>
          <a:lstStyle/>
          <a:p>
            <a:r>
              <a:rPr kumimoji="1" lang="ja-JP" altLang="en-US" sz="2800" dirty="0" smtClean="0"/>
              <a:t>実行ファイルの引数に２つのファイル名を受けとり、１つ目のファイル（存在するファイル）の</a:t>
            </a:r>
            <a:r>
              <a:rPr lang="ja-JP" altLang="en-US" sz="2800" dirty="0" smtClean="0"/>
              <a:t>コピーを２つ目のファイルに作成するプログラムを作成せよ。（コピーコマンド）</a:t>
            </a:r>
            <a:r>
              <a:rPr lang="en-US" altLang="ja-JP" sz="2800" dirty="0" smtClean="0"/>
              <a:t> </a:t>
            </a:r>
          </a:p>
          <a:p>
            <a:endParaRPr lang="en-US" altLang="ja-JP" sz="2800" dirty="0" smtClean="0"/>
          </a:p>
          <a:p>
            <a:r>
              <a:rPr lang="ja-JP" altLang="en-US" sz="2800" dirty="0" smtClean="0"/>
              <a:t>コピー先ファイルの</a:t>
            </a:r>
            <a:r>
              <a:rPr lang="en-US" altLang="ja-JP" sz="2800" dirty="0" smtClean="0"/>
              <a:t>open</a:t>
            </a:r>
            <a:r>
              <a:rPr lang="ja-JP" altLang="en-US" sz="2800" dirty="0" smtClean="0"/>
              <a:t>時の引数</a:t>
            </a:r>
            <a:endParaRPr lang="en-US" altLang="ja-JP" sz="2800" dirty="0" smtClean="0"/>
          </a:p>
          <a:p>
            <a:r>
              <a:rPr lang="en-US" altLang="ja-JP" sz="2800" dirty="0" smtClean="0"/>
              <a:t>    </a:t>
            </a:r>
            <a:r>
              <a:rPr lang="ja-JP" altLang="en-US" sz="2800" dirty="0" smtClean="0"/>
              <a:t>第２引数 </a:t>
            </a:r>
            <a:r>
              <a:rPr lang="en-US" altLang="ja-JP" sz="2800" dirty="0" smtClean="0"/>
              <a:t>--- O_WRONLY | O_CREAT | O_TRUNC</a:t>
            </a:r>
          </a:p>
          <a:p>
            <a:r>
              <a:rPr lang="en-US" altLang="ja-JP" sz="2800" dirty="0" smtClean="0"/>
              <a:t>    </a:t>
            </a:r>
            <a:r>
              <a:rPr lang="ja-JP" altLang="en-US" sz="2800" dirty="0" smtClean="0"/>
              <a:t>第３引数 </a:t>
            </a:r>
            <a:r>
              <a:rPr lang="en-US" altLang="ja-JP" sz="2800" dirty="0" smtClean="0"/>
              <a:t>--- 0644(8</a:t>
            </a:r>
            <a:r>
              <a:rPr lang="ja-JP" altLang="en-US" sz="2800" dirty="0" smtClean="0"/>
              <a:t>進表記</a:t>
            </a:r>
            <a:r>
              <a:rPr lang="en-US" altLang="ja-JP" sz="2800" dirty="0" smtClean="0"/>
              <a:t>)</a:t>
            </a:r>
          </a:p>
          <a:p>
            <a:r>
              <a:rPr lang="ja-JP" altLang="en-US" sz="2800" dirty="0" smtClean="0"/>
              <a:t>とせよ。これにより、コピー先のファイル名が存在していたら、内容が消去されてから</a:t>
            </a:r>
            <a:r>
              <a:rPr lang="ja-JP" altLang="en-US" sz="2800" smtClean="0"/>
              <a:t>書き込まれる。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レポート課題３</a:t>
            </a:r>
            <a:endParaRPr kumimoji="1" lang="ja-JP" altLang="en-US" dirty="0"/>
          </a:p>
        </p:txBody>
      </p:sp>
      <p:sp>
        <p:nvSpPr>
          <p:cNvPr id="4" name="正方形/長方形 3"/>
          <p:cNvSpPr/>
          <p:nvPr/>
        </p:nvSpPr>
        <p:spPr>
          <a:xfrm>
            <a:off x="642910" y="1142984"/>
            <a:ext cx="7858180" cy="4315027"/>
          </a:xfrm>
          <a:prstGeom prst="rect">
            <a:avLst/>
          </a:prstGeom>
        </p:spPr>
        <p:txBody>
          <a:bodyPr wrap="square">
            <a:spAutoFit/>
          </a:bodyPr>
          <a:lstStyle/>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コマンドの以下の機能を、システムコール</a:t>
            </a:r>
            <a:r>
              <a:rPr lang="en-US" altLang="ja-JP" sz="2800" dirty="0" smtClean="0">
                <a:solidFill>
                  <a:prstClr val="black"/>
                </a:solidFill>
              </a:rPr>
              <a:t>(open, close, read, write)</a:t>
            </a:r>
            <a:r>
              <a:rPr lang="ja-JP" altLang="en-US" sz="2800" dirty="0" smtClean="0">
                <a:solidFill>
                  <a:prstClr val="black"/>
                </a:solidFill>
              </a:rPr>
              <a:t>を使って実装せよ。</a:t>
            </a:r>
            <a:endParaRPr lang="en-US" altLang="ja-JP" sz="2800" dirty="0" smtClean="0">
              <a:solidFill>
                <a:prstClr val="black"/>
              </a:solidFill>
            </a:endParaRPr>
          </a:p>
          <a:p>
            <a:pPr marL="342900" lvl="0" indent="-342900">
              <a:spcBef>
                <a:spcPct val="20000"/>
              </a:spcBef>
            </a:pP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引数無しの場合 </a:t>
            </a:r>
            <a:r>
              <a:rPr lang="en-US" altLang="ja-JP" sz="2800" dirty="0" smtClean="0">
                <a:solidFill>
                  <a:prstClr val="black"/>
                </a:solidFill>
              </a:rPr>
              <a:t>--- </a:t>
            </a:r>
            <a:r>
              <a:rPr lang="ja-JP" altLang="en-US" sz="2800" dirty="0" smtClean="0">
                <a:solidFill>
                  <a:prstClr val="black"/>
                </a:solidFill>
              </a:rPr>
              <a:t>標準入力を標準出力へコピー</a:t>
            </a: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引数がある場合</a:t>
            </a:r>
            <a:r>
              <a:rPr lang="en-US" altLang="ja-JP" sz="2800" dirty="0" smtClean="0">
                <a:solidFill>
                  <a:prstClr val="black"/>
                </a:solidFill>
              </a:rPr>
              <a:t>(1</a:t>
            </a:r>
            <a:r>
              <a:rPr lang="ja-JP" altLang="en-US" sz="2800" dirty="0" smtClean="0">
                <a:solidFill>
                  <a:prstClr val="black"/>
                </a:solidFill>
              </a:rPr>
              <a:t>個以上のファイル名を引数にとる</a:t>
            </a:r>
            <a:r>
              <a:rPr lang="en-US" altLang="ja-JP" sz="2800" dirty="0" smtClean="0">
                <a:solidFill>
                  <a:prstClr val="black"/>
                </a:solidFill>
              </a:rPr>
              <a:t>)</a:t>
            </a:r>
            <a:r>
              <a:rPr lang="ja-JP" altLang="en-US" sz="2800" dirty="0" smtClean="0">
                <a:solidFill>
                  <a:prstClr val="black"/>
                </a:solidFill>
              </a:rPr>
              <a:t> </a:t>
            </a:r>
            <a:r>
              <a:rPr lang="en-US" altLang="ja-JP" sz="2800" dirty="0" smtClean="0">
                <a:solidFill>
                  <a:prstClr val="black"/>
                </a:solidFill>
              </a:rPr>
              <a:t>--- </a:t>
            </a:r>
            <a:r>
              <a:rPr lang="ja-JP" altLang="en-US" sz="2800" dirty="0" smtClean="0">
                <a:solidFill>
                  <a:prstClr val="black"/>
                </a:solidFill>
              </a:rPr>
              <a:t>それらのファイルの内容を結合したものを標準出力に書き出す。</a:t>
            </a:r>
            <a:endParaRPr lang="en-US" altLang="ja-JP" sz="2800" dirty="0" smtClean="0">
              <a:solidFill>
                <a:prstClr val="black"/>
              </a:solidFill>
            </a:endParaRPr>
          </a:p>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コマンドを使った場合と挙動を比較し、同じであることを確認したのち提出すること。</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kadai3.c, kadai3.txt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kadai3</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kadai3.txt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smtClean="0">
                <a:solidFill>
                  <a:schemeClr val="tx1"/>
                </a:solidFill>
                <a:ea typeface="+mj-ea"/>
              </a:rPr>
              <a:t>11</a:t>
            </a:r>
            <a:r>
              <a:rPr lang="ja-JP" altLang="en-US" sz="2400" smtClean="0">
                <a:solidFill>
                  <a:schemeClr val="tx1"/>
                </a:solidFill>
                <a:ea typeface="+mj-ea"/>
              </a:rPr>
              <a:t>日</a:t>
            </a:r>
            <a:r>
              <a:rPr lang="ja-JP" altLang="en-US" sz="2400" dirty="0" smtClean="0">
                <a:solidFill>
                  <a:schemeClr val="tx1"/>
                </a:solidFill>
                <a:ea typeface="+mj-ea"/>
              </a:rPr>
              <a:t>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439718"/>
          </a:xfrm>
        </p:spPr>
        <p:txBody>
          <a:bodyPr>
            <a:noAutofit/>
          </a:bodyPr>
          <a:lstStyle/>
          <a:p>
            <a:r>
              <a:rPr lang="ja-JP" altLang="en-US" sz="3600" dirty="0" smtClean="0"/>
              <a:t>参考</a:t>
            </a:r>
            <a:r>
              <a:rPr lang="en-US" altLang="ja-JP" sz="3600" dirty="0" smtClean="0"/>
              <a:t>: </a:t>
            </a:r>
            <a:r>
              <a:rPr lang="ja-JP" altLang="en-US" sz="3600" dirty="0" smtClean="0"/>
              <a:t>ライブラリ関数を使った場合</a:t>
            </a:r>
            <a:endParaRPr kumimoji="1" lang="ja-JP" altLang="en-US" sz="3600" dirty="0"/>
          </a:p>
        </p:txBody>
      </p:sp>
      <p:sp>
        <p:nvSpPr>
          <p:cNvPr id="4" name="正方形/長方形 3"/>
          <p:cNvSpPr/>
          <p:nvPr/>
        </p:nvSpPr>
        <p:spPr>
          <a:xfrm>
            <a:off x="71438" y="857794"/>
            <a:ext cx="3500430" cy="3785652"/>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endParaRPr lang="en-US" altLang="ja-JP" sz="2400" dirty="0" smtClean="0"/>
          </a:p>
          <a:p>
            <a:r>
              <a:rPr lang="en-US" altLang="ja-JP" sz="2400" dirty="0" smtClean="0"/>
              <a:t>void </a:t>
            </a:r>
            <a:r>
              <a:rPr lang="en-US" altLang="ja-JP" sz="2400" dirty="0" err="1" smtClean="0"/>
              <a:t>filecopy</a:t>
            </a:r>
            <a:r>
              <a:rPr lang="en-US" altLang="ja-JP" sz="2400" dirty="0" smtClean="0"/>
              <a:t> (FILE *</a:t>
            </a:r>
            <a:r>
              <a:rPr lang="en-US" altLang="ja-JP" sz="2400" dirty="0" err="1" smtClean="0"/>
              <a:t>fpin</a:t>
            </a:r>
            <a:r>
              <a:rPr lang="en-US" altLang="ja-JP" sz="2400" dirty="0" smtClean="0"/>
              <a:t>,</a:t>
            </a:r>
          </a:p>
          <a:p>
            <a:r>
              <a:rPr lang="en-US" altLang="ja-JP" sz="2400" dirty="0" smtClean="0"/>
              <a:t>                         FILE *</a:t>
            </a:r>
            <a:r>
              <a:rPr lang="en-US" altLang="ja-JP" sz="2400" dirty="0" err="1" smtClean="0"/>
              <a:t>fpout</a:t>
            </a:r>
            <a:r>
              <a:rPr lang="en-US" altLang="ja-JP" sz="2400" dirty="0" smtClean="0"/>
              <a:t>)</a:t>
            </a:r>
          </a:p>
          <a:p>
            <a:r>
              <a:rPr lang="en-US" altLang="ja-JP" sz="2400" dirty="0" smtClean="0"/>
              <a:t> {</a:t>
            </a:r>
          </a:p>
          <a:p>
            <a:r>
              <a:rPr lang="en-US" altLang="ja-JP" sz="2400" dirty="0" smtClean="0"/>
              <a:t>  </a:t>
            </a:r>
            <a:r>
              <a:rPr lang="en-US" altLang="ja-JP" sz="2400" dirty="0" err="1" smtClean="0"/>
              <a:t>int</a:t>
            </a:r>
            <a:r>
              <a:rPr lang="en-US" altLang="ja-JP" sz="2400" dirty="0" smtClean="0"/>
              <a:t> c;</a:t>
            </a:r>
          </a:p>
          <a:p>
            <a:r>
              <a:rPr lang="en-US" altLang="ja-JP" sz="2400" dirty="0" smtClean="0"/>
              <a:t>  while ((c = </a:t>
            </a:r>
            <a:r>
              <a:rPr lang="en-US" altLang="ja-JP" sz="2400" dirty="0" err="1" smtClean="0"/>
              <a:t>getc</a:t>
            </a:r>
            <a:r>
              <a:rPr lang="en-US" altLang="ja-JP" sz="2400" dirty="0" smtClean="0"/>
              <a:t>(</a:t>
            </a:r>
            <a:r>
              <a:rPr lang="en-US" altLang="ja-JP" sz="2400" dirty="0" err="1" smtClean="0"/>
              <a:t>fpin</a:t>
            </a:r>
            <a:r>
              <a:rPr lang="en-US" altLang="ja-JP" sz="2400" dirty="0" smtClean="0"/>
              <a:t>)) </a:t>
            </a:r>
          </a:p>
          <a:p>
            <a:r>
              <a:rPr lang="en-US" altLang="ja-JP" sz="2400" dirty="0" smtClean="0"/>
              <a:t>              != EOF)</a:t>
            </a:r>
          </a:p>
          <a:p>
            <a:r>
              <a:rPr lang="en-US" altLang="ja-JP" sz="2400" dirty="0" smtClean="0"/>
              <a:t>         </a:t>
            </a:r>
            <a:r>
              <a:rPr lang="en-US" altLang="ja-JP" sz="2400" dirty="0" err="1" smtClean="0"/>
              <a:t>putc</a:t>
            </a:r>
            <a:r>
              <a:rPr lang="en-US" altLang="ja-JP" sz="2400" dirty="0" smtClean="0"/>
              <a:t> (c, </a:t>
            </a:r>
            <a:r>
              <a:rPr lang="en-US" altLang="ja-JP" sz="2400" dirty="0" err="1" smtClean="0"/>
              <a:t>fpout</a:t>
            </a:r>
            <a:r>
              <a:rPr lang="en-US" altLang="ja-JP" sz="2400" dirty="0" smtClean="0"/>
              <a:t>);</a:t>
            </a:r>
          </a:p>
          <a:p>
            <a:r>
              <a:rPr lang="en-US" altLang="ja-JP" sz="2400" dirty="0" smtClean="0"/>
              <a:t>}</a:t>
            </a:r>
            <a:endParaRPr lang="ja-JP" altLang="en-US" sz="2400" dirty="0"/>
          </a:p>
        </p:txBody>
      </p:sp>
      <p:sp>
        <p:nvSpPr>
          <p:cNvPr id="5" name="正方形/長方形 4"/>
          <p:cNvSpPr/>
          <p:nvPr/>
        </p:nvSpPr>
        <p:spPr>
          <a:xfrm>
            <a:off x="3643306" y="784943"/>
            <a:ext cx="5429288" cy="6001643"/>
          </a:xfrm>
          <a:prstGeom prst="rect">
            <a:avLst/>
          </a:prstGeom>
          <a:ln>
            <a:solidFill>
              <a:schemeClr val="tx1"/>
            </a:solidFill>
          </a:ln>
        </p:spPr>
        <p:txBody>
          <a:bodyPr wrap="square">
            <a:spAutoFit/>
          </a:bodyPr>
          <a:lstStyle/>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FILE *</a:t>
            </a:r>
            <a:r>
              <a:rPr lang="en-US" altLang="ja-JP" sz="2400" dirty="0" err="1" smtClean="0"/>
              <a:t>fp</a:t>
            </a:r>
            <a:r>
              <a:rPr lang="en-US" altLang="ja-JP" sz="2400" dirty="0" smtClean="0"/>
              <a:t>;</a:t>
            </a:r>
          </a:p>
          <a:p>
            <a:r>
              <a:rPr lang="en-US" altLang="ja-JP" sz="2400" dirty="0" smtClean="0"/>
              <a:t>  if (</a:t>
            </a:r>
            <a:r>
              <a:rPr lang="en-US" altLang="ja-JP" sz="2400" dirty="0" err="1" smtClean="0"/>
              <a:t>argc</a:t>
            </a:r>
            <a:r>
              <a:rPr lang="en-US" altLang="ja-JP" sz="2400" dirty="0" smtClean="0"/>
              <a:t>==1)</a:t>
            </a:r>
          </a:p>
          <a:p>
            <a:r>
              <a:rPr lang="en-US" altLang="ja-JP" sz="2400" dirty="0" smtClean="0"/>
              <a:t>    </a:t>
            </a:r>
            <a:r>
              <a:rPr lang="en-US" altLang="ja-JP" sz="2400" dirty="0" err="1" smtClean="0"/>
              <a:t>filecopy</a:t>
            </a:r>
            <a:r>
              <a:rPr lang="en-US" altLang="ja-JP" sz="2400" dirty="0" smtClean="0"/>
              <a:t> (</a:t>
            </a:r>
            <a:r>
              <a:rPr lang="en-US" altLang="ja-JP" sz="2400" dirty="0" err="1" smtClean="0"/>
              <a:t>stdin</a:t>
            </a:r>
            <a:r>
              <a:rPr lang="en-US" altLang="ja-JP" sz="2400" dirty="0" smtClean="0"/>
              <a:t>, </a:t>
            </a:r>
            <a:r>
              <a:rPr lang="en-US" altLang="ja-JP" sz="2400" dirty="0" err="1" smtClean="0"/>
              <a:t>stdout</a:t>
            </a:r>
            <a:r>
              <a:rPr lang="en-US" altLang="ja-JP" sz="2400" dirty="0" smtClean="0"/>
              <a:t>);</a:t>
            </a:r>
          </a:p>
          <a:p>
            <a:r>
              <a:rPr lang="en-US" altLang="ja-JP" sz="2400" dirty="0" smtClean="0"/>
              <a:t>  else</a:t>
            </a:r>
          </a:p>
          <a:p>
            <a:r>
              <a:rPr lang="en-US" altLang="ja-JP" sz="2400" dirty="0" smtClean="0"/>
              <a:t>    while (--</a:t>
            </a:r>
            <a:r>
              <a:rPr lang="en-US" altLang="ja-JP" sz="2400" dirty="0" err="1" smtClean="0"/>
              <a:t>argc</a:t>
            </a:r>
            <a:r>
              <a:rPr lang="en-US" altLang="ja-JP" sz="2400" dirty="0" smtClean="0"/>
              <a:t> &gt; 0)</a:t>
            </a:r>
          </a:p>
          <a:p>
            <a:r>
              <a:rPr lang="en-US" altLang="ja-JP" sz="2400" dirty="0" smtClean="0"/>
              <a:t>      if ((</a:t>
            </a:r>
            <a:r>
              <a:rPr lang="en-US" altLang="ja-JP" sz="2400" dirty="0" err="1" smtClean="0"/>
              <a:t>fp</a:t>
            </a:r>
            <a:r>
              <a:rPr lang="en-US" altLang="ja-JP" sz="2400" dirty="0" smtClean="0"/>
              <a:t> = </a:t>
            </a:r>
            <a:r>
              <a:rPr lang="en-US" altLang="ja-JP" sz="2400" dirty="0" err="1" smtClean="0"/>
              <a:t>fopen</a:t>
            </a:r>
            <a:r>
              <a:rPr lang="en-US" altLang="ja-JP" sz="2400" dirty="0" smtClean="0"/>
              <a:t> (*++</a:t>
            </a:r>
            <a:r>
              <a:rPr lang="en-US" altLang="ja-JP" sz="2400" dirty="0" err="1" smtClean="0"/>
              <a:t>argv</a:t>
            </a:r>
            <a:r>
              <a:rPr lang="en-US" altLang="ja-JP" sz="2400" dirty="0" smtClean="0"/>
              <a:t>, "r")) </a:t>
            </a:r>
          </a:p>
          <a:p>
            <a:r>
              <a:rPr lang="ja-JP" altLang="en-US" sz="2400" dirty="0" smtClean="0"/>
              <a:t>           </a:t>
            </a:r>
            <a:r>
              <a:rPr lang="en-US" altLang="ja-JP" sz="2400" dirty="0" smtClean="0"/>
              <a:t>== NULL) {</a:t>
            </a:r>
          </a:p>
          <a:p>
            <a:r>
              <a:rPr lang="en-US" altLang="ja-JP" sz="2400" dirty="0" smtClean="0"/>
              <a:t>        </a:t>
            </a:r>
            <a:r>
              <a:rPr lang="en-US" altLang="ja-JP" sz="2400" dirty="0" err="1" smtClean="0"/>
              <a:t>printf</a:t>
            </a:r>
            <a:r>
              <a:rPr lang="en-US" altLang="ja-JP" sz="2400" dirty="0" smtClean="0"/>
              <a:t> ("cat: can't open %s\n", *</a:t>
            </a:r>
            <a:r>
              <a:rPr lang="en-US" altLang="ja-JP" sz="2400" dirty="0" err="1" smtClean="0"/>
              <a:t>argv</a:t>
            </a:r>
            <a:r>
              <a:rPr lang="en-US" altLang="ja-JP" sz="2400" dirty="0" smtClean="0"/>
              <a:t>);</a:t>
            </a:r>
          </a:p>
          <a:p>
            <a:r>
              <a:rPr lang="en-US" altLang="ja-JP" sz="2400" dirty="0" smtClean="0"/>
              <a:t>        return 1;</a:t>
            </a:r>
          </a:p>
          <a:p>
            <a:r>
              <a:rPr lang="en-US" altLang="ja-JP" sz="2400" dirty="0" smtClean="0"/>
              <a:t>      } else {</a:t>
            </a:r>
          </a:p>
          <a:p>
            <a:r>
              <a:rPr lang="en-US" altLang="ja-JP" sz="2400" dirty="0" smtClean="0"/>
              <a:t>        </a:t>
            </a:r>
            <a:r>
              <a:rPr lang="en-US" altLang="ja-JP" sz="2400" dirty="0" err="1" smtClean="0"/>
              <a:t>filecopy</a:t>
            </a:r>
            <a:r>
              <a:rPr lang="en-US" altLang="ja-JP" sz="2400" dirty="0" smtClean="0"/>
              <a:t> (</a:t>
            </a:r>
            <a:r>
              <a:rPr lang="en-US" altLang="ja-JP" sz="2400" dirty="0" err="1" smtClean="0"/>
              <a:t>fp</a:t>
            </a:r>
            <a:r>
              <a:rPr lang="en-US" altLang="ja-JP" sz="2400" dirty="0" smtClean="0"/>
              <a:t>, </a:t>
            </a:r>
            <a:r>
              <a:rPr lang="en-US" altLang="ja-JP" sz="2400" dirty="0" err="1" smtClean="0"/>
              <a:t>stdout</a:t>
            </a:r>
            <a:r>
              <a:rPr lang="en-US" altLang="ja-JP" sz="2400" dirty="0" smtClean="0"/>
              <a:t>);</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6" name="テキスト ボックス 5"/>
          <p:cNvSpPr txBox="1"/>
          <p:nvPr/>
        </p:nvSpPr>
        <p:spPr>
          <a:xfrm>
            <a:off x="214314" y="4859736"/>
            <a:ext cx="3428992" cy="1569660"/>
          </a:xfrm>
          <a:prstGeom prst="rect">
            <a:avLst/>
          </a:prstGeom>
          <a:noFill/>
        </p:spPr>
        <p:txBody>
          <a:bodyPr wrap="square" rtlCol="0">
            <a:spAutoFit/>
          </a:bodyPr>
          <a:lstStyle/>
          <a:p>
            <a:r>
              <a:rPr lang="ja-JP" altLang="en-US" sz="2400" dirty="0" smtClean="0"/>
              <a:t>この実装</a:t>
            </a:r>
            <a:r>
              <a:rPr kumimoji="1" lang="ja-JP" altLang="en-US" sz="2400" dirty="0" smtClean="0"/>
              <a:t>では１バイトずつコピーしている。</a:t>
            </a:r>
            <a:r>
              <a:rPr lang="ja-JP" altLang="en-US" sz="2400" dirty="0" smtClean="0"/>
              <a:t>複数バイトまとめて読み込んで書き込んだ方が速い。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1438</TotalTime>
  <Words>2645</Words>
  <Application>Microsoft Macintosh PowerPoint</Application>
  <PresentationFormat>画面に合わせる (4:3)</PresentationFormat>
  <Paragraphs>279</Paragraphs>
  <Slides>22</Slides>
  <Notes>0</Notes>
  <HiddenSlides>0</HiddenSlides>
  <MMClips>0</MMClips>
  <ScaleCrop>false</ScaleCrop>
  <HeadingPairs>
    <vt:vector size="4" baseType="variant">
      <vt:variant>
        <vt:lpstr>テーマ</vt:lpstr>
      </vt:variant>
      <vt:variant>
        <vt:i4>1</vt:i4>
      </vt:variant>
      <vt:variant>
        <vt:lpstr>スライド タイトル</vt:lpstr>
      </vt:variant>
      <vt:variant>
        <vt:i4>22</vt:i4>
      </vt:variant>
    </vt:vector>
  </HeadingPairs>
  <TitlesOfParts>
    <vt:vector size="23" baseType="lpstr">
      <vt:lpstr>Office テーマ</vt:lpstr>
      <vt:lpstr>システムプログラミング 第７回、８回 ファイルシステム関連の システムコール</vt:lpstr>
      <vt:lpstr>ディレクトリファイル</vt:lpstr>
      <vt:lpstr>ファイルシステムの実装</vt:lpstr>
      <vt:lpstr>openシステムコール</vt:lpstr>
      <vt:lpstr>openシステムコールの引数</vt:lpstr>
      <vt:lpstr>openシステムコールの代表的なフラグ</vt:lpstr>
      <vt:lpstr>モード</vt:lpstr>
      <vt:lpstr>readシステムコール</vt:lpstr>
      <vt:lpstr>writeシステムコール</vt:lpstr>
      <vt:lpstr>closeシステムコール</vt:lpstr>
      <vt:lpstr>例1：テキストファイルの先頭にaを書き込む</vt:lpstr>
      <vt:lpstr>演習課題２</vt:lpstr>
      <vt:lpstr>例2</vt:lpstr>
      <vt:lpstr>複数バイトずつ読み込む</vt:lpstr>
      <vt:lpstr>例3</vt:lpstr>
      <vt:lpstr>例4</vt:lpstr>
      <vt:lpstr>新しいファイルの作成</vt:lpstr>
      <vt:lpstr>例5</vt:lpstr>
      <vt:lpstr>演習課題３</vt:lpstr>
      <vt:lpstr>レポート課題３</vt:lpstr>
      <vt:lpstr>レポートの提出方法</vt:lpstr>
      <vt:lpstr>参考: ライブラリ関数を使った場合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 Isao</cp:lastModifiedBy>
  <cp:revision>433</cp:revision>
  <dcterms:created xsi:type="dcterms:W3CDTF">2009-10-25T07:27:48Z</dcterms:created>
  <dcterms:modified xsi:type="dcterms:W3CDTF">2012-11-13T01:31:16Z</dcterms:modified>
</cp:coreProperties>
</file>