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8" r:id="rId3"/>
    <p:sldId id="269" r:id="rId4"/>
    <p:sldId id="270" r:id="rId5"/>
    <p:sldId id="271" r:id="rId6"/>
    <p:sldId id="272" r:id="rId7"/>
    <p:sldId id="273" r:id="rId8"/>
    <p:sldId id="274" r:id="rId9"/>
    <p:sldId id="277" r:id="rId10"/>
    <p:sldId id="278" r:id="rId11"/>
    <p:sldId id="279" r:id="rId12"/>
    <p:sldId id="290" r:id="rId13"/>
    <p:sldId id="294" r:id="rId14"/>
    <p:sldId id="295" r:id="rId15"/>
    <p:sldId id="291" r:id="rId16"/>
    <p:sldId id="292" r:id="rId17"/>
    <p:sldId id="293" r:id="rId18"/>
    <p:sldId id="257" r:id="rId19"/>
    <p:sldId id="258" r:id="rId20"/>
    <p:sldId id="281" r:id="rId21"/>
    <p:sldId id="282" r:id="rId22"/>
    <p:sldId id="283" r:id="rId23"/>
    <p:sldId id="284" r:id="rId24"/>
    <p:sldId id="285" r:id="rId25"/>
    <p:sldId id="259" r:id="rId26"/>
    <p:sldId id="286" r:id="rId27"/>
    <p:sldId id="288" r:id="rId28"/>
    <p:sldId id="289" r:id="rId29"/>
    <p:sldId id="296" r:id="rId30"/>
    <p:sldId id="297" r:id="rId3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4" autoAdjust="0"/>
    <p:restoredTop sz="94660"/>
  </p:normalViewPr>
  <p:slideViewPr>
    <p:cSldViewPr>
      <p:cViewPr varScale="1">
        <p:scale>
          <a:sx n="95" d="100"/>
          <a:sy n="95" d="100"/>
        </p:scale>
        <p:origin x="-120" y="-2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interSettings" Target="printerSettings/printerSettings1.bin"/><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33807-AD05-42F0-8057-C08DB8119F37}" type="datetimeFigureOut">
              <a:rPr kumimoji="1" lang="ja-JP" altLang="en-US" smtClean="0"/>
              <a:pPr/>
              <a:t>12/12/24</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ED03B-A46F-4BC3-B35C-319B0D216E95}" type="slidenum">
              <a:rPr kumimoji="1" lang="ja-JP" altLang="en-US" smtClean="0"/>
              <a:pPr/>
              <a:t>‹#›</a:t>
            </a:fld>
            <a:endParaRPr kumimoji="1" lang="ja-JP" altLang="en-US"/>
          </a:p>
        </p:txBody>
      </p:sp>
    </p:spTree>
    <p:extLst>
      <p:ext uri="{BB962C8B-B14F-4D97-AF65-F5344CB8AC3E}">
        <p14:creationId xmlns:p14="http://schemas.microsoft.com/office/powerpoint/2010/main" val="305631486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17424-9C63-459E-A3DB-5A2F3C0C1C7E}" type="slidenum">
              <a:rPr lang="en-US" altLang="ja-JP"/>
              <a:pPr/>
              <a:t>18</a:t>
            </a:fld>
            <a:endParaRPr lang="en-US" altLang="ja-JP"/>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4F8FD6-BCB7-4B44-81BA-8BACCBFA3148}" type="slidenum">
              <a:rPr lang="en-US" altLang="ja-JP"/>
              <a:pPr/>
              <a:t>19</a:t>
            </a:fld>
            <a:endParaRPr lang="en-US" altLang="ja-JP"/>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41DCF8-13CC-411B-BDD0-5AD1A503E517}" type="slidenum">
              <a:rPr lang="en-US" altLang="ja-JP"/>
              <a:pPr/>
              <a:t>25</a:t>
            </a:fld>
            <a:endParaRPr lang="en-US" altLang="ja-JP"/>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2F5634F2-B5BF-4715-B17D-167E52B60BCE}" type="slidenum">
              <a:rPr lang="en-US" altLang="ja-JP" smtClean="0">
                <a:ea typeface="ＭＳ Ｐゴシック" charset="-128"/>
              </a:rPr>
              <a:pPr/>
              <a:t>27</a:t>
            </a:fld>
            <a:endParaRPr lang="en-US" altLang="ja-JP" smtClean="0">
              <a:ea typeface="ＭＳ Ｐゴシック" charset="-128"/>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CD77B3CF-F662-45FF-9769-EE74F85B99C7}" type="slidenum">
              <a:rPr lang="en-US" altLang="ja-JP" smtClean="0">
                <a:ea typeface="ＭＳ Ｐゴシック" charset="-128"/>
              </a:rPr>
              <a:pPr/>
              <a:t>28</a:t>
            </a:fld>
            <a:endParaRPr lang="en-US" altLang="ja-JP" smtClean="0">
              <a:ea typeface="ＭＳ Ｐゴシック" charset="-128"/>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oli005.sic.shibaura-it.ac.jp:50000/aaa.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2375007" y="3645024"/>
            <a:ext cx="3964548" cy="1077218"/>
          </a:xfrm>
          <a:prstGeom prst="rect">
            <a:avLst/>
          </a:prstGeom>
          <a:noFill/>
        </p:spPr>
        <p:txBody>
          <a:bodyPr wrap="none" rtlCol="0">
            <a:spAutoFit/>
          </a:bodyPr>
          <a:lstStyle/>
          <a:p>
            <a:pPr algn="ctr"/>
            <a:r>
              <a:rPr kumimoji="1" lang="ja-JP" altLang="en-US" sz="3200" dirty="0" smtClean="0"/>
              <a:t>第１３回</a:t>
            </a:r>
            <a:endParaRPr kumimoji="1" lang="en-US" altLang="ja-JP" sz="3200" dirty="0" smtClean="0"/>
          </a:p>
          <a:p>
            <a:pPr algn="ctr"/>
            <a:r>
              <a:rPr lang="ja-JP" altLang="en-US" sz="3200" dirty="0" smtClean="0"/>
              <a:t>プロセス間通信</a:t>
            </a:r>
            <a:r>
              <a:rPr lang="en-US" altLang="ja-JP" sz="3200" dirty="0" smtClean="0"/>
              <a:t>(</a:t>
            </a:r>
            <a:r>
              <a:rPr lang="ja-JP" altLang="en-US" sz="3200" dirty="0" smtClean="0"/>
              <a:t>続き）</a:t>
            </a:r>
            <a:endParaRPr kumimoji="1" lang="ja-JP" altLang="en-US" sz="2000" dirty="0"/>
          </a:p>
        </p:txBody>
      </p:sp>
      <p:sp>
        <p:nvSpPr>
          <p:cNvPr id="5" name="テキスト ボックス 4"/>
          <p:cNvSpPr txBox="1"/>
          <p:nvPr/>
        </p:nvSpPr>
        <p:spPr>
          <a:xfrm>
            <a:off x="2643174" y="528638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ADBBBB99-9793-4249-AF75-AE085F1BD0CA}" type="slidenum">
              <a:rPr lang="en-US" altLang="ja-JP" smtClean="0"/>
              <a:pPr/>
              <a:t>2</a:t>
            </a:fld>
            <a:endParaRPr lang="en-US" altLang="ja-JP" smtClean="0"/>
          </a:p>
        </p:txBody>
      </p:sp>
      <p:sp>
        <p:nvSpPr>
          <p:cNvPr id="9219"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9220" name="Rectangle 3"/>
          <p:cNvSpPr>
            <a:spLocks noGrp="1" noChangeArrowheads="1"/>
          </p:cNvSpPr>
          <p:nvPr>
            <p:ph type="body" idx="1"/>
          </p:nvPr>
        </p:nvSpPr>
        <p:spPr>
          <a:xfrm>
            <a:off x="576064" y="1268413"/>
            <a:ext cx="7884368" cy="4680867"/>
          </a:xfrm>
        </p:spPr>
        <p:txBody>
          <a:bodyPr/>
          <a:lstStyle/>
          <a:p>
            <a:pPr eaLnBrk="1" hangingPunct="1">
              <a:lnSpc>
                <a:spcPct val="90000"/>
              </a:lnSpc>
            </a:pPr>
            <a:r>
              <a:rPr lang="ja-JP" altLang="en-US" sz="2800" dirty="0" smtClean="0"/>
              <a:t>ストリームソケット</a:t>
            </a:r>
            <a:endParaRPr lang="en-US" altLang="ja-JP" sz="2800" dirty="0" smtClean="0"/>
          </a:p>
          <a:p>
            <a:pPr lvl="1" eaLnBrk="1" hangingPunct="1">
              <a:lnSpc>
                <a:spcPct val="90000"/>
              </a:lnSpc>
            </a:pPr>
            <a:r>
              <a:rPr lang="ja-JP" altLang="en-US" sz="2400" dirty="0" smtClean="0"/>
              <a:t>バーチャルサーキット（コネクション型通信）で実現されている</a:t>
            </a:r>
          </a:p>
          <a:p>
            <a:pPr lvl="1" eaLnBrk="1" hangingPunct="1">
              <a:lnSpc>
                <a:spcPct val="90000"/>
              </a:lnSpc>
            </a:pPr>
            <a:r>
              <a:rPr lang="ja-JP" altLang="en-US" sz="2400" dirty="0" smtClean="0"/>
              <a:t>通信相手に対してコネクションを設定</a:t>
            </a:r>
          </a:p>
          <a:p>
            <a:pPr lvl="1" eaLnBrk="1" hangingPunct="1">
              <a:lnSpc>
                <a:spcPct val="90000"/>
              </a:lnSpc>
            </a:pPr>
            <a:r>
              <a:rPr lang="ja-JP" altLang="en-US" sz="2400" dirty="0" smtClean="0"/>
              <a:t>コネクションに対してデータ送受信</a:t>
            </a:r>
          </a:p>
          <a:p>
            <a:pPr lvl="1" eaLnBrk="1" hangingPunct="1">
              <a:lnSpc>
                <a:spcPct val="90000"/>
              </a:lnSpc>
            </a:pPr>
            <a:r>
              <a:rPr lang="ja-JP" altLang="en-US" sz="2400" dirty="0" smtClean="0"/>
              <a:t>終了後，コネクションを解除　→　例）電話</a:t>
            </a:r>
          </a:p>
          <a:p>
            <a:pPr lvl="1" eaLnBrk="1" hangingPunct="1">
              <a:lnSpc>
                <a:spcPct val="90000"/>
              </a:lnSpc>
            </a:pPr>
            <a:r>
              <a:rPr lang="ja-JP" altLang="en-US" sz="2400" dirty="0" smtClean="0"/>
              <a:t>特定のプロセス間でデータを継続的に送る通信</a:t>
            </a:r>
          </a:p>
          <a:p>
            <a:pPr lvl="1" eaLnBrk="1" hangingPunct="1">
              <a:lnSpc>
                <a:spcPct val="90000"/>
              </a:lnSpc>
            </a:pPr>
            <a:r>
              <a:rPr lang="ja-JP" altLang="en-US" sz="2400" dirty="0" smtClean="0"/>
              <a:t>リンク設定のオーバーヘッド</a:t>
            </a:r>
          </a:p>
          <a:p>
            <a:pPr lvl="1" eaLnBrk="1" hangingPunct="1">
              <a:lnSpc>
                <a:spcPct val="90000"/>
              </a:lnSpc>
            </a:pPr>
            <a:r>
              <a:rPr lang="ja-JP" altLang="en-US" sz="2400" dirty="0" smtClean="0"/>
              <a:t>通信の信頼性が保証される（データ順序，内容）</a:t>
            </a:r>
          </a:p>
          <a:p>
            <a:pPr lvl="1" eaLnBrk="1" hangingPunct="1">
              <a:lnSpc>
                <a:spcPct val="90000"/>
              </a:lnSpc>
            </a:pPr>
            <a:r>
              <a:rPr lang="ja-JP" altLang="en-US" sz="2400" dirty="0" smtClean="0"/>
              <a:t>コネクション型プロトコル：</a:t>
            </a:r>
          </a:p>
          <a:p>
            <a:pPr lvl="1" eaLnBrk="1" hangingPunct="1">
              <a:lnSpc>
                <a:spcPct val="90000"/>
              </a:lnSpc>
              <a:buFontTx/>
              <a:buNone/>
            </a:pPr>
            <a:r>
              <a:rPr lang="ja-JP" altLang="en-US" sz="2400" dirty="0" smtClean="0"/>
              <a:t>		</a:t>
            </a:r>
            <a:r>
              <a:rPr lang="en-US" altLang="ja-JP" sz="2400" dirty="0" smtClean="0"/>
              <a:t>TCP</a:t>
            </a:r>
            <a:r>
              <a:rPr lang="ja-JP" altLang="en-US" sz="2400" dirty="0" smtClean="0"/>
              <a:t>（</a:t>
            </a:r>
            <a:r>
              <a:rPr lang="en-US" altLang="ja-JP" sz="2400" dirty="0" smtClean="0"/>
              <a:t>Transmission Control Protocol</a:t>
            </a:r>
            <a:r>
              <a:rPr lang="ja-JP" altLang="en-US" sz="2400" dirty="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BFA680C9-2782-4D79-AD73-90AE121399B6}" type="slidenum">
              <a:rPr lang="en-US" altLang="ja-JP" smtClean="0"/>
              <a:pPr/>
              <a:t>3</a:t>
            </a:fld>
            <a:endParaRPr lang="en-US" altLang="ja-JP" smtClean="0"/>
          </a:p>
        </p:txBody>
      </p:sp>
      <p:sp>
        <p:nvSpPr>
          <p:cNvPr id="10243"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10244" name="Rectangle 3"/>
          <p:cNvSpPr>
            <a:spLocks noGrp="1" noChangeArrowheads="1"/>
          </p:cNvSpPr>
          <p:nvPr>
            <p:ph type="body" idx="1"/>
          </p:nvPr>
        </p:nvSpPr>
        <p:spPr>
          <a:xfrm>
            <a:off x="504056" y="1285875"/>
            <a:ext cx="8100392" cy="5256213"/>
          </a:xfrm>
        </p:spPr>
        <p:txBody>
          <a:bodyPr>
            <a:normAutofit lnSpcReduction="10000"/>
          </a:bodyPr>
          <a:lstStyle/>
          <a:p>
            <a:pPr eaLnBrk="1" hangingPunct="1"/>
            <a:r>
              <a:rPr lang="ja-JP" altLang="en-US" sz="2800" dirty="0" smtClean="0"/>
              <a:t>データグラムソケット</a:t>
            </a:r>
            <a:endParaRPr lang="en-US" altLang="ja-JP" sz="2800" dirty="0" smtClean="0"/>
          </a:p>
          <a:p>
            <a:pPr lvl="1" eaLnBrk="1" hangingPunct="1"/>
            <a:r>
              <a:rPr lang="ja-JP" altLang="en-US" sz="2400" dirty="0" smtClean="0"/>
              <a:t>データグラム（コネクションレス型通信）で実現されている</a:t>
            </a:r>
          </a:p>
          <a:p>
            <a:pPr lvl="1" eaLnBrk="1" hangingPunct="1"/>
            <a:r>
              <a:rPr lang="ja-JP" altLang="en-US" sz="2400" dirty="0" smtClean="0"/>
              <a:t>コネクションを設定せず，ネットワーク層（第３層）の機能を用いる</a:t>
            </a:r>
          </a:p>
          <a:p>
            <a:pPr lvl="1" eaLnBrk="1" hangingPunct="1"/>
            <a:r>
              <a:rPr lang="ja-JP" altLang="en-US" sz="2400" dirty="0" smtClean="0"/>
              <a:t>個々のデータをその都度通信相手へ送る</a:t>
            </a:r>
          </a:p>
          <a:p>
            <a:pPr lvl="1" eaLnBrk="1" hangingPunct="1"/>
            <a:r>
              <a:rPr lang="ja-JP" altLang="en-US" sz="2400" dirty="0" smtClean="0"/>
              <a:t>コネクションレス型通信</a:t>
            </a:r>
          </a:p>
          <a:p>
            <a:pPr lvl="1" eaLnBrk="1" hangingPunct="1">
              <a:buFontTx/>
              <a:buNone/>
            </a:pPr>
            <a:r>
              <a:rPr lang="ja-JP" altLang="en-US" sz="2400" dirty="0" smtClean="0"/>
              <a:t>	（例）手紙（相手の住所をその都度指定）</a:t>
            </a:r>
            <a:endParaRPr lang="ja-JP" altLang="en-US" dirty="0" smtClean="0"/>
          </a:p>
          <a:p>
            <a:pPr lvl="1" eaLnBrk="1" hangingPunct="1"/>
            <a:r>
              <a:rPr lang="ja-JP" altLang="en-US" sz="2400" dirty="0" smtClean="0"/>
              <a:t>複数のプロセス間で小さなデータを断続的に送る通信</a:t>
            </a:r>
          </a:p>
          <a:p>
            <a:pPr lvl="1" eaLnBrk="1" hangingPunct="1"/>
            <a:r>
              <a:rPr lang="ja-JP" altLang="en-US" sz="2400" dirty="0" smtClean="0"/>
              <a:t>リンク設定のオーバーヘッドないが，その都度相手先を指定</a:t>
            </a:r>
          </a:p>
          <a:p>
            <a:pPr lvl="1" eaLnBrk="1" hangingPunct="1"/>
            <a:r>
              <a:rPr lang="ja-JP" altLang="en-US" sz="2400" dirty="0" smtClean="0"/>
              <a:t>通信の信頼性が保証されていない（データ順序，内容）</a:t>
            </a:r>
          </a:p>
          <a:p>
            <a:pPr lvl="1" eaLnBrk="1" hangingPunct="1"/>
            <a:r>
              <a:rPr lang="ja-JP" altLang="en-US" sz="2400" dirty="0" smtClean="0"/>
              <a:t>コネクションレス型プロトコル：</a:t>
            </a:r>
          </a:p>
          <a:p>
            <a:pPr lvl="1" eaLnBrk="1" hangingPunct="1">
              <a:buFontTx/>
              <a:buNone/>
            </a:pPr>
            <a:r>
              <a:rPr lang="ja-JP" altLang="en-US" sz="2400" dirty="0" smtClean="0"/>
              <a:t>		</a:t>
            </a:r>
            <a:r>
              <a:rPr lang="en-US" altLang="ja-JP" sz="2400" dirty="0" smtClean="0"/>
              <a:t>UDP</a:t>
            </a:r>
            <a:r>
              <a:rPr lang="ja-JP" altLang="en-US" sz="2400" dirty="0" smtClean="0"/>
              <a:t>（</a:t>
            </a:r>
            <a:r>
              <a:rPr lang="en-US" altLang="ja-JP" sz="2400" dirty="0" smtClean="0"/>
              <a:t>User datagram Protocol</a:t>
            </a:r>
            <a:r>
              <a:rPr lang="ja-JP" altLang="en-US" sz="2400" dirty="0" smtClean="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CD768665-9940-4163-AB00-9F7107C926D1}" type="slidenum">
              <a:rPr lang="en-US" altLang="ja-JP" smtClean="0"/>
              <a:pPr/>
              <a:t>4</a:t>
            </a:fld>
            <a:endParaRPr lang="en-US" altLang="ja-JP" smtClean="0"/>
          </a:p>
        </p:txBody>
      </p:sp>
      <p:sp>
        <p:nvSpPr>
          <p:cNvPr id="11267" name="Rectangle 2"/>
          <p:cNvSpPr>
            <a:spLocks noGrp="1" noChangeArrowheads="1"/>
          </p:cNvSpPr>
          <p:nvPr>
            <p:ph type="title"/>
          </p:nvPr>
        </p:nvSpPr>
        <p:spPr/>
        <p:txBody>
          <a:bodyPr/>
          <a:lstStyle/>
          <a:p>
            <a:pPr eaLnBrk="1" hangingPunct="1"/>
            <a:endParaRPr lang="ja-JP" altLang="ja-JP" smtClean="0"/>
          </a:p>
        </p:txBody>
      </p:sp>
      <p:sp>
        <p:nvSpPr>
          <p:cNvPr id="11268" name="Rectangle 3"/>
          <p:cNvSpPr>
            <a:spLocks noGrp="1" noChangeArrowheads="1"/>
          </p:cNvSpPr>
          <p:nvPr>
            <p:ph type="body" idx="1"/>
          </p:nvPr>
        </p:nvSpPr>
        <p:spPr/>
        <p:txBody>
          <a:bodyPr/>
          <a:lstStyle/>
          <a:p>
            <a:pPr eaLnBrk="1" hangingPunct="1"/>
            <a:endParaRPr lang="ja-JP" altLang="ja-JP" smtClean="0"/>
          </a:p>
        </p:txBody>
      </p:sp>
      <p:pic>
        <p:nvPicPr>
          <p:cNvPr id="11269" name="Picture 4" descr="SCAN2"/>
          <p:cNvPicPr>
            <a:picLocks noChangeAspect="1" noChangeArrowheads="1"/>
          </p:cNvPicPr>
          <p:nvPr/>
        </p:nvPicPr>
        <p:blipFill>
          <a:blip r:embed="rId2" cstate="print"/>
          <a:srcRect/>
          <a:stretch>
            <a:fillRect/>
          </a:stretch>
        </p:blipFill>
        <p:spPr bwMode="auto">
          <a:xfrm>
            <a:off x="0" y="0"/>
            <a:ext cx="9144000" cy="634523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番号プレースホルダ 5"/>
          <p:cNvSpPr>
            <a:spLocks noGrp="1"/>
          </p:cNvSpPr>
          <p:nvPr>
            <p:ph type="sldNum" sz="quarter" idx="12"/>
          </p:nvPr>
        </p:nvSpPr>
        <p:spPr>
          <a:noFill/>
        </p:spPr>
        <p:txBody>
          <a:bodyPr/>
          <a:lstStyle/>
          <a:p>
            <a:fld id="{7085A1C3-83D7-450A-BDBD-188ECD4E2BA2}" type="slidenum">
              <a:rPr lang="en-US" altLang="ja-JP" smtClean="0"/>
              <a:pPr/>
              <a:t>5</a:t>
            </a:fld>
            <a:endParaRPr lang="en-US" altLang="ja-JP" smtClean="0"/>
          </a:p>
        </p:txBody>
      </p:sp>
      <p:sp>
        <p:nvSpPr>
          <p:cNvPr id="12291" name="Rectangle 2"/>
          <p:cNvSpPr>
            <a:spLocks noGrp="1" noChangeArrowheads="1"/>
          </p:cNvSpPr>
          <p:nvPr>
            <p:ph type="title"/>
          </p:nvPr>
        </p:nvSpPr>
        <p:spPr>
          <a:xfrm>
            <a:off x="468313" y="0"/>
            <a:ext cx="8229600" cy="1143000"/>
          </a:xfrm>
        </p:spPr>
        <p:txBody>
          <a:bodyPr/>
          <a:lstStyle/>
          <a:p>
            <a:pPr eaLnBrk="1" hangingPunct="1"/>
            <a:r>
              <a:rPr lang="ja-JP" altLang="en-US" u="sng" smtClean="0"/>
              <a:t>クライアントサーバシステム</a:t>
            </a:r>
          </a:p>
        </p:txBody>
      </p:sp>
      <p:sp>
        <p:nvSpPr>
          <p:cNvPr id="12292" name="Rectangle 3"/>
          <p:cNvSpPr>
            <a:spLocks noGrp="1" noChangeArrowheads="1"/>
          </p:cNvSpPr>
          <p:nvPr>
            <p:ph type="body" idx="1"/>
          </p:nvPr>
        </p:nvSpPr>
        <p:spPr>
          <a:xfrm>
            <a:off x="576511" y="1557338"/>
            <a:ext cx="7595889" cy="4525962"/>
          </a:xfrm>
        </p:spPr>
        <p:txBody>
          <a:bodyPr/>
          <a:lstStyle/>
          <a:p>
            <a:pPr eaLnBrk="1" hangingPunct="1"/>
            <a:r>
              <a:rPr lang="ja-JP" altLang="en-US" dirty="0" smtClean="0"/>
              <a:t>クライアントとサーバ</a:t>
            </a:r>
          </a:p>
          <a:p>
            <a:pPr lvl="1" eaLnBrk="1" hangingPunct="1"/>
            <a:r>
              <a:rPr lang="ja-JP" altLang="en-US" dirty="0" smtClean="0"/>
              <a:t>複数のプロセスがプロセス間通信機能を使って処理を進める</a:t>
            </a:r>
          </a:p>
          <a:p>
            <a:pPr lvl="1" eaLnBrk="1" hangingPunct="1"/>
            <a:r>
              <a:rPr lang="ja-JP" altLang="en-US" dirty="0" smtClean="0"/>
              <a:t>サービスの処理要求を出す側：クライアントプロセス</a:t>
            </a:r>
          </a:p>
          <a:p>
            <a:pPr lvl="1" eaLnBrk="1" hangingPunct="1"/>
            <a:r>
              <a:rPr lang="ja-JP" altLang="en-US" dirty="0" smtClean="0"/>
              <a:t>サービスの処理提供する側：サーバプロセス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2DF845B0-72AE-4270-A001-CF4276B00209}" type="slidenum">
              <a:rPr lang="en-US" altLang="ja-JP" smtClean="0"/>
              <a:pPr/>
              <a:t>6</a:t>
            </a:fld>
            <a:endParaRPr lang="en-US" altLang="ja-JP" smtClean="0"/>
          </a:p>
        </p:txBody>
      </p:sp>
      <p:sp>
        <p:nvSpPr>
          <p:cNvPr id="13315" name="Rectangle 2"/>
          <p:cNvSpPr>
            <a:spLocks noGrp="1" noChangeArrowheads="1"/>
          </p:cNvSpPr>
          <p:nvPr>
            <p:ph type="title"/>
          </p:nvPr>
        </p:nvSpPr>
        <p:spPr/>
        <p:txBody>
          <a:bodyPr/>
          <a:lstStyle/>
          <a:p>
            <a:pPr eaLnBrk="1" hangingPunct="1"/>
            <a:r>
              <a:rPr lang="ja-JP" altLang="en-US" smtClean="0"/>
              <a:t>クライアント・サーバシステム</a:t>
            </a:r>
          </a:p>
        </p:txBody>
      </p:sp>
      <p:sp>
        <p:nvSpPr>
          <p:cNvPr id="13316" name="Rectangle 3"/>
          <p:cNvSpPr>
            <a:spLocks noGrp="1" noChangeArrowheads="1"/>
          </p:cNvSpPr>
          <p:nvPr>
            <p:ph type="body" idx="1"/>
          </p:nvPr>
        </p:nvSpPr>
        <p:spPr/>
        <p:txBody>
          <a:bodyPr/>
          <a:lstStyle/>
          <a:p>
            <a:pPr eaLnBrk="1" hangingPunct="1"/>
            <a:endParaRPr lang="ja-JP" altLang="ja-JP" smtClean="0"/>
          </a:p>
        </p:txBody>
      </p:sp>
      <p:pic>
        <p:nvPicPr>
          <p:cNvPr id="13317" name="Picture 4" descr="SCAN3"/>
          <p:cNvPicPr>
            <a:picLocks noChangeAspect="1" noChangeArrowheads="1"/>
          </p:cNvPicPr>
          <p:nvPr/>
        </p:nvPicPr>
        <p:blipFill>
          <a:blip r:embed="rId2" cstate="print"/>
          <a:srcRect/>
          <a:stretch>
            <a:fillRect/>
          </a:stretch>
        </p:blipFill>
        <p:spPr bwMode="auto">
          <a:xfrm>
            <a:off x="179388" y="1196975"/>
            <a:ext cx="8748712" cy="546258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A9CFC549-DD2A-4B2F-830F-21C03987A10F}" type="slidenum">
              <a:rPr lang="en-US" altLang="ja-JP" smtClean="0"/>
              <a:pPr/>
              <a:t>7</a:t>
            </a:fld>
            <a:endParaRPr lang="en-US" altLang="ja-JP" smtClean="0"/>
          </a:p>
        </p:txBody>
      </p:sp>
      <p:sp>
        <p:nvSpPr>
          <p:cNvPr id="14339" name="Rectangle 2"/>
          <p:cNvSpPr>
            <a:spLocks noGrp="1" noChangeArrowheads="1"/>
          </p:cNvSpPr>
          <p:nvPr>
            <p:ph type="title"/>
          </p:nvPr>
        </p:nvSpPr>
        <p:spPr>
          <a:xfrm>
            <a:off x="468313" y="0"/>
            <a:ext cx="8229600" cy="1143000"/>
          </a:xfrm>
        </p:spPr>
        <p:txBody>
          <a:bodyPr/>
          <a:lstStyle/>
          <a:p>
            <a:pPr eaLnBrk="1" hangingPunct="1"/>
            <a:r>
              <a:rPr lang="ja-JP" altLang="en-US" u="sng" smtClean="0"/>
              <a:t>サーバの運用形態</a:t>
            </a:r>
          </a:p>
        </p:txBody>
      </p:sp>
      <p:sp>
        <p:nvSpPr>
          <p:cNvPr id="14340" name="Rectangle 3"/>
          <p:cNvSpPr>
            <a:spLocks noGrp="1" noChangeArrowheads="1"/>
          </p:cNvSpPr>
          <p:nvPr>
            <p:ph type="body" idx="1"/>
          </p:nvPr>
        </p:nvSpPr>
        <p:spPr>
          <a:xfrm>
            <a:off x="323850" y="1052513"/>
            <a:ext cx="8229600" cy="4525962"/>
          </a:xfrm>
        </p:spPr>
        <p:txBody>
          <a:bodyPr/>
          <a:lstStyle/>
          <a:p>
            <a:pPr eaLnBrk="1" hangingPunct="1"/>
            <a:r>
              <a:rPr lang="ja-JP" altLang="en-US" smtClean="0"/>
              <a:t>反復サーバ</a:t>
            </a:r>
          </a:p>
          <a:p>
            <a:pPr lvl="1" eaLnBrk="1" hangingPunct="1"/>
            <a:r>
              <a:rPr lang="ja-JP" altLang="en-US" smtClean="0"/>
              <a:t>サーバプロセス自身が順次クライアントの要求を処理するサーバ形態</a:t>
            </a:r>
          </a:p>
        </p:txBody>
      </p:sp>
      <p:pic>
        <p:nvPicPr>
          <p:cNvPr id="14341" name="Picture 5" descr="SCAN4"/>
          <p:cNvPicPr>
            <a:picLocks noChangeAspect="1" noChangeArrowheads="1"/>
          </p:cNvPicPr>
          <p:nvPr/>
        </p:nvPicPr>
        <p:blipFill>
          <a:blip r:embed="rId2" cstate="print"/>
          <a:srcRect/>
          <a:stretch>
            <a:fillRect/>
          </a:stretch>
        </p:blipFill>
        <p:spPr bwMode="auto">
          <a:xfrm>
            <a:off x="1835150" y="2652713"/>
            <a:ext cx="5257800" cy="420528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E1EB02EC-6AE8-4EFA-8D14-567939491166}" type="slidenum">
              <a:rPr lang="en-US" altLang="ja-JP" smtClean="0"/>
              <a:pPr/>
              <a:t>8</a:t>
            </a:fld>
            <a:endParaRPr lang="en-US" altLang="ja-JP" smtClean="0"/>
          </a:p>
        </p:txBody>
      </p:sp>
      <p:sp>
        <p:nvSpPr>
          <p:cNvPr id="15363" name="Rectangle 2"/>
          <p:cNvSpPr>
            <a:spLocks noGrp="1" noChangeArrowheads="1"/>
          </p:cNvSpPr>
          <p:nvPr>
            <p:ph type="title"/>
          </p:nvPr>
        </p:nvSpPr>
        <p:spPr>
          <a:xfrm>
            <a:off x="468313" y="-171450"/>
            <a:ext cx="8229600" cy="1143000"/>
          </a:xfrm>
        </p:spPr>
        <p:txBody>
          <a:bodyPr/>
          <a:lstStyle/>
          <a:p>
            <a:pPr eaLnBrk="1" hangingPunct="1"/>
            <a:r>
              <a:rPr lang="ja-JP" altLang="en-US" u="sng" smtClean="0"/>
              <a:t>サーバの運用形態</a:t>
            </a:r>
          </a:p>
        </p:txBody>
      </p:sp>
      <p:sp>
        <p:nvSpPr>
          <p:cNvPr id="15364" name="Rectangle 3"/>
          <p:cNvSpPr>
            <a:spLocks noGrp="1" noChangeArrowheads="1"/>
          </p:cNvSpPr>
          <p:nvPr>
            <p:ph type="body" idx="1"/>
          </p:nvPr>
        </p:nvSpPr>
        <p:spPr>
          <a:xfrm>
            <a:off x="250825" y="765175"/>
            <a:ext cx="8229600" cy="4525963"/>
          </a:xfrm>
        </p:spPr>
        <p:txBody>
          <a:bodyPr/>
          <a:lstStyle/>
          <a:p>
            <a:pPr eaLnBrk="1" hangingPunct="1"/>
            <a:r>
              <a:rPr lang="ja-JP" altLang="en-US" smtClean="0"/>
              <a:t>並行サーバ</a:t>
            </a:r>
          </a:p>
          <a:p>
            <a:pPr lvl="1" eaLnBrk="1" hangingPunct="1"/>
            <a:r>
              <a:rPr lang="ja-JP" altLang="en-US" smtClean="0"/>
              <a:t>サーバプロセスが複数の子プロセスを生成し，並行して処理を行うサーバ形態</a:t>
            </a:r>
          </a:p>
        </p:txBody>
      </p:sp>
      <p:pic>
        <p:nvPicPr>
          <p:cNvPr id="15365" name="Picture 5" descr="SCAN5"/>
          <p:cNvPicPr>
            <a:picLocks noChangeAspect="1" noChangeArrowheads="1"/>
          </p:cNvPicPr>
          <p:nvPr/>
        </p:nvPicPr>
        <p:blipFill>
          <a:blip r:embed="rId2" cstate="print"/>
          <a:srcRect/>
          <a:stretch>
            <a:fillRect/>
          </a:stretch>
        </p:blipFill>
        <p:spPr bwMode="auto">
          <a:xfrm>
            <a:off x="1546225" y="2420938"/>
            <a:ext cx="6121400" cy="4435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50606E95-926B-4D99-B03F-4F5D342B7BF9}" type="slidenum">
              <a:rPr lang="en-US" altLang="ja-JP" smtClean="0"/>
              <a:pPr/>
              <a:t>9</a:t>
            </a:fld>
            <a:endParaRPr lang="en-US" altLang="ja-JP" smtClean="0"/>
          </a:p>
        </p:txBody>
      </p:sp>
      <p:sp>
        <p:nvSpPr>
          <p:cNvPr id="18435" name="Rectangle 2"/>
          <p:cNvSpPr>
            <a:spLocks noGrp="1" noChangeArrowheads="1"/>
          </p:cNvSpPr>
          <p:nvPr>
            <p:ph type="title"/>
          </p:nvPr>
        </p:nvSpPr>
        <p:spPr/>
        <p:txBody>
          <a:bodyPr/>
          <a:lstStyle/>
          <a:p>
            <a:pPr eaLnBrk="1" hangingPunct="1"/>
            <a:endParaRPr lang="ja-JP" altLang="ja-JP" smtClean="0"/>
          </a:p>
        </p:txBody>
      </p:sp>
      <p:sp>
        <p:nvSpPr>
          <p:cNvPr id="18436" name="Rectangle 3"/>
          <p:cNvSpPr>
            <a:spLocks noGrp="1" noChangeArrowheads="1"/>
          </p:cNvSpPr>
          <p:nvPr>
            <p:ph type="body" idx="1"/>
          </p:nvPr>
        </p:nvSpPr>
        <p:spPr/>
        <p:txBody>
          <a:bodyPr/>
          <a:lstStyle/>
          <a:p>
            <a:pPr eaLnBrk="1" hangingPunct="1"/>
            <a:endParaRPr lang="ja-JP" altLang="ja-JP" smtClean="0"/>
          </a:p>
        </p:txBody>
      </p:sp>
      <p:pic>
        <p:nvPicPr>
          <p:cNvPr id="18437" name="Picture 4" descr="SCAN7"/>
          <p:cNvPicPr>
            <a:picLocks noChangeAspect="1" noChangeArrowheads="1"/>
          </p:cNvPicPr>
          <p:nvPr/>
        </p:nvPicPr>
        <p:blipFill>
          <a:blip r:embed="rId2" cstate="print"/>
          <a:srcRect/>
          <a:stretch>
            <a:fillRect/>
          </a:stretch>
        </p:blipFill>
        <p:spPr bwMode="auto">
          <a:xfrm rot="-125327">
            <a:off x="-105164" y="450395"/>
            <a:ext cx="9144001" cy="593725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E340E199-3563-4FFB-A85A-25AE629AF0F0}" type="slidenum">
              <a:rPr lang="en-US" altLang="ja-JP" smtClean="0"/>
              <a:pPr/>
              <a:t>10</a:t>
            </a:fld>
            <a:endParaRPr lang="en-US" altLang="ja-JP" smtClean="0"/>
          </a:p>
        </p:txBody>
      </p:sp>
      <p:sp>
        <p:nvSpPr>
          <p:cNvPr id="19459" name="Rectangle 2"/>
          <p:cNvSpPr>
            <a:spLocks noGrp="1" noChangeArrowheads="1"/>
          </p:cNvSpPr>
          <p:nvPr>
            <p:ph type="title"/>
          </p:nvPr>
        </p:nvSpPr>
        <p:spPr/>
        <p:txBody>
          <a:bodyPr/>
          <a:lstStyle/>
          <a:p>
            <a:pPr eaLnBrk="1" hangingPunct="1"/>
            <a:endParaRPr lang="ja-JP" altLang="ja-JP" smtClean="0"/>
          </a:p>
        </p:txBody>
      </p:sp>
      <p:sp>
        <p:nvSpPr>
          <p:cNvPr id="19460" name="Rectangle 3"/>
          <p:cNvSpPr>
            <a:spLocks noGrp="1" noChangeArrowheads="1"/>
          </p:cNvSpPr>
          <p:nvPr>
            <p:ph type="body" idx="1"/>
          </p:nvPr>
        </p:nvSpPr>
        <p:spPr/>
        <p:txBody>
          <a:bodyPr/>
          <a:lstStyle/>
          <a:p>
            <a:pPr eaLnBrk="1" hangingPunct="1"/>
            <a:endParaRPr lang="ja-JP" altLang="ja-JP" smtClean="0"/>
          </a:p>
        </p:txBody>
      </p:sp>
      <p:pic>
        <p:nvPicPr>
          <p:cNvPr id="19461" name="Picture 5" descr="SCAN8"/>
          <p:cNvPicPr>
            <a:picLocks noChangeAspect="1" noChangeArrowheads="1"/>
          </p:cNvPicPr>
          <p:nvPr/>
        </p:nvPicPr>
        <p:blipFill>
          <a:blip r:embed="rId2" cstate="print"/>
          <a:srcRect/>
          <a:stretch>
            <a:fillRect/>
          </a:stretch>
        </p:blipFill>
        <p:spPr bwMode="auto">
          <a:xfrm>
            <a:off x="0" y="404813"/>
            <a:ext cx="9144000" cy="5827712"/>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F95F4D7E-DF4B-4F9F-9A8A-77E54462FC51}" type="slidenum">
              <a:rPr lang="en-US" altLang="ja-JP" smtClean="0"/>
              <a:pPr/>
              <a:t>11</a:t>
            </a:fld>
            <a:endParaRPr lang="en-US" altLang="ja-JP" smtClean="0"/>
          </a:p>
        </p:txBody>
      </p:sp>
      <p:sp>
        <p:nvSpPr>
          <p:cNvPr id="20483" name="Rectangle 2"/>
          <p:cNvSpPr>
            <a:spLocks noGrp="1" noChangeArrowheads="1"/>
          </p:cNvSpPr>
          <p:nvPr>
            <p:ph type="title"/>
          </p:nvPr>
        </p:nvSpPr>
        <p:spPr>
          <a:xfrm>
            <a:off x="468313" y="0"/>
            <a:ext cx="8229600" cy="1143000"/>
          </a:xfrm>
        </p:spPr>
        <p:txBody>
          <a:bodyPr/>
          <a:lstStyle/>
          <a:p>
            <a:pPr eaLnBrk="1" hangingPunct="1"/>
            <a:r>
              <a:rPr lang="ja-JP" altLang="en-US" smtClean="0"/>
              <a:t>例</a:t>
            </a:r>
          </a:p>
        </p:txBody>
      </p:sp>
      <p:sp>
        <p:nvSpPr>
          <p:cNvPr id="20484" name="Rectangle 3"/>
          <p:cNvSpPr>
            <a:spLocks noGrp="1" noChangeArrowheads="1"/>
          </p:cNvSpPr>
          <p:nvPr>
            <p:ph type="body" idx="1"/>
          </p:nvPr>
        </p:nvSpPr>
        <p:spPr>
          <a:xfrm>
            <a:off x="571500" y="1214438"/>
            <a:ext cx="8072438" cy="1714500"/>
          </a:xfrm>
        </p:spPr>
        <p:txBody>
          <a:bodyPr>
            <a:normAutofit lnSpcReduction="10000"/>
          </a:bodyPr>
          <a:lstStyle/>
          <a:p>
            <a:pPr eaLnBrk="1" hangingPunct="1">
              <a:lnSpc>
                <a:spcPct val="90000"/>
              </a:lnSpc>
            </a:pPr>
            <a:r>
              <a:rPr lang="en-US" altLang="ja-JP" sz="2800" smtClean="0"/>
              <a:t>inet_server.c, inet_client.c</a:t>
            </a:r>
          </a:p>
          <a:p>
            <a:pPr eaLnBrk="1" hangingPunct="1">
              <a:lnSpc>
                <a:spcPct val="90000"/>
              </a:lnSpc>
              <a:buFontTx/>
              <a:buNone/>
            </a:pPr>
            <a:r>
              <a:rPr lang="en-US" altLang="ja-JP" sz="2800" smtClean="0"/>
              <a:t> </a:t>
            </a:r>
            <a:r>
              <a:rPr lang="ja-JP" altLang="en-US" sz="2800" smtClean="0"/>
              <a:t>インターネット上にある２つのマシン上のプロセス間で、メッセージのやりとりを行うプログラム。</a:t>
            </a:r>
            <a:endParaRPr lang="en-US" altLang="ja-JP" sz="2800" smtClean="0"/>
          </a:p>
          <a:p>
            <a:pPr eaLnBrk="1" hangingPunct="1">
              <a:lnSpc>
                <a:spcPct val="90000"/>
              </a:lnSpc>
              <a:buFontTx/>
              <a:buNone/>
            </a:pPr>
            <a:r>
              <a:rPr lang="en-US" altLang="ja-JP" sz="2800" smtClean="0"/>
              <a:t>IP address</a:t>
            </a:r>
            <a:r>
              <a:rPr lang="ja-JP" altLang="en-US" sz="2800" smtClean="0"/>
              <a:t>とポート番号でプロセスを識別。</a:t>
            </a:r>
            <a:endParaRPr lang="en-US" altLang="ja-JP" sz="2800" smtClean="0"/>
          </a:p>
        </p:txBody>
      </p:sp>
      <p:sp>
        <p:nvSpPr>
          <p:cNvPr id="20485" name="正方形/長方形 4"/>
          <p:cNvSpPr>
            <a:spLocks noChangeArrowheads="1"/>
          </p:cNvSpPr>
          <p:nvPr/>
        </p:nvSpPr>
        <p:spPr bwMode="auto">
          <a:xfrm>
            <a:off x="714375" y="3286125"/>
            <a:ext cx="7929563" cy="2751138"/>
          </a:xfrm>
          <a:prstGeom prst="rect">
            <a:avLst/>
          </a:prstGeom>
          <a:noFill/>
          <a:ln w="9525">
            <a:noFill/>
            <a:miter lim="800000"/>
            <a:headEnd/>
            <a:tailEnd/>
          </a:ln>
        </p:spPr>
        <p:txBody>
          <a:bodyPr>
            <a:spAutoFit/>
          </a:bodyPr>
          <a:lstStyle/>
          <a:p>
            <a:pPr>
              <a:lnSpc>
                <a:spcPct val="90000"/>
              </a:lnSpc>
            </a:pPr>
            <a:r>
              <a:rPr lang="en-US" altLang="ja-JP" sz="2400" u="none" dirty="0"/>
              <a:t>8</a:t>
            </a:r>
            <a:r>
              <a:rPr lang="ja-JP" altLang="en-US" sz="2400" u="none" dirty="0"/>
              <a:t>行目と</a:t>
            </a:r>
            <a:r>
              <a:rPr lang="en-US" altLang="ja-JP" sz="2400" u="none" dirty="0"/>
              <a:t>9</a:t>
            </a:r>
            <a:r>
              <a:rPr lang="ja-JP" altLang="en-US" sz="2400" u="none" dirty="0"/>
              <a:t>行目の</a:t>
            </a:r>
            <a:r>
              <a:rPr lang="en-US" altLang="ja-JP" sz="2400" u="none" dirty="0"/>
              <a:t>SERVER_PORT</a:t>
            </a:r>
            <a:r>
              <a:rPr lang="ja-JP" altLang="en-US" sz="2400" u="none" dirty="0"/>
              <a:t>は、</a:t>
            </a:r>
            <a:endParaRPr lang="en-US" altLang="ja-JP" sz="2400" u="none" dirty="0"/>
          </a:p>
          <a:p>
            <a:pPr>
              <a:lnSpc>
                <a:spcPct val="90000"/>
              </a:lnSpc>
            </a:pPr>
            <a:r>
              <a:rPr lang="en-US" altLang="ja-JP" sz="2400" u="none" dirty="0"/>
              <a:t>50000 + </a:t>
            </a:r>
            <a:r>
              <a:rPr lang="ja-JP" altLang="en-US" sz="2400" u="none" dirty="0"/>
              <a:t>学籍番号の下４桁に修正。</a:t>
            </a:r>
            <a:endParaRPr lang="en-US" altLang="ja-JP" sz="2400" u="none" dirty="0"/>
          </a:p>
          <a:p>
            <a:pPr>
              <a:lnSpc>
                <a:spcPct val="90000"/>
              </a:lnSpc>
            </a:pPr>
            <a:r>
              <a:rPr lang="en-US" altLang="ja-JP" sz="2400" u="none" dirty="0" err="1"/>
              <a:t>inet_client</a:t>
            </a:r>
            <a:r>
              <a:rPr lang="ja-JP" altLang="en-US" sz="2400" u="none" dirty="0"/>
              <a:t>の第一引数に通信相手をホスト名</a:t>
            </a:r>
            <a:r>
              <a:rPr lang="en-US" altLang="ja-JP" sz="2400" u="none" dirty="0"/>
              <a:t>(IP address</a:t>
            </a:r>
            <a:r>
              <a:rPr lang="ja-JP" altLang="en-US" sz="2400" u="none" dirty="0"/>
              <a:t>に対応、</a:t>
            </a:r>
            <a:r>
              <a:rPr lang="en-US" altLang="ja-JP" sz="2400" u="none" dirty="0"/>
              <a:t>hostname</a:t>
            </a:r>
            <a:r>
              <a:rPr lang="ja-JP" altLang="en-US" sz="2400" u="none" dirty="0"/>
              <a:t>コマンドで確認</a:t>
            </a:r>
            <a:r>
              <a:rPr lang="en-US" altLang="ja-JP" sz="2400" u="none" dirty="0"/>
              <a:t>)</a:t>
            </a:r>
            <a:r>
              <a:rPr lang="ja-JP" altLang="en-US" sz="2400" u="none" dirty="0"/>
              <a:t>で指定。ポート番号はプログラム中の、</a:t>
            </a:r>
            <a:r>
              <a:rPr lang="en-US" altLang="ja-JP" sz="2400" u="none" dirty="0"/>
              <a:t>SERVER_PORT</a:t>
            </a:r>
            <a:r>
              <a:rPr lang="ja-JP" altLang="en-US" sz="2400" u="none" dirty="0"/>
              <a:t>の番号で指定。</a:t>
            </a:r>
            <a:endParaRPr lang="en-US" altLang="ja-JP" sz="2400" u="none" dirty="0"/>
          </a:p>
          <a:p>
            <a:pPr>
              <a:lnSpc>
                <a:spcPct val="90000"/>
              </a:lnSpc>
            </a:pPr>
            <a:r>
              <a:rPr lang="ja-JP" altLang="en-US" sz="2400" u="none" dirty="0"/>
              <a:t>自分で通信ができた人は、近くの人と通信を試す。</a:t>
            </a:r>
            <a:endParaRPr lang="en-US" altLang="ja-JP" sz="2400" u="none" dirty="0"/>
          </a:p>
          <a:p>
            <a:pPr>
              <a:lnSpc>
                <a:spcPct val="90000"/>
              </a:lnSpc>
            </a:pPr>
            <a:r>
              <a:rPr lang="ja-JP" altLang="en-US" sz="2400" u="none" dirty="0"/>
              <a:t>他人と通信する場合は</a:t>
            </a:r>
            <a:r>
              <a:rPr lang="en-US" altLang="ja-JP" sz="2400" u="none" dirty="0"/>
              <a:t>SERVER_PORT</a:t>
            </a:r>
            <a:r>
              <a:rPr lang="ja-JP" altLang="en-US" sz="2400" u="none" dirty="0"/>
              <a:t>番号を同じにする。（どちらかに合わせる）</a:t>
            </a:r>
            <a:endParaRPr lang="en-US" altLang="ja-JP" sz="2400" u="none"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kumimoji="1" lang="ja-JP" altLang="en-US" dirty="0" smtClean="0"/>
              <a:t>サーバプログラム</a:t>
            </a:r>
            <a:endParaRPr kumimoji="1" lang="ja-JP" altLang="en-US" dirty="0"/>
          </a:p>
        </p:txBody>
      </p:sp>
      <p:sp>
        <p:nvSpPr>
          <p:cNvPr id="6" name="正方形/長方形 5"/>
          <p:cNvSpPr/>
          <p:nvPr/>
        </p:nvSpPr>
        <p:spPr>
          <a:xfrm>
            <a:off x="323528" y="801280"/>
            <a:ext cx="4032448"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#define BUFSIZE 256</a:t>
            </a:r>
          </a:p>
          <a:p>
            <a:r>
              <a:rPr lang="en-US" altLang="ja-JP" sz="2000" dirty="0" smtClean="0"/>
              <a:t>#define SERVER_PORT 50000 </a:t>
            </a:r>
          </a:p>
          <a:p>
            <a:r>
              <a:rPr lang="en-US" altLang="ja-JP" sz="2000" dirty="0" smtClean="0"/>
              <a:t>           /* 50000+</a:t>
            </a:r>
            <a:r>
              <a:rPr lang="ja-JP" altLang="en-US" sz="2000" dirty="0" smtClean="0"/>
              <a:t>学籍番号下４桁 *</a:t>
            </a:r>
            <a:r>
              <a:rPr lang="en-US" altLang="ja-JP" sz="2000" dirty="0" smtClean="0"/>
              <a: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 </a:t>
            </a:r>
          </a:p>
          <a:p>
            <a:r>
              <a:rPr lang="en-US" altLang="ja-JP" sz="2000" dirty="0" smtClean="0"/>
              <a:t>  </a:t>
            </a:r>
            <a:r>
              <a:rPr lang="en-US" altLang="ja-JP" sz="2000" dirty="0" err="1" smtClean="0"/>
              <a:t>int</a:t>
            </a:r>
            <a:r>
              <a:rPr lang="en-US" altLang="ja-JP" sz="2000" dirty="0" smtClean="0"/>
              <a:t> ns; </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socklen_t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p:txBody>
      </p:sp>
      <p:sp>
        <p:nvSpPr>
          <p:cNvPr id="4" name="正方形/長方形 3"/>
          <p:cNvSpPr/>
          <p:nvPr/>
        </p:nvSpPr>
        <p:spPr>
          <a:xfrm>
            <a:off x="4644008" y="836712"/>
            <a:ext cx="4320480" cy="2246769"/>
          </a:xfrm>
          <a:prstGeom prst="rect">
            <a:avLst/>
          </a:prstGeom>
          <a:noFill/>
          <a:ln>
            <a:solidFill>
              <a:schemeClr val="tx1"/>
            </a:solidFill>
          </a:ln>
        </p:spPr>
        <p:txBody>
          <a:bodyPr wrap="square">
            <a:spAutoFit/>
          </a:bodyPr>
          <a:lstStyle/>
          <a:p>
            <a:r>
              <a:rPr lang="en-US" altLang="ja-JP" sz="2000" dirty="0" smtClean="0"/>
              <a:t> const </a:t>
            </a:r>
            <a:r>
              <a:rPr lang="en-US" altLang="ja-JP" sz="2000" dirty="0" err="1" smtClean="0"/>
              <a:t>int</a:t>
            </a:r>
            <a:r>
              <a:rPr lang="en-US" altLang="ja-JP" sz="2000" dirty="0" smtClean="0"/>
              <a:t> one = 1;</a:t>
            </a:r>
          </a:p>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000100" y="571480"/>
            <a:ext cx="7143800"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sockfd</a:t>
            </a:r>
            <a:r>
              <a:rPr lang="en-US" altLang="ja-JP" sz="2000" dirty="0" smtClean="0"/>
              <a:t> = socket(PF_INET, 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a:t>
            </a:r>
            <a:r>
              <a:rPr lang="en-US" altLang="ja-JP" sz="2000" dirty="0" smtClean="0">
                <a:solidFill>
                  <a:srgbClr val="FF0000"/>
                </a:solidFill>
              </a:rPr>
              <a:t>INADDR_ANY</a:t>
            </a:r>
            <a:r>
              <a:rPr lang="en-US" altLang="ja-JP" sz="2000" dirty="0" smtClean="0"/>
              <a:t>);</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a:t>
            </a:r>
          </a:p>
          <a:p>
            <a:r>
              <a:rPr lang="en-US" altLang="ja-JP" sz="2000" dirty="0" smtClean="0"/>
              <a:t>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a:p>
            <a:r>
              <a:rPr lang="en-US" altLang="ja-JP" sz="2000" dirty="0" smtClean="0"/>
              <a:t>  if(bind(</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 </a:t>
            </a:r>
            <a:r>
              <a:rPr lang="en-US" altLang="ja-JP" sz="2000" dirty="0" err="1" smtClean="0"/>
              <a:t>sizeof</a:t>
            </a:r>
            <a:r>
              <a:rPr lang="en-US" altLang="ja-JP" sz="2000" dirty="0" smtClean="0"/>
              <a:t>(server))</a:t>
            </a:r>
          </a:p>
          <a:p>
            <a:r>
              <a:rPr lang="en-US" altLang="ja-JP" sz="2000" dirty="0" smtClean="0"/>
              <a:t>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if(listen(</a:t>
            </a:r>
            <a:r>
              <a:rPr lang="en-US" altLang="ja-JP" sz="2000" dirty="0" err="1" smtClean="0"/>
              <a:t>sockfd</a:t>
            </a:r>
            <a:r>
              <a:rPr lang="en-US" altLang="ja-JP" sz="2000" dirty="0" smtClean="0"/>
              <a:t>, 5) == -1){</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endParaRPr lang="ja-JP" altLang="en-US" sz="2000" dirty="0"/>
          </a:p>
        </p:txBody>
      </p:sp>
      <p:sp>
        <p:nvSpPr>
          <p:cNvPr id="3" name="テキスト ボックス 2"/>
          <p:cNvSpPr txBox="1"/>
          <p:nvPr/>
        </p:nvSpPr>
        <p:spPr>
          <a:xfrm>
            <a:off x="6012160" y="1268760"/>
            <a:ext cx="3131840" cy="1754326"/>
          </a:xfrm>
          <a:prstGeom prst="rect">
            <a:avLst/>
          </a:prstGeom>
          <a:solidFill>
            <a:schemeClr val="bg1"/>
          </a:solidFill>
          <a:ln>
            <a:solidFill>
              <a:schemeClr val="tx1"/>
            </a:solidFill>
          </a:ln>
        </p:spPr>
        <p:txBody>
          <a:bodyPr wrap="square" rtlCol="0">
            <a:spAutoFit/>
          </a:bodyPr>
          <a:lstStyle/>
          <a:p>
            <a:r>
              <a:rPr kumimoji="1" lang="en-US" altLang="ja-JP" dirty="0" smtClean="0"/>
              <a:t>INADDR_ANY</a:t>
            </a:r>
            <a:r>
              <a:rPr kumimoji="1" lang="ja-JP" altLang="en-US" dirty="0" smtClean="0"/>
              <a:t>を指定するのは、自分が</a:t>
            </a:r>
            <a:r>
              <a:rPr kumimoji="1" lang="en-US" altLang="ja-JP" dirty="0" smtClean="0"/>
              <a:t>IP address</a:t>
            </a:r>
            <a:r>
              <a:rPr kumimoji="1" lang="ja-JP" altLang="en-US" dirty="0" smtClean="0"/>
              <a:t>を１つだけしか持っていない場合。</a:t>
            </a:r>
            <a:r>
              <a:rPr kumimoji="1" lang="en-US" altLang="ja-JP" dirty="0" smtClean="0"/>
              <a:t>Network card</a:t>
            </a:r>
            <a:r>
              <a:rPr kumimoji="1" lang="ja-JP" altLang="en-US" dirty="0" smtClean="0"/>
              <a:t>が２枚ある</a:t>
            </a:r>
            <a:r>
              <a:rPr kumimoji="1" lang="en-US" altLang="ja-JP" dirty="0" smtClean="0"/>
              <a:t>PC</a:t>
            </a:r>
            <a:r>
              <a:rPr kumimoji="1" lang="ja-JP" altLang="en-US" dirty="0" smtClean="0"/>
              <a:t>では２つの</a:t>
            </a:r>
            <a:r>
              <a:rPr lang="en-US" altLang="ja-JP" dirty="0" smtClean="0"/>
              <a:t>IP address</a:t>
            </a:r>
            <a:r>
              <a:rPr lang="ja-JP" altLang="en-US" dirty="0" smtClean="0"/>
              <a:t>があり、この場合は明示的に指定する。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00034" y="725647"/>
            <a:ext cx="6072230" cy="5632311"/>
          </a:xfrm>
          <a:prstGeom prst="rect">
            <a:avLst/>
          </a:prstGeom>
          <a:ln>
            <a:solidFill>
              <a:schemeClr val="tx1"/>
            </a:solidFill>
          </a:ln>
        </p:spPr>
        <p:txBody>
          <a:bodyPr wrap="square">
            <a:spAutoFit/>
          </a:bodyPr>
          <a:lstStyle/>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if((ns = accept(</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if(read(ns,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a:t>
            </a:r>
            <a:r>
              <a:rPr lang="ja-JP" altLang="en-US" sz="2000" dirty="0" smtClean="0"/>
              <a:t> </a:t>
            </a:r>
            <a:r>
              <a:rPr lang="en-US" altLang="ja-JP" sz="2000" dirty="0" smtClean="0"/>
              <a:t>+ 1;</a:t>
            </a:r>
          </a:p>
          <a:p>
            <a:r>
              <a:rPr lang="en-US" altLang="ja-JP" sz="2000" dirty="0" smtClean="0"/>
              <a:t>  if(write(ns,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("server: write");</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6876256" y="714356"/>
            <a:ext cx="1714512" cy="1323439"/>
          </a:xfrm>
          <a:prstGeom prst="rect">
            <a:avLst/>
          </a:prstGeom>
          <a:ln>
            <a:solidFill>
              <a:schemeClr val="tx1"/>
            </a:solidFill>
          </a:ln>
        </p:spPr>
        <p:txBody>
          <a:bodyPr wrap="square">
            <a:spAutoFit/>
          </a:bodyPr>
          <a:lstStyle/>
          <a:p>
            <a:r>
              <a:rPr lang="en-US" altLang="ja-JP" sz="2000" dirty="0" smtClean="0"/>
              <a:t> close(ns);</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lang="ja-JP" altLang="en-US" dirty="0" smtClean="0"/>
              <a:t>クライアント</a:t>
            </a:r>
            <a:r>
              <a:rPr kumimoji="1" lang="ja-JP" altLang="en-US" dirty="0" smtClean="0"/>
              <a:t>プログラム</a:t>
            </a:r>
            <a:endParaRPr kumimoji="1" lang="ja-JP" altLang="en-US" dirty="0"/>
          </a:p>
        </p:txBody>
      </p:sp>
      <p:sp>
        <p:nvSpPr>
          <p:cNvPr id="3" name="正方形/長方形 2"/>
          <p:cNvSpPr/>
          <p:nvPr/>
        </p:nvSpPr>
        <p:spPr>
          <a:xfrm>
            <a:off x="1115616" y="1124744"/>
            <a:ext cx="7315746" cy="501675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netdb.h</a:t>
            </a:r>
            <a:r>
              <a:rPr lang="en-US" altLang="ja-JP" sz="2000" dirty="0" smtClean="0"/>
              <a:t>&gt;</a:t>
            </a:r>
          </a:p>
          <a:p>
            <a:r>
              <a:rPr lang="en-US" altLang="ja-JP" sz="2000" dirty="0" smtClean="0"/>
              <a:t>#define BUFSIZE 256</a:t>
            </a:r>
          </a:p>
          <a:p>
            <a:r>
              <a:rPr lang="en-US" altLang="ja-JP" sz="2000" dirty="0" smtClean="0"/>
              <a:t>#define SERVER_PORT 50000  /* 50000+</a:t>
            </a:r>
            <a:r>
              <a:rPr lang="ja-JP" altLang="en-US" sz="2000" dirty="0" smtClean="0"/>
              <a:t>学籍番号下４桁にする *</a:t>
            </a:r>
            <a:r>
              <a:rPr lang="en-US" altLang="ja-JP" sz="2000" dirty="0" smtClean="0"/>
              <a: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hostent</a:t>
            </a:r>
            <a:r>
              <a:rPr lang="en-US" altLang="ja-JP" sz="2000" dirty="0" smtClean="0"/>
              <a:t> *hp;</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85852" y="714356"/>
            <a:ext cx="7286676"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3){</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server-hostname message(</a:t>
            </a:r>
            <a:r>
              <a:rPr lang="en-US" altLang="ja-JP" sz="2000" dirty="0" err="1" smtClean="0"/>
              <a:t>CtoS</a:t>
            </a:r>
            <a:r>
              <a:rPr lang="en-US" altLang="ja-JP" sz="2000" dirty="0" smtClean="0"/>
              <a:t>)\n“, </a:t>
            </a:r>
          </a:p>
          <a:p>
            <a:r>
              <a:rPr lang="ja-JP" altLang="en-US" sz="2000" dirty="0" smtClean="0"/>
              <a:t>                </a:t>
            </a:r>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a:p>
            <a:r>
              <a:rPr lang="en-US" altLang="ja-JP" sz="2000" dirty="0" smtClean="0">
                <a:ea typeface="HGｺﾞｼｯｸM" pitchFamily="49" charset="-128"/>
              </a:rPr>
              <a:t> if((</a:t>
            </a:r>
            <a:r>
              <a:rPr lang="en-US" altLang="ja-JP" sz="2000" dirty="0" err="1" smtClean="0">
                <a:ea typeface="HGｺﾞｼｯｸM" pitchFamily="49" charset="-128"/>
              </a:rPr>
              <a:t>sockfd</a:t>
            </a:r>
            <a:r>
              <a:rPr lang="en-US" altLang="ja-JP" sz="2000" dirty="0" smtClean="0">
                <a:ea typeface="HGｺﾞｼｯｸM" pitchFamily="49" charset="-128"/>
              </a:rPr>
              <a:t> = socket(PF_INET, SOCK_STREAM, 0))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socket");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bzero</a:t>
            </a:r>
            <a:r>
              <a:rPr lang="en-US" altLang="ja-JP" sz="2000" dirty="0" smtClean="0">
                <a:ea typeface="HGｺﾞｼｯｸM" pitchFamily="49" charset="-128"/>
              </a:rPr>
              <a:t>((char *)&amp;server, </a:t>
            </a:r>
            <a:r>
              <a:rPr lang="en-US" altLang="ja-JP" sz="2000" dirty="0" err="1" smtClean="0">
                <a:ea typeface="HGｺﾞｼｯｸM" pitchFamily="49" charset="-128"/>
              </a:rPr>
              <a:t>sizeof</a:t>
            </a:r>
            <a:r>
              <a:rPr lang="en-US" altLang="ja-JP" sz="2000" dirty="0" smtClean="0">
                <a:ea typeface="HGｺﾞｼｯｸM" pitchFamily="49" charset="-128"/>
              </a:rPr>
              <a:t>(server));</a:t>
            </a:r>
          </a:p>
          <a:p>
            <a:r>
              <a:rPr lang="en-US" altLang="ja-JP" sz="2000" dirty="0" smtClean="0">
                <a:ea typeface="HGｺﾞｼｯｸM" pitchFamily="49" charset="-128"/>
              </a:rPr>
              <a:t>  </a:t>
            </a:r>
            <a:r>
              <a:rPr lang="en-US" altLang="ja-JP" sz="2000" dirty="0" err="1" smtClean="0">
                <a:ea typeface="HGｺﾞｼｯｸM" pitchFamily="49" charset="-128"/>
              </a:rPr>
              <a:t>server.sin_family</a:t>
            </a:r>
            <a:r>
              <a:rPr lang="en-US" altLang="ja-JP" sz="2000" dirty="0" smtClean="0">
                <a:ea typeface="HGｺﾞｼｯｸM" pitchFamily="49" charset="-128"/>
              </a:rPr>
              <a:t> = PF_INET;</a:t>
            </a:r>
          </a:p>
          <a:p>
            <a:r>
              <a:rPr lang="en-US" altLang="ja-JP" sz="2000" dirty="0" smtClean="0">
                <a:ea typeface="HGｺﾞｼｯｸM" pitchFamily="49" charset="-128"/>
              </a:rPr>
              <a:t>  </a:t>
            </a:r>
            <a:r>
              <a:rPr lang="en-US" altLang="ja-JP" sz="2000" dirty="0" err="1" smtClean="0">
                <a:ea typeface="HGｺﾞｼｯｸM" pitchFamily="49" charset="-128"/>
              </a:rPr>
              <a:t>server.sin_port</a:t>
            </a:r>
            <a:r>
              <a:rPr lang="en-US" altLang="ja-JP" sz="2000" dirty="0" smtClean="0">
                <a:ea typeface="HGｺﾞｼｯｸM" pitchFamily="49" charset="-128"/>
              </a:rPr>
              <a:t> = </a:t>
            </a:r>
            <a:r>
              <a:rPr lang="en-US" altLang="ja-JP" sz="2000" dirty="0" err="1" smtClean="0">
                <a:ea typeface="HGｺﾞｼｯｸM" pitchFamily="49" charset="-128"/>
              </a:rPr>
              <a:t>htons</a:t>
            </a:r>
            <a:r>
              <a:rPr lang="en-US" altLang="ja-JP" sz="2000" dirty="0" smtClean="0">
                <a:ea typeface="HGｺﾞｼｯｸM" pitchFamily="49" charset="-128"/>
              </a:rPr>
              <a:t>(SERVER_PORT);</a:t>
            </a:r>
          </a:p>
          <a:p>
            <a:r>
              <a:rPr lang="en-US" altLang="ja-JP" sz="2000" dirty="0" smtClean="0">
                <a:ea typeface="HGｺﾞｼｯｸM" pitchFamily="49" charset="-128"/>
              </a:rPr>
              <a:t>  if((hp = </a:t>
            </a:r>
            <a:r>
              <a:rPr lang="en-US" altLang="ja-JP" sz="2000" dirty="0" err="1" smtClean="0">
                <a:ea typeface="HGｺﾞｼｯｸM" pitchFamily="49" charset="-128"/>
              </a:rPr>
              <a:t>gethostbyname</a:t>
            </a:r>
            <a:r>
              <a:rPr lang="en-US" altLang="ja-JP" sz="2000" dirty="0" smtClean="0">
                <a:ea typeface="HGｺﾞｼｯｸM" pitchFamily="49" charset="-128"/>
              </a:rPr>
              <a:t>(</a:t>
            </a:r>
            <a:r>
              <a:rPr lang="en-US" altLang="ja-JP" sz="2000" dirty="0" err="1" smtClean="0">
                <a:ea typeface="HGｺﾞｼｯｸM" pitchFamily="49" charset="-128"/>
              </a:rPr>
              <a:t>argv</a:t>
            </a:r>
            <a:r>
              <a:rPr lang="en-US" altLang="ja-JP" sz="2000" dirty="0" smtClean="0">
                <a:ea typeface="HGｺﾞｼｯｸM" pitchFamily="49" charset="-128"/>
              </a:rPr>
              <a:t>[1])) == NULL){</a:t>
            </a:r>
          </a:p>
          <a:p>
            <a:r>
              <a:rPr lang="en-US" altLang="ja-JP" sz="2000" dirty="0" smtClean="0">
                <a:ea typeface="HGｺﾞｼｯｸM" pitchFamily="49" charset="-128"/>
              </a:rPr>
              <a:t>    </a:t>
            </a:r>
            <a:r>
              <a:rPr lang="en-US" altLang="ja-JP" sz="2000" dirty="0" err="1" smtClean="0">
                <a:ea typeface="HGｺﾞｼｯｸM" pitchFamily="49" charset="-128"/>
              </a:rPr>
              <a:t>herror</a:t>
            </a:r>
            <a:r>
              <a:rPr lang="en-US" altLang="ja-JP" sz="2000" dirty="0" smtClean="0">
                <a:ea typeface="HGｺﾞｼｯｸM" pitchFamily="49" charset="-128"/>
              </a:rPr>
              <a:t>("client: </a:t>
            </a:r>
            <a:r>
              <a:rPr lang="en-US" altLang="ja-JP" sz="2000" dirty="0" err="1" smtClean="0">
                <a:ea typeface="HGｺﾞｼｯｸM" pitchFamily="49" charset="-128"/>
              </a:rPr>
              <a:t>gethostbyname</a:t>
            </a:r>
            <a:r>
              <a:rPr lang="en-US" altLang="ja-JP" sz="2000" dirty="0" smtClean="0">
                <a:ea typeface="HGｺﾞｼｯｸM" pitchFamily="49" charset="-128"/>
              </a:rPr>
              <a: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bcopy</a:t>
            </a:r>
            <a:r>
              <a:rPr lang="en-US" altLang="ja-JP" sz="2000" dirty="0" smtClean="0">
                <a:ea typeface="HGｺﾞｼｯｸM" pitchFamily="49" charset="-128"/>
              </a:rPr>
              <a:t>(hp-&gt;</a:t>
            </a:r>
            <a:r>
              <a:rPr lang="en-US" altLang="ja-JP" sz="2000" dirty="0" err="1" smtClean="0">
                <a:ea typeface="HGｺﾞｼｯｸM" pitchFamily="49" charset="-128"/>
              </a:rPr>
              <a:t>h_addr</a:t>
            </a:r>
            <a:r>
              <a:rPr lang="en-US" altLang="ja-JP" sz="2000" dirty="0" smtClean="0">
                <a:ea typeface="HGｺﾞｼｯｸM" pitchFamily="49" charset="-128"/>
              </a:rPr>
              <a:t>, (char *)&amp;</a:t>
            </a:r>
            <a:r>
              <a:rPr lang="en-US" altLang="ja-JP" sz="2000" dirty="0" err="1" smtClean="0">
                <a:ea typeface="HGｺﾞｼｯｸM" pitchFamily="49" charset="-128"/>
              </a:rPr>
              <a:t>server.sin_addr</a:t>
            </a:r>
            <a:r>
              <a:rPr lang="en-US" altLang="ja-JP" sz="2000" dirty="0" smtClean="0">
                <a:ea typeface="HGｺﾞｼｯｸM" pitchFamily="49" charset="-128"/>
              </a:rPr>
              <a:t>,</a:t>
            </a:r>
          </a:p>
          <a:p>
            <a:r>
              <a:rPr lang="en-US" altLang="ja-JP" sz="2000" dirty="0" smtClean="0">
                <a:ea typeface="HGｺﾞｼｯｸM" pitchFamily="49" charset="-128"/>
              </a:rPr>
              <a:t>        hp-&gt;</a:t>
            </a:r>
            <a:r>
              <a:rPr lang="en-US" altLang="ja-JP" sz="2000" dirty="0" err="1" smtClean="0">
                <a:ea typeface="HGｺﾞｼｯｸM" pitchFamily="49" charset="-128"/>
              </a:rPr>
              <a:t>h_length</a:t>
            </a:r>
            <a:r>
              <a:rPr lang="en-US" altLang="ja-JP" sz="2000" dirty="0" smtClean="0">
                <a:ea typeface="HGｺﾞｼｯｸM" pitchFamily="49" charset="-128"/>
              </a:rPr>
              <a:t>);</a:t>
            </a:r>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59632" y="836712"/>
            <a:ext cx="6643734" cy="5324535"/>
          </a:xfrm>
          <a:prstGeom prst="rect">
            <a:avLst/>
          </a:prstGeom>
          <a:ln>
            <a:solidFill>
              <a:schemeClr val="tx1"/>
            </a:solidFill>
          </a:ln>
        </p:spPr>
        <p:txBody>
          <a:bodyPr wrap="square">
            <a:spAutoFit/>
          </a:bodyPr>
          <a:lstStyle/>
          <a:p>
            <a:r>
              <a:rPr lang="en-US" altLang="ja-JP" sz="2000" dirty="0" smtClean="0">
                <a:ea typeface="HGｺﾞｼｯｸM" pitchFamily="49" charset="-128"/>
              </a:rPr>
              <a:t> if(connect(</a:t>
            </a:r>
            <a:r>
              <a:rPr lang="en-US" altLang="ja-JP" sz="2000" dirty="0" err="1" smtClean="0">
                <a:ea typeface="HGｺﾞｼｯｸM" pitchFamily="49" charset="-128"/>
              </a:rPr>
              <a:t>sockfd</a:t>
            </a:r>
            <a:r>
              <a:rPr lang="en-US" altLang="ja-JP" sz="2000" dirty="0" smtClean="0">
                <a:ea typeface="HGｺﾞｼｯｸM" pitchFamily="49" charset="-128"/>
              </a:rPr>
              <a:t>, (</a:t>
            </a:r>
            <a:r>
              <a:rPr lang="en-US" altLang="ja-JP" sz="2000" dirty="0" err="1" smtClean="0">
                <a:ea typeface="HGｺﾞｼｯｸM" pitchFamily="49" charset="-128"/>
              </a:rPr>
              <a:t>struct</a:t>
            </a:r>
            <a:r>
              <a:rPr lang="en-US" altLang="ja-JP" sz="2000" dirty="0" smtClean="0">
                <a:ea typeface="HGｺﾞｼｯｸM" pitchFamily="49" charset="-128"/>
              </a:rPr>
              <a:t> </a:t>
            </a:r>
            <a:r>
              <a:rPr lang="en-US" altLang="ja-JP" sz="2000" dirty="0" err="1" smtClean="0">
                <a:ea typeface="HGｺﾞｼｯｸM" pitchFamily="49" charset="-128"/>
              </a:rPr>
              <a:t>sockaddr</a:t>
            </a:r>
            <a:r>
              <a:rPr lang="en-US" altLang="ja-JP" sz="2000" dirty="0" smtClean="0">
                <a:ea typeface="HGｺﾞｼｯｸM" pitchFamily="49" charset="-128"/>
              </a:rPr>
              <a:t> *)&amp;server,</a:t>
            </a:r>
          </a:p>
          <a:p>
            <a:r>
              <a:rPr lang="en-US" altLang="ja-JP" sz="2000" dirty="0" smtClean="0">
                <a:ea typeface="HGｺﾞｼｯｸM" pitchFamily="49" charset="-128"/>
              </a:rPr>
              <a:t>             </a:t>
            </a:r>
            <a:r>
              <a:rPr lang="en-US" altLang="ja-JP" sz="2000" dirty="0" err="1" smtClean="0">
                <a:ea typeface="HGｺﾞｼｯｸM" pitchFamily="49" charset="-128"/>
              </a:rPr>
              <a:t>sizeof</a:t>
            </a:r>
            <a:r>
              <a:rPr lang="en-US" altLang="ja-JP" sz="2000" dirty="0" smtClean="0">
                <a:ea typeface="HGｺﾞｼｯｸM" pitchFamily="49" charset="-128"/>
              </a:rPr>
              <a:t>(server))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connect");</a:t>
            </a:r>
          </a:p>
          <a:p>
            <a:r>
              <a:rPr lang="en-US" altLang="ja-JP" sz="2000" dirty="0" smtClean="0">
                <a:ea typeface="HGｺﾞｼｯｸM" pitchFamily="49" charset="-128"/>
              </a:rPr>
              <a:t>    exit(1);</a:t>
            </a:r>
          </a:p>
          <a:p>
            <a:r>
              <a:rPr lang="en-US" altLang="ja-JP" sz="2000" dirty="0" smtClean="0">
                <a:ea typeface="HGｺﾞｼｯｸM" pitchFamily="49" charset="-128"/>
              </a:rPr>
              <a:t>  }</a:t>
            </a:r>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a:t>
            </a:r>
            <a:r>
              <a:rPr lang="en-US" altLang="ja-JP" sz="2000" dirty="0" err="1" smtClean="0"/>
              <a:t>sockfd</a:t>
            </a:r>
            <a:r>
              <a:rPr lang="en-US" altLang="ja-JP" sz="2000" dirty="0" smtClean="0"/>
              <a:t>, </a:t>
            </a:r>
            <a:r>
              <a:rPr lang="en-US" altLang="ja-JP" sz="2000" dirty="0" err="1" smtClean="0"/>
              <a:t>argv</a:t>
            </a:r>
            <a:r>
              <a:rPr lang="en-US" altLang="ja-JP" sz="2000" dirty="0" smtClean="0"/>
              <a:t>[2],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("\n&lt;CLIENT&gt; message from server : %s\n\n", </a:t>
            </a:r>
            <a:r>
              <a:rPr lang="en-US" altLang="ja-JP" sz="2000" dirty="0" err="1" smtClean="0"/>
              <a:t>buf</a:t>
            </a:r>
            <a:r>
              <a:rPr lang="en-US" altLang="ja-JP" sz="2000" dirty="0" smtClean="0"/>
              <a:t>);</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E2E1FEE9-582B-4FBF-950E-3C39E7D5AF0E}" type="slidenum">
              <a:rPr lang="en-US" altLang="ja-JP"/>
              <a:pPr/>
              <a:t>18</a:t>
            </a:fld>
            <a:endParaRPr lang="en-US" altLang="ja-JP"/>
          </a:p>
        </p:txBody>
      </p:sp>
      <p:sp>
        <p:nvSpPr>
          <p:cNvPr id="207874"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07875" name="Rectangle 3"/>
          <p:cNvSpPr>
            <a:spLocks noGrp="1" noChangeArrowheads="1"/>
          </p:cNvSpPr>
          <p:nvPr>
            <p:ph type="body" idx="1"/>
          </p:nvPr>
        </p:nvSpPr>
        <p:spPr>
          <a:xfrm>
            <a:off x="381000" y="1600200"/>
            <a:ext cx="8229600" cy="4525963"/>
          </a:xfrm>
        </p:spPr>
        <p:txBody>
          <a:bodyPr>
            <a:normAutofit/>
          </a:bodyPr>
          <a:lstStyle/>
          <a:p>
            <a:pPr>
              <a:lnSpc>
                <a:spcPct val="90000"/>
              </a:lnSpc>
            </a:pPr>
            <a:r>
              <a:rPr lang="en-US" altLang="ja-JP" dirty="0" err="1"/>
              <a:t>inet_server.c</a:t>
            </a:r>
            <a:r>
              <a:rPr lang="ja-JP" altLang="en-US" dirty="0" err="1"/>
              <a:t>を</a:t>
            </a:r>
            <a:r>
              <a:rPr lang="ja-JP" altLang="en-US" dirty="0" err="1" smtClean="0"/>
              <a:t>修</a:t>
            </a:r>
            <a:r>
              <a:rPr lang="ja-JP" altLang="en-US" dirty="0" smtClean="0"/>
              <a:t>正して作成したもの。</a:t>
            </a:r>
            <a:endParaRPr lang="ja-JP" altLang="en-US" dirty="0"/>
          </a:p>
          <a:p>
            <a:pPr>
              <a:lnSpc>
                <a:spcPct val="90000"/>
              </a:lnSpc>
            </a:pPr>
            <a:r>
              <a:rPr lang="en-US" altLang="ja-JP" dirty="0"/>
              <a:t>accept</a:t>
            </a:r>
            <a:r>
              <a:rPr lang="ja-JP" altLang="en-US" dirty="0"/>
              <a:t>及び</a:t>
            </a:r>
            <a:r>
              <a:rPr lang="en-US" altLang="ja-JP" dirty="0"/>
              <a:t>read, write</a:t>
            </a:r>
            <a:r>
              <a:rPr lang="ja-JP" altLang="en-US" dirty="0"/>
              <a:t>を</a:t>
            </a:r>
            <a:r>
              <a:rPr lang="en-US" altLang="ja-JP" dirty="0"/>
              <a:t>for loop</a:t>
            </a:r>
            <a:r>
              <a:rPr lang="ja-JP" altLang="en-US" dirty="0"/>
              <a:t>で繰り返す。</a:t>
            </a:r>
          </a:p>
          <a:p>
            <a:pPr lvl="1">
              <a:lnSpc>
                <a:spcPct val="90000"/>
              </a:lnSpc>
            </a:pPr>
            <a:r>
              <a:rPr lang="ja-JP" altLang="en-US" dirty="0"/>
              <a:t>反復サーバ方式</a:t>
            </a:r>
          </a:p>
          <a:p>
            <a:pPr>
              <a:lnSpc>
                <a:spcPct val="90000"/>
              </a:lnSpc>
            </a:pPr>
            <a:r>
              <a:rPr lang="ja-JP" altLang="en-US" dirty="0"/>
              <a:t>クライアント（ブラウザ等）からのメッセージ</a:t>
            </a:r>
          </a:p>
          <a:p>
            <a:pPr lvl="1">
              <a:lnSpc>
                <a:spcPct val="90000"/>
              </a:lnSpc>
            </a:pPr>
            <a:r>
              <a:rPr lang="en-US" altLang="ja-JP" dirty="0"/>
              <a:t>GET /index.html HTTP/1.0 (</a:t>
            </a:r>
            <a:r>
              <a:rPr lang="ja-JP" altLang="en-US" dirty="0"/>
              <a:t>１行目</a:t>
            </a:r>
            <a:r>
              <a:rPr lang="en-US" altLang="ja-JP" dirty="0"/>
              <a:t>)</a:t>
            </a:r>
          </a:p>
          <a:p>
            <a:pPr lvl="1">
              <a:lnSpc>
                <a:spcPct val="90000"/>
              </a:lnSpc>
            </a:pPr>
            <a:r>
              <a:rPr lang="ja-JP" altLang="en-US" dirty="0"/>
              <a:t>２行目以降は各種情報</a:t>
            </a:r>
          </a:p>
          <a:p>
            <a:pPr>
              <a:lnSpc>
                <a:spcPct val="90000"/>
              </a:lnSpc>
            </a:pPr>
            <a:r>
              <a:rPr lang="ja-JP" altLang="en-US" dirty="0"/>
              <a:t>応答メッセージ</a:t>
            </a:r>
          </a:p>
          <a:p>
            <a:pPr lvl="1">
              <a:lnSpc>
                <a:spcPct val="90000"/>
              </a:lnSpc>
            </a:pPr>
            <a:r>
              <a:rPr lang="en-US" altLang="ja-JP" dirty="0"/>
              <a:t>HTTP/1.0 200</a:t>
            </a:r>
            <a:r>
              <a:rPr lang="ja-JP" altLang="en-US" dirty="0"/>
              <a:t>等（１行目）で応答の種別、２行目から各種情報の後、ファイル本体を送る。</a:t>
            </a:r>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6864217-8B39-43B7-BF64-4AC89F7E9346}" type="slidenum">
              <a:rPr lang="en-US" altLang="ja-JP"/>
              <a:pPr/>
              <a:t>19</a:t>
            </a:fld>
            <a:endParaRPr lang="en-US" altLang="ja-JP"/>
          </a:p>
        </p:txBody>
      </p:sp>
      <p:sp>
        <p:nvSpPr>
          <p:cNvPr id="211970"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11971" name="Rectangle 3"/>
          <p:cNvSpPr>
            <a:spLocks noGrp="1" noChangeArrowheads="1"/>
          </p:cNvSpPr>
          <p:nvPr>
            <p:ph type="body" idx="1"/>
          </p:nvPr>
        </p:nvSpPr>
        <p:spPr>
          <a:xfrm>
            <a:off x="381000" y="1196975"/>
            <a:ext cx="8229600" cy="5040313"/>
          </a:xfrm>
        </p:spPr>
        <p:txBody>
          <a:bodyPr/>
          <a:lstStyle/>
          <a:p>
            <a:pPr>
              <a:lnSpc>
                <a:spcPct val="80000"/>
              </a:lnSpc>
            </a:pPr>
            <a:r>
              <a:rPr lang="ja-JP" altLang="en-US" sz="2400" dirty="0"/>
              <a:t>実行手順</a:t>
            </a:r>
          </a:p>
          <a:p>
            <a:pPr>
              <a:lnSpc>
                <a:spcPct val="80000"/>
              </a:lnSpc>
              <a:buFontTx/>
              <a:buNone/>
            </a:pPr>
            <a:r>
              <a:rPr lang="ja-JP" altLang="en-US" sz="2400" dirty="0"/>
              <a:t>   </a:t>
            </a:r>
            <a:r>
              <a:rPr lang="en-US" altLang="ja-JP" sz="2400" dirty="0"/>
              <a:t>$ </a:t>
            </a:r>
            <a:r>
              <a:rPr lang="en-US" altLang="ja-JP" sz="2400" dirty="0" err="1"/>
              <a:t>gcc</a:t>
            </a:r>
            <a:r>
              <a:rPr lang="en-US" altLang="ja-JP" sz="2400" dirty="0"/>
              <a:t> –o web_server0  web_server0.c</a:t>
            </a:r>
          </a:p>
          <a:p>
            <a:pPr>
              <a:lnSpc>
                <a:spcPct val="80000"/>
              </a:lnSpc>
              <a:buFontTx/>
              <a:buNone/>
            </a:pPr>
            <a:r>
              <a:rPr lang="en-US" altLang="ja-JP" sz="2400" dirty="0"/>
              <a:t>   $ ./</a:t>
            </a:r>
            <a:r>
              <a:rPr lang="en-US" altLang="ja-JP" sz="2400" dirty="0" smtClean="0"/>
              <a:t>web_server0 </a:t>
            </a:r>
            <a:r>
              <a:rPr lang="en-US" altLang="ja-JP" sz="2400" dirty="0"/>
              <a:t>test.html</a:t>
            </a:r>
          </a:p>
          <a:p>
            <a:pPr>
              <a:lnSpc>
                <a:spcPct val="80000"/>
              </a:lnSpc>
              <a:buFontTx/>
              <a:buNone/>
            </a:pPr>
            <a:r>
              <a:rPr lang="en-US" altLang="ja-JP" sz="2400" dirty="0"/>
              <a:t>   (</a:t>
            </a:r>
            <a:r>
              <a:rPr lang="en-US" altLang="ja-JP" sz="2400" dirty="0" smtClean="0"/>
              <a:t>web_server0</a:t>
            </a:r>
            <a:r>
              <a:rPr lang="ja-JP" altLang="en-US" sz="2400" dirty="0"/>
              <a:t>を実行するディレクトリに</a:t>
            </a:r>
            <a:r>
              <a:rPr lang="en-US" altLang="ja-JP" sz="2400" dirty="0"/>
              <a:t>test.html</a:t>
            </a:r>
            <a:r>
              <a:rPr lang="ja-JP" altLang="en-US" sz="2400" dirty="0" err="1"/>
              <a:t>を置</a:t>
            </a:r>
            <a:r>
              <a:rPr lang="ja-JP" altLang="en-US" sz="2400" dirty="0"/>
              <a:t>いておく</a:t>
            </a:r>
            <a:r>
              <a:rPr lang="en-US" altLang="ja-JP" sz="2400" dirty="0"/>
              <a:t>)</a:t>
            </a:r>
          </a:p>
          <a:p>
            <a:pPr>
              <a:lnSpc>
                <a:spcPct val="80000"/>
              </a:lnSpc>
              <a:buFontTx/>
              <a:buNone/>
            </a:pPr>
            <a:r>
              <a:rPr lang="ja-JP" altLang="en-US" sz="2400" dirty="0"/>
              <a:t>その後、ブラウザで、</a:t>
            </a:r>
          </a:p>
          <a:p>
            <a:pPr>
              <a:lnSpc>
                <a:spcPct val="80000"/>
              </a:lnSpc>
              <a:buFontTx/>
              <a:buNone/>
            </a:pPr>
            <a:r>
              <a:rPr lang="en-US" altLang="ja-JP" sz="2400" dirty="0">
                <a:hlinkClick r:id="rId3"/>
              </a:rPr>
              <a:t>http://</a:t>
            </a:r>
            <a:r>
              <a:rPr lang="en-US" altLang="ja-JP" sz="2400" dirty="0" smtClean="0">
                <a:hlinkClick r:id="rId3"/>
              </a:rPr>
              <a:t>oli005.sic.shibaura-it.ac.jp:50000/aaa.html</a:t>
            </a:r>
            <a:endParaRPr lang="en-US" altLang="ja-JP" sz="2400" dirty="0"/>
          </a:p>
          <a:p>
            <a:pPr>
              <a:lnSpc>
                <a:spcPct val="80000"/>
              </a:lnSpc>
              <a:buFontTx/>
              <a:buNone/>
            </a:pPr>
            <a:r>
              <a:rPr lang="ja-JP" altLang="en-US" sz="2400" dirty="0"/>
              <a:t>などを入力する。 </a:t>
            </a:r>
            <a:r>
              <a:rPr lang="en-US" altLang="ja-JP" sz="2400" dirty="0"/>
              <a:t>:</a:t>
            </a:r>
            <a:r>
              <a:rPr lang="ja-JP" altLang="en-US" sz="2400" dirty="0"/>
              <a:t>のあとに、</a:t>
            </a:r>
            <a:r>
              <a:rPr lang="en-US" altLang="ja-JP" sz="2400" dirty="0"/>
              <a:t>web_server0.c</a:t>
            </a:r>
            <a:r>
              <a:rPr lang="ja-JP" altLang="en-US" sz="2400" dirty="0"/>
              <a:t>で指定した</a:t>
            </a:r>
            <a:r>
              <a:rPr lang="en-US" altLang="ja-JP" sz="2400" dirty="0"/>
              <a:t>web server</a:t>
            </a:r>
            <a:r>
              <a:rPr lang="ja-JP" altLang="en-US" sz="2400" dirty="0"/>
              <a:t>のポート番号を入れる（</a:t>
            </a:r>
            <a:r>
              <a:rPr lang="en-US" altLang="ja-JP" sz="2400" dirty="0"/>
              <a:t>50000+</a:t>
            </a:r>
            <a:r>
              <a:rPr lang="ja-JP" altLang="en-US" sz="2400" dirty="0"/>
              <a:t>学籍番号の下４桁）。ホスト名部分は</a:t>
            </a:r>
            <a:r>
              <a:rPr lang="en-US" altLang="ja-JP" sz="2400" dirty="0"/>
              <a:t>web</a:t>
            </a:r>
            <a:r>
              <a:rPr lang="ja-JP" altLang="en-US" sz="2400" dirty="0"/>
              <a:t>サーバーを起動するホスト上で</a:t>
            </a:r>
            <a:r>
              <a:rPr lang="en-US" altLang="ja-JP" sz="2400" dirty="0"/>
              <a:t>hostname</a:t>
            </a:r>
            <a:r>
              <a:rPr lang="ja-JP" altLang="en-US" sz="2400" dirty="0"/>
              <a:t>コマンドで確認する。</a:t>
            </a:r>
          </a:p>
          <a:p>
            <a:pPr>
              <a:lnSpc>
                <a:spcPct val="80000"/>
              </a:lnSpc>
              <a:buFontTx/>
              <a:buNone/>
            </a:pPr>
            <a:r>
              <a:rPr lang="en-US" altLang="ja-JP" sz="2400" dirty="0"/>
              <a:t>$ hostname</a:t>
            </a:r>
          </a:p>
          <a:p>
            <a:pPr>
              <a:lnSpc>
                <a:spcPct val="80000"/>
              </a:lnSpc>
              <a:buFontTx/>
              <a:buNone/>
            </a:pPr>
            <a:r>
              <a:rPr lang="en-US" altLang="ja-JP" sz="2400" dirty="0"/>
              <a:t>oli005.sic.shibaura-it.ac.jp</a:t>
            </a:r>
          </a:p>
          <a:p>
            <a:pPr>
              <a:lnSpc>
                <a:spcPct val="80000"/>
              </a:lnSpc>
              <a:buFontTx/>
              <a:buNone/>
            </a:pPr>
            <a:r>
              <a:rPr lang="ja-JP" altLang="en-US" sz="2400" dirty="0"/>
              <a:t>など。今はファイル名はサーバ側で決め打ちなので、ブラウザに入れるファイル名は何でもよい。</a:t>
            </a: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簡易</a:t>
            </a:r>
            <a:r>
              <a:rPr lang="en-US" altLang="ja-JP" dirty="0" smtClean="0"/>
              <a:t>web server</a:t>
            </a:r>
            <a:endParaRPr kumimoji="1" lang="ja-JP" altLang="en-US" dirty="0"/>
          </a:p>
        </p:txBody>
      </p:sp>
      <p:sp>
        <p:nvSpPr>
          <p:cNvPr id="4" name="正方形/長方形 3"/>
          <p:cNvSpPr/>
          <p:nvPr/>
        </p:nvSpPr>
        <p:spPr>
          <a:xfrm>
            <a:off x="1142976" y="1742439"/>
            <a:ext cx="6786610" cy="440120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stat.h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signal.h</a:t>
            </a:r>
            <a:r>
              <a:rPr lang="en-US" altLang="ja-JP" sz="2000" dirty="0" smtClean="0"/>
              <a:t>&gt;</a:t>
            </a:r>
          </a:p>
          <a:p>
            <a:r>
              <a:rPr lang="en-US" altLang="ja-JP" sz="2000" dirty="0" smtClean="0"/>
              <a:t>#define BUFSIZE 1024</a:t>
            </a:r>
          </a:p>
          <a:p>
            <a:r>
              <a:rPr lang="en-US" altLang="ja-JP" sz="2000" dirty="0" smtClean="0"/>
              <a:t>#define SERVER_PORT 50000</a:t>
            </a:r>
          </a:p>
          <a:p>
            <a:r>
              <a:rPr lang="en-US" altLang="ja-JP" sz="2000" dirty="0" smtClean="0"/>
              <a:t>    /* </a:t>
            </a:r>
            <a:r>
              <a:rPr lang="ja-JP" altLang="en-US" sz="2000" dirty="0" smtClean="0"/>
              <a:t>サーバのソケットの名前（ポート番号）</a:t>
            </a:r>
          </a:p>
          <a:p>
            <a:r>
              <a:rPr lang="ja-JP" altLang="en-US" sz="2000" dirty="0" smtClean="0"/>
              <a:t>       各自、</a:t>
            </a:r>
            <a:r>
              <a:rPr lang="en-US" altLang="ja-JP" sz="2000" dirty="0" smtClean="0"/>
              <a:t>50000+</a:t>
            </a:r>
            <a:r>
              <a:rPr lang="ja-JP" altLang="en-US" sz="2000" dirty="0" smtClean="0"/>
              <a:t>自分の学籍番号に変更 *</a:t>
            </a:r>
            <a:r>
              <a:rPr lang="en-US" altLang="ja-JP" sz="2000" dirty="0" smtClean="0"/>
              <a:t>/</a:t>
            </a:r>
            <a:endParaRPr lang="en-US" altLang="ja-JP"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000100" y="1341200"/>
            <a:ext cx="7143800" cy="5016758"/>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socklen_t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char </a:t>
            </a:r>
            <a:r>
              <a:rPr lang="en-US" altLang="ja-JP" sz="2000" dirty="0" err="1" smtClean="0"/>
              <a:t>readbuf</a:t>
            </a:r>
            <a:r>
              <a:rPr lang="en-US" altLang="ja-JP" sz="2000" dirty="0" smtClean="0"/>
              <a:t> [BUFSIZE];</a:t>
            </a:r>
          </a:p>
          <a:p>
            <a:r>
              <a:rPr lang="en-US" altLang="ja-JP" sz="2000" dirty="0" smtClean="0"/>
              <a:t>  const </a:t>
            </a:r>
            <a:r>
              <a:rPr lang="en-US" altLang="ja-JP" sz="2000" dirty="0" err="1" smtClean="0"/>
              <a:t>int</a:t>
            </a:r>
            <a:r>
              <a:rPr lang="en-US" altLang="ja-JP" sz="2000" dirty="0" smtClean="0"/>
              <a:t> one = 1;</a:t>
            </a:r>
          </a:p>
          <a:p>
            <a:r>
              <a:rPr lang="en-US" altLang="ja-JP" sz="2000" dirty="0" smtClean="0"/>
              <a:t>  </a:t>
            </a:r>
            <a:r>
              <a:rPr lang="en-US" altLang="ja-JP" sz="2000" dirty="0" err="1" smtClean="0"/>
              <a:t>int</a:t>
            </a:r>
            <a:r>
              <a:rPr lang="en-US" altLang="ja-JP" sz="2000" dirty="0" smtClean="0"/>
              <a:t> </a:t>
            </a:r>
            <a:r>
              <a:rPr lang="en-US" altLang="ja-JP" sz="2000" dirty="0" err="1" smtClean="0"/>
              <a:t>readbyte</a:t>
            </a:r>
            <a:r>
              <a:rPr lang="en-US" altLang="ja-JP" sz="2000" dirty="0" smtClean="0"/>
              <a:t>;</a:t>
            </a:r>
          </a:p>
          <a:p>
            <a:r>
              <a:rPr lang="en-US" altLang="ja-JP" sz="2000" dirty="0" smtClean="0"/>
              <a:t>  FILE *file;</a:t>
            </a:r>
          </a:p>
          <a:p>
            <a:r>
              <a:rPr lang="en-US" altLang="ja-JP" sz="2000" dirty="0" smtClean="0"/>
              <a:t>  char * responce1 = "HTTP/1.0 </a:t>
            </a:r>
            <a:r>
              <a:rPr lang="en-US" altLang="ja-JP" sz="2000" dirty="0" smtClean="0">
                <a:solidFill>
                  <a:srgbClr val="FF0000"/>
                </a:solidFill>
              </a:rPr>
              <a:t>200</a:t>
            </a:r>
            <a:r>
              <a:rPr lang="en-US" altLang="ja-JP" sz="2000" dirty="0" smtClean="0"/>
              <a:t>\r\n";</a:t>
            </a:r>
          </a:p>
          <a:p>
            <a:r>
              <a:rPr lang="en-US" altLang="ja-JP" sz="2000" dirty="0" smtClean="0"/>
              <a:t>  char * responce2 = "Content-type: text/html\r\n";</a:t>
            </a:r>
          </a:p>
          <a:p>
            <a:r>
              <a:rPr lang="en-US" altLang="ja-JP" sz="2000" dirty="0" smtClean="0"/>
              <a:t>  char * </a:t>
            </a:r>
            <a:r>
              <a:rPr lang="en-US" altLang="ja-JP" sz="2000" dirty="0" err="1" smtClean="0"/>
              <a:t>newLine</a:t>
            </a:r>
            <a:r>
              <a:rPr lang="en-US" altLang="ja-JP" sz="2000" dirty="0" smtClean="0"/>
              <a:t> = "\r\n";</a:t>
            </a:r>
            <a:endParaRPr lang="en-US" altLang="ja-JP" sz="2000" dirty="0"/>
          </a:p>
        </p:txBody>
      </p:sp>
      <p:sp>
        <p:nvSpPr>
          <p:cNvPr id="6" name="テキスト ボックス 5"/>
          <p:cNvSpPr txBox="1"/>
          <p:nvPr/>
        </p:nvSpPr>
        <p:spPr>
          <a:xfrm>
            <a:off x="3893329" y="357166"/>
            <a:ext cx="1035861" cy="646331"/>
          </a:xfrm>
          <a:prstGeom prst="rect">
            <a:avLst/>
          </a:prstGeom>
          <a:noFill/>
        </p:spPr>
        <p:txBody>
          <a:bodyPr wrap="none" rtlCol="0">
            <a:spAutoFit/>
          </a:bodyPr>
          <a:lstStyle/>
          <a:p>
            <a:r>
              <a:rPr lang="ja-JP" altLang="en-US" sz="3600" dirty="0" smtClean="0"/>
              <a:t>続き</a:t>
            </a:r>
            <a:endParaRPr kumimoji="1" lang="ja-JP" altLang="en-US" sz="3600" dirty="0"/>
          </a:p>
        </p:txBody>
      </p:sp>
      <p:sp>
        <p:nvSpPr>
          <p:cNvPr id="4" name="テキスト ボックス 3"/>
          <p:cNvSpPr txBox="1"/>
          <p:nvPr/>
        </p:nvSpPr>
        <p:spPr>
          <a:xfrm>
            <a:off x="5214942" y="3929066"/>
            <a:ext cx="2786082" cy="1384995"/>
          </a:xfrm>
          <a:prstGeom prst="rect">
            <a:avLst/>
          </a:prstGeom>
          <a:noFill/>
          <a:ln>
            <a:solidFill>
              <a:schemeClr val="tx1"/>
            </a:solidFill>
          </a:ln>
        </p:spPr>
        <p:txBody>
          <a:bodyPr wrap="square" rtlCol="0">
            <a:spAutoFit/>
          </a:bodyPr>
          <a:lstStyle/>
          <a:p>
            <a:r>
              <a:rPr kumimoji="1" lang="en-US" altLang="ja-JP" sz="2800" dirty="0" smtClean="0"/>
              <a:t>200</a:t>
            </a:r>
            <a:r>
              <a:rPr kumimoji="1" lang="ja-JP" altLang="en-US" sz="2800" dirty="0" smtClean="0"/>
              <a:t>はステータスコードであり、正常終了を表す。</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928662" y="1285860"/>
            <a:ext cx="7429552" cy="5324535"/>
          </a:xfrm>
          <a:prstGeom prst="rect">
            <a:avLst/>
          </a:prstGeom>
          <a:ln>
            <a:solidFill>
              <a:schemeClr val="tx1"/>
            </a:solidFill>
          </a:ln>
        </p:spPr>
        <p:txBody>
          <a:bodyPr wrap="square">
            <a:spAutoFit/>
          </a:bodyPr>
          <a:lstStyle/>
          <a:p>
            <a:r>
              <a:rPr lang="ja-JP" altLang="en-US" sz="2000" dirty="0" smtClean="0"/>
              <a:t>  </a:t>
            </a:r>
            <a:r>
              <a:rPr lang="en-US" altLang="ja-JP" sz="2000" dirty="0" smtClean="0"/>
              <a:t>if (</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stderr,"Usage</a:t>
            </a:r>
            <a:r>
              <a:rPr lang="en-US" altLang="ja-JP" sz="2000" dirty="0" smtClean="0"/>
              <a:t>: %s filename\n",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socket(PF_INET,</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 </a:t>
            </a:r>
            <a:r>
              <a:rPr lang="ja-JP" altLang="en-US" sz="2000" dirty="0" smtClean="0"/>
              <a:t>ソケットの名前（ポート番号）の設定 *</a:t>
            </a:r>
            <a:r>
              <a:rPr lang="en-US" altLang="ja-JP" sz="2000" dirty="0" smtClean="0"/>
              <a: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(INADDR_ANY);</a:t>
            </a:r>
          </a:p>
          <a:p>
            <a:r>
              <a:rPr lang="en-US" altLang="ja-JP" sz="2000" dirty="0" smtClean="0"/>
              <a:t>                           /* IP</a:t>
            </a:r>
            <a:r>
              <a:rPr lang="ja-JP" altLang="en-US" sz="2000" dirty="0" smtClean="0"/>
              <a:t>アドレスの設定 *</a:t>
            </a:r>
            <a:r>
              <a:rPr lang="en-US" altLang="ja-JP" sz="2000" dirty="0" smtClean="0"/>
              <a:t>/</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p:txBody>
      </p:sp>
      <p:sp>
        <p:nvSpPr>
          <p:cNvPr id="5" name="テキスト ボックス 4"/>
          <p:cNvSpPr txBox="1"/>
          <p:nvPr/>
        </p:nvSpPr>
        <p:spPr>
          <a:xfrm>
            <a:off x="4000496" y="428604"/>
            <a:ext cx="941283" cy="584775"/>
          </a:xfrm>
          <a:prstGeom prst="rect">
            <a:avLst/>
          </a:prstGeom>
          <a:noFill/>
        </p:spPr>
        <p:txBody>
          <a:bodyPr wrap="none" rtlCol="0">
            <a:spAutoFit/>
          </a:bodyPr>
          <a:lstStyle/>
          <a:p>
            <a:r>
              <a:rPr kumimoji="1" lang="ja-JP" altLang="en-US" sz="3200" dirty="0" smtClean="0"/>
              <a:t>続き</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29600" cy="796908"/>
          </a:xfrm>
        </p:spPr>
        <p:txBody>
          <a:bodyPr>
            <a:normAutofit/>
          </a:bodyPr>
          <a:lstStyle/>
          <a:p>
            <a:r>
              <a:rPr kumimoji="1" lang="ja-JP" altLang="en-US" sz="3600" dirty="0" smtClean="0"/>
              <a:t>続き</a:t>
            </a:r>
            <a:endParaRPr kumimoji="1" lang="ja-JP" altLang="en-US" sz="3600" dirty="0"/>
          </a:p>
        </p:txBody>
      </p:sp>
      <p:sp>
        <p:nvSpPr>
          <p:cNvPr id="4" name="正方形/長方形 3"/>
          <p:cNvSpPr/>
          <p:nvPr/>
        </p:nvSpPr>
        <p:spPr>
          <a:xfrm>
            <a:off x="1714480" y="714356"/>
            <a:ext cx="5429288" cy="5940088"/>
          </a:xfrm>
          <a:prstGeom prst="rect">
            <a:avLst/>
          </a:prstGeom>
          <a:ln>
            <a:solidFill>
              <a:schemeClr val="tx1"/>
            </a:solidFill>
          </a:ln>
        </p:spPr>
        <p:txBody>
          <a:bodyPr wrap="square">
            <a:spAutoFit/>
          </a:bodyPr>
          <a:lstStyle/>
          <a:p>
            <a:r>
              <a:rPr lang="en-US" altLang="ja-JP" sz="2000" dirty="0" smtClean="0"/>
              <a:t> if (bind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for (</a:t>
            </a:r>
            <a:r>
              <a:rPr lang="en-US" altLang="ja-JP" sz="2000" dirty="0" err="1" smtClean="0"/>
              <a:t>i</a:t>
            </a:r>
            <a:r>
              <a:rPr lang="en-US" altLang="ja-JP" sz="2000" dirty="0" smtClean="0"/>
              <a:t>=1;;</a:t>
            </a:r>
            <a:r>
              <a:rPr lang="en-US" altLang="ja-JP" sz="2000" dirty="0" err="1" smtClean="0"/>
              <a:t>i</a:t>
            </a:r>
            <a:r>
              <a:rPr lang="en-US" altLang="ja-JP" sz="2000" dirty="0" smtClean="0"/>
              <a:t>++) {</a:t>
            </a:r>
          </a:p>
          <a:p>
            <a:r>
              <a:rPr lang="en-US" altLang="ja-JP" sz="2000" dirty="0" smtClean="0"/>
              <a:t>    </a:t>
            </a:r>
            <a:r>
              <a:rPr lang="en-US" altLang="ja-JP" sz="2000" dirty="0" err="1" smtClean="0"/>
              <a:t>printf</a:t>
            </a:r>
            <a:r>
              <a:rPr lang="en-US" altLang="ja-JP" sz="2000" dirty="0" smtClean="0"/>
              <a:t> ("Waiting request from client (%d)\</a:t>
            </a:r>
            <a:r>
              <a:rPr lang="en-US" altLang="ja-JP" sz="2000" dirty="0" err="1" smtClean="0"/>
              <a:t>n",i</a:t>
            </a:r>
            <a:r>
              <a:rPr lang="en-US" altLang="ja-JP" sz="2000" dirty="0" smtClean="0"/>
              <a: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
        <p:nvSpPr>
          <p:cNvPr id="5" name="テキスト ボックス 4"/>
          <p:cNvSpPr txBox="1"/>
          <p:nvPr/>
        </p:nvSpPr>
        <p:spPr>
          <a:xfrm>
            <a:off x="5796136" y="5013176"/>
            <a:ext cx="2232248" cy="923330"/>
          </a:xfrm>
          <a:prstGeom prst="rect">
            <a:avLst/>
          </a:prstGeom>
          <a:solidFill>
            <a:schemeClr val="bg1"/>
          </a:solidFill>
          <a:ln>
            <a:solidFill>
              <a:schemeClr val="tx1"/>
            </a:solidFill>
          </a:ln>
        </p:spPr>
        <p:txBody>
          <a:bodyPr wrap="square" rtlCol="0">
            <a:spAutoFit/>
          </a:bodyPr>
          <a:lstStyle/>
          <a:p>
            <a:r>
              <a:rPr lang="en-US" altLang="ja-JP" dirty="0" smtClean="0"/>
              <a:t>cl</a:t>
            </a:r>
            <a:r>
              <a:rPr kumimoji="1" lang="en-US" altLang="ja-JP" dirty="0" smtClean="0"/>
              <a:t>ient</a:t>
            </a:r>
            <a:r>
              <a:rPr kumimoji="1" lang="ja-JP" altLang="en-US" dirty="0" smtClean="0"/>
              <a:t>には、</a:t>
            </a:r>
            <a:r>
              <a:rPr lang="ja-JP" altLang="en-US" dirty="0" smtClean="0"/>
              <a:t>接続してきた</a:t>
            </a:r>
            <a:r>
              <a:rPr lang="en-US" altLang="ja-JP" dirty="0" smtClean="0"/>
              <a:t>client</a:t>
            </a:r>
            <a:r>
              <a:rPr lang="ja-JP" altLang="en-US" dirty="0" smtClean="0"/>
              <a:t>の情報が格納される</a:t>
            </a:r>
            <a:endParaRPr kumimoji="1" lang="ja-JP"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85720" y="214290"/>
            <a:ext cx="6215106" cy="6555641"/>
          </a:xfrm>
          <a:prstGeom prst="rect">
            <a:avLst/>
          </a:prstGeom>
          <a:ln>
            <a:solidFill>
              <a:schemeClr val="tx1"/>
            </a:solidFill>
          </a:ln>
        </p:spPr>
        <p:txBody>
          <a:bodyPr wrap="square">
            <a:spAutoFit/>
          </a:bodyPr>
          <a:lstStyle/>
          <a:p>
            <a:r>
              <a:rPr lang="ja-JP" altLang="en-US" sz="2000" dirty="0" smtClean="0"/>
              <a:t> </a:t>
            </a:r>
            <a:r>
              <a:rPr lang="en-US" altLang="ja-JP" sz="2000" dirty="0" smtClean="0"/>
              <a:t>/* </a:t>
            </a:r>
            <a:r>
              <a:rPr lang="ja-JP" altLang="en-US" sz="2000" dirty="0" smtClean="0"/>
              <a:t>クライアントプロセスのソケットアドレス情報の確認 *</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 (read(ns,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write (ns,responce1,strlen(responce1));</a:t>
            </a:r>
          </a:p>
          <a:p>
            <a:r>
              <a:rPr lang="en-US" altLang="ja-JP" sz="2000" dirty="0" smtClean="0"/>
              <a:t>    write (ns,responce2,strlen(responce2));</a:t>
            </a:r>
          </a:p>
          <a:p>
            <a:r>
              <a:rPr lang="en-US" altLang="ja-JP" sz="2000" dirty="0" smtClean="0"/>
              <a:t>    write (</a:t>
            </a:r>
            <a:r>
              <a:rPr lang="en-US" altLang="ja-JP" sz="2000" dirty="0" err="1" smtClean="0"/>
              <a:t>ns,newLine</a:t>
            </a:r>
            <a:r>
              <a:rPr lang="en-US" altLang="ja-JP" sz="2000" dirty="0" smtClean="0"/>
              <a:t>, </a:t>
            </a:r>
            <a:r>
              <a:rPr lang="en-US" altLang="ja-JP" sz="2000" dirty="0" err="1" smtClean="0"/>
              <a:t>strlen</a:t>
            </a:r>
            <a:r>
              <a:rPr lang="en-US" altLang="ja-JP" sz="2000" dirty="0" smtClean="0"/>
              <a:t>(</a:t>
            </a:r>
            <a:r>
              <a:rPr lang="en-US" altLang="ja-JP" sz="2000" dirty="0" err="1" smtClean="0"/>
              <a:t>newLine</a:t>
            </a:r>
            <a:r>
              <a:rPr lang="en-US" altLang="ja-JP" sz="2000" dirty="0" smtClean="0"/>
              <a:t>));</a:t>
            </a:r>
          </a:p>
          <a:p>
            <a:r>
              <a:rPr lang="en-US" altLang="ja-JP" sz="2000" dirty="0" smtClean="0"/>
              <a:t>    file = </a:t>
            </a:r>
            <a:r>
              <a:rPr lang="en-US" altLang="ja-JP" sz="2000" dirty="0" err="1" smtClean="0"/>
              <a:t>fopen</a:t>
            </a:r>
            <a:r>
              <a:rPr lang="en-US" altLang="ja-JP" sz="2000" dirty="0" smtClean="0"/>
              <a:t> (</a:t>
            </a:r>
            <a:r>
              <a:rPr lang="en-US" altLang="ja-JP" sz="2000" dirty="0" err="1" smtClean="0"/>
              <a:t>argv</a:t>
            </a:r>
            <a:r>
              <a:rPr lang="en-US" altLang="ja-JP" sz="2000" dirty="0" smtClean="0"/>
              <a:t>[1], "r");</a:t>
            </a:r>
          </a:p>
          <a:p>
            <a:r>
              <a:rPr lang="en-US" altLang="ja-JP" sz="2000" dirty="0" smtClean="0"/>
              <a:t>    if (file) {</a:t>
            </a:r>
          </a:p>
          <a:p>
            <a:r>
              <a:rPr lang="en-US" altLang="ja-JP" sz="2000" dirty="0" smtClean="0"/>
              <a:t>      while ((</a:t>
            </a:r>
            <a:r>
              <a:rPr lang="en-US" altLang="ja-JP" sz="2000" dirty="0" err="1" smtClean="0"/>
              <a:t>readbyte</a:t>
            </a:r>
            <a:r>
              <a:rPr lang="en-US" altLang="ja-JP" sz="2000" dirty="0" smtClean="0"/>
              <a:t> = read (</a:t>
            </a:r>
            <a:r>
              <a:rPr lang="en-US" altLang="ja-JP" sz="2000" dirty="0" err="1" smtClean="0"/>
              <a:t>fileno</a:t>
            </a:r>
            <a:r>
              <a:rPr lang="en-US" altLang="ja-JP" sz="2000" dirty="0" smtClean="0"/>
              <a:t>(file),</a:t>
            </a:r>
          </a:p>
          <a:p>
            <a:r>
              <a:rPr lang="en-US" altLang="ja-JP" sz="2000" dirty="0" smtClean="0"/>
              <a:t>                               </a:t>
            </a:r>
            <a:r>
              <a:rPr lang="en-US" altLang="ja-JP" sz="2000" dirty="0" err="1" smtClean="0"/>
              <a:t>readbuf</a:t>
            </a:r>
            <a:r>
              <a:rPr lang="en-US" altLang="ja-JP" sz="2000" dirty="0" smtClean="0"/>
              <a:t>,</a:t>
            </a:r>
          </a:p>
          <a:p>
            <a:r>
              <a:rPr lang="en-US" altLang="ja-JP" sz="2000" dirty="0" smtClean="0"/>
              <a:t>                               BUFSIZE))&gt;0) {</a:t>
            </a:r>
          </a:p>
          <a:p>
            <a:r>
              <a:rPr lang="en-US" altLang="ja-JP" sz="2000" dirty="0" smtClean="0"/>
              <a:t>        if (write (ns, </a:t>
            </a:r>
            <a:r>
              <a:rPr lang="en-US" altLang="ja-JP" sz="2000" dirty="0" err="1" smtClean="0"/>
              <a:t>readbuf</a:t>
            </a:r>
            <a:r>
              <a:rPr lang="en-US" altLang="ja-JP" sz="2000" dirty="0" smtClean="0"/>
              <a:t>, </a:t>
            </a:r>
            <a:r>
              <a:rPr lang="en-US" altLang="ja-JP" sz="2000" dirty="0" err="1" smtClean="0"/>
              <a:t>readbyte</a:t>
            </a:r>
            <a:r>
              <a:rPr lang="en-US" altLang="ja-JP" sz="2000" dirty="0" smtClean="0"/>
              <a:t>) == -1) {</a:t>
            </a:r>
          </a:p>
          <a:p>
            <a:r>
              <a:rPr lang="en-US" altLang="ja-JP" sz="2000" dirty="0" smtClean="0"/>
              <a:t>          </a:t>
            </a:r>
            <a:r>
              <a:rPr lang="en-US" altLang="ja-JP" sz="2000" dirty="0" err="1" smtClean="0"/>
              <a:t>perror</a:t>
            </a:r>
            <a:r>
              <a:rPr lang="en-US" altLang="ja-JP" sz="2000" dirty="0" smtClean="0"/>
              <a:t> ("failed to write to socket");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7" name="正方形/長方形 6"/>
          <p:cNvSpPr/>
          <p:nvPr/>
        </p:nvSpPr>
        <p:spPr>
          <a:xfrm>
            <a:off x="6786578" y="214290"/>
            <a:ext cx="1714512" cy="1631216"/>
          </a:xfrm>
          <a:prstGeom prst="rect">
            <a:avLst/>
          </a:prstGeom>
          <a:ln>
            <a:solidFill>
              <a:schemeClr val="tx1"/>
            </a:solidFill>
          </a:ln>
        </p:spPr>
        <p:txBody>
          <a:bodyPr wrap="square">
            <a:spAutoFit/>
          </a:bodyPr>
          <a:lstStyle/>
          <a:p>
            <a:r>
              <a:rPr lang="en-US" altLang="ja-JP" sz="2000" dirty="0" smtClean="0"/>
              <a:t>      </a:t>
            </a:r>
            <a:r>
              <a:rPr lang="en-US" altLang="ja-JP" sz="2000" dirty="0" err="1" smtClean="0"/>
              <a:t>fclose</a:t>
            </a:r>
            <a:r>
              <a:rPr lang="en-US" altLang="ja-JP" sz="2000" dirty="0" smtClean="0"/>
              <a:t>(file);</a:t>
            </a:r>
          </a:p>
          <a:p>
            <a:r>
              <a:rPr lang="en-US" altLang="ja-JP" sz="2000" dirty="0" smtClean="0"/>
              <a:t>    }</a:t>
            </a:r>
          </a:p>
          <a:p>
            <a:r>
              <a:rPr lang="en-US" altLang="ja-JP" sz="2000" dirty="0" smtClean="0"/>
              <a:t>    close(ns);</a:t>
            </a:r>
          </a:p>
          <a:p>
            <a:r>
              <a:rPr lang="en-US" altLang="ja-JP" sz="2000" dirty="0" smtClean="0"/>
              <a:t>  }</a:t>
            </a:r>
          </a:p>
          <a:p>
            <a:r>
              <a:rPr lang="en-US" altLang="ja-JP" sz="2000" dirty="0" smtClean="0"/>
              <a:t>}</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CE62F85-15C0-461C-9F01-4F37D32E0C4D}" type="slidenum">
              <a:rPr lang="en-US" altLang="ja-JP"/>
              <a:pPr/>
              <a:t>25</a:t>
            </a:fld>
            <a:endParaRPr lang="en-US" altLang="ja-JP"/>
          </a:p>
        </p:txBody>
      </p:sp>
      <p:sp>
        <p:nvSpPr>
          <p:cNvPr id="209922" name="Rectangle 2"/>
          <p:cNvSpPr>
            <a:spLocks noGrp="1" noChangeArrowheads="1"/>
          </p:cNvSpPr>
          <p:nvPr>
            <p:ph type="title"/>
          </p:nvPr>
        </p:nvSpPr>
        <p:spPr>
          <a:xfrm>
            <a:off x="457200" y="115888"/>
            <a:ext cx="8229600" cy="1143000"/>
          </a:xfrm>
        </p:spPr>
        <p:txBody>
          <a:bodyPr/>
          <a:lstStyle/>
          <a:p>
            <a:r>
              <a:rPr lang="ja-JP" altLang="en-US" sz="3600" dirty="0"/>
              <a:t>レポート</a:t>
            </a:r>
            <a:r>
              <a:rPr lang="ja-JP" altLang="en-US" sz="3600" dirty="0" smtClean="0"/>
              <a:t>課題５</a:t>
            </a:r>
            <a:endParaRPr lang="ja-JP" altLang="en-US" sz="3600" dirty="0"/>
          </a:p>
        </p:txBody>
      </p:sp>
      <p:sp>
        <p:nvSpPr>
          <p:cNvPr id="209923" name="Rectangle 3"/>
          <p:cNvSpPr>
            <a:spLocks noGrp="1" noChangeArrowheads="1"/>
          </p:cNvSpPr>
          <p:nvPr>
            <p:ph type="body" idx="1"/>
          </p:nvPr>
        </p:nvSpPr>
        <p:spPr>
          <a:xfrm>
            <a:off x="714348" y="1000108"/>
            <a:ext cx="7786742" cy="5643602"/>
          </a:xfrm>
        </p:spPr>
        <p:txBody>
          <a:bodyPr>
            <a:noAutofit/>
          </a:bodyPr>
          <a:lstStyle/>
          <a:p>
            <a:pPr marL="457200" indent="-457200"/>
            <a:r>
              <a:rPr lang="en-US" altLang="ja-JP" sz="2800" dirty="0"/>
              <a:t>web_server0.c</a:t>
            </a:r>
            <a:r>
              <a:rPr lang="ja-JP" altLang="en-US" sz="2800" dirty="0"/>
              <a:t>では、送るファイルをサーバー起動時の引数に与えていたが、クライアントで指定したファイル（サーバ起動ディレクトリ等、自分で決めたディレクトリからの相対</a:t>
            </a:r>
            <a:r>
              <a:rPr lang="en-US" altLang="ja-JP" sz="2800" dirty="0"/>
              <a:t>path</a:t>
            </a:r>
            <a:r>
              <a:rPr lang="ja-JP" altLang="en-US" sz="2800" dirty="0"/>
              <a:t>）が存在する場合にそれを送り返す</a:t>
            </a:r>
            <a:r>
              <a:rPr lang="ja-JP" altLang="en-US" sz="2800" dirty="0" smtClean="0"/>
              <a:t>プログラムに拡張せよ。存在しない場合、ステータスコードを</a:t>
            </a:r>
            <a:r>
              <a:rPr lang="en-US" altLang="ja-JP" sz="2800" dirty="0" smtClean="0"/>
              <a:t>404</a:t>
            </a:r>
            <a:r>
              <a:rPr lang="ja-JP" altLang="en-US" sz="2800" dirty="0" smtClean="0"/>
              <a:t>として、</a:t>
            </a:r>
            <a:r>
              <a:rPr lang="en-US" altLang="ja-JP" sz="2800" dirty="0" smtClean="0"/>
              <a:t>The requested file … was not found on this server. </a:t>
            </a:r>
            <a:r>
              <a:rPr lang="ja-JP" altLang="en-US" sz="2800" dirty="0" err="1" smtClean="0"/>
              <a:t>のような</a:t>
            </a:r>
            <a:r>
              <a:rPr lang="ja-JP" altLang="en-US" sz="2800" dirty="0" smtClean="0"/>
              <a:t>メッセージを本文に含む</a:t>
            </a:r>
            <a:r>
              <a:rPr lang="en-US" altLang="ja-JP" sz="2800" dirty="0" smtClean="0"/>
              <a:t>HTML</a:t>
            </a:r>
            <a:r>
              <a:rPr lang="ja-JP" altLang="en-US" sz="2800" dirty="0" smtClean="0"/>
              <a:t>を送り返せ。</a:t>
            </a:r>
            <a:endParaRPr lang="en-US" altLang="ja-JP" sz="2800" dirty="0" smtClean="0"/>
          </a:p>
          <a:p>
            <a:pPr marL="457200" indent="-457200"/>
            <a:r>
              <a:rPr lang="ja-JP" altLang="en-US" sz="2800" dirty="0" smtClean="0"/>
              <a:t>メソッドは、</a:t>
            </a:r>
            <a:r>
              <a:rPr lang="en-US" altLang="ja-JP" sz="2800" dirty="0" smtClean="0"/>
              <a:t>GET</a:t>
            </a:r>
            <a:r>
              <a:rPr lang="ja-JP" altLang="en-US" sz="2800" dirty="0" smtClean="0"/>
              <a:t>だけが送られてくると仮定してよい。（実際は他にもメソッドがあるが。）</a:t>
            </a:r>
            <a:endParaRPr lang="en-US" altLang="ja-JP" sz="2800" dirty="0" smtClean="0"/>
          </a:p>
          <a:p>
            <a:pPr marL="857250" lvl="1" indent="-457200"/>
            <a:r>
              <a:rPr lang="ja-JP" altLang="en-US" sz="2400" dirty="0" smtClean="0"/>
              <a:t>具体的には、</a:t>
            </a:r>
            <a:r>
              <a:rPr lang="en-US" altLang="ja-JP" sz="2400" dirty="0" err="1" smtClean="0"/>
              <a:t>sscanf</a:t>
            </a:r>
            <a:r>
              <a:rPr lang="en-US" altLang="ja-JP" sz="2400" dirty="0" smtClean="0"/>
              <a:t> (</a:t>
            </a:r>
            <a:r>
              <a:rPr lang="en-US" altLang="ja-JP" sz="2400" dirty="0" err="1" smtClean="0"/>
              <a:t>buf</a:t>
            </a:r>
            <a:r>
              <a:rPr lang="en-US" altLang="ja-JP" sz="2400" dirty="0" smtClean="0"/>
              <a:t>, “GET /%s ”, path); </a:t>
            </a:r>
            <a:r>
              <a:rPr lang="ja-JP" altLang="en-US" sz="2400" dirty="0" err="1" smtClean="0"/>
              <a:t>のような</a:t>
            </a:r>
            <a:r>
              <a:rPr lang="ja-JP" altLang="en-US" sz="2400" dirty="0" smtClean="0"/>
              <a:t>感じでよい。</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kadai5.c, kadai5.txt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kadai5</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kadai5.txt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a:t>
            </a:r>
            <a:r>
              <a:rPr lang="ja-JP" altLang="en-US" sz="2400" dirty="0" smtClean="0">
                <a:solidFill>
                  <a:schemeClr val="tx1"/>
                </a:solidFill>
                <a:ea typeface="+mj-ea"/>
              </a:rPr>
              <a:t>月</a:t>
            </a:r>
            <a:r>
              <a:rPr lang="en-US" altLang="ja-JP" sz="2400" dirty="0" smtClean="0">
                <a:solidFill>
                  <a:schemeClr val="tx1"/>
                </a:solidFill>
                <a:ea typeface="+mj-ea"/>
              </a:rPr>
              <a:t>29</a:t>
            </a:r>
            <a:r>
              <a:rPr lang="ja-JP" altLang="en-US" sz="2400" dirty="0" smtClean="0">
                <a:solidFill>
                  <a:schemeClr val="tx1"/>
                </a:solidFill>
                <a:ea typeface="+mj-ea"/>
              </a:rPr>
              <a:t>日</a:t>
            </a:r>
            <a:r>
              <a:rPr lang="ja-JP" altLang="en-US" sz="2400" dirty="0" smtClean="0">
                <a:solidFill>
                  <a:schemeClr val="tx1"/>
                </a:solidFill>
                <a:ea typeface="+mj-ea"/>
              </a:rPr>
              <a:t>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B758DBF9-D6B1-47AA-8285-21F4E11087E5}" type="slidenum">
              <a:rPr lang="en-US" altLang="ja-JP" smtClean="0">
                <a:ea typeface="ＭＳ Ｐゴシック" charset="-128"/>
              </a:rPr>
              <a:pPr/>
              <a:t>27</a:t>
            </a:fld>
            <a:endParaRPr lang="en-US" altLang="ja-JP" smtClean="0">
              <a:ea typeface="ＭＳ Ｐゴシック" charset="-128"/>
            </a:endParaRPr>
          </a:p>
        </p:txBody>
      </p:sp>
      <p:sp>
        <p:nvSpPr>
          <p:cNvPr id="3075" name="Rectangle 2"/>
          <p:cNvSpPr>
            <a:spLocks noGrp="1" noChangeArrowheads="1"/>
          </p:cNvSpPr>
          <p:nvPr>
            <p:ph type="title"/>
          </p:nvPr>
        </p:nvSpPr>
        <p:spPr/>
        <p:txBody>
          <a:bodyPr/>
          <a:lstStyle/>
          <a:p>
            <a:pPr eaLnBrk="1" hangingPunct="1"/>
            <a:r>
              <a:rPr lang="ja-JP" altLang="en-US" sz="3600" dirty="0" smtClean="0"/>
              <a:t>補足</a:t>
            </a:r>
          </a:p>
        </p:txBody>
      </p:sp>
      <p:sp>
        <p:nvSpPr>
          <p:cNvPr id="3076" name="Rectangle 3"/>
          <p:cNvSpPr>
            <a:spLocks noGrp="1" noChangeArrowheads="1"/>
          </p:cNvSpPr>
          <p:nvPr>
            <p:ph type="body" idx="1"/>
          </p:nvPr>
        </p:nvSpPr>
        <p:spPr>
          <a:xfrm>
            <a:off x="381000" y="1600200"/>
            <a:ext cx="8229600" cy="4525963"/>
          </a:xfrm>
        </p:spPr>
        <p:txBody>
          <a:bodyPr>
            <a:normAutofit fontScale="92500" lnSpcReduction="10000"/>
          </a:bodyPr>
          <a:lstStyle/>
          <a:p>
            <a:pPr eaLnBrk="1" hangingPunct="1">
              <a:lnSpc>
                <a:spcPct val="90000"/>
              </a:lnSpc>
            </a:pPr>
            <a:r>
              <a:rPr lang="en-US" altLang="ja-JP" sz="2400" dirty="0" err="1" smtClean="0"/>
              <a:t>inet_server.c</a:t>
            </a:r>
            <a:r>
              <a:rPr lang="ja-JP" altLang="en-US" sz="2400" dirty="0" smtClean="0"/>
              <a:t>では</a:t>
            </a:r>
            <a:r>
              <a:rPr lang="en-US" altLang="ja-JP" sz="2400" dirty="0" smtClean="0"/>
              <a:t>BUFSIZE</a:t>
            </a:r>
            <a:r>
              <a:rPr lang="ja-JP" altLang="en-US" sz="2400" dirty="0" smtClean="0"/>
              <a:t>が</a:t>
            </a:r>
            <a:r>
              <a:rPr lang="en-US" altLang="ja-JP" sz="2400" dirty="0" smtClean="0"/>
              <a:t>256</a:t>
            </a:r>
            <a:r>
              <a:rPr lang="ja-JP" altLang="en-US" sz="2400" dirty="0" smtClean="0"/>
              <a:t>だったが、足りないので（とりあえず）</a:t>
            </a:r>
            <a:r>
              <a:rPr lang="en-US" altLang="ja-JP" sz="2400" dirty="0" smtClean="0"/>
              <a:t>1024</a:t>
            </a:r>
            <a:r>
              <a:rPr lang="ja-JP" altLang="en-US" sz="2400" dirty="0" smtClean="0"/>
              <a:t>にしている。</a:t>
            </a:r>
            <a:r>
              <a:rPr lang="en-US" altLang="ja-JP" sz="2400" dirty="0" smtClean="0"/>
              <a:t>GET</a:t>
            </a:r>
            <a:r>
              <a:rPr lang="ja-JP" altLang="en-US" sz="2400" dirty="0" smtClean="0"/>
              <a:t>メソッドの引数の長さは制限がない。現状のプログラムでは長い</a:t>
            </a:r>
            <a:r>
              <a:rPr lang="en-US" altLang="ja-JP" sz="2400" dirty="0" smtClean="0"/>
              <a:t>URL</a:t>
            </a:r>
            <a:r>
              <a:rPr lang="ja-JP" altLang="en-US" sz="2400" dirty="0" err="1" smtClean="0"/>
              <a:t>には</a:t>
            </a:r>
            <a:r>
              <a:rPr lang="ja-JP" altLang="en-US" sz="2400" dirty="0" smtClean="0"/>
              <a:t>対応できない。通常の</a:t>
            </a:r>
            <a:r>
              <a:rPr lang="en-US" altLang="ja-JP" sz="2400" dirty="0" smtClean="0"/>
              <a:t>web server</a:t>
            </a:r>
            <a:r>
              <a:rPr lang="ja-JP" altLang="en-US" sz="2400" dirty="0" smtClean="0"/>
              <a:t>では何らかの上限値を設定することにより対処する。</a:t>
            </a:r>
            <a:endParaRPr lang="en-US" altLang="ja-JP" sz="2400" dirty="0" smtClean="0"/>
          </a:p>
          <a:p>
            <a:pPr eaLnBrk="1" hangingPunct="1">
              <a:lnSpc>
                <a:spcPct val="90000"/>
              </a:lnSpc>
            </a:pPr>
            <a:r>
              <a:rPr lang="en-US" altLang="ja-JP" sz="2400" dirty="0" smtClean="0"/>
              <a:t>accept</a:t>
            </a:r>
            <a:r>
              <a:rPr lang="ja-JP" altLang="en-US" sz="2400" dirty="0" smtClean="0"/>
              <a:t>及び</a:t>
            </a:r>
            <a:r>
              <a:rPr lang="en-US" altLang="ja-JP" sz="2400" dirty="0" smtClean="0"/>
              <a:t>read, write</a:t>
            </a:r>
            <a:r>
              <a:rPr lang="ja-JP" altLang="en-US" sz="2400" dirty="0" smtClean="0"/>
              <a:t>を</a:t>
            </a:r>
            <a:r>
              <a:rPr lang="en-US" altLang="ja-JP" sz="2400" dirty="0" smtClean="0"/>
              <a:t>for loop</a:t>
            </a:r>
            <a:r>
              <a:rPr lang="ja-JP" altLang="en-US" sz="2400" dirty="0" smtClean="0"/>
              <a:t>で繰り返す。</a:t>
            </a:r>
          </a:p>
          <a:p>
            <a:pPr lvl="1" eaLnBrk="1" hangingPunct="1">
              <a:lnSpc>
                <a:spcPct val="90000"/>
              </a:lnSpc>
            </a:pPr>
            <a:r>
              <a:rPr lang="ja-JP" altLang="en-US" sz="2000" dirty="0" smtClean="0"/>
              <a:t>反復サーバ方式</a:t>
            </a:r>
          </a:p>
          <a:p>
            <a:pPr eaLnBrk="1" hangingPunct="1">
              <a:lnSpc>
                <a:spcPct val="90000"/>
              </a:lnSpc>
            </a:pPr>
            <a:r>
              <a:rPr lang="ja-JP" altLang="en-US" sz="2400" dirty="0" smtClean="0"/>
              <a:t>クライアント（ブラウザ等）からのメッセージ</a:t>
            </a:r>
          </a:p>
          <a:p>
            <a:pPr lvl="1" eaLnBrk="1" hangingPunct="1">
              <a:lnSpc>
                <a:spcPct val="90000"/>
              </a:lnSpc>
            </a:pPr>
            <a:r>
              <a:rPr lang="ja-JP" altLang="en-US" sz="2000" dirty="0" smtClean="0"/>
              <a:t>１行目は、</a:t>
            </a:r>
            <a:r>
              <a:rPr lang="en-US" altLang="ja-JP" sz="2000" dirty="0" smtClean="0"/>
              <a:t>GET /index.html HTTP/1.0 </a:t>
            </a:r>
            <a:r>
              <a:rPr lang="ja-JP" altLang="en-US" sz="2000" dirty="0" smtClean="0"/>
              <a:t>など。（</a:t>
            </a:r>
            <a:r>
              <a:rPr lang="en-US" altLang="ja-JP" sz="2000" dirty="0" smtClean="0"/>
              <a:t>index.html</a:t>
            </a:r>
            <a:r>
              <a:rPr lang="ja-JP" altLang="en-US" sz="2000" dirty="0" smtClean="0"/>
              <a:t>部分はブラウザの入力によって変わる。</a:t>
            </a:r>
            <a:r>
              <a:rPr lang="en-US" altLang="ja-JP" sz="2000" dirty="0" smtClean="0"/>
              <a:t>HTTP/1.0</a:t>
            </a:r>
            <a:r>
              <a:rPr lang="ja-JP" altLang="en-US" sz="2000" dirty="0" smtClean="0"/>
              <a:t>の部分はクライアントの</a:t>
            </a:r>
            <a:r>
              <a:rPr lang="en-US" altLang="ja-JP" sz="2000" dirty="0" smtClean="0"/>
              <a:t>HTTP</a:t>
            </a:r>
            <a:r>
              <a:rPr lang="ja-JP" altLang="en-US" sz="2000" dirty="0" smtClean="0"/>
              <a:t>の</a:t>
            </a:r>
            <a:r>
              <a:rPr lang="en-US" altLang="ja-JP" sz="2000" dirty="0" smtClean="0"/>
              <a:t>version</a:t>
            </a:r>
            <a:r>
              <a:rPr lang="ja-JP" altLang="en-US" sz="2000" dirty="0" smtClean="0"/>
              <a:t>であり、</a:t>
            </a:r>
            <a:r>
              <a:rPr lang="en-US" altLang="ja-JP" sz="2000" dirty="0" smtClean="0"/>
              <a:t>HTTP/1.1</a:t>
            </a:r>
            <a:r>
              <a:rPr lang="ja-JP" altLang="en-US" sz="2000" dirty="0" smtClean="0"/>
              <a:t>が主流。）</a:t>
            </a:r>
          </a:p>
          <a:p>
            <a:pPr lvl="1" eaLnBrk="1" hangingPunct="1">
              <a:lnSpc>
                <a:spcPct val="90000"/>
              </a:lnSpc>
            </a:pPr>
            <a:r>
              <a:rPr lang="ja-JP" altLang="en-US" sz="2000" dirty="0" smtClean="0"/>
              <a:t>２行目以降は各種情報</a:t>
            </a:r>
          </a:p>
          <a:p>
            <a:pPr eaLnBrk="1" hangingPunct="1">
              <a:lnSpc>
                <a:spcPct val="90000"/>
              </a:lnSpc>
            </a:pPr>
            <a:r>
              <a:rPr lang="ja-JP" altLang="en-US" sz="2400" dirty="0" smtClean="0"/>
              <a:t>応答メッセージ</a:t>
            </a:r>
          </a:p>
          <a:p>
            <a:pPr lvl="1" eaLnBrk="1" hangingPunct="1">
              <a:lnSpc>
                <a:spcPct val="90000"/>
              </a:lnSpc>
            </a:pPr>
            <a:r>
              <a:rPr lang="en-US" altLang="ja-JP" sz="2000" dirty="0" smtClean="0"/>
              <a:t>HTTP/1.0 200</a:t>
            </a:r>
            <a:r>
              <a:rPr lang="ja-JP" altLang="en-US" sz="2000" dirty="0" smtClean="0"/>
              <a:t>等（１行目）でサーバーの</a:t>
            </a:r>
            <a:r>
              <a:rPr lang="en-US" altLang="ja-JP" sz="2000" dirty="0" smtClean="0"/>
              <a:t>HTTP</a:t>
            </a:r>
            <a:r>
              <a:rPr lang="ja-JP" altLang="en-US" sz="2000" dirty="0" smtClean="0"/>
              <a:t>の</a:t>
            </a:r>
            <a:r>
              <a:rPr lang="en-US" altLang="ja-JP" sz="2000" dirty="0" smtClean="0"/>
              <a:t>version</a:t>
            </a:r>
            <a:r>
              <a:rPr lang="ja-JP" altLang="en-US" sz="2000" dirty="0" smtClean="0"/>
              <a:t>およびステータスコード、２行目から各種情報を何行か入れた後、空行</a:t>
            </a:r>
            <a:r>
              <a:rPr lang="en-US" altLang="ja-JP" sz="2000" dirty="0" smtClean="0"/>
              <a:t>(CR+LF)</a:t>
            </a:r>
            <a:r>
              <a:rPr lang="ja-JP" altLang="en-US" sz="2000" dirty="0" smtClean="0"/>
              <a:t>を一行入れ、ファイルを送る場合は送る。</a:t>
            </a:r>
            <a:r>
              <a:rPr lang="en-US" altLang="ja-JP" sz="2000" dirty="0" smtClean="0"/>
              <a:t>200</a:t>
            </a:r>
            <a:r>
              <a:rPr lang="ja-JP" altLang="en-US" sz="2000" dirty="0" smtClean="0"/>
              <a:t>は正常に処理したことを表すステータスコードである。</a:t>
            </a:r>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470378A-4AA8-4475-95E5-B69F46AA0FF1}" type="slidenum">
              <a:rPr lang="en-US" altLang="ja-JP" smtClean="0">
                <a:ea typeface="ＭＳ Ｐゴシック" charset="-128"/>
              </a:rPr>
              <a:pPr/>
              <a:t>28</a:t>
            </a:fld>
            <a:endParaRPr lang="en-US" altLang="ja-JP" smtClean="0">
              <a:ea typeface="ＭＳ Ｐゴシック" charset="-128"/>
            </a:endParaRPr>
          </a:p>
        </p:txBody>
      </p:sp>
      <p:sp>
        <p:nvSpPr>
          <p:cNvPr id="4099" name="Rectangle 2"/>
          <p:cNvSpPr>
            <a:spLocks noGrp="1" noChangeArrowheads="1"/>
          </p:cNvSpPr>
          <p:nvPr>
            <p:ph type="title"/>
          </p:nvPr>
        </p:nvSpPr>
        <p:spPr>
          <a:xfrm>
            <a:off x="468313" y="260350"/>
            <a:ext cx="8229600" cy="1143000"/>
          </a:xfrm>
        </p:spPr>
        <p:txBody>
          <a:bodyPr/>
          <a:lstStyle/>
          <a:p>
            <a:pPr eaLnBrk="1" hangingPunct="1"/>
            <a:r>
              <a:rPr lang="ja-JP" altLang="en-US" sz="3600" dirty="0" smtClean="0"/>
              <a:t>補足</a:t>
            </a:r>
          </a:p>
        </p:txBody>
      </p:sp>
      <p:sp>
        <p:nvSpPr>
          <p:cNvPr id="4100" name="Rectangle 3"/>
          <p:cNvSpPr>
            <a:spLocks noGrp="1" noChangeArrowheads="1"/>
          </p:cNvSpPr>
          <p:nvPr>
            <p:ph type="body" idx="1"/>
          </p:nvPr>
        </p:nvSpPr>
        <p:spPr>
          <a:xfrm>
            <a:off x="250825" y="1214438"/>
            <a:ext cx="8464550" cy="4943475"/>
          </a:xfrm>
        </p:spPr>
        <p:txBody>
          <a:bodyPr>
            <a:normAutofit/>
          </a:bodyPr>
          <a:lstStyle/>
          <a:p>
            <a:pPr eaLnBrk="1" hangingPunct="1"/>
            <a:r>
              <a:rPr lang="en-US" altLang="ja-JP" sz="2400" dirty="0" smtClean="0"/>
              <a:t>Content-Type</a:t>
            </a:r>
            <a:r>
              <a:rPr lang="ja-JP" altLang="en-US" sz="2400" dirty="0" smtClean="0"/>
              <a:t>は、</a:t>
            </a:r>
            <a:r>
              <a:rPr lang="en-US" altLang="ja-JP" sz="2400" dirty="0" smtClean="0"/>
              <a:t>text/html(html</a:t>
            </a:r>
            <a:r>
              <a:rPr lang="ja-JP" altLang="en-US" sz="2400" dirty="0" smtClean="0"/>
              <a:t>ファイル</a:t>
            </a:r>
            <a:r>
              <a:rPr lang="en-US" altLang="ja-JP" sz="2400" dirty="0" smtClean="0"/>
              <a:t>)</a:t>
            </a:r>
            <a:r>
              <a:rPr lang="ja-JP" altLang="en-US" sz="2400" dirty="0" smtClean="0"/>
              <a:t>に決め打ちしている。</a:t>
            </a:r>
          </a:p>
          <a:p>
            <a:pPr eaLnBrk="1" hangingPunct="1"/>
            <a:r>
              <a:rPr lang="ja-JP" altLang="en-US" sz="2400" dirty="0" smtClean="0"/>
              <a:t>実際の</a:t>
            </a:r>
            <a:r>
              <a:rPr lang="en-US" altLang="ja-JP" sz="2400" dirty="0" smtClean="0"/>
              <a:t>web server</a:t>
            </a:r>
            <a:r>
              <a:rPr lang="ja-JP" altLang="en-US" sz="2400" dirty="0" smtClean="0"/>
              <a:t>では、個人のアカウントではなく、</a:t>
            </a:r>
            <a:r>
              <a:rPr lang="en-US" altLang="ja-JP" sz="2400" dirty="0" smtClean="0"/>
              <a:t>web server</a:t>
            </a:r>
            <a:r>
              <a:rPr lang="ja-JP" altLang="en-US" sz="2400" dirty="0" smtClean="0"/>
              <a:t>用のアカウントを作成し、そのアカウントで起動することが普通。（</a:t>
            </a:r>
            <a:r>
              <a:rPr lang="en-US" altLang="ja-JP" sz="2400" dirty="0" smtClean="0"/>
              <a:t>other</a:t>
            </a:r>
            <a:r>
              <a:rPr lang="ja-JP" altLang="en-US" sz="2400" dirty="0" smtClean="0"/>
              <a:t>の</a:t>
            </a:r>
            <a:r>
              <a:rPr lang="en-US" altLang="ja-JP" sz="2400" dirty="0" smtClean="0"/>
              <a:t>read</a:t>
            </a:r>
            <a:r>
              <a:rPr lang="ja-JP" altLang="en-US" sz="2400" dirty="0" smtClean="0"/>
              <a:t>が許可されていなければそのファイルは</a:t>
            </a:r>
            <a:r>
              <a:rPr lang="en-US" altLang="ja-JP" sz="2400" dirty="0" smtClean="0"/>
              <a:t>web server</a:t>
            </a:r>
            <a:r>
              <a:rPr lang="ja-JP" altLang="en-US" sz="2400" dirty="0" smtClean="0"/>
              <a:t>は読めないことになる。）</a:t>
            </a:r>
          </a:p>
          <a:p>
            <a:pPr eaLnBrk="1" hangingPunct="1"/>
            <a:r>
              <a:rPr lang="ja-JP" altLang="en-US" sz="2400" dirty="0" smtClean="0"/>
              <a:t>要求されたファイルがない場合はステータスコード</a:t>
            </a:r>
            <a:r>
              <a:rPr lang="en-US" altLang="ja-JP" sz="2400" dirty="0" smtClean="0"/>
              <a:t>404(</a:t>
            </a:r>
            <a:r>
              <a:rPr lang="ja-JP" altLang="en-US" sz="2400" dirty="0" smtClean="0"/>
              <a:t>ファイルがサーバ上にないことを表す</a:t>
            </a:r>
            <a:r>
              <a:rPr lang="en-US" altLang="ja-JP" sz="2400" dirty="0" smtClean="0"/>
              <a:t>)</a:t>
            </a:r>
            <a:r>
              <a:rPr lang="ja-JP" altLang="en-US" sz="2400" dirty="0" smtClean="0"/>
              <a:t>を返してその処理を終える。（</a:t>
            </a:r>
            <a:r>
              <a:rPr lang="en-US" altLang="ja-JP" sz="2400" dirty="0" smtClean="0"/>
              <a:t>web server</a:t>
            </a:r>
            <a:r>
              <a:rPr lang="ja-JP" altLang="en-US" sz="2400" dirty="0" smtClean="0"/>
              <a:t>は終了させない。）</a:t>
            </a:r>
          </a:p>
          <a:p>
            <a:pPr eaLnBrk="1" hangingPunct="1"/>
            <a:r>
              <a:rPr lang="ja-JP" altLang="en-US" sz="2400" dirty="0" smtClean="0"/>
              <a:t>詳しくは</a:t>
            </a:r>
            <a:r>
              <a:rPr lang="en-US" altLang="ja-JP" sz="2400" dirty="0" smtClean="0"/>
              <a:t>HTTP</a:t>
            </a:r>
            <a:r>
              <a:rPr lang="ja-JP" altLang="en-US" sz="2400" dirty="0" smtClean="0"/>
              <a:t>プロトコルの定義を参照（本講義の範囲外）</a:t>
            </a:r>
          </a:p>
          <a:p>
            <a:pPr eaLnBrk="1" hangingPunct="1"/>
            <a:r>
              <a:rPr lang="en-US" altLang="ja-JP" sz="2400" dirty="0" smtClean="0"/>
              <a:t>server</a:t>
            </a:r>
            <a:r>
              <a:rPr lang="ja-JP" altLang="en-US" sz="2400" dirty="0" smtClean="0"/>
              <a:t>を起動すると、学内からアクセスが可能な状態になるので、見られては困るファイルが他人に取得されることがないよう注意する。（実験が終わったらサーバを終了させる。）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 Internet Explorer</a:t>
            </a:r>
            <a:r>
              <a:rPr lang="ja-JP" altLang="en-US" dirty="0" smtClean="0"/>
              <a:t>の</a:t>
            </a:r>
            <a:r>
              <a:rPr lang="en-US" altLang="ja-JP" dirty="0" smtClean="0"/>
              <a:t/>
            </a:r>
            <a:br>
              <a:rPr lang="en-US" altLang="ja-JP" dirty="0" smtClean="0"/>
            </a:br>
            <a:r>
              <a:rPr kumimoji="1" lang="ja-JP" altLang="en-US" dirty="0" smtClean="0"/>
              <a:t>エラーメッセージ表示について</a:t>
            </a:r>
            <a:endParaRPr kumimoji="1" lang="ja-JP" altLang="en-US" dirty="0"/>
          </a:p>
        </p:txBody>
      </p:sp>
      <p:sp>
        <p:nvSpPr>
          <p:cNvPr id="4" name="正方形/長方形 3"/>
          <p:cNvSpPr/>
          <p:nvPr/>
        </p:nvSpPr>
        <p:spPr>
          <a:xfrm>
            <a:off x="755576" y="1844824"/>
            <a:ext cx="7560840" cy="4401205"/>
          </a:xfrm>
          <a:prstGeom prst="rect">
            <a:avLst/>
          </a:prstGeom>
        </p:spPr>
        <p:txBody>
          <a:bodyPr wrap="square">
            <a:spAutoFit/>
          </a:bodyPr>
          <a:lstStyle/>
          <a:p>
            <a:r>
              <a:rPr lang="en-US" altLang="ja-JP" sz="2800" dirty="0" smtClean="0"/>
              <a:t>web</a:t>
            </a:r>
            <a:r>
              <a:rPr lang="ja-JP" altLang="en-US" sz="2800" dirty="0" smtClean="0"/>
              <a:t>サーバがステータスコード</a:t>
            </a:r>
            <a:r>
              <a:rPr lang="en-US" altLang="ja-JP" sz="2800" dirty="0" smtClean="0"/>
              <a:t>404</a:t>
            </a:r>
            <a:r>
              <a:rPr lang="ja-JP" altLang="en-US" sz="2800" dirty="0" smtClean="0"/>
              <a:t>を返した場合、 </a:t>
            </a:r>
            <a:r>
              <a:rPr lang="en-US" altLang="ja-JP" sz="2800" dirty="0" smtClean="0"/>
              <a:t>browser</a:t>
            </a:r>
            <a:r>
              <a:rPr lang="ja-JP" altLang="en-US" sz="2800" dirty="0" smtClean="0"/>
              <a:t>が</a:t>
            </a:r>
            <a:r>
              <a:rPr lang="en-US" altLang="ja-JP" sz="2800" dirty="0" smtClean="0"/>
              <a:t>Internet Explorer</a:t>
            </a:r>
            <a:r>
              <a:rPr lang="ja-JP" altLang="en-US" sz="2800" dirty="0" smtClean="0"/>
              <a:t>の場合は、「</a:t>
            </a:r>
            <a:r>
              <a:rPr lang="en-US" altLang="ja-JP" sz="2800" dirty="0" smtClean="0"/>
              <a:t>HTTP</a:t>
            </a:r>
            <a:r>
              <a:rPr lang="ja-JP" altLang="en-US" sz="2800" dirty="0" smtClean="0"/>
              <a:t>エラーメッセージを簡易表示する」 という機能があり、この機能が</a:t>
            </a:r>
            <a:r>
              <a:rPr lang="en-US" altLang="ja-JP" sz="2800" dirty="0" smtClean="0"/>
              <a:t>ON</a:t>
            </a:r>
            <a:r>
              <a:rPr lang="ja-JP" altLang="en-US" sz="2800" dirty="0" smtClean="0"/>
              <a:t>になっていると、</a:t>
            </a:r>
            <a:r>
              <a:rPr lang="en-US" altLang="ja-JP" sz="2800" dirty="0" smtClean="0"/>
              <a:t>Internet Explorer</a:t>
            </a:r>
            <a:r>
              <a:rPr lang="ja-JP" altLang="en-US" sz="2800" dirty="0" smtClean="0"/>
              <a:t>独自のエラーページが表示されます。この機能は</a:t>
            </a:r>
            <a:r>
              <a:rPr lang="en-US" altLang="ja-JP" sz="2800" dirty="0" smtClean="0"/>
              <a:t>ON-OFF</a:t>
            </a:r>
            <a:r>
              <a:rPr lang="ja-JP" altLang="en-US" sz="2800" dirty="0" smtClean="0"/>
              <a:t>の設定が可能で、「ツール」 </a:t>
            </a:r>
            <a:r>
              <a:rPr lang="en-US" altLang="ja-JP" sz="2800" dirty="0" smtClean="0"/>
              <a:t>-&gt; </a:t>
            </a:r>
            <a:r>
              <a:rPr lang="ja-JP" altLang="en-US" sz="2800" dirty="0" smtClean="0"/>
              <a:t>「インターネットオプション」 </a:t>
            </a:r>
            <a:r>
              <a:rPr lang="en-US" altLang="ja-JP" sz="2800" dirty="0" smtClean="0"/>
              <a:t>-&gt; </a:t>
            </a:r>
            <a:r>
              <a:rPr lang="ja-JP" altLang="en-US" sz="2800" dirty="0" smtClean="0"/>
              <a:t>「詳細設定」 </a:t>
            </a:r>
            <a:r>
              <a:rPr lang="en-US" altLang="ja-JP" sz="2800" dirty="0" smtClean="0"/>
              <a:t>-&gt; </a:t>
            </a:r>
            <a:r>
              <a:rPr lang="ja-JP" altLang="en-US" sz="2800" dirty="0" smtClean="0"/>
              <a:t>「</a:t>
            </a:r>
            <a:r>
              <a:rPr lang="en-US" altLang="ja-JP" sz="2800" dirty="0" smtClean="0"/>
              <a:t>HTTP</a:t>
            </a:r>
            <a:r>
              <a:rPr lang="ja-JP" altLang="en-US" sz="2800" dirty="0" smtClean="0"/>
              <a:t>エラーメッセージを簡易表示する」の順でたどれます。これを</a:t>
            </a:r>
            <a:r>
              <a:rPr lang="en-US" altLang="ja-JP" sz="2800" dirty="0" smtClean="0"/>
              <a:t>OFF</a:t>
            </a:r>
            <a:r>
              <a:rPr lang="ja-JP" altLang="en-US" sz="2800" dirty="0" smtClean="0"/>
              <a:t>にするとサーバが送ったエラーページが表示されるはずです。 </a:t>
            </a:r>
            <a:endParaRPr lang="ja-JP"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補足</a:t>
            </a:r>
            <a:r>
              <a:rPr kumimoji="1" lang="en-US" altLang="ja-JP" dirty="0" smtClean="0"/>
              <a:t>: </a:t>
            </a:r>
            <a:r>
              <a:rPr kumimoji="1" lang="ja-JP" altLang="en-US" dirty="0" smtClean="0"/>
              <a:t>エラーメッセージの送り方</a:t>
            </a:r>
            <a:r>
              <a:rPr lang="ja-JP" altLang="en-US" dirty="0" smtClean="0"/>
              <a:t>の例</a:t>
            </a:r>
            <a:endParaRPr kumimoji="1" lang="ja-JP" altLang="en-US" dirty="0"/>
          </a:p>
        </p:txBody>
      </p:sp>
      <p:sp>
        <p:nvSpPr>
          <p:cNvPr id="4" name="正方形/長方形 3"/>
          <p:cNvSpPr/>
          <p:nvPr/>
        </p:nvSpPr>
        <p:spPr>
          <a:xfrm>
            <a:off x="539552" y="1844824"/>
            <a:ext cx="7704856" cy="2677656"/>
          </a:xfrm>
          <a:prstGeom prst="rect">
            <a:avLst/>
          </a:prstGeom>
        </p:spPr>
        <p:txBody>
          <a:bodyPr wrap="square">
            <a:spAutoFit/>
          </a:bodyPr>
          <a:lstStyle/>
          <a:p>
            <a:r>
              <a:rPr lang="en-US" altLang="ja-JP" sz="2800" dirty="0" smtClean="0"/>
              <a:t>(</a:t>
            </a:r>
            <a:r>
              <a:rPr lang="ja-JP" altLang="en-US" sz="2800" dirty="0" smtClean="0"/>
              <a:t>例１</a:t>
            </a:r>
            <a:r>
              <a:rPr lang="en-US" altLang="ja-JP" sz="2800" dirty="0" smtClean="0"/>
              <a:t>) web server</a:t>
            </a:r>
            <a:r>
              <a:rPr lang="ja-JP" altLang="en-US" sz="2800" dirty="0" smtClean="0"/>
              <a:t>プログラム中にエラーメッセージの</a:t>
            </a:r>
            <a:r>
              <a:rPr lang="en-US" altLang="ja-JP" sz="2800" dirty="0" smtClean="0"/>
              <a:t>HTML</a:t>
            </a:r>
            <a:r>
              <a:rPr lang="ja-JP" altLang="en-US" sz="2800" dirty="0" smtClean="0"/>
              <a:t>を文字列で直書きしておき、それを</a:t>
            </a:r>
            <a:r>
              <a:rPr lang="en-US" altLang="ja-JP" sz="2800" dirty="0" smtClean="0"/>
              <a:t>client</a:t>
            </a:r>
            <a:r>
              <a:rPr lang="ja-JP" altLang="en-US" sz="2800" dirty="0" smtClean="0"/>
              <a:t>に送る。</a:t>
            </a:r>
            <a:endParaRPr lang="en-US" altLang="ja-JP" sz="2800" dirty="0" smtClean="0"/>
          </a:p>
          <a:p>
            <a:r>
              <a:rPr lang="en-US" altLang="ja-JP" sz="2800" dirty="0" smtClean="0"/>
              <a:t>(</a:t>
            </a:r>
            <a:r>
              <a:rPr lang="ja-JP" altLang="en-US" sz="2800" dirty="0" smtClean="0"/>
              <a:t>例２</a:t>
            </a:r>
            <a:r>
              <a:rPr lang="en-US" altLang="ja-JP" sz="2800" dirty="0" smtClean="0"/>
              <a:t>) </a:t>
            </a:r>
            <a:r>
              <a:rPr lang="ja-JP" altLang="en-US" sz="2800" dirty="0" smtClean="0"/>
              <a:t>エラーメッセージの</a:t>
            </a:r>
            <a:r>
              <a:rPr lang="en-US" altLang="ja-JP" sz="2800" dirty="0" smtClean="0"/>
              <a:t>HTML</a:t>
            </a:r>
            <a:r>
              <a:rPr lang="ja-JP" altLang="en-US" sz="2800" dirty="0" smtClean="0"/>
              <a:t>をあらかじめ何らかのファイル</a:t>
            </a:r>
            <a:r>
              <a:rPr lang="en-US" altLang="ja-JP" sz="2800" dirty="0" smtClean="0"/>
              <a:t>(error.html</a:t>
            </a:r>
            <a:r>
              <a:rPr lang="ja-JP" altLang="en-US" sz="2800" dirty="0" smtClean="0"/>
              <a:t>など</a:t>
            </a:r>
            <a:r>
              <a:rPr lang="en-US" altLang="ja-JP" sz="2800" dirty="0" smtClean="0"/>
              <a:t>)</a:t>
            </a:r>
            <a:r>
              <a:rPr lang="ja-JP" altLang="en-US" sz="2800" dirty="0" smtClean="0"/>
              <a:t>に書いておき、それを</a:t>
            </a:r>
            <a:r>
              <a:rPr lang="en-US" altLang="ja-JP" sz="2800" dirty="0" smtClean="0"/>
              <a:t>web server</a:t>
            </a:r>
            <a:r>
              <a:rPr lang="ja-JP" altLang="en-US" sz="2800" dirty="0" smtClean="0"/>
              <a:t>プログラム中で読み込んで</a:t>
            </a:r>
            <a:r>
              <a:rPr lang="en-US" altLang="ja-JP" sz="2800" dirty="0" smtClean="0"/>
              <a:t>client</a:t>
            </a:r>
            <a:r>
              <a:rPr lang="ja-JP" altLang="en-US" sz="2800" dirty="0" smtClean="0"/>
              <a:t>に送る。</a:t>
            </a:r>
            <a:endParaRPr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TotalTime>
  <Words>3083</Words>
  <Application>Microsoft Macintosh PowerPoint</Application>
  <PresentationFormat>画面に合わせる (4:3)</PresentationFormat>
  <Paragraphs>339</Paragraphs>
  <Slides>30</Slides>
  <Notes>5</Notes>
  <HiddenSlides>0</HiddenSlides>
  <MMClips>0</MMClips>
  <ScaleCrop>false</ScaleCrop>
  <HeadingPairs>
    <vt:vector size="4" baseType="variant">
      <vt:variant>
        <vt:lpstr>テーマ</vt:lpstr>
      </vt:variant>
      <vt:variant>
        <vt:i4>1</vt:i4>
      </vt:variant>
      <vt:variant>
        <vt:lpstr>スライド タイトル</vt:lpstr>
      </vt:variant>
      <vt:variant>
        <vt:i4>30</vt:i4>
      </vt:variant>
    </vt:vector>
  </HeadingPairs>
  <TitlesOfParts>
    <vt:vector size="31" baseType="lpstr">
      <vt:lpstr>Office テーマ</vt:lpstr>
      <vt:lpstr>システムプログラミング</vt:lpstr>
      <vt:lpstr>ソケットの種類</vt:lpstr>
      <vt:lpstr>ソケットの種類</vt:lpstr>
      <vt:lpstr>PowerPoint プレゼンテーション</vt:lpstr>
      <vt:lpstr>クライアントサーバシステム</vt:lpstr>
      <vt:lpstr>クライアント・サーバシステム</vt:lpstr>
      <vt:lpstr>サーバの運用形態</vt:lpstr>
      <vt:lpstr>サーバの運用形態</vt:lpstr>
      <vt:lpstr>PowerPoint プレゼンテーション</vt:lpstr>
      <vt:lpstr>PowerPoint プレゼンテーション</vt:lpstr>
      <vt:lpstr>例</vt:lpstr>
      <vt:lpstr>サーバプログラム</vt:lpstr>
      <vt:lpstr>PowerPoint プレゼンテーション</vt:lpstr>
      <vt:lpstr>PowerPoint プレゼンテーション</vt:lpstr>
      <vt:lpstr>クライアントプログラム</vt:lpstr>
      <vt:lpstr>PowerPoint プレゼンテーション</vt:lpstr>
      <vt:lpstr>PowerPoint プレゼンテーション</vt:lpstr>
      <vt:lpstr>簡易web server プログラム</vt:lpstr>
      <vt:lpstr>簡易web server プログラム</vt:lpstr>
      <vt:lpstr>簡易web server</vt:lpstr>
      <vt:lpstr>PowerPoint プレゼンテーション</vt:lpstr>
      <vt:lpstr>PowerPoint プレゼンテーション</vt:lpstr>
      <vt:lpstr>続き</vt:lpstr>
      <vt:lpstr>PowerPoint プレゼンテーション</vt:lpstr>
      <vt:lpstr>レポート課題５</vt:lpstr>
      <vt:lpstr>レポートの提出方法</vt:lpstr>
      <vt:lpstr>補足</vt:lpstr>
      <vt:lpstr>補足</vt:lpstr>
      <vt:lpstr>補足: Internet Explorerの エラーメッセージ表示について</vt:lpstr>
      <vt:lpstr>補足: エラーメッセージの送り方の例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 Isao</cp:lastModifiedBy>
  <cp:revision>169</cp:revision>
  <dcterms:created xsi:type="dcterms:W3CDTF">2009-12-14T14:46:59Z</dcterms:created>
  <dcterms:modified xsi:type="dcterms:W3CDTF">2012-12-24T07:06:18Z</dcterms:modified>
</cp:coreProperties>
</file>