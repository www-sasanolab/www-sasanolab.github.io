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71" r:id="rId6"/>
    <p:sldId id="261" r:id="rId7"/>
    <p:sldId id="262" r:id="rId8"/>
    <p:sldId id="268" r:id="rId9"/>
    <p:sldId id="263" r:id="rId10"/>
    <p:sldId id="264" r:id="rId11"/>
    <p:sldId id="265" r:id="rId12"/>
    <p:sldId id="270" r:id="rId13"/>
    <p:sldId id="266" r:id="rId14"/>
    <p:sldId id="269" r:id="rId15"/>
    <p:sldId id="267"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0" d="100"/>
          <a:sy n="70" d="100"/>
        </p:scale>
        <p:origin x="-522"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2010/11/2</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2010/11/2</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1484784"/>
            <a:ext cx="7772400" cy="1874639"/>
          </a:xfrm>
        </p:spPr>
        <p:txBody>
          <a:bodyPr>
            <a:normAutofit/>
          </a:bodyPr>
          <a:lstStyle/>
          <a:p>
            <a:r>
              <a:rPr kumimoji="1" lang="ja-JP" altLang="en-US" dirty="0" smtClean="0"/>
              <a:t>システムプログラミング</a:t>
            </a:r>
            <a:r>
              <a:rPr kumimoji="1" lang="en-US" altLang="ja-JP" dirty="0" smtClean="0"/>
              <a:t/>
            </a:r>
            <a:br>
              <a:rPr kumimoji="1" lang="en-US" altLang="ja-JP" dirty="0" smtClean="0"/>
            </a:br>
            <a:r>
              <a:rPr lang="ja-JP" altLang="en-US" dirty="0" smtClean="0"/>
              <a:t>第６回、７回</a:t>
            </a:r>
            <a:endParaRPr kumimoji="1" lang="ja-JP" altLang="en-US" dirty="0"/>
          </a:p>
        </p:txBody>
      </p:sp>
      <p:sp>
        <p:nvSpPr>
          <p:cNvPr id="4" name="テキスト ボックス 3"/>
          <p:cNvSpPr txBox="1"/>
          <p:nvPr/>
        </p:nvSpPr>
        <p:spPr>
          <a:xfrm>
            <a:off x="2627784" y="5373216"/>
            <a:ext cx="3623108" cy="523220"/>
          </a:xfrm>
          <a:prstGeom prst="rect">
            <a:avLst/>
          </a:prstGeom>
          <a:noFill/>
        </p:spPr>
        <p:txBody>
          <a:bodyPr wrap="none" rtlCol="0">
            <a:spAutoFit/>
          </a:bodyPr>
          <a:lstStyle/>
          <a:p>
            <a:r>
              <a:rPr kumimoji="1" lang="ja-JP" altLang="en-US" sz="2800" dirty="0" smtClean="0"/>
              <a:t>情報工学科    篠埜　功</a:t>
            </a:r>
            <a:endParaRPr kumimoji="1" lang="ja-JP" altLang="en-US" sz="2800" dirty="0"/>
          </a:p>
        </p:txBody>
      </p:sp>
      <p:sp>
        <p:nvSpPr>
          <p:cNvPr id="5" name="正方形/長方形 4"/>
          <p:cNvSpPr/>
          <p:nvPr/>
        </p:nvSpPr>
        <p:spPr>
          <a:xfrm>
            <a:off x="2051720" y="3356992"/>
            <a:ext cx="5436096" cy="1815882"/>
          </a:xfrm>
          <a:prstGeom prst="rect">
            <a:avLst/>
          </a:prstGeom>
        </p:spPr>
        <p:txBody>
          <a:bodyPr wrap="square">
            <a:spAutoFit/>
          </a:bodyPr>
          <a:lstStyle/>
          <a:p>
            <a:r>
              <a:rPr lang="en-US" altLang="ja-JP" sz="2800" dirty="0" smtClean="0"/>
              <a:t>main</a:t>
            </a:r>
            <a:r>
              <a:rPr lang="ja-JP" altLang="en-US" sz="2800" dirty="0" smtClean="0"/>
              <a:t>関数の引数</a:t>
            </a:r>
            <a:r>
              <a:rPr lang="en-US" altLang="ja-JP" sz="2800" dirty="0" smtClean="0"/>
              <a:t/>
            </a:r>
            <a:br>
              <a:rPr lang="en-US" altLang="ja-JP" sz="2800" dirty="0" smtClean="0"/>
            </a:br>
            <a:r>
              <a:rPr lang="en-US" altLang="ja-JP" sz="2800" dirty="0" smtClean="0"/>
              <a:t>usage</a:t>
            </a:r>
            <a:r>
              <a:rPr lang="ja-JP" altLang="en-US" sz="2800" dirty="0" smtClean="0"/>
              <a:t>メッセージ</a:t>
            </a:r>
            <a:r>
              <a:rPr lang="en-US" altLang="ja-JP" sz="2800" dirty="0" smtClean="0"/>
              <a:t/>
            </a:r>
            <a:br>
              <a:rPr lang="en-US" altLang="ja-JP" sz="2800" dirty="0" smtClean="0"/>
            </a:br>
            <a:r>
              <a:rPr lang="ja-JP" altLang="en-US" sz="2800" dirty="0" smtClean="0"/>
              <a:t>システムコールのエラーメッセージ</a:t>
            </a:r>
            <a:endParaRPr lang="en-US" altLang="ja-JP" sz="2800" dirty="0" smtClean="0"/>
          </a:p>
          <a:p>
            <a:r>
              <a:rPr lang="ja-JP" altLang="en-US" sz="2800" dirty="0" smtClean="0"/>
              <a:t>ファイル</a:t>
            </a:r>
            <a:endParaRPr lang="ja-JP" altLang="en-US" sz="28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今日からの内容</a:t>
            </a:r>
            <a:endParaRPr kumimoji="1" lang="ja-JP" altLang="en-US" dirty="0"/>
          </a:p>
        </p:txBody>
      </p:sp>
      <p:sp>
        <p:nvSpPr>
          <p:cNvPr id="3" name="コンテンツ プレースホルダ 2"/>
          <p:cNvSpPr>
            <a:spLocks noGrp="1"/>
          </p:cNvSpPr>
          <p:nvPr>
            <p:ph idx="1"/>
          </p:nvPr>
        </p:nvSpPr>
        <p:spPr>
          <a:xfrm>
            <a:off x="457200" y="1600200"/>
            <a:ext cx="8229600" cy="3543312"/>
          </a:xfrm>
        </p:spPr>
        <p:txBody>
          <a:bodyPr>
            <a:normAutofit/>
          </a:bodyPr>
          <a:lstStyle/>
          <a:p>
            <a:r>
              <a:rPr lang="en-US" altLang="ja-JP" dirty="0" smtClean="0"/>
              <a:t>Linux</a:t>
            </a:r>
            <a:r>
              <a:rPr lang="ja-JP" altLang="en-US" dirty="0" smtClean="0"/>
              <a:t>のシステムコールを用いた</a:t>
            </a:r>
            <a:r>
              <a:rPr kumimoji="1" lang="en-US" altLang="ja-JP" dirty="0" smtClean="0"/>
              <a:t>C</a:t>
            </a:r>
            <a:r>
              <a:rPr kumimoji="1" lang="ja-JP" altLang="en-US" dirty="0" smtClean="0"/>
              <a:t>プログラムの作成</a:t>
            </a:r>
            <a:endParaRPr kumimoji="1" lang="en-US" altLang="ja-JP" dirty="0" smtClean="0"/>
          </a:p>
          <a:p>
            <a:r>
              <a:rPr lang="ja-JP" altLang="en-US" dirty="0" smtClean="0"/>
              <a:t>今日の内容</a:t>
            </a:r>
            <a:endParaRPr kumimoji="1" lang="en-US" altLang="ja-JP" dirty="0" smtClean="0"/>
          </a:p>
          <a:p>
            <a:pPr lvl="1"/>
            <a:r>
              <a:rPr lang="en-US" altLang="ja-JP" dirty="0" smtClean="0"/>
              <a:t>C</a:t>
            </a:r>
            <a:r>
              <a:rPr lang="ja-JP" altLang="en-US" dirty="0" smtClean="0"/>
              <a:t>プログラムの</a:t>
            </a:r>
            <a:r>
              <a:rPr lang="en-US" altLang="ja-JP" dirty="0" smtClean="0"/>
              <a:t>main</a:t>
            </a:r>
            <a:r>
              <a:rPr lang="ja-JP" altLang="en-US" dirty="0" smtClean="0"/>
              <a:t>関数の引数について</a:t>
            </a:r>
            <a:endParaRPr lang="en-US" altLang="ja-JP" dirty="0" smtClean="0"/>
          </a:p>
          <a:p>
            <a:pPr lvl="1"/>
            <a:r>
              <a:rPr lang="en-US" altLang="ja-JP" dirty="0" smtClean="0"/>
              <a:t>Usage </a:t>
            </a:r>
            <a:r>
              <a:rPr lang="ja-JP" altLang="en-US" dirty="0" smtClean="0"/>
              <a:t>メッセージについて</a:t>
            </a:r>
            <a:endParaRPr lang="en-US" altLang="ja-JP" dirty="0" smtClean="0"/>
          </a:p>
          <a:p>
            <a:pPr lvl="1"/>
            <a:r>
              <a:rPr lang="ja-JP" altLang="en-US" dirty="0" smtClean="0"/>
              <a:t>システムコールのエラーメッセージについて</a:t>
            </a:r>
            <a:endParaRPr kumimoji="1" lang="en-US" altLang="ja-JP" dirty="0" smtClean="0"/>
          </a:p>
          <a:p>
            <a:endParaRPr kumimoji="1" lang="ja-JP"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285728"/>
            <a:ext cx="8229600" cy="714380"/>
          </a:xfrm>
        </p:spPr>
        <p:txBody>
          <a:bodyPr>
            <a:normAutofit fontScale="90000"/>
          </a:bodyPr>
          <a:lstStyle/>
          <a:p>
            <a:r>
              <a:rPr kumimoji="1" lang="en-US" altLang="ja-JP" dirty="0" smtClean="0"/>
              <a:t>C</a:t>
            </a:r>
            <a:r>
              <a:rPr kumimoji="1" lang="ja-JP" altLang="en-US" dirty="0" smtClean="0"/>
              <a:t>の</a:t>
            </a:r>
            <a:r>
              <a:rPr kumimoji="1" lang="en-US" altLang="ja-JP" dirty="0" smtClean="0"/>
              <a:t>main</a:t>
            </a:r>
            <a:r>
              <a:rPr lang="ja-JP" altLang="en-US" dirty="0" smtClean="0"/>
              <a:t>関数の引数について</a:t>
            </a:r>
            <a:endParaRPr kumimoji="1" lang="ja-JP" altLang="en-US" dirty="0"/>
          </a:p>
        </p:txBody>
      </p:sp>
      <p:sp>
        <p:nvSpPr>
          <p:cNvPr id="4" name="テキスト ボックス 3"/>
          <p:cNvSpPr txBox="1"/>
          <p:nvPr/>
        </p:nvSpPr>
        <p:spPr>
          <a:xfrm>
            <a:off x="1547664" y="1124744"/>
            <a:ext cx="5256567" cy="3108543"/>
          </a:xfrm>
          <a:prstGeom prst="rect">
            <a:avLst/>
          </a:prstGeom>
          <a:noFill/>
          <a:ln>
            <a:solidFill>
              <a:schemeClr val="tx1"/>
            </a:solidFill>
          </a:ln>
        </p:spPr>
        <p:txBody>
          <a:bodyPr wrap="none" rtlCol="0">
            <a:spAutoFit/>
          </a:bodyPr>
          <a:lstStyle/>
          <a:p>
            <a:r>
              <a:rPr lang="en-US" altLang="ja-JP" sz="2800" dirty="0" smtClean="0"/>
              <a:t>/* </a:t>
            </a:r>
            <a:r>
              <a:rPr lang="ja-JP" altLang="en-US" sz="2800" dirty="0" smtClean="0"/>
              <a:t>コマンド名および引数を表示 </a:t>
            </a:r>
            <a:r>
              <a:rPr lang="en-US" altLang="ja-JP" sz="2800" dirty="0" smtClean="0"/>
              <a:t>*/</a:t>
            </a:r>
          </a:p>
          <a:p>
            <a:r>
              <a:rPr lang="en-US" altLang="ja-JP" sz="2800" dirty="0" smtClean="0"/>
              <a:t>#include&lt;</a:t>
            </a:r>
            <a:r>
              <a:rPr lang="en-US" altLang="ja-JP" sz="2800" dirty="0" err="1" smtClean="0"/>
              <a:t>stdio.h</a:t>
            </a:r>
            <a:r>
              <a:rPr lang="en-US" altLang="ja-JP" sz="2800" dirty="0" smtClean="0"/>
              <a:t>&gt;</a:t>
            </a:r>
          </a:p>
          <a:p>
            <a:r>
              <a:rPr lang="en-US" altLang="ja-JP" sz="2800" dirty="0" err="1" smtClean="0"/>
              <a:t>int</a:t>
            </a:r>
            <a:r>
              <a:rPr lang="en-US" altLang="ja-JP" sz="2800" dirty="0" smtClean="0"/>
              <a:t> main (</a:t>
            </a:r>
            <a:r>
              <a:rPr lang="en-US" altLang="ja-JP" sz="2800" dirty="0" err="1" smtClean="0"/>
              <a:t>int</a:t>
            </a:r>
            <a:r>
              <a:rPr lang="en-US" altLang="ja-JP" sz="2800" dirty="0" smtClean="0"/>
              <a:t> </a:t>
            </a:r>
            <a:r>
              <a:rPr lang="en-US" altLang="ja-JP" sz="2800" dirty="0" err="1" smtClean="0"/>
              <a:t>argc</a:t>
            </a:r>
            <a:r>
              <a:rPr lang="en-US" altLang="ja-JP" sz="2800" dirty="0" smtClean="0"/>
              <a:t>, char *</a:t>
            </a:r>
            <a:r>
              <a:rPr lang="en-US" altLang="ja-JP" sz="2800" dirty="0" err="1" smtClean="0"/>
              <a:t>argv</a:t>
            </a:r>
            <a:r>
              <a:rPr lang="en-US" altLang="ja-JP" sz="2800" dirty="0" smtClean="0"/>
              <a:t>[ ]) {</a:t>
            </a:r>
          </a:p>
          <a:p>
            <a:r>
              <a:rPr lang="en-US" altLang="ja-JP" sz="2800" dirty="0" smtClean="0"/>
              <a:t> </a:t>
            </a:r>
            <a:r>
              <a:rPr lang="ja-JP" altLang="en-US" sz="2800" dirty="0" smtClean="0"/>
              <a:t>  </a:t>
            </a:r>
            <a:r>
              <a:rPr lang="en-US" altLang="ja-JP" sz="2800" dirty="0" smtClean="0"/>
              <a:t> for ( ; *</a:t>
            </a:r>
            <a:r>
              <a:rPr lang="en-US" altLang="ja-JP" sz="2800" dirty="0" err="1" smtClean="0"/>
              <a:t>argv</a:t>
            </a:r>
            <a:r>
              <a:rPr lang="en-US" altLang="ja-JP" sz="2800" dirty="0" smtClean="0"/>
              <a:t>; </a:t>
            </a:r>
            <a:r>
              <a:rPr lang="en-US" altLang="ja-JP" sz="2800" dirty="0" err="1" smtClean="0"/>
              <a:t>argv</a:t>
            </a:r>
            <a:r>
              <a:rPr lang="en-US" altLang="ja-JP" sz="2800" dirty="0" smtClean="0"/>
              <a:t>++)</a:t>
            </a:r>
          </a:p>
          <a:p>
            <a:r>
              <a:rPr lang="en-US" altLang="ja-JP" sz="2800" dirty="0" smtClean="0"/>
              <a:t>        </a:t>
            </a:r>
            <a:r>
              <a:rPr lang="en-US" altLang="ja-JP" sz="2800" dirty="0" err="1" smtClean="0"/>
              <a:t>printf</a:t>
            </a:r>
            <a:r>
              <a:rPr lang="en-US" altLang="ja-JP" sz="2800" dirty="0" smtClean="0"/>
              <a:t> ("%s\n", *</a:t>
            </a:r>
            <a:r>
              <a:rPr lang="en-US" altLang="ja-JP" sz="2800" dirty="0" err="1" smtClean="0"/>
              <a:t>argv</a:t>
            </a:r>
            <a:r>
              <a:rPr lang="en-US" altLang="ja-JP" sz="2800" dirty="0" smtClean="0"/>
              <a:t>);</a:t>
            </a:r>
          </a:p>
          <a:p>
            <a:r>
              <a:rPr lang="en-US" altLang="ja-JP" sz="2800" dirty="0" smtClean="0"/>
              <a:t>    return 0;</a:t>
            </a:r>
          </a:p>
          <a:p>
            <a:r>
              <a:rPr lang="en-US" altLang="ja-JP" sz="2800" dirty="0" smtClean="0"/>
              <a:t>}</a:t>
            </a:r>
          </a:p>
        </p:txBody>
      </p:sp>
      <p:sp>
        <p:nvSpPr>
          <p:cNvPr id="5" name="正方形/長方形 4"/>
          <p:cNvSpPr/>
          <p:nvPr/>
        </p:nvSpPr>
        <p:spPr>
          <a:xfrm>
            <a:off x="2285984" y="4406824"/>
            <a:ext cx="6000792" cy="2308324"/>
          </a:xfrm>
          <a:prstGeom prst="rect">
            <a:avLst/>
          </a:prstGeom>
        </p:spPr>
        <p:txBody>
          <a:bodyPr wrap="square">
            <a:spAutoFit/>
          </a:bodyPr>
          <a:lstStyle/>
          <a:p>
            <a:r>
              <a:rPr lang="en-US" altLang="ja-JP" sz="2400" dirty="0" smtClean="0"/>
              <a:t>$ </a:t>
            </a:r>
            <a:r>
              <a:rPr lang="en-US" altLang="ja-JP" sz="2400" dirty="0" err="1" smtClean="0"/>
              <a:t>gcc</a:t>
            </a:r>
            <a:r>
              <a:rPr lang="en-US" altLang="ja-JP" sz="2400" dirty="0" smtClean="0"/>
              <a:t> 1.c</a:t>
            </a:r>
          </a:p>
          <a:p>
            <a:r>
              <a:rPr lang="en-US" altLang="ja-JP" sz="2400" dirty="0" smtClean="0"/>
              <a:t>$ ./</a:t>
            </a:r>
            <a:r>
              <a:rPr lang="en-US" altLang="ja-JP" sz="2400" dirty="0" err="1" smtClean="0"/>
              <a:t>a.out</a:t>
            </a:r>
            <a:r>
              <a:rPr lang="en-US" altLang="ja-JP" sz="2400" dirty="0" smtClean="0"/>
              <a:t> </a:t>
            </a:r>
            <a:r>
              <a:rPr lang="ja-JP" altLang="en-US" sz="2400" dirty="0" smtClean="0"/>
              <a:t> </a:t>
            </a:r>
            <a:r>
              <a:rPr lang="en-US" altLang="ja-JP" sz="2400" dirty="0" err="1" smtClean="0"/>
              <a:t>abc</a:t>
            </a:r>
            <a:r>
              <a:rPr lang="en-US" altLang="ja-JP" sz="2400" dirty="0" smtClean="0"/>
              <a:t>  234</a:t>
            </a:r>
          </a:p>
          <a:p>
            <a:r>
              <a:rPr lang="en-US" altLang="ja-JP" sz="2400" dirty="0" smtClean="0"/>
              <a:t>./</a:t>
            </a:r>
            <a:r>
              <a:rPr lang="en-US" altLang="ja-JP" sz="2400" dirty="0" err="1" smtClean="0"/>
              <a:t>a.out</a:t>
            </a:r>
            <a:endParaRPr lang="en-US" altLang="ja-JP" sz="2400" dirty="0" smtClean="0"/>
          </a:p>
          <a:p>
            <a:r>
              <a:rPr lang="en-US" altLang="ja-JP" sz="2400" dirty="0" err="1" smtClean="0"/>
              <a:t>abc</a:t>
            </a:r>
            <a:endParaRPr lang="en-US" altLang="ja-JP" sz="2400" dirty="0" smtClean="0"/>
          </a:p>
          <a:p>
            <a:r>
              <a:rPr lang="en-US" altLang="ja-JP" sz="2400" dirty="0" smtClean="0"/>
              <a:t>234</a:t>
            </a:r>
          </a:p>
          <a:p>
            <a:r>
              <a:rPr lang="en-US" altLang="ja-JP" sz="2400" dirty="0" smtClean="0"/>
              <a:t>$</a:t>
            </a:r>
            <a:endParaRPr lang="en-US" altLang="ja-JP" sz="2400" dirty="0"/>
          </a:p>
        </p:txBody>
      </p:sp>
      <p:sp>
        <p:nvSpPr>
          <p:cNvPr id="7" name="正方形/長方形 6"/>
          <p:cNvSpPr/>
          <p:nvPr/>
        </p:nvSpPr>
        <p:spPr>
          <a:xfrm>
            <a:off x="928662" y="4445225"/>
            <a:ext cx="1415772" cy="461665"/>
          </a:xfrm>
          <a:prstGeom prst="rect">
            <a:avLst/>
          </a:prstGeom>
        </p:spPr>
        <p:txBody>
          <a:bodyPr wrap="none">
            <a:spAutoFit/>
          </a:bodyPr>
          <a:lstStyle/>
          <a:p>
            <a:r>
              <a:rPr lang="ja-JP" altLang="en-US" sz="2400" dirty="0" smtClean="0"/>
              <a:t>（実行例）</a:t>
            </a:r>
            <a:endParaRPr lang="en-US" altLang="ja-JP" sz="24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03200"/>
            <a:ext cx="8229600" cy="939784"/>
          </a:xfrm>
        </p:spPr>
        <p:txBody>
          <a:bodyPr/>
          <a:lstStyle/>
          <a:p>
            <a:r>
              <a:rPr lang="en-US" altLang="ja-JP" dirty="0" smtClean="0"/>
              <a:t>m</a:t>
            </a:r>
            <a:r>
              <a:rPr kumimoji="1" lang="en-US" altLang="ja-JP" dirty="0" smtClean="0"/>
              <a:t>ain</a:t>
            </a:r>
            <a:r>
              <a:rPr kumimoji="1" lang="ja-JP" altLang="en-US" dirty="0" smtClean="0"/>
              <a:t>関数の第３引数</a:t>
            </a:r>
            <a:endParaRPr kumimoji="1" lang="ja-JP" altLang="en-US" dirty="0"/>
          </a:p>
        </p:txBody>
      </p:sp>
      <p:sp>
        <p:nvSpPr>
          <p:cNvPr id="4" name="テキスト ボックス 3"/>
          <p:cNvSpPr txBox="1"/>
          <p:nvPr/>
        </p:nvSpPr>
        <p:spPr>
          <a:xfrm>
            <a:off x="714348" y="1157101"/>
            <a:ext cx="7973666" cy="1200329"/>
          </a:xfrm>
          <a:prstGeom prst="rect">
            <a:avLst/>
          </a:prstGeom>
          <a:noFill/>
        </p:spPr>
        <p:txBody>
          <a:bodyPr wrap="square" rtlCol="0">
            <a:spAutoFit/>
          </a:bodyPr>
          <a:lstStyle/>
          <a:p>
            <a:r>
              <a:rPr kumimoji="1" lang="en-US" altLang="ja-JP" sz="2400" dirty="0" smtClean="0"/>
              <a:t> main</a:t>
            </a:r>
            <a:r>
              <a:rPr lang="ja-JP" altLang="en-US" sz="2400" dirty="0" smtClean="0"/>
              <a:t>関数は第３引数に環境変数の情報の配列が渡される場合がある。（</a:t>
            </a:r>
            <a:r>
              <a:rPr lang="en-US" altLang="ja-JP" sz="2400" dirty="0" smtClean="0"/>
              <a:t>ISO</a:t>
            </a:r>
            <a:r>
              <a:rPr lang="ja-JP" altLang="en-US" sz="2400" dirty="0" smtClean="0"/>
              <a:t>規格で定められているわけではなく、処理系依存。）</a:t>
            </a:r>
            <a:endParaRPr lang="en-US" altLang="ja-JP" sz="2400" dirty="0" smtClean="0"/>
          </a:p>
        </p:txBody>
      </p:sp>
      <p:sp>
        <p:nvSpPr>
          <p:cNvPr id="5" name="正方形/長方形 4"/>
          <p:cNvSpPr/>
          <p:nvPr/>
        </p:nvSpPr>
        <p:spPr>
          <a:xfrm>
            <a:off x="1285852" y="2428868"/>
            <a:ext cx="7000924" cy="2677656"/>
          </a:xfrm>
          <a:prstGeom prst="rect">
            <a:avLst/>
          </a:prstGeom>
          <a:ln>
            <a:solidFill>
              <a:schemeClr val="tx1"/>
            </a:solidFill>
          </a:ln>
        </p:spPr>
        <p:txBody>
          <a:bodyPr wrap="square">
            <a:spAutoFit/>
          </a:bodyPr>
          <a:lstStyle/>
          <a:p>
            <a:r>
              <a:rPr lang="en-US" altLang="ja-JP" sz="2800" dirty="0" smtClean="0"/>
              <a:t>#include&lt;</a:t>
            </a:r>
            <a:r>
              <a:rPr lang="en-US" altLang="ja-JP" sz="2800" dirty="0" err="1" smtClean="0"/>
              <a:t>stdio.h</a:t>
            </a:r>
            <a:r>
              <a:rPr lang="en-US" altLang="ja-JP" sz="2800" dirty="0" smtClean="0"/>
              <a:t>&gt;</a:t>
            </a:r>
          </a:p>
          <a:p>
            <a:r>
              <a:rPr lang="en-US" altLang="ja-JP" sz="2800" dirty="0" err="1" smtClean="0"/>
              <a:t>int</a:t>
            </a:r>
            <a:r>
              <a:rPr lang="en-US" altLang="ja-JP" sz="2800" dirty="0" smtClean="0"/>
              <a:t> main (</a:t>
            </a:r>
            <a:r>
              <a:rPr lang="en-US" altLang="ja-JP" sz="2800" dirty="0" err="1" smtClean="0"/>
              <a:t>int</a:t>
            </a:r>
            <a:r>
              <a:rPr lang="en-US" altLang="ja-JP" sz="2800" dirty="0" smtClean="0"/>
              <a:t> </a:t>
            </a:r>
            <a:r>
              <a:rPr lang="en-US" altLang="ja-JP" sz="2800" dirty="0" err="1" smtClean="0"/>
              <a:t>argc</a:t>
            </a:r>
            <a:r>
              <a:rPr lang="en-US" altLang="ja-JP" sz="2800" dirty="0" smtClean="0"/>
              <a:t>, char *</a:t>
            </a:r>
            <a:r>
              <a:rPr lang="en-US" altLang="ja-JP" sz="2800" dirty="0" err="1" smtClean="0"/>
              <a:t>argv</a:t>
            </a:r>
            <a:r>
              <a:rPr lang="en-US" altLang="ja-JP" sz="2800" dirty="0" smtClean="0"/>
              <a:t>[ ], char *</a:t>
            </a:r>
            <a:r>
              <a:rPr lang="en-US" altLang="ja-JP" sz="2800" dirty="0" err="1" smtClean="0"/>
              <a:t>envp</a:t>
            </a:r>
            <a:r>
              <a:rPr lang="en-US" altLang="ja-JP" sz="2800" dirty="0" smtClean="0"/>
              <a:t>[ ]) {</a:t>
            </a:r>
          </a:p>
          <a:p>
            <a:r>
              <a:rPr lang="en-US" altLang="ja-JP" sz="2800" dirty="0" smtClean="0"/>
              <a:t>  for (</a:t>
            </a:r>
            <a:r>
              <a:rPr lang="ja-JP" altLang="en-US" sz="2800" dirty="0" smtClean="0"/>
              <a:t> </a:t>
            </a:r>
            <a:r>
              <a:rPr lang="en-US" altLang="ja-JP" sz="2800" dirty="0" smtClean="0"/>
              <a:t>; *</a:t>
            </a:r>
            <a:r>
              <a:rPr lang="en-US" altLang="ja-JP" sz="2800" dirty="0" err="1" smtClean="0"/>
              <a:t>envp</a:t>
            </a:r>
            <a:r>
              <a:rPr lang="en-US" altLang="ja-JP" sz="2800" dirty="0" smtClean="0"/>
              <a:t>;  </a:t>
            </a:r>
            <a:r>
              <a:rPr lang="en-US" altLang="ja-JP" sz="2800" dirty="0" err="1" smtClean="0"/>
              <a:t>envp</a:t>
            </a:r>
            <a:r>
              <a:rPr lang="en-US" altLang="ja-JP" sz="2800" dirty="0" smtClean="0"/>
              <a:t>++)</a:t>
            </a:r>
          </a:p>
          <a:p>
            <a:r>
              <a:rPr lang="en-US" altLang="ja-JP" sz="2800" dirty="0" smtClean="0"/>
              <a:t>    </a:t>
            </a:r>
            <a:r>
              <a:rPr lang="en-US" altLang="ja-JP" sz="2800" dirty="0" err="1" smtClean="0"/>
              <a:t>printf</a:t>
            </a:r>
            <a:r>
              <a:rPr lang="en-US" altLang="ja-JP" sz="2800" dirty="0" smtClean="0"/>
              <a:t> ("%s\n", *</a:t>
            </a:r>
            <a:r>
              <a:rPr lang="en-US" altLang="ja-JP" sz="2800" dirty="0" err="1" smtClean="0"/>
              <a:t>envp</a:t>
            </a:r>
            <a:r>
              <a:rPr lang="en-US" altLang="ja-JP" sz="2800" dirty="0" smtClean="0"/>
              <a:t>);</a:t>
            </a:r>
          </a:p>
          <a:p>
            <a:r>
              <a:rPr lang="en-US" altLang="ja-JP" sz="2800" dirty="0" smtClean="0"/>
              <a:t>  return 0;</a:t>
            </a:r>
          </a:p>
          <a:p>
            <a:r>
              <a:rPr lang="en-US" altLang="ja-JP" sz="2800" dirty="0" smtClean="0"/>
              <a:t>}</a:t>
            </a:r>
          </a:p>
        </p:txBody>
      </p:sp>
      <p:sp>
        <p:nvSpPr>
          <p:cNvPr id="6" name="正方形/長方形 5"/>
          <p:cNvSpPr/>
          <p:nvPr/>
        </p:nvSpPr>
        <p:spPr>
          <a:xfrm>
            <a:off x="785786" y="5429264"/>
            <a:ext cx="7643866" cy="1200329"/>
          </a:xfrm>
          <a:prstGeom prst="rect">
            <a:avLst/>
          </a:prstGeom>
        </p:spPr>
        <p:txBody>
          <a:bodyPr wrap="square">
            <a:spAutoFit/>
          </a:bodyPr>
          <a:lstStyle/>
          <a:p>
            <a:r>
              <a:rPr lang="ja-JP" altLang="en-US" sz="2400" dirty="0" smtClean="0"/>
              <a:t>演習室の環境では第３引数を受け取れる。第３引数はなくてもよい。環境変数はライブラリ関数</a:t>
            </a:r>
            <a:r>
              <a:rPr lang="en-US" altLang="ja-JP" sz="2400" dirty="0" err="1" smtClean="0"/>
              <a:t>getenv</a:t>
            </a:r>
            <a:r>
              <a:rPr lang="en-US" altLang="ja-JP" sz="2400" dirty="0" smtClean="0"/>
              <a:t>()</a:t>
            </a:r>
            <a:r>
              <a:rPr lang="ja-JP" altLang="en-US" sz="2400" dirty="0" smtClean="0"/>
              <a:t>で取得できるのでそれを使えばよい。</a:t>
            </a:r>
            <a:endParaRPr lang="ja-JP" altLang="en-US" sz="24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スタートアップ</a:t>
            </a:r>
            <a:r>
              <a:rPr lang="ja-JP" altLang="en-US" dirty="0" smtClean="0"/>
              <a:t>ルーチン</a:t>
            </a:r>
            <a:endParaRPr kumimoji="1" lang="ja-JP" altLang="en-US" dirty="0"/>
          </a:p>
        </p:txBody>
      </p:sp>
      <p:sp>
        <p:nvSpPr>
          <p:cNvPr id="4" name="テキスト ボックス 3"/>
          <p:cNvSpPr txBox="1"/>
          <p:nvPr/>
        </p:nvSpPr>
        <p:spPr>
          <a:xfrm>
            <a:off x="714348" y="1571612"/>
            <a:ext cx="7962108" cy="3785652"/>
          </a:xfrm>
          <a:prstGeom prst="rect">
            <a:avLst/>
          </a:prstGeom>
          <a:noFill/>
        </p:spPr>
        <p:txBody>
          <a:bodyPr wrap="square" rtlCol="0">
            <a:spAutoFit/>
          </a:bodyPr>
          <a:lstStyle/>
          <a:p>
            <a:r>
              <a:rPr kumimoji="1" lang="en-US" altLang="ja-JP" sz="2400" dirty="0" smtClean="0"/>
              <a:t>C</a:t>
            </a:r>
            <a:r>
              <a:rPr kumimoji="1" lang="ja-JP" altLang="en-US" sz="2400" dirty="0" smtClean="0"/>
              <a:t>言語プログラムは、</a:t>
            </a:r>
            <a:r>
              <a:rPr lang="ja-JP" altLang="en-US" sz="2400" dirty="0" smtClean="0"/>
              <a:t>実行形式ファイルにするときに</a:t>
            </a:r>
            <a:r>
              <a:rPr kumimoji="1" lang="ja-JP" altLang="en-US" sz="2400" dirty="0" smtClean="0"/>
              <a:t>スタートアップルーチンとリンクされる。</a:t>
            </a:r>
            <a:endParaRPr kumimoji="1" lang="en-US" altLang="ja-JP" sz="2400" dirty="0" smtClean="0"/>
          </a:p>
          <a:p>
            <a:r>
              <a:rPr kumimoji="1" lang="ja-JP" altLang="en-US" sz="2400" dirty="0" smtClean="0"/>
              <a:t>スタートアップルーチンは、</a:t>
            </a:r>
            <a:r>
              <a:rPr kumimoji="1" lang="en-US" altLang="ja-JP" sz="2400" dirty="0" smtClean="0"/>
              <a:t>/</a:t>
            </a:r>
            <a:r>
              <a:rPr kumimoji="1" lang="en-US" altLang="ja-JP" sz="2400" dirty="0" err="1" smtClean="0"/>
              <a:t>usr</a:t>
            </a:r>
            <a:r>
              <a:rPr kumimoji="1" lang="en-US" altLang="ja-JP" sz="2400" dirty="0" smtClean="0"/>
              <a:t>/lib/crt1.o</a:t>
            </a:r>
            <a:r>
              <a:rPr kumimoji="1" lang="ja-JP" altLang="en-US" sz="2400" dirty="0" smtClean="0"/>
              <a:t>にある。</a:t>
            </a:r>
            <a:endParaRPr kumimoji="1" lang="en-US" altLang="ja-JP" sz="2400" dirty="0" smtClean="0"/>
          </a:p>
          <a:p>
            <a:r>
              <a:rPr lang="en-US" altLang="ja-JP" sz="2400" dirty="0" smtClean="0"/>
              <a:t>     $ nm /</a:t>
            </a:r>
            <a:r>
              <a:rPr lang="en-US" altLang="ja-JP" sz="2400" dirty="0" err="1" smtClean="0"/>
              <a:t>usr</a:t>
            </a:r>
            <a:r>
              <a:rPr lang="en-US" altLang="ja-JP" sz="2400" dirty="0" smtClean="0"/>
              <a:t>/lib/crt1.o</a:t>
            </a:r>
          </a:p>
          <a:p>
            <a:r>
              <a:rPr kumimoji="1" lang="ja-JP" altLang="en-US" sz="2400" dirty="0" smtClean="0"/>
              <a:t>で確認。</a:t>
            </a:r>
            <a:r>
              <a:rPr lang="ja-JP" altLang="en-US" sz="2400" dirty="0" smtClean="0"/>
              <a:t>この出力結果に</a:t>
            </a:r>
            <a:endParaRPr kumimoji="1" lang="en-US" altLang="ja-JP" sz="2400" dirty="0" smtClean="0"/>
          </a:p>
          <a:p>
            <a:r>
              <a:rPr lang="en-US" altLang="ja-JP" sz="2400" dirty="0" smtClean="0"/>
              <a:t>     U main</a:t>
            </a:r>
          </a:p>
          <a:p>
            <a:r>
              <a:rPr kumimoji="1" lang="ja-JP" altLang="en-US" sz="2400" dirty="0" smtClean="0"/>
              <a:t>という行が含まれており</a:t>
            </a:r>
            <a:r>
              <a:rPr lang="ja-JP" altLang="en-US" sz="2400" dirty="0" smtClean="0"/>
              <a:t>、スタートアップルーチンが</a:t>
            </a:r>
            <a:r>
              <a:rPr lang="en-US" altLang="ja-JP" sz="2400" dirty="0" smtClean="0"/>
              <a:t>main</a:t>
            </a:r>
            <a:r>
              <a:rPr lang="ja-JP" altLang="en-US" sz="2400" dirty="0" smtClean="0"/>
              <a:t>関数を呼び出していることがここに反映されている。</a:t>
            </a:r>
            <a:endParaRPr lang="en-US" altLang="ja-JP" sz="2400" dirty="0" smtClean="0"/>
          </a:p>
          <a:p>
            <a:r>
              <a:rPr kumimoji="1" lang="ja-JP" altLang="en-US" sz="2400" dirty="0" smtClean="0"/>
              <a:t>スタートアップルーチン部分で引数の個数、引数の文字列配列、環境変数配列を</a:t>
            </a:r>
            <a:r>
              <a:rPr kumimoji="1" lang="en-US" altLang="ja-JP" sz="2400" dirty="0" smtClean="0"/>
              <a:t>main</a:t>
            </a:r>
            <a:r>
              <a:rPr lang="ja-JP" altLang="en-US" sz="2400" dirty="0" smtClean="0"/>
              <a:t>関数に渡す。</a:t>
            </a:r>
            <a:endParaRPr kumimoji="1" lang="ja-JP" altLang="en-US" sz="24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コマンドのオプションについ</a:t>
            </a:r>
            <a:r>
              <a:rPr lang="ja-JP" altLang="en-US" dirty="0" smtClean="0"/>
              <a:t>て</a:t>
            </a:r>
            <a:endParaRPr kumimoji="1" lang="ja-JP" altLang="en-US" dirty="0"/>
          </a:p>
        </p:txBody>
      </p:sp>
      <p:sp>
        <p:nvSpPr>
          <p:cNvPr id="3" name="コンテンツ プレースホルダ 2"/>
          <p:cNvSpPr>
            <a:spLocks noGrp="1"/>
          </p:cNvSpPr>
          <p:nvPr>
            <p:ph idx="1"/>
          </p:nvPr>
        </p:nvSpPr>
        <p:spPr>
          <a:xfrm>
            <a:off x="457200" y="1671639"/>
            <a:ext cx="8229600" cy="4186253"/>
          </a:xfrm>
        </p:spPr>
        <p:txBody>
          <a:bodyPr>
            <a:normAutofit fontScale="92500" lnSpcReduction="20000"/>
          </a:bodyPr>
          <a:lstStyle/>
          <a:p>
            <a:r>
              <a:rPr kumimoji="1" lang="ja-JP" altLang="en-US" dirty="0" smtClean="0"/>
              <a:t>オプションはハイフンのあとに１文字</a:t>
            </a:r>
            <a:r>
              <a:rPr kumimoji="1" lang="en-US" altLang="ja-JP" dirty="0" smtClean="0"/>
              <a:t>(-o</a:t>
            </a:r>
            <a:r>
              <a:rPr kumimoji="1" lang="ja-JP" altLang="en-US" dirty="0" smtClean="0"/>
              <a:t>など</a:t>
            </a:r>
            <a:r>
              <a:rPr kumimoji="1" lang="en-US" altLang="ja-JP" dirty="0" smtClean="0"/>
              <a:t>)</a:t>
            </a:r>
          </a:p>
          <a:p>
            <a:r>
              <a:rPr lang="ja-JP" altLang="en-US" dirty="0" smtClean="0"/>
              <a:t>オプションのあとにオプションの引数があることもある</a:t>
            </a:r>
            <a:endParaRPr lang="en-US" altLang="ja-JP" dirty="0" smtClean="0"/>
          </a:p>
          <a:p>
            <a:pPr lvl="1"/>
            <a:r>
              <a:rPr lang="ja-JP" altLang="en-US" dirty="0" smtClean="0"/>
              <a:t>（例） </a:t>
            </a:r>
            <a:r>
              <a:rPr lang="en-US" altLang="ja-JP" dirty="0" err="1" smtClean="0"/>
              <a:t>gcc</a:t>
            </a:r>
            <a:r>
              <a:rPr lang="en-US" altLang="ja-JP" dirty="0" smtClean="0"/>
              <a:t> –o main </a:t>
            </a:r>
            <a:r>
              <a:rPr lang="en-US" altLang="ja-JP" dirty="0" err="1" smtClean="0"/>
              <a:t>main.c</a:t>
            </a:r>
            <a:r>
              <a:rPr lang="en-US" altLang="ja-JP" dirty="0" smtClean="0"/>
              <a:t> </a:t>
            </a:r>
            <a:r>
              <a:rPr lang="ja-JP" altLang="en-US" dirty="0" smtClean="0"/>
              <a:t>など。</a:t>
            </a:r>
            <a:endParaRPr lang="en-US" altLang="ja-JP" dirty="0" smtClean="0"/>
          </a:p>
          <a:p>
            <a:r>
              <a:rPr lang="ja-JP" altLang="en-US" dirty="0" smtClean="0"/>
              <a:t>いくつかのオプションをまとめて記述することもある</a:t>
            </a:r>
            <a:endParaRPr lang="en-US" altLang="ja-JP" dirty="0" smtClean="0"/>
          </a:p>
          <a:p>
            <a:pPr lvl="1"/>
            <a:r>
              <a:rPr lang="ja-JP" altLang="en-US" dirty="0" smtClean="0"/>
              <a:t>例 </a:t>
            </a:r>
            <a:r>
              <a:rPr lang="en-US" altLang="ja-JP" dirty="0" err="1" smtClean="0"/>
              <a:t>ls</a:t>
            </a:r>
            <a:r>
              <a:rPr lang="en-US" altLang="ja-JP" dirty="0" smtClean="0"/>
              <a:t> -la </a:t>
            </a:r>
            <a:r>
              <a:rPr lang="ja-JP" altLang="en-US" dirty="0" smtClean="0"/>
              <a:t>は、</a:t>
            </a:r>
            <a:r>
              <a:rPr lang="en-US" altLang="ja-JP" dirty="0" err="1" smtClean="0"/>
              <a:t>ls</a:t>
            </a:r>
            <a:r>
              <a:rPr lang="en-US" altLang="ja-JP" dirty="0" smtClean="0"/>
              <a:t> -l -a </a:t>
            </a:r>
            <a:r>
              <a:rPr lang="ja-JP" altLang="en-US" dirty="0" smtClean="0"/>
              <a:t>をまとめて書いたものである。</a:t>
            </a:r>
            <a:endParaRPr lang="en-US" altLang="ja-JP" dirty="0" smtClean="0"/>
          </a:p>
          <a:p>
            <a:r>
              <a:rPr lang="en-US" altLang="ja-JP" dirty="0" smtClean="0"/>
              <a:t>--help</a:t>
            </a:r>
            <a:r>
              <a:rPr lang="ja-JP" altLang="en-US" dirty="0" smtClean="0"/>
              <a:t>のように、ハイフンが２つの場合もある。（これは</a:t>
            </a:r>
            <a:r>
              <a:rPr lang="en-US" altLang="ja-JP" dirty="0" smtClean="0"/>
              <a:t>-h -e -l -p</a:t>
            </a:r>
            <a:r>
              <a:rPr lang="ja-JP" altLang="en-US" dirty="0" smtClean="0"/>
              <a:t>を</a:t>
            </a:r>
            <a:r>
              <a:rPr lang="en-US" altLang="ja-JP" dirty="0" smtClean="0"/>
              <a:t>-help</a:t>
            </a:r>
            <a:r>
              <a:rPr lang="ja-JP" altLang="en-US" dirty="0" smtClean="0"/>
              <a:t>と書いた場合との区別のため）</a:t>
            </a:r>
            <a:endParaRPr kumimoji="1" lang="ja-JP" altLang="en-US"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Usage </a:t>
            </a:r>
            <a:r>
              <a:rPr kumimoji="1" lang="ja-JP" altLang="en-US" dirty="0" smtClean="0"/>
              <a:t>メッセージ</a:t>
            </a:r>
            <a:endParaRPr kumimoji="1" lang="ja-JP" altLang="en-US" dirty="0"/>
          </a:p>
        </p:txBody>
      </p:sp>
      <p:sp>
        <p:nvSpPr>
          <p:cNvPr id="3" name="コンテンツ プレースホルダ 2"/>
          <p:cNvSpPr>
            <a:spLocks noGrp="1"/>
          </p:cNvSpPr>
          <p:nvPr>
            <p:ph idx="1"/>
          </p:nvPr>
        </p:nvSpPr>
        <p:spPr>
          <a:xfrm>
            <a:off x="457200" y="1600201"/>
            <a:ext cx="8229600" cy="3686188"/>
          </a:xfrm>
        </p:spPr>
        <p:txBody>
          <a:bodyPr/>
          <a:lstStyle/>
          <a:p>
            <a:pPr marL="514350" indent="-514350">
              <a:buAutoNum type="arabicParenBoth"/>
            </a:pPr>
            <a:r>
              <a:rPr lang="ja-JP" altLang="en-US" dirty="0" smtClean="0"/>
              <a:t>オプションが正しく与えられなかった場合</a:t>
            </a:r>
            <a:endParaRPr lang="en-US" altLang="ja-JP" dirty="0" smtClean="0"/>
          </a:p>
          <a:p>
            <a:pPr>
              <a:buNone/>
            </a:pPr>
            <a:r>
              <a:rPr lang="en-US" altLang="ja-JP" dirty="0" smtClean="0"/>
              <a:t>(2) </a:t>
            </a:r>
            <a:r>
              <a:rPr lang="ja-JP" altLang="en-US" dirty="0" smtClean="0"/>
              <a:t>コマンドの引数に過不足があった場合</a:t>
            </a:r>
            <a:endParaRPr lang="en-US" altLang="ja-JP" dirty="0" smtClean="0"/>
          </a:p>
          <a:p>
            <a:pPr>
              <a:buNone/>
            </a:pPr>
            <a:r>
              <a:rPr lang="ja-JP" altLang="en-US" dirty="0" smtClean="0"/>
              <a:t>このような場合にメッセージを出すのが普通。これを</a:t>
            </a:r>
            <a:r>
              <a:rPr lang="en-US" altLang="ja-JP" dirty="0" smtClean="0"/>
              <a:t>Usage</a:t>
            </a:r>
            <a:r>
              <a:rPr lang="ja-JP" altLang="en-US" dirty="0" smtClean="0"/>
              <a:t>メッセージという。</a:t>
            </a:r>
            <a:endParaRPr lang="en-US" altLang="ja-JP" dirty="0" smtClean="0"/>
          </a:p>
          <a:p>
            <a:pPr>
              <a:buNone/>
            </a:pPr>
            <a:r>
              <a:rPr kumimoji="1" lang="ja-JP" altLang="en-US" dirty="0" smtClean="0"/>
              <a:t>例えば</a:t>
            </a:r>
            <a:r>
              <a:rPr lang="ja-JP" altLang="en-US" dirty="0" smtClean="0"/>
              <a:t>、</a:t>
            </a:r>
            <a:r>
              <a:rPr lang="en-US" altLang="ja-JP" dirty="0" smtClean="0"/>
              <a:t> $ cp </a:t>
            </a:r>
            <a:r>
              <a:rPr lang="ja-JP" altLang="en-US" dirty="0" err="1" smtClean="0"/>
              <a:t>のように</a:t>
            </a:r>
            <a:r>
              <a:rPr lang="en-US" altLang="ja-JP" dirty="0" smtClean="0"/>
              <a:t>cp</a:t>
            </a:r>
            <a:r>
              <a:rPr lang="ja-JP" altLang="en-US" dirty="0" smtClean="0"/>
              <a:t>コマンドを引数無しで実行すると、</a:t>
            </a:r>
            <a:r>
              <a:rPr lang="en-US" altLang="ja-JP" dirty="0" smtClean="0"/>
              <a:t>Usage</a:t>
            </a:r>
            <a:r>
              <a:rPr lang="ja-JP" altLang="en-US" dirty="0" smtClean="0"/>
              <a:t>メッセージが表示される。</a:t>
            </a:r>
            <a:endParaRPr lang="en-US" altLang="ja-JP" dirty="0" smtClean="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25470"/>
          </a:xfrm>
        </p:spPr>
        <p:txBody>
          <a:bodyPr>
            <a:normAutofit fontScale="90000"/>
          </a:bodyPr>
          <a:lstStyle/>
          <a:p>
            <a:r>
              <a:rPr lang="ja-JP" altLang="en-US" dirty="0" smtClean="0"/>
              <a:t>例（打ち込んで確認）</a:t>
            </a:r>
            <a:endParaRPr kumimoji="1" lang="ja-JP" altLang="en-US" dirty="0"/>
          </a:p>
        </p:txBody>
      </p:sp>
      <p:sp>
        <p:nvSpPr>
          <p:cNvPr id="5" name="正方形/長方形 4"/>
          <p:cNvSpPr/>
          <p:nvPr/>
        </p:nvSpPr>
        <p:spPr>
          <a:xfrm>
            <a:off x="857224" y="1500174"/>
            <a:ext cx="7572428" cy="2677656"/>
          </a:xfrm>
          <a:prstGeom prst="rect">
            <a:avLst/>
          </a:prstGeom>
          <a:ln>
            <a:solidFill>
              <a:schemeClr val="tx1"/>
            </a:solidFill>
          </a:ln>
        </p:spPr>
        <p:txBody>
          <a:bodyPr wrap="square">
            <a:spAutoFit/>
          </a:bodyPr>
          <a:lstStyle/>
          <a:p>
            <a:r>
              <a:rPr lang="en-US" altLang="ja-JP" sz="2400" dirty="0" smtClean="0"/>
              <a:t>/* Usage</a:t>
            </a:r>
            <a:r>
              <a:rPr lang="ja-JP" altLang="en-US" sz="2400" dirty="0" smtClean="0"/>
              <a:t>メッセージを表示するだけのプログラム *</a:t>
            </a:r>
            <a:r>
              <a:rPr lang="en-US" altLang="ja-JP" sz="2400" dirty="0" smtClean="0"/>
              <a:t>/</a:t>
            </a:r>
          </a:p>
          <a:p>
            <a:r>
              <a:rPr lang="en-US" altLang="ja-JP" sz="2400" dirty="0" smtClean="0"/>
              <a:t>#include&lt;</a:t>
            </a:r>
            <a:r>
              <a:rPr lang="en-US" altLang="ja-JP" sz="2400" dirty="0" err="1" smtClean="0"/>
              <a:t>stdio.h</a:t>
            </a:r>
            <a:r>
              <a:rPr lang="en-US" altLang="ja-JP" sz="2400" dirty="0" smtClean="0"/>
              <a:t>&gt;</a:t>
            </a:r>
          </a:p>
          <a:p>
            <a:r>
              <a:rPr lang="en-US" altLang="ja-JP" sz="2400" dirty="0" err="1" smtClean="0"/>
              <a:t>int</a:t>
            </a:r>
            <a:r>
              <a:rPr lang="en-US" altLang="ja-JP" sz="2400" dirty="0" smtClean="0"/>
              <a:t> main (</a:t>
            </a:r>
            <a:r>
              <a:rPr lang="en-US" altLang="ja-JP" sz="2400" dirty="0" err="1" smtClean="0"/>
              <a:t>int</a:t>
            </a:r>
            <a:r>
              <a:rPr lang="en-US" altLang="ja-JP" sz="2400" dirty="0" smtClean="0"/>
              <a:t> </a:t>
            </a:r>
            <a:r>
              <a:rPr lang="en-US" altLang="ja-JP" sz="2400" dirty="0" err="1" smtClean="0"/>
              <a:t>argc</a:t>
            </a:r>
            <a:r>
              <a:rPr lang="en-US" altLang="ja-JP" sz="2400" dirty="0" smtClean="0"/>
              <a:t>, char * </a:t>
            </a:r>
            <a:r>
              <a:rPr lang="en-US" altLang="ja-JP" sz="2400" dirty="0" err="1" smtClean="0"/>
              <a:t>argv</a:t>
            </a:r>
            <a:r>
              <a:rPr lang="en-US" altLang="ja-JP" sz="2400" dirty="0" smtClean="0"/>
              <a:t>[]) {</a:t>
            </a:r>
          </a:p>
          <a:p>
            <a:r>
              <a:rPr lang="en-US" altLang="ja-JP" sz="2400" dirty="0" smtClean="0"/>
              <a:t>    if (</a:t>
            </a:r>
            <a:r>
              <a:rPr lang="en-US" altLang="ja-JP" sz="2400" dirty="0" err="1" smtClean="0"/>
              <a:t>argc</a:t>
            </a:r>
            <a:r>
              <a:rPr lang="en-US" altLang="ja-JP" sz="2400" dirty="0" smtClean="0"/>
              <a:t>!=2)</a:t>
            </a:r>
          </a:p>
          <a:p>
            <a:r>
              <a:rPr lang="en-US" altLang="ja-JP" sz="2400" dirty="0" smtClean="0"/>
              <a:t>        </a:t>
            </a:r>
            <a:r>
              <a:rPr lang="en-US" altLang="ja-JP" sz="2400" dirty="0" err="1" smtClean="0"/>
              <a:t>fprintf</a:t>
            </a:r>
            <a:r>
              <a:rPr lang="en-US" altLang="ja-JP" sz="2400" dirty="0" smtClean="0"/>
              <a:t> (</a:t>
            </a:r>
            <a:r>
              <a:rPr lang="en-US" altLang="ja-JP" sz="2400" dirty="0" err="1" smtClean="0"/>
              <a:t>stderr</a:t>
            </a:r>
            <a:r>
              <a:rPr lang="en-US" altLang="ja-JP" sz="2400" dirty="0" smtClean="0"/>
              <a:t>, "Usage: %s filename\n", </a:t>
            </a:r>
            <a:r>
              <a:rPr lang="en-US" altLang="ja-JP" sz="2400" dirty="0" err="1" smtClean="0"/>
              <a:t>argv</a:t>
            </a:r>
            <a:r>
              <a:rPr lang="en-US" altLang="ja-JP" sz="2400" dirty="0" smtClean="0"/>
              <a:t>[0]);</a:t>
            </a:r>
          </a:p>
          <a:p>
            <a:r>
              <a:rPr lang="en-US" altLang="ja-JP" sz="2400" dirty="0" smtClean="0"/>
              <a:t>    return 0;</a:t>
            </a:r>
          </a:p>
          <a:p>
            <a:r>
              <a:rPr lang="en-US" altLang="ja-JP" sz="2400" dirty="0" smtClean="0"/>
              <a:t>}</a:t>
            </a:r>
            <a:endParaRPr lang="en-US" altLang="ja-JP" sz="2400" dirty="0"/>
          </a:p>
        </p:txBody>
      </p:sp>
      <p:sp>
        <p:nvSpPr>
          <p:cNvPr id="6" name="テキスト ボックス 5"/>
          <p:cNvSpPr txBox="1"/>
          <p:nvPr/>
        </p:nvSpPr>
        <p:spPr>
          <a:xfrm>
            <a:off x="1142976" y="4500570"/>
            <a:ext cx="3592843" cy="1815882"/>
          </a:xfrm>
          <a:prstGeom prst="rect">
            <a:avLst/>
          </a:prstGeom>
          <a:noFill/>
        </p:spPr>
        <p:txBody>
          <a:bodyPr wrap="none" rtlCol="0">
            <a:spAutoFit/>
          </a:bodyPr>
          <a:lstStyle/>
          <a:p>
            <a:r>
              <a:rPr kumimoji="1" lang="ja-JP" altLang="en-US" sz="2800" dirty="0" smtClean="0"/>
              <a:t>（実行例）</a:t>
            </a:r>
            <a:endParaRPr kumimoji="1" lang="en-US" altLang="ja-JP" sz="2800" dirty="0" smtClean="0"/>
          </a:p>
          <a:p>
            <a:r>
              <a:rPr lang="en-US" altLang="ja-JP" sz="2800" dirty="0" smtClean="0"/>
              <a:t>$  </a:t>
            </a:r>
            <a:r>
              <a:rPr lang="en-US" altLang="ja-JP" sz="2800" dirty="0" err="1" smtClean="0"/>
              <a:t>gcc</a:t>
            </a:r>
            <a:r>
              <a:rPr lang="en-US" altLang="ja-JP" sz="2800" dirty="0" smtClean="0"/>
              <a:t> </a:t>
            </a:r>
            <a:r>
              <a:rPr lang="en-US" altLang="ja-JP" sz="2800" dirty="0" err="1" smtClean="0"/>
              <a:t>usage.c</a:t>
            </a:r>
            <a:endParaRPr lang="en-US" altLang="ja-JP" sz="2800" dirty="0" smtClean="0"/>
          </a:p>
          <a:p>
            <a:r>
              <a:rPr kumimoji="1" lang="en-US" altLang="ja-JP" sz="2800" dirty="0" smtClean="0"/>
              <a:t>$  </a:t>
            </a:r>
            <a:r>
              <a:rPr lang="en-US" altLang="ja-JP" sz="2800" dirty="0" smtClean="0"/>
              <a:t>./</a:t>
            </a:r>
            <a:r>
              <a:rPr lang="en-US" altLang="ja-JP" sz="2800" dirty="0" err="1" smtClean="0"/>
              <a:t>a.out</a:t>
            </a:r>
            <a:endParaRPr lang="en-US" altLang="ja-JP" sz="2800" dirty="0" smtClean="0"/>
          </a:p>
          <a:p>
            <a:r>
              <a:rPr lang="en-US" altLang="ja-JP" sz="2800" dirty="0" smtClean="0"/>
              <a:t>Usage: ./</a:t>
            </a:r>
            <a:r>
              <a:rPr lang="en-US" altLang="ja-JP" sz="2800" dirty="0" err="1" smtClean="0"/>
              <a:t>a.out</a:t>
            </a:r>
            <a:r>
              <a:rPr lang="en-US" altLang="ja-JP" sz="2800" dirty="0" smtClean="0"/>
              <a:t> filename</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システムコールについて</a:t>
            </a:r>
            <a:endParaRPr kumimoji="1" lang="ja-JP" altLang="en-US" dirty="0"/>
          </a:p>
        </p:txBody>
      </p:sp>
      <p:sp>
        <p:nvSpPr>
          <p:cNvPr id="3" name="コンテンツ プレースホルダ 2"/>
          <p:cNvSpPr>
            <a:spLocks noGrp="1"/>
          </p:cNvSpPr>
          <p:nvPr>
            <p:ph idx="1"/>
          </p:nvPr>
        </p:nvSpPr>
        <p:spPr>
          <a:xfrm>
            <a:off x="457200" y="1617681"/>
            <a:ext cx="8229600" cy="4525963"/>
          </a:xfrm>
        </p:spPr>
        <p:txBody>
          <a:bodyPr>
            <a:normAutofit fontScale="92500" lnSpcReduction="20000"/>
          </a:bodyPr>
          <a:lstStyle/>
          <a:p>
            <a:r>
              <a:rPr kumimoji="1" lang="ja-JP" altLang="en-US" dirty="0" smtClean="0"/>
              <a:t>システムコールとは、カーネル内のコードを呼び出すための</a:t>
            </a:r>
            <a:r>
              <a:rPr kumimoji="1" lang="en-US" altLang="ja-JP" dirty="0" smtClean="0"/>
              <a:t>C</a:t>
            </a:r>
            <a:r>
              <a:rPr kumimoji="1" lang="ja-JP" altLang="en-US" dirty="0" smtClean="0"/>
              <a:t>関数</a:t>
            </a:r>
            <a:endParaRPr kumimoji="1" lang="en-US" altLang="ja-JP" dirty="0" smtClean="0"/>
          </a:p>
          <a:p>
            <a:r>
              <a:rPr lang="ja-JP" altLang="en-US" dirty="0" smtClean="0"/>
              <a:t>ファイル、ネットワーク、キーボード等、ハードウェアとのやりとりはすべてカーネルが行う。ユーザはシステムコールを通じてカーネルにハードウェア操作を依頼する。</a:t>
            </a:r>
            <a:endParaRPr kumimoji="1" lang="en-US" altLang="ja-JP" dirty="0" smtClean="0"/>
          </a:p>
          <a:p>
            <a:r>
              <a:rPr lang="ja-JP" altLang="en-US" dirty="0" smtClean="0"/>
              <a:t>例えば、ファイルからデータを読み出す場合、</a:t>
            </a:r>
            <a:r>
              <a:rPr lang="en-US" altLang="ja-JP" dirty="0" err="1" smtClean="0"/>
              <a:t>getc</a:t>
            </a:r>
            <a:r>
              <a:rPr lang="en-US" altLang="ja-JP" dirty="0" smtClean="0"/>
              <a:t>, </a:t>
            </a:r>
            <a:r>
              <a:rPr lang="en-US" altLang="ja-JP" dirty="0" err="1" smtClean="0"/>
              <a:t>fgetc</a:t>
            </a:r>
            <a:r>
              <a:rPr lang="ja-JP" altLang="en-US" dirty="0" smtClean="0"/>
              <a:t>などのライブラリ関数を呼ぶが、どんなライブラリ関数を呼んだとしても、最終的には</a:t>
            </a:r>
            <a:r>
              <a:rPr lang="en-US" altLang="ja-JP" dirty="0" smtClean="0"/>
              <a:t>read</a:t>
            </a:r>
            <a:r>
              <a:rPr lang="ja-JP" altLang="en-US" dirty="0" smtClean="0"/>
              <a:t>システムコールが呼ばれ、カーネル内部のコードが実行される。</a:t>
            </a:r>
            <a:endParaRPr lang="en-US" altLang="ja-JP" dirty="0" smtClean="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システムコールの実装</a:t>
            </a:r>
            <a:endParaRPr kumimoji="1" lang="ja-JP" altLang="en-US" dirty="0"/>
          </a:p>
        </p:txBody>
      </p:sp>
      <p:sp>
        <p:nvSpPr>
          <p:cNvPr id="4" name="テキスト ボックス 3"/>
          <p:cNvSpPr txBox="1"/>
          <p:nvPr/>
        </p:nvSpPr>
        <p:spPr>
          <a:xfrm>
            <a:off x="857224" y="1285860"/>
            <a:ext cx="7500990" cy="3970318"/>
          </a:xfrm>
          <a:prstGeom prst="rect">
            <a:avLst/>
          </a:prstGeom>
          <a:noFill/>
        </p:spPr>
        <p:txBody>
          <a:bodyPr wrap="square" rtlCol="0">
            <a:spAutoFit/>
          </a:bodyPr>
          <a:lstStyle/>
          <a:p>
            <a:r>
              <a:rPr kumimoji="1" lang="ja-JP" altLang="en-US" sz="2800" dirty="0" smtClean="0"/>
              <a:t>システムコールは、</a:t>
            </a:r>
            <a:r>
              <a:rPr kumimoji="1" lang="en-US" altLang="ja-JP" sz="2800" dirty="0" smtClean="0"/>
              <a:t>C</a:t>
            </a:r>
            <a:r>
              <a:rPr kumimoji="1" lang="ja-JP" altLang="en-US" sz="2800" dirty="0" smtClean="0"/>
              <a:t>の関数であ</a:t>
            </a:r>
            <a:r>
              <a:rPr lang="ja-JP" altLang="en-US" sz="2800" dirty="0" smtClean="0"/>
              <a:t>り、ライブラリファイル </a:t>
            </a:r>
            <a:r>
              <a:rPr lang="en-US" altLang="ja-JP" sz="2800" dirty="0" smtClean="0"/>
              <a:t>/</a:t>
            </a:r>
            <a:r>
              <a:rPr lang="en-US" altLang="ja-JP" sz="2800" dirty="0" err="1" smtClean="0"/>
              <a:t>usr</a:t>
            </a:r>
            <a:r>
              <a:rPr lang="en-US" altLang="ja-JP" sz="2800" dirty="0" smtClean="0"/>
              <a:t>/lib/</a:t>
            </a:r>
            <a:r>
              <a:rPr lang="en-US" altLang="ja-JP" sz="2800" dirty="0" err="1" smtClean="0"/>
              <a:t>libc.a</a:t>
            </a:r>
            <a:r>
              <a:rPr lang="en-US" altLang="ja-JP" sz="2800" dirty="0" smtClean="0"/>
              <a:t> </a:t>
            </a:r>
            <a:r>
              <a:rPr lang="ja-JP" altLang="en-US" sz="2800" dirty="0" smtClean="0"/>
              <a:t>に入っている。</a:t>
            </a:r>
            <a:endParaRPr lang="en-US" altLang="ja-JP" sz="2800" dirty="0" smtClean="0"/>
          </a:p>
          <a:p>
            <a:r>
              <a:rPr lang="ja-JP" altLang="en-US" sz="2800" dirty="0" smtClean="0"/>
              <a:t>システムコールである</a:t>
            </a:r>
            <a:r>
              <a:rPr lang="en-US" altLang="ja-JP" sz="2800" dirty="0" smtClean="0"/>
              <a:t>C</a:t>
            </a:r>
            <a:r>
              <a:rPr lang="ja-JP" altLang="en-US" sz="2800" dirty="0" smtClean="0"/>
              <a:t>の関数の中で、ハードウェア割り込みを起こす命令（トラップ命令）が実行される。これにより、カーネルの割り込み処理部分に制御が移る。トラップ命令実行時にシステムコールの番号を伝え、それによってそれぞれのシステムコールに対応するカーネルのコードに制御が移ることになる。</a:t>
            </a:r>
            <a:endParaRPr kumimoji="1" lang="ja-JP" altLang="en-US" sz="2800" dirty="0"/>
          </a:p>
        </p:txBody>
      </p:sp>
      <p:sp>
        <p:nvSpPr>
          <p:cNvPr id="5" name="正方形/長方形 4"/>
          <p:cNvSpPr/>
          <p:nvPr/>
        </p:nvSpPr>
        <p:spPr>
          <a:xfrm>
            <a:off x="1000100" y="5500702"/>
            <a:ext cx="7572428" cy="1200329"/>
          </a:xfrm>
          <a:prstGeom prst="rect">
            <a:avLst/>
          </a:prstGeom>
          <a:ln>
            <a:solidFill>
              <a:schemeClr val="tx1"/>
            </a:solidFill>
          </a:ln>
        </p:spPr>
        <p:txBody>
          <a:bodyPr wrap="square">
            <a:spAutoFit/>
          </a:bodyPr>
          <a:lstStyle/>
          <a:p>
            <a:r>
              <a:rPr lang="en-US" altLang="ja-JP" sz="2400" dirty="0" smtClean="0"/>
              <a:t> $ </a:t>
            </a:r>
            <a:r>
              <a:rPr lang="en-US" altLang="ja-JP" sz="2400" dirty="0" err="1" smtClean="0"/>
              <a:t>ar</a:t>
            </a:r>
            <a:r>
              <a:rPr lang="en-US" altLang="ja-JP" sz="2400" dirty="0" smtClean="0"/>
              <a:t> t  /</a:t>
            </a:r>
            <a:r>
              <a:rPr lang="en-US" altLang="ja-JP" sz="2400" dirty="0" err="1" smtClean="0"/>
              <a:t>usr</a:t>
            </a:r>
            <a:r>
              <a:rPr lang="en-US" altLang="ja-JP" sz="2400" dirty="0" smtClean="0"/>
              <a:t>/lib/</a:t>
            </a:r>
            <a:r>
              <a:rPr lang="en-US" altLang="ja-JP" sz="2400" dirty="0" err="1" smtClean="0"/>
              <a:t>libc.a</a:t>
            </a:r>
            <a:r>
              <a:rPr lang="en-US" altLang="ja-JP" sz="2400" dirty="0" smtClean="0"/>
              <a:t> | less</a:t>
            </a:r>
          </a:p>
          <a:p>
            <a:r>
              <a:rPr lang="ja-JP" altLang="en-US" sz="2400" dirty="0" smtClean="0"/>
              <a:t>で</a:t>
            </a:r>
            <a:r>
              <a:rPr lang="en-US" altLang="ja-JP" sz="2400" dirty="0" err="1" smtClean="0"/>
              <a:t>libc.a</a:t>
            </a:r>
            <a:r>
              <a:rPr lang="ja-JP" altLang="en-US" sz="2400" dirty="0" smtClean="0"/>
              <a:t>の中身のオブジェクトファイルリストが表示される。</a:t>
            </a:r>
            <a:r>
              <a:rPr lang="en-US" altLang="ja-JP" sz="2400" dirty="0" err="1" smtClean="0"/>
              <a:t>write.o</a:t>
            </a:r>
            <a:r>
              <a:rPr lang="en-US" altLang="ja-JP" sz="2400" dirty="0" smtClean="0"/>
              <a:t>, </a:t>
            </a:r>
            <a:r>
              <a:rPr lang="en-US" altLang="ja-JP" sz="2400" dirty="0" err="1" smtClean="0"/>
              <a:t>read.o</a:t>
            </a:r>
            <a:r>
              <a:rPr lang="ja-JP" altLang="en-US" sz="2400" dirty="0" smtClean="0"/>
              <a:t>などが入っている。</a:t>
            </a:r>
            <a:endParaRPr lang="ja-JP" altLang="en-US" sz="2400"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システムコールの番号</a:t>
            </a:r>
            <a:endParaRPr kumimoji="1" lang="ja-JP" altLang="en-US" dirty="0"/>
          </a:p>
        </p:txBody>
      </p:sp>
      <p:sp>
        <p:nvSpPr>
          <p:cNvPr id="4" name="テキスト ボックス 3"/>
          <p:cNvSpPr txBox="1"/>
          <p:nvPr/>
        </p:nvSpPr>
        <p:spPr>
          <a:xfrm>
            <a:off x="1285852" y="1714488"/>
            <a:ext cx="1857388" cy="4893647"/>
          </a:xfrm>
          <a:prstGeom prst="rect">
            <a:avLst/>
          </a:prstGeom>
          <a:noFill/>
        </p:spPr>
        <p:txBody>
          <a:bodyPr wrap="square" rtlCol="0">
            <a:spAutoFit/>
          </a:bodyPr>
          <a:lstStyle/>
          <a:p>
            <a:r>
              <a:rPr kumimoji="1" lang="en-US" altLang="ja-JP" sz="2400" dirty="0" smtClean="0"/>
              <a:t>1</a:t>
            </a:r>
            <a:r>
              <a:rPr lang="ja-JP" altLang="en-US" sz="2400" dirty="0" smtClean="0"/>
              <a:t> </a:t>
            </a:r>
            <a:r>
              <a:rPr kumimoji="1" lang="en-US" altLang="ja-JP" sz="2400" dirty="0" smtClean="0"/>
              <a:t> exit</a:t>
            </a:r>
          </a:p>
          <a:p>
            <a:r>
              <a:rPr lang="en-US" altLang="ja-JP" sz="2400" dirty="0" smtClean="0"/>
              <a:t>2  fork</a:t>
            </a:r>
          </a:p>
          <a:p>
            <a:r>
              <a:rPr kumimoji="1" lang="en-US" altLang="ja-JP" sz="2400" dirty="0" smtClean="0"/>
              <a:t>3  read</a:t>
            </a:r>
          </a:p>
          <a:p>
            <a:r>
              <a:rPr lang="en-US" altLang="ja-JP" sz="2400" dirty="0" smtClean="0"/>
              <a:t>4  write</a:t>
            </a:r>
          </a:p>
          <a:p>
            <a:r>
              <a:rPr kumimoji="1" lang="en-US" altLang="ja-JP" sz="2400" dirty="0" smtClean="0"/>
              <a:t>5  open</a:t>
            </a:r>
          </a:p>
          <a:p>
            <a:r>
              <a:rPr lang="en-US" altLang="ja-JP" sz="2400" dirty="0" smtClean="0"/>
              <a:t>6  close</a:t>
            </a:r>
          </a:p>
          <a:p>
            <a:r>
              <a:rPr kumimoji="1" lang="en-US" altLang="ja-JP" sz="2400" dirty="0" smtClean="0"/>
              <a:t>7  wait</a:t>
            </a:r>
          </a:p>
          <a:p>
            <a:r>
              <a:rPr lang="en-US" altLang="ja-JP" sz="2400" dirty="0" smtClean="0"/>
              <a:t>8  </a:t>
            </a:r>
            <a:r>
              <a:rPr lang="en-US" altLang="ja-JP" sz="2400" dirty="0" err="1" smtClean="0"/>
              <a:t>creat</a:t>
            </a:r>
            <a:endParaRPr lang="en-US" altLang="ja-JP" sz="2400" dirty="0" smtClean="0"/>
          </a:p>
          <a:p>
            <a:r>
              <a:rPr kumimoji="1" lang="en-US" altLang="ja-JP" sz="2400" dirty="0" smtClean="0"/>
              <a:t>9  link</a:t>
            </a:r>
          </a:p>
          <a:p>
            <a:r>
              <a:rPr lang="en-US" altLang="ja-JP" sz="2400" dirty="0" smtClean="0"/>
              <a:t>10  unlink</a:t>
            </a:r>
          </a:p>
          <a:p>
            <a:r>
              <a:rPr kumimoji="1" lang="en-US" altLang="ja-JP" sz="2400" dirty="0" smtClean="0"/>
              <a:t>11  exec</a:t>
            </a:r>
          </a:p>
          <a:p>
            <a:r>
              <a:rPr lang="en-US" altLang="ja-JP" sz="2400" dirty="0" smtClean="0"/>
              <a:t>12  </a:t>
            </a:r>
            <a:r>
              <a:rPr lang="en-US" altLang="ja-JP" sz="2400" dirty="0" err="1" smtClean="0"/>
              <a:t>chdir</a:t>
            </a:r>
            <a:endParaRPr lang="en-US" altLang="ja-JP" sz="2400" dirty="0" smtClean="0"/>
          </a:p>
          <a:p>
            <a:r>
              <a:rPr kumimoji="1" lang="en-US" altLang="ja-JP" sz="2400" dirty="0" smtClean="0"/>
              <a:t>…</a:t>
            </a:r>
            <a:endParaRPr kumimoji="1" lang="ja-JP" altLang="en-US" sz="2400" dirty="0"/>
          </a:p>
        </p:txBody>
      </p:sp>
      <p:sp>
        <p:nvSpPr>
          <p:cNvPr id="5" name="テキスト ボックス 4"/>
          <p:cNvSpPr txBox="1"/>
          <p:nvPr/>
        </p:nvSpPr>
        <p:spPr>
          <a:xfrm>
            <a:off x="3500430" y="1928802"/>
            <a:ext cx="5000660" cy="1569660"/>
          </a:xfrm>
          <a:prstGeom prst="rect">
            <a:avLst/>
          </a:prstGeom>
          <a:noFill/>
        </p:spPr>
        <p:txBody>
          <a:bodyPr wrap="square" rtlCol="0">
            <a:spAutoFit/>
          </a:bodyPr>
          <a:lstStyle/>
          <a:p>
            <a:r>
              <a:rPr kumimoji="1" lang="ja-JP" altLang="en-US" sz="2400" dirty="0" smtClean="0"/>
              <a:t>今後の講義でシステムコールを少しずつ紹介する。各システムコールの</a:t>
            </a:r>
            <a:r>
              <a:rPr kumimoji="1" lang="en-US" altLang="ja-JP" sz="2400" dirty="0" smtClean="0"/>
              <a:t>C</a:t>
            </a:r>
            <a:r>
              <a:rPr kumimoji="1" lang="ja-JP" altLang="en-US" sz="2400" dirty="0" smtClean="0"/>
              <a:t>関数が番号の設定を行うので</a:t>
            </a:r>
            <a:r>
              <a:rPr lang="ja-JP" altLang="en-US" sz="2400" dirty="0" smtClean="0"/>
              <a:t>番号は知らなくてよい。</a:t>
            </a:r>
            <a:endParaRPr kumimoji="1" lang="ja-JP" altLang="en-US" sz="24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システムコールのマニュアル</a:t>
            </a:r>
            <a:endParaRPr kumimoji="1" lang="ja-JP" altLang="en-US" dirty="0"/>
          </a:p>
        </p:txBody>
      </p:sp>
      <p:sp>
        <p:nvSpPr>
          <p:cNvPr id="4" name="テキスト ボックス 3"/>
          <p:cNvSpPr txBox="1"/>
          <p:nvPr/>
        </p:nvSpPr>
        <p:spPr>
          <a:xfrm>
            <a:off x="857224" y="1571612"/>
            <a:ext cx="7858180" cy="4154984"/>
          </a:xfrm>
          <a:prstGeom prst="rect">
            <a:avLst/>
          </a:prstGeom>
          <a:noFill/>
        </p:spPr>
        <p:txBody>
          <a:bodyPr wrap="square" rtlCol="0">
            <a:spAutoFit/>
          </a:bodyPr>
          <a:lstStyle/>
          <a:p>
            <a:r>
              <a:rPr kumimoji="1" lang="ja-JP" altLang="en-US" sz="2400" dirty="0" smtClean="0"/>
              <a:t>システムコールは</a:t>
            </a:r>
            <a:r>
              <a:rPr kumimoji="1" lang="en-US" altLang="ja-JP" sz="2400" dirty="0" smtClean="0"/>
              <a:t>man</a:t>
            </a:r>
            <a:r>
              <a:rPr kumimoji="1" lang="ja-JP" altLang="en-US" sz="2400" dirty="0" smtClean="0"/>
              <a:t>コマンドでマニュアルを表示できる。</a:t>
            </a:r>
            <a:endParaRPr kumimoji="1" lang="en-US" altLang="ja-JP" sz="2400" dirty="0" smtClean="0"/>
          </a:p>
          <a:p>
            <a:r>
              <a:rPr lang="ja-JP" altLang="en-US" sz="2400" dirty="0" smtClean="0"/>
              <a:t>例えば、</a:t>
            </a:r>
            <a:endParaRPr lang="en-US" altLang="ja-JP" sz="2400" dirty="0" smtClean="0"/>
          </a:p>
          <a:p>
            <a:r>
              <a:rPr lang="en-US" altLang="ja-JP" sz="2400" dirty="0" smtClean="0"/>
              <a:t>    $ man  -S  2  write</a:t>
            </a:r>
          </a:p>
          <a:p>
            <a:r>
              <a:rPr kumimoji="1" lang="ja-JP" altLang="en-US" sz="2400" dirty="0" smtClean="0"/>
              <a:t>で</a:t>
            </a:r>
            <a:r>
              <a:rPr kumimoji="1" lang="en-US" altLang="ja-JP" sz="2400" dirty="0" smtClean="0"/>
              <a:t>write</a:t>
            </a:r>
            <a:r>
              <a:rPr kumimoji="1" lang="ja-JP" altLang="en-US" sz="2400" dirty="0" smtClean="0"/>
              <a:t>システムコールのマニュアルが表示される。</a:t>
            </a:r>
            <a:endParaRPr kumimoji="1" lang="en-US" altLang="ja-JP" sz="2400" dirty="0" smtClean="0"/>
          </a:p>
          <a:p>
            <a:r>
              <a:rPr lang="en-US" altLang="ja-JP" sz="2400" dirty="0" smtClean="0"/>
              <a:t>    $ man  write</a:t>
            </a:r>
          </a:p>
          <a:p>
            <a:r>
              <a:rPr kumimoji="1" lang="ja-JP" altLang="en-US" sz="2400" dirty="0" smtClean="0"/>
              <a:t>とすると</a:t>
            </a:r>
            <a:r>
              <a:rPr lang="ja-JP" altLang="en-US" sz="2400" dirty="0" smtClean="0"/>
              <a:t>、</a:t>
            </a:r>
            <a:r>
              <a:rPr lang="en-US" altLang="ja-JP" sz="2400" dirty="0" smtClean="0"/>
              <a:t>write</a:t>
            </a:r>
            <a:r>
              <a:rPr lang="ja-JP" altLang="en-US" sz="2400" dirty="0" smtClean="0"/>
              <a:t>コマンドのマニュアルが表示される。</a:t>
            </a:r>
            <a:endParaRPr lang="en-US" altLang="ja-JP" sz="2400" dirty="0" smtClean="0"/>
          </a:p>
          <a:p>
            <a:r>
              <a:rPr lang="en-US" altLang="ja-JP" sz="2400" dirty="0" smtClean="0"/>
              <a:t>    $ man –a write</a:t>
            </a:r>
          </a:p>
          <a:p>
            <a:r>
              <a:rPr kumimoji="1" lang="ja-JP" altLang="en-US" sz="2400" dirty="0" smtClean="0"/>
              <a:t>とすると、</a:t>
            </a:r>
            <a:r>
              <a:rPr kumimoji="1" lang="en-US" altLang="ja-JP" sz="2400" dirty="0" smtClean="0"/>
              <a:t>write</a:t>
            </a:r>
            <a:r>
              <a:rPr kumimoji="1" lang="ja-JP" altLang="en-US" sz="2400" dirty="0" smtClean="0"/>
              <a:t>の名前のマニュアルがすべて</a:t>
            </a:r>
            <a:r>
              <a:rPr kumimoji="1" lang="en-US" altLang="ja-JP" sz="2400" dirty="0" smtClean="0"/>
              <a:t>(PAGER</a:t>
            </a:r>
            <a:r>
              <a:rPr kumimoji="1" lang="ja-JP" altLang="en-US" sz="2400" dirty="0" smtClean="0"/>
              <a:t>が</a:t>
            </a:r>
            <a:r>
              <a:rPr kumimoji="1" lang="en-US" altLang="ja-JP" sz="2400" dirty="0" smtClean="0"/>
              <a:t>less</a:t>
            </a:r>
            <a:r>
              <a:rPr kumimoji="1" lang="ja-JP" altLang="en-US" sz="2400" dirty="0" smtClean="0"/>
              <a:t>の場合は</a:t>
            </a:r>
            <a:r>
              <a:rPr kumimoji="1" lang="en-US" altLang="ja-JP" sz="2400" dirty="0" smtClean="0"/>
              <a:t>q</a:t>
            </a:r>
            <a:r>
              <a:rPr kumimoji="1" lang="ja-JP" altLang="en-US" sz="2400" dirty="0" smtClean="0"/>
              <a:t>を押すごとに</a:t>
            </a:r>
            <a:r>
              <a:rPr kumimoji="1" lang="en-US" altLang="ja-JP" sz="2400" dirty="0" smtClean="0"/>
              <a:t>)</a:t>
            </a:r>
            <a:r>
              <a:rPr kumimoji="1" lang="ja-JP" altLang="en-US" sz="2400" dirty="0" smtClean="0"/>
              <a:t>順番に表示される。</a:t>
            </a:r>
            <a:endParaRPr kumimoji="1" lang="en-US" altLang="ja-JP" sz="2400" dirty="0" smtClean="0"/>
          </a:p>
          <a:p>
            <a:r>
              <a:rPr lang="en-US" altLang="ja-JP" sz="2400" dirty="0" smtClean="0"/>
              <a:t>man</a:t>
            </a:r>
            <a:r>
              <a:rPr lang="ja-JP" altLang="en-US" sz="2400" dirty="0" smtClean="0"/>
              <a:t>コマンドの</a:t>
            </a:r>
            <a:r>
              <a:rPr lang="en-US" altLang="ja-JP" sz="2400" dirty="0" smtClean="0"/>
              <a:t>-S</a:t>
            </a:r>
            <a:r>
              <a:rPr lang="ja-JP" altLang="en-US" sz="2400" dirty="0" smtClean="0"/>
              <a:t>の引数には分類番号を入れる。</a:t>
            </a:r>
            <a:r>
              <a:rPr lang="en-US" altLang="ja-JP" sz="2400" dirty="0" smtClean="0"/>
              <a:t>1</a:t>
            </a:r>
            <a:r>
              <a:rPr lang="ja-JP" altLang="en-US" sz="2400" dirty="0" smtClean="0"/>
              <a:t>はコマンド、</a:t>
            </a:r>
            <a:r>
              <a:rPr lang="en-US" altLang="ja-JP" sz="2400" dirty="0" smtClean="0"/>
              <a:t>2</a:t>
            </a:r>
            <a:r>
              <a:rPr lang="ja-JP" altLang="en-US" sz="2400" dirty="0" smtClean="0"/>
              <a:t>はシステムコール、</a:t>
            </a:r>
            <a:r>
              <a:rPr lang="en-US" altLang="ja-JP" sz="2400" dirty="0" smtClean="0"/>
              <a:t>3</a:t>
            </a:r>
            <a:r>
              <a:rPr lang="ja-JP" altLang="en-US" sz="2400" dirty="0" smtClean="0"/>
              <a:t>はライブラリ関数となっている。</a:t>
            </a:r>
            <a:endParaRPr kumimoji="1" lang="ja-JP" alt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dirty="0" smtClean="0"/>
              <a:t>システムコールのエラーメッセージ</a:t>
            </a:r>
            <a:endParaRPr kumimoji="1" lang="ja-JP" altLang="en-US" dirty="0"/>
          </a:p>
        </p:txBody>
      </p:sp>
      <p:sp>
        <p:nvSpPr>
          <p:cNvPr id="3" name="コンテンツ プレースホルダ 2"/>
          <p:cNvSpPr>
            <a:spLocks noGrp="1"/>
          </p:cNvSpPr>
          <p:nvPr>
            <p:ph idx="1"/>
          </p:nvPr>
        </p:nvSpPr>
        <p:spPr/>
        <p:txBody>
          <a:bodyPr>
            <a:normAutofit fontScale="92500" lnSpcReduction="20000"/>
          </a:bodyPr>
          <a:lstStyle/>
          <a:p>
            <a:r>
              <a:rPr kumimoji="1" lang="ja-JP" altLang="en-US" dirty="0" smtClean="0"/>
              <a:t>システムコールがエラーになった場合、エラー番号が</a:t>
            </a:r>
            <a:r>
              <a:rPr kumimoji="1" lang="en-US" altLang="ja-JP" dirty="0" err="1" smtClean="0"/>
              <a:t>errno</a:t>
            </a:r>
            <a:r>
              <a:rPr kumimoji="1" lang="ja-JP" altLang="en-US" dirty="0" smtClean="0"/>
              <a:t>という外部変数に代入されている。この番号を用いてエラーメッセージを出力するライブラリ関数</a:t>
            </a:r>
            <a:r>
              <a:rPr kumimoji="1" lang="en-US" altLang="ja-JP" dirty="0" err="1" smtClean="0"/>
              <a:t>perror</a:t>
            </a:r>
            <a:r>
              <a:rPr kumimoji="1" lang="ja-JP" altLang="en-US" dirty="0" smtClean="0"/>
              <a:t>があるのでそれを用いる。（</a:t>
            </a:r>
            <a:r>
              <a:rPr kumimoji="1" lang="en-US" altLang="ja-JP" dirty="0" err="1" smtClean="0"/>
              <a:t>errno</a:t>
            </a:r>
            <a:r>
              <a:rPr kumimoji="1" lang="ja-JP" altLang="en-US" dirty="0" smtClean="0"/>
              <a:t>を直接使うプログラムは書かないほうがよい。）</a:t>
            </a:r>
            <a:endParaRPr kumimoji="1" lang="en-US" altLang="ja-JP" dirty="0" smtClean="0"/>
          </a:p>
          <a:p>
            <a:r>
              <a:rPr lang="ja-JP" altLang="en-US" dirty="0" smtClean="0"/>
              <a:t>例えば、</a:t>
            </a:r>
            <a:r>
              <a:rPr lang="en-US" altLang="ja-JP" dirty="0" smtClean="0"/>
              <a:t>$ </a:t>
            </a:r>
            <a:r>
              <a:rPr lang="en-US" altLang="ja-JP" dirty="0" err="1" smtClean="0"/>
              <a:t>ls</a:t>
            </a:r>
            <a:r>
              <a:rPr lang="en-US" altLang="ja-JP" dirty="0" smtClean="0"/>
              <a:t> </a:t>
            </a:r>
            <a:r>
              <a:rPr lang="en-US" altLang="ja-JP" dirty="0" err="1" smtClean="0"/>
              <a:t>aaa</a:t>
            </a:r>
            <a:r>
              <a:rPr lang="en-US" altLang="ja-JP" dirty="0" smtClean="0"/>
              <a:t> </a:t>
            </a:r>
            <a:r>
              <a:rPr lang="ja-JP" altLang="en-US" dirty="0" smtClean="0"/>
              <a:t>のように、</a:t>
            </a:r>
            <a:r>
              <a:rPr lang="en-US" altLang="ja-JP" dirty="0" err="1" smtClean="0"/>
              <a:t>ls</a:t>
            </a:r>
            <a:r>
              <a:rPr lang="ja-JP" altLang="en-US" dirty="0" smtClean="0"/>
              <a:t>コマンドで存在しないファイル名を指定した場合に、そのようなファイルは存在しないといったメッセージが出力される。ここでは</a:t>
            </a:r>
            <a:r>
              <a:rPr lang="en-US" altLang="ja-JP" dirty="0" err="1" smtClean="0"/>
              <a:t>perror</a:t>
            </a:r>
            <a:r>
              <a:rPr lang="ja-JP" altLang="en-US" dirty="0" smtClean="0"/>
              <a:t>関数が用いられている。（そのように</a:t>
            </a:r>
            <a:r>
              <a:rPr lang="en-US" altLang="ja-JP" dirty="0" err="1" smtClean="0"/>
              <a:t>ls</a:t>
            </a:r>
            <a:r>
              <a:rPr lang="ja-JP" altLang="en-US" dirty="0" smtClean="0"/>
              <a:t>コマンドが実装されている。）</a:t>
            </a:r>
            <a:endParaRPr lang="en-US" altLang="ja-JP"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ライブラリ関数</a:t>
            </a:r>
            <a:r>
              <a:rPr kumimoji="1" lang="en-US" altLang="ja-JP" dirty="0" err="1" smtClean="0"/>
              <a:t>perror</a:t>
            </a:r>
            <a:endParaRPr kumimoji="1" lang="ja-JP" altLang="en-US" dirty="0"/>
          </a:p>
        </p:txBody>
      </p:sp>
      <p:sp>
        <p:nvSpPr>
          <p:cNvPr id="4" name="テキスト ボックス 3"/>
          <p:cNvSpPr txBox="1"/>
          <p:nvPr/>
        </p:nvSpPr>
        <p:spPr>
          <a:xfrm>
            <a:off x="785786" y="1714488"/>
            <a:ext cx="7072362" cy="2677656"/>
          </a:xfrm>
          <a:prstGeom prst="rect">
            <a:avLst/>
          </a:prstGeom>
          <a:noFill/>
        </p:spPr>
        <p:txBody>
          <a:bodyPr wrap="square" rtlCol="0">
            <a:spAutoFit/>
          </a:bodyPr>
          <a:lstStyle/>
          <a:p>
            <a:r>
              <a:rPr lang="en-US" altLang="ja-JP" sz="2800" dirty="0" smtClean="0"/>
              <a:t>void </a:t>
            </a:r>
            <a:r>
              <a:rPr lang="en-US" altLang="ja-JP" sz="2800" dirty="0" err="1" smtClean="0"/>
              <a:t>perror</a:t>
            </a:r>
            <a:r>
              <a:rPr lang="en-US" altLang="ja-JP" sz="2800" dirty="0" smtClean="0"/>
              <a:t> (char *s)</a:t>
            </a:r>
          </a:p>
          <a:p>
            <a:endParaRPr lang="en-US" altLang="ja-JP" sz="2800" dirty="0" smtClean="0"/>
          </a:p>
          <a:p>
            <a:r>
              <a:rPr lang="ja-JP" altLang="en-US" sz="2800" dirty="0" smtClean="0"/>
              <a:t>ライブラリ関数</a:t>
            </a:r>
            <a:r>
              <a:rPr lang="en-US" altLang="ja-JP" sz="2800" dirty="0" err="1" smtClean="0"/>
              <a:t>perror</a:t>
            </a:r>
            <a:r>
              <a:rPr lang="ja-JP" altLang="en-US" sz="2800" dirty="0" smtClean="0"/>
              <a:t>は文字列（</a:t>
            </a:r>
            <a:r>
              <a:rPr lang="en-US" altLang="ja-JP" sz="2800" dirty="0" smtClean="0"/>
              <a:t>char</a:t>
            </a:r>
            <a:r>
              <a:rPr lang="ja-JP" altLang="en-US" sz="2800" dirty="0" err="1" smtClean="0"/>
              <a:t>への</a:t>
            </a:r>
            <a:r>
              <a:rPr lang="ja-JP" altLang="en-US" sz="2800" dirty="0" smtClean="0"/>
              <a:t>ポインタ）を引数として受け取り、それを出力し、コロンと空白を出力したあとにシステムコールのエラーメッセージを表示する。</a:t>
            </a:r>
            <a:endParaRPr lang="en-US" altLang="ja-JP" sz="2800"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285720" y="142876"/>
            <a:ext cx="8572560" cy="857232"/>
          </a:xfrm>
        </p:spPr>
        <p:txBody>
          <a:bodyPr>
            <a:noAutofit/>
          </a:bodyPr>
          <a:lstStyle/>
          <a:p>
            <a:r>
              <a:rPr lang="ja-JP" altLang="en-US" sz="3200" dirty="0" smtClean="0"/>
              <a:t>ファイルの１文字目を表示する例</a:t>
            </a:r>
            <a:r>
              <a:rPr lang="en-US" altLang="ja-JP" sz="3200" dirty="0" smtClean="0"/>
              <a:t/>
            </a:r>
            <a:br>
              <a:rPr lang="en-US" altLang="ja-JP" sz="3200" dirty="0" smtClean="0"/>
            </a:br>
            <a:r>
              <a:rPr lang="ja-JP" altLang="en-US" sz="3200" dirty="0" smtClean="0"/>
              <a:t>（入力して実行、後で詳述）</a:t>
            </a:r>
            <a:endParaRPr kumimoji="1" lang="ja-JP" altLang="en-US" sz="3200" dirty="0"/>
          </a:p>
        </p:txBody>
      </p:sp>
      <p:sp>
        <p:nvSpPr>
          <p:cNvPr id="5" name="テキスト ボックス 4"/>
          <p:cNvSpPr txBox="1"/>
          <p:nvPr/>
        </p:nvSpPr>
        <p:spPr>
          <a:xfrm>
            <a:off x="285720" y="1181065"/>
            <a:ext cx="3929090" cy="5632311"/>
          </a:xfrm>
          <a:prstGeom prst="rect">
            <a:avLst/>
          </a:prstGeom>
          <a:noFill/>
          <a:ln>
            <a:solidFill>
              <a:schemeClr val="tx1"/>
            </a:solidFill>
          </a:ln>
        </p:spPr>
        <p:txBody>
          <a:bodyPr wrap="square" rtlCol="0">
            <a:spAutoFit/>
          </a:bodyPr>
          <a:lstStyle/>
          <a:p>
            <a:r>
              <a:rPr lang="en-US" altLang="ja-JP" sz="2400" dirty="0" smtClean="0"/>
              <a:t>#include &lt;</a:t>
            </a:r>
            <a:r>
              <a:rPr lang="en-US" altLang="ja-JP" sz="2400" dirty="0" err="1" smtClean="0"/>
              <a:t>stdio.h</a:t>
            </a:r>
            <a:r>
              <a:rPr lang="en-US" altLang="ja-JP" sz="2400" dirty="0" smtClean="0"/>
              <a:t>&gt;</a:t>
            </a:r>
          </a:p>
          <a:p>
            <a:r>
              <a:rPr lang="en-US" altLang="ja-JP" sz="2400" dirty="0" smtClean="0"/>
              <a:t>#include &lt;sys/</a:t>
            </a:r>
            <a:r>
              <a:rPr lang="en-US" altLang="ja-JP" sz="2400" dirty="0" err="1" smtClean="0"/>
              <a:t>types.h</a:t>
            </a:r>
            <a:r>
              <a:rPr lang="en-US" altLang="ja-JP" sz="2400" dirty="0" smtClean="0"/>
              <a:t>&gt;</a:t>
            </a:r>
          </a:p>
          <a:p>
            <a:r>
              <a:rPr lang="en-US" altLang="ja-JP" sz="2400" dirty="0" smtClean="0"/>
              <a:t>#include &lt;sys/</a:t>
            </a:r>
            <a:r>
              <a:rPr lang="en-US" altLang="ja-JP" sz="2400" dirty="0" err="1" smtClean="0"/>
              <a:t>stat.h</a:t>
            </a:r>
            <a:r>
              <a:rPr lang="en-US" altLang="ja-JP" sz="2400" dirty="0" smtClean="0"/>
              <a:t>&gt;</a:t>
            </a:r>
          </a:p>
          <a:p>
            <a:r>
              <a:rPr lang="en-US" altLang="ja-JP" sz="2400" dirty="0" smtClean="0"/>
              <a:t>#include &lt;</a:t>
            </a:r>
            <a:r>
              <a:rPr lang="en-US" altLang="ja-JP" sz="2400" dirty="0" err="1" smtClean="0"/>
              <a:t>fcntl.h</a:t>
            </a:r>
            <a:r>
              <a:rPr lang="en-US" altLang="ja-JP" sz="2400" dirty="0" smtClean="0"/>
              <a:t>&gt;</a:t>
            </a:r>
          </a:p>
          <a:p>
            <a:r>
              <a:rPr lang="en-US" altLang="ja-JP" sz="2400" dirty="0" smtClean="0"/>
              <a:t>#include &lt;</a:t>
            </a:r>
            <a:r>
              <a:rPr lang="en-US" altLang="ja-JP" sz="2400" dirty="0" err="1" smtClean="0"/>
              <a:t>unistd.h</a:t>
            </a:r>
            <a:r>
              <a:rPr lang="en-US" altLang="ja-JP" sz="2400" dirty="0" smtClean="0"/>
              <a:t>&gt;</a:t>
            </a:r>
          </a:p>
          <a:p>
            <a:r>
              <a:rPr lang="en-US" altLang="ja-JP" sz="2400" dirty="0" smtClean="0"/>
              <a:t>#include &lt;</a:t>
            </a:r>
            <a:r>
              <a:rPr lang="en-US" altLang="ja-JP" sz="2400" dirty="0" err="1" smtClean="0"/>
              <a:t>stdlib.h</a:t>
            </a:r>
            <a:r>
              <a:rPr lang="en-US" altLang="ja-JP" sz="2400" dirty="0" smtClean="0"/>
              <a:t>&gt;</a:t>
            </a:r>
            <a:endParaRPr lang="en-US" altLang="ja-JP" sz="2400" dirty="0" smtClean="0"/>
          </a:p>
          <a:p>
            <a:r>
              <a:rPr lang="en-US" altLang="ja-JP" sz="2400" dirty="0" smtClean="0"/>
              <a:t>#define ERR -1</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a:t>
            </a:r>
            <a:r>
              <a:rPr lang="en-US" altLang="ja-JP" sz="2400" dirty="0" err="1" smtClean="0"/>
              <a:t>fd</a:t>
            </a:r>
            <a:r>
              <a:rPr lang="en-US" altLang="ja-JP" sz="2400" dirty="0" smtClean="0"/>
              <a:t>, n;</a:t>
            </a:r>
          </a:p>
          <a:p>
            <a:r>
              <a:rPr lang="en-US" altLang="ja-JP" sz="2400" dirty="0" smtClean="0"/>
              <a:t>  char c;</a:t>
            </a:r>
          </a:p>
          <a:p>
            <a:r>
              <a:rPr lang="en-US" altLang="ja-JP" sz="2400" dirty="0" smtClean="0"/>
              <a:t>  if ((</a:t>
            </a:r>
            <a:r>
              <a:rPr lang="en-US" altLang="ja-JP" sz="2400" dirty="0" err="1" smtClean="0"/>
              <a:t>fd</a:t>
            </a:r>
            <a:r>
              <a:rPr lang="en-US" altLang="ja-JP" sz="2400" dirty="0" smtClean="0"/>
              <a:t> = </a:t>
            </a:r>
            <a:r>
              <a:rPr lang="en-US" altLang="ja-JP" sz="2400" dirty="0" smtClean="0">
                <a:solidFill>
                  <a:srgbClr val="FF0000"/>
                </a:solidFill>
              </a:rPr>
              <a:t>open</a:t>
            </a:r>
            <a:r>
              <a:rPr lang="en-US" altLang="ja-JP" sz="2400" dirty="0" smtClean="0"/>
              <a:t> ("test", </a:t>
            </a:r>
          </a:p>
          <a:p>
            <a:r>
              <a:rPr lang="en-US" altLang="ja-JP" sz="2400" dirty="0" smtClean="0"/>
              <a:t>                            O_RDONLY))</a:t>
            </a:r>
          </a:p>
          <a:p>
            <a:r>
              <a:rPr lang="en-US" altLang="ja-JP" sz="2400" dirty="0" smtClean="0"/>
              <a:t>       == ERR) {</a:t>
            </a:r>
          </a:p>
          <a:p>
            <a:r>
              <a:rPr lang="en-US" altLang="ja-JP" sz="2400" dirty="0" smtClean="0"/>
              <a:t>    </a:t>
            </a:r>
            <a:r>
              <a:rPr lang="en-US" altLang="ja-JP" sz="2400" dirty="0" err="1" smtClean="0"/>
              <a:t>perror</a:t>
            </a:r>
            <a:r>
              <a:rPr lang="en-US" altLang="ja-JP" sz="2400" dirty="0" smtClean="0"/>
              <a:t> ("open");</a:t>
            </a:r>
          </a:p>
          <a:p>
            <a:r>
              <a:rPr lang="en-US" altLang="ja-JP" sz="2400" dirty="0" smtClean="0"/>
              <a:t>    </a:t>
            </a:r>
            <a:r>
              <a:rPr lang="en-US" altLang="ja-JP" sz="2400" dirty="0" smtClean="0">
                <a:solidFill>
                  <a:srgbClr val="FF0000"/>
                </a:solidFill>
              </a:rPr>
              <a:t>exit</a:t>
            </a:r>
            <a:r>
              <a:rPr lang="en-US" altLang="ja-JP" sz="2400" dirty="0" smtClean="0"/>
              <a:t>(1</a:t>
            </a:r>
            <a:r>
              <a:rPr lang="en-US" altLang="ja-JP" sz="2400" dirty="0" smtClean="0"/>
              <a:t>);}</a:t>
            </a:r>
            <a:endParaRPr lang="en-US" altLang="ja-JP" sz="2400" dirty="0" smtClean="0"/>
          </a:p>
        </p:txBody>
      </p:sp>
      <p:sp>
        <p:nvSpPr>
          <p:cNvPr id="7" name="正方形/長方形 6"/>
          <p:cNvSpPr/>
          <p:nvPr/>
        </p:nvSpPr>
        <p:spPr>
          <a:xfrm>
            <a:off x="4500562" y="1237855"/>
            <a:ext cx="4429156" cy="5262979"/>
          </a:xfrm>
          <a:prstGeom prst="rect">
            <a:avLst/>
          </a:prstGeom>
          <a:ln>
            <a:solidFill>
              <a:schemeClr val="tx1"/>
            </a:solidFill>
          </a:ln>
        </p:spPr>
        <p:txBody>
          <a:bodyPr wrap="square">
            <a:spAutoFit/>
          </a:bodyPr>
          <a:lstStyle/>
          <a:p>
            <a:r>
              <a:rPr lang="en-US" altLang="ja-JP" sz="2400" dirty="0" smtClean="0"/>
              <a:t>/* </a:t>
            </a:r>
            <a:r>
              <a:rPr lang="ja-JP" altLang="en-US" sz="2400" dirty="0" smtClean="0"/>
              <a:t>続き </a:t>
            </a:r>
            <a:r>
              <a:rPr lang="en-US" altLang="ja-JP" sz="2400" dirty="0" smtClean="0"/>
              <a:t>*/</a:t>
            </a:r>
          </a:p>
          <a:p>
            <a:r>
              <a:rPr lang="en-US" altLang="ja-JP" sz="2400" dirty="0" smtClean="0"/>
              <a:t>  if ( (n = </a:t>
            </a:r>
            <a:r>
              <a:rPr lang="en-US" altLang="ja-JP" sz="2400" dirty="0" smtClean="0">
                <a:solidFill>
                  <a:srgbClr val="FF0000"/>
                </a:solidFill>
              </a:rPr>
              <a:t>read</a:t>
            </a:r>
            <a:r>
              <a:rPr lang="en-US" altLang="ja-JP" sz="2400" dirty="0" smtClean="0"/>
              <a:t> (</a:t>
            </a:r>
            <a:r>
              <a:rPr lang="en-US" altLang="ja-JP" sz="2400" dirty="0" err="1" smtClean="0"/>
              <a:t>fd</a:t>
            </a:r>
            <a:r>
              <a:rPr lang="en-US" altLang="ja-JP" sz="2400" dirty="0" smtClean="0"/>
              <a:t>, &amp;c, 1) ) &gt; 0 )</a:t>
            </a:r>
          </a:p>
          <a:p>
            <a:r>
              <a:rPr lang="en-US" altLang="ja-JP" sz="2400" dirty="0" smtClean="0"/>
              <a:t>    </a:t>
            </a:r>
            <a:r>
              <a:rPr lang="en-US" altLang="ja-JP" sz="2400" dirty="0" err="1" smtClean="0"/>
              <a:t>printf</a:t>
            </a:r>
            <a:r>
              <a:rPr lang="en-US" altLang="ja-JP" sz="2400" dirty="0" smtClean="0"/>
              <a:t> ("1</a:t>
            </a:r>
            <a:r>
              <a:rPr lang="ja-JP" altLang="en-US" sz="2400" dirty="0" smtClean="0"/>
              <a:t>文字目は</a:t>
            </a:r>
            <a:r>
              <a:rPr lang="en-US" altLang="ja-JP" sz="2400" dirty="0" smtClean="0"/>
              <a:t>%c</a:t>
            </a:r>
            <a:r>
              <a:rPr lang="ja-JP" altLang="en-US" sz="2400" dirty="0" smtClean="0"/>
              <a:t>です。</a:t>
            </a:r>
            <a:r>
              <a:rPr lang="en-US" altLang="ja-JP" sz="2400" dirty="0" smtClean="0"/>
              <a:t>\n",</a:t>
            </a:r>
          </a:p>
          <a:p>
            <a:r>
              <a:rPr lang="en-US" altLang="ja-JP" sz="2400" dirty="0" smtClean="0"/>
              <a:t>        </a:t>
            </a:r>
            <a:r>
              <a:rPr lang="ja-JP" altLang="en-US" sz="2400" dirty="0" smtClean="0"/>
              <a:t>     </a:t>
            </a:r>
            <a:r>
              <a:rPr lang="en-US" altLang="ja-JP" sz="2400" dirty="0" smtClean="0"/>
              <a:t>    c);</a:t>
            </a:r>
          </a:p>
          <a:p>
            <a:r>
              <a:rPr lang="en-US" altLang="ja-JP" sz="2400" dirty="0" smtClean="0"/>
              <a:t>  if (n==ERR) {</a:t>
            </a:r>
          </a:p>
          <a:p>
            <a:r>
              <a:rPr lang="en-US" altLang="ja-JP" sz="2400" dirty="0" smtClean="0"/>
              <a:t>    </a:t>
            </a:r>
            <a:r>
              <a:rPr lang="en-US" altLang="ja-JP" sz="2400" dirty="0" err="1" smtClean="0"/>
              <a:t>perror</a:t>
            </a:r>
            <a:r>
              <a:rPr lang="en-US" altLang="ja-JP" sz="2400" dirty="0" smtClean="0"/>
              <a:t> ("read");</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a:p>
            <a:r>
              <a:rPr lang="en-US" altLang="ja-JP" sz="2400" dirty="0" smtClean="0"/>
              <a:t>  if (</a:t>
            </a:r>
            <a:r>
              <a:rPr lang="en-US" altLang="ja-JP" sz="2400" dirty="0" smtClean="0">
                <a:solidFill>
                  <a:srgbClr val="FF0000"/>
                </a:solidFill>
              </a:rPr>
              <a:t>close </a:t>
            </a:r>
            <a:r>
              <a:rPr lang="en-US" altLang="ja-JP" sz="2400" dirty="0" smtClean="0"/>
              <a:t>(</a:t>
            </a:r>
            <a:r>
              <a:rPr lang="en-US" altLang="ja-JP" sz="2400" dirty="0" err="1" smtClean="0"/>
              <a:t>fd</a:t>
            </a:r>
            <a:r>
              <a:rPr lang="en-US" altLang="ja-JP" sz="2400" dirty="0" smtClean="0"/>
              <a:t>) == ERR) {</a:t>
            </a:r>
          </a:p>
          <a:p>
            <a:r>
              <a:rPr lang="en-US" altLang="ja-JP" sz="2400" dirty="0" smtClean="0"/>
              <a:t>    </a:t>
            </a:r>
            <a:r>
              <a:rPr lang="en-US" altLang="ja-JP" sz="2400" dirty="0" err="1" smtClean="0"/>
              <a:t>perror</a:t>
            </a:r>
            <a:r>
              <a:rPr lang="en-US" altLang="ja-JP" sz="2400" dirty="0" smtClean="0"/>
              <a:t> ("close");</a:t>
            </a:r>
          </a:p>
          <a:p>
            <a:r>
              <a:rPr lang="en-US" altLang="ja-JP" sz="2400" dirty="0" smtClean="0"/>
              <a:t>    </a:t>
            </a:r>
            <a:r>
              <a:rPr lang="en-US" altLang="ja-JP" sz="2400" dirty="0" smtClean="0">
                <a:solidFill>
                  <a:srgbClr val="FF0000"/>
                </a:solidFill>
              </a:rPr>
              <a:t>exit</a:t>
            </a:r>
            <a:r>
              <a:rPr lang="en-US" altLang="ja-JP" sz="2400" dirty="0" smtClean="0"/>
              <a:t>(1);</a:t>
            </a:r>
          </a:p>
          <a:p>
            <a:r>
              <a:rPr lang="en-US" altLang="ja-JP" sz="2400" dirty="0" smtClean="0"/>
              <a:t>  }</a:t>
            </a:r>
          </a:p>
          <a:p>
            <a:r>
              <a:rPr lang="en-US" altLang="ja-JP" sz="2400" dirty="0" smtClean="0"/>
              <a:t>  return 0;</a:t>
            </a:r>
          </a:p>
          <a:p>
            <a:r>
              <a:rPr lang="en-US" altLang="ja-JP" sz="2400" dirty="0" smtClean="0"/>
              <a:t>}</a:t>
            </a:r>
            <a:endParaRPr lang="ja-JP" altLang="en-US" sz="2400"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演習課題</a:t>
            </a:r>
            <a:endParaRPr kumimoji="1" lang="ja-JP" altLang="en-US" dirty="0"/>
          </a:p>
        </p:txBody>
      </p:sp>
      <p:sp>
        <p:nvSpPr>
          <p:cNvPr id="5" name="テキスト ボックス 4"/>
          <p:cNvSpPr txBox="1"/>
          <p:nvPr/>
        </p:nvSpPr>
        <p:spPr>
          <a:xfrm>
            <a:off x="642910" y="1571612"/>
            <a:ext cx="8001024" cy="1569660"/>
          </a:xfrm>
          <a:prstGeom prst="rect">
            <a:avLst/>
          </a:prstGeom>
          <a:noFill/>
        </p:spPr>
        <p:txBody>
          <a:bodyPr wrap="square" rtlCol="0">
            <a:spAutoFit/>
          </a:bodyPr>
          <a:lstStyle/>
          <a:p>
            <a:r>
              <a:rPr kumimoji="1" lang="ja-JP" altLang="en-US" sz="2400" dirty="0" smtClean="0"/>
              <a:t>さきほどのプログラムを参考にして、テキストファイルの２文字目まで表示するプログラムを</a:t>
            </a:r>
            <a:r>
              <a:rPr lang="en-US" altLang="ja-JP" sz="2400" dirty="0" smtClean="0"/>
              <a:t>open</a:t>
            </a:r>
            <a:r>
              <a:rPr lang="ja-JP" altLang="en-US" sz="2400" dirty="0" smtClean="0"/>
              <a:t>システムコール</a:t>
            </a:r>
            <a:r>
              <a:rPr lang="en-US" altLang="ja-JP" sz="2400" dirty="0" smtClean="0"/>
              <a:t>, read</a:t>
            </a:r>
            <a:r>
              <a:rPr lang="ja-JP" altLang="en-US" sz="2400" dirty="0" smtClean="0"/>
              <a:t>システムコールを使って作成せよ。</a:t>
            </a:r>
            <a:endParaRPr lang="en-US" altLang="ja-JP" sz="2400" dirty="0" smtClean="0"/>
          </a:p>
          <a:p>
            <a:r>
              <a:rPr lang="ja-JP" altLang="en-US" sz="2400" dirty="0" smtClean="0"/>
              <a:t>（さきほどと同様、</a:t>
            </a:r>
            <a:r>
              <a:rPr kumimoji="1" lang="en-US" altLang="ja-JP" sz="2400" dirty="0" err="1" smtClean="0"/>
              <a:t>printf</a:t>
            </a:r>
            <a:r>
              <a:rPr kumimoji="1" lang="ja-JP" altLang="en-US" sz="2400" dirty="0" smtClean="0"/>
              <a:t>は使うことにする。）</a:t>
            </a:r>
            <a:endParaRPr kumimoji="1" lang="ja-JP" altLang="en-US" sz="24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ファイル、プロセス</a:t>
            </a:r>
            <a:endParaRPr kumimoji="1" lang="ja-JP" altLang="en-US" dirty="0"/>
          </a:p>
        </p:txBody>
      </p:sp>
      <p:sp>
        <p:nvSpPr>
          <p:cNvPr id="3" name="コンテンツ プレースホルダ 2"/>
          <p:cNvSpPr>
            <a:spLocks noGrp="1"/>
          </p:cNvSpPr>
          <p:nvPr>
            <p:ph idx="1"/>
          </p:nvPr>
        </p:nvSpPr>
        <p:spPr/>
        <p:txBody>
          <a:bodyPr/>
          <a:lstStyle/>
          <a:p>
            <a:r>
              <a:rPr lang="en-US" altLang="ja-JP" dirty="0" smtClean="0"/>
              <a:t>OS(Linux)</a:t>
            </a:r>
            <a:r>
              <a:rPr lang="ja-JP" altLang="en-US" dirty="0" smtClean="0"/>
              <a:t>は、ファイルとプロセスを木構造で管理する。</a:t>
            </a:r>
            <a:endParaRPr lang="en-US" altLang="ja-JP" dirty="0" smtClean="0"/>
          </a:p>
          <a:p>
            <a:r>
              <a:rPr kumimoji="1" lang="ja-JP" altLang="en-US" dirty="0" smtClean="0"/>
              <a:t>まず、ファイルの木構造について学習する。</a:t>
            </a:r>
            <a:endParaRPr kumimoji="1" lang="ja-JP"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ファイル操作のシステムコール</a:t>
            </a:r>
            <a:endParaRPr kumimoji="1" lang="ja-JP" altLang="en-US" dirty="0"/>
          </a:p>
        </p:txBody>
      </p:sp>
      <p:sp>
        <p:nvSpPr>
          <p:cNvPr id="4" name="テキスト ボックス 3"/>
          <p:cNvSpPr txBox="1"/>
          <p:nvPr/>
        </p:nvSpPr>
        <p:spPr>
          <a:xfrm>
            <a:off x="1285852" y="1500174"/>
            <a:ext cx="6715172" cy="1384995"/>
          </a:xfrm>
          <a:prstGeom prst="rect">
            <a:avLst/>
          </a:prstGeom>
          <a:noFill/>
        </p:spPr>
        <p:txBody>
          <a:bodyPr wrap="square" rtlCol="0">
            <a:spAutoFit/>
          </a:bodyPr>
          <a:lstStyle/>
          <a:p>
            <a:r>
              <a:rPr kumimoji="1" lang="ja-JP" altLang="en-US" sz="2800" dirty="0" smtClean="0"/>
              <a:t>ファイルは</a:t>
            </a:r>
            <a:r>
              <a:rPr lang="en-US" altLang="ja-JP" sz="2800" dirty="0" smtClean="0"/>
              <a:t>OS(Linux)</a:t>
            </a:r>
            <a:r>
              <a:rPr lang="ja-JP" altLang="en-US" sz="2800" dirty="0" smtClean="0"/>
              <a:t>が管理している。</a:t>
            </a:r>
            <a:endParaRPr lang="en-US" altLang="ja-JP" sz="2800" dirty="0" smtClean="0"/>
          </a:p>
          <a:p>
            <a:r>
              <a:rPr kumimoji="1" lang="ja-JP" altLang="en-US" sz="2800" dirty="0" smtClean="0"/>
              <a:t>ファイルの操作等を行うためのシステムコールが</a:t>
            </a:r>
            <a:r>
              <a:rPr lang="ja-JP" altLang="en-US" sz="2800" dirty="0" smtClean="0"/>
              <a:t>提供される。</a:t>
            </a:r>
            <a:endParaRPr kumimoji="1" lang="ja-JP" altLang="en-US" sz="2800" dirty="0"/>
          </a:p>
        </p:txBody>
      </p:sp>
      <p:sp>
        <p:nvSpPr>
          <p:cNvPr id="5" name="テキスト ボックス 4"/>
          <p:cNvSpPr txBox="1"/>
          <p:nvPr/>
        </p:nvSpPr>
        <p:spPr>
          <a:xfrm>
            <a:off x="1142976" y="3071810"/>
            <a:ext cx="7000924" cy="954107"/>
          </a:xfrm>
          <a:prstGeom prst="rect">
            <a:avLst/>
          </a:prstGeom>
          <a:noFill/>
        </p:spPr>
        <p:txBody>
          <a:bodyPr wrap="square" rtlCol="0">
            <a:spAutoFit/>
          </a:bodyPr>
          <a:lstStyle/>
          <a:p>
            <a:r>
              <a:rPr lang="en-US" altLang="ja-JP" sz="2800" dirty="0" smtClean="0"/>
              <a:t> open, </a:t>
            </a:r>
            <a:r>
              <a:rPr lang="en-US" altLang="ja-JP" sz="2800" dirty="0" err="1" smtClean="0"/>
              <a:t>creat</a:t>
            </a:r>
            <a:r>
              <a:rPr lang="en-US" altLang="ja-JP" sz="2800" dirty="0" smtClean="0"/>
              <a:t>, close, read, write, </a:t>
            </a:r>
            <a:r>
              <a:rPr lang="en-US" altLang="ja-JP" sz="2800" dirty="0" err="1" smtClean="0"/>
              <a:t>lseek</a:t>
            </a:r>
            <a:r>
              <a:rPr lang="en-US" altLang="ja-JP" sz="2800" dirty="0" smtClean="0"/>
              <a:t>, dup, dup2</a:t>
            </a:r>
            <a:r>
              <a:rPr lang="ja-JP" altLang="en-US" sz="2800" dirty="0" smtClean="0"/>
              <a:t>等がある。</a:t>
            </a:r>
            <a:endParaRPr kumimoji="1" lang="ja-JP" altLang="en-US" sz="2800" dirty="0"/>
          </a:p>
        </p:txBody>
      </p:sp>
      <p:sp>
        <p:nvSpPr>
          <p:cNvPr id="6" name="テキスト ボックス 5"/>
          <p:cNvSpPr txBox="1"/>
          <p:nvPr/>
        </p:nvSpPr>
        <p:spPr>
          <a:xfrm>
            <a:off x="1214414" y="5000636"/>
            <a:ext cx="6357982" cy="1384995"/>
          </a:xfrm>
          <a:prstGeom prst="rect">
            <a:avLst/>
          </a:prstGeom>
          <a:noFill/>
        </p:spPr>
        <p:txBody>
          <a:bodyPr wrap="square" rtlCol="0">
            <a:spAutoFit/>
          </a:bodyPr>
          <a:lstStyle/>
          <a:p>
            <a:r>
              <a:rPr kumimoji="1" lang="ja-JP" altLang="en-US" sz="2800" dirty="0" smtClean="0"/>
              <a:t>今日は</a:t>
            </a:r>
            <a:r>
              <a:rPr kumimoji="1" lang="en-US" altLang="ja-JP" sz="2800" dirty="0" smtClean="0"/>
              <a:t>open, close, read, write</a:t>
            </a:r>
            <a:r>
              <a:rPr kumimoji="1" lang="ja-JP" altLang="en-US" sz="2800" dirty="0" smtClean="0"/>
              <a:t>の解説を行う。この前に、まず、ファイルの基本</a:t>
            </a:r>
            <a:r>
              <a:rPr lang="ja-JP" altLang="en-US" sz="2800" dirty="0" smtClean="0"/>
              <a:t>事項</a:t>
            </a:r>
            <a:r>
              <a:rPr kumimoji="1" lang="ja-JP" altLang="en-US" sz="2800" dirty="0" smtClean="0"/>
              <a:t>の説明を行う。</a:t>
            </a:r>
            <a:endParaRPr kumimoji="1" lang="ja-JP" altLang="en-US" sz="2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ファイルとは</a:t>
            </a:r>
            <a:endParaRPr kumimoji="1" lang="ja-JP" altLang="en-US" dirty="0"/>
          </a:p>
        </p:txBody>
      </p:sp>
      <p:sp>
        <p:nvSpPr>
          <p:cNvPr id="4" name="テキスト ボックス 3"/>
          <p:cNvSpPr txBox="1"/>
          <p:nvPr/>
        </p:nvSpPr>
        <p:spPr>
          <a:xfrm>
            <a:off x="785786" y="1500174"/>
            <a:ext cx="7715304" cy="4832092"/>
          </a:xfrm>
          <a:prstGeom prst="rect">
            <a:avLst/>
          </a:prstGeom>
          <a:noFill/>
        </p:spPr>
        <p:txBody>
          <a:bodyPr wrap="square" rtlCol="0">
            <a:spAutoFit/>
          </a:bodyPr>
          <a:lstStyle/>
          <a:p>
            <a:r>
              <a:rPr kumimoji="1" lang="en-US" altLang="ja-JP" sz="2800" dirty="0" smtClean="0"/>
              <a:t>UNIX</a:t>
            </a:r>
            <a:r>
              <a:rPr lang="ja-JP" altLang="en-US" sz="2800" dirty="0" smtClean="0"/>
              <a:t>系</a:t>
            </a:r>
            <a:r>
              <a:rPr lang="en-US" altLang="ja-JP" sz="2800" dirty="0" smtClean="0"/>
              <a:t>OS</a:t>
            </a:r>
            <a:r>
              <a:rPr lang="ja-JP" altLang="en-US" sz="2800" dirty="0" smtClean="0"/>
              <a:t>ではファイルは１つの木構造で管理される。ルートディレクトリ以外は、すべてのファイルには親（ディレクトリ）がある。</a:t>
            </a:r>
            <a:endParaRPr lang="en-US" altLang="ja-JP" sz="2800" dirty="0" smtClean="0"/>
          </a:p>
          <a:p>
            <a:endParaRPr kumimoji="1" lang="en-US" altLang="ja-JP" sz="2800" dirty="0" smtClean="0"/>
          </a:p>
          <a:p>
            <a:r>
              <a:rPr lang="ja-JP" altLang="en-US" sz="2800" dirty="0" smtClean="0"/>
              <a:t>ディレクトリもファイルの一種であり、そのディレクトリの子供のファイルの名前を保持しているファイルである。ディレクトリファイルも、（ルートディレクトリ以外は）何らかのディレクトリの子供である。</a:t>
            </a:r>
            <a:endParaRPr lang="en-US" altLang="ja-JP" sz="2800" dirty="0" smtClean="0"/>
          </a:p>
          <a:p>
            <a:endParaRPr kumimoji="1" lang="en-US" altLang="ja-JP" sz="2800" dirty="0" smtClean="0"/>
          </a:p>
          <a:p>
            <a:r>
              <a:rPr lang="ja-JP" altLang="en-US" sz="2800" dirty="0" smtClean="0"/>
              <a:t>すべてのファイルはルートディレクトリから親子関係を辿ることによって到達できる。</a:t>
            </a:r>
            <a:endParaRPr kumimoji="1"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214290"/>
            <a:ext cx="8229600" cy="785818"/>
          </a:xfrm>
        </p:spPr>
        <p:txBody>
          <a:bodyPr/>
          <a:lstStyle/>
          <a:p>
            <a:r>
              <a:rPr kumimoji="1" lang="ja-JP" altLang="en-US" dirty="0" smtClean="0"/>
              <a:t>デバイスファイル</a:t>
            </a:r>
            <a:endParaRPr kumimoji="1" lang="ja-JP" altLang="en-US" dirty="0"/>
          </a:p>
        </p:txBody>
      </p:sp>
      <p:sp>
        <p:nvSpPr>
          <p:cNvPr id="4" name="テキスト ボックス 3"/>
          <p:cNvSpPr txBox="1"/>
          <p:nvPr/>
        </p:nvSpPr>
        <p:spPr>
          <a:xfrm>
            <a:off x="642910" y="1142984"/>
            <a:ext cx="8001024" cy="5693866"/>
          </a:xfrm>
          <a:prstGeom prst="rect">
            <a:avLst/>
          </a:prstGeom>
          <a:noFill/>
        </p:spPr>
        <p:txBody>
          <a:bodyPr wrap="square" rtlCol="0">
            <a:spAutoFit/>
          </a:bodyPr>
          <a:lstStyle/>
          <a:p>
            <a:r>
              <a:rPr kumimoji="1" lang="en-US" altLang="ja-JP" sz="2800" dirty="0" smtClean="0"/>
              <a:t>UNIX</a:t>
            </a:r>
            <a:r>
              <a:rPr kumimoji="1" lang="ja-JP" altLang="en-US" sz="2800" dirty="0" smtClean="0"/>
              <a:t>では、端末、ディスク、磁気テープ、プリンタなどの周辺機器やメモリなどの装置のそれぞれに対応するファイルがある。特殊ファイル、あるいはスペシャルファイルとも呼ばれる。デバイスドライバに対するインタフェースであり、ファイルを扱うシステムコールで操作できる。これらのファイルは通常</a:t>
            </a:r>
            <a:r>
              <a:rPr kumimoji="1" lang="en-US" altLang="ja-JP" sz="2800" dirty="0" smtClean="0"/>
              <a:t>/dev</a:t>
            </a:r>
            <a:r>
              <a:rPr kumimoji="1" lang="ja-JP" altLang="en-US" sz="2800" dirty="0" smtClean="0"/>
              <a:t>ディレクトリ以下にある。</a:t>
            </a:r>
            <a:endParaRPr kumimoji="1" lang="en-US" altLang="ja-JP" sz="2800" dirty="0" smtClean="0"/>
          </a:p>
          <a:p>
            <a:r>
              <a:rPr lang="ja-JP" altLang="en-US" sz="2800" dirty="0" smtClean="0"/>
              <a:t>デバイスは次の２種類に分けられる。</a:t>
            </a:r>
            <a:endParaRPr lang="en-US" altLang="ja-JP" sz="2800" dirty="0" smtClean="0"/>
          </a:p>
          <a:p>
            <a:pPr>
              <a:buFont typeface="Arial" pitchFamily="34" charset="0"/>
              <a:buChar char="•"/>
            </a:pPr>
            <a:r>
              <a:rPr kumimoji="1" lang="ja-JP" altLang="en-US" sz="2800" dirty="0" smtClean="0"/>
              <a:t>　キャラクタデバイス</a:t>
            </a:r>
            <a:r>
              <a:rPr lang="ja-JP" altLang="en-US" sz="2800" dirty="0" smtClean="0"/>
              <a:t> </a:t>
            </a:r>
            <a:r>
              <a:rPr lang="en-US" altLang="ja-JP" sz="2800" dirty="0" smtClean="0"/>
              <a:t>--- </a:t>
            </a:r>
            <a:r>
              <a:rPr lang="ja-JP" altLang="en-US" sz="2800" dirty="0" smtClean="0"/>
              <a:t>端末やプリンタなど、文字単位で入出力を行う装置</a:t>
            </a:r>
            <a:endParaRPr lang="en-US" altLang="ja-JP" sz="2800" dirty="0" smtClean="0"/>
          </a:p>
          <a:p>
            <a:pPr>
              <a:buFont typeface="Arial" pitchFamily="34" charset="0"/>
              <a:buChar char="•"/>
            </a:pPr>
            <a:r>
              <a:rPr kumimoji="1" lang="ja-JP" altLang="en-US" sz="2800" dirty="0" smtClean="0"/>
              <a:t>　ブロックデバイス </a:t>
            </a:r>
            <a:r>
              <a:rPr kumimoji="1" lang="en-US" altLang="ja-JP" sz="2800" dirty="0" smtClean="0"/>
              <a:t>--- </a:t>
            </a:r>
            <a:r>
              <a:rPr kumimoji="1" lang="ja-JP" altLang="en-US" sz="2800" dirty="0" smtClean="0"/>
              <a:t>ディスクや磁気テープ装置など、データをある程度まとまったブロック単位で処理する装置</a:t>
            </a:r>
            <a:endParaRPr kumimoji="1" lang="en-US" altLang="ja-JP" sz="2800" dirty="0" smtClean="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ファイル名、パス名</a:t>
            </a:r>
            <a:endParaRPr kumimoji="1" lang="ja-JP" altLang="en-US" dirty="0"/>
          </a:p>
        </p:txBody>
      </p:sp>
      <p:sp>
        <p:nvSpPr>
          <p:cNvPr id="3" name="コンテンツ プレースホルダ 2"/>
          <p:cNvSpPr>
            <a:spLocks noGrp="1"/>
          </p:cNvSpPr>
          <p:nvPr>
            <p:ph idx="1"/>
          </p:nvPr>
        </p:nvSpPr>
        <p:spPr/>
        <p:txBody>
          <a:bodyPr>
            <a:normAutofit fontScale="92500"/>
          </a:bodyPr>
          <a:lstStyle/>
          <a:p>
            <a:r>
              <a:rPr kumimoji="1" lang="ja-JP" altLang="en-US" dirty="0" smtClean="0"/>
              <a:t>ファイルには、名前がある。それをファイル名という。ディレクトリが違えば同じファイル名であっても別のファイルである。</a:t>
            </a:r>
            <a:endParaRPr lang="en-US" altLang="ja-JP" dirty="0" smtClean="0"/>
          </a:p>
          <a:p>
            <a:r>
              <a:rPr kumimoji="1" lang="ja-JP" altLang="en-US" dirty="0" smtClean="0"/>
              <a:t>パス名は、経路（パス）をファイル名の前につけたものである。</a:t>
            </a:r>
            <a:endParaRPr kumimoji="1" lang="en-US" altLang="ja-JP" dirty="0" smtClean="0"/>
          </a:p>
          <a:p>
            <a:r>
              <a:rPr lang="ja-JP" altLang="en-US" dirty="0" smtClean="0"/>
              <a:t>ファイル名は</a:t>
            </a:r>
            <a:r>
              <a:rPr lang="en-US" altLang="ja-JP" dirty="0" smtClean="0"/>
              <a:t>255</a:t>
            </a:r>
            <a:r>
              <a:rPr lang="ja-JP" altLang="en-US" dirty="0" smtClean="0"/>
              <a:t>文字以内、パス名は</a:t>
            </a:r>
            <a:r>
              <a:rPr lang="en-US" altLang="ja-JP" dirty="0" smtClean="0"/>
              <a:t>4095</a:t>
            </a:r>
            <a:r>
              <a:rPr lang="ja-JP" altLang="en-US" dirty="0" smtClean="0"/>
              <a:t>文字以内。大文字、小文字、数字、ピリオド、ハイフン、アンダーバーが使える。ファイル名に日本語は使えるが、現状では使わないのが無難。</a:t>
            </a:r>
            <a:endParaRPr kumimoji="1" lang="en-US" altLang="ja-JP" dirty="0" smtClean="0"/>
          </a:p>
          <a:p>
            <a:pPr>
              <a:buNone/>
            </a:pPr>
            <a:endParaRPr kumimoji="1" lang="ja-JP"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絶対パス、相対パス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絶対パス </a:t>
            </a:r>
            <a:r>
              <a:rPr kumimoji="1" lang="en-US" altLang="ja-JP" dirty="0" smtClean="0"/>
              <a:t>--- </a:t>
            </a:r>
            <a:r>
              <a:rPr kumimoji="1" lang="ja-JP" altLang="en-US" dirty="0" smtClean="0"/>
              <a:t>ルートディレクトリから下向きに辿るパス</a:t>
            </a:r>
            <a:endParaRPr kumimoji="1" lang="en-US" altLang="ja-JP" dirty="0" smtClean="0"/>
          </a:p>
          <a:p>
            <a:r>
              <a:rPr lang="ja-JP" altLang="en-US" dirty="0" smtClean="0"/>
              <a:t>相対パス </a:t>
            </a:r>
            <a:r>
              <a:rPr lang="en-US" altLang="ja-JP" dirty="0" smtClean="0"/>
              <a:t>--- </a:t>
            </a:r>
            <a:r>
              <a:rPr lang="ja-JP" altLang="en-US" dirty="0" smtClean="0"/>
              <a:t>現在のディレクトリからの相対的な経路で表すパス名、上に行くこともある。</a:t>
            </a:r>
            <a:endParaRPr lang="en-US" altLang="ja-JP" dirty="0" smtClean="0"/>
          </a:p>
          <a:p>
            <a:r>
              <a:rPr lang="ja-JP" altLang="en-US" dirty="0" smtClean="0"/>
              <a:t>ピリオド </a:t>
            </a:r>
            <a:r>
              <a:rPr lang="en-US" altLang="ja-JP" dirty="0" smtClean="0"/>
              <a:t>--- </a:t>
            </a:r>
            <a:r>
              <a:rPr lang="ja-JP" altLang="en-US" dirty="0" smtClean="0"/>
              <a:t>現在のディレクトリ</a:t>
            </a:r>
            <a:r>
              <a:rPr lang="en-US" altLang="ja-JP" dirty="0" smtClean="0"/>
              <a:t>(current directory)</a:t>
            </a:r>
            <a:r>
              <a:rPr lang="ja-JP" altLang="en-US" dirty="0" smtClean="0"/>
              <a:t>を表す。</a:t>
            </a:r>
            <a:endParaRPr lang="en-US" altLang="ja-JP" dirty="0" smtClean="0"/>
          </a:p>
          <a:p>
            <a:r>
              <a:rPr kumimoji="1" lang="ja-JP" altLang="en-US" dirty="0" smtClean="0"/>
              <a:t>ピリオド２つ </a:t>
            </a:r>
            <a:r>
              <a:rPr kumimoji="1" lang="en-US" altLang="ja-JP" dirty="0" smtClean="0"/>
              <a:t>--- </a:t>
            </a:r>
            <a:r>
              <a:rPr kumimoji="1" lang="ja-JP" altLang="en-US" dirty="0" smtClean="0"/>
              <a:t>親ディレクトリを</a:t>
            </a:r>
            <a:r>
              <a:rPr lang="ja-JP" altLang="en-US" dirty="0" smtClean="0"/>
              <a:t>表す。</a:t>
            </a:r>
            <a:endParaRPr lang="en-US" altLang="ja-JP" dirty="0" smtClean="0"/>
          </a:p>
          <a:p>
            <a:pPr>
              <a:buNone/>
            </a:pPr>
            <a:r>
              <a:rPr lang="ja-JP" altLang="en-US" dirty="0" smtClean="0"/>
              <a:t>（例） </a:t>
            </a:r>
            <a:r>
              <a:rPr lang="en-US" altLang="ja-JP" dirty="0" smtClean="0"/>
              <a:t>../.. </a:t>
            </a:r>
            <a:r>
              <a:rPr lang="ja-JP" altLang="en-US" dirty="0" smtClean="0"/>
              <a:t>は２つ上の親のディレクトリを表す。</a:t>
            </a:r>
            <a:endParaRPr kumimoji="1" lang="en-US" altLang="ja-JP" dirty="0" smtClean="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28596" y="285728"/>
            <a:ext cx="8229600" cy="868346"/>
          </a:xfrm>
        </p:spPr>
        <p:txBody>
          <a:bodyPr/>
          <a:lstStyle/>
          <a:p>
            <a:r>
              <a:rPr kumimoji="1" lang="ja-JP" altLang="en-US" dirty="0" smtClean="0"/>
              <a:t>ピリオドの役割</a:t>
            </a:r>
            <a:endParaRPr kumimoji="1" lang="ja-JP" altLang="en-US" dirty="0"/>
          </a:p>
        </p:txBody>
      </p:sp>
      <p:sp>
        <p:nvSpPr>
          <p:cNvPr id="4" name="正方形/長方形 3"/>
          <p:cNvSpPr/>
          <p:nvPr/>
        </p:nvSpPr>
        <p:spPr>
          <a:xfrm>
            <a:off x="571472" y="1500174"/>
            <a:ext cx="8143900" cy="4893647"/>
          </a:xfrm>
          <a:prstGeom prst="rect">
            <a:avLst/>
          </a:prstGeom>
        </p:spPr>
        <p:txBody>
          <a:bodyPr wrap="square">
            <a:spAutoFit/>
          </a:bodyPr>
          <a:lstStyle/>
          <a:p>
            <a:r>
              <a:rPr lang="ja-JP" altLang="en-US" sz="2400" dirty="0" smtClean="0"/>
              <a:t>ピリオド </a:t>
            </a:r>
            <a:r>
              <a:rPr lang="en-US" altLang="ja-JP" sz="2400" dirty="0" smtClean="0"/>
              <a:t>. </a:t>
            </a:r>
            <a:r>
              <a:rPr lang="ja-JP" altLang="en-US" sz="2400" dirty="0" smtClean="0"/>
              <a:t>はカレントディレクトリを表す。カレントディレクトリの実行形式ファイルを実行するとき、</a:t>
            </a:r>
          </a:p>
          <a:p>
            <a:r>
              <a:rPr lang="ja-JP" altLang="en-US" sz="2400" dirty="0" smtClean="0"/>
              <a:t>    </a:t>
            </a:r>
            <a:r>
              <a:rPr lang="en-US" altLang="ja-JP" sz="2400" dirty="0" smtClean="0"/>
              <a:t>$  ./test</a:t>
            </a:r>
          </a:p>
          <a:p>
            <a:r>
              <a:rPr lang="ja-JP" altLang="en-US" sz="2400" dirty="0" err="1" smtClean="0"/>
              <a:t>のように</a:t>
            </a:r>
            <a:r>
              <a:rPr lang="ja-JP" altLang="en-US" sz="2400" dirty="0" smtClean="0"/>
              <a:t>して実行する。単にファイル名を</a:t>
            </a:r>
            <a:endParaRPr lang="en-US" altLang="ja-JP" sz="2400" dirty="0" smtClean="0"/>
          </a:p>
          <a:p>
            <a:r>
              <a:rPr lang="en-US" altLang="ja-JP" sz="2400" dirty="0" smtClean="0"/>
              <a:t>   $ test</a:t>
            </a:r>
          </a:p>
          <a:p>
            <a:r>
              <a:rPr lang="ja-JP" altLang="en-US" sz="2400" dirty="0" err="1" smtClean="0"/>
              <a:t>のように</a:t>
            </a:r>
            <a:r>
              <a:rPr lang="ja-JP" altLang="en-US" sz="2400" dirty="0" smtClean="0"/>
              <a:t>打った場合は、</a:t>
            </a:r>
            <a:r>
              <a:rPr lang="en-US" altLang="ja-JP" sz="2400" dirty="0" smtClean="0"/>
              <a:t>test</a:t>
            </a:r>
            <a:r>
              <a:rPr lang="ja-JP" altLang="en-US" sz="2400" dirty="0" smtClean="0"/>
              <a:t>という実行形式ファイルを、シェル</a:t>
            </a:r>
            <a:r>
              <a:rPr lang="en-US" altLang="ja-JP" sz="2400" dirty="0" smtClean="0"/>
              <a:t>(</a:t>
            </a:r>
            <a:r>
              <a:rPr lang="ja-JP" altLang="en-US" sz="2400" dirty="0" smtClean="0"/>
              <a:t>例えば</a:t>
            </a:r>
            <a:r>
              <a:rPr lang="en-US" altLang="ja-JP" sz="2400" dirty="0" err="1" smtClean="0"/>
              <a:t>tcsh</a:t>
            </a:r>
            <a:r>
              <a:rPr lang="en-US" altLang="ja-JP" sz="2400" dirty="0" smtClean="0"/>
              <a:t>)</a:t>
            </a:r>
            <a:r>
              <a:rPr lang="ja-JP" altLang="en-US" sz="2400" dirty="0" smtClean="0"/>
              <a:t>が、シェル変数</a:t>
            </a:r>
            <a:r>
              <a:rPr lang="en-US" altLang="ja-JP" sz="2400" dirty="0" smtClean="0"/>
              <a:t>PATH</a:t>
            </a:r>
            <a:r>
              <a:rPr lang="ja-JP" altLang="en-US" sz="2400" dirty="0" smtClean="0"/>
              <a:t>に格納されているディレクトリを順番に探すことになる。</a:t>
            </a:r>
            <a:r>
              <a:rPr lang="en-US" altLang="ja-JP" sz="2400" dirty="0" smtClean="0"/>
              <a:t>PATH</a:t>
            </a:r>
            <a:r>
              <a:rPr lang="ja-JP" altLang="en-US" sz="2400" dirty="0" smtClean="0"/>
              <a:t>に </a:t>
            </a:r>
            <a:r>
              <a:rPr lang="en-US" altLang="ja-JP" sz="2400" dirty="0" smtClean="0"/>
              <a:t>. </a:t>
            </a:r>
            <a:r>
              <a:rPr lang="ja-JP" altLang="en-US" sz="2400" dirty="0" smtClean="0"/>
              <a:t>が指定されていない場合は、カレントディレクトリに</a:t>
            </a:r>
            <a:r>
              <a:rPr lang="en-US" altLang="ja-JP" sz="2400" dirty="0" smtClean="0"/>
              <a:t>test</a:t>
            </a:r>
            <a:r>
              <a:rPr lang="ja-JP" altLang="en-US" sz="2400" dirty="0" smtClean="0"/>
              <a:t>があっても実行できない。また、</a:t>
            </a:r>
            <a:r>
              <a:rPr lang="en-US" altLang="ja-JP" sz="2400" dirty="0" smtClean="0"/>
              <a:t>test</a:t>
            </a:r>
            <a:r>
              <a:rPr lang="ja-JP" altLang="en-US" sz="2400" dirty="0" smtClean="0"/>
              <a:t>という名前の実行ファイルがシェルの内部コマンドだったり（実際は違うが）、他の</a:t>
            </a:r>
            <a:r>
              <a:rPr lang="en-US" altLang="ja-JP" sz="2400" dirty="0" smtClean="0"/>
              <a:t>PATH</a:t>
            </a:r>
            <a:r>
              <a:rPr lang="ja-JP" altLang="en-US" sz="2400" dirty="0" smtClean="0"/>
              <a:t>の（順番が先になっている）ディレクトリにあると、そちらが実行される。</a:t>
            </a:r>
            <a:r>
              <a:rPr lang="en-US" altLang="ja-JP" sz="2400" dirty="0" smtClean="0"/>
              <a:t>(</a:t>
            </a:r>
            <a:r>
              <a:rPr lang="ja-JP" altLang="en-US" sz="2400" dirty="0" smtClean="0"/>
              <a:t>実際に、</a:t>
            </a:r>
            <a:r>
              <a:rPr lang="en-US" altLang="ja-JP" sz="2400" dirty="0" smtClean="0"/>
              <a:t>/</a:t>
            </a:r>
            <a:r>
              <a:rPr lang="en-US" altLang="ja-JP" sz="2400" dirty="0" err="1" smtClean="0"/>
              <a:t>usr</a:t>
            </a:r>
            <a:r>
              <a:rPr lang="en-US" altLang="ja-JP" sz="2400" dirty="0" smtClean="0"/>
              <a:t>/bin/test</a:t>
            </a:r>
            <a:r>
              <a:rPr lang="ja-JP" altLang="en-US" sz="2400" dirty="0" smtClean="0"/>
              <a:t>が存在する。</a:t>
            </a:r>
            <a:r>
              <a:rPr lang="en-US" altLang="ja-JP" sz="2400" dirty="0" smtClean="0"/>
              <a:t>)</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ホームディレクトリ</a:t>
            </a:r>
            <a:endParaRPr kumimoji="1" lang="ja-JP" altLang="en-US" dirty="0"/>
          </a:p>
        </p:txBody>
      </p:sp>
      <p:sp>
        <p:nvSpPr>
          <p:cNvPr id="4" name="テキスト ボックス 3"/>
          <p:cNvSpPr txBox="1"/>
          <p:nvPr/>
        </p:nvSpPr>
        <p:spPr>
          <a:xfrm>
            <a:off x="785786" y="1571612"/>
            <a:ext cx="7286676" cy="3539430"/>
          </a:xfrm>
          <a:prstGeom prst="rect">
            <a:avLst/>
          </a:prstGeom>
          <a:noFill/>
        </p:spPr>
        <p:txBody>
          <a:bodyPr wrap="square" rtlCol="0">
            <a:spAutoFit/>
          </a:bodyPr>
          <a:lstStyle/>
          <a:p>
            <a:r>
              <a:rPr kumimoji="1" lang="ja-JP" altLang="en-US" sz="2800" dirty="0" smtClean="0"/>
              <a:t>ログイン時のディレクトリをホームディレクトリという。通常、</a:t>
            </a:r>
            <a:r>
              <a:rPr kumimoji="1" lang="en-US" altLang="ja-JP" sz="2800" dirty="0" smtClean="0"/>
              <a:t>/home</a:t>
            </a:r>
            <a:r>
              <a:rPr kumimoji="1" lang="ja-JP" altLang="en-US" sz="2800" dirty="0" smtClean="0"/>
              <a:t>の下に作成される</a:t>
            </a:r>
            <a:r>
              <a:rPr lang="ja-JP" altLang="en-US" sz="2800" dirty="0" smtClean="0"/>
              <a:t>。（</a:t>
            </a:r>
            <a:r>
              <a:rPr lang="en-US" altLang="ja-JP" sz="2800" dirty="0" smtClean="0"/>
              <a:t>r</a:t>
            </a:r>
            <a:r>
              <a:rPr kumimoji="1" lang="en-US" altLang="ja-JP" sz="2800" dirty="0" smtClean="0"/>
              <a:t>oot</a:t>
            </a:r>
            <a:r>
              <a:rPr kumimoji="1" lang="ja-JP" altLang="en-US" sz="2800" dirty="0" smtClean="0"/>
              <a:t>というユーザ（スーパーユーザ）のホームディレクトリは</a:t>
            </a:r>
            <a:r>
              <a:rPr kumimoji="1" lang="en-US" altLang="ja-JP" sz="2800" dirty="0" smtClean="0"/>
              <a:t>/root</a:t>
            </a:r>
            <a:r>
              <a:rPr lang="ja-JP" altLang="en-US" sz="2800" dirty="0" smtClean="0"/>
              <a:t>である）。演習室では、（私</a:t>
            </a:r>
            <a:r>
              <a:rPr lang="en-US" altLang="ja-JP" sz="2800" dirty="0" err="1" smtClean="0"/>
              <a:t>sasano</a:t>
            </a:r>
            <a:r>
              <a:rPr lang="ja-JP" altLang="en-US" sz="2800" dirty="0" smtClean="0"/>
              <a:t>の場合）</a:t>
            </a:r>
            <a:r>
              <a:rPr lang="en-US" altLang="ja-JP" sz="2800" dirty="0" smtClean="0"/>
              <a:t>/home/sit</a:t>
            </a:r>
            <a:r>
              <a:rPr lang="ja-JP" altLang="en-US" sz="2800" dirty="0" smtClean="0"/>
              <a:t>の下にある。ディレクトリを変更するコマンドが</a:t>
            </a:r>
            <a:r>
              <a:rPr lang="en-US" altLang="ja-JP" sz="2800" dirty="0" err="1" smtClean="0"/>
              <a:t>cd</a:t>
            </a:r>
            <a:r>
              <a:rPr lang="ja-JP" altLang="en-US" sz="2800" dirty="0" smtClean="0"/>
              <a:t>（シェルの内部コマンド）であり、これは</a:t>
            </a:r>
            <a:r>
              <a:rPr lang="en-US" altLang="ja-JP" sz="2800" dirty="0" err="1" smtClean="0"/>
              <a:t>chdir</a:t>
            </a:r>
            <a:r>
              <a:rPr lang="ja-JP" altLang="en-US" sz="2800" dirty="0" smtClean="0"/>
              <a:t>システムコールを使って実現されている。ホームディレクトリはチルダ</a:t>
            </a:r>
            <a:r>
              <a:rPr lang="en-US" altLang="ja-JP" sz="2800" dirty="0" smtClean="0"/>
              <a:t>~</a:t>
            </a:r>
            <a:r>
              <a:rPr lang="ja-JP" altLang="en-US" sz="2800" dirty="0" smtClean="0"/>
              <a:t>で表される。</a:t>
            </a:r>
            <a:endParaRPr lang="en-US" altLang="ja-JP" sz="2800" dirty="0" smtClean="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ファイルの保護</a:t>
            </a:r>
            <a:endParaRPr kumimoji="1" lang="ja-JP" altLang="en-US" dirty="0"/>
          </a:p>
        </p:txBody>
      </p:sp>
      <p:sp>
        <p:nvSpPr>
          <p:cNvPr id="4" name="テキスト ボックス 3"/>
          <p:cNvSpPr txBox="1"/>
          <p:nvPr/>
        </p:nvSpPr>
        <p:spPr>
          <a:xfrm>
            <a:off x="642910" y="1285860"/>
            <a:ext cx="7500990" cy="5262979"/>
          </a:xfrm>
          <a:prstGeom prst="rect">
            <a:avLst/>
          </a:prstGeom>
          <a:noFill/>
        </p:spPr>
        <p:txBody>
          <a:bodyPr wrap="square" rtlCol="0">
            <a:spAutoFit/>
          </a:bodyPr>
          <a:lstStyle/>
          <a:p>
            <a:r>
              <a:rPr kumimoji="1" lang="ja-JP" altLang="en-US" sz="2800" dirty="0" smtClean="0">
                <a:latin typeface="+mn-ea"/>
              </a:rPr>
              <a:t>ファイルを他人（他のユーザ）に見られないように、</a:t>
            </a:r>
            <a:r>
              <a:rPr kumimoji="1" lang="en-US" altLang="ja-JP" sz="2800" dirty="0" smtClean="0">
                <a:latin typeface="+mn-ea"/>
              </a:rPr>
              <a:t>permission</a:t>
            </a:r>
            <a:r>
              <a:rPr kumimoji="1" lang="ja-JP" altLang="en-US" sz="2800" dirty="0" smtClean="0">
                <a:latin typeface="+mn-ea"/>
              </a:rPr>
              <a:t>の指定ができる。</a:t>
            </a:r>
            <a:endParaRPr lang="en-US" altLang="ja-JP" sz="2800" dirty="0" smtClean="0">
              <a:latin typeface="+mn-ea"/>
            </a:endParaRPr>
          </a:p>
          <a:p>
            <a:r>
              <a:rPr lang="en-US" altLang="ja-JP" sz="2800" dirty="0" smtClean="0">
                <a:latin typeface="+mn-ea"/>
              </a:rPr>
              <a:t>   $ </a:t>
            </a:r>
            <a:r>
              <a:rPr lang="en-US" altLang="ja-JP" sz="2800" dirty="0" err="1" smtClean="0">
                <a:latin typeface="+mn-ea"/>
              </a:rPr>
              <a:t>ls</a:t>
            </a:r>
            <a:r>
              <a:rPr lang="en-US" altLang="ja-JP" sz="2800" dirty="0" smtClean="0">
                <a:latin typeface="+mn-ea"/>
              </a:rPr>
              <a:t> –al</a:t>
            </a:r>
          </a:p>
          <a:p>
            <a:r>
              <a:rPr kumimoji="1" lang="ja-JP" altLang="en-US" sz="2800" dirty="0" smtClean="0">
                <a:latin typeface="+mn-ea"/>
              </a:rPr>
              <a:t>で確認できる。</a:t>
            </a:r>
            <a:endParaRPr lang="en-US" altLang="ja-JP" sz="2800" dirty="0" smtClean="0">
              <a:latin typeface="+mn-ea"/>
            </a:endParaRPr>
          </a:p>
          <a:p>
            <a:r>
              <a:rPr lang="en-US" altLang="ja-JP" sz="2800" dirty="0" smtClean="0">
                <a:latin typeface="+mn-ea"/>
              </a:rPr>
              <a:t> d </a:t>
            </a:r>
            <a:r>
              <a:rPr lang="en-US" altLang="ja-JP" sz="2800" dirty="0" err="1" smtClean="0">
                <a:latin typeface="+mn-ea"/>
              </a:rPr>
              <a:t>rwx</a:t>
            </a:r>
            <a:r>
              <a:rPr lang="en-US" altLang="ja-JP" sz="2800" dirty="0" smtClean="0">
                <a:latin typeface="+mn-ea"/>
              </a:rPr>
              <a:t> </a:t>
            </a:r>
            <a:r>
              <a:rPr lang="en-US" altLang="ja-JP" sz="2800" dirty="0" err="1" smtClean="0">
                <a:latin typeface="+mn-ea"/>
              </a:rPr>
              <a:t>rwx</a:t>
            </a:r>
            <a:r>
              <a:rPr lang="en-US" altLang="ja-JP" sz="2800" dirty="0" smtClean="0">
                <a:latin typeface="+mn-ea"/>
              </a:rPr>
              <a:t> </a:t>
            </a:r>
            <a:r>
              <a:rPr lang="en-US" altLang="ja-JP" sz="2800" dirty="0" err="1" smtClean="0">
                <a:latin typeface="+mn-ea"/>
              </a:rPr>
              <a:t>rwx</a:t>
            </a:r>
            <a:endParaRPr lang="en-US" altLang="ja-JP" sz="2800" dirty="0" smtClean="0">
              <a:latin typeface="+mn-ea"/>
            </a:endParaRPr>
          </a:p>
          <a:p>
            <a:r>
              <a:rPr lang="ja-JP" altLang="en-US" sz="2800" dirty="0" smtClean="0">
                <a:latin typeface="+mn-ea"/>
              </a:rPr>
              <a:t>の最初の桁以外は変更できる。</a:t>
            </a:r>
            <a:endParaRPr lang="en-US" altLang="ja-JP" sz="2800" dirty="0" smtClean="0">
              <a:latin typeface="+mn-ea"/>
            </a:endParaRPr>
          </a:p>
          <a:p>
            <a:r>
              <a:rPr lang="ja-JP" altLang="en-US" sz="2800" dirty="0" smtClean="0">
                <a:latin typeface="+mn-ea"/>
              </a:rPr>
              <a:t>最初が</a:t>
            </a:r>
            <a:r>
              <a:rPr lang="en-US" altLang="ja-JP" sz="2800" dirty="0" smtClean="0">
                <a:latin typeface="+mn-ea"/>
              </a:rPr>
              <a:t>d</a:t>
            </a:r>
            <a:r>
              <a:rPr lang="ja-JP" altLang="en-US" sz="2800" dirty="0" smtClean="0">
                <a:latin typeface="+mn-ea"/>
              </a:rPr>
              <a:t>だとディレクトリ、</a:t>
            </a:r>
            <a:r>
              <a:rPr lang="en-US" altLang="ja-JP" sz="2800" dirty="0" smtClean="0">
                <a:latin typeface="+mn-ea"/>
              </a:rPr>
              <a:t>-</a:t>
            </a:r>
            <a:r>
              <a:rPr lang="ja-JP" altLang="en-US" sz="2800" dirty="0" smtClean="0">
                <a:latin typeface="+mn-ea"/>
              </a:rPr>
              <a:t>は一般のファイル。</a:t>
            </a:r>
            <a:endParaRPr lang="en-US" altLang="ja-JP" sz="2800" dirty="0" smtClean="0">
              <a:latin typeface="+mn-ea"/>
            </a:endParaRPr>
          </a:p>
          <a:p>
            <a:r>
              <a:rPr lang="ja-JP" altLang="en-US" sz="2800" dirty="0" smtClean="0">
                <a:latin typeface="+mn-ea"/>
              </a:rPr>
              <a:t>そのあとは、</a:t>
            </a:r>
            <a:r>
              <a:rPr lang="en-US" altLang="ja-JP" sz="2800" dirty="0" smtClean="0">
                <a:latin typeface="+mn-ea"/>
              </a:rPr>
              <a:t>owner, group, other</a:t>
            </a:r>
            <a:r>
              <a:rPr lang="ja-JP" altLang="en-US" sz="2800" dirty="0" smtClean="0">
                <a:latin typeface="+mn-ea"/>
              </a:rPr>
              <a:t>に対する読み書き実行の許可を表す。</a:t>
            </a:r>
            <a:endParaRPr lang="en-US" altLang="ja-JP" sz="2800" dirty="0" smtClean="0">
              <a:latin typeface="+mn-ea"/>
            </a:endParaRPr>
          </a:p>
          <a:p>
            <a:r>
              <a:rPr lang="ja-JP" altLang="en-US" sz="2800" dirty="0" smtClean="0">
                <a:latin typeface="+mn-ea"/>
              </a:rPr>
              <a:t>（例） </a:t>
            </a:r>
            <a:r>
              <a:rPr lang="en-US" altLang="ja-JP" sz="2800" dirty="0" smtClean="0">
                <a:latin typeface="+mn-ea"/>
                <a:cs typeface="Tunga" pitchFamily="2" charset="0"/>
              </a:rPr>
              <a:t>-</a:t>
            </a:r>
            <a:r>
              <a:rPr lang="en-US" altLang="ja-JP" sz="2800" dirty="0" err="1" smtClean="0">
                <a:latin typeface="+mn-ea"/>
                <a:cs typeface="Tunga" pitchFamily="2" charset="0"/>
              </a:rPr>
              <a:t>rw</a:t>
            </a:r>
            <a:r>
              <a:rPr lang="en-US" altLang="ja-JP" sz="2800" dirty="0" smtClean="0">
                <a:latin typeface="+mn-ea"/>
                <a:cs typeface="Tunga" pitchFamily="2" charset="0"/>
              </a:rPr>
              <a:t>-r—r--</a:t>
            </a:r>
            <a:r>
              <a:rPr lang="ja-JP" altLang="en-US" sz="2800" dirty="0" smtClean="0">
                <a:latin typeface="+mn-ea"/>
              </a:rPr>
              <a:t>だと、一般ファイルで、所有者は読み書き、グループメンバーとその他のユーザは読み出しのみ許可。</a:t>
            </a:r>
            <a:endParaRPr lang="en-US" altLang="ja-JP" sz="2800" dirty="0" smtClean="0">
              <a:latin typeface="+mn-ea"/>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Permission</a:t>
            </a:r>
            <a:r>
              <a:rPr kumimoji="1" lang="ja-JP" altLang="en-US" dirty="0" smtClean="0"/>
              <a:t>の変更</a:t>
            </a:r>
            <a:endParaRPr kumimoji="1" lang="ja-JP" altLang="en-US" dirty="0"/>
          </a:p>
        </p:txBody>
      </p:sp>
      <p:sp>
        <p:nvSpPr>
          <p:cNvPr id="4" name="テキスト ボックス 3"/>
          <p:cNvSpPr txBox="1"/>
          <p:nvPr/>
        </p:nvSpPr>
        <p:spPr>
          <a:xfrm>
            <a:off x="1000100" y="1500174"/>
            <a:ext cx="7215238" cy="3970318"/>
          </a:xfrm>
          <a:prstGeom prst="rect">
            <a:avLst/>
          </a:prstGeom>
          <a:noFill/>
        </p:spPr>
        <p:txBody>
          <a:bodyPr wrap="square" rtlCol="0">
            <a:spAutoFit/>
          </a:bodyPr>
          <a:lstStyle/>
          <a:p>
            <a:r>
              <a:rPr kumimoji="1" lang="en-US" altLang="ja-JP" sz="2800" dirty="0" smtClean="0"/>
              <a:t>Permission</a:t>
            </a:r>
            <a:r>
              <a:rPr kumimoji="1" lang="ja-JP" altLang="en-US" sz="2800" dirty="0" smtClean="0"/>
              <a:t>の変更は</a:t>
            </a:r>
            <a:r>
              <a:rPr kumimoji="1" lang="en-US" altLang="ja-JP" sz="2800" dirty="0" err="1" smtClean="0"/>
              <a:t>chmod</a:t>
            </a:r>
            <a:r>
              <a:rPr kumimoji="1" lang="ja-JP" altLang="en-US" sz="2800" dirty="0" smtClean="0"/>
              <a:t>コマンドで行う。</a:t>
            </a:r>
            <a:endParaRPr kumimoji="1" lang="en-US" altLang="ja-JP" sz="2800" dirty="0" smtClean="0"/>
          </a:p>
          <a:p>
            <a:r>
              <a:rPr lang="en-US" altLang="ja-JP" sz="2800" dirty="0" smtClean="0"/>
              <a:t>  $ </a:t>
            </a:r>
            <a:r>
              <a:rPr lang="en-US" altLang="ja-JP" sz="2800" dirty="0" err="1" smtClean="0"/>
              <a:t>chmod</a:t>
            </a:r>
            <a:r>
              <a:rPr lang="en-US" altLang="ja-JP" sz="2800" dirty="0" smtClean="0"/>
              <a:t>  </a:t>
            </a:r>
            <a:r>
              <a:rPr lang="ja-JP" altLang="en-US" sz="2800" dirty="0" smtClean="0"/>
              <a:t>モード  ファイル名</a:t>
            </a:r>
            <a:endParaRPr lang="en-US" altLang="ja-JP" sz="2800" dirty="0" smtClean="0"/>
          </a:p>
          <a:p>
            <a:endParaRPr kumimoji="1" lang="en-US" altLang="ja-JP" sz="2800" dirty="0" smtClean="0"/>
          </a:p>
          <a:p>
            <a:r>
              <a:rPr lang="ja-JP" altLang="en-US" sz="2800" dirty="0" smtClean="0"/>
              <a:t>モードは、</a:t>
            </a:r>
            <a:r>
              <a:rPr lang="en-US" altLang="ja-JP" sz="2800" dirty="0" err="1" smtClean="0"/>
              <a:t>rwx</a:t>
            </a:r>
            <a:r>
              <a:rPr lang="ja-JP" altLang="en-US" sz="2800" dirty="0" smtClean="0"/>
              <a:t>の組を</a:t>
            </a:r>
            <a:r>
              <a:rPr lang="en-US" altLang="ja-JP" sz="2800" dirty="0" smtClean="0"/>
              <a:t>3</a:t>
            </a:r>
            <a:r>
              <a:rPr lang="ja-JP" altLang="en-US" sz="2800" dirty="0" smtClean="0"/>
              <a:t>桁の</a:t>
            </a:r>
            <a:r>
              <a:rPr lang="en-US" altLang="ja-JP" sz="2800" dirty="0" smtClean="0"/>
              <a:t>2</a:t>
            </a:r>
            <a:r>
              <a:rPr lang="ja-JP" altLang="en-US" sz="2800" dirty="0" smtClean="0"/>
              <a:t>進数と考え、これを</a:t>
            </a:r>
            <a:r>
              <a:rPr lang="en-US" altLang="ja-JP" sz="2800" dirty="0" smtClean="0"/>
              <a:t>8</a:t>
            </a:r>
            <a:r>
              <a:rPr lang="ja-JP" altLang="en-US" sz="2800" dirty="0" smtClean="0"/>
              <a:t>進１桁で表わし、</a:t>
            </a:r>
            <a:r>
              <a:rPr lang="en-US" altLang="ja-JP" sz="2800" dirty="0" smtClean="0"/>
              <a:t>8</a:t>
            </a:r>
            <a:r>
              <a:rPr lang="ja-JP" altLang="en-US" sz="2800" dirty="0" smtClean="0"/>
              <a:t>進３桁で指定することができる。例えば、</a:t>
            </a:r>
            <a:r>
              <a:rPr lang="en-US" altLang="ja-JP" sz="2800" dirty="0" err="1" smtClean="0"/>
              <a:t>rw</a:t>
            </a:r>
            <a:r>
              <a:rPr lang="en-US" altLang="ja-JP" sz="2800" dirty="0" smtClean="0"/>
              <a:t>-r--r--</a:t>
            </a:r>
            <a:r>
              <a:rPr lang="ja-JP" altLang="en-US" sz="2800" dirty="0" smtClean="0"/>
              <a:t>にしたい場合は</a:t>
            </a:r>
            <a:r>
              <a:rPr lang="en-US" altLang="ja-JP" sz="2800" dirty="0" smtClean="0"/>
              <a:t>644</a:t>
            </a:r>
            <a:r>
              <a:rPr lang="ja-JP" altLang="en-US" sz="2800" dirty="0" smtClean="0"/>
              <a:t>とする。</a:t>
            </a:r>
            <a:endParaRPr lang="en-US" altLang="ja-JP" sz="2800" dirty="0" smtClean="0"/>
          </a:p>
          <a:p>
            <a:endParaRPr kumimoji="1" lang="en-US" altLang="ja-JP" sz="2800" dirty="0" smtClean="0"/>
          </a:p>
          <a:p>
            <a:r>
              <a:rPr lang="en-US" altLang="ja-JP" sz="2800" dirty="0" err="1" smtClean="0"/>
              <a:t>chmod</a:t>
            </a:r>
            <a:r>
              <a:rPr lang="ja-JP" altLang="en-US" sz="2800" dirty="0" smtClean="0"/>
              <a:t>は、</a:t>
            </a:r>
            <a:r>
              <a:rPr lang="en-US" altLang="ja-JP" sz="2800" dirty="0" err="1" smtClean="0"/>
              <a:t>chmod</a:t>
            </a:r>
            <a:r>
              <a:rPr lang="ja-JP" altLang="en-US" sz="2800" dirty="0" smtClean="0"/>
              <a:t>システムコールを使って実現されている。</a:t>
            </a:r>
            <a:endParaRPr lang="en-US" altLang="ja-JP" sz="2800" dirty="0" smtClean="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ファイルの所有者</a:t>
            </a:r>
            <a:endParaRPr kumimoji="1" lang="ja-JP" altLang="en-US" dirty="0"/>
          </a:p>
        </p:txBody>
      </p:sp>
      <p:sp>
        <p:nvSpPr>
          <p:cNvPr id="4" name="テキスト ボックス 3"/>
          <p:cNvSpPr txBox="1"/>
          <p:nvPr/>
        </p:nvSpPr>
        <p:spPr>
          <a:xfrm>
            <a:off x="642910" y="1571612"/>
            <a:ext cx="7858180" cy="3970318"/>
          </a:xfrm>
          <a:prstGeom prst="rect">
            <a:avLst/>
          </a:prstGeom>
          <a:noFill/>
        </p:spPr>
        <p:txBody>
          <a:bodyPr wrap="square" rtlCol="0">
            <a:spAutoFit/>
          </a:bodyPr>
          <a:lstStyle/>
          <a:p>
            <a:r>
              <a:rPr kumimoji="1" lang="ja-JP" altLang="en-US" sz="2800" dirty="0" smtClean="0"/>
              <a:t>ファイルには所有者</a:t>
            </a:r>
            <a:r>
              <a:rPr lang="ja-JP" altLang="en-US" sz="2800" dirty="0" smtClean="0"/>
              <a:t>、グループが関連づけられている。</a:t>
            </a:r>
            <a:endParaRPr lang="en-US" altLang="ja-JP" sz="2800" dirty="0" smtClean="0"/>
          </a:p>
          <a:p>
            <a:r>
              <a:rPr kumimoji="1" lang="en-US" altLang="ja-JP" sz="2800" dirty="0" smtClean="0"/>
              <a:t> $ </a:t>
            </a:r>
            <a:r>
              <a:rPr kumimoji="1" lang="en-US" altLang="ja-JP" sz="2800" dirty="0" err="1" smtClean="0"/>
              <a:t>ls</a:t>
            </a:r>
            <a:r>
              <a:rPr kumimoji="1" lang="en-US" altLang="ja-JP" sz="2800" dirty="0" smtClean="0"/>
              <a:t> –l</a:t>
            </a:r>
          </a:p>
          <a:p>
            <a:r>
              <a:rPr lang="ja-JP" altLang="en-US" sz="2800" dirty="0" smtClean="0"/>
              <a:t>で確認できる。</a:t>
            </a:r>
            <a:endParaRPr lang="en-US" altLang="ja-JP" sz="2800" dirty="0" smtClean="0"/>
          </a:p>
          <a:p>
            <a:endParaRPr kumimoji="1" lang="en-US" altLang="ja-JP" sz="2800" dirty="0" smtClean="0"/>
          </a:p>
          <a:p>
            <a:r>
              <a:rPr lang="ja-JP" altLang="en-US" sz="2800" dirty="0" smtClean="0"/>
              <a:t>ファイルの所有者の変更は</a:t>
            </a:r>
            <a:r>
              <a:rPr lang="en-US" altLang="ja-JP" sz="2800" dirty="0" err="1" smtClean="0"/>
              <a:t>chown</a:t>
            </a:r>
            <a:r>
              <a:rPr lang="ja-JP" altLang="en-US" sz="2800" dirty="0" smtClean="0"/>
              <a:t>コマンド、グループの変更は</a:t>
            </a:r>
            <a:r>
              <a:rPr lang="en-US" altLang="ja-JP" sz="2800" dirty="0" err="1" smtClean="0"/>
              <a:t>chgrp</a:t>
            </a:r>
            <a:r>
              <a:rPr lang="ja-JP" altLang="en-US" sz="2800" dirty="0" smtClean="0"/>
              <a:t>コマンドで行う。これらは</a:t>
            </a:r>
            <a:r>
              <a:rPr lang="en-US" altLang="ja-JP" sz="2800" dirty="0" err="1" smtClean="0"/>
              <a:t>chown</a:t>
            </a:r>
            <a:r>
              <a:rPr lang="ja-JP" altLang="en-US" sz="2800" dirty="0" smtClean="0"/>
              <a:t>システムコールを使って実現されている。ただし、所有者とスーパーユーザ以外は変更できない。</a:t>
            </a:r>
            <a:endParaRPr lang="en-US" altLang="ja-JP" sz="2800"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1314</TotalTime>
  <Words>2172</Words>
  <Application>Microsoft Office PowerPoint</Application>
  <PresentationFormat>画面に合わせる (4:3)</PresentationFormat>
  <Paragraphs>199</Paragraphs>
  <Slides>27</Slides>
  <Notes>0</Notes>
  <HiddenSlides>0</HiddenSlides>
  <MMClips>0</MMClips>
  <ScaleCrop>false</ScaleCrop>
  <HeadingPairs>
    <vt:vector size="4" baseType="variant">
      <vt:variant>
        <vt:lpstr>テーマ</vt:lpstr>
      </vt:variant>
      <vt:variant>
        <vt:i4>1</vt:i4>
      </vt:variant>
      <vt:variant>
        <vt:lpstr>スライド タイトル</vt:lpstr>
      </vt:variant>
      <vt:variant>
        <vt:i4>27</vt:i4>
      </vt:variant>
    </vt:vector>
  </HeadingPairs>
  <TitlesOfParts>
    <vt:vector size="28" baseType="lpstr">
      <vt:lpstr>Office テーマ</vt:lpstr>
      <vt:lpstr>システムプログラミング 第６回、７回</vt:lpstr>
      <vt:lpstr>今日からの内容</vt:lpstr>
      <vt:lpstr>Cのmain関数の引数について</vt:lpstr>
      <vt:lpstr>main関数の第３引数</vt:lpstr>
      <vt:lpstr>スタートアップルーチン</vt:lpstr>
      <vt:lpstr>コマンドのオプションについて</vt:lpstr>
      <vt:lpstr>Usage メッセージ</vt:lpstr>
      <vt:lpstr>例（打ち込んで確認）</vt:lpstr>
      <vt:lpstr>システムコールについて</vt:lpstr>
      <vt:lpstr>システムコールの実装</vt:lpstr>
      <vt:lpstr>システムコールの番号</vt:lpstr>
      <vt:lpstr>システムコールのマニュアル</vt:lpstr>
      <vt:lpstr>システムコールのエラーメッセージ</vt:lpstr>
      <vt:lpstr>ライブラリ関数perror</vt:lpstr>
      <vt:lpstr>ファイルの１文字目を表示する例 （入力して実行、後で詳述）</vt:lpstr>
      <vt:lpstr>演習課題</vt:lpstr>
      <vt:lpstr>ファイル、プロセス</vt:lpstr>
      <vt:lpstr>ファイル操作のシステムコール</vt:lpstr>
      <vt:lpstr>ファイルとは</vt:lpstr>
      <vt:lpstr>デバイスファイル</vt:lpstr>
      <vt:lpstr>ファイル名、パス名</vt:lpstr>
      <vt:lpstr>絶対パス、相対パス</vt:lpstr>
      <vt:lpstr>ピリオドの役割</vt:lpstr>
      <vt:lpstr>ホームディレクトリ</vt:lpstr>
      <vt:lpstr>ファイルの保護</vt:lpstr>
      <vt:lpstr>Permissionの変更</vt:lpstr>
      <vt:lpstr>ファイルの所有者</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システムプログラミング 第６回</dc:title>
  <dc:creator>sasano</dc:creator>
  <cp:lastModifiedBy>sasano</cp:lastModifiedBy>
  <cp:revision>428</cp:revision>
  <dcterms:created xsi:type="dcterms:W3CDTF">2009-10-25T07:27:48Z</dcterms:created>
  <dcterms:modified xsi:type="dcterms:W3CDTF">2010-11-02T00:58:56Z</dcterms:modified>
</cp:coreProperties>
</file>