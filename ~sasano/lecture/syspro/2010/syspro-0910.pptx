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3" r:id="rId3"/>
    <p:sldId id="258" r:id="rId4"/>
    <p:sldId id="259" r:id="rId5"/>
    <p:sldId id="260" r:id="rId6"/>
    <p:sldId id="285" r:id="rId7"/>
    <p:sldId id="291" r:id="rId8"/>
    <p:sldId id="292" r:id="rId9"/>
    <p:sldId id="294" r:id="rId10"/>
    <p:sldId id="293" r:id="rId11"/>
    <p:sldId id="301" r:id="rId12"/>
    <p:sldId id="289" r:id="rId13"/>
    <p:sldId id="290" r:id="rId14"/>
    <p:sldId id="287" r:id="rId15"/>
    <p:sldId id="296" r:id="rId16"/>
    <p:sldId id="297" r:id="rId17"/>
    <p:sldId id="300"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612"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BD7067-889B-414B-8FB7-514FA296842A}" type="datetimeFigureOut">
              <a:rPr kumimoji="1" lang="ja-JP" altLang="en-US" smtClean="0"/>
              <a:pPr/>
              <a:t>2010/11/30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764C83-18AE-4D8A-85D3-41F9B0F367E6}"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9C65D7-4410-4850-A21A-1AD6AD518FBE}" type="slidenum">
              <a:rPr lang="en-US" altLang="ja-JP"/>
              <a:pPr/>
              <a:t>6</a:t>
            </a:fld>
            <a:endParaRPr lang="en-US" altLang="ja-JP"/>
          </a:p>
        </p:txBody>
      </p:sp>
      <p:sp>
        <p:nvSpPr>
          <p:cNvPr id="171010" name="Rectangle 1026"/>
          <p:cNvSpPr>
            <a:spLocks noGrp="1" noRot="1" noChangeAspect="1" noChangeArrowheads="1" noTextEdit="1"/>
          </p:cNvSpPr>
          <p:nvPr>
            <p:ph type="sldImg"/>
          </p:nvPr>
        </p:nvSpPr>
        <p:spPr>
          <a:ln/>
        </p:spPr>
      </p:sp>
      <p:sp>
        <p:nvSpPr>
          <p:cNvPr id="171011"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2811F7-7735-42E8-A76C-26674AFC4D87}" type="slidenum">
              <a:rPr lang="en-US" altLang="ja-JP"/>
              <a:pPr/>
              <a:t>7</a:t>
            </a:fld>
            <a:endParaRPr lang="en-US" altLang="ja-JP"/>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181831-510E-4AEA-8F90-8A0F5BC8FC30}" type="slidenum">
              <a:rPr lang="en-US" altLang="ja-JP"/>
              <a:pPr/>
              <a:t>8</a:t>
            </a:fld>
            <a:endParaRPr lang="en-US" altLang="ja-JP"/>
          </a:p>
        </p:txBody>
      </p:sp>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61E347-7B73-4D4F-AD1E-7235721ABCA1}" type="slidenum">
              <a:rPr lang="en-US" altLang="ja-JP"/>
              <a:pPr/>
              <a:t>9</a:t>
            </a:fld>
            <a:endParaRPr lang="en-US" altLang="ja-JP"/>
          </a:p>
        </p:txBody>
      </p:sp>
      <p:sp>
        <p:nvSpPr>
          <p:cNvPr id="180226" name="Rectangle 1026"/>
          <p:cNvSpPr>
            <a:spLocks noGrp="1" noRot="1" noChangeAspect="1" noChangeArrowheads="1" noTextEdit="1"/>
          </p:cNvSpPr>
          <p:nvPr>
            <p:ph type="sldImg"/>
          </p:nvPr>
        </p:nvSpPr>
        <p:spPr>
          <a:ln/>
        </p:spPr>
      </p:sp>
      <p:sp>
        <p:nvSpPr>
          <p:cNvPr id="180227"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525F98-45A6-4F40-8B1C-86FE2A35CB97}" type="slidenum">
              <a:rPr lang="en-US" altLang="ja-JP"/>
              <a:pPr/>
              <a:t>10</a:t>
            </a:fld>
            <a:endParaRPr lang="en-US" altLang="ja-JP"/>
          </a:p>
        </p:txBody>
      </p:sp>
      <p:sp>
        <p:nvSpPr>
          <p:cNvPr id="179202" name="Rectangle 1026"/>
          <p:cNvSpPr>
            <a:spLocks noGrp="1" noRot="1" noChangeAspect="1" noChangeArrowheads="1" noTextEdit="1"/>
          </p:cNvSpPr>
          <p:nvPr>
            <p:ph type="sldImg"/>
          </p:nvPr>
        </p:nvSpPr>
        <p:spPr>
          <a:ln/>
        </p:spPr>
      </p:sp>
      <p:sp>
        <p:nvSpPr>
          <p:cNvPr id="179203"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253E1B-1E1A-4859-906F-9B7F9FE7D9C6}" type="slidenum">
              <a:rPr lang="en-US" altLang="ja-JP"/>
              <a:pPr/>
              <a:t>12</a:t>
            </a:fld>
            <a:endParaRPr lang="en-US" altLang="ja-JP"/>
          </a:p>
        </p:txBody>
      </p:sp>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7A4EE-7278-4247-9E2C-624E95DF9328}" type="slidenum">
              <a:rPr lang="en-US" altLang="ja-JP"/>
              <a:pPr/>
              <a:t>13</a:t>
            </a:fld>
            <a:endParaRPr lang="en-US" altLang="ja-JP"/>
          </a:p>
        </p:txBody>
      </p:sp>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33996-6F79-4342-9DCE-2FF934E2331D}" type="slidenum">
              <a:rPr lang="en-US" altLang="ja-JP"/>
              <a:pPr/>
              <a:t>14</a:t>
            </a:fld>
            <a:endParaRPr lang="en-US" altLang="ja-JP"/>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195A8-CFF0-455C-B9FB-CC492D063F86}" type="slidenum">
              <a:rPr lang="en-US" altLang="ja-JP"/>
              <a:pPr/>
              <a:t>15</a:t>
            </a:fld>
            <a:endParaRPr lang="en-US" altLang="ja-JP"/>
          </a:p>
        </p:txBody>
      </p:sp>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E5593D-3C40-4BC7-A341-592465403104}" type="slidenum">
              <a:rPr lang="en-US" altLang="ja-JP"/>
              <a:pPr/>
              <a:t>16</a:t>
            </a:fld>
            <a:endParaRPr lang="en-US" altLang="ja-JP"/>
          </a:p>
        </p:txBody>
      </p:sp>
      <p:sp>
        <p:nvSpPr>
          <p:cNvPr id="183298" name="Rectangle 1026"/>
          <p:cNvSpPr>
            <a:spLocks noGrp="1" noRot="1" noChangeAspect="1" noChangeArrowheads="1" noTextEdit="1"/>
          </p:cNvSpPr>
          <p:nvPr>
            <p:ph type="sldImg"/>
          </p:nvPr>
        </p:nvSpPr>
        <p:spPr>
          <a:ln/>
        </p:spPr>
      </p:sp>
      <p:sp>
        <p:nvSpPr>
          <p:cNvPr id="183299"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47F32-1C87-4F56-B389-426D3BBCEE62}" type="slidenum">
              <a:rPr lang="en-US" altLang="ja-JP"/>
              <a:pPr/>
              <a:t>19</a:t>
            </a:fld>
            <a:endParaRPr lang="en-US" altLang="ja-JP"/>
          </a:p>
        </p:txBody>
      </p:sp>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306687"/>
          </a:xfrm>
        </p:spPr>
        <p:txBody>
          <a:bodyPr>
            <a:normAutofit fontScale="90000"/>
          </a:bodyPr>
          <a:lstStyle/>
          <a:p>
            <a:r>
              <a:rPr lang="ja-JP" altLang="en-US" dirty="0" smtClean="0"/>
              <a:t>システムプログラミング</a:t>
            </a:r>
            <a:r>
              <a:rPr lang="en-US" altLang="ja-JP" dirty="0" smtClean="0"/>
              <a:t/>
            </a:r>
            <a:br>
              <a:rPr lang="en-US" altLang="ja-JP" dirty="0" smtClean="0"/>
            </a:br>
            <a:r>
              <a:rPr lang="ja-JP" altLang="en-US" dirty="0" smtClean="0"/>
              <a:t>第９回 、１０回</a:t>
            </a:r>
            <a:r>
              <a:rPr lang="en-US" altLang="ja-JP" dirty="0" smtClean="0"/>
              <a:t/>
            </a:r>
            <a:br>
              <a:rPr lang="en-US" altLang="ja-JP" dirty="0" smtClean="0"/>
            </a:br>
            <a:r>
              <a:rPr lang="ja-JP" altLang="en-US" dirty="0" smtClean="0"/>
              <a:t>ハードリンク、シンボリックリンク</a:t>
            </a:r>
            <a:r>
              <a:rPr lang="en-US" altLang="ja-JP" dirty="0" smtClean="0"/>
              <a:t/>
            </a:r>
            <a:br>
              <a:rPr lang="en-US" altLang="ja-JP" dirty="0" smtClean="0"/>
            </a:br>
            <a:r>
              <a:rPr lang="ja-JP" altLang="en-US" dirty="0" smtClean="0"/>
              <a:t>プロセスの生成</a:t>
            </a:r>
            <a:endParaRPr kumimoji="1" lang="ja-JP" altLang="en-US" dirty="0"/>
          </a:p>
        </p:txBody>
      </p:sp>
      <p:sp>
        <p:nvSpPr>
          <p:cNvPr id="4" name="テキスト ボックス 3"/>
          <p:cNvSpPr txBox="1"/>
          <p:nvPr/>
        </p:nvSpPr>
        <p:spPr>
          <a:xfrm>
            <a:off x="2571736" y="5000636"/>
            <a:ext cx="4012637"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ハードリンク、シンボリックリンク</a:t>
            </a:r>
            <a:endParaRPr kumimoji="1" lang="en-US" altLang="ja-JP" dirty="0" smtClean="0"/>
          </a:p>
          <a:p>
            <a:r>
              <a:rPr lang="ja-JP" altLang="en-US" dirty="0" smtClean="0"/>
              <a:t>プロセスの生成</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ハードリンク</a:t>
            </a:r>
            <a:endParaRPr kumimoji="1" lang="ja-JP" altLang="en-US" dirty="0"/>
          </a:p>
        </p:txBody>
      </p:sp>
      <p:sp>
        <p:nvSpPr>
          <p:cNvPr id="4" name="テキスト ボックス 3"/>
          <p:cNvSpPr txBox="1"/>
          <p:nvPr/>
        </p:nvSpPr>
        <p:spPr>
          <a:xfrm>
            <a:off x="642911" y="1571612"/>
            <a:ext cx="8001056" cy="4401205"/>
          </a:xfrm>
          <a:prstGeom prst="rect">
            <a:avLst/>
          </a:prstGeom>
          <a:noFill/>
        </p:spPr>
        <p:txBody>
          <a:bodyPr wrap="square" rtlCol="0">
            <a:spAutoFit/>
          </a:bodyPr>
          <a:lstStyle/>
          <a:p>
            <a:r>
              <a:rPr lang="en-US" altLang="ja-JP" sz="2800" dirty="0" smtClean="0"/>
              <a:t>$ </a:t>
            </a:r>
            <a:r>
              <a:rPr lang="en-US" altLang="ja-JP" sz="2800" dirty="0" err="1" smtClean="0"/>
              <a:t>ls</a:t>
            </a:r>
            <a:r>
              <a:rPr lang="en-US" altLang="ja-JP" sz="2800" dirty="0" smtClean="0"/>
              <a:t> –l</a:t>
            </a:r>
          </a:p>
          <a:p>
            <a:r>
              <a:rPr kumimoji="1" lang="ja-JP" altLang="en-US" sz="2800" dirty="0" smtClean="0"/>
              <a:t>で表示される、</a:t>
            </a:r>
            <a:r>
              <a:rPr kumimoji="1" lang="en-US" altLang="ja-JP" sz="2800" dirty="0" smtClean="0"/>
              <a:t>permission</a:t>
            </a:r>
            <a:r>
              <a:rPr kumimoji="1" lang="ja-JP" altLang="en-US" sz="2800" dirty="0" smtClean="0"/>
              <a:t>情報の隣の数字は、リンク数（ハードリンク）である。</a:t>
            </a:r>
            <a:endParaRPr kumimoji="1" lang="en-US" altLang="ja-JP" sz="2800" dirty="0" smtClean="0"/>
          </a:p>
          <a:p>
            <a:endParaRPr lang="en-US" altLang="ja-JP" sz="2800" dirty="0" smtClean="0"/>
          </a:p>
          <a:p>
            <a:r>
              <a:rPr kumimoji="1" lang="ja-JP" altLang="en-US" sz="2800" dirty="0" smtClean="0"/>
              <a:t>複数のファイル名を同じファイル（</a:t>
            </a:r>
            <a:r>
              <a:rPr kumimoji="1" lang="en-US" altLang="ja-JP" sz="2800" dirty="0" err="1" smtClean="0"/>
              <a:t>inode</a:t>
            </a:r>
            <a:r>
              <a:rPr kumimoji="1" lang="ja-JP" altLang="en-US" sz="2800" dirty="0" smtClean="0"/>
              <a:t>番号）に対応させてよい。</a:t>
            </a:r>
            <a:endParaRPr kumimoji="1" lang="en-US" altLang="ja-JP" sz="2800" dirty="0" smtClean="0"/>
          </a:p>
          <a:p>
            <a:r>
              <a:rPr lang="ja-JP" altLang="en-US" sz="2800" dirty="0" smtClean="0"/>
              <a:t>ファイル</a:t>
            </a:r>
            <a:r>
              <a:rPr lang="en-US" altLang="ja-JP" sz="2800" dirty="0" smtClean="0"/>
              <a:t>(</a:t>
            </a:r>
            <a:r>
              <a:rPr lang="en-US" altLang="ja-JP" sz="2800" dirty="0" err="1" smtClean="0"/>
              <a:t>inode</a:t>
            </a:r>
            <a:r>
              <a:rPr lang="en-US" altLang="ja-JP" sz="2800" dirty="0" smtClean="0"/>
              <a:t>)</a:t>
            </a:r>
            <a:r>
              <a:rPr lang="ja-JP" altLang="en-US" sz="2800" dirty="0" smtClean="0"/>
              <a:t>は、それにつけられているファイル名の数を保持している。すべてのファイル名（ハードリンク）が削除されたとき、それに対応する</a:t>
            </a:r>
            <a:r>
              <a:rPr lang="en-US" altLang="ja-JP" sz="2800" dirty="0" err="1" smtClean="0"/>
              <a:t>inode</a:t>
            </a:r>
            <a:r>
              <a:rPr lang="ja-JP" altLang="en-US" sz="2800" dirty="0" smtClean="0"/>
              <a:t>とファイルの中身が削除される。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ハードリンクの作成</a:t>
            </a:r>
            <a:endParaRPr kumimoji="1" lang="ja-JP" altLang="en-US" dirty="0"/>
          </a:p>
        </p:txBody>
      </p:sp>
      <p:sp>
        <p:nvSpPr>
          <p:cNvPr id="4" name="テキスト ボックス 3"/>
          <p:cNvSpPr txBox="1"/>
          <p:nvPr/>
        </p:nvSpPr>
        <p:spPr>
          <a:xfrm>
            <a:off x="928662" y="1428736"/>
            <a:ext cx="7358114" cy="2677656"/>
          </a:xfrm>
          <a:prstGeom prst="rect">
            <a:avLst/>
          </a:prstGeom>
          <a:noFill/>
        </p:spPr>
        <p:txBody>
          <a:bodyPr wrap="square" rtlCol="0">
            <a:spAutoFit/>
          </a:bodyPr>
          <a:lstStyle/>
          <a:p>
            <a:r>
              <a:rPr kumimoji="1" lang="en-US" altLang="ja-JP" sz="2400" dirty="0" smtClean="0"/>
              <a:t> $  </a:t>
            </a:r>
            <a:r>
              <a:rPr kumimoji="1" lang="en-US" altLang="ja-JP" sz="2400" dirty="0" err="1" smtClean="0"/>
              <a:t>ln</a:t>
            </a:r>
            <a:r>
              <a:rPr kumimoji="1" lang="en-US" altLang="ja-JP" sz="2400" dirty="0" smtClean="0"/>
              <a:t>  </a:t>
            </a:r>
            <a:r>
              <a:rPr kumimoji="1" lang="en-US" altLang="ja-JP" sz="2400" dirty="0" err="1" smtClean="0"/>
              <a:t>test.c</a:t>
            </a:r>
            <a:r>
              <a:rPr kumimoji="1" lang="en-US" altLang="ja-JP" sz="2400" dirty="0" smtClean="0"/>
              <a:t>  </a:t>
            </a:r>
            <a:r>
              <a:rPr kumimoji="1" lang="en-US" altLang="ja-JP" sz="2400" dirty="0" err="1" smtClean="0"/>
              <a:t>foo</a:t>
            </a:r>
            <a:endParaRPr kumimoji="1" lang="en-US" altLang="ja-JP" sz="2400" dirty="0" smtClean="0"/>
          </a:p>
          <a:p>
            <a:r>
              <a:rPr lang="ja-JP" altLang="en-US" sz="2400" dirty="0" smtClean="0"/>
              <a:t>とすると、</a:t>
            </a:r>
            <a:r>
              <a:rPr lang="en-US" altLang="ja-JP" sz="2400" dirty="0" err="1" smtClean="0"/>
              <a:t>test.c</a:t>
            </a:r>
            <a:r>
              <a:rPr lang="ja-JP" altLang="en-US" sz="2400" dirty="0" smtClean="0"/>
              <a:t>が指すファイルを、</a:t>
            </a:r>
            <a:r>
              <a:rPr lang="en-US" altLang="ja-JP" sz="2400" dirty="0" err="1" smtClean="0"/>
              <a:t>foo</a:t>
            </a:r>
            <a:r>
              <a:rPr lang="ja-JP" altLang="en-US" sz="2400" dirty="0" smtClean="0"/>
              <a:t>という名前で指すようになる。</a:t>
            </a:r>
            <a:endParaRPr lang="en-US" altLang="ja-JP" sz="2400" dirty="0" smtClean="0"/>
          </a:p>
          <a:p>
            <a:endParaRPr kumimoji="1" lang="en-US" altLang="ja-JP" sz="2400" dirty="0" smtClean="0"/>
          </a:p>
          <a:p>
            <a:r>
              <a:rPr lang="ja-JP" altLang="en-US" sz="2400" dirty="0" smtClean="0"/>
              <a:t>ディレクトリに対するハードリンクは作成できない。（ただし、ディレクトリ作成時に、</a:t>
            </a:r>
            <a:r>
              <a:rPr lang="en-US" altLang="ja-JP" sz="2400" dirty="0" smtClean="0"/>
              <a:t>., ..</a:t>
            </a:r>
            <a:r>
              <a:rPr lang="ja-JP" altLang="en-US" sz="2400" dirty="0" smtClean="0"/>
              <a:t>というハードリンクが自動的に作成される。）</a:t>
            </a:r>
            <a:endParaRPr lang="en-US" altLang="ja-JP"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シンボリックリンク</a:t>
            </a:r>
            <a:endParaRPr kumimoji="1" lang="ja-JP" altLang="en-US" dirty="0"/>
          </a:p>
        </p:txBody>
      </p:sp>
      <p:sp>
        <p:nvSpPr>
          <p:cNvPr id="4" name="テキスト ボックス 3"/>
          <p:cNvSpPr txBox="1"/>
          <p:nvPr/>
        </p:nvSpPr>
        <p:spPr>
          <a:xfrm>
            <a:off x="714348" y="1500174"/>
            <a:ext cx="7429552" cy="4832092"/>
          </a:xfrm>
          <a:prstGeom prst="rect">
            <a:avLst/>
          </a:prstGeom>
          <a:noFill/>
        </p:spPr>
        <p:txBody>
          <a:bodyPr wrap="square" rtlCol="0">
            <a:spAutoFit/>
          </a:bodyPr>
          <a:lstStyle/>
          <a:p>
            <a:r>
              <a:rPr lang="ja-JP" altLang="en-US" sz="2800" dirty="0" smtClean="0"/>
              <a:t>リンクには２種類あり、ハードリンクとシンボリックリンクがある。</a:t>
            </a:r>
            <a:endParaRPr lang="en-US" altLang="ja-JP" sz="2800" dirty="0" smtClean="0"/>
          </a:p>
          <a:p>
            <a:endParaRPr lang="en-US" altLang="ja-JP" sz="2800" dirty="0" smtClean="0"/>
          </a:p>
          <a:p>
            <a:r>
              <a:rPr kumimoji="1" lang="en-US" altLang="ja-JP" sz="2800" dirty="0" smtClean="0"/>
              <a:t>$ </a:t>
            </a:r>
            <a:r>
              <a:rPr kumimoji="1" lang="en-US" altLang="ja-JP" sz="2800" dirty="0" err="1" smtClean="0"/>
              <a:t>ln</a:t>
            </a:r>
            <a:r>
              <a:rPr kumimoji="1" lang="en-US" altLang="ja-JP" sz="2800" dirty="0" smtClean="0"/>
              <a:t> –s </a:t>
            </a:r>
            <a:r>
              <a:rPr kumimoji="1" lang="en-US" altLang="ja-JP" sz="2800" dirty="0" err="1" smtClean="0"/>
              <a:t>test.c</a:t>
            </a:r>
            <a:r>
              <a:rPr kumimoji="1" lang="en-US" altLang="ja-JP" sz="2800" dirty="0" smtClean="0"/>
              <a:t> </a:t>
            </a:r>
            <a:r>
              <a:rPr kumimoji="1" lang="en-US" altLang="ja-JP" sz="2800" dirty="0" err="1" smtClean="0"/>
              <a:t>foo</a:t>
            </a:r>
            <a:endParaRPr kumimoji="1" lang="en-US" altLang="ja-JP" sz="2800" dirty="0" smtClean="0"/>
          </a:p>
          <a:p>
            <a:r>
              <a:rPr lang="ja-JP" altLang="en-US" sz="2800" dirty="0" smtClean="0"/>
              <a:t>によって、</a:t>
            </a:r>
            <a:r>
              <a:rPr lang="en-US" altLang="ja-JP" sz="2800" dirty="0" err="1" smtClean="0"/>
              <a:t>foo</a:t>
            </a:r>
            <a:r>
              <a:rPr lang="ja-JP" altLang="en-US" sz="2800" dirty="0" smtClean="0"/>
              <a:t>は</a:t>
            </a:r>
            <a:r>
              <a:rPr lang="en-US" altLang="ja-JP" sz="2800" dirty="0" err="1" smtClean="0"/>
              <a:t>test.c</a:t>
            </a:r>
            <a:r>
              <a:rPr lang="ja-JP" altLang="en-US" sz="2800" dirty="0" smtClean="0"/>
              <a:t>を指すようになる。</a:t>
            </a:r>
            <a:endParaRPr lang="en-US" altLang="ja-JP" sz="2800" dirty="0" smtClean="0"/>
          </a:p>
          <a:p>
            <a:r>
              <a:rPr lang="ja-JP" altLang="en-US" sz="2800" dirty="0" smtClean="0"/>
              <a:t>これにより、</a:t>
            </a:r>
            <a:r>
              <a:rPr lang="en-US" altLang="ja-JP" sz="2800" dirty="0" err="1" smtClean="0"/>
              <a:t>foo</a:t>
            </a:r>
            <a:r>
              <a:rPr lang="ja-JP" altLang="en-US" sz="2800" dirty="0" smtClean="0"/>
              <a:t>という新しいファイル（</a:t>
            </a:r>
            <a:r>
              <a:rPr lang="en-US" altLang="ja-JP" sz="2800" dirty="0" err="1" smtClean="0"/>
              <a:t>test.c</a:t>
            </a:r>
            <a:r>
              <a:rPr lang="ja-JP" altLang="en-US" sz="2800" dirty="0" smtClean="0"/>
              <a:t>というファイル名を中身に持っているファイル）が作成される。</a:t>
            </a:r>
            <a:endParaRPr lang="en-US" altLang="ja-JP" sz="2800" dirty="0" smtClean="0"/>
          </a:p>
          <a:p>
            <a:endParaRPr lang="en-US" altLang="ja-JP" sz="2800" dirty="0" smtClean="0"/>
          </a:p>
          <a:p>
            <a:r>
              <a:rPr kumimoji="1" lang="en-US" altLang="ja-JP" sz="2800" dirty="0" smtClean="0"/>
              <a:t> </a:t>
            </a:r>
            <a:r>
              <a:rPr kumimoji="1" lang="en-US" altLang="ja-JP" sz="2800" dirty="0" err="1" smtClean="0"/>
              <a:t>ls</a:t>
            </a:r>
            <a:r>
              <a:rPr kumimoji="1" lang="en-US" altLang="ja-JP" sz="2800" dirty="0" smtClean="0"/>
              <a:t> –l </a:t>
            </a:r>
            <a:r>
              <a:rPr kumimoji="1" lang="ja-JP" altLang="en-US" sz="2800" dirty="0" smtClean="0"/>
              <a:t>で表示されるリンクカウントは、ハードリンクの数である。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スライド番号プレースホルダ 5"/>
          <p:cNvSpPr>
            <a:spLocks noGrp="1"/>
          </p:cNvSpPr>
          <p:nvPr>
            <p:ph type="sldNum" sz="quarter" idx="12"/>
          </p:nvPr>
        </p:nvSpPr>
        <p:spPr/>
        <p:txBody>
          <a:bodyPr/>
          <a:lstStyle/>
          <a:p>
            <a:fld id="{1DF29134-03AF-4BBB-A86E-600F8E71CFCE}" type="slidenum">
              <a:rPr lang="en-US" altLang="ja-JP"/>
              <a:pPr/>
              <a:t>6</a:t>
            </a:fld>
            <a:endParaRPr lang="en-US" altLang="ja-JP"/>
          </a:p>
        </p:txBody>
      </p:sp>
      <p:sp>
        <p:nvSpPr>
          <p:cNvPr id="126978" name="Rectangle 2"/>
          <p:cNvSpPr>
            <a:spLocks noGrp="1" noChangeArrowheads="1"/>
          </p:cNvSpPr>
          <p:nvPr>
            <p:ph type="title"/>
          </p:nvPr>
        </p:nvSpPr>
        <p:spPr/>
        <p:txBody>
          <a:bodyPr/>
          <a:lstStyle/>
          <a:p>
            <a:r>
              <a:rPr lang="ja-JP" altLang="en-US"/>
              <a:t>プロセスとは？</a:t>
            </a:r>
          </a:p>
        </p:txBody>
      </p:sp>
      <p:sp>
        <p:nvSpPr>
          <p:cNvPr id="126979" name="Rectangle 3"/>
          <p:cNvSpPr>
            <a:spLocks noGrp="1" noChangeArrowheads="1"/>
          </p:cNvSpPr>
          <p:nvPr>
            <p:ph type="body" idx="1"/>
          </p:nvPr>
        </p:nvSpPr>
        <p:spPr>
          <a:xfrm>
            <a:off x="250825" y="1484313"/>
            <a:ext cx="8393141" cy="4516455"/>
          </a:xfrm>
        </p:spPr>
        <p:txBody>
          <a:bodyPr>
            <a:normAutofit fontScale="85000" lnSpcReduction="10000"/>
          </a:bodyPr>
          <a:lstStyle/>
          <a:p>
            <a:r>
              <a:rPr lang="en-US" altLang="ja-JP" dirty="0" smtClean="0"/>
              <a:t>Unix</a:t>
            </a:r>
            <a:r>
              <a:rPr lang="ja-JP" altLang="en-US" dirty="0" smtClean="0"/>
              <a:t>系</a:t>
            </a:r>
            <a:r>
              <a:rPr lang="en-US" altLang="ja-JP" dirty="0" smtClean="0"/>
              <a:t>OS</a:t>
            </a:r>
            <a:r>
              <a:rPr lang="ja-JP" altLang="en-US" dirty="0" smtClean="0"/>
              <a:t>では、複数のプログラムを同時に並行して実行させることができる（各時点では１つのプログラムが実行されている）。</a:t>
            </a:r>
            <a:r>
              <a:rPr lang="en-US" altLang="ja-JP" dirty="0" smtClean="0"/>
              <a:t>OS</a:t>
            </a:r>
            <a:r>
              <a:rPr lang="ja-JP" altLang="en-US" dirty="0" smtClean="0"/>
              <a:t>は各プログラムを切り替えて実行する。一つ一つのプログラムについて、プログラム中のどこをどういう状態（メモリ、レジスタ）で実行しているか、（今実行していない場合は）復帰できるように覚えておく必要がある。このそれぞれのプログラムの実行の状態（を管理するテーブルのエントリ）をプロセスという。</a:t>
            </a:r>
            <a:endParaRPr lang="en-US" altLang="ja-JP" dirty="0" smtClean="0"/>
          </a:p>
          <a:p>
            <a:endParaRPr lang="en-US" altLang="ja-JP" dirty="0" smtClean="0"/>
          </a:p>
          <a:p>
            <a:r>
              <a:rPr lang="ja-JP" altLang="en-US" dirty="0" smtClean="0"/>
              <a:t>各プロセスは、生成状態、実行状態、休眠状態、実行可能状態、ゾンビ状態のいずれかの状態にある。</a:t>
            </a:r>
            <a:endParaRPr lang="en-US" altLang="ja-JP"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 5"/>
          <p:cNvSpPr>
            <a:spLocks noGrp="1"/>
          </p:cNvSpPr>
          <p:nvPr>
            <p:ph type="sldNum" sz="quarter" idx="12"/>
          </p:nvPr>
        </p:nvSpPr>
        <p:spPr/>
        <p:txBody>
          <a:bodyPr/>
          <a:lstStyle/>
          <a:p>
            <a:fld id="{6A682B4C-FCAE-4F10-B1D8-75362E788D8A}" type="slidenum">
              <a:rPr lang="en-US" altLang="ja-JP"/>
              <a:pPr/>
              <a:t>7</a:t>
            </a:fld>
            <a:endParaRPr lang="en-US" altLang="ja-JP" dirty="0"/>
          </a:p>
        </p:txBody>
      </p:sp>
      <p:sp>
        <p:nvSpPr>
          <p:cNvPr id="133123" name="Rectangle 3"/>
          <p:cNvSpPr>
            <a:spLocks noGrp="1" noChangeArrowheads="1"/>
          </p:cNvSpPr>
          <p:nvPr>
            <p:ph type="title"/>
          </p:nvPr>
        </p:nvSpPr>
        <p:spPr>
          <a:xfrm>
            <a:off x="428596" y="0"/>
            <a:ext cx="8229600" cy="1143000"/>
          </a:xfrm>
        </p:spPr>
        <p:txBody>
          <a:bodyPr/>
          <a:lstStyle/>
          <a:p>
            <a:r>
              <a:rPr lang="ja-JP" altLang="en-US" u="sng"/>
              <a:t>プロセスの状態</a:t>
            </a:r>
          </a:p>
        </p:txBody>
      </p:sp>
      <p:sp>
        <p:nvSpPr>
          <p:cNvPr id="133124" name="Rectangle 4"/>
          <p:cNvSpPr>
            <a:spLocks noGrp="1" noChangeArrowheads="1"/>
          </p:cNvSpPr>
          <p:nvPr>
            <p:ph type="body" idx="1"/>
          </p:nvPr>
        </p:nvSpPr>
        <p:spPr>
          <a:xfrm>
            <a:off x="642910" y="1285860"/>
            <a:ext cx="7643866" cy="4786346"/>
          </a:xfrm>
          <a:noFill/>
        </p:spPr>
        <p:txBody>
          <a:bodyPr>
            <a:noAutofit/>
          </a:bodyPr>
          <a:lstStyle/>
          <a:p>
            <a:r>
              <a:rPr lang="en-US" altLang="ja-JP" sz="2800" dirty="0" smtClean="0"/>
              <a:t>5</a:t>
            </a:r>
            <a:r>
              <a:rPr lang="ja-JP" altLang="en-US" sz="2800" dirty="0" err="1"/>
              <a:t>つの</a:t>
            </a:r>
            <a:r>
              <a:rPr lang="ja-JP" altLang="en-US" sz="2800" dirty="0"/>
              <a:t>状態を</a:t>
            </a:r>
            <a:r>
              <a:rPr lang="ja-JP" altLang="en-US" sz="2800" dirty="0" smtClean="0"/>
              <a:t>遷移</a:t>
            </a:r>
            <a:endParaRPr lang="ja-JP" altLang="en-US" sz="2800" dirty="0"/>
          </a:p>
          <a:p>
            <a:pPr lvl="1"/>
            <a:r>
              <a:rPr lang="ja-JP" altLang="en-US" dirty="0"/>
              <a:t>実行状態：現在</a:t>
            </a:r>
            <a:r>
              <a:rPr lang="en-US" altLang="ja-JP" dirty="0"/>
              <a:t>CPU</a:t>
            </a:r>
            <a:r>
              <a:rPr lang="ja-JP" altLang="en-US" dirty="0"/>
              <a:t>で実行中の状態</a:t>
            </a:r>
          </a:p>
          <a:p>
            <a:pPr lvl="1"/>
            <a:r>
              <a:rPr lang="ja-JP" altLang="en-US" dirty="0"/>
              <a:t>実行可能状態：スケジューラに</a:t>
            </a:r>
            <a:r>
              <a:rPr lang="ja-JP" altLang="en-US" dirty="0" smtClean="0"/>
              <a:t>よる</a:t>
            </a:r>
            <a:r>
              <a:rPr lang="en-US" altLang="ja-JP" dirty="0" smtClean="0"/>
              <a:t>CPU</a:t>
            </a:r>
            <a:r>
              <a:rPr lang="ja-JP" altLang="en-US" dirty="0"/>
              <a:t>の割り当てを待っている状態</a:t>
            </a:r>
          </a:p>
          <a:p>
            <a:pPr lvl="1"/>
            <a:r>
              <a:rPr lang="ja-JP" altLang="en-US" dirty="0"/>
              <a:t>休眠状態：入出力の終了待ちなどで実行を継続できない状態</a:t>
            </a:r>
          </a:p>
          <a:p>
            <a:pPr lvl="1"/>
            <a:r>
              <a:rPr lang="ja-JP" altLang="en-US" dirty="0"/>
              <a:t>生成状態：</a:t>
            </a:r>
            <a:r>
              <a:rPr lang="en-US" altLang="ja-JP" dirty="0"/>
              <a:t>fork()</a:t>
            </a:r>
            <a:r>
              <a:rPr lang="ja-JP" altLang="en-US" dirty="0"/>
              <a:t>システムコールにより生成された状態</a:t>
            </a:r>
          </a:p>
          <a:p>
            <a:pPr lvl="1"/>
            <a:r>
              <a:rPr lang="ja-JP" altLang="en-US" dirty="0"/>
              <a:t>ゾンビ状態：</a:t>
            </a:r>
            <a:r>
              <a:rPr lang="en-US" altLang="ja-JP" dirty="0"/>
              <a:t>exit()</a:t>
            </a:r>
            <a:r>
              <a:rPr lang="ja-JP" altLang="en-US" dirty="0" smtClean="0"/>
              <a:t>システムコール</a:t>
            </a:r>
            <a:r>
              <a:rPr lang="ja-JP" altLang="en-US" dirty="0"/>
              <a:t>により終了した状態</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 5"/>
          <p:cNvSpPr>
            <a:spLocks noGrp="1"/>
          </p:cNvSpPr>
          <p:nvPr>
            <p:ph type="sldNum" sz="quarter" idx="12"/>
          </p:nvPr>
        </p:nvSpPr>
        <p:spPr/>
        <p:txBody>
          <a:bodyPr/>
          <a:lstStyle/>
          <a:p>
            <a:fld id="{307B0FA6-D932-443E-B61C-6CDEA4AEC6A4}" type="slidenum">
              <a:rPr lang="en-US" altLang="ja-JP"/>
              <a:pPr/>
              <a:t>8</a:t>
            </a:fld>
            <a:endParaRPr lang="en-US" altLang="ja-JP"/>
          </a:p>
        </p:txBody>
      </p:sp>
      <p:sp>
        <p:nvSpPr>
          <p:cNvPr id="134146" name="Rectangle 2"/>
          <p:cNvSpPr>
            <a:spLocks noGrp="1" noChangeArrowheads="1"/>
          </p:cNvSpPr>
          <p:nvPr>
            <p:ph type="body" idx="1"/>
          </p:nvPr>
        </p:nvSpPr>
        <p:spPr>
          <a:xfrm>
            <a:off x="714348" y="4286256"/>
            <a:ext cx="7459688" cy="2379659"/>
          </a:xfrm>
        </p:spPr>
        <p:txBody>
          <a:bodyPr>
            <a:normAutofit/>
          </a:bodyPr>
          <a:lstStyle/>
          <a:p>
            <a:r>
              <a:rPr lang="ja-JP" altLang="en-US" sz="2400" dirty="0"/>
              <a:t>入力待ちにより実行</a:t>
            </a:r>
            <a:r>
              <a:rPr lang="ja-JP" altLang="en-US" sz="2400" dirty="0" smtClean="0"/>
              <a:t>状態から休眠</a:t>
            </a:r>
            <a:r>
              <a:rPr lang="ja-JP" altLang="en-US" sz="2400" dirty="0"/>
              <a:t>状態へ</a:t>
            </a:r>
          </a:p>
          <a:p>
            <a:pPr lvl="1"/>
            <a:r>
              <a:rPr lang="ja-JP" altLang="en-US" sz="2400" dirty="0"/>
              <a:t>他のプロセスへ実行権を譲る</a:t>
            </a:r>
          </a:p>
          <a:p>
            <a:r>
              <a:rPr lang="en-US" altLang="ja-JP" sz="2400" dirty="0" smtClean="0"/>
              <a:t>CPU</a:t>
            </a:r>
            <a:r>
              <a:rPr lang="ja-JP" altLang="en-US" sz="2400" dirty="0" smtClean="0"/>
              <a:t>占有</a:t>
            </a:r>
            <a:r>
              <a:rPr lang="ja-JP" altLang="en-US" sz="2400" dirty="0"/>
              <a:t>時間経過による実行</a:t>
            </a:r>
            <a:r>
              <a:rPr lang="ja-JP" altLang="en-US" sz="2400" dirty="0" smtClean="0"/>
              <a:t>状態から実行可能</a:t>
            </a:r>
            <a:r>
              <a:rPr lang="ja-JP" altLang="en-US" sz="2400" dirty="0"/>
              <a:t>状態への遷移</a:t>
            </a:r>
          </a:p>
          <a:p>
            <a:pPr lvl="1"/>
            <a:r>
              <a:rPr lang="en-US" altLang="ja-JP" sz="2400" dirty="0" smtClean="0"/>
              <a:t>Time </a:t>
            </a:r>
            <a:r>
              <a:rPr lang="en-US" altLang="ja-JP" sz="2400" dirty="0"/>
              <a:t>Sharing </a:t>
            </a:r>
            <a:r>
              <a:rPr lang="en-US" altLang="ja-JP" sz="2400" dirty="0" smtClean="0"/>
              <a:t>System</a:t>
            </a:r>
            <a:r>
              <a:rPr lang="ja-JP" altLang="en-US" sz="2400" dirty="0" smtClean="0"/>
              <a:t>の</a:t>
            </a:r>
            <a:r>
              <a:rPr lang="ja-JP" altLang="en-US" sz="2400" dirty="0"/>
              <a:t>実現</a:t>
            </a:r>
          </a:p>
        </p:txBody>
      </p:sp>
      <p:pic>
        <p:nvPicPr>
          <p:cNvPr id="134147" name="Picture 3" descr="fig4"/>
          <p:cNvPicPr>
            <a:picLocks noChangeAspect="1" noChangeArrowheads="1"/>
          </p:cNvPicPr>
          <p:nvPr/>
        </p:nvPicPr>
        <p:blipFill>
          <a:blip r:embed="rId3" cstate="print"/>
          <a:srcRect/>
          <a:stretch>
            <a:fillRect/>
          </a:stretch>
        </p:blipFill>
        <p:spPr bwMode="auto">
          <a:xfrm>
            <a:off x="571472" y="714356"/>
            <a:ext cx="7885113" cy="3495675"/>
          </a:xfrm>
          <a:prstGeom prst="rect">
            <a:avLst/>
          </a:prstGeom>
          <a:noFill/>
        </p:spPr>
      </p:pic>
      <p:sp>
        <p:nvSpPr>
          <p:cNvPr id="134148" name="Rectangle 4"/>
          <p:cNvSpPr>
            <a:spLocks noGrp="1" noChangeArrowheads="1"/>
          </p:cNvSpPr>
          <p:nvPr>
            <p:ph type="title"/>
          </p:nvPr>
        </p:nvSpPr>
        <p:spPr>
          <a:xfrm>
            <a:off x="468313" y="-171450"/>
            <a:ext cx="8229600" cy="1143000"/>
          </a:xfrm>
        </p:spPr>
        <p:txBody>
          <a:bodyPr/>
          <a:lstStyle/>
          <a:p>
            <a:r>
              <a:rPr lang="en-US" altLang="ja-JP" sz="3600" u="sng"/>
              <a:t> </a:t>
            </a:r>
            <a:r>
              <a:rPr lang="ja-JP" altLang="en-US" sz="3600" u="sng"/>
              <a:t>プロセスの状態遷移図</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98872709-387B-476D-9098-6D68CC8399A9}" type="slidenum">
              <a:rPr lang="en-US" altLang="ja-JP"/>
              <a:pPr/>
              <a:t>9</a:t>
            </a:fld>
            <a:endParaRPr lang="en-US" altLang="ja-JP"/>
          </a:p>
        </p:txBody>
      </p:sp>
      <p:sp>
        <p:nvSpPr>
          <p:cNvPr id="136194" name="Rectangle 2"/>
          <p:cNvSpPr>
            <a:spLocks noGrp="1" noChangeArrowheads="1"/>
          </p:cNvSpPr>
          <p:nvPr>
            <p:ph type="title"/>
          </p:nvPr>
        </p:nvSpPr>
        <p:spPr/>
        <p:txBody>
          <a:bodyPr/>
          <a:lstStyle/>
          <a:p>
            <a:r>
              <a:rPr lang="ja-JP" altLang="en-US" u="sng"/>
              <a:t>プロセスの優先度</a:t>
            </a:r>
          </a:p>
        </p:txBody>
      </p:sp>
      <p:sp>
        <p:nvSpPr>
          <p:cNvPr id="136195" name="Rectangle 3"/>
          <p:cNvSpPr>
            <a:spLocks noGrp="1" noChangeArrowheads="1"/>
          </p:cNvSpPr>
          <p:nvPr>
            <p:ph type="body" idx="1"/>
          </p:nvPr>
        </p:nvSpPr>
        <p:spPr>
          <a:xfrm>
            <a:off x="457200" y="1600200"/>
            <a:ext cx="8229600" cy="4829196"/>
          </a:xfrm>
        </p:spPr>
        <p:txBody>
          <a:bodyPr>
            <a:normAutofit fontScale="92500" lnSpcReduction="20000"/>
          </a:bodyPr>
          <a:lstStyle/>
          <a:p>
            <a:r>
              <a:rPr lang="ja-JP" altLang="en-US" dirty="0"/>
              <a:t>実行可能状態にあるプロセスに対して優先度を定義</a:t>
            </a:r>
          </a:p>
          <a:p>
            <a:r>
              <a:rPr lang="ja-JP" altLang="en-US" dirty="0"/>
              <a:t>スケジューラにより，優先度の高い順に選択されて実行</a:t>
            </a:r>
          </a:p>
          <a:p>
            <a:r>
              <a:rPr lang="ja-JP" altLang="en-US" dirty="0"/>
              <a:t>カーネル</a:t>
            </a:r>
          </a:p>
          <a:p>
            <a:pPr lvl="1"/>
            <a:r>
              <a:rPr lang="ja-JP" altLang="en-US" dirty="0"/>
              <a:t>プロセス優先度を自律的制御で刻々と</a:t>
            </a:r>
            <a:r>
              <a:rPr lang="ja-JP" altLang="en-US" dirty="0" smtClean="0"/>
              <a:t>変化させ、プロセス実行</a:t>
            </a:r>
            <a:r>
              <a:rPr lang="ja-JP" altLang="en-US" dirty="0"/>
              <a:t>の機会均等を実現</a:t>
            </a:r>
          </a:p>
          <a:p>
            <a:pPr lvl="1"/>
            <a:r>
              <a:rPr lang="ja-JP" altLang="en-US" dirty="0" smtClean="0"/>
              <a:t>プロセスの優先度</a:t>
            </a:r>
            <a:r>
              <a:rPr lang="ja-JP" altLang="en-US" dirty="0"/>
              <a:t>を変更</a:t>
            </a:r>
            <a:r>
              <a:rPr lang="ja-JP" altLang="en-US" dirty="0" smtClean="0"/>
              <a:t>するためのシステムコール</a:t>
            </a:r>
            <a:r>
              <a:rPr lang="en-US" altLang="ja-JP" dirty="0" smtClean="0"/>
              <a:t>nice</a:t>
            </a:r>
            <a:r>
              <a:rPr lang="ja-JP" altLang="en-US" dirty="0" smtClean="0"/>
              <a:t>がある。</a:t>
            </a:r>
            <a:r>
              <a:rPr lang="en-US" altLang="ja-JP" dirty="0" smtClean="0"/>
              <a:t>nice(3)</a:t>
            </a:r>
            <a:r>
              <a:rPr lang="ja-JP" altLang="en-US" dirty="0" smtClean="0"/>
              <a:t>などで呼び出すと、呼び出したプロセスの優先度に</a:t>
            </a:r>
            <a:r>
              <a:rPr lang="en-US" altLang="ja-JP" dirty="0" smtClean="0"/>
              <a:t>3</a:t>
            </a:r>
            <a:r>
              <a:rPr lang="ja-JP" altLang="en-US" dirty="0" smtClean="0"/>
              <a:t>が足される（優先度が下がる）。（マイナスの数を指定できるのは</a:t>
            </a:r>
            <a:r>
              <a:rPr lang="en-US" altLang="ja-JP" dirty="0" smtClean="0"/>
              <a:t>root</a:t>
            </a:r>
            <a:r>
              <a:rPr lang="ja-JP" altLang="en-US" dirty="0" smtClean="0"/>
              <a:t>権限で実行されているプロセスのみ。一般ユーザのプロセスは優先度を下げることのみ可能。）</a:t>
            </a:r>
            <a:endParaRPr lang="en-US" altLang="ja-JP"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DBC951E3-A8FF-4CA7-ABF9-64946D8C40F1}" type="slidenum">
              <a:rPr lang="en-US" altLang="ja-JP"/>
              <a:pPr/>
              <a:t>10</a:t>
            </a:fld>
            <a:endParaRPr lang="en-US" altLang="ja-JP"/>
          </a:p>
        </p:txBody>
      </p:sp>
      <p:sp>
        <p:nvSpPr>
          <p:cNvPr id="135170" name="Rectangle 2"/>
          <p:cNvSpPr>
            <a:spLocks noGrp="1" noChangeArrowheads="1"/>
          </p:cNvSpPr>
          <p:nvPr>
            <p:ph type="title"/>
          </p:nvPr>
        </p:nvSpPr>
        <p:spPr/>
        <p:txBody>
          <a:bodyPr/>
          <a:lstStyle/>
          <a:p>
            <a:r>
              <a:rPr lang="ja-JP" altLang="en-US" u="sng" dirty="0" smtClean="0"/>
              <a:t>プロセス</a:t>
            </a:r>
            <a:r>
              <a:rPr lang="en-US" altLang="ja-JP" u="sng" dirty="0" smtClean="0"/>
              <a:t>ID</a:t>
            </a:r>
            <a:endParaRPr lang="ja-JP" altLang="en-US" u="sng" dirty="0"/>
          </a:p>
        </p:txBody>
      </p:sp>
      <p:sp>
        <p:nvSpPr>
          <p:cNvPr id="135171" name="Rectangle 3"/>
          <p:cNvSpPr>
            <a:spLocks noGrp="1" noChangeArrowheads="1"/>
          </p:cNvSpPr>
          <p:nvPr>
            <p:ph type="body" idx="1"/>
          </p:nvPr>
        </p:nvSpPr>
        <p:spPr>
          <a:xfrm>
            <a:off x="457200" y="1600200"/>
            <a:ext cx="8229600" cy="2757493"/>
          </a:xfrm>
        </p:spPr>
        <p:txBody>
          <a:bodyPr>
            <a:normAutofit lnSpcReduction="10000"/>
          </a:bodyPr>
          <a:lstStyle/>
          <a:p>
            <a:r>
              <a:rPr lang="ja-JP" altLang="en-US" sz="2400" dirty="0" smtClean="0"/>
              <a:t>プロセス</a:t>
            </a:r>
            <a:r>
              <a:rPr lang="en-US" altLang="ja-JP" sz="2400" dirty="0"/>
              <a:t>ID</a:t>
            </a:r>
          </a:p>
          <a:p>
            <a:pPr lvl="1"/>
            <a:r>
              <a:rPr lang="ja-JP" altLang="en-US" sz="2400" dirty="0"/>
              <a:t>プロセスを一意に識別するための</a:t>
            </a:r>
            <a:r>
              <a:rPr lang="ja-JP" altLang="en-US" sz="2400" dirty="0" smtClean="0"/>
              <a:t>番号。この番号ですべてのプロセスを管理する。</a:t>
            </a:r>
            <a:endParaRPr lang="en-US" altLang="ja-JP" sz="2400" dirty="0" smtClean="0"/>
          </a:p>
          <a:p>
            <a:r>
              <a:rPr lang="ja-JP" altLang="en-US" sz="2400" dirty="0" smtClean="0"/>
              <a:t>現在実行中のプロセス</a:t>
            </a:r>
            <a:r>
              <a:rPr lang="en-US" altLang="ja-JP" sz="2400" dirty="0" smtClean="0"/>
              <a:t>ID</a:t>
            </a:r>
            <a:r>
              <a:rPr lang="ja-JP" altLang="en-US" sz="2400" dirty="0" smtClean="0"/>
              <a:t>は、</a:t>
            </a:r>
            <a:r>
              <a:rPr lang="en-US" altLang="ja-JP" sz="2400" dirty="0" err="1" smtClean="0"/>
              <a:t>getpid</a:t>
            </a:r>
            <a:r>
              <a:rPr lang="en-US" altLang="ja-JP" sz="2400" dirty="0" smtClean="0"/>
              <a:t>()</a:t>
            </a:r>
            <a:r>
              <a:rPr lang="ja-JP" altLang="en-US" sz="2400" dirty="0" smtClean="0"/>
              <a:t>システムコールにより取得できる。</a:t>
            </a:r>
            <a:endParaRPr lang="en-US" altLang="ja-JP" sz="2400" dirty="0" smtClean="0"/>
          </a:p>
          <a:p>
            <a:r>
              <a:rPr lang="ja-JP" altLang="en-US" sz="2400" dirty="0" smtClean="0"/>
              <a:t>現在実行中のプロセスの親プロセスのプロセス</a:t>
            </a:r>
            <a:r>
              <a:rPr lang="en-US" altLang="ja-JP" sz="2400" dirty="0" smtClean="0"/>
              <a:t>ID</a:t>
            </a:r>
            <a:r>
              <a:rPr lang="ja-JP" altLang="en-US" sz="2400" dirty="0" smtClean="0"/>
              <a:t>は、</a:t>
            </a:r>
            <a:r>
              <a:rPr lang="en-US" altLang="ja-JP" sz="2400" dirty="0" err="1" smtClean="0"/>
              <a:t>getppid</a:t>
            </a:r>
            <a:r>
              <a:rPr lang="en-US" altLang="ja-JP" sz="2400" dirty="0" smtClean="0"/>
              <a:t>()</a:t>
            </a:r>
            <a:r>
              <a:rPr lang="ja-JP" altLang="en-US" sz="2400" dirty="0" smtClean="0"/>
              <a:t>システムコールにより取得できる。</a:t>
            </a:r>
            <a:endParaRPr lang="ja-JP" altLang="en-US" sz="2400" dirty="0"/>
          </a:p>
        </p:txBody>
      </p:sp>
      <p:sp>
        <p:nvSpPr>
          <p:cNvPr id="5" name="正方形/長方形 4"/>
          <p:cNvSpPr/>
          <p:nvPr/>
        </p:nvSpPr>
        <p:spPr>
          <a:xfrm>
            <a:off x="785786" y="4429132"/>
            <a:ext cx="4572000" cy="1938992"/>
          </a:xfrm>
          <a:prstGeom prst="rect">
            <a:avLst/>
          </a:prstGeom>
          <a:ln>
            <a:solidFill>
              <a:schemeClr val="tx1"/>
            </a:solidFill>
          </a:ln>
        </p:spPr>
        <p:txBody>
          <a:bodyPr>
            <a:spAutoFit/>
          </a:bodyPr>
          <a:lstStyle/>
          <a:p>
            <a:r>
              <a:rPr lang="en-US" altLang="ja-JP" sz="2400" dirty="0" smtClean="0"/>
              <a:t>SYNOPSIS</a:t>
            </a:r>
          </a:p>
          <a:p>
            <a:r>
              <a:rPr lang="en-US" altLang="ja-JP" sz="2400" dirty="0" smtClean="0"/>
              <a:t>       #include &lt;sys/</a:t>
            </a:r>
            <a:r>
              <a:rPr lang="en-US" altLang="ja-JP" sz="2400" dirty="0" err="1" smtClean="0"/>
              <a:t>types.h</a:t>
            </a:r>
            <a:r>
              <a:rPr lang="en-US" altLang="ja-JP" sz="2400" dirty="0" smtClean="0"/>
              <a:t>&gt;</a:t>
            </a:r>
          </a:p>
          <a:p>
            <a:r>
              <a:rPr lang="en-US" altLang="ja-JP" sz="2400" dirty="0" smtClean="0"/>
              <a:t>       #include &lt;</a:t>
            </a:r>
            <a:r>
              <a:rPr lang="en-US" altLang="ja-JP" sz="2400" dirty="0" err="1" smtClean="0"/>
              <a:t>unistd.h</a:t>
            </a:r>
            <a:r>
              <a:rPr lang="en-US" altLang="ja-JP" sz="2400" dirty="0" smtClean="0"/>
              <a:t>&gt;</a:t>
            </a:r>
          </a:p>
          <a:p>
            <a:r>
              <a:rPr lang="en-US" altLang="ja-JP" sz="2400" dirty="0" smtClean="0"/>
              <a:t>       </a:t>
            </a:r>
            <a:r>
              <a:rPr lang="en-US" altLang="ja-JP" sz="2400" dirty="0" err="1" smtClean="0"/>
              <a:t>pid_t</a:t>
            </a:r>
            <a:r>
              <a:rPr lang="en-US" altLang="ja-JP" sz="2400" dirty="0" smtClean="0"/>
              <a:t> </a:t>
            </a:r>
            <a:r>
              <a:rPr lang="en-US" altLang="ja-JP" sz="2400" dirty="0" err="1" smtClean="0"/>
              <a:t>getpid</a:t>
            </a:r>
            <a:r>
              <a:rPr lang="en-US" altLang="ja-JP" sz="2400" dirty="0" smtClean="0"/>
              <a:t>(void);</a:t>
            </a:r>
          </a:p>
          <a:p>
            <a:r>
              <a:rPr lang="en-US" altLang="ja-JP" sz="2400" dirty="0" smtClean="0"/>
              <a:t>       </a:t>
            </a:r>
            <a:r>
              <a:rPr lang="en-US" altLang="ja-JP" sz="2400" dirty="0" err="1" smtClean="0"/>
              <a:t>pid_t</a:t>
            </a:r>
            <a:r>
              <a:rPr lang="en-US" altLang="ja-JP" sz="2400" dirty="0" smtClean="0"/>
              <a:t> </a:t>
            </a:r>
            <a:r>
              <a:rPr lang="en-US" altLang="ja-JP" sz="2400" dirty="0" err="1" smtClean="0"/>
              <a:t>getppid</a:t>
            </a:r>
            <a:r>
              <a:rPr lang="en-US" altLang="ja-JP" sz="2400" dirty="0" smtClean="0"/>
              <a:t>(void);</a:t>
            </a:r>
            <a:endParaRPr lang="en-US" altLang="ja-JP" sz="2400" dirty="0"/>
          </a:p>
        </p:txBody>
      </p:sp>
      <p:sp>
        <p:nvSpPr>
          <p:cNvPr id="6" name="テキスト ボックス 5"/>
          <p:cNvSpPr txBox="1"/>
          <p:nvPr/>
        </p:nvSpPr>
        <p:spPr>
          <a:xfrm>
            <a:off x="5500694" y="4500570"/>
            <a:ext cx="3428992" cy="1815882"/>
          </a:xfrm>
          <a:prstGeom prst="rect">
            <a:avLst/>
          </a:prstGeom>
          <a:noFill/>
        </p:spPr>
        <p:txBody>
          <a:bodyPr wrap="square" rtlCol="0">
            <a:spAutoFit/>
          </a:bodyPr>
          <a:lstStyle/>
          <a:p>
            <a:r>
              <a:rPr lang="en-US" altLang="ja-JP" sz="2800" dirty="0" err="1" smtClean="0"/>
              <a:t>pid_t</a:t>
            </a:r>
            <a:r>
              <a:rPr lang="ja-JP" altLang="en-US" sz="2800" dirty="0" smtClean="0"/>
              <a:t>は</a:t>
            </a:r>
            <a:r>
              <a:rPr lang="en-US" altLang="ja-JP" sz="2800" dirty="0" err="1" smtClean="0"/>
              <a:t>int</a:t>
            </a:r>
            <a:r>
              <a:rPr lang="ja-JP" altLang="en-US" sz="2800" dirty="0" smtClean="0"/>
              <a:t>型。</a:t>
            </a:r>
            <a:endParaRPr lang="en-US" altLang="ja-JP" sz="2800" dirty="0" smtClean="0"/>
          </a:p>
          <a:p>
            <a:r>
              <a:rPr kumimoji="1" lang="en-US" altLang="ja-JP" sz="2800" dirty="0" smtClean="0"/>
              <a:t>header</a:t>
            </a:r>
            <a:r>
              <a:rPr kumimoji="1" lang="ja-JP" altLang="en-US" sz="2800" dirty="0" smtClean="0"/>
              <a:t>ファイル内で</a:t>
            </a:r>
            <a:r>
              <a:rPr kumimoji="1" lang="en-US" altLang="ja-JP" sz="2800" dirty="0" err="1" smtClean="0"/>
              <a:t>typedef</a:t>
            </a:r>
            <a:r>
              <a:rPr kumimoji="1" lang="ja-JP" altLang="en-US" sz="2800" dirty="0" smtClean="0"/>
              <a:t>で定義されている。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076"/>
            <a:ext cx="8229600" cy="582594"/>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571472" y="980728"/>
            <a:ext cx="8072462" cy="3539430"/>
          </a:xfrm>
          <a:prstGeom prst="rect">
            <a:avLst/>
          </a:prstGeom>
          <a:ln>
            <a:solidFill>
              <a:schemeClr val="tx1"/>
            </a:solidFill>
          </a:ln>
        </p:spPr>
        <p:txBody>
          <a:bodyPr wrap="square">
            <a:spAutoFit/>
          </a:bodyPr>
          <a:lstStyle/>
          <a:p>
            <a:r>
              <a:rPr lang="en-US" altLang="ja-JP" sz="2800" dirty="0" smtClean="0"/>
              <a:t>#include &lt;sys/</a:t>
            </a:r>
            <a:r>
              <a:rPr lang="en-US" altLang="ja-JP" sz="2800" dirty="0" err="1" smtClean="0"/>
              <a:t>types.h</a:t>
            </a:r>
            <a:r>
              <a:rPr lang="en-US" altLang="ja-JP" sz="2800" dirty="0" smtClean="0"/>
              <a:t>&gt;</a:t>
            </a:r>
          </a:p>
          <a:p>
            <a:r>
              <a:rPr lang="en-US" altLang="ja-JP" sz="2800" dirty="0" smtClean="0"/>
              <a:t>#include &lt;</a:t>
            </a:r>
            <a:r>
              <a:rPr lang="en-US" altLang="ja-JP" sz="2800" dirty="0" err="1" smtClean="0"/>
              <a:t>unistd.h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("ID of the current process is %d.\n", </a:t>
            </a:r>
            <a:r>
              <a:rPr lang="en-US" altLang="ja-JP" sz="2800" dirty="0" err="1" smtClean="0"/>
              <a:t>getpid</a:t>
            </a:r>
            <a:r>
              <a:rPr lang="en-US" altLang="ja-JP" sz="2800" dirty="0" smtClean="0"/>
              <a:t>());</a:t>
            </a:r>
          </a:p>
          <a:p>
            <a:r>
              <a:rPr lang="en-US" altLang="ja-JP" sz="2800" dirty="0" smtClean="0"/>
              <a:t>  </a:t>
            </a:r>
            <a:r>
              <a:rPr lang="en-US" altLang="ja-JP" sz="2800" dirty="0" err="1" smtClean="0"/>
              <a:t>printf</a:t>
            </a:r>
            <a:r>
              <a:rPr lang="en-US" altLang="ja-JP" sz="2800" dirty="0" smtClean="0"/>
              <a:t> ("ID of the parent process is %d.\n", </a:t>
            </a:r>
            <a:r>
              <a:rPr lang="en-US" altLang="ja-JP" sz="2800" dirty="0" err="1" smtClean="0"/>
              <a:t>getppid</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857224" y="4505052"/>
            <a:ext cx="7358114" cy="2308324"/>
          </a:xfrm>
          <a:prstGeom prst="rect">
            <a:avLst/>
          </a:prstGeom>
          <a:noFill/>
        </p:spPr>
        <p:txBody>
          <a:bodyPr wrap="square" rtlCol="0">
            <a:spAutoFit/>
          </a:bodyPr>
          <a:lstStyle/>
          <a:p>
            <a:r>
              <a:rPr lang="ja-JP" altLang="en-US" sz="2400" dirty="0" smtClean="0"/>
              <a:t>このプログラムをプロンプト上で</a:t>
            </a:r>
            <a:endParaRPr lang="en-US" altLang="ja-JP" sz="2400" dirty="0" smtClean="0"/>
          </a:p>
          <a:p>
            <a:r>
              <a:rPr lang="en-US" altLang="ja-JP" sz="2400" dirty="0" smtClean="0"/>
              <a:t>$ ./</a:t>
            </a:r>
            <a:r>
              <a:rPr lang="en-US" altLang="ja-JP" sz="2400" dirty="0" err="1" smtClean="0"/>
              <a:t>a.out</a:t>
            </a:r>
            <a:endParaRPr lang="en-US" altLang="ja-JP" sz="2400" dirty="0" smtClean="0"/>
          </a:p>
          <a:p>
            <a:r>
              <a:rPr lang="ja-JP" altLang="en-US" sz="2400" dirty="0" err="1" smtClean="0"/>
              <a:t>のように</a:t>
            </a:r>
            <a:r>
              <a:rPr lang="ja-JP" altLang="en-US" sz="2400" dirty="0" smtClean="0"/>
              <a:t>実行した場合は、親プロセスは、シェル</a:t>
            </a:r>
            <a:r>
              <a:rPr lang="en-US" altLang="ja-JP" sz="2400" dirty="0" smtClean="0"/>
              <a:t>(</a:t>
            </a:r>
            <a:r>
              <a:rPr lang="ja-JP" altLang="en-US" sz="2400" dirty="0" smtClean="0"/>
              <a:t>私の場合は</a:t>
            </a:r>
            <a:r>
              <a:rPr lang="en-US" altLang="ja-JP" sz="2400" dirty="0" err="1" smtClean="0"/>
              <a:t>tcsh</a:t>
            </a:r>
            <a:r>
              <a:rPr lang="en-US" altLang="ja-JP" sz="2400" dirty="0" smtClean="0"/>
              <a:t>)</a:t>
            </a:r>
            <a:r>
              <a:rPr lang="ja-JP" altLang="en-US" sz="2400" dirty="0" smtClean="0"/>
              <a:t>である。</a:t>
            </a:r>
            <a:endParaRPr lang="en-US" altLang="ja-JP" sz="2400" dirty="0" smtClean="0"/>
          </a:p>
          <a:p>
            <a:r>
              <a:rPr lang="en-US" altLang="ja-JP" sz="2400" dirty="0" smtClean="0"/>
              <a:t>$ </a:t>
            </a:r>
            <a:r>
              <a:rPr lang="en-US" altLang="ja-JP" sz="2400" dirty="0" err="1" smtClean="0"/>
              <a:t>ps</a:t>
            </a:r>
            <a:r>
              <a:rPr lang="en-US" altLang="ja-JP" sz="2400" dirty="0" smtClean="0"/>
              <a:t> –</a:t>
            </a:r>
            <a:r>
              <a:rPr lang="en-US" altLang="ja-JP" sz="2400" dirty="0" err="1" smtClean="0"/>
              <a:t>ef</a:t>
            </a:r>
            <a:r>
              <a:rPr lang="en-US" altLang="ja-JP" sz="2400" dirty="0" smtClean="0"/>
              <a:t> | </a:t>
            </a:r>
            <a:r>
              <a:rPr lang="en-US" altLang="ja-JP" sz="2400" dirty="0" err="1" smtClean="0"/>
              <a:t>grep</a:t>
            </a:r>
            <a:r>
              <a:rPr lang="en-US" altLang="ja-JP" sz="2400" dirty="0" smtClean="0"/>
              <a:t> </a:t>
            </a:r>
            <a:r>
              <a:rPr lang="en-US" altLang="ja-JP" sz="2400" dirty="0" err="1" smtClean="0"/>
              <a:t>sasano</a:t>
            </a:r>
            <a:endParaRPr lang="en-US" altLang="ja-JP" sz="2400" dirty="0" smtClean="0"/>
          </a:p>
          <a:p>
            <a:r>
              <a:rPr lang="ja-JP" altLang="en-US" sz="2400" dirty="0" err="1" smtClean="0"/>
              <a:t>のように</a:t>
            </a:r>
            <a:r>
              <a:rPr lang="ja-JP" altLang="en-US" sz="2400" dirty="0" smtClean="0"/>
              <a:t>して確認。</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4AB3BE8-C479-4041-B4A4-0B9DF133925C}" type="slidenum">
              <a:rPr lang="en-US" altLang="ja-JP"/>
              <a:pPr/>
              <a:t>12</a:t>
            </a:fld>
            <a:endParaRPr lang="en-US" altLang="ja-JP"/>
          </a:p>
        </p:txBody>
      </p:sp>
      <p:sp>
        <p:nvSpPr>
          <p:cNvPr id="131074" name="Rectangle 2"/>
          <p:cNvSpPr>
            <a:spLocks noGrp="1" noChangeArrowheads="1"/>
          </p:cNvSpPr>
          <p:nvPr>
            <p:ph type="title"/>
          </p:nvPr>
        </p:nvSpPr>
        <p:spPr/>
        <p:txBody>
          <a:bodyPr/>
          <a:lstStyle/>
          <a:p>
            <a:r>
              <a:rPr lang="ja-JP" altLang="en-US"/>
              <a:t>プロセスの木構造</a:t>
            </a:r>
          </a:p>
        </p:txBody>
      </p:sp>
      <p:sp>
        <p:nvSpPr>
          <p:cNvPr id="131075" name="Rectangle 3"/>
          <p:cNvSpPr>
            <a:spLocks noGrp="1" noChangeArrowheads="1"/>
          </p:cNvSpPr>
          <p:nvPr>
            <p:ph type="body" idx="1"/>
          </p:nvPr>
        </p:nvSpPr>
        <p:spPr>
          <a:xfrm>
            <a:off x="457200" y="1600201"/>
            <a:ext cx="8229600" cy="4257692"/>
          </a:xfrm>
        </p:spPr>
        <p:txBody>
          <a:bodyPr/>
          <a:lstStyle/>
          <a:p>
            <a:r>
              <a:rPr lang="ja-JP" altLang="en-US" dirty="0" smtClean="0"/>
              <a:t>プロセス</a:t>
            </a:r>
            <a:r>
              <a:rPr lang="en-US" altLang="ja-JP" dirty="0" smtClean="0"/>
              <a:t>init --- </a:t>
            </a:r>
            <a:r>
              <a:rPr lang="ja-JP" altLang="en-US" dirty="0" smtClean="0"/>
              <a:t>プロセス</a:t>
            </a:r>
            <a:r>
              <a:rPr lang="en-US" altLang="ja-JP" dirty="0" smtClean="0"/>
              <a:t>ID 1</a:t>
            </a:r>
            <a:r>
              <a:rPr lang="ja-JP" altLang="en-US" dirty="0" smtClean="0"/>
              <a:t>番のプロセス。</a:t>
            </a:r>
            <a:endParaRPr lang="en-US" altLang="ja-JP" dirty="0"/>
          </a:p>
          <a:p>
            <a:pPr lvl="1"/>
            <a:r>
              <a:rPr lang="en-US" altLang="ja-JP" dirty="0" smtClean="0"/>
              <a:t>init</a:t>
            </a:r>
            <a:r>
              <a:rPr lang="ja-JP" altLang="en-US" dirty="0" smtClean="0"/>
              <a:t>は、すべてのプロセスの先祖である。</a:t>
            </a:r>
            <a:endParaRPr lang="ja-JP" altLang="en-US" dirty="0"/>
          </a:p>
        </p:txBody>
      </p:sp>
      <p:sp>
        <p:nvSpPr>
          <p:cNvPr id="5" name="テキスト ボックス 4"/>
          <p:cNvSpPr txBox="1"/>
          <p:nvPr/>
        </p:nvSpPr>
        <p:spPr>
          <a:xfrm>
            <a:off x="1000100" y="3071810"/>
            <a:ext cx="4063933" cy="1384995"/>
          </a:xfrm>
          <a:prstGeom prst="rect">
            <a:avLst/>
          </a:prstGeom>
          <a:noFill/>
        </p:spPr>
        <p:txBody>
          <a:bodyPr wrap="none" rtlCol="0">
            <a:spAutoFit/>
          </a:bodyPr>
          <a:lstStyle/>
          <a:p>
            <a:r>
              <a:rPr lang="en-US" altLang="ja-JP" sz="2800" dirty="0" smtClean="0"/>
              <a:t>$ </a:t>
            </a:r>
            <a:r>
              <a:rPr lang="en-US" altLang="ja-JP" sz="2800" dirty="0" err="1" smtClean="0"/>
              <a:t>ps</a:t>
            </a:r>
            <a:r>
              <a:rPr lang="en-US" altLang="ja-JP" sz="2800" dirty="0" smtClean="0"/>
              <a:t> –</a:t>
            </a:r>
            <a:r>
              <a:rPr lang="en-US" altLang="ja-JP" sz="2800" dirty="0" err="1" smtClean="0"/>
              <a:t>ef</a:t>
            </a:r>
            <a:r>
              <a:rPr lang="en-US" altLang="ja-JP" sz="2800" dirty="0" smtClean="0"/>
              <a:t> | less</a:t>
            </a:r>
          </a:p>
          <a:p>
            <a:r>
              <a:rPr kumimoji="1" lang="ja-JP" altLang="en-US" sz="2800" dirty="0" smtClean="0"/>
              <a:t>で、</a:t>
            </a:r>
            <a:r>
              <a:rPr lang="ja-JP" altLang="en-US" sz="2800" dirty="0" smtClean="0"/>
              <a:t>一番上に表示される。</a:t>
            </a:r>
            <a:endParaRPr lang="en-US" altLang="ja-JP" sz="2800" dirty="0" smtClean="0"/>
          </a:p>
          <a:p>
            <a:r>
              <a:rPr kumimoji="1" lang="en-US" altLang="ja-JP" sz="2800" dirty="0" smtClean="0"/>
              <a:t>PID</a:t>
            </a:r>
            <a:r>
              <a:rPr kumimoji="1" lang="ja-JP" altLang="en-US" sz="2800" dirty="0" smtClean="0"/>
              <a:t>の欄を確認。</a:t>
            </a:r>
            <a:endParaRPr kumimoji="1"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89CAE539-4AAE-431D-9A52-E961252093A0}" type="slidenum">
              <a:rPr lang="en-US" altLang="ja-JP"/>
              <a:pPr/>
              <a:t>13</a:t>
            </a:fld>
            <a:endParaRPr lang="en-US" altLang="ja-JP"/>
          </a:p>
        </p:txBody>
      </p:sp>
      <p:sp>
        <p:nvSpPr>
          <p:cNvPr id="132098" name="Rectangle 2"/>
          <p:cNvSpPr>
            <a:spLocks noGrp="1" noChangeArrowheads="1"/>
          </p:cNvSpPr>
          <p:nvPr>
            <p:ph type="title"/>
          </p:nvPr>
        </p:nvSpPr>
        <p:spPr>
          <a:xfrm>
            <a:off x="468313" y="0"/>
            <a:ext cx="8229600" cy="1143000"/>
          </a:xfrm>
        </p:spPr>
        <p:txBody>
          <a:bodyPr>
            <a:normAutofit fontScale="90000"/>
          </a:bodyPr>
          <a:lstStyle/>
          <a:p>
            <a:r>
              <a:rPr lang="ja-JP" altLang="en-US" dirty="0"/>
              <a:t>実際</a:t>
            </a:r>
            <a:r>
              <a:rPr lang="ja-JP" altLang="en-US" dirty="0" smtClean="0"/>
              <a:t>のプロセスの木構造の例</a:t>
            </a:r>
            <a:r>
              <a:rPr lang="en-US" altLang="ja-JP" dirty="0" smtClean="0"/>
              <a:t>(p.145)</a:t>
            </a:r>
            <a:endParaRPr lang="ja-JP" altLang="en-US" dirty="0"/>
          </a:p>
        </p:txBody>
      </p:sp>
      <p:pic>
        <p:nvPicPr>
          <p:cNvPr id="132100" name="Picture 4" descr="fig3"/>
          <p:cNvPicPr>
            <a:picLocks noChangeAspect="1" noChangeArrowheads="1"/>
          </p:cNvPicPr>
          <p:nvPr/>
        </p:nvPicPr>
        <p:blipFill>
          <a:blip r:embed="rId3" cstate="print"/>
          <a:srcRect/>
          <a:stretch>
            <a:fillRect/>
          </a:stretch>
        </p:blipFill>
        <p:spPr bwMode="auto">
          <a:xfrm>
            <a:off x="2132013" y="1274763"/>
            <a:ext cx="4879975" cy="50292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BC5C62D-4CC4-4861-B8BC-621A1D600292}" type="slidenum">
              <a:rPr lang="en-US" altLang="ja-JP"/>
              <a:pPr/>
              <a:t>14</a:t>
            </a:fld>
            <a:endParaRPr lang="en-US" altLang="ja-JP"/>
          </a:p>
        </p:txBody>
      </p:sp>
      <p:sp>
        <p:nvSpPr>
          <p:cNvPr id="129026" name="Rectangle 2"/>
          <p:cNvSpPr>
            <a:spLocks noGrp="1" noChangeArrowheads="1"/>
          </p:cNvSpPr>
          <p:nvPr>
            <p:ph type="title"/>
          </p:nvPr>
        </p:nvSpPr>
        <p:spPr>
          <a:xfrm>
            <a:off x="457200" y="274638"/>
            <a:ext cx="8229600" cy="939784"/>
          </a:xfrm>
        </p:spPr>
        <p:txBody>
          <a:bodyPr/>
          <a:lstStyle/>
          <a:p>
            <a:r>
              <a:rPr lang="en-US" altLang="ja-JP" dirty="0" smtClean="0"/>
              <a:t>fork</a:t>
            </a:r>
            <a:r>
              <a:rPr lang="ja-JP" altLang="en-US" dirty="0" smtClean="0"/>
              <a:t>システムコール</a:t>
            </a:r>
            <a:endParaRPr lang="ja-JP" altLang="en-US" dirty="0"/>
          </a:p>
        </p:txBody>
      </p:sp>
      <p:sp>
        <p:nvSpPr>
          <p:cNvPr id="6" name="テキスト ボックス 5"/>
          <p:cNvSpPr txBox="1"/>
          <p:nvPr/>
        </p:nvSpPr>
        <p:spPr>
          <a:xfrm>
            <a:off x="1000100" y="1428736"/>
            <a:ext cx="7143800" cy="3046988"/>
          </a:xfrm>
          <a:prstGeom prst="rect">
            <a:avLst/>
          </a:prstGeom>
          <a:noFill/>
        </p:spPr>
        <p:txBody>
          <a:bodyPr wrap="square" rtlCol="0">
            <a:spAutoFit/>
          </a:bodyPr>
          <a:lstStyle/>
          <a:p>
            <a:r>
              <a:rPr kumimoji="1" lang="ja-JP" altLang="en-US" sz="2400" dirty="0" smtClean="0"/>
              <a:t>プロセスは</a:t>
            </a:r>
            <a:r>
              <a:rPr kumimoji="1" lang="en-US" altLang="ja-JP" sz="2400" dirty="0" smtClean="0"/>
              <a:t>fork</a:t>
            </a:r>
            <a:r>
              <a:rPr kumimoji="1" lang="ja-JP" altLang="en-US" sz="2400" dirty="0" smtClean="0"/>
              <a:t>システムコールにより生成する。生成されたプロセスを、</a:t>
            </a:r>
            <a:r>
              <a:rPr kumimoji="1" lang="en-US" altLang="ja-JP" sz="2400" dirty="0" smtClean="0"/>
              <a:t>fork</a:t>
            </a:r>
            <a:r>
              <a:rPr kumimoji="1" lang="ja-JP" altLang="en-US" sz="2400" dirty="0" smtClean="0"/>
              <a:t>システムコールを呼び出したプロセスの子プロセスという。</a:t>
            </a:r>
            <a:endParaRPr kumimoji="1" lang="en-US" altLang="ja-JP" sz="2400" dirty="0" smtClean="0"/>
          </a:p>
          <a:p>
            <a:r>
              <a:rPr lang="ja-JP" altLang="en-US" sz="2400" dirty="0" smtClean="0"/>
              <a:t>子プロセスにとっては、</a:t>
            </a:r>
            <a:r>
              <a:rPr lang="en-US" altLang="ja-JP" sz="2400" dirty="0" smtClean="0"/>
              <a:t>fork</a:t>
            </a:r>
            <a:r>
              <a:rPr lang="ja-JP" altLang="en-US" sz="2400" dirty="0" smtClean="0"/>
              <a:t>システムコールを呼び出したプロセスを親プロセスという。</a:t>
            </a:r>
            <a:endParaRPr lang="en-US" altLang="ja-JP" sz="2400" dirty="0" smtClean="0"/>
          </a:p>
          <a:p>
            <a:r>
              <a:rPr kumimoji="1" lang="ja-JP" altLang="en-US" sz="2400" dirty="0" smtClean="0"/>
              <a:t>親は一つなので、プロセスは木構造を成す。</a:t>
            </a:r>
            <a:endParaRPr kumimoji="1" lang="en-US" altLang="ja-JP" sz="2400" dirty="0" smtClean="0"/>
          </a:p>
          <a:p>
            <a:r>
              <a:rPr lang="ja-JP" altLang="en-US" sz="2400" dirty="0" smtClean="0"/>
              <a:t>すべてのプロセスは</a:t>
            </a:r>
            <a:r>
              <a:rPr lang="en-US" altLang="ja-JP" sz="2400" dirty="0" smtClean="0"/>
              <a:t>fork</a:t>
            </a:r>
            <a:r>
              <a:rPr lang="ja-JP" altLang="en-US" sz="2400" dirty="0" smtClean="0"/>
              <a:t>システムコールで生成される（プロセス</a:t>
            </a:r>
            <a:r>
              <a:rPr lang="en-US" altLang="ja-JP" sz="2400" dirty="0" smtClean="0"/>
              <a:t>0</a:t>
            </a:r>
            <a:r>
              <a:rPr lang="ja-JP" altLang="en-US" sz="2400" dirty="0" smtClean="0"/>
              <a:t>番以外は） 。</a:t>
            </a:r>
            <a:endParaRPr kumimoji="1" lang="ja-JP" altLang="en-US" sz="2400" dirty="0"/>
          </a:p>
        </p:txBody>
      </p:sp>
      <p:sp>
        <p:nvSpPr>
          <p:cNvPr id="7" name="正方形/長方形 6"/>
          <p:cNvSpPr/>
          <p:nvPr/>
        </p:nvSpPr>
        <p:spPr>
          <a:xfrm>
            <a:off x="1714480" y="4714884"/>
            <a:ext cx="5072098" cy="1815882"/>
          </a:xfrm>
          <a:prstGeom prst="rect">
            <a:avLst/>
          </a:prstGeom>
          <a:ln>
            <a:solidFill>
              <a:schemeClr val="tx1"/>
            </a:solidFill>
          </a:ln>
        </p:spPr>
        <p:txBody>
          <a:bodyPr wrap="square">
            <a:spAutoFit/>
          </a:bodyPr>
          <a:lstStyle/>
          <a:p>
            <a:r>
              <a:rPr lang="en-US" altLang="ja-JP" sz="2800" dirty="0" smtClean="0"/>
              <a:t>SYNOPSIS</a:t>
            </a:r>
          </a:p>
          <a:p>
            <a:r>
              <a:rPr lang="en-US" altLang="ja-JP" sz="2800" dirty="0" smtClean="0"/>
              <a:t>       #include &lt;sys/</a:t>
            </a:r>
            <a:r>
              <a:rPr lang="en-US" altLang="ja-JP" sz="2800" dirty="0" err="1" smtClean="0"/>
              <a:t>types.h</a:t>
            </a:r>
            <a:r>
              <a:rPr lang="en-US" altLang="ja-JP" sz="2800" dirty="0" smtClean="0"/>
              <a:t>&gt;</a:t>
            </a:r>
          </a:p>
          <a:p>
            <a:r>
              <a:rPr lang="en-US" altLang="ja-JP" sz="2800" dirty="0" smtClean="0"/>
              <a:t>       #include &lt;</a:t>
            </a:r>
            <a:r>
              <a:rPr lang="en-US" altLang="ja-JP" sz="2800" dirty="0" err="1" smtClean="0"/>
              <a:t>unistd.h</a:t>
            </a:r>
            <a:r>
              <a:rPr lang="en-US" altLang="ja-JP" sz="2800" dirty="0" smtClean="0"/>
              <a:t>&gt;</a:t>
            </a:r>
          </a:p>
          <a:p>
            <a:r>
              <a:rPr lang="en-US" altLang="ja-JP" sz="2800" dirty="0" smtClean="0"/>
              <a:t>       </a:t>
            </a:r>
            <a:r>
              <a:rPr lang="en-US" altLang="ja-JP" sz="2800" dirty="0" err="1" smtClean="0"/>
              <a:t>pid_t</a:t>
            </a:r>
            <a:r>
              <a:rPr lang="en-US" altLang="ja-JP" sz="2800" dirty="0" smtClean="0"/>
              <a:t> fork(void);</a:t>
            </a:r>
            <a:endParaRPr lang="en-US" altLang="ja-JP"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スライド番号プレースホルダ 5"/>
          <p:cNvSpPr>
            <a:spLocks noGrp="1"/>
          </p:cNvSpPr>
          <p:nvPr>
            <p:ph type="sldNum" sz="quarter" idx="12"/>
          </p:nvPr>
        </p:nvSpPr>
        <p:spPr/>
        <p:txBody>
          <a:bodyPr/>
          <a:lstStyle/>
          <a:p>
            <a:fld id="{04391001-423A-4D2D-B489-BF54D32C2760}" type="slidenum">
              <a:rPr lang="en-US" altLang="ja-JP"/>
              <a:pPr/>
              <a:t>15</a:t>
            </a:fld>
            <a:endParaRPr lang="en-US" altLang="ja-JP"/>
          </a:p>
        </p:txBody>
      </p:sp>
      <p:sp>
        <p:nvSpPr>
          <p:cNvPr id="138242" name="Rectangle 2"/>
          <p:cNvSpPr>
            <a:spLocks noGrp="1" noChangeArrowheads="1"/>
          </p:cNvSpPr>
          <p:nvPr>
            <p:ph type="title"/>
          </p:nvPr>
        </p:nvSpPr>
        <p:spPr>
          <a:xfrm>
            <a:off x="468313" y="0"/>
            <a:ext cx="8229600" cy="1143000"/>
          </a:xfrm>
        </p:spPr>
        <p:txBody>
          <a:bodyPr/>
          <a:lstStyle/>
          <a:p>
            <a:r>
              <a:rPr lang="en-US" altLang="ja-JP" dirty="0" smtClean="0"/>
              <a:t>fork</a:t>
            </a:r>
            <a:r>
              <a:rPr lang="ja-JP" altLang="en-US" dirty="0" smtClean="0"/>
              <a:t>システムコール</a:t>
            </a:r>
            <a:endParaRPr lang="ja-JP" altLang="en-US" dirty="0"/>
          </a:p>
        </p:txBody>
      </p:sp>
      <p:grpSp>
        <p:nvGrpSpPr>
          <p:cNvPr id="2" name="Group 4"/>
          <p:cNvGrpSpPr>
            <a:grpSpLocks/>
          </p:cNvGrpSpPr>
          <p:nvPr/>
        </p:nvGrpSpPr>
        <p:grpSpPr bwMode="auto">
          <a:xfrm>
            <a:off x="0" y="1000108"/>
            <a:ext cx="9144000" cy="3679825"/>
            <a:chOff x="0" y="1026"/>
            <a:chExt cx="5760" cy="2318"/>
          </a:xfrm>
        </p:grpSpPr>
        <p:pic>
          <p:nvPicPr>
            <p:cNvPr id="138245" name="Picture 5" descr="fig7"/>
            <p:cNvPicPr>
              <a:picLocks noChangeAspect="1" noChangeArrowheads="1"/>
            </p:cNvPicPr>
            <p:nvPr/>
          </p:nvPicPr>
          <p:blipFill>
            <a:blip r:embed="rId3" cstate="print"/>
            <a:srcRect/>
            <a:stretch>
              <a:fillRect/>
            </a:stretch>
          </p:blipFill>
          <p:spPr bwMode="auto">
            <a:xfrm>
              <a:off x="0" y="1026"/>
              <a:ext cx="5760" cy="2318"/>
            </a:xfrm>
            <a:prstGeom prst="rect">
              <a:avLst/>
            </a:prstGeom>
            <a:noFill/>
            <a:ln w="9525">
              <a:solidFill>
                <a:schemeClr val="tx1"/>
              </a:solidFill>
              <a:miter lim="800000"/>
              <a:headEnd/>
              <a:tailEnd/>
            </a:ln>
          </p:spPr>
        </p:pic>
        <p:sp>
          <p:nvSpPr>
            <p:cNvPr id="138246" name="Rectangle 6"/>
            <p:cNvSpPr>
              <a:spLocks noChangeArrowheads="1"/>
            </p:cNvSpPr>
            <p:nvPr/>
          </p:nvSpPr>
          <p:spPr bwMode="auto">
            <a:xfrm>
              <a:off x="158" y="1888"/>
              <a:ext cx="499" cy="227"/>
            </a:xfrm>
            <a:prstGeom prst="rect">
              <a:avLst/>
            </a:prstGeom>
            <a:solidFill>
              <a:schemeClr val="accent1">
                <a:alpha val="27000"/>
              </a:schemeClr>
            </a:solidFill>
            <a:ln w="9525">
              <a:solidFill>
                <a:schemeClr val="tx1"/>
              </a:solidFill>
              <a:miter lim="800000"/>
              <a:headEnd/>
              <a:tailEnd/>
            </a:ln>
            <a:effectLst/>
          </p:spPr>
          <p:txBody>
            <a:bodyPr wrap="none" anchor="ctr"/>
            <a:lstStyle/>
            <a:p>
              <a:endParaRPr lang="ja-JP" altLang="en-US"/>
            </a:p>
          </p:txBody>
        </p:sp>
        <p:sp>
          <p:nvSpPr>
            <p:cNvPr id="138247" name="Line 7"/>
            <p:cNvSpPr>
              <a:spLocks noChangeShapeType="1"/>
            </p:cNvSpPr>
            <p:nvPr/>
          </p:nvSpPr>
          <p:spPr bwMode="auto">
            <a:xfrm>
              <a:off x="476" y="2115"/>
              <a:ext cx="91" cy="136"/>
            </a:xfrm>
            <a:prstGeom prst="line">
              <a:avLst/>
            </a:prstGeom>
            <a:noFill/>
            <a:ln w="9525">
              <a:solidFill>
                <a:schemeClr val="tx1"/>
              </a:solidFill>
              <a:round/>
              <a:headEnd/>
              <a:tailEnd type="triangle" w="med" len="med"/>
            </a:ln>
            <a:effectLst/>
          </p:spPr>
          <p:txBody>
            <a:bodyPr/>
            <a:lstStyle/>
            <a:p>
              <a:endParaRPr lang="ja-JP" altLang="en-US"/>
            </a:p>
          </p:txBody>
        </p:sp>
        <p:sp>
          <p:nvSpPr>
            <p:cNvPr id="138248" name="Text Box 8"/>
            <p:cNvSpPr txBox="1">
              <a:spLocks noChangeArrowheads="1"/>
            </p:cNvSpPr>
            <p:nvPr/>
          </p:nvSpPr>
          <p:spPr bwMode="auto">
            <a:xfrm>
              <a:off x="521" y="2160"/>
              <a:ext cx="326" cy="291"/>
            </a:xfrm>
            <a:prstGeom prst="rect">
              <a:avLst/>
            </a:prstGeom>
            <a:noFill/>
            <a:ln w="9525">
              <a:noFill/>
              <a:miter lim="800000"/>
              <a:headEnd/>
              <a:tailEnd/>
            </a:ln>
            <a:effectLst/>
          </p:spPr>
          <p:txBody>
            <a:bodyPr wrap="none">
              <a:spAutoFit/>
            </a:bodyPr>
            <a:lstStyle/>
            <a:p>
              <a:r>
                <a:rPr lang="en-US" altLang="ja-JP" sz="2400" u="none" dirty="0" err="1"/>
                <a:t>int</a:t>
              </a:r>
              <a:endParaRPr lang="en-US" altLang="ja-JP" sz="2400" u="none" dirty="0"/>
            </a:p>
          </p:txBody>
        </p:sp>
      </p:grpSp>
      <p:sp>
        <p:nvSpPr>
          <p:cNvPr id="138249" name="Text Box 9"/>
          <p:cNvSpPr txBox="1">
            <a:spLocks noChangeArrowheads="1"/>
          </p:cNvSpPr>
          <p:nvPr/>
        </p:nvSpPr>
        <p:spPr bwMode="auto">
          <a:xfrm>
            <a:off x="642910" y="4786322"/>
            <a:ext cx="7358114" cy="1938992"/>
          </a:xfrm>
          <a:prstGeom prst="rect">
            <a:avLst/>
          </a:prstGeom>
          <a:noFill/>
          <a:ln w="9525">
            <a:solidFill>
              <a:schemeClr val="tx1"/>
            </a:solidFill>
            <a:miter lim="800000"/>
            <a:headEnd/>
            <a:tailEnd/>
          </a:ln>
          <a:effectLst/>
        </p:spPr>
        <p:txBody>
          <a:bodyPr wrap="square">
            <a:spAutoFit/>
          </a:bodyPr>
          <a:lstStyle/>
          <a:p>
            <a:r>
              <a:rPr lang="ja-JP" altLang="en-US" sz="2400" u="none" dirty="0"/>
              <a:t>親プロセスの分身が子プロセスとして</a:t>
            </a:r>
            <a:r>
              <a:rPr lang="ja-JP" altLang="en-US" sz="2400" u="none" dirty="0" smtClean="0"/>
              <a:t>生成される。</a:t>
            </a:r>
            <a:endParaRPr lang="ja-JP" altLang="en-US" sz="2400" u="none" dirty="0"/>
          </a:p>
          <a:p>
            <a:r>
              <a:rPr lang="en-US" altLang="ja-JP" sz="2400" dirty="0" smtClean="0"/>
              <a:t>f</a:t>
            </a:r>
            <a:r>
              <a:rPr lang="en-US" altLang="ja-JP" sz="2400" u="none" dirty="0" smtClean="0"/>
              <a:t>ork</a:t>
            </a:r>
            <a:r>
              <a:rPr lang="ja-JP" altLang="en-US" sz="2400" u="none" dirty="0" smtClean="0"/>
              <a:t>システムコール終了後</a:t>
            </a:r>
            <a:r>
              <a:rPr lang="ja-JP" altLang="en-US" sz="2400" u="none" dirty="0"/>
              <a:t>，全く同じプロセス</a:t>
            </a:r>
            <a:r>
              <a:rPr lang="ja-JP" altLang="en-US" sz="2400" u="none" dirty="0" smtClean="0"/>
              <a:t>が</a:t>
            </a:r>
            <a:r>
              <a:rPr lang="ja-JP" altLang="en-US" sz="2400" dirty="0" smtClean="0"/>
              <a:t>並行</a:t>
            </a:r>
            <a:r>
              <a:rPr lang="ja-JP" altLang="en-US" sz="2400" u="none" dirty="0" smtClean="0"/>
              <a:t>して実行</a:t>
            </a:r>
            <a:r>
              <a:rPr lang="ja-JP" altLang="en-US" sz="2400" dirty="0" smtClean="0"/>
              <a:t>される。</a:t>
            </a:r>
            <a:endParaRPr lang="ja-JP" altLang="en-US" sz="2400" u="none" dirty="0"/>
          </a:p>
          <a:p>
            <a:r>
              <a:rPr lang="en-US" altLang="ja-JP" sz="2400" u="none" dirty="0" smtClean="0"/>
              <a:t>fork</a:t>
            </a:r>
            <a:r>
              <a:rPr lang="en-US" altLang="ja-JP" sz="2400" u="none" dirty="0"/>
              <a:t>()</a:t>
            </a:r>
            <a:r>
              <a:rPr lang="ja-JP" altLang="en-US" sz="2400" u="none" dirty="0"/>
              <a:t>システムコールの戻り値により親と</a:t>
            </a:r>
            <a:r>
              <a:rPr lang="ja-JP" altLang="en-US" sz="2400" u="none" dirty="0" smtClean="0"/>
              <a:t>子をプログラム内で識別する。（具体的には</a:t>
            </a:r>
            <a:r>
              <a:rPr lang="en-US" altLang="ja-JP" sz="2400" u="none" dirty="0" smtClean="0"/>
              <a:t>if</a:t>
            </a:r>
            <a:r>
              <a:rPr lang="ja-JP" altLang="en-US" sz="2400" u="none" dirty="0" smtClean="0"/>
              <a:t>文で分岐すればよい。）</a:t>
            </a:r>
            <a:endParaRPr lang="en-US" altLang="ja-JP" sz="2400" u="none"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スライド番号プレースホルダ 5"/>
          <p:cNvSpPr>
            <a:spLocks noGrp="1"/>
          </p:cNvSpPr>
          <p:nvPr>
            <p:ph type="sldNum" sz="quarter" idx="12"/>
          </p:nvPr>
        </p:nvSpPr>
        <p:spPr/>
        <p:txBody>
          <a:bodyPr/>
          <a:lstStyle/>
          <a:p>
            <a:fld id="{28F44504-0EA3-4648-A930-4CF55BCF0AC0}" type="slidenum">
              <a:rPr lang="en-US" altLang="ja-JP"/>
              <a:pPr/>
              <a:t>16</a:t>
            </a:fld>
            <a:endParaRPr lang="en-US" altLang="ja-JP"/>
          </a:p>
        </p:txBody>
      </p:sp>
      <p:sp>
        <p:nvSpPr>
          <p:cNvPr id="139266" name="Rectangle 2"/>
          <p:cNvSpPr>
            <a:spLocks noGrp="1" noChangeArrowheads="1"/>
          </p:cNvSpPr>
          <p:nvPr>
            <p:ph type="title"/>
          </p:nvPr>
        </p:nvSpPr>
        <p:spPr>
          <a:xfrm>
            <a:off x="468313" y="0"/>
            <a:ext cx="8229600" cy="1143000"/>
          </a:xfrm>
        </p:spPr>
        <p:txBody>
          <a:bodyPr/>
          <a:lstStyle/>
          <a:p>
            <a:r>
              <a:rPr lang="ja-JP" altLang="en-US" sz="4000"/>
              <a:t>親プロセスと子プロセスの切り分け</a:t>
            </a:r>
          </a:p>
        </p:txBody>
      </p:sp>
      <p:sp>
        <p:nvSpPr>
          <p:cNvPr id="139267" name="Rectangle 3"/>
          <p:cNvSpPr>
            <a:spLocks noGrp="1" noChangeArrowheads="1"/>
          </p:cNvSpPr>
          <p:nvPr>
            <p:ph type="body" idx="1"/>
          </p:nvPr>
        </p:nvSpPr>
        <p:spPr>
          <a:xfrm>
            <a:off x="468312" y="1268413"/>
            <a:ext cx="8389967" cy="2374901"/>
          </a:xfrm>
        </p:spPr>
        <p:txBody>
          <a:bodyPr>
            <a:normAutofit lnSpcReduction="10000"/>
          </a:bodyPr>
          <a:lstStyle/>
          <a:p>
            <a:r>
              <a:rPr lang="en-US" altLang="ja-JP" sz="2400" dirty="0" smtClean="0"/>
              <a:t>fork</a:t>
            </a:r>
            <a:r>
              <a:rPr lang="ja-JP" altLang="en-US" sz="2400" dirty="0" smtClean="0"/>
              <a:t>システムコールの返り値</a:t>
            </a:r>
            <a:endParaRPr lang="ja-JP" altLang="en-US" sz="2400" dirty="0"/>
          </a:p>
          <a:p>
            <a:pPr lvl="1"/>
            <a:r>
              <a:rPr lang="en-US" altLang="ja-JP" sz="2400" dirty="0"/>
              <a:t>0: </a:t>
            </a:r>
            <a:r>
              <a:rPr lang="en-US" altLang="ja-JP" sz="2400" dirty="0" smtClean="0"/>
              <a:t>0</a:t>
            </a:r>
            <a:r>
              <a:rPr lang="ja-JP" altLang="en-US" sz="2400" dirty="0" smtClean="0"/>
              <a:t>を受け取ったら、そのプロセスは子プロセスである。</a:t>
            </a:r>
            <a:endParaRPr lang="ja-JP" altLang="en-US" sz="2400" dirty="0"/>
          </a:p>
          <a:p>
            <a:pPr lvl="1"/>
            <a:r>
              <a:rPr lang="en-US" altLang="ja-JP" sz="2400" dirty="0"/>
              <a:t>1</a:t>
            </a:r>
            <a:r>
              <a:rPr lang="ja-JP" altLang="en-US" sz="2400" dirty="0"/>
              <a:t>以上</a:t>
            </a:r>
            <a:r>
              <a:rPr lang="ja-JP" altLang="en-US" sz="2400" dirty="0" smtClean="0"/>
              <a:t>：これを受けったら、そのプロセスは親プロセスである。値は生成された子</a:t>
            </a:r>
            <a:r>
              <a:rPr lang="ja-JP" altLang="en-US" sz="2400" dirty="0"/>
              <a:t>プロセスのプロセス</a:t>
            </a:r>
            <a:r>
              <a:rPr lang="en-US" altLang="ja-JP" sz="2400" dirty="0" smtClean="0"/>
              <a:t>ID</a:t>
            </a:r>
            <a:r>
              <a:rPr lang="ja-JP" altLang="en-US" sz="2400" dirty="0" smtClean="0"/>
              <a:t>である。</a:t>
            </a:r>
            <a:endParaRPr lang="ja-JP" altLang="en-US" sz="2400" dirty="0"/>
          </a:p>
          <a:p>
            <a:pPr lvl="1"/>
            <a:r>
              <a:rPr lang="ja-JP" altLang="en-US" sz="2400" dirty="0"/>
              <a:t>－</a:t>
            </a:r>
            <a:r>
              <a:rPr lang="en-US" altLang="ja-JP" sz="2400" dirty="0"/>
              <a:t>1</a:t>
            </a:r>
            <a:r>
              <a:rPr lang="ja-JP" altLang="en-US" sz="2400" dirty="0"/>
              <a:t>：　</a:t>
            </a:r>
            <a:r>
              <a:rPr lang="ja-JP" altLang="en-US" sz="2400" dirty="0" smtClean="0"/>
              <a:t>これを受け取ったら、</a:t>
            </a:r>
            <a:r>
              <a:rPr lang="en-US" altLang="ja-JP" sz="2400" dirty="0" smtClean="0"/>
              <a:t>fork</a:t>
            </a:r>
            <a:r>
              <a:rPr lang="ja-JP" altLang="en-US" sz="2400" dirty="0" smtClean="0"/>
              <a:t>システムコールがエラーで終了している。この場合は子プロセスは生成されていない。</a:t>
            </a:r>
            <a:endParaRPr lang="ja-JP" altLang="en-US" sz="2400" dirty="0"/>
          </a:p>
        </p:txBody>
      </p:sp>
      <p:pic>
        <p:nvPicPr>
          <p:cNvPr id="139268" name="Picture 4" descr="fig8"/>
          <p:cNvPicPr>
            <a:picLocks noChangeAspect="1" noChangeArrowheads="1"/>
          </p:cNvPicPr>
          <p:nvPr/>
        </p:nvPicPr>
        <p:blipFill>
          <a:blip r:embed="rId3" cstate="print"/>
          <a:srcRect/>
          <a:stretch>
            <a:fillRect/>
          </a:stretch>
        </p:blipFill>
        <p:spPr bwMode="auto">
          <a:xfrm>
            <a:off x="3929058" y="3571876"/>
            <a:ext cx="4284662" cy="3117850"/>
          </a:xfrm>
          <a:prstGeom prst="rect">
            <a:avLst/>
          </a:prstGeom>
          <a:noFill/>
          <a:ln>
            <a:solidFill>
              <a:schemeClr val="tx1"/>
            </a:solidFill>
          </a:ln>
        </p:spPr>
      </p:pic>
      <p:sp>
        <p:nvSpPr>
          <p:cNvPr id="8" name="テキスト ボックス 7"/>
          <p:cNvSpPr txBox="1"/>
          <p:nvPr/>
        </p:nvSpPr>
        <p:spPr>
          <a:xfrm>
            <a:off x="928662" y="4071942"/>
            <a:ext cx="2786082" cy="1384995"/>
          </a:xfrm>
          <a:prstGeom prst="rect">
            <a:avLst/>
          </a:prstGeom>
          <a:noFill/>
          <a:ln>
            <a:solidFill>
              <a:schemeClr val="tx1"/>
            </a:solidFill>
          </a:ln>
        </p:spPr>
        <p:txBody>
          <a:bodyPr wrap="square" rtlCol="0">
            <a:spAutoFit/>
          </a:bodyPr>
          <a:lstStyle/>
          <a:p>
            <a:r>
              <a:rPr lang="en-US" altLang="ja-JP" sz="2800" dirty="0" smtClean="0"/>
              <a:t>fork</a:t>
            </a:r>
            <a:r>
              <a:rPr lang="ja-JP" altLang="en-US" sz="2800" dirty="0" smtClean="0"/>
              <a:t>システムコールを呼び出す典型的書き方</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242"/>
            <a:ext cx="8229600" cy="725470"/>
          </a:xfrm>
        </p:spPr>
        <p:txBody>
          <a:bodyPr>
            <a:normAutofit fontScale="90000"/>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642910" y="764704"/>
            <a:ext cx="7715304" cy="6001643"/>
          </a:xfrm>
          <a:prstGeom prst="rect">
            <a:avLst/>
          </a:prstGeom>
          <a:ln>
            <a:solidFill>
              <a:schemeClr val="tx1"/>
            </a:solidFill>
          </a:ln>
        </p:spPr>
        <p:txBody>
          <a:bodyPr wrap="square">
            <a:spAutoFit/>
          </a:bodyPr>
          <a:lstStyle/>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pid</a:t>
            </a:r>
            <a:r>
              <a:rPr lang="en-US" altLang="ja-JP" sz="2400" dirty="0" smtClean="0"/>
              <a:t>;</a:t>
            </a:r>
          </a:p>
          <a:p>
            <a:r>
              <a:rPr lang="ja-JP" altLang="en-US" sz="2400" dirty="0" smtClean="0"/>
              <a:t>  </a:t>
            </a:r>
            <a:r>
              <a:rPr lang="en-US" altLang="ja-JP" sz="2400" dirty="0" smtClean="0"/>
              <a:t>if ((</a:t>
            </a:r>
            <a:r>
              <a:rPr lang="en-US" altLang="ja-JP" sz="2400" dirty="0" err="1" smtClean="0"/>
              <a:t>pid</a:t>
            </a:r>
            <a:r>
              <a:rPr lang="en-US" altLang="ja-JP" sz="2400" dirty="0" smtClean="0"/>
              <a:t> = fork()) == 0) {</a:t>
            </a:r>
          </a:p>
          <a:p>
            <a:r>
              <a:rPr lang="en-US" altLang="ja-JP" sz="2400" dirty="0" smtClean="0"/>
              <a:t>    </a:t>
            </a:r>
            <a:r>
              <a:rPr lang="en-US" altLang="ja-JP" sz="2400" dirty="0" err="1" smtClean="0"/>
              <a:t>printf</a:t>
            </a:r>
            <a:r>
              <a:rPr lang="en-US" altLang="ja-JP" sz="2400" dirty="0" smtClean="0"/>
              <a:t> ("Child process. ID=%d\n", </a:t>
            </a:r>
            <a:r>
              <a:rPr lang="en-US" altLang="ja-JP" sz="2400" dirty="0" err="1" smtClean="0"/>
              <a:t>getpid</a:t>
            </a:r>
            <a:r>
              <a:rPr lang="en-US" altLang="ja-JP" sz="2400" dirty="0" smtClean="0"/>
              <a:t>());</a:t>
            </a:r>
          </a:p>
          <a:p>
            <a:r>
              <a:rPr lang="en-US" altLang="ja-JP" sz="2400" dirty="0" smtClean="0"/>
              <a:t>  } else if (</a:t>
            </a:r>
            <a:r>
              <a:rPr lang="en-US" altLang="ja-JP" sz="2400" dirty="0" err="1" smtClean="0"/>
              <a:t>pid</a:t>
            </a:r>
            <a:r>
              <a:rPr lang="en-US" altLang="ja-JP" sz="2400" dirty="0" smtClean="0"/>
              <a:t> &gt;= 1) {</a:t>
            </a:r>
          </a:p>
          <a:p>
            <a:r>
              <a:rPr lang="en-US" altLang="ja-JP" sz="2400" dirty="0" smtClean="0"/>
              <a:t>    </a:t>
            </a:r>
            <a:r>
              <a:rPr lang="en-US" altLang="ja-JP" sz="2400" dirty="0" err="1" smtClean="0"/>
              <a:t>printf</a:t>
            </a:r>
            <a:r>
              <a:rPr lang="en-US" altLang="ja-JP" sz="2400" dirty="0" smtClean="0"/>
              <a:t> ("Parent process. ID=%d, </a:t>
            </a:r>
            <a:r>
              <a:rPr lang="en-US" altLang="ja-JP" sz="2400" dirty="0" err="1" smtClean="0"/>
              <a:t>pid</a:t>
            </a:r>
            <a:r>
              <a:rPr lang="en-US" altLang="ja-JP" sz="2400" dirty="0" smtClean="0"/>
              <a:t>=%d\n", </a:t>
            </a:r>
            <a:r>
              <a:rPr lang="en-US" altLang="ja-JP" sz="2400" dirty="0" err="1" smtClean="0"/>
              <a:t>getpid</a:t>
            </a:r>
            <a:r>
              <a:rPr lang="en-US" altLang="ja-JP" sz="2400" dirty="0" smtClean="0"/>
              <a:t>(), </a:t>
            </a:r>
            <a:r>
              <a:rPr lang="en-US" altLang="ja-JP" sz="2400" dirty="0" err="1" smtClean="0"/>
              <a:t>pid</a:t>
            </a:r>
            <a:r>
              <a:rPr lang="en-US" altLang="ja-JP" sz="2400" dirty="0" smtClean="0"/>
              <a:t>);</a:t>
            </a:r>
          </a:p>
          <a:p>
            <a:r>
              <a:rPr lang="en-US" altLang="ja-JP" sz="2400" dirty="0" smtClean="0"/>
              <a:t>  } else {</a:t>
            </a:r>
          </a:p>
          <a:p>
            <a:r>
              <a:rPr lang="en-US" altLang="ja-JP" sz="2400" dirty="0" smtClean="0"/>
              <a:t>    </a:t>
            </a:r>
            <a:r>
              <a:rPr lang="en-US" altLang="ja-JP" sz="2400" dirty="0" err="1" smtClean="0"/>
              <a:t>perror</a:t>
            </a:r>
            <a:r>
              <a:rPr lang="en-US" altLang="ja-JP" sz="2400" dirty="0" smtClean="0"/>
              <a:t> ("fork");</a:t>
            </a:r>
          </a:p>
          <a:p>
            <a:r>
              <a:rPr lang="en-US" altLang="ja-JP" sz="2400" dirty="0" smtClean="0"/>
              <a:t>    exit(1);</a:t>
            </a:r>
          </a:p>
          <a:p>
            <a:r>
              <a:rPr lang="en-US" altLang="ja-JP" sz="2400" dirty="0" smtClean="0"/>
              <a:t>  }</a:t>
            </a:r>
          </a:p>
          <a:p>
            <a:r>
              <a:rPr lang="en-US" altLang="ja-JP" sz="2400" dirty="0" smtClean="0"/>
              <a:t>  exit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e</a:t>
            </a:r>
            <a:r>
              <a:rPr kumimoji="1" lang="en-US" altLang="ja-JP" dirty="0" smtClean="0"/>
              <a:t>xec</a:t>
            </a:r>
            <a:r>
              <a:rPr kumimoji="1" lang="ja-JP" altLang="en-US" dirty="0" smtClean="0"/>
              <a:t>システムコール</a:t>
            </a:r>
            <a:endParaRPr kumimoji="1" lang="ja-JP" altLang="en-US" dirty="0"/>
          </a:p>
        </p:txBody>
      </p:sp>
      <p:sp>
        <p:nvSpPr>
          <p:cNvPr id="3" name="コンテンツ プレースホルダ 2"/>
          <p:cNvSpPr>
            <a:spLocks noGrp="1"/>
          </p:cNvSpPr>
          <p:nvPr>
            <p:ph idx="1"/>
          </p:nvPr>
        </p:nvSpPr>
        <p:spPr>
          <a:xfrm>
            <a:off x="428596" y="1428736"/>
            <a:ext cx="8229600" cy="4808576"/>
          </a:xfrm>
        </p:spPr>
        <p:txBody>
          <a:bodyPr>
            <a:normAutofit fontScale="85000" lnSpcReduction="10000"/>
          </a:bodyPr>
          <a:lstStyle/>
          <a:p>
            <a:r>
              <a:rPr lang="ja-JP" altLang="en-US" dirty="0" smtClean="0"/>
              <a:t>現在のプロセスを、引数に与えられたファイル（実行形式ファイルあるいはシェルスクリプト等の実行可能なファイル）を受け取り、現在のプログラムをそれで置き換える（変身）。</a:t>
            </a:r>
            <a:endParaRPr lang="en-US" altLang="ja-JP" dirty="0" smtClean="0"/>
          </a:p>
          <a:p>
            <a:r>
              <a:rPr lang="en-US" altLang="ja-JP" dirty="0" smtClean="0"/>
              <a:t>fork</a:t>
            </a:r>
            <a:r>
              <a:rPr lang="ja-JP" altLang="en-US" dirty="0" smtClean="0"/>
              <a:t>システムコールによって子プロセスの生成後、子プロセスが</a:t>
            </a:r>
            <a:r>
              <a:rPr lang="en-US" altLang="ja-JP" dirty="0" err="1" smtClean="0"/>
              <a:t>execve</a:t>
            </a:r>
            <a:r>
              <a:rPr lang="ja-JP" altLang="en-US" dirty="0" smtClean="0"/>
              <a:t>システムコールによって新しいプログラムを読み込むというのが典型的な使い方</a:t>
            </a:r>
            <a:r>
              <a:rPr lang="en-US" altLang="ja-JP" dirty="0" smtClean="0"/>
              <a:t>(fork-exec)</a:t>
            </a:r>
            <a:r>
              <a:rPr lang="ja-JP" altLang="en-US" dirty="0" err="1" smtClean="0"/>
              <a:t>。</a:t>
            </a:r>
            <a:endParaRPr lang="en-US" altLang="ja-JP" dirty="0" smtClean="0"/>
          </a:p>
          <a:p>
            <a:r>
              <a:rPr lang="en-US" altLang="ja-JP" dirty="0" err="1" smtClean="0"/>
              <a:t>e</a:t>
            </a:r>
            <a:r>
              <a:rPr kumimoji="1" lang="en-US" altLang="ja-JP" dirty="0" err="1" smtClean="0"/>
              <a:t>xecve</a:t>
            </a:r>
            <a:r>
              <a:rPr kumimoji="1" lang="ja-JP" altLang="en-US" dirty="0" smtClean="0"/>
              <a:t>システムコールを使って定義</a:t>
            </a:r>
            <a:r>
              <a:rPr kumimoji="1" lang="ja-JP" altLang="en-US" dirty="0" err="1" smtClean="0"/>
              <a:t>されたいくつかの</a:t>
            </a:r>
            <a:r>
              <a:rPr kumimoji="1" lang="ja-JP" altLang="en-US" dirty="0" smtClean="0"/>
              <a:t>ライブラリ関数があり、自分の使い方あった、便利がよい関数を用いればよい。以下ではこれらをまとめて</a:t>
            </a:r>
            <a:r>
              <a:rPr kumimoji="1" lang="en-US" altLang="ja-JP" dirty="0" smtClean="0"/>
              <a:t>exec</a:t>
            </a:r>
            <a:r>
              <a:rPr kumimoji="1" lang="ja-JP" altLang="en-US" dirty="0" smtClean="0"/>
              <a:t>システムコールと呼ぶこととする。</a:t>
            </a:r>
            <a:endParaRPr kumimoji="1" lang="ja-JP"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6306A473-A974-48D7-864D-785911377B5A}" type="slidenum">
              <a:rPr lang="en-US" altLang="ja-JP"/>
              <a:pPr/>
              <a:t>19</a:t>
            </a:fld>
            <a:endParaRPr lang="en-US" altLang="ja-JP"/>
          </a:p>
        </p:txBody>
      </p:sp>
      <p:pic>
        <p:nvPicPr>
          <p:cNvPr id="140292" name="Picture 4" descr="fig6"/>
          <p:cNvPicPr>
            <a:picLocks noChangeAspect="1" noChangeArrowheads="1"/>
          </p:cNvPicPr>
          <p:nvPr/>
        </p:nvPicPr>
        <p:blipFill>
          <a:blip r:embed="rId3" cstate="print"/>
          <a:srcRect/>
          <a:stretch>
            <a:fillRect/>
          </a:stretch>
        </p:blipFill>
        <p:spPr bwMode="auto">
          <a:xfrm>
            <a:off x="395288" y="333375"/>
            <a:ext cx="7632700" cy="6280150"/>
          </a:xfrm>
          <a:prstGeom prst="rect">
            <a:avLst/>
          </a:prstGeom>
          <a:noFill/>
        </p:spPr>
      </p:pic>
      <p:sp>
        <p:nvSpPr>
          <p:cNvPr id="140293" name="Rectangle 5"/>
          <p:cNvSpPr>
            <a:spLocks noChangeArrowheads="1"/>
          </p:cNvSpPr>
          <p:nvPr/>
        </p:nvSpPr>
        <p:spPr bwMode="auto">
          <a:xfrm>
            <a:off x="1476375" y="1773238"/>
            <a:ext cx="1079500" cy="287337"/>
          </a:xfrm>
          <a:prstGeom prst="rect">
            <a:avLst/>
          </a:prstGeom>
          <a:solidFill>
            <a:srgbClr val="FF0000">
              <a:alpha val="25999"/>
            </a:srgbClr>
          </a:solidFill>
          <a:ln w="9525">
            <a:solidFill>
              <a:schemeClr val="tx1"/>
            </a:solidFill>
            <a:miter lim="800000"/>
            <a:headEnd/>
            <a:tailEnd/>
          </a:ln>
          <a:effectLst/>
        </p:spPr>
        <p:txBody>
          <a:bodyPr wrap="none" anchor="ctr"/>
          <a:lstStyle/>
          <a:p>
            <a:endParaRPr lang="ja-JP" altLang="en-US"/>
          </a:p>
        </p:txBody>
      </p:sp>
      <p:sp>
        <p:nvSpPr>
          <p:cNvPr id="7" name="テキスト ボックス 6"/>
          <p:cNvSpPr txBox="1"/>
          <p:nvPr/>
        </p:nvSpPr>
        <p:spPr>
          <a:xfrm>
            <a:off x="5000628" y="357166"/>
            <a:ext cx="3857652" cy="3539430"/>
          </a:xfrm>
          <a:prstGeom prst="rect">
            <a:avLst/>
          </a:prstGeom>
          <a:noFill/>
          <a:ln>
            <a:solidFill>
              <a:schemeClr val="tx1"/>
            </a:solidFill>
          </a:ln>
        </p:spPr>
        <p:txBody>
          <a:bodyPr wrap="square" rtlCol="0">
            <a:spAutoFit/>
          </a:bodyPr>
          <a:lstStyle/>
          <a:p>
            <a:r>
              <a:rPr lang="ja-JP" altLang="en-US" sz="2800" dirty="0" smtClean="0"/>
              <a:t>実行形式ファイルに格納されているプログラムを別プロセスで実行したい場合は、</a:t>
            </a:r>
            <a:r>
              <a:rPr lang="en-US" altLang="ja-JP" sz="2800" dirty="0" smtClean="0"/>
              <a:t>fork</a:t>
            </a:r>
            <a:r>
              <a:rPr lang="ja-JP" altLang="en-US" sz="2800" dirty="0" smtClean="0"/>
              <a:t>で子プロセスを作り、子プロセスで</a:t>
            </a:r>
            <a:r>
              <a:rPr lang="en-US" altLang="ja-JP" sz="2800" dirty="0" smtClean="0"/>
              <a:t>exec</a:t>
            </a:r>
            <a:r>
              <a:rPr lang="ja-JP" altLang="en-US" sz="2800" dirty="0" smtClean="0"/>
              <a:t>システムコールを用いる。これを</a:t>
            </a:r>
            <a:r>
              <a:rPr lang="en-US" altLang="ja-JP" sz="2800" dirty="0" smtClean="0"/>
              <a:t>fork-exec</a:t>
            </a:r>
            <a:r>
              <a:rPr lang="ja-JP" altLang="en-US" sz="2800" dirty="0" smtClean="0"/>
              <a:t>という。</a:t>
            </a:r>
            <a:endParaRPr kumimoji="1"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lang="ja-JP" altLang="en-US" dirty="0" smtClean="0"/>
              <a:t>例（打ち込んで確認）</a:t>
            </a:r>
            <a:endParaRPr kumimoji="1" lang="ja-JP" altLang="en-US" dirty="0"/>
          </a:p>
        </p:txBody>
      </p:sp>
      <p:sp>
        <p:nvSpPr>
          <p:cNvPr id="5" name="テキスト ボックス 4"/>
          <p:cNvSpPr txBox="1"/>
          <p:nvPr/>
        </p:nvSpPr>
        <p:spPr>
          <a:xfrm>
            <a:off x="5643570" y="1643050"/>
            <a:ext cx="2928958" cy="830997"/>
          </a:xfrm>
          <a:prstGeom prst="rect">
            <a:avLst/>
          </a:prstGeom>
          <a:noFill/>
          <a:ln>
            <a:solidFill>
              <a:schemeClr val="tx1"/>
            </a:solidFill>
          </a:ln>
        </p:spPr>
        <p:txBody>
          <a:bodyPr wrap="square" rtlCol="0">
            <a:spAutoFit/>
          </a:bodyPr>
          <a:lstStyle/>
          <a:p>
            <a:r>
              <a:rPr lang="ja-JP" altLang="en-US" sz="2400" dirty="0" smtClean="0"/>
              <a:t>子プロセスで</a:t>
            </a:r>
            <a:r>
              <a:rPr lang="en-US" altLang="ja-JP" sz="2400" dirty="0" err="1" smtClean="0"/>
              <a:t>ps</a:t>
            </a:r>
            <a:r>
              <a:rPr lang="ja-JP" altLang="en-US" sz="2400" dirty="0" smtClean="0"/>
              <a:t>コマンドを実行</a:t>
            </a:r>
            <a:r>
              <a:rPr kumimoji="1" lang="ja-JP" altLang="en-US" sz="2400" dirty="0" smtClean="0"/>
              <a:t>する例</a:t>
            </a:r>
            <a:endParaRPr kumimoji="1" lang="ja-JP" altLang="en-US" sz="2400" dirty="0"/>
          </a:p>
        </p:txBody>
      </p:sp>
      <p:sp>
        <p:nvSpPr>
          <p:cNvPr id="7" name="正方形/長方形 6"/>
          <p:cNvSpPr/>
          <p:nvPr/>
        </p:nvSpPr>
        <p:spPr>
          <a:xfrm>
            <a:off x="714348" y="1071546"/>
            <a:ext cx="4572000" cy="5632311"/>
          </a:xfrm>
          <a:prstGeom prst="rect">
            <a:avLst/>
          </a:prstGeom>
          <a:ln>
            <a:solidFill>
              <a:schemeClr val="tx1"/>
            </a:solidFill>
          </a:ln>
        </p:spPr>
        <p:txBody>
          <a:bodyPr>
            <a:spAutoFit/>
          </a:bodyPr>
          <a:lstStyle/>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a:t>
            </a:r>
            <a:r>
              <a:rPr lang="en-US" altLang="ja-JP" sz="2000" dirty="0" smtClean="0"/>
              <a:t> [2] = {"/bin/</a:t>
            </a:r>
            <a:r>
              <a:rPr lang="en-US" altLang="ja-JP" sz="2000" dirty="0" err="1" smtClean="0"/>
              <a:t>ps</a:t>
            </a:r>
            <a:r>
              <a:rPr lang="en-US" altLang="ja-JP" sz="2000" dirty="0" smtClean="0"/>
              <a:t>", NULL};</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execv</a:t>
            </a:r>
            <a:r>
              <a:rPr lang="en-US" altLang="ja-JP" sz="2000" dirty="0" smtClean="0"/>
              <a:t>("/bin/</a:t>
            </a:r>
            <a:r>
              <a:rPr lang="en-US" altLang="ja-JP" sz="2000" dirty="0" err="1" smtClean="0"/>
              <a:t>ps</a:t>
            </a:r>
            <a:r>
              <a:rPr lang="en-US" altLang="ja-JP" sz="2000" dirty="0" smtClean="0"/>
              <a:t>", </a:t>
            </a:r>
            <a:r>
              <a:rPr lang="en-US" altLang="ja-JP" sz="2000" dirty="0" err="1" smtClean="0"/>
              <a:t>argv</a:t>
            </a:r>
            <a:r>
              <a:rPr lang="en-US" altLang="ja-JP" sz="2000" dirty="0" smtClean="0"/>
              <a:t>);</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ait</a:t>
            </a:r>
            <a:r>
              <a:rPr kumimoji="1" lang="ja-JP" altLang="en-US" dirty="0" smtClean="0"/>
              <a:t>システムコール</a:t>
            </a:r>
            <a:endParaRPr kumimoji="1" lang="ja-JP" altLang="en-US" dirty="0"/>
          </a:p>
        </p:txBody>
      </p:sp>
      <p:sp>
        <p:nvSpPr>
          <p:cNvPr id="4" name="Text Box 5"/>
          <p:cNvSpPr txBox="1">
            <a:spLocks noChangeArrowheads="1"/>
          </p:cNvSpPr>
          <p:nvPr/>
        </p:nvSpPr>
        <p:spPr bwMode="auto">
          <a:xfrm>
            <a:off x="1071538" y="1285860"/>
            <a:ext cx="7143800" cy="4524315"/>
          </a:xfrm>
          <a:prstGeom prst="rect">
            <a:avLst/>
          </a:prstGeom>
          <a:noFill/>
          <a:ln w="9525">
            <a:noFill/>
            <a:miter lim="800000"/>
            <a:headEnd/>
            <a:tailEnd/>
          </a:ln>
          <a:effectLst/>
        </p:spPr>
        <p:txBody>
          <a:bodyPr wrap="square">
            <a:spAutoFit/>
          </a:bodyPr>
          <a:lstStyle/>
          <a:p>
            <a:r>
              <a:rPr lang="ja-JP" altLang="en-US" sz="2400" u="none" dirty="0"/>
              <a:t>子プロセス生成後，親プロセスは</a:t>
            </a:r>
            <a:r>
              <a:rPr lang="en-US" altLang="ja-JP" sz="2400" u="none" dirty="0"/>
              <a:t>wait()</a:t>
            </a:r>
            <a:r>
              <a:rPr lang="ja-JP" altLang="en-US" sz="2400" u="none" dirty="0"/>
              <a:t>を呼んで子プロセスの終了を</a:t>
            </a:r>
            <a:r>
              <a:rPr lang="ja-JP" altLang="en-US" sz="2400" u="none" dirty="0" smtClean="0"/>
              <a:t>待つ。</a:t>
            </a:r>
            <a:endParaRPr lang="en-US" altLang="ja-JP" sz="2400" u="none" dirty="0" smtClean="0"/>
          </a:p>
          <a:p>
            <a:r>
              <a:rPr lang="ja-JP" altLang="en-US" sz="2400" dirty="0" smtClean="0"/>
              <a:t>子プロセスが終了すると、</a:t>
            </a:r>
            <a:r>
              <a:rPr lang="en-US" altLang="ja-JP" sz="2400" dirty="0" smtClean="0"/>
              <a:t>wait</a:t>
            </a:r>
            <a:r>
              <a:rPr lang="ja-JP" altLang="en-US" sz="2400" dirty="0" smtClean="0"/>
              <a:t>システムコールにより、子プロセス用のプロセステーブルのエントリ、プロセス</a:t>
            </a:r>
            <a:r>
              <a:rPr lang="en-US" altLang="ja-JP" sz="2400" dirty="0" smtClean="0"/>
              <a:t>ID</a:t>
            </a:r>
            <a:r>
              <a:rPr lang="ja-JP" altLang="en-US" sz="2400" dirty="0" smtClean="0"/>
              <a:t>が消され、それらが再利用可能な状態になる。</a:t>
            </a:r>
            <a:endParaRPr lang="en-US" altLang="ja-JP" sz="2400" dirty="0" smtClean="0"/>
          </a:p>
          <a:p>
            <a:r>
              <a:rPr lang="ja-JP" altLang="en-US" sz="2400" u="none" dirty="0" smtClean="0"/>
              <a:t>子プロセスが終了した後、親プロセスが</a:t>
            </a:r>
            <a:r>
              <a:rPr lang="en-US" altLang="ja-JP" sz="2400" u="none" dirty="0" smtClean="0"/>
              <a:t>wait</a:t>
            </a:r>
            <a:r>
              <a:rPr lang="ja-JP" altLang="en-US" sz="2400" dirty="0" smtClean="0"/>
              <a:t>システムコールを呼ばなかった場合は、子プロセスはゾンビ状態となる。親プロセスが終了したら</a:t>
            </a:r>
            <a:r>
              <a:rPr lang="en-US" altLang="ja-JP" sz="2400" dirty="0" smtClean="0"/>
              <a:t>init</a:t>
            </a:r>
            <a:r>
              <a:rPr lang="ja-JP" altLang="en-US" sz="2400" dirty="0" smtClean="0"/>
              <a:t>プロセスが親になり、</a:t>
            </a:r>
            <a:r>
              <a:rPr lang="en-US" altLang="ja-JP" sz="2400" dirty="0" smtClean="0"/>
              <a:t>init</a:t>
            </a:r>
            <a:r>
              <a:rPr lang="ja-JP" altLang="en-US" sz="2400" dirty="0" smtClean="0"/>
              <a:t>プロセスが</a:t>
            </a:r>
            <a:r>
              <a:rPr lang="en-US" altLang="ja-JP" sz="2400" dirty="0" smtClean="0"/>
              <a:t>wait</a:t>
            </a:r>
            <a:r>
              <a:rPr lang="ja-JP" altLang="en-US" sz="2400" dirty="0" smtClean="0"/>
              <a:t>システムコールを呼び出す（のでゾンビ状態ではなくなり、プロセスが終了する）。</a:t>
            </a:r>
            <a:endParaRPr lang="ja-JP" altLang="en-US" sz="2400" u="none" dirty="0"/>
          </a:p>
          <a:p>
            <a:r>
              <a:rPr lang="ja-JP" altLang="en-US" sz="2400" u="none" dirty="0"/>
              <a:t>子プロセスの終了ステータス情報を得るため，</a:t>
            </a:r>
            <a:r>
              <a:rPr lang="ja-JP" altLang="en-US" sz="2400" u="none" dirty="0" smtClean="0"/>
              <a:t>引数</a:t>
            </a:r>
            <a:r>
              <a:rPr lang="ja-JP" altLang="en-US" sz="2400" dirty="0" smtClean="0"/>
              <a:t>に</a:t>
            </a:r>
            <a:r>
              <a:rPr lang="en-US" altLang="ja-JP" sz="2400" dirty="0" err="1" smtClean="0"/>
              <a:t>int</a:t>
            </a:r>
            <a:r>
              <a:rPr lang="ja-JP" altLang="en-US" sz="2400" dirty="0" smtClean="0"/>
              <a:t>型へのポインタを渡す。</a:t>
            </a:r>
            <a:endParaRPr lang="ja-JP" altLang="en-US" sz="2400" u="none"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ゾンビプロセス（打ち込んで確認）</a:t>
            </a:r>
            <a:endParaRPr kumimoji="1" lang="ja-JP" altLang="en-US" dirty="0"/>
          </a:p>
        </p:txBody>
      </p:sp>
      <p:sp>
        <p:nvSpPr>
          <p:cNvPr id="4" name="正方形/長方形 3"/>
          <p:cNvSpPr/>
          <p:nvPr/>
        </p:nvSpPr>
        <p:spPr>
          <a:xfrm>
            <a:off x="928662" y="1214422"/>
            <a:ext cx="328614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status;</a:t>
            </a:r>
          </a:p>
          <a:p>
            <a:r>
              <a:rPr lang="en-US" altLang="ja-JP" sz="2000" dirty="0" smtClean="0"/>
              <a:t>  if ((</a:t>
            </a:r>
            <a:r>
              <a:rPr lang="en-US" altLang="ja-JP" sz="2000" dirty="0" err="1" smtClean="0"/>
              <a:t>pid</a:t>
            </a:r>
            <a:r>
              <a:rPr lang="en-US" altLang="ja-JP" sz="2000" dirty="0" smtClean="0"/>
              <a:t> = fork()) == 0) {</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sleep (5);</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
        <p:nvSpPr>
          <p:cNvPr id="5" name="テキスト ボックス 4"/>
          <p:cNvSpPr txBox="1"/>
          <p:nvPr/>
        </p:nvSpPr>
        <p:spPr>
          <a:xfrm>
            <a:off x="4643438" y="1500174"/>
            <a:ext cx="4000528" cy="2677656"/>
          </a:xfrm>
          <a:prstGeom prst="rect">
            <a:avLst/>
          </a:prstGeom>
          <a:noFill/>
          <a:ln>
            <a:noFill/>
          </a:ln>
        </p:spPr>
        <p:txBody>
          <a:bodyPr wrap="square" rtlCol="0">
            <a:spAutoFit/>
          </a:bodyPr>
          <a:lstStyle/>
          <a:p>
            <a:r>
              <a:rPr kumimoji="1" lang="ja-JP" altLang="en-US" sz="2400" dirty="0" smtClean="0"/>
              <a:t>このプログラムを実行し、</a:t>
            </a:r>
            <a:r>
              <a:rPr kumimoji="1" lang="en-US" altLang="ja-JP" sz="2400" dirty="0" smtClean="0"/>
              <a:t>5</a:t>
            </a:r>
            <a:r>
              <a:rPr kumimoji="1" lang="ja-JP" altLang="en-US" sz="2400" dirty="0" smtClean="0"/>
              <a:t>秒以内に</a:t>
            </a:r>
            <a:r>
              <a:rPr kumimoji="1" lang="en-US" altLang="ja-JP" sz="2400" dirty="0" smtClean="0"/>
              <a:t>Ctrl-z</a:t>
            </a:r>
            <a:r>
              <a:rPr kumimoji="1" lang="ja-JP" altLang="en-US" sz="2400" dirty="0" smtClean="0"/>
              <a:t>で</a:t>
            </a:r>
            <a:r>
              <a:rPr kumimoji="1" lang="en-US" altLang="ja-JP" sz="2400" dirty="0" smtClean="0"/>
              <a:t>suspend</a:t>
            </a:r>
            <a:r>
              <a:rPr kumimoji="1" lang="ja-JP" altLang="en-US" sz="2400" dirty="0" smtClean="0"/>
              <a:t>する。そのときに</a:t>
            </a:r>
            <a:r>
              <a:rPr kumimoji="1" lang="en-US" altLang="ja-JP" sz="2400" dirty="0" err="1" smtClean="0"/>
              <a:t>ps</a:t>
            </a:r>
            <a:r>
              <a:rPr kumimoji="1" lang="ja-JP" altLang="en-US" sz="2400" dirty="0" smtClean="0"/>
              <a:t>コマンドを実行すると、以下のように、</a:t>
            </a:r>
            <a:r>
              <a:rPr kumimoji="1" lang="en-US" altLang="ja-JP" sz="2400" dirty="0" smtClean="0"/>
              <a:t>&lt;defunct&gt;</a:t>
            </a:r>
            <a:r>
              <a:rPr kumimoji="1" lang="ja-JP" altLang="en-US" sz="2400" dirty="0" smtClean="0"/>
              <a:t>と書かれたプロセスがあるはずである。これがゾンビプロセスである。</a:t>
            </a:r>
            <a:endParaRPr kumimoji="1" lang="ja-JP" altLang="en-US" sz="2400" dirty="0"/>
          </a:p>
        </p:txBody>
      </p:sp>
      <p:sp>
        <p:nvSpPr>
          <p:cNvPr id="6" name="正方形/長方形 5"/>
          <p:cNvSpPr/>
          <p:nvPr/>
        </p:nvSpPr>
        <p:spPr>
          <a:xfrm>
            <a:off x="4572000" y="4643446"/>
            <a:ext cx="4071966" cy="646331"/>
          </a:xfrm>
          <a:prstGeom prst="rect">
            <a:avLst/>
          </a:prstGeom>
        </p:spPr>
        <p:txBody>
          <a:bodyPr wrap="square">
            <a:spAutoFit/>
          </a:bodyPr>
          <a:lstStyle/>
          <a:p>
            <a:r>
              <a:rPr lang="en-US" altLang="ja-JP" dirty="0" smtClean="0"/>
              <a:t>19570 pts/0    00:00:00 </a:t>
            </a:r>
            <a:r>
              <a:rPr lang="en-US" altLang="ja-JP" dirty="0" err="1" smtClean="0"/>
              <a:t>a.out</a:t>
            </a:r>
            <a:endParaRPr lang="en-US" altLang="ja-JP" dirty="0" smtClean="0"/>
          </a:p>
          <a:p>
            <a:r>
              <a:rPr lang="en-US" altLang="ja-JP" dirty="0" smtClean="0"/>
              <a:t>19571 pts/0    00:00:00 </a:t>
            </a:r>
            <a:r>
              <a:rPr lang="en-US" altLang="ja-JP" dirty="0" err="1" smtClean="0"/>
              <a:t>a.out</a:t>
            </a:r>
            <a:r>
              <a:rPr lang="en-US" altLang="ja-JP" dirty="0" smtClean="0"/>
              <a:t> &lt;defunct&gt;</a:t>
            </a:r>
            <a:endParaRPr lang="en-US" altLang="ja-JP"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例：コマンドの引数に与えられたプログラムを実行（打ち込んで確認）</a:t>
            </a:r>
            <a:endParaRPr kumimoji="1" lang="ja-JP" altLang="en-US" dirty="0"/>
          </a:p>
        </p:txBody>
      </p:sp>
      <p:sp>
        <p:nvSpPr>
          <p:cNvPr id="4" name="正方形/長方形 3"/>
          <p:cNvSpPr/>
          <p:nvPr/>
        </p:nvSpPr>
        <p:spPr>
          <a:xfrm>
            <a:off x="714348" y="1571612"/>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 </a:t>
            </a:r>
            <a:r>
              <a:rPr lang="en-US" altLang="ja-JP" sz="2000" dirty="0" err="1" smtClean="0"/>
              <a:t>argv</a:t>
            </a:r>
            <a:r>
              <a:rPr lang="en-US" altLang="ja-JP" sz="2000" dirty="0" smtClean="0"/>
              <a:t> []) {</a:t>
            </a:r>
          </a:p>
          <a:p>
            <a:r>
              <a:rPr lang="en-US" altLang="ja-JP" sz="2000" dirty="0" smtClean="0"/>
              <a:t>  if (</a:t>
            </a:r>
            <a:r>
              <a:rPr lang="en-US" altLang="ja-JP" sz="2000" dirty="0" err="1" smtClean="0"/>
              <a:t>argc</a:t>
            </a:r>
            <a:r>
              <a:rPr lang="en-US" altLang="ja-JP" sz="2000" dirty="0" smtClean="0"/>
              <a:t> &lt; 2) {</a:t>
            </a:r>
          </a:p>
          <a:p>
            <a:r>
              <a:rPr lang="en-US" altLang="ja-JP" sz="2000" dirty="0" smtClean="0"/>
              <a:t>    </a:t>
            </a:r>
            <a:r>
              <a:rPr lang="en-US" altLang="ja-JP" sz="2000" dirty="0" err="1" smtClean="0"/>
              <a:t>fprintf</a:t>
            </a:r>
            <a:r>
              <a:rPr lang="en-US" altLang="ja-JP" sz="2000" dirty="0" smtClean="0"/>
              <a:t> (</a:t>
            </a:r>
            <a:r>
              <a:rPr lang="en-US" altLang="ja-JP" sz="2000" dirty="0" err="1" smtClean="0"/>
              <a:t>stderr</a:t>
            </a:r>
            <a:r>
              <a:rPr lang="en-US" altLang="ja-JP" sz="2000" dirty="0" smtClean="0"/>
              <a:t>,</a:t>
            </a:r>
          </a:p>
          <a:p>
            <a:r>
              <a:rPr lang="en-US" altLang="ja-JP" sz="2000" dirty="0" smtClean="0"/>
              <a:t>             "Usage: %s command [option]\n",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a:t>
            </a:r>
            <a:r>
              <a:rPr lang="en-US" altLang="ja-JP" sz="2000" dirty="0" err="1" smtClean="0"/>
              <a:t>execv</a:t>
            </a:r>
            <a:r>
              <a:rPr lang="en-US" altLang="ja-JP" sz="2000" dirty="0" smtClean="0"/>
              <a:t> (</a:t>
            </a:r>
            <a:r>
              <a:rPr lang="en-US" altLang="ja-JP" sz="2000" dirty="0" err="1" smtClean="0"/>
              <a:t>argv</a:t>
            </a:r>
            <a:r>
              <a:rPr lang="en-US" altLang="ja-JP" sz="2000" dirty="0" smtClean="0"/>
              <a:t>[1], &amp;</a:t>
            </a:r>
            <a:r>
              <a:rPr lang="en-US" altLang="ja-JP" sz="2000" dirty="0" err="1" smtClean="0"/>
              <a:t>argv</a:t>
            </a:r>
            <a:r>
              <a:rPr lang="en-US" altLang="ja-JP" sz="2000" dirty="0" smtClean="0"/>
              <a:t>[1]) == -1) {</a:t>
            </a:r>
          </a:p>
          <a:p>
            <a:r>
              <a:rPr lang="en-US" altLang="ja-JP" sz="2000" dirty="0" smtClean="0"/>
              <a:t>    </a:t>
            </a:r>
            <a:r>
              <a:rPr lang="en-US" altLang="ja-JP" sz="2000" dirty="0" err="1" smtClean="0"/>
              <a:t>perror</a:t>
            </a:r>
            <a:r>
              <a:rPr lang="en-US" altLang="ja-JP" sz="2000" dirty="0" smtClean="0"/>
              <a:t> ("</a:t>
            </a:r>
            <a:r>
              <a:rPr lang="en-US" altLang="ja-JP" sz="2000" dirty="0" err="1" smtClean="0"/>
              <a:t>execv</a:t>
            </a:r>
            <a:r>
              <a:rPr lang="en-US" altLang="ja-JP" sz="2000" dirty="0" smtClean="0"/>
              <a:t>");</a:t>
            </a:r>
          </a:p>
          <a:p>
            <a:r>
              <a:rPr lang="en-US" altLang="ja-JP" sz="2000" dirty="0" smtClean="0"/>
              <a:t>    exit(1);</a:t>
            </a:r>
          </a:p>
          <a:p>
            <a:r>
              <a:rPr lang="en-US" altLang="ja-JP" sz="2000" dirty="0" smtClean="0"/>
              <a:t>  }</a:t>
            </a:r>
          </a:p>
          <a:p>
            <a:r>
              <a:rPr lang="en-US" altLang="ja-JP" sz="2000" dirty="0" smtClean="0"/>
              <a:t>  return 0; /* </a:t>
            </a:r>
            <a:r>
              <a:rPr lang="ja-JP" altLang="en-US" sz="2000" dirty="0" smtClean="0"/>
              <a:t>ここには来ない *</a:t>
            </a:r>
            <a:r>
              <a:rPr lang="en-US" altLang="ja-JP" sz="2000" dirty="0" smtClean="0"/>
              <a:t>/</a:t>
            </a:r>
          </a:p>
          <a:p>
            <a:r>
              <a:rPr lang="en-US" altLang="ja-JP" sz="2000" dirty="0" smtClean="0"/>
              <a:t>}</a:t>
            </a:r>
            <a:endParaRPr lang="en-US" altLang="ja-JP" sz="2000" dirty="0"/>
          </a:p>
        </p:txBody>
      </p:sp>
      <p:sp>
        <p:nvSpPr>
          <p:cNvPr id="5" name="テキスト ボックス 4"/>
          <p:cNvSpPr txBox="1"/>
          <p:nvPr/>
        </p:nvSpPr>
        <p:spPr>
          <a:xfrm>
            <a:off x="5429256" y="2143116"/>
            <a:ext cx="3500430" cy="2308324"/>
          </a:xfrm>
          <a:prstGeom prst="rect">
            <a:avLst/>
          </a:prstGeom>
          <a:noFill/>
        </p:spPr>
        <p:txBody>
          <a:bodyPr wrap="square" rtlCol="0">
            <a:spAutoFit/>
          </a:bodyPr>
          <a:lstStyle/>
          <a:p>
            <a:r>
              <a:rPr kumimoji="1" lang="en-US" altLang="ja-JP" sz="2400" dirty="0" smtClean="0"/>
              <a:t>$ ./</a:t>
            </a:r>
            <a:r>
              <a:rPr kumimoji="1" lang="en-US" altLang="ja-JP" sz="2400" dirty="0" err="1" smtClean="0"/>
              <a:t>a.out</a:t>
            </a:r>
            <a:r>
              <a:rPr kumimoji="1" lang="en-US" altLang="ja-JP" sz="2400" dirty="0" smtClean="0"/>
              <a:t> </a:t>
            </a:r>
            <a:r>
              <a:rPr lang="ja-JP" altLang="en-US" sz="2400" dirty="0" smtClean="0"/>
              <a:t>  </a:t>
            </a:r>
            <a:r>
              <a:rPr kumimoji="1" lang="en-US" altLang="ja-JP" sz="2400" dirty="0" smtClean="0"/>
              <a:t>/bin/</a:t>
            </a:r>
            <a:r>
              <a:rPr kumimoji="1" lang="en-US" altLang="ja-JP" sz="2400" dirty="0" err="1" smtClean="0"/>
              <a:t>ps</a:t>
            </a:r>
            <a:r>
              <a:rPr kumimoji="1" lang="en-US" altLang="ja-JP" sz="2400" dirty="0" smtClean="0"/>
              <a:t> –</a:t>
            </a:r>
            <a:r>
              <a:rPr kumimoji="1" lang="en-US" altLang="ja-JP" sz="2400" dirty="0" err="1" smtClean="0"/>
              <a:t>ef</a:t>
            </a:r>
            <a:endParaRPr kumimoji="1" lang="en-US" altLang="ja-JP" sz="2400" dirty="0" smtClean="0"/>
          </a:p>
          <a:p>
            <a:r>
              <a:rPr lang="ja-JP" altLang="en-US" sz="2400" dirty="0" err="1" smtClean="0"/>
              <a:t>のように</a:t>
            </a:r>
            <a:r>
              <a:rPr lang="ja-JP" altLang="en-US" sz="2400" dirty="0" smtClean="0"/>
              <a:t>して実行する。</a:t>
            </a:r>
            <a:endParaRPr lang="en-US" altLang="ja-JP" sz="2400" dirty="0" smtClean="0"/>
          </a:p>
          <a:p>
            <a:r>
              <a:rPr kumimoji="1" lang="ja-JP" altLang="en-US" sz="2400" dirty="0" smtClean="0"/>
              <a:t>この場合、</a:t>
            </a:r>
            <a:endParaRPr kumimoji="1" lang="en-US" altLang="ja-JP" sz="2400" dirty="0" smtClean="0"/>
          </a:p>
          <a:p>
            <a:r>
              <a:rPr lang="en-US" altLang="ja-JP" sz="2400" dirty="0" smtClean="0"/>
              <a:t>$ /bin/</a:t>
            </a:r>
            <a:r>
              <a:rPr lang="en-US" altLang="ja-JP" sz="2400" dirty="0" err="1" smtClean="0"/>
              <a:t>ps</a:t>
            </a:r>
            <a:r>
              <a:rPr lang="en-US" altLang="ja-JP" sz="2400" dirty="0" smtClean="0"/>
              <a:t> –</a:t>
            </a:r>
            <a:r>
              <a:rPr lang="en-US" altLang="ja-JP" sz="2400" dirty="0" err="1" smtClean="0"/>
              <a:t>ef</a:t>
            </a:r>
            <a:endParaRPr lang="en-US" altLang="ja-JP" sz="2400" dirty="0" smtClean="0"/>
          </a:p>
          <a:p>
            <a:r>
              <a:rPr lang="ja-JP" altLang="en-US" sz="2400" dirty="0" smtClean="0"/>
              <a:t>と打ったのと同じ結果が表示される。</a:t>
            </a:r>
            <a:endParaRPr kumimoji="1" lang="ja-JP"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71414"/>
            <a:ext cx="8229600" cy="714356"/>
          </a:xfrm>
        </p:spPr>
        <p:txBody>
          <a:bodyPr>
            <a:normAutofit fontScale="90000"/>
          </a:bodyPr>
          <a:lstStyle/>
          <a:p>
            <a:r>
              <a:rPr lang="ja-JP" altLang="en-US" dirty="0" smtClean="0"/>
              <a:t>簡易</a:t>
            </a:r>
            <a:r>
              <a:rPr lang="en-US" altLang="ja-JP" dirty="0" smtClean="0"/>
              <a:t>shell</a:t>
            </a:r>
            <a:r>
              <a:rPr lang="ja-JP" altLang="en-US" dirty="0" smtClean="0"/>
              <a:t>（打ち込んで確認）</a:t>
            </a:r>
            <a:endParaRPr kumimoji="1" lang="ja-JP" altLang="en-US" dirty="0"/>
          </a:p>
        </p:txBody>
      </p:sp>
      <p:sp>
        <p:nvSpPr>
          <p:cNvPr id="4" name="正方形/長方形 3"/>
          <p:cNvSpPr/>
          <p:nvPr/>
        </p:nvSpPr>
        <p:spPr>
          <a:xfrm>
            <a:off x="71406" y="785794"/>
            <a:ext cx="4143404"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#define ARG_NUMBER 16</a:t>
            </a:r>
          </a:p>
          <a:p>
            <a:r>
              <a:rPr lang="en-US" altLang="ja-JP" sz="2000" dirty="0" smtClean="0"/>
              <a:t>#define PARAM_SIZE 128</a:t>
            </a:r>
          </a:p>
          <a:p>
            <a:r>
              <a:rPr lang="en-US" altLang="ja-JP" sz="2000" dirty="0" err="1" smtClean="0"/>
              <a:t>int</a:t>
            </a:r>
            <a:r>
              <a:rPr lang="en-US" altLang="ja-JP" sz="2000" dirty="0" smtClean="0"/>
              <a:t> </a:t>
            </a:r>
            <a:r>
              <a:rPr lang="en-US" altLang="ja-JP" sz="2000" dirty="0" err="1" smtClean="0"/>
              <a:t>getcomln</a:t>
            </a:r>
            <a:r>
              <a:rPr lang="en-US" altLang="ja-JP" sz="2000" dirty="0" smtClean="0"/>
              <a:t> (char * </a:t>
            </a:r>
            <a:r>
              <a:rPr lang="en-US" altLang="ja-JP" sz="2000" dirty="0" err="1" smtClean="0"/>
              <a:t>argvline</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i,j,k</a:t>
            </a:r>
            <a:r>
              <a:rPr lang="en-US" altLang="ja-JP" sz="2000" dirty="0" smtClean="0"/>
              <a:t>;</a:t>
            </a:r>
          </a:p>
          <a:p>
            <a:r>
              <a:rPr lang="en-US" altLang="ja-JP" sz="2000" dirty="0" smtClean="0"/>
              <a:t>  char </a:t>
            </a:r>
            <a:r>
              <a:rPr lang="en-US" altLang="ja-JP" sz="2000" dirty="0" err="1" smtClean="0"/>
              <a:t>linebuf</a:t>
            </a:r>
            <a:r>
              <a:rPr lang="en-US" altLang="ja-JP" sz="2000" dirty="0" smtClean="0"/>
              <a:t> [ARG_NUMBER * </a:t>
            </a:r>
          </a:p>
          <a:p>
            <a:r>
              <a:rPr lang="ja-JP" altLang="en-US" sz="2000" dirty="0" smtClean="0"/>
              <a:t>                          </a:t>
            </a:r>
            <a:r>
              <a:rPr lang="en-US" altLang="ja-JP" sz="2000" dirty="0" smtClean="0"/>
              <a:t>PARAM_SIZE];</a:t>
            </a:r>
          </a:p>
          <a:p>
            <a:r>
              <a:rPr lang="en-US" altLang="ja-JP" sz="2000" dirty="0" smtClean="0"/>
              <a:t>  for (</a:t>
            </a:r>
            <a:r>
              <a:rPr lang="en-US" altLang="ja-JP" sz="2000" dirty="0" err="1" smtClean="0"/>
              <a:t>i</a:t>
            </a:r>
            <a:r>
              <a:rPr lang="en-US" altLang="ja-JP" sz="2000" dirty="0" smtClean="0"/>
              <a:t>=0; </a:t>
            </a:r>
          </a:p>
          <a:p>
            <a:r>
              <a:rPr lang="en-US" altLang="ja-JP" sz="2000" dirty="0" smtClean="0"/>
              <a:t>         (</a:t>
            </a:r>
            <a:r>
              <a:rPr lang="en-US" altLang="ja-JP" sz="2000" dirty="0" err="1" smtClean="0"/>
              <a:t>linebuf</a:t>
            </a:r>
            <a:r>
              <a:rPr lang="en-US" altLang="ja-JP" sz="2000" dirty="0" smtClean="0"/>
              <a:t> [</a:t>
            </a:r>
            <a:r>
              <a:rPr lang="en-US" altLang="ja-JP" sz="2000" dirty="0" err="1" smtClean="0"/>
              <a:t>i</a:t>
            </a:r>
            <a:r>
              <a:rPr lang="en-US" altLang="ja-JP" sz="2000" dirty="0" smtClean="0"/>
              <a:t>] = </a:t>
            </a:r>
            <a:r>
              <a:rPr lang="en-US" altLang="ja-JP" sz="2000" dirty="0" err="1" smtClean="0"/>
              <a:t>getchar</a:t>
            </a:r>
            <a:r>
              <a:rPr lang="en-US" altLang="ja-JP" sz="2000" dirty="0" smtClean="0"/>
              <a:t>()) != EOF;</a:t>
            </a:r>
          </a:p>
          <a:p>
            <a:r>
              <a:rPr lang="en-US" altLang="ja-JP" sz="2000" dirty="0" smtClean="0"/>
              <a:t>         </a:t>
            </a:r>
            <a:r>
              <a:rPr lang="en-US" altLang="ja-JP" sz="2000" dirty="0" err="1" smtClean="0"/>
              <a:t>i</a:t>
            </a:r>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'\n') {</a:t>
            </a:r>
          </a:p>
          <a:p>
            <a:r>
              <a:rPr lang="en-US" altLang="ja-JP" sz="2000" dirty="0" smtClean="0"/>
              <a:t>      </a:t>
            </a:r>
            <a:r>
              <a:rPr lang="en-US" altLang="ja-JP" sz="2000" dirty="0" err="1" smtClean="0"/>
              <a:t>linebuf</a:t>
            </a:r>
            <a:r>
              <a:rPr lang="en-US" altLang="ja-JP" sz="2000" dirty="0" smtClean="0"/>
              <a:t>[</a:t>
            </a:r>
            <a:r>
              <a:rPr lang="en-US" altLang="ja-JP" sz="2000" dirty="0" err="1" smtClean="0"/>
              <a:t>i</a:t>
            </a:r>
            <a:r>
              <a:rPr lang="en-US" altLang="ja-JP" sz="2000" dirty="0" smtClean="0"/>
              <a:t>] = '\0';</a:t>
            </a:r>
          </a:p>
          <a:p>
            <a:r>
              <a:rPr lang="en-US" altLang="ja-JP" sz="2000" dirty="0" smtClean="0"/>
              <a:t>      break;</a:t>
            </a:r>
          </a:p>
          <a:p>
            <a:r>
              <a:rPr lang="en-US" altLang="ja-JP" sz="2000" dirty="0" smtClean="0"/>
              <a:t>    }</a:t>
            </a:r>
          </a:p>
          <a:p>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EOF) return EOF;</a:t>
            </a:r>
            <a:endParaRPr lang="en-US" altLang="ja-JP" sz="2000" dirty="0"/>
          </a:p>
        </p:txBody>
      </p:sp>
      <p:sp>
        <p:nvSpPr>
          <p:cNvPr id="5" name="正方形/長方形 4"/>
          <p:cNvSpPr/>
          <p:nvPr/>
        </p:nvSpPr>
        <p:spPr>
          <a:xfrm>
            <a:off x="4429124" y="928670"/>
            <a:ext cx="4572000" cy="4708981"/>
          </a:xfrm>
          <a:prstGeom prst="rect">
            <a:avLst/>
          </a:prstGeom>
          <a:ln>
            <a:solidFill>
              <a:schemeClr val="tx1"/>
            </a:solidFill>
          </a:ln>
        </p:spPr>
        <p:txBody>
          <a:bodyPr>
            <a:spAutoFit/>
          </a:bodyPr>
          <a:lstStyle/>
          <a:p>
            <a:r>
              <a:rPr lang="en-US" altLang="ja-JP" sz="2000" dirty="0" smtClean="0"/>
              <a:t> for (</a:t>
            </a:r>
            <a:r>
              <a:rPr lang="en-US" altLang="ja-JP" sz="2000" dirty="0" err="1" smtClean="0"/>
              <a:t>i</a:t>
            </a:r>
            <a:r>
              <a:rPr lang="en-US" altLang="ja-JP" sz="2000" dirty="0" smtClean="0"/>
              <a:t>=j=k=0;</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a:t>
            </a:r>
            <a:r>
              <a:rPr lang="en-US" altLang="ja-JP" sz="2000" dirty="0" err="1" smtClean="0"/>
              <a:t>linebuf</a:t>
            </a:r>
            <a:r>
              <a:rPr lang="en-US" altLang="ja-JP" sz="2000" dirty="0" smtClean="0"/>
              <a:t>[k]) != '\0';</a:t>
            </a:r>
          </a:p>
          <a:p>
            <a:r>
              <a:rPr lang="en-US" altLang="ja-JP" sz="2000" dirty="0" smtClean="0"/>
              <a:t>       j++, k++) {</a:t>
            </a:r>
          </a:p>
          <a:p>
            <a:r>
              <a:rPr lang="en-US" altLang="ja-JP" sz="2000" dirty="0" smtClean="0"/>
              <a:t>    switch (</a:t>
            </a:r>
            <a:r>
              <a:rPr lang="en-US" altLang="ja-JP" sz="2000" dirty="0" err="1" smtClean="0"/>
              <a:t>argvline</a:t>
            </a:r>
            <a:r>
              <a:rPr lang="en-US" altLang="ja-JP" sz="2000" dirty="0" smtClean="0"/>
              <a:t>[</a:t>
            </a:r>
            <a:r>
              <a:rPr lang="en-US" altLang="ja-JP" sz="2000" dirty="0" err="1" smtClean="0"/>
              <a:t>i</a:t>
            </a:r>
            <a:r>
              <a:rPr lang="en-US" altLang="ja-JP" sz="2000" dirty="0" smtClean="0"/>
              <a:t>][j]) {</a:t>
            </a:r>
          </a:p>
          <a:p>
            <a:r>
              <a:rPr lang="en-US" altLang="ja-JP" sz="2000" dirty="0" smtClean="0"/>
              <a:t>    case ' ':</a:t>
            </a:r>
          </a:p>
          <a:p>
            <a:r>
              <a:rPr lang="en-US" altLang="ja-JP" sz="2000" dirty="0" smtClean="0"/>
              <a:t>      if (j&gt;0)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'\0';</a:t>
            </a:r>
          </a:p>
          <a:p>
            <a:r>
              <a:rPr lang="en-US" altLang="ja-JP" sz="2000" dirty="0" smtClean="0"/>
              <a:t>        </a:t>
            </a:r>
            <a:r>
              <a:rPr lang="en-US" altLang="ja-JP" sz="2000" dirty="0" err="1" smtClean="0"/>
              <a:t>i</a:t>
            </a:r>
            <a:r>
              <a:rPr lang="en-US" altLang="ja-JP" sz="2000" dirty="0" smtClean="0"/>
              <a:t>++;</a:t>
            </a:r>
          </a:p>
          <a:p>
            <a:r>
              <a:rPr lang="en-US" altLang="ja-JP" sz="2000" dirty="0" smtClean="0"/>
              <a:t>      }</a:t>
            </a:r>
          </a:p>
          <a:p>
            <a:r>
              <a:rPr lang="en-US" altLang="ja-JP" sz="2000" dirty="0" smtClean="0"/>
              <a:t>      j=-1;</a:t>
            </a:r>
          </a:p>
          <a:p>
            <a:r>
              <a:rPr lang="en-US" altLang="ja-JP" sz="2000" dirty="0" smtClean="0"/>
              <a:t>    }</a:t>
            </a:r>
          </a:p>
          <a:p>
            <a:r>
              <a:rPr lang="en-US" altLang="ja-JP" sz="2000" dirty="0" smtClean="0"/>
              <a:t>  }</a:t>
            </a:r>
          </a:p>
          <a:p>
            <a:r>
              <a:rPr lang="en-US" altLang="ja-JP" sz="2000" dirty="0" smtClean="0"/>
              <a:t>  if (</a:t>
            </a:r>
            <a:r>
              <a:rPr lang="en-US" altLang="ja-JP" sz="2000" dirty="0" err="1" smtClean="0"/>
              <a:t>i</a:t>
            </a:r>
            <a:r>
              <a:rPr lang="en-US" altLang="ja-JP" sz="2000" dirty="0" smtClean="0"/>
              <a:t>==0 &amp;&amp; j==0) return 0;</a:t>
            </a:r>
          </a:p>
          <a:p>
            <a:r>
              <a:rPr lang="en-US" altLang="ja-JP" sz="2000" dirty="0" smtClean="0"/>
              <a:t>  </a:t>
            </a:r>
            <a:r>
              <a:rPr lang="en-US" altLang="ja-JP" sz="2000" dirty="0" smtClean="0"/>
              <a:t>else return i+1;</a:t>
            </a:r>
          </a:p>
          <a:p>
            <a:r>
              <a:rPr lang="en-US" altLang="ja-JP" sz="2000" dirty="0" smtClean="0"/>
              <a:t>}</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簡易</a:t>
            </a:r>
            <a:r>
              <a:rPr lang="en-US" altLang="ja-JP" dirty="0" smtClean="0"/>
              <a:t>shell</a:t>
            </a:r>
            <a:r>
              <a:rPr lang="ja-JP" altLang="en-US" dirty="0" smtClean="0"/>
              <a:t>の続き</a:t>
            </a:r>
            <a:endParaRPr kumimoji="1" lang="ja-JP" altLang="en-US" dirty="0"/>
          </a:p>
        </p:txBody>
      </p:sp>
      <p:sp>
        <p:nvSpPr>
          <p:cNvPr id="5" name="正方形/長方形 4"/>
          <p:cNvSpPr/>
          <p:nvPr/>
        </p:nvSpPr>
        <p:spPr>
          <a:xfrm>
            <a:off x="142844" y="928670"/>
            <a:ext cx="5000660" cy="5632311"/>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argcline</a:t>
            </a:r>
            <a:r>
              <a:rPr lang="en-US" altLang="ja-JP" sz="2000" dirty="0" smtClean="0"/>
              <a:t>, </a:t>
            </a:r>
            <a:r>
              <a:rPr lang="en-US" altLang="ja-JP" sz="2000" dirty="0" err="1" smtClean="0"/>
              <a:t>i</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argvline</a:t>
            </a:r>
            <a:r>
              <a:rPr lang="en-US" altLang="ja-JP" sz="2000" dirty="0" smtClean="0"/>
              <a:t> [ARG_NUMBER];</a:t>
            </a:r>
          </a:p>
          <a:p>
            <a:r>
              <a:rPr lang="en-US" altLang="ja-JP" sz="2000" dirty="0" smtClean="0"/>
              <a:t>  char line [ARG_NUMBER] [PARAM_SIZE];</a:t>
            </a:r>
          </a:p>
          <a:p>
            <a:endParaRPr lang="en-US" altLang="ja-JP" sz="2000" dirty="0" smtClean="0"/>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&lt;ARG_NUMBER; </a:t>
            </a:r>
            <a:r>
              <a:rPr lang="en-US" altLang="ja-JP" sz="2000" dirty="0" err="1" smtClean="0"/>
              <a:t>i</a:t>
            </a:r>
            <a:r>
              <a:rPr lang="en-US" altLang="ja-JP" sz="2000" dirty="0" smtClean="0"/>
              <a:t>++)</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 = line[</a:t>
            </a:r>
            <a:r>
              <a:rPr lang="en-US" altLang="ja-JP" sz="2000" dirty="0" err="1" smtClean="0"/>
              <a:t>i</a:t>
            </a:r>
            <a:r>
              <a:rPr lang="en-US" altLang="ja-JP" sz="2000" dirty="0" smtClean="0"/>
              <a:t>];</a:t>
            </a:r>
          </a:p>
          <a:p>
            <a:endParaRPr lang="en-US" altLang="ja-JP" sz="2000" dirty="0" smtClean="0"/>
          </a:p>
          <a:p>
            <a:r>
              <a:rPr lang="en-US" altLang="ja-JP" sz="2000" dirty="0" smtClean="0"/>
              <a:t>  while (</a:t>
            </a:r>
            <a:r>
              <a:rPr lang="en-US" altLang="ja-JP" sz="2000" dirty="0" err="1" smtClean="0"/>
              <a:t>printf</a:t>
            </a:r>
            <a:r>
              <a:rPr lang="en-US" altLang="ja-JP" sz="2000" dirty="0" smtClean="0"/>
              <a:t> ("&gt; "),</a:t>
            </a:r>
          </a:p>
          <a:p>
            <a:r>
              <a:rPr lang="en-US" altLang="ja-JP" sz="2000" dirty="0" smtClean="0"/>
              <a:t>         (</a:t>
            </a:r>
            <a:r>
              <a:rPr lang="en-US" altLang="ja-JP" sz="2000" dirty="0" err="1" smtClean="0"/>
              <a:t>argcline</a:t>
            </a:r>
            <a:r>
              <a:rPr lang="en-US" altLang="ja-JP" sz="2000" dirty="0" smtClean="0"/>
              <a:t> = </a:t>
            </a:r>
            <a:r>
              <a:rPr lang="en-US" altLang="ja-JP" sz="2000" dirty="0" err="1" smtClean="0"/>
              <a:t>getcomln</a:t>
            </a:r>
            <a:r>
              <a:rPr lang="en-US" altLang="ja-JP" sz="2000" dirty="0" smtClean="0"/>
              <a:t> (</a:t>
            </a:r>
            <a:r>
              <a:rPr lang="en-US" altLang="ja-JP" sz="2000" dirty="0" err="1" smtClean="0"/>
              <a:t>argvline</a:t>
            </a:r>
            <a:r>
              <a:rPr lang="en-US" altLang="ja-JP" sz="2000" dirty="0" smtClean="0"/>
              <a:t>)) != EOF) {</a:t>
            </a:r>
          </a:p>
          <a:p>
            <a:r>
              <a:rPr lang="en-US" altLang="ja-JP" sz="2000" dirty="0" smtClean="0"/>
              <a:t>    if (</a:t>
            </a:r>
            <a:r>
              <a:rPr lang="en-US" altLang="ja-JP" sz="2000" dirty="0" err="1" smtClean="0"/>
              <a:t>argcline</a:t>
            </a:r>
            <a:r>
              <a:rPr lang="en-US" altLang="ja-JP" sz="2000" dirty="0" smtClean="0"/>
              <a:t> == 0) continue;</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argvline</a:t>
            </a:r>
            <a:r>
              <a:rPr lang="en-US" altLang="ja-JP" sz="2000" dirty="0" smtClean="0"/>
              <a:t> [</a:t>
            </a:r>
            <a:r>
              <a:rPr lang="en-US" altLang="ja-JP" sz="2000" dirty="0" err="1" smtClean="0"/>
              <a:t>argcline</a:t>
            </a:r>
            <a:r>
              <a:rPr lang="en-US" altLang="ja-JP" sz="2000" dirty="0" smtClean="0"/>
              <a:t>] = NULL;</a:t>
            </a:r>
          </a:p>
          <a:p>
            <a:r>
              <a:rPr lang="en-US" altLang="ja-JP" sz="2000" dirty="0" smtClean="0"/>
              <a:t>      if (</a:t>
            </a:r>
            <a:r>
              <a:rPr lang="en-US" altLang="ja-JP" sz="2000" dirty="0" err="1" smtClean="0"/>
              <a:t>execvp</a:t>
            </a:r>
            <a:r>
              <a:rPr lang="en-US" altLang="ja-JP" sz="2000" dirty="0" smtClean="0"/>
              <a:t> (</a:t>
            </a:r>
            <a:r>
              <a:rPr lang="en-US" altLang="ja-JP" sz="2000" dirty="0" err="1" smtClean="0"/>
              <a:t>argvline</a:t>
            </a:r>
            <a:r>
              <a:rPr lang="en-US" altLang="ja-JP" sz="2000" dirty="0" smtClean="0"/>
              <a:t>[0], </a:t>
            </a:r>
            <a:r>
              <a:rPr lang="en-US" altLang="ja-JP" sz="2000" dirty="0" err="1" smtClean="0"/>
              <a:t>argvline</a:t>
            </a:r>
            <a:r>
              <a:rPr lang="en-US" altLang="ja-JP" sz="2000" dirty="0" smtClean="0"/>
              <a:t>) == -1) {</a:t>
            </a:r>
          </a:p>
          <a:p>
            <a:r>
              <a:rPr lang="en-US" altLang="ja-JP" sz="2000" dirty="0" smtClean="0"/>
              <a:t>        </a:t>
            </a:r>
            <a:r>
              <a:rPr lang="en-US" altLang="ja-JP" sz="2000" dirty="0" err="1" smtClean="0"/>
              <a:t>perror</a:t>
            </a:r>
            <a:r>
              <a:rPr lang="en-US" altLang="ja-JP" sz="2000" dirty="0" smtClean="0"/>
              <a:t> ("</a:t>
            </a:r>
            <a:r>
              <a:rPr lang="en-US" altLang="ja-JP" sz="2000" dirty="0" err="1" smtClean="0"/>
              <a:t>execvp</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en-US" altLang="ja-JP" sz="2000" dirty="0"/>
          </a:p>
        </p:txBody>
      </p:sp>
      <p:sp>
        <p:nvSpPr>
          <p:cNvPr id="6" name="正方形/長方形 5"/>
          <p:cNvSpPr/>
          <p:nvPr/>
        </p:nvSpPr>
        <p:spPr>
          <a:xfrm>
            <a:off x="5286380" y="928670"/>
            <a:ext cx="3571900" cy="2862322"/>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wait (&amp;status);</a:t>
            </a:r>
          </a:p>
          <a:p>
            <a:r>
              <a:rPr lang="en-US" altLang="ja-JP" sz="2000" dirty="0" smtClean="0"/>
              <a:t>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a:t>
            </a:r>
          </a:p>
          <a:p>
            <a:r>
              <a:rPr lang="en-US" altLang="ja-JP" sz="2000" dirty="0" smtClean="0"/>
              <a:t>  </a:t>
            </a:r>
            <a:r>
              <a:rPr lang="en-US" altLang="ja-JP" sz="2000" dirty="0" err="1" smtClean="0"/>
              <a:t>putchar</a:t>
            </a:r>
            <a:r>
              <a:rPr lang="en-US" altLang="ja-JP" sz="2000" dirty="0" smtClean="0"/>
              <a:t> ('\n');</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演習課題</a:t>
            </a:r>
            <a:endParaRPr kumimoji="1" lang="ja-JP" altLang="en-US" dirty="0"/>
          </a:p>
        </p:txBody>
      </p:sp>
      <p:sp>
        <p:nvSpPr>
          <p:cNvPr id="3" name="コンテンツ プレースホルダ 2"/>
          <p:cNvSpPr>
            <a:spLocks noGrp="1"/>
          </p:cNvSpPr>
          <p:nvPr>
            <p:ph idx="1"/>
          </p:nvPr>
        </p:nvSpPr>
        <p:spPr>
          <a:xfrm>
            <a:off x="357158" y="1500174"/>
            <a:ext cx="8329642" cy="5000660"/>
          </a:xfrm>
        </p:spPr>
        <p:txBody>
          <a:bodyPr>
            <a:normAutofit fontScale="85000" lnSpcReduction="10000"/>
          </a:bodyPr>
          <a:lstStyle/>
          <a:p>
            <a:r>
              <a:rPr lang="en-US" altLang="ja-JP" dirty="0" err="1" smtClean="0"/>
              <a:t>tcsh</a:t>
            </a:r>
            <a:r>
              <a:rPr lang="ja-JP" altLang="en-US" dirty="0" smtClean="0"/>
              <a:t>等のシェルで</a:t>
            </a:r>
            <a:r>
              <a:rPr lang="en-US" altLang="ja-JP" dirty="0" smtClean="0"/>
              <a:t>exit</a:t>
            </a:r>
            <a:r>
              <a:rPr lang="ja-JP" altLang="en-US" dirty="0" smtClean="0"/>
              <a:t>と打つとシェルが終了する。</a:t>
            </a:r>
            <a:r>
              <a:rPr lang="en-US" altLang="ja-JP" dirty="0" smtClean="0"/>
              <a:t>exit</a:t>
            </a:r>
            <a:r>
              <a:rPr lang="ja-JP" altLang="en-US" dirty="0" smtClean="0"/>
              <a:t>はシェルの内部コマンドである。</a:t>
            </a:r>
            <a:endParaRPr lang="en-US" altLang="ja-JP" dirty="0" smtClean="0"/>
          </a:p>
          <a:p>
            <a:r>
              <a:rPr kumimoji="1" lang="ja-JP" altLang="en-US" dirty="0" smtClean="0"/>
              <a:t>さきほどの簡易シェルに、</a:t>
            </a:r>
            <a:r>
              <a:rPr kumimoji="1" lang="en-US" altLang="ja-JP" dirty="0" smtClean="0"/>
              <a:t>exit</a:t>
            </a:r>
            <a:r>
              <a:rPr kumimoji="1" lang="ja-JP" altLang="en-US" dirty="0" smtClean="0"/>
              <a:t>（シェルの内部コマンド）を追加せよ。配列</a:t>
            </a:r>
            <a:r>
              <a:rPr lang="en-US" altLang="ja-JP" dirty="0" err="1" smtClean="0"/>
              <a:t>a</a:t>
            </a:r>
            <a:r>
              <a:rPr kumimoji="1" lang="en-US" altLang="ja-JP" dirty="0" err="1" smtClean="0"/>
              <a:t>rgvline</a:t>
            </a:r>
            <a:r>
              <a:rPr kumimoji="1" lang="ja-JP" altLang="en-US" dirty="0" smtClean="0"/>
              <a:t>の最初の要素が</a:t>
            </a:r>
            <a:r>
              <a:rPr kumimoji="1" lang="en-US" altLang="ja-JP" dirty="0" smtClean="0"/>
              <a:t>exit</a:t>
            </a:r>
            <a:r>
              <a:rPr kumimoji="1" lang="ja-JP" altLang="en-US" dirty="0" smtClean="0"/>
              <a:t>という文字列を指しているかどうかで判定すればよい。</a:t>
            </a:r>
            <a:endParaRPr kumimoji="1" lang="en-US" altLang="ja-JP" dirty="0" smtClean="0"/>
          </a:p>
          <a:p>
            <a:r>
              <a:rPr lang="ja-JP" altLang="en-US" dirty="0" smtClean="0"/>
              <a:t>文字列の比較には</a:t>
            </a:r>
            <a:r>
              <a:rPr lang="en-US" altLang="ja-JP" dirty="0" err="1" smtClean="0"/>
              <a:t>strcmp</a:t>
            </a:r>
            <a:r>
              <a:rPr lang="ja-JP" altLang="en-US" dirty="0" smtClean="0"/>
              <a:t>を用いよ。使い方は </a:t>
            </a:r>
            <a:r>
              <a:rPr lang="en-US" altLang="ja-JP" dirty="0" smtClean="0"/>
              <a:t>man </a:t>
            </a:r>
            <a:r>
              <a:rPr lang="en-US" altLang="ja-JP" dirty="0" err="1" smtClean="0"/>
              <a:t>strcmp</a:t>
            </a:r>
            <a:r>
              <a:rPr lang="en-US" altLang="ja-JP" dirty="0" smtClean="0"/>
              <a:t> </a:t>
            </a:r>
            <a:r>
              <a:rPr lang="ja-JP" altLang="en-US" dirty="0" smtClean="0"/>
              <a:t>で調べればよい。</a:t>
            </a:r>
            <a:endParaRPr lang="en-US" altLang="ja-JP" dirty="0" smtClean="0"/>
          </a:p>
          <a:p>
            <a:r>
              <a:rPr kumimoji="1" lang="en-US" altLang="ja-JP" dirty="0" err="1" smtClean="0"/>
              <a:t>tcsh</a:t>
            </a:r>
            <a:r>
              <a:rPr kumimoji="1" lang="ja-JP" altLang="en-US" dirty="0" smtClean="0"/>
              <a:t>等のシェルの</a:t>
            </a:r>
            <a:r>
              <a:rPr kumimoji="1" lang="en-US" altLang="ja-JP" dirty="0" smtClean="0"/>
              <a:t>exit</a:t>
            </a:r>
            <a:r>
              <a:rPr lang="ja-JP" altLang="en-US" dirty="0" smtClean="0"/>
              <a:t>コマンド</a:t>
            </a:r>
            <a:r>
              <a:rPr kumimoji="1" lang="ja-JP" altLang="en-US" dirty="0" smtClean="0"/>
              <a:t>は引数を取ることができ、それによって終了</a:t>
            </a:r>
            <a:r>
              <a:rPr kumimoji="1" lang="en-US" altLang="ja-JP" dirty="0" smtClean="0"/>
              <a:t>status</a:t>
            </a:r>
            <a:r>
              <a:rPr kumimoji="1" lang="ja-JP" altLang="en-US" dirty="0" smtClean="0"/>
              <a:t>を指定できるが、</a:t>
            </a:r>
            <a:r>
              <a:rPr lang="ja-JP" altLang="en-US" dirty="0" smtClean="0"/>
              <a:t>この課題では終了</a:t>
            </a:r>
            <a:r>
              <a:rPr lang="en-US" altLang="ja-JP" dirty="0" smtClean="0"/>
              <a:t>status</a:t>
            </a:r>
            <a:r>
              <a:rPr lang="ja-JP" altLang="en-US" dirty="0" smtClean="0"/>
              <a:t>は気にしないこととする。</a:t>
            </a:r>
            <a:endParaRPr lang="en-US" altLang="ja-JP" dirty="0" smtClean="0"/>
          </a:p>
          <a:p>
            <a:r>
              <a:rPr lang="en-US" altLang="ja-JP" dirty="0" smtClean="0"/>
              <a:t>exit</a:t>
            </a:r>
            <a:r>
              <a:rPr lang="ja-JP" altLang="en-US" dirty="0" smtClean="0"/>
              <a:t>によってシェル自体を終了させるので、シェルの内部コマンドとして実装するのが自然である。</a:t>
            </a:r>
            <a:endParaRPr lang="en-US" altLang="ja-JP"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cd</a:t>
            </a:r>
            <a:endParaRPr kumimoji="1" lang="ja-JP" altLang="en-US" dirty="0"/>
          </a:p>
        </p:txBody>
      </p:sp>
      <p:sp>
        <p:nvSpPr>
          <p:cNvPr id="3" name="コンテンツ プレースホルダ 2"/>
          <p:cNvSpPr>
            <a:spLocks noGrp="1"/>
          </p:cNvSpPr>
          <p:nvPr>
            <p:ph idx="1"/>
          </p:nvPr>
        </p:nvSpPr>
        <p:spPr>
          <a:xfrm>
            <a:off x="457200" y="1357298"/>
            <a:ext cx="8229600" cy="5000660"/>
          </a:xfrm>
        </p:spPr>
        <p:txBody>
          <a:bodyPr>
            <a:normAutofit fontScale="92500" lnSpcReduction="20000"/>
          </a:bodyPr>
          <a:lstStyle/>
          <a:p>
            <a:r>
              <a:rPr lang="en-US" altLang="ja-JP" dirty="0" err="1" smtClean="0"/>
              <a:t>c</a:t>
            </a:r>
            <a:r>
              <a:rPr kumimoji="1" lang="en-US" altLang="ja-JP" dirty="0" err="1" smtClean="0"/>
              <a:t>d</a:t>
            </a:r>
            <a:r>
              <a:rPr kumimoji="1" lang="ja-JP" altLang="en-US" dirty="0" smtClean="0"/>
              <a:t>コマンド</a:t>
            </a:r>
            <a:r>
              <a:rPr lang="ja-JP" altLang="en-US" dirty="0" smtClean="0"/>
              <a:t>は</a:t>
            </a:r>
            <a:r>
              <a:rPr lang="en-US" altLang="ja-JP" dirty="0" smtClean="0"/>
              <a:t>shell</a:t>
            </a:r>
            <a:r>
              <a:rPr kumimoji="1" lang="ja-JP" altLang="en-US" dirty="0" smtClean="0"/>
              <a:t>の内部コマンドである。</a:t>
            </a:r>
            <a:endParaRPr kumimoji="1" lang="en-US" altLang="ja-JP" dirty="0" smtClean="0"/>
          </a:p>
          <a:p>
            <a:r>
              <a:rPr lang="en-US" altLang="ja-JP" dirty="0" err="1" smtClean="0"/>
              <a:t>cd</a:t>
            </a:r>
            <a:r>
              <a:rPr lang="ja-JP" altLang="en-US" dirty="0" smtClean="0"/>
              <a:t>コマンドによって、</a:t>
            </a:r>
            <a:r>
              <a:rPr lang="en-US" altLang="ja-JP" dirty="0" smtClean="0"/>
              <a:t>shell</a:t>
            </a:r>
            <a:r>
              <a:rPr lang="ja-JP" altLang="en-US" dirty="0" smtClean="0"/>
              <a:t>自体のディレクトリが変更されなければならないので、</a:t>
            </a:r>
            <a:r>
              <a:rPr lang="en-US" altLang="ja-JP" dirty="0" err="1" smtClean="0"/>
              <a:t>cd</a:t>
            </a:r>
            <a:r>
              <a:rPr lang="ja-JP" altLang="en-US" dirty="0" smtClean="0"/>
              <a:t>は外部コマンドとしては実装できない。</a:t>
            </a:r>
            <a:endParaRPr lang="en-US" altLang="ja-JP" dirty="0" smtClean="0"/>
          </a:p>
          <a:p>
            <a:r>
              <a:rPr lang="en-US" altLang="ja-JP" dirty="0" err="1" smtClean="0"/>
              <a:t>cd</a:t>
            </a:r>
            <a:r>
              <a:rPr lang="ja-JP" altLang="en-US" dirty="0" smtClean="0"/>
              <a:t>コマンドが入力されたときは、</a:t>
            </a:r>
            <a:r>
              <a:rPr lang="en-US" altLang="ja-JP" dirty="0" smtClean="0"/>
              <a:t>shell</a:t>
            </a:r>
            <a:r>
              <a:rPr lang="ja-JP" altLang="en-US" dirty="0" smtClean="0"/>
              <a:t>本体において、</a:t>
            </a:r>
            <a:r>
              <a:rPr lang="en-US" altLang="ja-JP" dirty="0" err="1" smtClean="0"/>
              <a:t>c</a:t>
            </a:r>
            <a:r>
              <a:rPr kumimoji="1" lang="en-US" altLang="ja-JP" dirty="0" err="1" smtClean="0"/>
              <a:t>hdir</a:t>
            </a:r>
            <a:r>
              <a:rPr kumimoji="1" lang="ja-JP" altLang="en-US" dirty="0" smtClean="0"/>
              <a:t>システムコールを呼び出す。</a:t>
            </a:r>
            <a:endParaRPr kumimoji="1" lang="en-US" altLang="ja-JP" dirty="0" smtClean="0"/>
          </a:p>
          <a:p>
            <a:r>
              <a:rPr lang="ja-JP" altLang="en-US" dirty="0" smtClean="0"/>
              <a:t>配列</a:t>
            </a:r>
            <a:r>
              <a:rPr lang="en-US" altLang="ja-JP" dirty="0" err="1" smtClean="0"/>
              <a:t>argvline</a:t>
            </a:r>
            <a:r>
              <a:rPr lang="ja-JP" altLang="en-US" dirty="0" smtClean="0"/>
              <a:t>の最初の要素が</a:t>
            </a:r>
            <a:r>
              <a:rPr lang="en-US" altLang="ja-JP" dirty="0" err="1" smtClean="0"/>
              <a:t>cd</a:t>
            </a:r>
            <a:r>
              <a:rPr lang="ja-JP" altLang="en-US" dirty="0" smtClean="0"/>
              <a:t>という文字列を指しているかどうかで</a:t>
            </a:r>
            <a:r>
              <a:rPr lang="en-US" altLang="ja-JP" dirty="0" err="1" smtClean="0"/>
              <a:t>cd</a:t>
            </a:r>
            <a:r>
              <a:rPr lang="ja-JP" altLang="en-US" dirty="0" smtClean="0"/>
              <a:t>コマンドかどうかの判定をすればよい。</a:t>
            </a:r>
            <a:endParaRPr kumimoji="1" lang="en-US" altLang="ja-JP" dirty="0" smtClean="0"/>
          </a:p>
          <a:p>
            <a:r>
              <a:rPr lang="en-US" altLang="ja-JP" dirty="0" err="1" smtClean="0"/>
              <a:t>c</a:t>
            </a:r>
            <a:r>
              <a:rPr kumimoji="1" lang="en-US" altLang="ja-JP" dirty="0" err="1" smtClean="0"/>
              <a:t>hdir</a:t>
            </a:r>
            <a:r>
              <a:rPr kumimoji="1" lang="ja-JP" altLang="en-US" dirty="0" smtClean="0"/>
              <a:t>の使い方は、</a:t>
            </a:r>
            <a:endParaRPr kumimoji="1" lang="en-US" altLang="ja-JP" dirty="0" smtClean="0"/>
          </a:p>
          <a:p>
            <a:pPr>
              <a:buNone/>
            </a:pPr>
            <a:r>
              <a:rPr lang="ja-JP" altLang="en-US" dirty="0" smtClean="0"/>
              <a:t>　　</a:t>
            </a:r>
            <a:r>
              <a:rPr lang="en-US" altLang="ja-JP" dirty="0" smtClean="0"/>
              <a:t>$ man –s2 </a:t>
            </a:r>
            <a:r>
              <a:rPr lang="en-US" altLang="ja-JP" dirty="0" err="1" smtClean="0"/>
              <a:t>chdir</a:t>
            </a:r>
            <a:r>
              <a:rPr lang="ja-JP" altLang="en-US" dirty="0" smtClean="0"/>
              <a:t>　で確認。</a:t>
            </a:r>
            <a:endParaRPr lang="en-US" altLang="ja-JP"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レポート</a:t>
            </a:r>
            <a:r>
              <a:rPr kumimoji="1" lang="ja-JP" altLang="en-US" dirty="0" smtClean="0"/>
              <a:t>課題４</a:t>
            </a:r>
            <a:endParaRPr kumimoji="1" lang="ja-JP" altLang="en-US" dirty="0"/>
          </a:p>
        </p:txBody>
      </p:sp>
      <p:sp>
        <p:nvSpPr>
          <p:cNvPr id="5" name="テキスト ボックス 4"/>
          <p:cNvSpPr txBox="1"/>
          <p:nvPr/>
        </p:nvSpPr>
        <p:spPr>
          <a:xfrm>
            <a:off x="714348" y="1357298"/>
            <a:ext cx="7786742" cy="5693866"/>
          </a:xfrm>
          <a:prstGeom prst="rect">
            <a:avLst/>
          </a:prstGeom>
          <a:noFill/>
        </p:spPr>
        <p:txBody>
          <a:bodyPr wrap="square" rtlCol="0">
            <a:spAutoFit/>
          </a:bodyPr>
          <a:lstStyle/>
          <a:p>
            <a:r>
              <a:rPr kumimoji="1" lang="ja-JP" altLang="en-US" sz="2800" dirty="0" smtClean="0"/>
              <a:t>さきほどの簡易</a:t>
            </a:r>
            <a:r>
              <a:rPr kumimoji="1" lang="en-US" altLang="ja-JP" sz="2800" dirty="0" smtClean="0"/>
              <a:t>shell</a:t>
            </a:r>
            <a:r>
              <a:rPr kumimoji="1" lang="ja-JP" altLang="en-US" sz="2800" dirty="0" smtClean="0"/>
              <a:t>に、</a:t>
            </a:r>
            <a:r>
              <a:rPr kumimoji="1" lang="en-US" altLang="ja-JP" sz="2800" dirty="0" err="1" smtClean="0"/>
              <a:t>cd</a:t>
            </a:r>
            <a:r>
              <a:rPr kumimoji="1" lang="ja-JP" altLang="en-US" sz="2800" dirty="0" smtClean="0"/>
              <a:t>コマンドをシェルの内部コマンドとして追加せよ。</a:t>
            </a:r>
            <a:endParaRPr kumimoji="1" lang="en-US" altLang="ja-JP" sz="2800" dirty="0" smtClean="0"/>
          </a:p>
          <a:p>
            <a:endParaRPr kumimoji="1" lang="en-US" altLang="ja-JP" sz="2800" dirty="0" smtClean="0"/>
          </a:p>
          <a:p>
            <a:r>
              <a:rPr lang="ja-JP" altLang="en-US" sz="2800" dirty="0" smtClean="0"/>
              <a:t>引数無しの場合はホームディレクトリに移動。</a:t>
            </a:r>
            <a:endParaRPr lang="en-US" altLang="ja-JP" sz="2800" dirty="0" smtClean="0"/>
          </a:p>
          <a:p>
            <a:r>
              <a:rPr lang="ja-JP" altLang="en-US" sz="2800" dirty="0" smtClean="0"/>
              <a:t>引数１つの場合は、その引数で指定されたディレクトリへ移動。</a:t>
            </a:r>
            <a:endParaRPr lang="en-US" altLang="ja-JP" sz="2800" dirty="0" smtClean="0"/>
          </a:p>
          <a:p>
            <a:r>
              <a:rPr lang="ja-JP" altLang="en-US" sz="2800" dirty="0" smtClean="0"/>
              <a:t>それ以外の場合は、</a:t>
            </a:r>
            <a:r>
              <a:rPr lang="en-US" altLang="ja-JP" sz="2800" dirty="0" err="1" smtClean="0"/>
              <a:t>cd</a:t>
            </a:r>
            <a:r>
              <a:rPr lang="ja-JP" altLang="en-US" sz="2800" dirty="0" smtClean="0"/>
              <a:t>コマンドの使い方を表示（メッセージは、</a:t>
            </a:r>
            <a:r>
              <a:rPr lang="en-US" altLang="ja-JP" sz="2800" dirty="0" err="1" smtClean="0"/>
              <a:t>tcsh</a:t>
            </a:r>
            <a:r>
              <a:rPr lang="ja-JP" altLang="en-US" sz="2800" dirty="0" smtClean="0"/>
              <a:t>などにおける</a:t>
            </a:r>
            <a:r>
              <a:rPr lang="en-US" altLang="ja-JP" sz="2800" dirty="0" err="1" smtClean="0"/>
              <a:t>cd</a:t>
            </a:r>
            <a:r>
              <a:rPr lang="ja-JP" altLang="en-US" sz="2800" dirty="0" smtClean="0"/>
              <a:t>の使い方の表示を参考にして、自分で適当に作成）。</a:t>
            </a:r>
            <a:endParaRPr lang="en-US" altLang="ja-JP" sz="2800" dirty="0" smtClean="0"/>
          </a:p>
          <a:p>
            <a:endParaRPr lang="en-US" altLang="ja-JP" sz="2800" dirty="0" smtClean="0"/>
          </a:p>
          <a:p>
            <a:r>
              <a:rPr lang="ja-JP" altLang="en-US" sz="2800" dirty="0" smtClean="0"/>
              <a:t>ディレクトリ移動後は、他の通常のコマンドと同様、プロンプト表示に戻る。</a:t>
            </a:r>
            <a:endParaRPr lang="en-US" altLang="ja-JP" sz="2800" dirty="0" smtClean="0"/>
          </a:p>
          <a:p>
            <a:endParaRPr kumimoji="1" lang="en-US" altLang="ja-JP" sz="28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kadai4.c, kadai4.txt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kadai4</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kadai4.txt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21</a:t>
            </a:r>
            <a:r>
              <a:rPr lang="ja-JP" altLang="en-US" sz="2400" dirty="0" smtClean="0">
                <a:solidFill>
                  <a:schemeClr val="tx1"/>
                </a:solidFill>
                <a:ea typeface="+mj-ea"/>
              </a:rPr>
              <a:t>日の講義開始時間まで。締め切り後に提出した場合、成績への反映を保証しない。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正方形/長方形 3"/>
          <p:cNvSpPr/>
          <p:nvPr/>
        </p:nvSpPr>
        <p:spPr>
          <a:xfrm>
            <a:off x="714348" y="1428736"/>
            <a:ext cx="7429552" cy="3970318"/>
          </a:xfrm>
          <a:prstGeom prst="rect">
            <a:avLst/>
          </a:prstGeom>
        </p:spPr>
        <p:txBody>
          <a:bodyPr wrap="square">
            <a:spAutoFit/>
          </a:bodyPr>
          <a:lstStyle/>
          <a:p>
            <a:r>
              <a:rPr lang="ja-JP" altLang="en-US" sz="2800" dirty="0" smtClean="0"/>
              <a:t>ホームディレクトリは、</a:t>
            </a:r>
            <a:r>
              <a:rPr lang="en-US" altLang="ja-JP" sz="2800" dirty="0" err="1" smtClean="0"/>
              <a:t>getenv</a:t>
            </a:r>
            <a:r>
              <a:rPr lang="ja-JP" altLang="en-US" sz="2800" dirty="0" smtClean="0"/>
              <a:t>ライブラリ関数で取得できる。</a:t>
            </a:r>
            <a:endParaRPr lang="en-US" altLang="ja-JP" sz="2800" dirty="0" smtClean="0"/>
          </a:p>
          <a:p>
            <a:r>
              <a:rPr lang="en-US" altLang="ja-JP" sz="2800" dirty="0" err="1" smtClean="0"/>
              <a:t>getenv</a:t>
            </a:r>
            <a:r>
              <a:rPr lang="en-US" altLang="ja-JP" sz="2800" dirty="0" smtClean="0"/>
              <a:t>(“HOME”)</a:t>
            </a:r>
            <a:r>
              <a:rPr lang="ja-JP" altLang="en-US" sz="2800" dirty="0" smtClean="0"/>
              <a:t>の返り値として、</a:t>
            </a:r>
            <a:endParaRPr lang="en-US" altLang="ja-JP" sz="2800" dirty="0" smtClean="0"/>
          </a:p>
          <a:p>
            <a:pPr>
              <a:buNone/>
            </a:pPr>
            <a:r>
              <a:rPr lang="en-US" altLang="ja-JP" sz="2800" dirty="0" smtClean="0"/>
              <a:t>        ”/home/sit/</a:t>
            </a:r>
            <a:r>
              <a:rPr lang="en-US" altLang="ja-JP" sz="2800" dirty="0" err="1" smtClean="0"/>
              <a:t>sasano</a:t>
            </a:r>
            <a:r>
              <a:rPr lang="en-US" altLang="ja-JP" sz="2800" dirty="0" smtClean="0"/>
              <a:t>”(</a:t>
            </a:r>
            <a:r>
              <a:rPr lang="ja-JP" altLang="en-US" sz="2800" dirty="0" smtClean="0"/>
              <a:t>私の場合</a:t>
            </a:r>
            <a:r>
              <a:rPr lang="en-US" altLang="ja-JP" sz="2800" dirty="0" smtClean="0"/>
              <a:t>)</a:t>
            </a:r>
          </a:p>
          <a:p>
            <a:pPr>
              <a:buNone/>
            </a:pPr>
            <a:r>
              <a:rPr lang="ja-JP" altLang="en-US" sz="2800" dirty="0" err="1" smtClean="0"/>
              <a:t>のような</a:t>
            </a:r>
            <a:r>
              <a:rPr lang="ja-JP" altLang="en-US" sz="2800" dirty="0" smtClean="0"/>
              <a:t>文字列（</a:t>
            </a:r>
            <a:r>
              <a:rPr lang="en-US" altLang="ja-JP" sz="2800" dirty="0" smtClean="0"/>
              <a:t>char</a:t>
            </a:r>
            <a:r>
              <a:rPr lang="ja-JP" altLang="en-US" sz="2800" dirty="0" err="1" smtClean="0"/>
              <a:t>への</a:t>
            </a:r>
            <a:r>
              <a:rPr lang="ja-JP" altLang="en-US" sz="2800" dirty="0" smtClean="0"/>
              <a:t>ポインタ型）が得られる。</a:t>
            </a:r>
            <a:endParaRPr lang="en-US" altLang="ja-JP" sz="2800" dirty="0" smtClean="0"/>
          </a:p>
          <a:p>
            <a:pPr>
              <a:buNone/>
            </a:pPr>
            <a:r>
              <a:rPr lang="en-US" altLang="ja-JP" sz="2800" dirty="0" err="1" smtClean="0"/>
              <a:t>cd</a:t>
            </a:r>
            <a:r>
              <a:rPr lang="ja-JP" altLang="en-US" sz="2800" dirty="0" smtClean="0"/>
              <a:t>コマンドで引数がない場合は、それを</a:t>
            </a:r>
            <a:r>
              <a:rPr lang="en-US" altLang="ja-JP" sz="2800" dirty="0" err="1" smtClean="0"/>
              <a:t>chdir</a:t>
            </a:r>
            <a:r>
              <a:rPr lang="ja-JP" altLang="en-US" sz="2800" dirty="0" smtClean="0"/>
              <a:t>の引数に与えれればよい。</a:t>
            </a:r>
            <a:endParaRPr lang="en-US" altLang="ja-JP" sz="2800" dirty="0" smtClean="0"/>
          </a:p>
          <a:p>
            <a:pPr>
              <a:buNone/>
            </a:pPr>
            <a:r>
              <a:rPr lang="ja-JP" altLang="en-US" sz="2800" dirty="0" smtClean="0"/>
              <a:t>（レポート課題としては、ホームディレクトリの文字列を直書きでも</a:t>
            </a:r>
            <a:r>
              <a:rPr lang="en-US" altLang="ja-JP" sz="2800" dirty="0" smtClean="0"/>
              <a:t>OK</a:t>
            </a:r>
            <a:r>
              <a:rPr lang="ja-JP" altLang="en-US" sz="2800" dirty="0" smtClean="0"/>
              <a:t>とする。）</a:t>
            </a:r>
            <a:endParaRPr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2684</Words>
  <Application>Microsoft Office PowerPoint</Application>
  <PresentationFormat>画面に合わせる (4:3)</PresentationFormat>
  <Paragraphs>309</Paragraphs>
  <Slides>30</Slides>
  <Notes>11</Notes>
  <HiddenSlides>0</HiddenSlides>
  <MMClips>0</MMClips>
  <ScaleCrop>false</ScaleCrop>
  <HeadingPairs>
    <vt:vector size="4" baseType="variant">
      <vt:variant>
        <vt:lpstr>テーマ</vt:lpstr>
      </vt:variant>
      <vt:variant>
        <vt:i4>1</vt:i4>
      </vt:variant>
      <vt:variant>
        <vt:lpstr>スライド タイトル</vt:lpstr>
      </vt:variant>
      <vt:variant>
        <vt:i4>30</vt:i4>
      </vt:variant>
    </vt:vector>
  </HeadingPairs>
  <TitlesOfParts>
    <vt:vector size="31" baseType="lpstr">
      <vt:lpstr>Office テーマ</vt:lpstr>
      <vt:lpstr>システムプログラミング 第９回 、１０回 ハードリンク、シンボリックリンク プロセスの生成</vt:lpstr>
      <vt:lpstr>今回の内容</vt:lpstr>
      <vt:lpstr>ハードリンク</vt:lpstr>
      <vt:lpstr>ハードリンクの作成</vt:lpstr>
      <vt:lpstr>シンボリックリンク</vt:lpstr>
      <vt:lpstr>プロセスとは？</vt:lpstr>
      <vt:lpstr>プロセスの状態</vt:lpstr>
      <vt:lpstr> プロセスの状態遷移図</vt:lpstr>
      <vt:lpstr>プロセスの優先度</vt:lpstr>
      <vt:lpstr>プロセスID</vt:lpstr>
      <vt:lpstr>例（打ち込んで確認）</vt:lpstr>
      <vt:lpstr>プロセスの木構造</vt:lpstr>
      <vt:lpstr>実際のプロセスの木構造の例(p.145)</vt:lpstr>
      <vt:lpstr>forkシステムコール</vt:lpstr>
      <vt:lpstr>forkシステムコール</vt:lpstr>
      <vt:lpstr>親プロセスと子プロセスの切り分け</vt:lpstr>
      <vt:lpstr>例（打ち込んで確認）</vt:lpstr>
      <vt:lpstr>execシステムコール</vt:lpstr>
      <vt:lpstr>スライド 19</vt:lpstr>
      <vt:lpstr>例（打ち込んで確認）</vt:lpstr>
      <vt:lpstr>waitシステムコール</vt:lpstr>
      <vt:lpstr>ゾンビプロセス（打ち込んで確認）</vt:lpstr>
      <vt:lpstr>例：コマンドの引数に与えられたプログラムを実行（打ち込んで確認）</vt:lpstr>
      <vt:lpstr>簡易shell（打ち込んで確認）</vt:lpstr>
      <vt:lpstr>簡易shellの続き</vt:lpstr>
      <vt:lpstr>演習課題</vt:lpstr>
      <vt:lpstr>cd</vt:lpstr>
      <vt:lpstr>レポート課題４</vt:lpstr>
      <vt:lpstr>レポートの提出方法</vt:lpstr>
      <vt:lpstr>補足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第９回</dc:title>
  <dc:creator>sasano</dc:creator>
  <cp:lastModifiedBy>sasano</cp:lastModifiedBy>
  <cp:revision>143</cp:revision>
  <dcterms:created xsi:type="dcterms:W3CDTF">2009-11-15T06:34:26Z</dcterms:created>
  <dcterms:modified xsi:type="dcterms:W3CDTF">2010-11-30T10:44:07Z</dcterms:modified>
</cp:coreProperties>
</file>