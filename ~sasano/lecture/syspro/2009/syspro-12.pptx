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6" r:id="rId13"/>
    <p:sldId id="277" r:id="rId14"/>
    <p:sldId id="275" r:id="rId15"/>
    <p:sldId id="272" r:id="rId16"/>
    <p:sldId id="309" r:id="rId17"/>
    <p:sldId id="298" r:id="rId18"/>
    <p:sldId id="299" r:id="rId19"/>
    <p:sldId id="270" r:id="rId20"/>
    <p:sldId id="271" r:id="rId21"/>
    <p:sldId id="295" r:id="rId22"/>
    <p:sldId id="296" r:id="rId23"/>
    <p:sldId id="297" r:id="rId24"/>
    <p:sldId id="300" r:id="rId25"/>
    <p:sldId id="301" r:id="rId26"/>
    <p:sldId id="302" r:id="rId27"/>
    <p:sldId id="303" r:id="rId28"/>
    <p:sldId id="304" r:id="rId29"/>
    <p:sldId id="305" r:id="rId30"/>
    <p:sldId id="306" r:id="rId31"/>
    <p:sldId id="307" r:id="rId32"/>
    <p:sldId id="308"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00364" y="3714752"/>
            <a:ext cx="2877711" cy="1077218"/>
          </a:xfrm>
          <a:prstGeom prst="rect">
            <a:avLst/>
          </a:prstGeom>
          <a:noFill/>
        </p:spPr>
        <p:txBody>
          <a:bodyPr wrap="none" rtlCol="0">
            <a:spAutoFit/>
          </a:bodyPr>
          <a:lstStyle/>
          <a:p>
            <a:pPr algn="ctr"/>
            <a:r>
              <a:rPr kumimoji="1" lang="ja-JP" altLang="en-US" sz="3200" dirty="0" smtClean="0"/>
              <a:t>第１２回</a:t>
            </a:r>
            <a:endParaRPr kumimoji="1" lang="en-US" altLang="ja-JP" sz="3200" dirty="0" smtClean="0"/>
          </a:p>
          <a:p>
            <a:pPr algn="ctr"/>
            <a:r>
              <a:rPr lang="ja-JP" altLang="en-US" sz="3200" dirty="0" smtClean="0"/>
              <a:t>プロセス間通信</a:t>
            </a:r>
            <a:endParaRPr kumimoji="1" lang="ja-JP" altLang="en-US" sz="3200" dirty="0"/>
          </a:p>
        </p:txBody>
      </p:sp>
      <p:sp>
        <p:nvSpPr>
          <p:cNvPr id="5" name="テキスト ボックス 4"/>
          <p:cNvSpPr txBox="1"/>
          <p:nvPr/>
        </p:nvSpPr>
        <p:spPr>
          <a:xfrm>
            <a:off x="2680132" y="504892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シグナル（前回）</a:t>
            </a:r>
            <a:endParaRPr lang="en-US" altLang="ja-JP" dirty="0" smtClean="0"/>
          </a:p>
          <a:p>
            <a:pPr lvl="1"/>
            <a:r>
              <a:rPr kumimoji="1" lang="ja-JP" altLang="en-US" dirty="0" smtClean="0"/>
              <a:t>パイプ（今回）</a:t>
            </a:r>
            <a:endParaRPr kumimoji="1" lang="en-US" altLang="ja-JP" dirty="0" smtClean="0"/>
          </a:p>
          <a:p>
            <a:pPr lvl="1"/>
            <a:r>
              <a:rPr lang="ja-JP" altLang="en-US" dirty="0" smtClean="0"/>
              <a:t>ソケット（今回以降）</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D0B009BD-EBD3-4AF4-9CC9-20968A0910D3}" type="slidenum">
              <a:rPr lang="en-US" altLang="ja-JP" smtClean="0"/>
              <a:pPr/>
              <a:t>3</a:t>
            </a:fld>
            <a:endParaRPr lang="en-US" altLang="ja-JP" smtClean="0"/>
          </a:p>
        </p:txBody>
      </p:sp>
      <p:sp>
        <p:nvSpPr>
          <p:cNvPr id="3075" name="Rectangle 2"/>
          <p:cNvSpPr>
            <a:spLocks noGrp="1" noChangeArrowheads="1"/>
          </p:cNvSpPr>
          <p:nvPr>
            <p:ph type="title"/>
          </p:nvPr>
        </p:nvSpPr>
        <p:spPr>
          <a:xfrm>
            <a:off x="0" y="274638"/>
            <a:ext cx="9144000" cy="1143000"/>
          </a:xfrm>
        </p:spPr>
        <p:txBody>
          <a:bodyPr>
            <a:normAutofit fontScale="90000"/>
          </a:bodyPr>
          <a:lstStyle/>
          <a:p>
            <a:pPr eaLnBrk="1" hangingPunct="1"/>
            <a:r>
              <a:rPr lang="ja-JP" altLang="en-US" sz="4000" smtClean="0"/>
              <a:t>プロセス間通信</a:t>
            </a:r>
            <a:br>
              <a:rPr lang="ja-JP" altLang="en-US" sz="4000" smtClean="0"/>
            </a:br>
            <a:r>
              <a:rPr lang="ja-JP" altLang="en-US" sz="4000" smtClean="0"/>
              <a:t>（</a:t>
            </a:r>
            <a:r>
              <a:rPr lang="en-US" altLang="ja-JP" sz="4000" smtClean="0"/>
              <a:t>IPC:Inter Process Communication</a:t>
            </a:r>
            <a:r>
              <a:rPr lang="ja-JP" altLang="en-US" sz="4000" smtClean="0"/>
              <a:t>）</a:t>
            </a:r>
          </a:p>
        </p:txBody>
      </p:sp>
      <p:sp>
        <p:nvSpPr>
          <p:cNvPr id="3076" name="Rectangle 3"/>
          <p:cNvSpPr>
            <a:spLocks noGrp="1" noChangeArrowheads="1"/>
          </p:cNvSpPr>
          <p:nvPr>
            <p:ph type="body" idx="1"/>
          </p:nvPr>
        </p:nvSpPr>
        <p:spPr/>
        <p:txBody>
          <a:bodyPr/>
          <a:lstStyle/>
          <a:p>
            <a:pPr eaLnBrk="1" hangingPunct="1"/>
            <a:r>
              <a:rPr lang="ja-JP" altLang="en-US" smtClean="0"/>
              <a:t>プロセス間でデータのやり取りを行う機構</a:t>
            </a:r>
          </a:p>
          <a:p>
            <a:pPr eaLnBrk="1" hangingPunct="1">
              <a:buFontTx/>
              <a:buNone/>
            </a:pPr>
            <a:endParaRPr lang="en-US" altLang="ja-JP" smtClean="0"/>
          </a:p>
          <a:p>
            <a:pPr eaLnBrk="1" hangingPunct="1">
              <a:buFontTx/>
              <a:buNone/>
            </a:pPr>
            <a:r>
              <a:rPr lang="ja-JP" altLang="en-US" smtClean="0"/>
              <a:t>例）</a:t>
            </a:r>
          </a:p>
          <a:p>
            <a:pPr lvl="1" eaLnBrk="1" hangingPunct="1"/>
            <a:r>
              <a:rPr lang="en-US" altLang="ja-JP" smtClean="0"/>
              <a:t>X window system: X</a:t>
            </a:r>
            <a:r>
              <a:rPr lang="ja-JP" altLang="en-US" smtClean="0"/>
              <a:t>サーバと</a:t>
            </a:r>
            <a:r>
              <a:rPr lang="en-US" altLang="ja-JP" smtClean="0"/>
              <a:t>X</a:t>
            </a:r>
            <a:r>
              <a:rPr lang="ja-JP" altLang="en-US" smtClean="0"/>
              <a:t>クライアント</a:t>
            </a:r>
          </a:p>
          <a:p>
            <a:pPr lvl="1" eaLnBrk="1" hangingPunct="1"/>
            <a:r>
              <a:rPr lang="en-US" altLang="ja-JP" smtClean="0"/>
              <a:t>World wide web: web</a:t>
            </a:r>
            <a:r>
              <a:rPr lang="ja-JP" altLang="en-US" smtClean="0"/>
              <a:t>サーバーと</a:t>
            </a:r>
            <a:r>
              <a:rPr lang="en-US" altLang="ja-JP" smtClean="0"/>
              <a:t>web</a:t>
            </a:r>
            <a:r>
              <a:rPr lang="ja-JP" altLang="en-US" smtClean="0"/>
              <a:t>ブラウザ</a:t>
            </a:r>
          </a:p>
          <a:p>
            <a:pPr lvl="1" eaLnBrk="1" hangingPunct="1"/>
            <a:endParaRPr lang="en-US" altLang="ja-JP"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B50E18A6-1CA3-4B61-97F7-855C09676714}" type="slidenum">
              <a:rPr lang="en-US" altLang="ja-JP" smtClean="0"/>
              <a:pPr/>
              <a:t>4</a:t>
            </a:fld>
            <a:endParaRPr lang="en-US" altLang="ja-JP" smtClean="0"/>
          </a:p>
        </p:txBody>
      </p:sp>
      <p:sp>
        <p:nvSpPr>
          <p:cNvPr id="4099" name="Rectangle 2"/>
          <p:cNvSpPr>
            <a:spLocks noGrp="1" noChangeArrowheads="1"/>
          </p:cNvSpPr>
          <p:nvPr>
            <p:ph type="title"/>
          </p:nvPr>
        </p:nvSpPr>
        <p:spPr/>
        <p:txBody>
          <a:bodyPr/>
          <a:lstStyle/>
          <a:p>
            <a:pPr eaLnBrk="1" hangingPunct="1"/>
            <a:r>
              <a:rPr lang="en-US" altLang="ja-JP" u="sng" smtClean="0"/>
              <a:t>UNIX</a:t>
            </a:r>
            <a:r>
              <a:rPr lang="ja-JP" altLang="en-US" u="sng" smtClean="0"/>
              <a:t>でのプロセス間通信の機構</a:t>
            </a:r>
          </a:p>
        </p:txBody>
      </p:sp>
      <p:sp>
        <p:nvSpPr>
          <p:cNvPr id="4100" name="Rectangle 3"/>
          <p:cNvSpPr>
            <a:spLocks noGrp="1" noChangeArrowheads="1"/>
          </p:cNvSpPr>
          <p:nvPr>
            <p:ph type="body" idx="1"/>
          </p:nvPr>
        </p:nvSpPr>
        <p:spPr>
          <a:xfrm>
            <a:off x="457200" y="1600200"/>
            <a:ext cx="8186738" cy="4525963"/>
          </a:xfrm>
        </p:spPr>
        <p:txBody>
          <a:bodyPr>
            <a:normAutofit/>
          </a:bodyPr>
          <a:lstStyle/>
          <a:p>
            <a:pPr eaLnBrk="1" hangingPunct="1">
              <a:buFontTx/>
              <a:buNone/>
            </a:pPr>
            <a:r>
              <a:rPr lang="ja-JP" altLang="en-US" dirty="0" smtClean="0"/>
              <a:t>パイプ：　１つの</a:t>
            </a:r>
            <a:r>
              <a:rPr lang="en-US" altLang="ja-JP" dirty="0" smtClean="0"/>
              <a:t>UNIX</a:t>
            </a:r>
            <a:r>
              <a:rPr lang="ja-JP" altLang="en-US" dirty="0" smtClean="0"/>
              <a:t>システム内のプロセス間の通信に用いる</a:t>
            </a:r>
          </a:p>
          <a:p>
            <a:pPr eaLnBrk="1" hangingPunct="1">
              <a:buFontTx/>
              <a:buNone/>
            </a:pPr>
            <a:r>
              <a:rPr lang="ja-JP" altLang="en-US" dirty="0" smtClean="0"/>
              <a:t>ソケット：　インターネット上の異なる</a:t>
            </a:r>
            <a:r>
              <a:rPr lang="en-US" altLang="ja-JP" dirty="0" smtClean="0"/>
              <a:t>UNIX</a:t>
            </a:r>
            <a:r>
              <a:rPr lang="ja-JP" altLang="en-US" dirty="0" smtClean="0"/>
              <a:t>システム間の通信に用いる</a:t>
            </a:r>
            <a:endParaRPr lang="en-US" altLang="ja-JP" dirty="0" smtClean="0"/>
          </a:p>
          <a:p>
            <a:pPr eaLnBrk="1" hangingPunct="1">
              <a:buFontTx/>
              <a:buNone/>
            </a:pPr>
            <a:r>
              <a:rPr lang="ja-JP" altLang="en-US" dirty="0" smtClean="0"/>
              <a:t>パイプやソケットはファイル記述子でアクセス</a:t>
            </a:r>
          </a:p>
          <a:p>
            <a:pPr lvl="1" eaLnBrk="1" hangingPunct="1"/>
            <a:r>
              <a:rPr lang="en-US" altLang="ja-JP" dirty="0" smtClean="0"/>
              <a:t>read(), write()</a:t>
            </a:r>
            <a:r>
              <a:rPr lang="ja-JP" altLang="en-US" dirty="0" smtClean="0"/>
              <a:t>システムコールでファイル同様に扱える</a:t>
            </a:r>
          </a:p>
          <a:p>
            <a:pPr eaLnBrk="1" hangingPunct="1">
              <a:buFontTx/>
              <a:buNone/>
            </a:pPr>
            <a:r>
              <a:rPr lang="ja-JP" altLang="en-US" sz="2800" dirty="0" smtClean="0"/>
              <a:t>共有メモリを使う方法もある</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50FF31FF-D41D-4FC4-8436-D91393F36C09}" type="slidenum">
              <a:rPr lang="en-US" altLang="ja-JP" smtClean="0"/>
              <a:pPr/>
              <a:t>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パイプとは？</a:t>
            </a:r>
          </a:p>
        </p:txBody>
      </p:sp>
      <p:sp>
        <p:nvSpPr>
          <p:cNvPr id="5124" name="Rectangle 3"/>
          <p:cNvSpPr>
            <a:spLocks noGrp="1" noChangeArrowheads="1"/>
          </p:cNvSpPr>
          <p:nvPr>
            <p:ph type="body" idx="1"/>
          </p:nvPr>
        </p:nvSpPr>
        <p:spPr>
          <a:xfrm>
            <a:off x="428625" y="1428750"/>
            <a:ext cx="8435975" cy="4781550"/>
          </a:xfrm>
        </p:spPr>
        <p:txBody>
          <a:bodyPr/>
          <a:lstStyle/>
          <a:p>
            <a:pPr eaLnBrk="1" hangingPunct="1"/>
            <a:r>
              <a:rPr lang="ja-JP" altLang="en-US" smtClean="0"/>
              <a:t>メモリ内に設けられるバッファリング領域</a:t>
            </a:r>
          </a:p>
          <a:p>
            <a:pPr eaLnBrk="1" hangingPunct="1"/>
            <a:r>
              <a:rPr lang="ja-JP" altLang="en-US" smtClean="0"/>
              <a:t>２つのプロセス（親子関係、直系）をパイプで繋ぐ</a:t>
            </a:r>
            <a:endParaRPr lang="en-US" altLang="ja-JP" smtClean="0"/>
          </a:p>
          <a:p>
            <a:pPr eaLnBrk="1" hangingPunct="1"/>
            <a:r>
              <a:rPr lang="ja-JP" altLang="en-US" smtClean="0"/>
              <a:t>読み出し用の口と書き込み用の口がある</a:t>
            </a:r>
          </a:p>
          <a:p>
            <a:pPr eaLnBrk="1" hangingPunct="1"/>
            <a:r>
              <a:rPr lang="ja-JP" altLang="en-US" smtClean="0"/>
              <a:t>ファイル記述子を使ってアクセス</a:t>
            </a:r>
          </a:p>
          <a:p>
            <a:pPr eaLnBrk="1" hangingPunct="1"/>
            <a:r>
              <a:rPr lang="ja-JP" altLang="en-US" smtClean="0"/>
              <a:t>ファイル記述子を共有できる親子関係，直系の間柄のプロセス間通信に用いる</a:t>
            </a:r>
            <a:endParaRPr lang="en-US" altLang="ja-JP" smtClean="0"/>
          </a:p>
          <a:p>
            <a:pPr eaLnBrk="1" hangingPunct="1"/>
            <a:r>
              <a:rPr lang="en-US" altLang="ja-JP" smtClean="0"/>
              <a:t>Shell</a:t>
            </a:r>
            <a:r>
              <a:rPr lang="ja-JP" altLang="en-US" smtClean="0"/>
              <a:t>のパイプの実装に用いられている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A68D3657-A843-4ECA-B49E-6572418F9570}" type="slidenum">
              <a:rPr lang="en-US" altLang="ja-JP" smtClean="0"/>
              <a:pPr/>
              <a:t>6</a:t>
            </a:fld>
            <a:endParaRPr lang="en-US" altLang="ja-JP" smtClean="0"/>
          </a:p>
        </p:txBody>
      </p:sp>
      <p:sp>
        <p:nvSpPr>
          <p:cNvPr id="6147" name="Rectangle 2"/>
          <p:cNvSpPr>
            <a:spLocks noGrp="1" noChangeArrowheads="1"/>
          </p:cNvSpPr>
          <p:nvPr>
            <p:ph type="title"/>
          </p:nvPr>
        </p:nvSpPr>
        <p:spPr>
          <a:xfrm>
            <a:off x="468313" y="0"/>
            <a:ext cx="8229600" cy="1143000"/>
          </a:xfrm>
        </p:spPr>
        <p:txBody>
          <a:bodyPr/>
          <a:lstStyle/>
          <a:p>
            <a:pPr eaLnBrk="1" hangingPunct="1"/>
            <a:r>
              <a:rPr lang="ja-JP" altLang="en-US" sz="4000" smtClean="0"/>
              <a:t>パイプにおけるファイル記述子の共有</a:t>
            </a:r>
          </a:p>
        </p:txBody>
      </p:sp>
      <p:sp>
        <p:nvSpPr>
          <p:cNvPr id="6148" name="Rectangle 3"/>
          <p:cNvSpPr>
            <a:spLocks noGrp="1" noChangeArrowheads="1"/>
          </p:cNvSpPr>
          <p:nvPr>
            <p:ph type="body" idx="1"/>
          </p:nvPr>
        </p:nvSpPr>
        <p:spPr/>
        <p:txBody>
          <a:bodyPr/>
          <a:lstStyle/>
          <a:p>
            <a:pPr eaLnBrk="1" hangingPunct="1"/>
            <a:endParaRPr lang="ja-JP" altLang="ja-JP" smtClean="0"/>
          </a:p>
        </p:txBody>
      </p:sp>
      <p:pic>
        <p:nvPicPr>
          <p:cNvPr id="6149" name="Picture 4" descr="pipe1"/>
          <p:cNvPicPr>
            <a:picLocks noChangeAspect="1" noChangeArrowheads="1"/>
          </p:cNvPicPr>
          <p:nvPr/>
        </p:nvPicPr>
        <p:blipFill>
          <a:blip r:embed="rId2" cstate="print"/>
          <a:srcRect/>
          <a:stretch>
            <a:fillRect/>
          </a:stretch>
        </p:blipFill>
        <p:spPr bwMode="auto">
          <a:xfrm>
            <a:off x="250825" y="908050"/>
            <a:ext cx="8604250" cy="57038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7517117F-0B1A-496D-A70F-E5E55755FF9D}" type="slidenum">
              <a:rPr lang="en-US" altLang="ja-JP" smtClean="0"/>
              <a:pPr/>
              <a:t>7</a:t>
            </a:fld>
            <a:endParaRPr lang="en-US" altLang="ja-JP" smtClean="0"/>
          </a:p>
        </p:txBody>
      </p:sp>
      <p:sp>
        <p:nvSpPr>
          <p:cNvPr id="7171" name="Rectangle 2"/>
          <p:cNvSpPr>
            <a:spLocks noGrp="1" noChangeArrowheads="1"/>
          </p:cNvSpPr>
          <p:nvPr>
            <p:ph type="title"/>
          </p:nvPr>
        </p:nvSpPr>
        <p:spPr>
          <a:xfrm>
            <a:off x="468313" y="0"/>
            <a:ext cx="8229600" cy="1143000"/>
          </a:xfrm>
        </p:spPr>
        <p:txBody>
          <a:bodyPr/>
          <a:lstStyle/>
          <a:p>
            <a:pPr eaLnBrk="1" hangingPunct="1"/>
            <a:r>
              <a:rPr lang="ja-JP" altLang="en-US" u="sng" smtClean="0"/>
              <a:t>単方向パイプ</a:t>
            </a:r>
          </a:p>
        </p:txBody>
      </p:sp>
      <p:pic>
        <p:nvPicPr>
          <p:cNvPr id="7172" name="Picture 4" descr="pipe2"/>
          <p:cNvPicPr>
            <a:picLocks noChangeAspect="1" noChangeArrowheads="1"/>
          </p:cNvPicPr>
          <p:nvPr/>
        </p:nvPicPr>
        <p:blipFill>
          <a:blip r:embed="rId2" cstate="print"/>
          <a:srcRect/>
          <a:stretch>
            <a:fillRect/>
          </a:stretch>
        </p:blipFill>
        <p:spPr bwMode="auto">
          <a:xfrm>
            <a:off x="1835150" y="1052513"/>
            <a:ext cx="5238750" cy="55895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CCD7B621-F6C2-49DD-9E7D-E6438285B45C}" type="slidenum">
              <a:rPr lang="en-US" altLang="ja-JP" smtClean="0"/>
              <a:pPr/>
              <a:t>8</a:t>
            </a:fld>
            <a:endParaRPr lang="en-US" altLang="ja-JP" smtClean="0"/>
          </a:p>
        </p:txBody>
      </p:sp>
      <p:sp>
        <p:nvSpPr>
          <p:cNvPr id="8195" name="Rectangle 2"/>
          <p:cNvSpPr>
            <a:spLocks noGrp="1" noChangeArrowheads="1"/>
          </p:cNvSpPr>
          <p:nvPr>
            <p:ph type="title"/>
          </p:nvPr>
        </p:nvSpPr>
        <p:spPr>
          <a:xfrm>
            <a:off x="395288" y="53975"/>
            <a:ext cx="8229600" cy="1143000"/>
          </a:xfrm>
        </p:spPr>
        <p:txBody>
          <a:bodyPr/>
          <a:lstStyle/>
          <a:p>
            <a:pPr eaLnBrk="1" hangingPunct="1"/>
            <a:r>
              <a:rPr lang="ja-JP" altLang="en-US" smtClean="0"/>
              <a:t>双方向パイプ</a:t>
            </a:r>
          </a:p>
        </p:txBody>
      </p:sp>
      <p:pic>
        <p:nvPicPr>
          <p:cNvPr id="8196" name="Picture 4" descr="pipe3"/>
          <p:cNvPicPr>
            <a:picLocks noChangeAspect="1" noChangeArrowheads="1"/>
          </p:cNvPicPr>
          <p:nvPr/>
        </p:nvPicPr>
        <p:blipFill>
          <a:blip r:embed="rId2" cstate="print"/>
          <a:srcRect/>
          <a:stretch>
            <a:fillRect/>
          </a:stretch>
        </p:blipFill>
        <p:spPr bwMode="auto">
          <a:xfrm>
            <a:off x="755650" y="981075"/>
            <a:ext cx="7345363" cy="5189538"/>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61F90B34-8727-4151-9111-8F87CB15EE9E}" type="slidenum">
              <a:rPr lang="en-US" altLang="ja-JP" smtClean="0"/>
              <a:pPr/>
              <a:t>9</a:t>
            </a:fld>
            <a:endParaRPr lang="en-US" altLang="ja-JP" smtClean="0"/>
          </a:p>
        </p:txBody>
      </p:sp>
      <p:sp>
        <p:nvSpPr>
          <p:cNvPr id="9219" name="Rectangle 2"/>
          <p:cNvSpPr>
            <a:spLocks noGrp="1" noChangeArrowheads="1"/>
          </p:cNvSpPr>
          <p:nvPr>
            <p:ph type="title"/>
          </p:nvPr>
        </p:nvSpPr>
        <p:spPr/>
        <p:txBody>
          <a:bodyPr/>
          <a:lstStyle/>
          <a:p>
            <a:pPr eaLnBrk="1" hangingPunct="1"/>
            <a:r>
              <a:rPr lang="ja-JP" altLang="en-US" sz="4000" smtClean="0"/>
              <a:t>パイプの作成</a:t>
            </a:r>
          </a:p>
        </p:txBody>
      </p:sp>
      <p:sp>
        <p:nvSpPr>
          <p:cNvPr id="9220" name="Rectangle 3"/>
          <p:cNvSpPr>
            <a:spLocks noGrp="1" noChangeArrowheads="1"/>
          </p:cNvSpPr>
          <p:nvPr>
            <p:ph type="body" idx="1"/>
          </p:nvPr>
        </p:nvSpPr>
        <p:spPr>
          <a:xfrm>
            <a:off x="468313" y="5229225"/>
            <a:ext cx="8229600" cy="1041400"/>
          </a:xfrm>
        </p:spPr>
        <p:txBody>
          <a:bodyPr/>
          <a:lstStyle/>
          <a:p>
            <a:pPr eaLnBrk="1" hangingPunct="1"/>
            <a:r>
              <a:rPr lang="en-US" altLang="ja-JP" sz="2400" smtClean="0"/>
              <a:t>fd[0] : </a:t>
            </a:r>
            <a:r>
              <a:rPr lang="ja-JP" altLang="en-US" sz="2400" smtClean="0"/>
              <a:t>読み出しモードでオープンされたファイル記述子</a:t>
            </a:r>
          </a:p>
          <a:p>
            <a:pPr eaLnBrk="1" hangingPunct="1"/>
            <a:r>
              <a:rPr lang="en-US" altLang="ja-JP" sz="2400" smtClean="0"/>
              <a:t>fd[1] : </a:t>
            </a:r>
            <a:r>
              <a:rPr lang="ja-JP" altLang="en-US" sz="2400" smtClean="0"/>
              <a:t>書き込みモードでオープンされたファイル記述子</a:t>
            </a:r>
          </a:p>
        </p:txBody>
      </p:sp>
      <p:sp>
        <p:nvSpPr>
          <p:cNvPr id="9221" name="Text Box 5"/>
          <p:cNvSpPr txBox="1">
            <a:spLocks noChangeArrowheads="1"/>
          </p:cNvSpPr>
          <p:nvPr/>
        </p:nvSpPr>
        <p:spPr bwMode="auto">
          <a:xfrm>
            <a:off x="468313" y="1268413"/>
            <a:ext cx="8207375" cy="2540000"/>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unistd.h</a:t>
            </a:r>
            <a:r>
              <a:rPr lang="en-US" altLang="ja-JP" sz="2000" u="none" dirty="0"/>
              <a:t>&gt;</a:t>
            </a:r>
          </a:p>
          <a:p>
            <a:endParaRPr lang="en-US" altLang="ja-JP" sz="2000" u="none" dirty="0"/>
          </a:p>
          <a:p>
            <a:r>
              <a:rPr lang="en-US" altLang="ja-JP" sz="2000" u="none" dirty="0" err="1"/>
              <a:t>int</a:t>
            </a:r>
            <a:r>
              <a:rPr lang="en-US" altLang="ja-JP" sz="2000" u="none" dirty="0"/>
              <a:t>  </a:t>
            </a:r>
            <a:r>
              <a:rPr lang="en-US" altLang="ja-JP" sz="2000" u="none" dirty="0" smtClean="0"/>
              <a:t>pipe </a:t>
            </a:r>
            <a:r>
              <a:rPr lang="en-US" altLang="ja-JP" sz="2000" u="none" dirty="0"/>
              <a:t>( </a:t>
            </a:r>
            <a:r>
              <a:rPr lang="en-US" altLang="ja-JP" sz="2000" u="none" dirty="0" err="1"/>
              <a:t>int</a:t>
            </a:r>
            <a:r>
              <a:rPr lang="en-US" altLang="ja-JP" sz="2000" u="none" dirty="0"/>
              <a:t>  </a:t>
            </a:r>
            <a:r>
              <a:rPr lang="en-US" altLang="ja-JP" sz="2000" u="none" dirty="0" err="1" smtClean="0"/>
              <a:t>fd</a:t>
            </a:r>
            <a:r>
              <a:rPr lang="ja-JP" altLang="en-US" sz="2000" dirty="0" smtClean="0"/>
              <a:t> </a:t>
            </a:r>
            <a:r>
              <a:rPr lang="en-US" altLang="ja-JP" sz="2000" u="none" dirty="0" smtClean="0"/>
              <a:t>[2</a:t>
            </a:r>
            <a:r>
              <a:rPr lang="en-US" altLang="ja-JP" sz="2000" u="none" dirty="0"/>
              <a:t>] </a:t>
            </a:r>
            <a:r>
              <a:rPr lang="en-US" altLang="ja-JP" sz="2000" u="none" dirty="0" smtClean="0"/>
              <a:t>); </a:t>
            </a:r>
            <a:endParaRPr lang="en-US" altLang="ja-JP" sz="2000" u="none" dirty="0"/>
          </a:p>
          <a:p>
            <a:endParaRPr lang="en-US" altLang="ja-JP" sz="2000" u="none" dirty="0"/>
          </a:p>
          <a:p>
            <a:r>
              <a:rPr lang="en-US" altLang="ja-JP" sz="2000" u="none" dirty="0" err="1"/>
              <a:t>int</a:t>
            </a:r>
            <a:r>
              <a:rPr lang="en-US" altLang="ja-JP" sz="2000" u="none" dirty="0"/>
              <a:t>  </a:t>
            </a:r>
            <a:r>
              <a:rPr lang="en-US" altLang="ja-JP" sz="2000" u="none" dirty="0" err="1" smtClean="0"/>
              <a:t>fd</a:t>
            </a:r>
            <a:r>
              <a:rPr lang="en-US" altLang="ja-JP" sz="2000" u="none" dirty="0" smtClean="0"/>
              <a:t> [</a:t>
            </a:r>
            <a:r>
              <a:rPr lang="en-US" altLang="ja-JP" sz="2000" u="none" dirty="0"/>
              <a:t>2]  :   </a:t>
            </a:r>
            <a:r>
              <a:rPr lang="ja-JP" altLang="en-US" sz="2000" u="none" dirty="0"/>
              <a:t>ファイル記述子</a:t>
            </a:r>
          </a:p>
          <a:p>
            <a:endParaRPr lang="ja-JP" altLang="en-US" sz="2000" u="none" dirty="0"/>
          </a:p>
          <a:p>
            <a:r>
              <a:rPr lang="en-US" altLang="ja-JP" sz="2000" u="none" dirty="0"/>
              <a:t>※</a:t>
            </a:r>
            <a:r>
              <a:rPr lang="ja-JP" altLang="en-US" sz="2000" u="none" dirty="0"/>
              <a:t>正常終了すると値</a:t>
            </a:r>
            <a:r>
              <a:rPr lang="en-US" altLang="ja-JP" sz="2000" u="none" dirty="0"/>
              <a:t>0</a:t>
            </a:r>
            <a:r>
              <a:rPr lang="ja-JP" altLang="en-US" sz="2000" u="none" dirty="0"/>
              <a:t>を返し，　エラーの場合には</a:t>
            </a:r>
            <a:r>
              <a:rPr lang="en-US" altLang="ja-JP" sz="2000" u="none" dirty="0"/>
              <a:t>-1</a:t>
            </a:r>
            <a:r>
              <a:rPr lang="ja-JP" altLang="en-US" sz="2000" u="none" dirty="0"/>
              <a:t>を返して外部変数</a:t>
            </a:r>
            <a:r>
              <a:rPr lang="en-US" altLang="ja-JP" sz="2000" u="none" dirty="0" err="1"/>
              <a:t>errno</a:t>
            </a:r>
            <a:r>
              <a:rPr lang="ja-JP" altLang="en-US" sz="2000" u="none" dirty="0"/>
              <a:t>にエラーを示す値をセット</a:t>
            </a:r>
          </a:p>
        </p:txBody>
      </p:sp>
      <p:sp>
        <p:nvSpPr>
          <p:cNvPr id="9222" name="Text Box 6"/>
          <p:cNvSpPr txBox="1">
            <a:spLocks noChangeArrowheads="1"/>
          </p:cNvSpPr>
          <p:nvPr/>
        </p:nvSpPr>
        <p:spPr bwMode="auto">
          <a:xfrm>
            <a:off x="285750" y="4143375"/>
            <a:ext cx="8286750" cy="708025"/>
          </a:xfrm>
          <a:prstGeom prst="rect">
            <a:avLst/>
          </a:prstGeom>
          <a:solidFill>
            <a:schemeClr val="accent1"/>
          </a:solidFill>
          <a:ln w="9525">
            <a:noFill/>
            <a:miter lim="800000"/>
            <a:headEnd/>
            <a:tailEnd/>
          </a:ln>
        </p:spPr>
        <p:txBody>
          <a:bodyPr>
            <a:spAutoFit/>
          </a:bodyPr>
          <a:lstStyle/>
          <a:p>
            <a:r>
              <a:rPr lang="ja-JP" altLang="en-US" sz="2000"/>
              <a:t>引数</a:t>
            </a:r>
            <a:r>
              <a:rPr lang="en-US" altLang="ja-JP" sz="2000"/>
              <a:t>fd</a:t>
            </a:r>
            <a:r>
              <a:rPr lang="ja-JP" altLang="en-US" sz="2000"/>
              <a:t>で渡された配列の各要素に、作成したパイプのファイル記述子を格納して返す。</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EAD26627-8DA7-4B9D-9D3F-B53AC12F8D48}" type="slidenum">
              <a:rPr lang="en-US" altLang="ja-JP" smtClean="0"/>
              <a:pPr/>
              <a:t>10</a:t>
            </a:fld>
            <a:endParaRPr lang="en-US" altLang="ja-JP" smtClean="0"/>
          </a:p>
        </p:txBody>
      </p:sp>
      <p:sp>
        <p:nvSpPr>
          <p:cNvPr id="10243" name="Rectangle 2"/>
          <p:cNvSpPr>
            <a:spLocks noGrp="1" noChangeArrowheads="1"/>
          </p:cNvSpPr>
          <p:nvPr>
            <p:ph type="title"/>
          </p:nvPr>
        </p:nvSpPr>
        <p:spPr/>
        <p:txBody>
          <a:bodyPr/>
          <a:lstStyle/>
          <a:p>
            <a:pPr eaLnBrk="1" hangingPunct="1"/>
            <a:r>
              <a:rPr lang="ja-JP" altLang="en-US" smtClean="0"/>
              <a:t>単方向パイプとファイル記述子</a:t>
            </a:r>
          </a:p>
        </p:txBody>
      </p:sp>
      <p:pic>
        <p:nvPicPr>
          <p:cNvPr id="10244" name="Picture 4" descr="pipe5"/>
          <p:cNvPicPr>
            <a:picLocks noChangeAspect="1" noChangeArrowheads="1"/>
          </p:cNvPicPr>
          <p:nvPr/>
        </p:nvPicPr>
        <p:blipFill>
          <a:blip r:embed="rId2" cstate="print"/>
          <a:srcRect/>
          <a:stretch>
            <a:fillRect/>
          </a:stretch>
        </p:blipFill>
        <p:spPr bwMode="auto">
          <a:xfrm>
            <a:off x="714375" y="1857375"/>
            <a:ext cx="7812088" cy="372586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EDEE9E2D-0F02-450F-B171-C51C522970BB}" type="slidenum">
              <a:rPr lang="en-US" altLang="ja-JP" smtClean="0"/>
              <a:pPr/>
              <a:t>11</a:t>
            </a:fld>
            <a:endParaRPr lang="en-US" altLang="ja-JP" smtClean="0"/>
          </a:p>
        </p:txBody>
      </p:sp>
      <p:sp>
        <p:nvSpPr>
          <p:cNvPr id="14339" name="Rectangle 2"/>
          <p:cNvSpPr>
            <a:spLocks noGrp="1" noChangeArrowheads="1"/>
          </p:cNvSpPr>
          <p:nvPr>
            <p:ph type="title"/>
          </p:nvPr>
        </p:nvSpPr>
        <p:spPr/>
        <p:txBody>
          <a:bodyPr/>
          <a:lstStyle/>
          <a:p>
            <a:pPr eaLnBrk="1" hangingPunct="1"/>
            <a:r>
              <a:rPr lang="ja-JP" altLang="en-US" sz="4000" smtClean="0"/>
              <a:t>単方向パイプによるプロセス間通信</a:t>
            </a:r>
          </a:p>
        </p:txBody>
      </p:sp>
      <p:sp>
        <p:nvSpPr>
          <p:cNvPr id="14340" name="Rectangle 3"/>
          <p:cNvSpPr>
            <a:spLocks noGrp="1" noChangeArrowheads="1"/>
          </p:cNvSpPr>
          <p:nvPr>
            <p:ph type="body" idx="1"/>
          </p:nvPr>
        </p:nvSpPr>
        <p:spPr/>
        <p:txBody>
          <a:bodyPr/>
          <a:lstStyle/>
          <a:p>
            <a:pPr eaLnBrk="1" hangingPunct="1"/>
            <a:r>
              <a:rPr lang="ja-JP" altLang="en-US" dirty="0" smtClean="0"/>
              <a:t>（例）新たなプロセスを生成し，子プロセスから親プロセスにコマンド行から入力したメッセージを送る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1285884" y="1142984"/>
            <a:ext cx="6500826"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#define BUFSIZE 256</a:t>
            </a:r>
          </a:p>
          <a:p>
            <a:endParaRPr lang="en-US" altLang="ja-JP" sz="2000" dirty="0" smtClean="0"/>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a:p>
            <a:r>
              <a:rPr lang="en-US" altLang="ja-JP" sz="2000" dirty="0" smtClean="0"/>
              <a:t>  if(</a:t>
            </a:r>
            <a:r>
              <a:rPr lang="en-US" altLang="ja-JP" sz="2000" dirty="0" err="1" smtClean="0"/>
              <a:t>argc</a:t>
            </a:r>
            <a:r>
              <a:rPr lang="en-US" altLang="ja-JP" sz="2000" dirty="0" smtClean="0"/>
              <a:t> != 2)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 "Usage: %s message\n",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if(pipe(</a:t>
            </a:r>
            <a:r>
              <a:rPr lang="en-US" altLang="ja-JP" sz="2000" dirty="0" err="1" smtClean="0"/>
              <a:t>fd</a:t>
            </a:r>
            <a:r>
              <a:rPr lang="en-US" altLang="ja-JP" sz="2000" dirty="0" smtClean="0"/>
              <a:t>) == -1) { /* </a:t>
            </a:r>
            <a:r>
              <a:rPr lang="ja-JP" altLang="en-US" sz="2000" dirty="0" smtClean="0"/>
              <a:t>パイプのオープン *</a:t>
            </a:r>
            <a:r>
              <a:rPr lang="en-US" altLang="ja-JP" sz="2000" dirty="0" smtClean="0"/>
              <a:t>/</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500042"/>
            <a:ext cx="5643602" cy="5324535"/>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if((</a:t>
            </a:r>
            <a:r>
              <a:rPr lang="en-US" altLang="ja-JP" sz="2000" dirty="0" err="1" smtClean="0"/>
              <a:t>pid</a:t>
            </a:r>
            <a:r>
              <a:rPr lang="en-US" altLang="ja-JP" sz="2000" dirty="0" smtClean="0"/>
              <a:t> = fork()) == 0) {</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は使わない *</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if(write(</a:t>
            </a:r>
            <a:r>
              <a:rPr lang="en-US" altLang="ja-JP" sz="2000" dirty="0" err="1" smtClean="0"/>
              <a:t>fd</a:t>
            </a:r>
            <a:r>
              <a:rPr lang="en-US" altLang="ja-JP" sz="2000" dirty="0" smtClean="0"/>
              <a:t>[1],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("write");</a:t>
            </a:r>
          </a:p>
          <a:p>
            <a:r>
              <a:rPr lang="en-US" altLang="ja-JP" sz="2000" dirty="0" smtClean="0"/>
              <a:t>      exit(1);</a:t>
            </a:r>
          </a:p>
          <a:p>
            <a:r>
              <a:rPr lang="en-US" altLang="ja-JP" sz="2000" dirty="0" smtClean="0"/>
              <a:t>    }</a:t>
            </a:r>
          </a:p>
          <a:p>
            <a:r>
              <a:rPr lang="en-US" altLang="ja-JP" sz="2000" dirty="0" smtClean="0"/>
              <a:t>  }</a:t>
            </a:r>
          </a:p>
          <a:p>
            <a:r>
              <a:rPr lang="en-US" altLang="ja-JP" sz="2000" dirty="0" smtClean="0"/>
              <a:t>  else if(</a:t>
            </a:r>
            <a:r>
              <a:rPr lang="en-US" altLang="ja-JP" sz="2000" dirty="0" err="1" smtClean="0"/>
              <a:t>pid</a:t>
            </a:r>
            <a:r>
              <a:rPr lang="en-US" altLang="ja-JP" sz="2000" dirty="0" smtClean="0"/>
              <a:t> &gt;= 1) {</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は使わない *</a:t>
            </a:r>
            <a:r>
              <a:rPr lang="en-US" altLang="ja-JP" sz="2000" dirty="0" smtClean="0"/>
              <a:t>/</a:t>
            </a:r>
          </a:p>
          <a:p>
            <a:r>
              <a:rPr lang="en-US" altLang="ja-JP" sz="2000" dirty="0" smtClean="0"/>
              <a:t>    if(read(</a:t>
            </a:r>
            <a:r>
              <a:rPr lang="en-US" altLang="ja-JP" sz="2000" dirty="0" err="1" smtClean="0"/>
              <a:t>fd</a:t>
            </a:r>
            <a:r>
              <a:rPr lang="en-US" altLang="ja-JP" sz="2000" dirty="0" smtClean="0"/>
              <a:t>[0],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process : %s\n", </a:t>
            </a:r>
            <a:r>
              <a:rPr lang="en-US" altLang="ja-JP" sz="2000" dirty="0" err="1" smtClean="0"/>
              <a:t>buf</a:t>
            </a:r>
            <a:r>
              <a:rPr lang="en-US" altLang="ja-JP" sz="2000" dirty="0" smtClean="0"/>
              <a:t>);</a:t>
            </a:r>
          </a:p>
          <a:p>
            <a:r>
              <a:rPr lang="en-US" altLang="ja-JP" sz="2000" dirty="0" smtClean="0"/>
              <a:t>  }</a:t>
            </a:r>
          </a:p>
        </p:txBody>
      </p:sp>
      <p:sp>
        <p:nvSpPr>
          <p:cNvPr id="3" name="正方形/長方形 2"/>
          <p:cNvSpPr/>
          <p:nvPr/>
        </p:nvSpPr>
        <p:spPr>
          <a:xfrm>
            <a:off x="6215074" y="500042"/>
            <a:ext cx="2357454" cy="2554545"/>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smtClean="0"/>
              <a:t>  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smtClean="0"/>
          </a:p>
          <a:p>
            <a:endParaRPr lang="en-US" altLang="ja-JP" sz="20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53E0C1F6-C81A-4AC2-9269-3939D45080AE}" type="slidenum">
              <a:rPr lang="en-US" altLang="ja-JP" smtClean="0"/>
              <a:pPr/>
              <a:t>14</a:t>
            </a:fld>
            <a:endParaRPr lang="en-US" altLang="ja-JP" smtClean="0"/>
          </a:p>
        </p:txBody>
      </p:sp>
      <p:sp>
        <p:nvSpPr>
          <p:cNvPr id="20483" name="Rectangle 2"/>
          <p:cNvSpPr>
            <a:spLocks noGrp="1" noChangeArrowheads="1"/>
          </p:cNvSpPr>
          <p:nvPr>
            <p:ph type="title"/>
          </p:nvPr>
        </p:nvSpPr>
        <p:spPr/>
        <p:txBody>
          <a:bodyPr/>
          <a:lstStyle/>
          <a:p>
            <a:pPr eaLnBrk="1" hangingPunct="1"/>
            <a:r>
              <a:rPr lang="ja-JP" altLang="en-US" sz="4000" dirty="0" smtClean="0"/>
              <a:t>演習課題</a:t>
            </a:r>
          </a:p>
        </p:txBody>
      </p:sp>
      <p:sp>
        <p:nvSpPr>
          <p:cNvPr id="20484" name="Rectangle 3"/>
          <p:cNvSpPr>
            <a:spLocks noGrp="1" noChangeArrowheads="1"/>
          </p:cNvSpPr>
          <p:nvPr>
            <p:ph type="body" idx="1"/>
          </p:nvPr>
        </p:nvSpPr>
        <p:spPr/>
        <p:txBody>
          <a:bodyPr/>
          <a:lstStyle/>
          <a:p>
            <a:pPr marL="609600" indent="-609600" eaLnBrk="1" hangingPunct="1">
              <a:buFontTx/>
              <a:buAutoNum type="arabicPeriod"/>
            </a:pPr>
            <a:r>
              <a:rPr lang="ja-JP" altLang="en-US" dirty="0" smtClean="0"/>
              <a:t>単方向パイプで</a:t>
            </a:r>
            <a:r>
              <a:rPr lang="en-US" altLang="ja-JP" dirty="0" err="1" smtClean="0"/>
              <a:t>int</a:t>
            </a:r>
            <a:r>
              <a:rPr lang="ja-JP" altLang="en-US" dirty="0" smtClean="0"/>
              <a:t>型のデータ１つ</a:t>
            </a:r>
            <a:r>
              <a:rPr lang="en-US" altLang="ja-JP" dirty="0" smtClean="0"/>
              <a:t>(20</a:t>
            </a:r>
            <a:r>
              <a:rPr lang="ja-JP" altLang="en-US" dirty="0" smtClean="0"/>
              <a:t>など</a:t>
            </a:r>
            <a:r>
              <a:rPr lang="en-US" altLang="ja-JP" dirty="0" smtClean="0"/>
              <a:t>)</a:t>
            </a:r>
            <a:r>
              <a:rPr lang="ja-JP" altLang="en-US" dirty="0" smtClean="0"/>
              <a:t>を子プロセスから親プロセスへ送り，親プロセスで受け取った後にその内容を表示するプログラムを作成せよ。</a:t>
            </a:r>
            <a:endParaRPr lang="en-US" altLang="ja-JP" dirty="0" smtClean="0"/>
          </a:p>
          <a:p>
            <a:pPr marL="609600" indent="-609600" eaLnBrk="1" hangingPunct="1">
              <a:buFontTx/>
              <a:buNone/>
            </a:pPr>
            <a:r>
              <a:rPr lang="en-US" altLang="ja-JP" dirty="0" smtClean="0"/>
              <a:t>      </a:t>
            </a:r>
            <a:r>
              <a:rPr lang="en-US" altLang="ja-JP" dirty="0" err="1" smtClean="0"/>
              <a:t>int</a:t>
            </a:r>
            <a:r>
              <a:rPr lang="ja-JP" altLang="en-US" dirty="0" smtClean="0"/>
              <a:t>型のデータはプログラム内で与えるものとする。</a:t>
            </a:r>
            <a:endParaRPr lang="en-US" altLang="ja-JP" dirty="0" smtClean="0"/>
          </a:p>
          <a:p>
            <a:pPr marL="609600" indent="-609600" eaLnBrk="1" hangingPunct="1">
              <a:buFontTx/>
              <a:buNone/>
            </a:pPr>
            <a:r>
              <a:rPr lang="ja-JP" altLang="en-US" dirty="0" smtClean="0"/>
              <a:t>　　ヒント</a:t>
            </a:r>
            <a:r>
              <a:rPr lang="en-US" altLang="ja-JP" dirty="0" smtClean="0"/>
              <a:t>: &amp;</a:t>
            </a:r>
            <a:r>
              <a:rPr lang="ja-JP" altLang="en-US" dirty="0" smtClean="0"/>
              <a:t>演算子、</a:t>
            </a:r>
            <a:r>
              <a:rPr lang="en-US" altLang="ja-JP" dirty="0" err="1" smtClean="0"/>
              <a:t>sizeof</a:t>
            </a:r>
            <a:r>
              <a:rPr lang="ja-JP" altLang="en-US" dirty="0" smtClean="0"/>
              <a:t>演算子を用いる。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スライド番号プレースホルダ 5"/>
          <p:cNvSpPr>
            <a:spLocks noGrp="1"/>
          </p:cNvSpPr>
          <p:nvPr>
            <p:ph type="sldNum" sz="quarter" idx="12"/>
          </p:nvPr>
        </p:nvSpPr>
        <p:spPr>
          <a:noFill/>
        </p:spPr>
        <p:txBody>
          <a:bodyPr/>
          <a:lstStyle/>
          <a:p>
            <a:fld id="{E4E5F0B3-2040-4982-8CD5-236BAFE52817}" type="slidenum">
              <a:rPr lang="en-US" altLang="ja-JP" smtClean="0"/>
              <a:pPr/>
              <a:t>15</a:t>
            </a:fld>
            <a:endParaRPr lang="en-US" altLang="ja-JP" smtClean="0"/>
          </a:p>
        </p:txBody>
      </p:sp>
      <p:sp>
        <p:nvSpPr>
          <p:cNvPr id="17411" name="Rectangle 2"/>
          <p:cNvSpPr>
            <a:spLocks noGrp="1" noChangeArrowheads="1"/>
          </p:cNvSpPr>
          <p:nvPr>
            <p:ph type="title"/>
          </p:nvPr>
        </p:nvSpPr>
        <p:spPr/>
        <p:txBody>
          <a:bodyPr>
            <a:normAutofit fontScale="90000"/>
          </a:bodyPr>
          <a:lstStyle/>
          <a:p>
            <a:pPr eaLnBrk="1" hangingPunct="1"/>
            <a:r>
              <a:rPr lang="ja-JP" altLang="en-US" sz="4000" smtClean="0"/>
              <a:t>単方向パイプによる</a:t>
            </a:r>
            <a:r>
              <a:rPr lang="en-US" altLang="ja-JP" sz="4000" smtClean="0"/>
              <a:t/>
            </a:r>
            <a:br>
              <a:rPr lang="en-US" altLang="ja-JP" sz="4000" smtClean="0"/>
            </a:br>
            <a:r>
              <a:rPr lang="ja-JP" altLang="en-US" sz="4000" smtClean="0"/>
              <a:t>シェルのパイプ機能の実現</a:t>
            </a:r>
          </a:p>
        </p:txBody>
      </p:sp>
      <p:sp>
        <p:nvSpPr>
          <p:cNvPr id="17412" name="Rectangle 3"/>
          <p:cNvSpPr>
            <a:spLocks noGrp="1" noChangeArrowheads="1"/>
          </p:cNvSpPr>
          <p:nvPr>
            <p:ph type="body" idx="1"/>
          </p:nvPr>
        </p:nvSpPr>
        <p:spPr/>
        <p:txBody>
          <a:bodyPr/>
          <a:lstStyle/>
          <a:p>
            <a:pPr eaLnBrk="1" hangingPunct="1"/>
            <a:r>
              <a:rPr lang="ja-JP" altLang="en-US" dirty="0" smtClean="0"/>
              <a:t>シェルのパイプ機能</a:t>
            </a:r>
            <a:endParaRPr lang="en-US" altLang="ja-JP" dirty="0" smtClean="0"/>
          </a:p>
          <a:p>
            <a:pPr eaLnBrk="1" hangingPunct="1">
              <a:buFontTx/>
              <a:buNone/>
            </a:pPr>
            <a:r>
              <a:rPr lang="en-US" altLang="ja-JP" dirty="0" smtClean="0"/>
              <a:t>     $ </a:t>
            </a:r>
            <a:r>
              <a:rPr lang="en-US" altLang="ja-JP" dirty="0" err="1" smtClean="0"/>
              <a:t>ps</a:t>
            </a:r>
            <a:r>
              <a:rPr lang="en-US" altLang="ja-JP" dirty="0" smtClean="0"/>
              <a:t> | less</a:t>
            </a:r>
            <a:r>
              <a:rPr lang="ja-JP" altLang="en-US" dirty="0" smtClean="0"/>
              <a:t> </a:t>
            </a:r>
            <a:endParaRPr lang="en-US" altLang="ja-JP" dirty="0" smtClean="0"/>
          </a:p>
          <a:p>
            <a:pPr eaLnBrk="1" hangingPunct="1">
              <a:buFontTx/>
              <a:buNone/>
            </a:pPr>
            <a:r>
              <a:rPr lang="en-US" altLang="ja-JP" dirty="0" smtClean="0"/>
              <a:t> </a:t>
            </a:r>
          </a:p>
          <a:p>
            <a:pPr eaLnBrk="1" hangingPunct="1">
              <a:buFontTx/>
              <a:buNone/>
            </a:pPr>
            <a:r>
              <a:rPr lang="en-US" altLang="ja-JP" dirty="0" smtClean="0"/>
              <a:t>   </a:t>
            </a:r>
          </a:p>
          <a:p>
            <a:pPr eaLnBrk="1" hangingPunct="1">
              <a:buFontTx/>
              <a:buNone/>
            </a:pPr>
            <a:r>
              <a:rPr lang="en-US" altLang="ja-JP" dirty="0" smtClean="0"/>
              <a:t>   </a:t>
            </a:r>
            <a:r>
              <a:rPr lang="en-US" altLang="ja-JP" dirty="0" err="1" smtClean="0"/>
              <a:t>ps</a:t>
            </a:r>
            <a:r>
              <a:rPr lang="ja-JP" altLang="en-US" dirty="0" smtClean="0"/>
              <a:t>を実行するとき標準出力をパイプにし、</a:t>
            </a:r>
            <a:endParaRPr lang="en-US" altLang="ja-JP" dirty="0" smtClean="0"/>
          </a:p>
          <a:p>
            <a:pPr eaLnBrk="1" hangingPunct="1">
              <a:buFontTx/>
              <a:buNone/>
            </a:pPr>
            <a:r>
              <a:rPr lang="en-US" altLang="ja-JP" dirty="0" smtClean="0"/>
              <a:t>   less</a:t>
            </a:r>
            <a:r>
              <a:rPr lang="ja-JP" altLang="en-US" dirty="0" smtClean="0"/>
              <a:t>コマンドを実行するとき標準入力をパイプにする</a:t>
            </a:r>
          </a:p>
        </p:txBody>
      </p:sp>
      <p:sp>
        <p:nvSpPr>
          <p:cNvPr id="17414" name="上カーブ矢印 5"/>
          <p:cNvSpPr>
            <a:spLocks noChangeArrowheads="1"/>
          </p:cNvSpPr>
          <p:nvPr/>
        </p:nvSpPr>
        <p:spPr bwMode="auto">
          <a:xfrm>
            <a:off x="1500187" y="2714619"/>
            <a:ext cx="785797" cy="285753"/>
          </a:xfrm>
          <a:prstGeom prst="curvedUpArrow">
            <a:avLst>
              <a:gd name="adj1" fmla="val 24986"/>
              <a:gd name="adj2" fmla="val 50005"/>
              <a:gd name="adj3" fmla="val 25000"/>
            </a:avLst>
          </a:prstGeom>
          <a:solidFill>
            <a:schemeClr val="accent1"/>
          </a:solidFill>
          <a:ln w="9525" algn="ctr">
            <a:solidFill>
              <a:schemeClr val="tx1"/>
            </a:solidFill>
            <a:round/>
            <a:headEnd/>
            <a:tailEnd/>
          </a:ln>
        </p:spPr>
        <p:txBody>
          <a:bodyPr/>
          <a:lstStyle/>
          <a:p>
            <a:endParaRPr lang="ja-JP" altLang="en-US"/>
          </a:p>
        </p:txBody>
      </p:sp>
      <p:sp>
        <p:nvSpPr>
          <p:cNvPr id="17415" name="テキスト ボックス 6"/>
          <p:cNvSpPr txBox="1">
            <a:spLocks noChangeArrowheads="1"/>
          </p:cNvSpPr>
          <p:nvPr/>
        </p:nvSpPr>
        <p:spPr bwMode="auto">
          <a:xfrm>
            <a:off x="785786" y="3119438"/>
            <a:ext cx="2541588" cy="523875"/>
          </a:xfrm>
          <a:prstGeom prst="rect">
            <a:avLst/>
          </a:prstGeom>
          <a:noFill/>
          <a:ln w="9525">
            <a:solidFill>
              <a:srgbClr val="002060"/>
            </a:solidFill>
            <a:miter lim="800000"/>
            <a:headEnd/>
            <a:tailEnd/>
          </a:ln>
        </p:spPr>
        <p:txBody>
          <a:bodyPr wrap="none">
            <a:spAutoFit/>
          </a:bodyPr>
          <a:lstStyle/>
          <a:p>
            <a:r>
              <a:rPr lang="ja-JP" altLang="en-US" sz="2800" u="none"/>
              <a:t>プロセス間通信</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964A16EC-A1C3-470B-A9BF-8368FDDAE374}" type="slidenum">
              <a:rPr lang="en-US" altLang="ja-JP" smtClean="0"/>
              <a:pPr/>
              <a:t>16</a:t>
            </a:fld>
            <a:endParaRPr lang="en-US" altLang="ja-JP" smtClean="0"/>
          </a:p>
        </p:txBody>
      </p:sp>
      <p:sp>
        <p:nvSpPr>
          <p:cNvPr id="18435" name="Rectangle 2"/>
          <p:cNvSpPr>
            <a:spLocks noGrp="1" noChangeArrowheads="1"/>
          </p:cNvSpPr>
          <p:nvPr>
            <p:ph type="title"/>
          </p:nvPr>
        </p:nvSpPr>
        <p:spPr/>
        <p:txBody>
          <a:bodyPr/>
          <a:lstStyle/>
          <a:p>
            <a:pPr eaLnBrk="1" hangingPunct="1"/>
            <a:r>
              <a:rPr lang="en-US" altLang="ja-JP" sz="4000" smtClean="0"/>
              <a:t>dup</a:t>
            </a:r>
            <a:r>
              <a:rPr lang="ja-JP" altLang="en-US" sz="4000" smtClean="0"/>
              <a:t>システムコール</a:t>
            </a:r>
          </a:p>
        </p:txBody>
      </p:sp>
      <p:sp>
        <p:nvSpPr>
          <p:cNvPr id="18436" name="Rectangle 3"/>
          <p:cNvSpPr>
            <a:spLocks noGrp="1" noChangeArrowheads="1"/>
          </p:cNvSpPr>
          <p:nvPr>
            <p:ph type="body" idx="1"/>
          </p:nvPr>
        </p:nvSpPr>
        <p:spPr/>
        <p:txBody>
          <a:bodyPr/>
          <a:lstStyle/>
          <a:p>
            <a:pPr eaLnBrk="1" hangingPunct="1">
              <a:buFontTx/>
              <a:buNone/>
            </a:pPr>
            <a:r>
              <a:rPr lang="en-US" altLang="ja-JP" sz="2800" dirty="0" err="1" smtClean="0"/>
              <a:t>int</a:t>
            </a:r>
            <a:r>
              <a:rPr lang="en-US" altLang="ja-JP" sz="2800" dirty="0" smtClean="0"/>
              <a:t> dup (</a:t>
            </a:r>
            <a:r>
              <a:rPr lang="en-US" altLang="ja-JP" sz="2800" dirty="0" err="1" smtClean="0"/>
              <a:t>int</a:t>
            </a:r>
            <a:r>
              <a:rPr lang="en-US" altLang="ja-JP" sz="2800" dirty="0" smtClean="0"/>
              <a:t> </a:t>
            </a:r>
            <a:r>
              <a:rPr lang="en-US" altLang="ja-JP" sz="2800" dirty="0" err="1" smtClean="0"/>
              <a:t>oldfd</a:t>
            </a:r>
            <a:r>
              <a:rPr lang="en-US" altLang="ja-JP" sz="2800" dirty="0" smtClean="0"/>
              <a:t>)</a:t>
            </a:r>
          </a:p>
          <a:p>
            <a:pPr eaLnBrk="1" hangingPunct="1">
              <a:buFontTx/>
              <a:buNone/>
            </a:pPr>
            <a:r>
              <a:rPr lang="ja-JP" altLang="en-US" sz="2800" dirty="0" smtClean="0"/>
              <a:t>引数に、複製元のファイル記述子を与える。</a:t>
            </a:r>
            <a:endParaRPr lang="en-US" altLang="ja-JP" sz="2800" dirty="0" smtClean="0"/>
          </a:p>
          <a:p>
            <a:pPr eaLnBrk="1" hangingPunct="1">
              <a:buFontTx/>
              <a:buNone/>
            </a:pPr>
            <a:r>
              <a:rPr lang="ja-JP" altLang="en-US" sz="2800" dirty="0" smtClean="0"/>
              <a:t>正常終了すると複製先のファイル記述子を返し、エラーの場合は</a:t>
            </a:r>
            <a:r>
              <a:rPr lang="en-US" altLang="ja-JP" sz="2800" dirty="0" smtClean="0"/>
              <a:t>-1</a:t>
            </a:r>
            <a:r>
              <a:rPr lang="ja-JP" altLang="en-US" sz="2800" dirty="0" smtClean="0"/>
              <a:t>を返して外部変数 </a:t>
            </a:r>
            <a:r>
              <a:rPr lang="en-US" altLang="ja-JP" sz="2800" dirty="0" err="1" smtClean="0"/>
              <a:t>errno</a:t>
            </a:r>
            <a:r>
              <a:rPr lang="ja-JP" altLang="en-US" sz="2800" dirty="0" smtClean="0"/>
              <a:t> にエラーを示す値をセットする。複製先のファイル記述子は、現在使用されていないファイル記述子のうち最小のものが自動的に選ばれる。（典型的な使用例としては、</a:t>
            </a:r>
            <a:r>
              <a:rPr lang="en-US" altLang="ja-JP" sz="2800" dirty="0" smtClean="0"/>
              <a:t>0</a:t>
            </a:r>
            <a:r>
              <a:rPr lang="ja-JP" altLang="en-US" sz="2800" dirty="0" smtClean="0"/>
              <a:t>番か</a:t>
            </a:r>
            <a:r>
              <a:rPr lang="en-US" altLang="ja-JP" sz="2800" dirty="0" smtClean="0"/>
              <a:t>1</a:t>
            </a:r>
            <a:r>
              <a:rPr lang="ja-JP" altLang="en-US" sz="2800" dirty="0" smtClean="0"/>
              <a:t>番を</a:t>
            </a:r>
            <a:r>
              <a:rPr lang="en-US" altLang="ja-JP" sz="2800" dirty="0" smtClean="0"/>
              <a:t>close</a:t>
            </a:r>
            <a:r>
              <a:rPr lang="ja-JP" altLang="en-US" sz="2800" dirty="0" smtClean="0"/>
              <a:t>システムコールで閉じて、空き状態にしてから</a:t>
            </a:r>
            <a:r>
              <a:rPr lang="en-US" altLang="ja-JP" sz="2800" dirty="0" smtClean="0"/>
              <a:t>dup</a:t>
            </a:r>
            <a:r>
              <a:rPr lang="ja-JP" altLang="en-US" sz="2800" dirty="0" smtClean="0"/>
              <a:t>システムコールを呼び出す。）</a:t>
            </a:r>
            <a:endParaRPr lang="en-US" altLang="ja-JP" sz="28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例（入力して確認）</a:t>
            </a:r>
            <a:endParaRPr kumimoji="1" lang="ja-JP" altLang="en-US" dirty="0"/>
          </a:p>
        </p:txBody>
      </p:sp>
      <p:sp>
        <p:nvSpPr>
          <p:cNvPr id="4" name="正方形/長方形 3"/>
          <p:cNvSpPr/>
          <p:nvPr/>
        </p:nvSpPr>
        <p:spPr>
          <a:xfrm>
            <a:off x="1643042" y="1142984"/>
            <a:ext cx="5715040"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fd</a:t>
            </a:r>
            <a:r>
              <a:rPr lang="en-US" altLang="ja-JP" sz="2000" dirty="0" smtClean="0"/>
              <a:t>[2];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a:t>
            </a:r>
            <a:r>
              <a:rPr lang="en-US" altLang="ja-JP" sz="2000" dirty="0" err="1" smtClean="0"/>
              <a:t>argc</a:t>
            </a:r>
            <a:r>
              <a:rPr lang="en-US" altLang="ja-JP" sz="2000" dirty="0" smtClean="0"/>
              <a:t> != 3 )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command1 command2\n",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pipe(</a:t>
            </a:r>
            <a:r>
              <a:rPr lang="en-US" altLang="ja-JP" sz="2000" dirty="0" err="1" smtClean="0"/>
              <a:t>fd</a:t>
            </a:r>
            <a:r>
              <a:rPr lang="en-US" altLang="ja-JP" sz="2000" dirty="0" smtClean="0"/>
              <a:t>)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endParaRPr lang="en-US" altLang="ja-JP"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2185974" cy="1143000"/>
          </a:xfrm>
        </p:spPr>
        <p:txBody>
          <a:bodyPr/>
          <a:lstStyle/>
          <a:p>
            <a:r>
              <a:rPr lang="ja-JP" altLang="en-US" dirty="0" smtClean="0"/>
              <a:t>続き</a:t>
            </a:r>
            <a:endParaRPr kumimoji="1" lang="ja-JP" altLang="en-US" dirty="0"/>
          </a:p>
        </p:txBody>
      </p:sp>
      <p:sp>
        <p:nvSpPr>
          <p:cNvPr id="4" name="正方形/長方形 3"/>
          <p:cNvSpPr/>
          <p:nvPr/>
        </p:nvSpPr>
        <p:spPr>
          <a:xfrm>
            <a:off x="214282" y="1214422"/>
            <a:ext cx="4071966" cy="4401205"/>
          </a:xfrm>
          <a:prstGeom prst="rect">
            <a:avLst/>
          </a:prstGeom>
          <a:ln>
            <a:solidFill>
              <a:schemeClr val="tx1"/>
            </a:solidFill>
          </a:ln>
        </p:spPr>
        <p:txBody>
          <a:bodyPr wrap="square">
            <a:spAutoFit/>
          </a:bodyPr>
          <a:lstStyle/>
          <a:p>
            <a:r>
              <a:rPr lang="en-US" altLang="ja-JP" sz="2000" dirty="0" smtClean="0"/>
              <a:t> if( (</a:t>
            </a:r>
            <a:r>
              <a:rPr lang="en-US" altLang="ja-JP" sz="2000" dirty="0" err="1" smtClean="0"/>
              <a:t>pid</a:t>
            </a:r>
            <a:r>
              <a:rPr lang="en-US" altLang="ja-JP" sz="2000" dirty="0" smtClean="0"/>
              <a:t> = fork()) == 0 ) {</a:t>
            </a:r>
          </a:p>
          <a:p>
            <a:r>
              <a:rPr lang="en-US" altLang="ja-JP" sz="2000" dirty="0" smtClean="0"/>
              <a:t>    close(1);</a:t>
            </a:r>
          </a:p>
          <a:p>
            <a:r>
              <a:rPr lang="en-US" altLang="ja-JP" sz="2000" dirty="0" smtClean="0"/>
              <a:t>    dup(</a:t>
            </a:r>
            <a:r>
              <a:rPr lang="en-US" altLang="ja-JP" sz="2000" dirty="0" err="1" smtClean="0"/>
              <a:t>fd</a:t>
            </a:r>
            <a:r>
              <a:rPr lang="en-US" altLang="ja-JP" sz="2000" dirty="0" smtClean="0"/>
              <a:t>[1]);</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は不要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[1],</a:t>
            </a:r>
          </a:p>
          <a:p>
            <a:r>
              <a:rPr lang="en-US" altLang="ja-JP" sz="2000" dirty="0" smtClean="0"/>
              <a:t>              (char *)0 ) == -1 ){</a:t>
            </a:r>
          </a:p>
          <a:p>
            <a:r>
              <a:rPr lang="en-US" altLang="ja-JP" sz="2000" dirty="0" smtClean="0"/>
              <a:t>      </a:t>
            </a:r>
            <a:r>
              <a:rPr lang="en-US" altLang="ja-JP" sz="2000" dirty="0" err="1" smtClean="0"/>
              <a:t>perror</a:t>
            </a:r>
            <a:r>
              <a:rPr lang="en-US" altLang="ja-JP" sz="2000" dirty="0" smtClean="0"/>
              <a:t>("child: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5" name="正方形/長方形 4"/>
          <p:cNvSpPr/>
          <p:nvPr/>
        </p:nvSpPr>
        <p:spPr>
          <a:xfrm>
            <a:off x="4500562" y="159507"/>
            <a:ext cx="4429156" cy="6555641"/>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close(0);</a:t>
            </a:r>
          </a:p>
          <a:p>
            <a:r>
              <a:rPr lang="en-US" altLang="ja-JP" sz="2000" dirty="0" smtClean="0"/>
              <a:t>    dup(</a:t>
            </a:r>
            <a:r>
              <a:rPr lang="en-US" altLang="ja-JP" sz="2000" dirty="0" err="1" smtClean="0"/>
              <a:t>fd</a:t>
            </a:r>
            <a:r>
              <a:rPr lang="en-US" altLang="ja-JP" sz="2000" dirty="0" smtClean="0"/>
              <a:t>[0]); /* </a:t>
            </a:r>
            <a:r>
              <a:rPr lang="ja-JP" altLang="en-US" sz="2000" dirty="0" smtClean="0"/>
              <a:t>標準入力のパイプへの</a:t>
            </a:r>
            <a:endParaRPr lang="en-US" altLang="ja-JP" sz="2000" dirty="0" smtClean="0"/>
          </a:p>
          <a:p>
            <a:r>
              <a:rPr lang="ja-JP" altLang="en-US" sz="2000" dirty="0" smtClean="0"/>
              <a:t>　　　　　　　　　　　　切り替え *</a:t>
            </a:r>
            <a:r>
              <a:rPr lang="en-US" altLang="ja-JP" sz="2000" dirty="0" smtClean="0"/>
              <a:t>/</a:t>
            </a:r>
          </a:p>
          <a:p>
            <a:r>
              <a:rPr lang="en-US" altLang="ja-JP" sz="2000" dirty="0" smtClean="0"/>
              <a:t>    close(</a:t>
            </a:r>
            <a:r>
              <a:rPr lang="en-US" altLang="ja-JP" sz="2000" dirty="0" err="1" smtClean="0"/>
              <a:t>fd</a:t>
            </a:r>
            <a:r>
              <a:rPr lang="en-US" altLang="ja-JP" sz="2000" dirty="0" smtClean="0"/>
              <a:t>[0]); /* </a:t>
            </a:r>
            <a:r>
              <a:rPr lang="en-US" altLang="ja-JP" sz="2000" dirty="0" err="1" smtClean="0"/>
              <a:t>fd</a:t>
            </a:r>
            <a:r>
              <a:rPr lang="en-US" altLang="ja-JP" sz="2000" dirty="0" smtClean="0"/>
              <a:t>[0]</a:t>
            </a:r>
            <a:r>
              <a:rPr lang="ja-JP" altLang="en-US" sz="2000" dirty="0" smtClean="0"/>
              <a:t>はコピー済 *</a:t>
            </a:r>
            <a:r>
              <a:rPr lang="en-US" altLang="ja-JP" sz="2000" dirty="0" smtClean="0"/>
              <a:t>/</a:t>
            </a:r>
          </a:p>
          <a:p>
            <a:r>
              <a:rPr lang="en-US" altLang="ja-JP" sz="2000" dirty="0" smtClean="0"/>
              <a:t>    close(</a:t>
            </a:r>
            <a:r>
              <a:rPr lang="en-US" altLang="ja-JP" sz="2000" dirty="0" err="1" smtClean="0"/>
              <a:t>fd</a:t>
            </a:r>
            <a:r>
              <a:rPr lang="en-US" altLang="ja-JP" sz="2000" dirty="0" smtClean="0"/>
              <a:t>[1]); /* </a:t>
            </a:r>
            <a:r>
              <a:rPr lang="en-US" altLang="ja-JP" sz="2000" dirty="0" err="1" smtClean="0"/>
              <a:t>fd</a:t>
            </a:r>
            <a:r>
              <a:rPr lang="en-US" altLang="ja-JP" sz="2000" dirty="0" smtClean="0"/>
              <a:t>[1]</a:t>
            </a:r>
            <a:r>
              <a:rPr lang="ja-JP" altLang="en-US" sz="2000" dirty="0" smtClean="0"/>
              <a:t>は使用しない *</a:t>
            </a:r>
            <a:r>
              <a:rPr lang="en-US" altLang="ja-JP" sz="2000" dirty="0" smtClean="0"/>
              <a:t>/</a:t>
            </a:r>
          </a:p>
          <a:p>
            <a:r>
              <a:rPr lang="en-US" altLang="ja-JP" sz="2000" dirty="0" smtClean="0"/>
              <a:t>    if( </a:t>
            </a:r>
            <a:r>
              <a:rPr lang="en-US" altLang="ja-JP" sz="2000" dirty="0" err="1" smtClean="0"/>
              <a:t>execl</a:t>
            </a:r>
            <a:r>
              <a:rPr lang="en-US" altLang="ja-JP" sz="2000" dirty="0" smtClean="0"/>
              <a:t>("/bin/</a:t>
            </a:r>
            <a:r>
              <a:rPr lang="en-US" altLang="ja-JP" sz="2000" dirty="0" err="1" smtClean="0"/>
              <a:t>sh</a:t>
            </a:r>
            <a:r>
              <a:rPr lang="en-US" altLang="ja-JP" sz="2000" dirty="0" smtClean="0"/>
              <a:t>",</a:t>
            </a:r>
          </a:p>
          <a:p>
            <a:r>
              <a:rPr lang="en-US" altLang="ja-JP" sz="2000" dirty="0" smtClean="0"/>
              <a:t>              "/bin/</a:t>
            </a:r>
            <a:r>
              <a:rPr lang="en-US" altLang="ja-JP" sz="2000" dirty="0" err="1" smtClean="0"/>
              <a:t>sh</a:t>
            </a:r>
            <a:r>
              <a:rPr lang="en-US" altLang="ja-JP" sz="2000" dirty="0" smtClean="0"/>
              <a:t>",</a:t>
            </a:r>
          </a:p>
          <a:p>
            <a:r>
              <a:rPr lang="en-US" altLang="ja-JP" sz="2000" dirty="0" smtClean="0"/>
              <a:t>              "-c",</a:t>
            </a:r>
          </a:p>
          <a:p>
            <a:r>
              <a:rPr lang="en-US" altLang="ja-JP" sz="2000" dirty="0" smtClean="0"/>
              <a:t>              </a:t>
            </a:r>
            <a:r>
              <a:rPr lang="en-US" altLang="ja-JP" sz="2000" dirty="0" err="1" smtClean="0"/>
              <a:t>argv</a:t>
            </a:r>
            <a:r>
              <a:rPr lang="en-US" altLang="ja-JP" sz="2000" dirty="0" smtClean="0"/>
              <a:t>[2],</a:t>
            </a:r>
          </a:p>
          <a:p>
            <a:r>
              <a:rPr lang="en-US" altLang="ja-JP" sz="2000" dirty="0" smtClean="0"/>
              <a:t>              (char *)0 ) == -1 ){</a:t>
            </a:r>
          </a:p>
          <a:p>
            <a:r>
              <a:rPr lang="en-US" altLang="ja-JP" sz="2000" dirty="0" smtClean="0"/>
              <a:t>      </a:t>
            </a:r>
            <a:r>
              <a:rPr lang="en-US" altLang="ja-JP" sz="2000" dirty="0" err="1" smtClean="0"/>
              <a:t>perror</a:t>
            </a:r>
            <a:r>
              <a:rPr lang="en-US" altLang="ja-JP" sz="2000" dirty="0" smtClean="0"/>
              <a:t>("parent: </a:t>
            </a:r>
            <a:r>
              <a:rPr lang="en-US" altLang="ja-JP" sz="2000" dirty="0" err="1" smtClean="0"/>
              <a:t>execl</a:t>
            </a:r>
            <a:r>
              <a:rPr lang="en-US" altLang="ja-JP" sz="2000" dirty="0" smtClean="0"/>
              <a:t>");</a:t>
            </a:r>
          </a:p>
          <a:p>
            <a:r>
              <a:rPr lang="en-US" altLang="ja-JP" sz="2000" dirty="0" smtClean="0"/>
              <a:t>      exit(1);</a:t>
            </a:r>
          </a:p>
          <a:p>
            <a:r>
              <a:rPr lang="en-US" altLang="ja-JP" sz="2000" dirty="0" smtClean="0"/>
              <a:t>    }</a:t>
            </a:r>
          </a:p>
          <a:p>
            <a:r>
              <a:rPr lang="en-US" altLang="ja-JP" sz="2000" dirty="0" smtClean="0"/>
              <a:t>  } </a:t>
            </a:r>
          </a:p>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
        <p:nvSpPr>
          <p:cNvPr id="6" name="テキスト ボックス 5"/>
          <p:cNvSpPr txBox="1"/>
          <p:nvPr/>
        </p:nvSpPr>
        <p:spPr>
          <a:xfrm>
            <a:off x="285720" y="5786454"/>
            <a:ext cx="3714776" cy="923330"/>
          </a:xfrm>
          <a:prstGeom prst="rect">
            <a:avLst/>
          </a:prstGeom>
          <a:noFill/>
          <a:ln>
            <a:solidFill>
              <a:schemeClr val="tx1"/>
            </a:solidFill>
          </a:ln>
        </p:spPr>
        <p:txBody>
          <a:bodyPr wrap="square" rtlCol="0">
            <a:spAutoFit/>
          </a:bodyPr>
          <a:lstStyle/>
          <a:p>
            <a:r>
              <a:rPr lang="en-US" altLang="ja-JP" dirty="0" smtClean="0"/>
              <a:t>/bin/</a:t>
            </a:r>
            <a:r>
              <a:rPr lang="en-US" altLang="ja-JP" dirty="0" err="1" smtClean="0"/>
              <a:t>sh</a:t>
            </a:r>
            <a:r>
              <a:rPr lang="ja-JP" altLang="en-US" dirty="0" smtClean="0"/>
              <a:t>を起動してその引数にコマンドを与えることにより、</a:t>
            </a:r>
            <a:r>
              <a:rPr lang="en-US" altLang="ja-JP" dirty="0" smtClean="0"/>
              <a:t>*</a:t>
            </a:r>
            <a:r>
              <a:rPr lang="ja-JP" altLang="en-US" dirty="0" smtClean="0"/>
              <a:t>の展開等がなされる。</a:t>
            </a:r>
            <a:endParaRPr lang="ja-JP"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6405CACD-6E5D-4A84-BEFF-C9F7403A22FC}" type="slidenum">
              <a:rPr lang="en-US" altLang="ja-JP" smtClean="0"/>
              <a:pPr/>
              <a:t>19</a:t>
            </a:fld>
            <a:endParaRPr lang="en-US" altLang="ja-JP" smtClean="0"/>
          </a:p>
        </p:txBody>
      </p:sp>
      <p:sp>
        <p:nvSpPr>
          <p:cNvPr id="15363" name="Rectangle 2"/>
          <p:cNvSpPr>
            <a:spLocks noGrp="1" noChangeArrowheads="1"/>
          </p:cNvSpPr>
          <p:nvPr>
            <p:ph type="title"/>
          </p:nvPr>
        </p:nvSpPr>
        <p:spPr>
          <a:xfrm>
            <a:off x="468313" y="0"/>
            <a:ext cx="8229600" cy="1143000"/>
          </a:xfrm>
        </p:spPr>
        <p:txBody>
          <a:bodyPr/>
          <a:lstStyle/>
          <a:p>
            <a:pPr eaLnBrk="1" hangingPunct="1"/>
            <a:r>
              <a:rPr lang="ja-JP" altLang="en-US" smtClean="0"/>
              <a:t>双方向パイプ</a:t>
            </a:r>
          </a:p>
        </p:txBody>
      </p:sp>
      <p:pic>
        <p:nvPicPr>
          <p:cNvPr id="15364" name="Picture 4" descr="pipe6"/>
          <p:cNvPicPr>
            <a:picLocks noChangeAspect="1" noChangeArrowheads="1"/>
          </p:cNvPicPr>
          <p:nvPr/>
        </p:nvPicPr>
        <p:blipFill>
          <a:blip r:embed="rId2" cstate="print"/>
          <a:srcRect/>
          <a:stretch>
            <a:fillRect/>
          </a:stretch>
        </p:blipFill>
        <p:spPr bwMode="auto">
          <a:xfrm>
            <a:off x="323850" y="908050"/>
            <a:ext cx="8280400" cy="51800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番号プレースホルダ 5"/>
          <p:cNvSpPr>
            <a:spLocks noGrp="1"/>
          </p:cNvSpPr>
          <p:nvPr>
            <p:ph type="sldNum" sz="quarter" idx="12"/>
          </p:nvPr>
        </p:nvSpPr>
        <p:spPr>
          <a:noFill/>
        </p:spPr>
        <p:txBody>
          <a:bodyPr/>
          <a:lstStyle/>
          <a:p>
            <a:fld id="{F7B36CA0-9C76-4831-AD00-CB67D3F67BCF}" type="slidenum">
              <a:rPr lang="en-US" altLang="ja-JP" smtClean="0"/>
              <a:pPr/>
              <a:t>20</a:t>
            </a:fld>
            <a:endParaRPr lang="en-US" altLang="ja-JP" smtClean="0"/>
          </a:p>
        </p:txBody>
      </p:sp>
      <p:sp>
        <p:nvSpPr>
          <p:cNvPr id="16387" name="Rectangle 2"/>
          <p:cNvSpPr>
            <a:spLocks noGrp="1" noChangeArrowheads="1"/>
          </p:cNvSpPr>
          <p:nvPr>
            <p:ph type="title"/>
          </p:nvPr>
        </p:nvSpPr>
        <p:spPr/>
        <p:txBody>
          <a:bodyPr/>
          <a:lstStyle/>
          <a:p>
            <a:pPr eaLnBrk="1" hangingPunct="1"/>
            <a:r>
              <a:rPr lang="ja-JP" altLang="en-US" sz="4000" smtClean="0"/>
              <a:t>双方向パイプによるプロセス間通信</a:t>
            </a:r>
          </a:p>
        </p:txBody>
      </p:sp>
      <p:sp>
        <p:nvSpPr>
          <p:cNvPr id="16388" name="Rectangle 3"/>
          <p:cNvSpPr>
            <a:spLocks noGrp="1" noChangeArrowheads="1"/>
          </p:cNvSpPr>
          <p:nvPr>
            <p:ph type="body" idx="1"/>
          </p:nvPr>
        </p:nvSpPr>
        <p:spPr/>
        <p:txBody>
          <a:bodyPr/>
          <a:lstStyle/>
          <a:p>
            <a:pPr eaLnBrk="1" hangingPunct="1"/>
            <a:r>
              <a:rPr lang="ja-JP" altLang="en-US" dirty="0" smtClean="0"/>
              <a:t>（例）新たなプロセスを生成して，子プロセスと親プロセスとの間でコマンド行から入力したメッセージ</a:t>
            </a:r>
            <a:r>
              <a:rPr lang="en-US" altLang="ja-JP" dirty="0" smtClean="0"/>
              <a:t>(</a:t>
            </a:r>
            <a:r>
              <a:rPr lang="ja-JP" altLang="en-US" dirty="0" smtClean="0"/>
              <a:t>文字列データ</a:t>
            </a:r>
            <a:r>
              <a:rPr lang="en-US" altLang="ja-JP" dirty="0" smtClean="0"/>
              <a:t>)</a:t>
            </a:r>
            <a:r>
              <a:rPr lang="ja-JP" altLang="en-US" dirty="0" smtClean="0"/>
              <a:t>を双方向にやりとり</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14290"/>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1571604" y="857232"/>
            <a:ext cx="5786478"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#define BUFSIZE 256</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fd1[2];</a:t>
            </a:r>
          </a:p>
          <a:p>
            <a:r>
              <a:rPr lang="en-US" altLang="ja-JP" sz="2000" dirty="0" smtClean="0"/>
              <a:t>  </a:t>
            </a:r>
            <a:r>
              <a:rPr lang="en-US" altLang="ja-JP" sz="2000" dirty="0" err="1" smtClean="0"/>
              <a:t>int</a:t>
            </a:r>
            <a:r>
              <a:rPr lang="en-US" altLang="ja-JP" sz="2000" dirty="0" smtClean="0"/>
              <a:t> fd2[2];</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 if(</a:t>
            </a:r>
            <a:r>
              <a:rPr lang="en-US" altLang="ja-JP" sz="2000" dirty="0" err="1" smtClean="0"/>
              <a:t>argc</a:t>
            </a:r>
            <a:r>
              <a:rPr lang="en-US" altLang="ja-JP" sz="2000" dirty="0" smtClean="0"/>
              <a:t> != 3) {</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CtoP</a:t>
            </a:r>
            <a:r>
              <a:rPr lang="en-US" altLang="ja-JP" sz="2000" dirty="0" smtClean="0"/>
              <a:t>) message(</a:t>
            </a:r>
            <a:r>
              <a:rPr lang="en-US" altLang="ja-JP" sz="2000" dirty="0" err="1" smtClean="0"/>
              <a:t>PtoC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p:txBody>
      </p:sp>
      <p:sp>
        <p:nvSpPr>
          <p:cNvPr id="5" name="正方形/長方形 4"/>
          <p:cNvSpPr/>
          <p:nvPr/>
        </p:nvSpPr>
        <p:spPr>
          <a:xfrm>
            <a:off x="4572000" y="1000108"/>
            <a:ext cx="4572000" cy="461665"/>
          </a:xfrm>
          <a:prstGeom prst="rect">
            <a:avLst/>
          </a:prstGeom>
        </p:spPr>
        <p:txBody>
          <a:bodyPr>
            <a:spAutoFit/>
          </a:bodyPr>
          <a:lstStyle/>
          <a:p>
            <a:r>
              <a:rPr lang="en-US" altLang="ja-JP" sz="2400" dirty="0" smtClean="0"/>
              <a:t> </a:t>
            </a:r>
            <a:endParaRPr lang="ja-JP"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428728" y="142852"/>
            <a:ext cx="5429288" cy="6555641"/>
          </a:xfrm>
          <a:prstGeom prst="rect">
            <a:avLst/>
          </a:prstGeom>
          <a:ln>
            <a:solidFill>
              <a:schemeClr val="tx1"/>
            </a:solidFill>
          </a:ln>
        </p:spPr>
        <p:txBody>
          <a:bodyPr wrap="square">
            <a:spAutoFit/>
          </a:bodyPr>
          <a:lstStyle/>
          <a:p>
            <a:r>
              <a:rPr lang="en-US" altLang="ja-JP" sz="2000" dirty="0" smtClean="0"/>
              <a:t> if( pipe(fd1)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a:t>
            </a:r>
          </a:p>
          <a:p>
            <a:r>
              <a:rPr lang="en-US" altLang="ja-JP" sz="2000" dirty="0" smtClean="0"/>
              <a:t>  if( pipe(fd2) == -1 ) {</a:t>
            </a:r>
          </a:p>
          <a:p>
            <a:r>
              <a:rPr lang="en-US" altLang="ja-JP" sz="2000" dirty="0" smtClean="0"/>
              <a:t>    </a:t>
            </a:r>
            <a:r>
              <a:rPr lang="en-US" altLang="ja-JP" sz="2000" dirty="0" err="1" smtClean="0"/>
              <a:t>perror</a:t>
            </a:r>
            <a:r>
              <a:rPr lang="en-US" altLang="ja-JP" sz="2000" dirty="0" smtClean="0"/>
              <a:t>("pipe");</a:t>
            </a:r>
          </a:p>
          <a:p>
            <a:r>
              <a:rPr lang="en-US" altLang="ja-JP" sz="2000" dirty="0" smtClean="0"/>
              <a:t>    exit(1);</a:t>
            </a:r>
          </a:p>
          <a:p>
            <a:r>
              <a:rPr lang="en-US" altLang="ja-JP" sz="2000" dirty="0" smtClean="0"/>
              <a:t>  } if( (</a:t>
            </a:r>
            <a:r>
              <a:rPr lang="en-US" altLang="ja-JP" sz="2000" dirty="0" err="1" smtClean="0"/>
              <a:t>pid</a:t>
            </a:r>
            <a:r>
              <a:rPr lang="en-US" altLang="ja-JP" sz="2000" dirty="0" smtClean="0"/>
              <a:t> = fork()) == 0 ) {</a:t>
            </a:r>
          </a:p>
          <a:p>
            <a:r>
              <a:rPr lang="en-US" altLang="ja-JP" sz="2000" dirty="0" smtClean="0"/>
              <a:t>    close(fd1[0]);</a:t>
            </a:r>
          </a:p>
          <a:p>
            <a:r>
              <a:rPr lang="en-US" altLang="ja-JP" sz="2000" dirty="0" smtClean="0"/>
              <a:t>    close(fd2[1]);</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write(fd1[1],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("child: write");</a:t>
            </a:r>
          </a:p>
          <a:p>
            <a:r>
              <a:rPr lang="en-US" altLang="ja-JP" sz="2000" dirty="0" smtClean="0"/>
              <a:t>      exit(1);</a:t>
            </a:r>
          </a:p>
          <a:p>
            <a:r>
              <a:rPr lang="en-US" altLang="ja-JP" sz="2000" dirty="0" smtClean="0"/>
              <a:t>    }</a:t>
            </a:r>
          </a:p>
          <a:p>
            <a:r>
              <a:rPr lang="en-US" altLang="ja-JP" sz="2000" dirty="0" smtClean="0"/>
              <a:t>    if( read(fd2[0],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("child: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parent : %s\n", </a:t>
            </a:r>
            <a:r>
              <a:rPr lang="en-US" altLang="ja-JP" sz="2000" dirty="0" err="1" smtClean="0"/>
              <a:t>buf</a:t>
            </a:r>
            <a:r>
              <a:rPr lang="en-US" altLang="ja-JP" sz="2000" dirty="0" smtClean="0"/>
              <a:t>);</a:t>
            </a:r>
          </a:p>
          <a:p>
            <a:r>
              <a:rPr lang="en-US" altLang="ja-JP" sz="2000" dirty="0" smtClean="0"/>
              <a:t>  }</a:t>
            </a:r>
            <a:endParaRPr lang="ja-JP" alt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857356" y="214290"/>
            <a:ext cx="5072098" cy="6555641"/>
          </a:xfrm>
          <a:prstGeom prst="rect">
            <a:avLst/>
          </a:prstGeom>
          <a:ln>
            <a:solidFill>
              <a:schemeClr val="tx1"/>
            </a:solidFill>
          </a:ln>
        </p:spPr>
        <p:txBody>
          <a:bodyPr wrap="square">
            <a:spAutoFit/>
          </a:bodyPr>
          <a:lstStyle/>
          <a:p>
            <a:r>
              <a:rPr lang="en-US" altLang="ja-JP" sz="2000" dirty="0" smtClean="0"/>
              <a:t> else if( </a:t>
            </a:r>
            <a:r>
              <a:rPr lang="en-US" altLang="ja-JP" sz="2000" dirty="0" err="1" smtClean="0"/>
              <a:t>pid</a:t>
            </a:r>
            <a:r>
              <a:rPr lang="en-US" altLang="ja-JP" sz="2000" dirty="0" smtClean="0"/>
              <a:t> &gt;= 1 ) {</a:t>
            </a:r>
          </a:p>
          <a:p>
            <a:r>
              <a:rPr lang="en-US" altLang="ja-JP" sz="2000" dirty="0" smtClean="0"/>
              <a:t>    close(fd1[1]);</a:t>
            </a:r>
          </a:p>
          <a:p>
            <a:r>
              <a:rPr lang="en-US" altLang="ja-JP" sz="2000" dirty="0" smtClean="0"/>
              <a:t>    close(fd2[0]);</a:t>
            </a:r>
          </a:p>
          <a:p>
            <a:r>
              <a:rPr lang="en-US" altLang="ja-JP" sz="2000" dirty="0" smtClean="0"/>
              <a:t>    if( read(fd1[0],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("parent: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("message from child : %s\n", </a:t>
            </a:r>
            <a:r>
              <a:rPr lang="en-US" altLang="ja-JP" sz="2000" dirty="0" err="1" smtClean="0"/>
              <a:t>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if(write(fd2[1], </a:t>
            </a:r>
            <a:r>
              <a:rPr lang="en-US" altLang="ja-JP" sz="2000" dirty="0" err="1" smtClean="0"/>
              <a:t>argv</a:t>
            </a:r>
            <a:r>
              <a:rPr lang="en-US" altLang="ja-JP" sz="2000" dirty="0" smtClean="0"/>
              <a:t>[2], </a:t>
            </a:r>
            <a:r>
              <a:rPr lang="en-US" altLang="ja-JP" sz="2000" dirty="0" err="1" smtClean="0"/>
              <a:t>msglen</a:t>
            </a:r>
            <a:r>
              <a:rPr lang="en-US" altLang="ja-JP" sz="2000" dirty="0" smtClean="0"/>
              <a:t>) == -1) {</a:t>
            </a:r>
          </a:p>
          <a:p>
            <a:r>
              <a:rPr lang="en-US" altLang="ja-JP" sz="2000" dirty="0" smtClean="0"/>
              <a:t>      </a:t>
            </a:r>
            <a:r>
              <a:rPr lang="en-US" altLang="ja-JP" sz="2000" dirty="0" err="1" smtClean="0"/>
              <a:t>perror</a:t>
            </a:r>
            <a:r>
              <a:rPr lang="en-US" altLang="ja-JP" sz="2000" dirty="0" smtClean="0"/>
              <a:t>("parent: write");</a:t>
            </a:r>
          </a:p>
          <a:p>
            <a:r>
              <a:rPr lang="en-US" altLang="ja-JP" sz="2000" dirty="0" smtClean="0"/>
              <a:t>      exit(1);</a:t>
            </a:r>
          </a:p>
          <a:p>
            <a:r>
              <a:rPr lang="en-US" altLang="ja-JP" sz="2000" dirty="0" smtClean="0"/>
              <a:t>    }</a:t>
            </a:r>
          </a:p>
          <a:p>
            <a:r>
              <a:rPr lang="en-US" altLang="ja-JP" sz="2000" dirty="0" smtClean="0"/>
              <a:t>    wait(&amp;status);</a:t>
            </a:r>
          </a:p>
          <a:p>
            <a:r>
              <a:rPr lang="en-US" altLang="ja-JP" sz="2000" dirty="0" smtClean="0"/>
              <a:t>  } </a:t>
            </a:r>
          </a:p>
          <a:p>
            <a:r>
              <a:rPr lang="ja-JP" altLang="en-US" sz="2000" dirty="0" smtClean="0"/>
              <a:t>  </a:t>
            </a:r>
            <a:r>
              <a:rPr lang="en-US" altLang="ja-JP" sz="2000" dirty="0" smtClean="0"/>
              <a:t>else {</a:t>
            </a:r>
          </a:p>
          <a:p>
            <a:r>
              <a:rPr lang="en-US" altLang="ja-JP" sz="2000" dirty="0" smtClean="0"/>
              <a:t>    </a:t>
            </a:r>
            <a:r>
              <a:rPr lang="en-US" altLang="ja-JP" sz="2000" dirty="0" err="1" smtClean="0"/>
              <a:t>perror</a:t>
            </a:r>
            <a:r>
              <a:rPr lang="en-US" altLang="ja-JP" sz="2000" dirty="0" smtClean="0"/>
              <a:t>("fork");</a:t>
            </a:r>
          </a:p>
          <a:p>
            <a:r>
              <a:rPr lang="en-US" altLang="ja-JP" sz="2000" dirty="0" smtClean="0"/>
              <a:t>    exit(1);</a:t>
            </a:r>
          </a:p>
          <a:p>
            <a:r>
              <a:rPr lang="en-US" altLang="ja-JP" sz="2000" dirty="0" smtClean="0"/>
              <a:t>  }</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E2BCEA9-3FD1-48C7-B270-42D4C2E4E233}" type="slidenum">
              <a:rPr lang="en-US" altLang="ja-JP" smtClean="0"/>
              <a:pPr/>
              <a:t>24</a:t>
            </a:fld>
            <a:endParaRPr lang="en-US" altLang="ja-JP" smtClean="0"/>
          </a:p>
        </p:txBody>
      </p:sp>
      <p:sp>
        <p:nvSpPr>
          <p:cNvPr id="4099" name="Rectangle 2"/>
          <p:cNvSpPr>
            <a:spLocks noGrp="1" noChangeArrowheads="1"/>
          </p:cNvSpPr>
          <p:nvPr>
            <p:ph type="title"/>
          </p:nvPr>
        </p:nvSpPr>
        <p:spPr/>
        <p:txBody>
          <a:bodyPr/>
          <a:lstStyle/>
          <a:p>
            <a:pPr eaLnBrk="1" hangingPunct="1"/>
            <a:r>
              <a:rPr lang="ja-JP" altLang="en-US" smtClean="0"/>
              <a:t>ソケットを使ったプロセス間通信</a:t>
            </a:r>
          </a:p>
        </p:txBody>
      </p:sp>
      <p:sp>
        <p:nvSpPr>
          <p:cNvPr id="4100" name="Rectangle 3"/>
          <p:cNvSpPr>
            <a:spLocks noGrp="1" noChangeArrowheads="1"/>
          </p:cNvSpPr>
          <p:nvPr>
            <p:ph type="body" idx="1"/>
          </p:nvPr>
        </p:nvSpPr>
        <p:spPr/>
        <p:txBody>
          <a:bodyPr/>
          <a:lstStyle/>
          <a:p>
            <a:pPr eaLnBrk="1" hangingPunct="1"/>
            <a:r>
              <a:rPr lang="ja-JP" altLang="en-US" dirty="0" smtClean="0"/>
              <a:t>パイプ</a:t>
            </a:r>
          </a:p>
          <a:p>
            <a:pPr lvl="1" eaLnBrk="1" hangingPunct="1"/>
            <a:r>
              <a:rPr lang="ja-JP" altLang="en-US" dirty="0" smtClean="0"/>
              <a:t>ファイル記述子を共有できる関係</a:t>
            </a:r>
          </a:p>
          <a:p>
            <a:pPr lvl="1" eaLnBrk="1" hangingPunct="1"/>
            <a:r>
              <a:rPr lang="ja-JP" altLang="en-US" dirty="0" smtClean="0"/>
              <a:t>親と子，親族プロセス間の通信</a:t>
            </a:r>
          </a:p>
          <a:p>
            <a:pPr eaLnBrk="1" hangingPunct="1"/>
            <a:r>
              <a:rPr lang="ja-JP" altLang="en-US" dirty="0" smtClean="0"/>
              <a:t>ソケット</a:t>
            </a:r>
          </a:p>
          <a:p>
            <a:pPr lvl="1" eaLnBrk="1" hangingPunct="1"/>
            <a:r>
              <a:rPr lang="ja-JP" altLang="en-US" dirty="0" smtClean="0"/>
              <a:t>関連のないプロセス間での相互通信</a:t>
            </a:r>
          </a:p>
          <a:p>
            <a:pPr lvl="1" eaLnBrk="1" hangingPunct="1"/>
            <a:r>
              <a:rPr lang="ja-JP" altLang="en-US" dirty="0" smtClean="0"/>
              <a:t>ネットワーク経由で異なる</a:t>
            </a:r>
            <a:r>
              <a:rPr lang="en-US" altLang="ja-JP" dirty="0" smtClean="0"/>
              <a:t>UNIX</a:t>
            </a:r>
            <a:r>
              <a:rPr lang="ja-JP" altLang="en-US" dirty="0" smtClean="0"/>
              <a:t>上にあるプロセス間の通信</a:t>
            </a:r>
          </a:p>
          <a:p>
            <a:pPr lvl="1" eaLnBrk="1" hangingPunct="1"/>
            <a:r>
              <a:rPr lang="ja-JP" altLang="en-US" dirty="0" smtClean="0"/>
              <a:t>ファイル記述子でアクセス（パイプと同様）</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B44E69F3-EB78-42B7-B7F4-9FED66356B44}" type="slidenum">
              <a:rPr lang="en-US" altLang="ja-JP" smtClean="0"/>
              <a:pPr/>
              <a:t>25</a:t>
            </a:fld>
            <a:endParaRPr lang="en-US" altLang="ja-JP" smtClean="0"/>
          </a:p>
        </p:txBody>
      </p:sp>
      <p:sp>
        <p:nvSpPr>
          <p:cNvPr id="5123" name="Rectangle 2"/>
          <p:cNvSpPr>
            <a:spLocks noGrp="1" noChangeArrowheads="1"/>
          </p:cNvSpPr>
          <p:nvPr>
            <p:ph type="title"/>
          </p:nvPr>
        </p:nvSpPr>
        <p:spPr/>
        <p:txBody>
          <a:bodyPr/>
          <a:lstStyle/>
          <a:p>
            <a:pPr eaLnBrk="1" hangingPunct="1"/>
            <a:r>
              <a:rPr lang="ja-JP" altLang="en-US" u="sng" smtClean="0"/>
              <a:t>用語説明</a:t>
            </a:r>
          </a:p>
        </p:txBody>
      </p:sp>
      <p:sp>
        <p:nvSpPr>
          <p:cNvPr id="5124" name="Rectangle 3"/>
          <p:cNvSpPr>
            <a:spLocks noGrp="1" noChangeArrowheads="1"/>
          </p:cNvSpPr>
          <p:nvPr>
            <p:ph type="body" idx="1"/>
          </p:nvPr>
        </p:nvSpPr>
        <p:spPr/>
        <p:txBody>
          <a:bodyPr/>
          <a:lstStyle/>
          <a:p>
            <a:pPr eaLnBrk="1" hangingPunct="1">
              <a:lnSpc>
                <a:spcPct val="90000"/>
              </a:lnSpc>
            </a:pPr>
            <a:r>
              <a:rPr lang="ja-JP" altLang="en-US" sz="2800" dirty="0" smtClean="0"/>
              <a:t>ソケット（</a:t>
            </a:r>
            <a:r>
              <a:rPr lang="en-US" altLang="ja-JP" sz="2800" dirty="0" smtClean="0"/>
              <a:t>socket</a:t>
            </a:r>
            <a:r>
              <a:rPr lang="ja-JP" altLang="en-US" sz="2800" dirty="0" smtClean="0"/>
              <a:t>）</a:t>
            </a:r>
          </a:p>
          <a:p>
            <a:pPr lvl="1" eaLnBrk="1" hangingPunct="1">
              <a:lnSpc>
                <a:spcPct val="90000"/>
              </a:lnSpc>
            </a:pPr>
            <a:r>
              <a:rPr lang="ja-JP" altLang="en-US" sz="2400" dirty="0" smtClean="0"/>
              <a:t>通信の端点，出入り口，</a:t>
            </a:r>
            <a:r>
              <a:rPr lang="en-US" altLang="ja-JP" sz="2400" dirty="0" smtClean="0"/>
              <a:t>socket()</a:t>
            </a:r>
            <a:r>
              <a:rPr lang="ja-JP" altLang="en-US" sz="2400" dirty="0" smtClean="0"/>
              <a:t>システムコールで生成</a:t>
            </a:r>
          </a:p>
          <a:p>
            <a:pPr eaLnBrk="1" hangingPunct="1">
              <a:lnSpc>
                <a:spcPct val="90000"/>
              </a:lnSpc>
            </a:pPr>
            <a:r>
              <a:rPr lang="ja-JP" altLang="en-US" sz="2800" dirty="0" smtClean="0"/>
              <a:t>バインド（</a:t>
            </a:r>
            <a:r>
              <a:rPr lang="en-US" altLang="ja-JP" sz="2800" dirty="0" smtClean="0"/>
              <a:t>bind</a:t>
            </a:r>
            <a:r>
              <a:rPr lang="ja-JP" altLang="en-US" sz="2800" dirty="0" smtClean="0"/>
              <a:t>）</a:t>
            </a:r>
          </a:p>
          <a:p>
            <a:pPr lvl="1" eaLnBrk="1" hangingPunct="1">
              <a:lnSpc>
                <a:spcPct val="90000"/>
              </a:lnSpc>
            </a:pPr>
            <a:r>
              <a:rPr lang="ja-JP" altLang="en-US" sz="2400" dirty="0" smtClean="0"/>
              <a:t>ソケットを識別するために公の名前をつける機能</a:t>
            </a:r>
          </a:p>
          <a:p>
            <a:pPr lvl="1" eaLnBrk="1" hangingPunct="1">
              <a:lnSpc>
                <a:spcPct val="90000"/>
              </a:lnSpc>
            </a:pPr>
            <a:r>
              <a:rPr lang="ja-JP" altLang="en-US" sz="2400" dirty="0" smtClean="0"/>
              <a:t>ファイル名や番号で識別</a:t>
            </a:r>
          </a:p>
          <a:p>
            <a:pPr lvl="1" eaLnBrk="1" hangingPunct="1">
              <a:lnSpc>
                <a:spcPct val="90000"/>
              </a:lnSpc>
            </a:pPr>
            <a:r>
              <a:rPr lang="ja-JP" altLang="en-US" sz="2400" dirty="0" smtClean="0"/>
              <a:t>相手ソケットを識別し，無関係の</a:t>
            </a:r>
            <a:r>
              <a:rPr lang="en-US" altLang="ja-JP" sz="2400" dirty="0" smtClean="0"/>
              <a:t>2</a:t>
            </a:r>
            <a:r>
              <a:rPr lang="ja-JP" altLang="en-US" sz="2400" dirty="0" err="1" smtClean="0"/>
              <a:t>つの</a:t>
            </a:r>
            <a:r>
              <a:rPr lang="ja-JP" altLang="en-US" sz="2400" dirty="0" smtClean="0"/>
              <a:t>ソケットを繋ぐ手段，</a:t>
            </a:r>
            <a:r>
              <a:rPr lang="en-US" altLang="ja-JP" sz="2400" dirty="0" smtClean="0"/>
              <a:t>bind()</a:t>
            </a:r>
            <a:r>
              <a:rPr lang="ja-JP" altLang="en-US" sz="2400" dirty="0" smtClean="0"/>
              <a:t>システムコール</a:t>
            </a:r>
          </a:p>
          <a:p>
            <a:pPr eaLnBrk="1" hangingPunct="1">
              <a:lnSpc>
                <a:spcPct val="90000"/>
              </a:lnSpc>
            </a:pPr>
            <a:r>
              <a:rPr lang="ja-JP" altLang="en-US" sz="2800" dirty="0" smtClean="0"/>
              <a:t>ドメイン（</a:t>
            </a:r>
            <a:r>
              <a:rPr lang="en-US" altLang="ja-JP" sz="2800" dirty="0" smtClean="0"/>
              <a:t>domain</a:t>
            </a:r>
            <a:r>
              <a:rPr lang="ja-JP" altLang="en-US" sz="2800" dirty="0" smtClean="0"/>
              <a:t>）</a:t>
            </a:r>
          </a:p>
          <a:p>
            <a:pPr lvl="1" eaLnBrk="1" hangingPunct="1">
              <a:lnSpc>
                <a:spcPct val="90000"/>
              </a:lnSpc>
            </a:pPr>
            <a:r>
              <a:rPr lang="ja-JP" altLang="en-US" sz="2400" dirty="0" smtClean="0"/>
              <a:t>ソケットの名前が通用する範囲</a:t>
            </a:r>
          </a:p>
          <a:p>
            <a:pPr lvl="1" eaLnBrk="1" hangingPunct="1">
              <a:lnSpc>
                <a:spcPct val="90000"/>
              </a:lnSpc>
            </a:pPr>
            <a:r>
              <a:rPr lang="en-US" altLang="ja-JP" sz="2400" dirty="0" smtClean="0"/>
              <a:t>UNIX</a:t>
            </a:r>
            <a:r>
              <a:rPr lang="ja-JP" altLang="en-US" sz="2400" dirty="0" smtClean="0"/>
              <a:t>ドメインと</a:t>
            </a:r>
            <a:r>
              <a:rPr lang="en-US" altLang="ja-JP" sz="2400" dirty="0" smtClean="0"/>
              <a:t>INET(Internet)</a:t>
            </a:r>
            <a:r>
              <a:rPr lang="ja-JP" altLang="en-US" sz="2400" dirty="0" smtClean="0"/>
              <a:t>ドメイン</a:t>
            </a:r>
          </a:p>
          <a:p>
            <a:pPr lvl="1" eaLnBrk="1" hangingPunct="1">
              <a:lnSpc>
                <a:spcPct val="90000"/>
              </a:lnSpc>
            </a:pPr>
            <a:endParaRPr lang="en-US" altLang="ja-JP"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F3C1AF77-968E-42C4-A183-51BF2143813E}" type="slidenum">
              <a:rPr lang="en-US" altLang="ja-JP" smtClean="0"/>
              <a:pPr/>
              <a:t>26</a:t>
            </a:fld>
            <a:endParaRPr lang="en-US" altLang="ja-JP" smtClean="0"/>
          </a:p>
        </p:txBody>
      </p:sp>
      <p:sp>
        <p:nvSpPr>
          <p:cNvPr id="6147" name="Rectangle 2"/>
          <p:cNvSpPr>
            <a:spLocks noGrp="1" noChangeArrowheads="1"/>
          </p:cNvSpPr>
          <p:nvPr>
            <p:ph type="title"/>
          </p:nvPr>
        </p:nvSpPr>
        <p:spPr/>
        <p:txBody>
          <a:bodyPr/>
          <a:lstStyle/>
          <a:p>
            <a:pPr eaLnBrk="1" hangingPunct="1"/>
            <a:r>
              <a:rPr lang="ja-JP" altLang="en-US" u="sng" smtClean="0"/>
              <a:t>ドメイン</a:t>
            </a:r>
          </a:p>
        </p:txBody>
      </p:sp>
      <p:sp>
        <p:nvSpPr>
          <p:cNvPr id="6148" name="Rectangle 3"/>
          <p:cNvSpPr>
            <a:spLocks noGrp="1" noChangeArrowheads="1"/>
          </p:cNvSpPr>
          <p:nvPr>
            <p:ph type="body" idx="1"/>
          </p:nvPr>
        </p:nvSpPr>
        <p:spPr>
          <a:xfrm>
            <a:off x="0" y="1341438"/>
            <a:ext cx="9144000" cy="5183187"/>
          </a:xfrm>
        </p:spPr>
        <p:txBody>
          <a:bodyPr/>
          <a:lstStyle/>
          <a:p>
            <a:pPr eaLnBrk="1" hangingPunct="1"/>
            <a:r>
              <a:rPr lang="en-US" altLang="ja-JP" dirty="0" smtClean="0"/>
              <a:t>UNIX</a:t>
            </a:r>
            <a:r>
              <a:rPr lang="ja-JP" altLang="en-US" dirty="0" smtClean="0"/>
              <a:t>ドメイン</a:t>
            </a:r>
          </a:p>
          <a:p>
            <a:pPr lvl="1" eaLnBrk="1" hangingPunct="1"/>
            <a:r>
              <a:rPr lang="ja-JP" altLang="en-US" dirty="0" smtClean="0"/>
              <a:t>１つの</a:t>
            </a:r>
            <a:r>
              <a:rPr lang="en-US" altLang="ja-JP" dirty="0" smtClean="0"/>
              <a:t>UNIX</a:t>
            </a:r>
            <a:r>
              <a:rPr lang="ja-JP" altLang="en-US" dirty="0" smtClean="0"/>
              <a:t>システム内のプロセス同士の通信</a:t>
            </a:r>
          </a:p>
          <a:p>
            <a:pPr lvl="1" eaLnBrk="1" hangingPunct="1"/>
            <a:r>
              <a:rPr lang="ja-JP" altLang="en-US" dirty="0" smtClean="0"/>
              <a:t>ソケットの名前：　ファイルのパス名</a:t>
            </a:r>
          </a:p>
          <a:p>
            <a:pPr lvl="1" eaLnBrk="1" hangingPunct="1"/>
            <a:r>
              <a:rPr lang="ja-JP" altLang="en-US" dirty="0" smtClean="0"/>
              <a:t>ソケット作成→新しいファイルを作成</a:t>
            </a:r>
          </a:p>
          <a:p>
            <a:pPr eaLnBrk="1" hangingPunct="1"/>
            <a:r>
              <a:rPr lang="en-US" altLang="ja-JP" dirty="0" smtClean="0"/>
              <a:t>INET(Internet)</a:t>
            </a:r>
            <a:r>
              <a:rPr lang="ja-JP" altLang="en-US" dirty="0" smtClean="0"/>
              <a:t>ドメイン</a:t>
            </a:r>
          </a:p>
          <a:p>
            <a:pPr lvl="1" eaLnBrk="1" hangingPunct="1"/>
            <a:r>
              <a:rPr lang="ja-JP" altLang="en-US" dirty="0" smtClean="0"/>
              <a:t>ネットワーク上の計算機のプロセス同士の通信</a:t>
            </a:r>
          </a:p>
          <a:p>
            <a:pPr lvl="1" eaLnBrk="1" hangingPunct="1"/>
            <a:r>
              <a:rPr lang="ja-JP" altLang="en-US" dirty="0" smtClean="0"/>
              <a:t>ソケット名：</a:t>
            </a:r>
            <a:r>
              <a:rPr lang="en-US" altLang="ja-JP" dirty="0" smtClean="0"/>
              <a:t> IP</a:t>
            </a:r>
            <a:r>
              <a:rPr lang="ja-JP" altLang="en-US" dirty="0" smtClean="0"/>
              <a:t>アドレス </a:t>
            </a:r>
            <a:r>
              <a:rPr lang="en-US" altLang="ja-JP" dirty="0" smtClean="0"/>
              <a:t>+ </a:t>
            </a:r>
            <a:r>
              <a:rPr lang="ja-JP" altLang="en-US" dirty="0" smtClean="0"/>
              <a:t>ポート番号（</a:t>
            </a:r>
            <a:r>
              <a:rPr lang="en-US" altLang="ja-JP" dirty="0" smtClean="0"/>
              <a:t>16bit</a:t>
            </a:r>
            <a:r>
              <a:rPr lang="ja-JP" altLang="en-US" dirty="0" smtClean="0"/>
              <a:t>整数）</a:t>
            </a:r>
          </a:p>
          <a:p>
            <a:pPr lvl="2" eaLnBrk="1" hangingPunct="1"/>
            <a:r>
              <a:rPr lang="en-US" altLang="ja-JP" dirty="0" smtClean="0"/>
              <a:t>Well-known port : ftp(21), telnet(23) </a:t>
            </a:r>
          </a:p>
          <a:p>
            <a:pPr lvl="2" eaLnBrk="1" hangingPunct="1">
              <a:buFontTx/>
              <a:buNone/>
            </a:pPr>
            <a:endParaRPr lang="ja-JP" alt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B6104B3-BF67-48EC-AFFD-80F543D82443}" type="slidenum">
              <a:rPr lang="en-US" altLang="ja-JP" smtClean="0"/>
              <a:pPr/>
              <a:t>27</a:t>
            </a:fld>
            <a:endParaRPr lang="en-US" altLang="ja-JP" smtClean="0"/>
          </a:p>
        </p:txBody>
      </p:sp>
      <p:sp>
        <p:nvSpPr>
          <p:cNvPr id="7171" name="Rectangle 2"/>
          <p:cNvSpPr>
            <a:spLocks noGrp="1" noChangeArrowheads="1"/>
          </p:cNvSpPr>
          <p:nvPr>
            <p:ph type="title"/>
          </p:nvPr>
        </p:nvSpPr>
        <p:spPr/>
        <p:txBody>
          <a:bodyPr/>
          <a:lstStyle/>
          <a:p>
            <a:pPr eaLnBrk="1" hangingPunct="1"/>
            <a:endParaRPr lang="ja-JP" altLang="ja-JP" smtClean="0"/>
          </a:p>
        </p:txBody>
      </p:sp>
      <p:sp>
        <p:nvSpPr>
          <p:cNvPr id="7172" name="Rectangle 3"/>
          <p:cNvSpPr>
            <a:spLocks noGrp="1" noChangeArrowheads="1"/>
          </p:cNvSpPr>
          <p:nvPr>
            <p:ph type="body" idx="1"/>
          </p:nvPr>
        </p:nvSpPr>
        <p:spPr/>
        <p:txBody>
          <a:bodyPr/>
          <a:lstStyle/>
          <a:p>
            <a:pPr eaLnBrk="1" hangingPunct="1"/>
            <a:endParaRPr lang="ja-JP" altLang="ja-JP" smtClean="0"/>
          </a:p>
        </p:txBody>
      </p:sp>
      <p:pic>
        <p:nvPicPr>
          <p:cNvPr id="7173" name="Picture 4" descr="SCAN"/>
          <p:cNvPicPr>
            <a:picLocks noChangeAspect="1" noChangeArrowheads="1"/>
          </p:cNvPicPr>
          <p:nvPr/>
        </p:nvPicPr>
        <p:blipFill>
          <a:blip r:embed="rId2" cstate="print"/>
          <a:srcRect/>
          <a:stretch>
            <a:fillRect/>
          </a:stretch>
        </p:blipFill>
        <p:spPr bwMode="auto">
          <a:xfrm>
            <a:off x="0" y="-26988"/>
            <a:ext cx="9144000" cy="6311901"/>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11E52328-2A0B-4B9B-87AE-58EA7D9A1314}" type="slidenum">
              <a:rPr lang="en-US" altLang="ja-JP" smtClean="0"/>
              <a:pPr/>
              <a:t>28</a:t>
            </a:fld>
            <a:endParaRPr lang="en-US" altLang="ja-JP" smtClean="0"/>
          </a:p>
        </p:txBody>
      </p:sp>
      <p:sp>
        <p:nvSpPr>
          <p:cNvPr id="8195" name="Rectangle 2"/>
          <p:cNvSpPr>
            <a:spLocks noGrp="1" noChangeArrowheads="1"/>
          </p:cNvSpPr>
          <p:nvPr>
            <p:ph type="title"/>
          </p:nvPr>
        </p:nvSpPr>
        <p:spPr>
          <a:xfrm>
            <a:off x="468313" y="0"/>
            <a:ext cx="8229600" cy="1143000"/>
          </a:xfrm>
        </p:spPr>
        <p:txBody>
          <a:bodyPr/>
          <a:lstStyle/>
          <a:p>
            <a:pPr eaLnBrk="1" hangingPunct="1"/>
            <a:r>
              <a:rPr lang="ja-JP" altLang="en-US" dirty="0" smtClean="0"/>
              <a:t>例（打ち込んで実行）</a:t>
            </a:r>
          </a:p>
        </p:txBody>
      </p:sp>
      <p:sp>
        <p:nvSpPr>
          <p:cNvPr id="8196" name="Rectangle 3"/>
          <p:cNvSpPr>
            <a:spLocks noGrp="1" noChangeArrowheads="1"/>
          </p:cNvSpPr>
          <p:nvPr>
            <p:ph type="body" idx="1"/>
          </p:nvPr>
        </p:nvSpPr>
        <p:spPr>
          <a:xfrm>
            <a:off x="571500" y="1214438"/>
            <a:ext cx="8072438" cy="5256212"/>
          </a:xfrm>
        </p:spPr>
        <p:txBody>
          <a:bodyPr/>
          <a:lstStyle/>
          <a:p>
            <a:pPr eaLnBrk="1" hangingPunct="1">
              <a:lnSpc>
                <a:spcPct val="90000"/>
              </a:lnSpc>
            </a:pPr>
            <a:r>
              <a:rPr lang="ja-JP" altLang="en-US" dirty="0" smtClean="0"/>
              <a:t>２つの、親子関係にはないプロセス間で、</a:t>
            </a:r>
            <a:endParaRPr lang="en-US" altLang="ja-JP" dirty="0" smtClean="0"/>
          </a:p>
          <a:p>
            <a:pPr eaLnBrk="1" hangingPunct="1">
              <a:lnSpc>
                <a:spcPct val="90000"/>
              </a:lnSpc>
              <a:buFontTx/>
              <a:buNone/>
            </a:pPr>
            <a:r>
              <a:rPr lang="ja-JP" altLang="en-US" dirty="0" smtClean="0"/>
              <a:t>メッセージのやりとりを行うプログラム。</a:t>
            </a:r>
            <a:endParaRPr lang="en-US" altLang="ja-JP" dirty="0" smtClean="0"/>
          </a:p>
          <a:p>
            <a:pPr eaLnBrk="1" hangingPunct="1">
              <a:lnSpc>
                <a:spcPct val="90000"/>
              </a:lnSpc>
              <a:buFontTx/>
              <a:buNone/>
            </a:pPr>
            <a:r>
              <a:rPr lang="ja-JP" altLang="en-US" dirty="0" smtClean="0"/>
              <a:t>サーバープログラムとクライアントプログラムを別々に作成し、実行。</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server </a:t>
            </a:r>
            <a:r>
              <a:rPr lang="en-US" altLang="ja-JP" dirty="0" err="1" smtClean="0"/>
              <a:t>unix_server.c</a:t>
            </a:r>
            <a:endParaRPr lang="en-US" altLang="ja-JP" dirty="0" smtClean="0"/>
          </a:p>
          <a:p>
            <a:pPr eaLnBrk="1" hangingPunct="1">
              <a:lnSpc>
                <a:spcPct val="90000"/>
              </a:lnSpc>
              <a:buFontTx/>
              <a:buNone/>
            </a:pPr>
            <a:r>
              <a:rPr lang="en-US" altLang="ja-JP" dirty="0" smtClean="0"/>
              <a:t>$ </a:t>
            </a:r>
            <a:r>
              <a:rPr lang="en-US" altLang="ja-JP" dirty="0" err="1" smtClean="0"/>
              <a:t>gcc</a:t>
            </a:r>
            <a:r>
              <a:rPr lang="en-US" altLang="ja-JP" dirty="0" smtClean="0"/>
              <a:t> –o client </a:t>
            </a:r>
            <a:r>
              <a:rPr lang="en-US" altLang="ja-JP" dirty="0" err="1" smtClean="0"/>
              <a:t>unix_client.c</a:t>
            </a:r>
            <a:endParaRPr lang="en-US" altLang="ja-JP" dirty="0" smtClean="0"/>
          </a:p>
          <a:p>
            <a:pPr eaLnBrk="1" hangingPunct="1">
              <a:lnSpc>
                <a:spcPct val="90000"/>
              </a:lnSpc>
              <a:buFontTx/>
              <a:buNone/>
            </a:pPr>
            <a:r>
              <a:rPr lang="en-US" altLang="ja-JP" dirty="0" smtClean="0"/>
              <a:t>$ ./server </a:t>
            </a:r>
            <a:r>
              <a:rPr lang="en-US" altLang="ja-JP" dirty="0" err="1" smtClean="0"/>
              <a:t>abc</a:t>
            </a:r>
            <a:r>
              <a:rPr lang="en-US" altLang="ja-JP" dirty="0" smtClean="0"/>
              <a:t> &amp;</a:t>
            </a:r>
          </a:p>
          <a:p>
            <a:pPr eaLnBrk="1" hangingPunct="1">
              <a:lnSpc>
                <a:spcPct val="90000"/>
              </a:lnSpc>
              <a:buFontTx/>
              <a:buNone/>
            </a:pPr>
            <a:r>
              <a:rPr lang="en-US" altLang="ja-JP" dirty="0" smtClean="0"/>
              <a:t>$ ./client def</a:t>
            </a:r>
          </a:p>
          <a:p>
            <a:pPr eaLnBrk="1" hangingPunct="1">
              <a:lnSpc>
                <a:spcPct val="90000"/>
              </a:lnSpc>
              <a:buFontTx/>
              <a:buNone/>
            </a:pPr>
            <a:r>
              <a:rPr lang="ja-JP" altLang="en-US" dirty="0" smtClean="0"/>
              <a:t>などのように実行する。</a:t>
            </a:r>
            <a:endParaRPr lang="en-US" altLang="ja-JP" dirty="0" smtClean="0"/>
          </a:p>
          <a:p>
            <a:pPr eaLnBrk="1" hangingPunct="1">
              <a:lnSpc>
                <a:spcPct val="90000"/>
              </a:lnSpc>
              <a:buFontTx/>
              <a:buNone/>
            </a:pPr>
            <a:endParaRPr lang="en-US" altLang="ja-JP"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サーバプログラム</a:t>
            </a:r>
            <a:endParaRPr kumimoji="1" lang="ja-JP" altLang="en-US" dirty="0"/>
          </a:p>
        </p:txBody>
      </p:sp>
      <p:sp>
        <p:nvSpPr>
          <p:cNvPr id="3" name="正方形/長方形 2"/>
          <p:cNvSpPr/>
          <p:nvPr/>
        </p:nvSpPr>
        <p:spPr>
          <a:xfrm>
            <a:off x="214282" y="1071546"/>
            <a:ext cx="4000528" cy="5632311"/>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client;</a:t>
            </a:r>
          </a:p>
          <a:p>
            <a:r>
              <a:rPr lang="en-US" altLang="ja-JP" sz="2000" dirty="0" smtClean="0"/>
              <a:t>  </a:t>
            </a:r>
            <a:r>
              <a:rPr lang="en-US" altLang="ja-JP" sz="2000" dirty="0" err="1" smtClean="0"/>
              <a:t>int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4" name="正方形/長方形 3"/>
          <p:cNvSpPr/>
          <p:nvPr/>
        </p:nvSpPr>
        <p:spPr>
          <a:xfrm>
            <a:off x="4429124" y="1157664"/>
            <a:ext cx="4572000" cy="5324535"/>
          </a:xfrm>
          <a:prstGeom prst="rect">
            <a:avLst/>
          </a:prstGeom>
          <a:ln>
            <a:solidFill>
              <a:schemeClr val="tx1"/>
            </a:solidFill>
          </a:ln>
        </p:spPr>
        <p:txBody>
          <a:bodyPr>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 </a:t>
            </a:r>
          </a:p>
          <a:p>
            <a:r>
              <a:rPr lang="ja-JP" altLang="en-US" sz="2000" dirty="0" smtClean="0"/>
              <a:t>                        </a:t>
            </a:r>
            <a:r>
              <a:rPr lang="en-US" altLang="ja-JP" sz="2000" dirty="0" smtClean="0"/>
              <a:t>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p>
          <a:p>
            <a:r>
              <a:rPr lang="en-US" altLang="ja-JP" sz="2000" dirty="0" smtClean="0"/>
              <a:t>  unlink(SERVER_SOCKET);</a:t>
            </a:r>
            <a:endParaRPr lang="ja-JP"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14282" y="785794"/>
            <a:ext cx="4214842" cy="5632311"/>
          </a:xfrm>
          <a:prstGeom prst="rect">
            <a:avLst/>
          </a:prstGeom>
          <a:ln>
            <a:solidFill>
              <a:schemeClr val="tx1"/>
            </a:solidFill>
          </a:ln>
        </p:spPr>
        <p:txBody>
          <a:bodyPr wrap="square">
            <a:spAutoFit/>
          </a:bodyPr>
          <a:lstStyle/>
          <a:p>
            <a:r>
              <a:rPr lang="en-US" altLang="ja-JP" sz="2000" dirty="0" smtClean="0"/>
              <a:t> if( bind(</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*)&amp;client, </a:t>
            </a:r>
            <a:r>
              <a:rPr lang="en-US" altLang="ja-JP" sz="2000" dirty="0" err="1" smtClean="0"/>
              <a:t>sizeof</a:t>
            </a:r>
            <a:r>
              <a:rPr lang="en-US" altLang="ja-JP" sz="2000" dirty="0" smtClean="0"/>
              <a:t>(client));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4786314" y="928670"/>
            <a:ext cx="3929090" cy="4801314"/>
          </a:xfrm>
          <a:prstGeom prst="rect">
            <a:avLst/>
          </a:prstGeom>
          <a:ln>
            <a:solidFill>
              <a:schemeClr val="tx1"/>
            </a:solidFill>
          </a:ln>
        </p:spPr>
        <p:txBody>
          <a:bodyPr wrap="square">
            <a:spAutoFit/>
          </a:bodyPr>
          <a:lstStyle/>
          <a:p>
            <a:r>
              <a:rPr lang="en-US" altLang="ja-JP" dirty="0" smtClean="0"/>
              <a:t>  </a:t>
            </a:r>
            <a:r>
              <a:rPr lang="en-US" altLang="ja-JP" dirty="0" err="1" smtClean="0"/>
              <a:t>printf</a:t>
            </a:r>
            <a:r>
              <a:rPr lang="en-US" altLang="ja-JP" dirty="0" smtClean="0"/>
              <a:t>("\</a:t>
            </a:r>
            <a:r>
              <a:rPr lang="en-US" altLang="ja-JP" dirty="0" err="1" smtClean="0"/>
              <a:t>nconnect</a:t>
            </a:r>
            <a:r>
              <a:rPr lang="en-US" altLang="ja-JP" dirty="0" smtClean="0"/>
              <a:t> request from: %s\n",</a:t>
            </a:r>
          </a:p>
          <a:p>
            <a:r>
              <a:rPr lang="en-US" altLang="ja-JP" dirty="0" smtClean="0"/>
              <a:t>             </a:t>
            </a:r>
            <a:r>
              <a:rPr lang="en-US" altLang="ja-JP" dirty="0" err="1" smtClean="0"/>
              <a:t>client.sun_path</a:t>
            </a:r>
            <a:r>
              <a:rPr lang="en-US" altLang="ja-JP" dirty="0" smtClean="0"/>
              <a:t>);</a:t>
            </a:r>
          </a:p>
          <a:p>
            <a:r>
              <a:rPr lang="en-US" altLang="ja-JP" dirty="0" smtClean="0"/>
              <a:t>  if( read(ns, </a:t>
            </a:r>
            <a:r>
              <a:rPr lang="en-US" altLang="ja-JP" dirty="0" err="1" smtClean="0"/>
              <a:t>buf</a:t>
            </a:r>
            <a:r>
              <a:rPr lang="en-US" altLang="ja-JP" dirty="0" smtClean="0"/>
              <a:t>, BUFSIZE) == -1 ) {</a:t>
            </a:r>
          </a:p>
          <a:p>
            <a:r>
              <a:rPr lang="en-US" altLang="ja-JP" dirty="0" smtClean="0"/>
              <a:t>    </a:t>
            </a:r>
            <a:r>
              <a:rPr lang="en-US" altLang="ja-JP" dirty="0" err="1" smtClean="0"/>
              <a:t>perror</a:t>
            </a:r>
            <a:r>
              <a:rPr lang="en-US" altLang="ja-JP" dirty="0" smtClean="0"/>
              <a:t>("server: read");</a:t>
            </a:r>
          </a:p>
          <a:p>
            <a:r>
              <a:rPr lang="en-US" altLang="ja-JP" dirty="0" smtClean="0"/>
              <a:t>    exit(1);</a:t>
            </a:r>
          </a:p>
          <a:p>
            <a:r>
              <a:rPr lang="en-US" altLang="ja-JP" dirty="0" smtClean="0"/>
              <a:t>  }</a:t>
            </a:r>
          </a:p>
          <a:p>
            <a:r>
              <a:rPr lang="en-US" altLang="ja-JP" dirty="0" smtClean="0"/>
              <a:t>  </a:t>
            </a:r>
            <a:r>
              <a:rPr lang="en-US" altLang="ja-JP" dirty="0" err="1" smtClean="0"/>
              <a:t>printf</a:t>
            </a:r>
            <a:r>
              <a:rPr lang="en-US" altLang="ja-JP" dirty="0" smtClean="0"/>
              <a:t>("\n&lt;SERVER&gt; message from client  :  %s\</a:t>
            </a:r>
            <a:r>
              <a:rPr lang="en-US" altLang="ja-JP" dirty="0" err="1" smtClean="0"/>
              <a:t>n",buf</a:t>
            </a:r>
            <a:r>
              <a:rPr lang="en-US" altLang="ja-JP" dirty="0" smtClean="0"/>
              <a:t>);</a:t>
            </a:r>
          </a:p>
          <a:p>
            <a:r>
              <a:rPr lang="en-US" altLang="ja-JP" dirty="0" smtClean="0"/>
              <a:t>  </a:t>
            </a:r>
            <a:r>
              <a:rPr lang="en-US" altLang="ja-JP" dirty="0" err="1" smtClean="0"/>
              <a:t>msglen</a:t>
            </a:r>
            <a:r>
              <a:rPr lang="en-US" altLang="ja-JP" dirty="0" smtClean="0"/>
              <a:t> = </a:t>
            </a:r>
            <a:r>
              <a:rPr lang="en-US" altLang="ja-JP" dirty="0" err="1" smtClean="0"/>
              <a:t>strlen</a:t>
            </a:r>
            <a:r>
              <a:rPr lang="en-US" altLang="ja-JP" dirty="0" smtClean="0"/>
              <a:t>(</a:t>
            </a:r>
            <a:r>
              <a:rPr lang="en-US" altLang="ja-JP" dirty="0" err="1" smtClean="0"/>
              <a:t>argv</a:t>
            </a:r>
            <a:r>
              <a:rPr lang="en-US" altLang="ja-JP" dirty="0" smtClean="0"/>
              <a:t>[1]) + 1;</a:t>
            </a:r>
          </a:p>
          <a:p>
            <a:r>
              <a:rPr lang="en-US" altLang="ja-JP" dirty="0" smtClean="0"/>
              <a:t>  if( write(ns, </a:t>
            </a:r>
            <a:r>
              <a:rPr lang="en-US" altLang="ja-JP" dirty="0" err="1" smtClean="0"/>
              <a:t>argv</a:t>
            </a:r>
            <a:r>
              <a:rPr lang="en-US" altLang="ja-JP" dirty="0" smtClean="0"/>
              <a:t>[1], </a:t>
            </a:r>
            <a:r>
              <a:rPr lang="en-US" altLang="ja-JP" dirty="0" err="1" smtClean="0"/>
              <a:t>msglen</a:t>
            </a:r>
            <a:r>
              <a:rPr lang="en-US" altLang="ja-JP" dirty="0" smtClean="0"/>
              <a:t>) == -1 ) {</a:t>
            </a:r>
          </a:p>
          <a:p>
            <a:r>
              <a:rPr lang="en-US" altLang="ja-JP" dirty="0" smtClean="0"/>
              <a:t>    </a:t>
            </a:r>
            <a:r>
              <a:rPr lang="en-US" altLang="ja-JP" dirty="0" err="1" smtClean="0"/>
              <a:t>perror</a:t>
            </a:r>
            <a:r>
              <a:rPr lang="en-US" altLang="ja-JP" dirty="0" smtClean="0"/>
              <a:t>("server: write");</a:t>
            </a:r>
          </a:p>
          <a:p>
            <a:r>
              <a:rPr lang="en-US" altLang="ja-JP" dirty="0" smtClean="0"/>
              <a:t>    exit(1);</a:t>
            </a:r>
          </a:p>
          <a:p>
            <a:r>
              <a:rPr lang="en-US" altLang="ja-JP" dirty="0" smtClean="0"/>
              <a:t>  }</a:t>
            </a:r>
          </a:p>
          <a:p>
            <a:r>
              <a:rPr lang="en-US" altLang="ja-JP" dirty="0" smtClean="0"/>
              <a:t>  close(ns);</a:t>
            </a:r>
          </a:p>
          <a:p>
            <a:r>
              <a:rPr lang="en-US" altLang="ja-JP" dirty="0" smtClean="0"/>
              <a:t>  close(</a:t>
            </a:r>
            <a:r>
              <a:rPr lang="en-US" altLang="ja-JP" dirty="0" err="1" smtClean="0"/>
              <a:t>sockfd</a:t>
            </a:r>
            <a:r>
              <a:rPr lang="en-US" altLang="ja-JP" dirty="0" smtClean="0"/>
              <a:t>);</a:t>
            </a:r>
          </a:p>
          <a:p>
            <a:r>
              <a:rPr lang="en-US" altLang="ja-JP" dirty="0" smtClean="0"/>
              <a:t>  exit(0);</a:t>
            </a:r>
          </a:p>
          <a:p>
            <a:r>
              <a:rPr lang="en-US" altLang="ja-JP" dirty="0" smtClean="0"/>
              <a:t>}</a:t>
            </a:r>
            <a:endParaRPr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4471990" cy="654032"/>
          </a:xfrm>
        </p:spPr>
        <p:txBody>
          <a:bodyPr>
            <a:normAutofit/>
          </a:bodyPr>
          <a:lstStyle/>
          <a:p>
            <a:r>
              <a:rPr kumimoji="1" lang="ja-JP" altLang="en-US" sz="3600" dirty="0" smtClean="0"/>
              <a:t>クライアントプログラム</a:t>
            </a:r>
            <a:endParaRPr kumimoji="1" lang="ja-JP" altLang="en-US" sz="3600" dirty="0"/>
          </a:p>
        </p:txBody>
      </p:sp>
      <p:sp>
        <p:nvSpPr>
          <p:cNvPr id="4" name="正方形/長方形 3"/>
          <p:cNvSpPr/>
          <p:nvPr/>
        </p:nvSpPr>
        <p:spPr>
          <a:xfrm>
            <a:off x="285720" y="1428736"/>
            <a:ext cx="4214842" cy="4678204"/>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un.h</a:t>
            </a:r>
            <a:r>
              <a:rPr lang="en-US" altLang="ja-JP" sz="2000" dirty="0" smtClean="0"/>
              <a:t>&gt;</a:t>
            </a:r>
          </a:p>
          <a:p>
            <a:r>
              <a:rPr lang="en-US" altLang="ja-JP" sz="2000" dirty="0" smtClean="0"/>
              <a:t>#define     BUFSIZE       256</a:t>
            </a:r>
          </a:p>
          <a:p>
            <a:r>
              <a:rPr lang="en-US" altLang="ja-JP" sz="2000" dirty="0" smtClean="0"/>
              <a:t>#define     SERVER_SOCKET "</a:t>
            </a:r>
            <a:r>
              <a:rPr lang="en-US" altLang="ja-JP" sz="2000" dirty="0" err="1" smtClean="0"/>
              <a:t>mysocket</a:t>
            </a:r>
            <a:r>
              <a:rPr lang="en-US" altLang="ja-JP" sz="2000" dirty="0" smtClean="0"/>
              <a:t>"</a:t>
            </a:r>
          </a:p>
          <a:p>
            <a:endParaRPr lang="en-US" altLang="ja-JP" sz="2000" dirty="0" smtClean="0"/>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sockaddr_un</a:t>
            </a:r>
            <a:r>
              <a:rPr lang="en-US" altLang="ja-JP" sz="2000" dirty="0" smtClean="0"/>
              <a:t> server;</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endParaRPr lang="en-US" altLang="ja-JP" sz="2000" dirty="0"/>
          </a:p>
        </p:txBody>
      </p:sp>
      <p:sp>
        <p:nvSpPr>
          <p:cNvPr id="5" name="正方形/長方形 4"/>
          <p:cNvSpPr/>
          <p:nvPr/>
        </p:nvSpPr>
        <p:spPr>
          <a:xfrm>
            <a:off x="4643438" y="1082837"/>
            <a:ext cx="4357718" cy="5324535"/>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socket(PF_UNIX,</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("client: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server.sun_family</a:t>
            </a:r>
            <a:r>
              <a:rPr lang="en-US" altLang="ja-JP" sz="2000" dirty="0" smtClean="0"/>
              <a:t> = PF_UNIX;</a:t>
            </a:r>
          </a:p>
          <a:p>
            <a:r>
              <a:rPr lang="en-US" altLang="ja-JP" sz="2000" dirty="0" smtClean="0"/>
              <a:t>  </a:t>
            </a:r>
            <a:r>
              <a:rPr lang="en-US" altLang="ja-JP" sz="2000" dirty="0" err="1" smtClean="0"/>
              <a:t>bcopy</a:t>
            </a:r>
            <a:r>
              <a:rPr lang="en-US" altLang="ja-JP" sz="2000" dirty="0" smtClean="0"/>
              <a:t>(SERVER_SOCKET,</a:t>
            </a:r>
          </a:p>
          <a:p>
            <a:r>
              <a:rPr lang="en-US" altLang="ja-JP" sz="2000" dirty="0" smtClean="0"/>
              <a:t>        </a:t>
            </a:r>
            <a:r>
              <a:rPr lang="en-US" altLang="ja-JP" sz="2000" dirty="0" err="1" smtClean="0"/>
              <a:t>server.sun_path</a:t>
            </a:r>
            <a:r>
              <a:rPr lang="en-US" altLang="ja-JP" sz="2000" dirty="0" smtClean="0"/>
              <a:t>,</a:t>
            </a:r>
          </a:p>
          <a:p>
            <a:r>
              <a:rPr lang="en-US" altLang="ja-JP" sz="2000" dirty="0" smtClean="0"/>
              <a:t>        </a:t>
            </a:r>
            <a:r>
              <a:rPr lang="en-US" altLang="ja-JP" sz="2000" dirty="0" err="1" smtClean="0"/>
              <a:t>sizeof</a:t>
            </a:r>
            <a:r>
              <a:rPr lang="en-US" altLang="ja-JP" sz="2000" dirty="0" smtClean="0"/>
              <a:t>(SERVER_SOCKET));</a:t>
            </a:r>
            <a:endParaRPr lang="ja-JP"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428728" y="428604"/>
            <a:ext cx="5857916" cy="5940088"/>
          </a:xfrm>
          <a:prstGeom prst="rect">
            <a:avLst/>
          </a:prstGeom>
          <a:ln>
            <a:solidFill>
              <a:schemeClr val="tx1"/>
            </a:solidFill>
          </a:ln>
        </p:spPr>
        <p:txBody>
          <a:bodyPr wrap="square">
            <a:spAutoFit/>
          </a:bodyPr>
          <a:lstStyle/>
          <a:p>
            <a:r>
              <a:rPr lang="en-US" altLang="ja-JP" sz="2000" dirty="0" smtClean="0"/>
              <a:t> if( connect(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a:t>
            </a:r>
          </a:p>
          <a:p>
            <a:r>
              <a:rPr lang="en-US" altLang="ja-JP" sz="2000" dirty="0" smtClean="0"/>
              <a:t>    </a:t>
            </a:r>
            <a:r>
              <a:rPr lang="en-US" altLang="ja-JP" sz="2000" dirty="0" err="1" smtClean="0"/>
              <a:t>perror</a:t>
            </a:r>
            <a:r>
              <a:rPr lang="en-US" altLang="ja-JP" sz="2000" dirty="0" smtClean="0"/>
              <a:t>("client: connect");</a:t>
            </a:r>
          </a:p>
          <a:p>
            <a:r>
              <a:rPr lang="en-US" altLang="ja-JP" sz="2000" dirty="0" smtClean="0"/>
              <a:t>    exit(1);</a:t>
            </a:r>
          </a:p>
          <a:p>
            <a:r>
              <a:rPr lang="en-US" altLang="ja-JP" sz="2000" dirty="0" smtClean="0"/>
              <a:t>  }</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 + 1;</a:t>
            </a:r>
          </a:p>
          <a:p>
            <a:r>
              <a:rPr lang="en-US" altLang="ja-JP" sz="2000" dirty="0" smtClean="0"/>
              <a:t>  if( write(</a:t>
            </a:r>
            <a:r>
              <a:rPr lang="en-US" altLang="ja-JP" sz="2000" dirty="0" err="1" smtClean="0"/>
              <a:t>sockfd</a:t>
            </a:r>
            <a:r>
              <a:rPr lang="en-US" altLang="ja-JP" sz="2000" dirty="0" smtClean="0"/>
              <a:t>, </a:t>
            </a:r>
            <a:r>
              <a:rPr lang="en-US" altLang="ja-JP" sz="2000" dirty="0" err="1" smtClean="0"/>
              <a:t>argv</a:t>
            </a:r>
            <a:r>
              <a:rPr lang="en-US" altLang="ja-JP" sz="2000" dirty="0" smtClean="0"/>
              <a:t>[1], </a:t>
            </a:r>
            <a:r>
              <a:rPr lang="en-US" altLang="ja-JP" sz="2000" dirty="0" err="1" smtClean="0"/>
              <a:t>msglen</a:t>
            </a:r>
            <a:r>
              <a:rPr lang="en-US" altLang="ja-JP" sz="2000" dirty="0" smtClean="0"/>
              <a:t>) == -1 ) {</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buf,BUFSIZE</a:t>
            </a:r>
            <a:r>
              <a:rPr lang="en-US" altLang="ja-JP" sz="2000" dirty="0" smtClean="0"/>
              <a:t>) == -1 ) {</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 </a:t>
            </a:r>
            <a:r>
              <a:rPr lang="en-US" altLang="ja-JP" sz="2000" dirty="0" err="1" smtClean="0"/>
              <a:t>printf</a:t>
            </a:r>
            <a:r>
              <a:rPr lang="en-US" altLang="ja-JP" sz="2000" dirty="0" smtClean="0"/>
              <a:t>("\n&lt;CLIENT&gt; message from server : %s\n\n",</a:t>
            </a:r>
          </a:p>
          <a:p>
            <a:r>
              <a:rPr lang="en-US" altLang="ja-JP" sz="2000" dirty="0" smtClean="0"/>
              <a:t>         </a:t>
            </a:r>
            <a:r>
              <a:rPr lang="en-US" altLang="ja-JP" sz="2000" dirty="0" err="1" smtClean="0"/>
              <a:t>buf</a:t>
            </a:r>
            <a:r>
              <a:rPr lang="en-US" altLang="ja-JP" sz="2000" dirty="0" smtClean="0"/>
              <a:t>); </a:t>
            </a:r>
          </a:p>
          <a:p>
            <a:r>
              <a:rPr lang="ja-JP" altLang="en-US" sz="2000" dirty="0" smtClean="0"/>
              <a:t>  </a:t>
            </a:r>
            <a:r>
              <a:rPr lang="en-US" altLang="ja-JP" sz="2000" dirty="0" smtClean="0"/>
              <a:t>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2095</Words>
  <Application>Microsoft Office PowerPoint</Application>
  <PresentationFormat>画面に合わせる (4:3)</PresentationFormat>
  <Paragraphs>402</Paragraphs>
  <Slides>32</Slides>
  <Notes>0</Notes>
  <HiddenSlides>0</HiddenSlides>
  <MMClips>0</MMClips>
  <ScaleCrop>false</ScaleCrop>
  <HeadingPairs>
    <vt:vector size="4" baseType="variant">
      <vt:variant>
        <vt:lpstr>テーマ</vt:lpstr>
      </vt:variant>
      <vt:variant>
        <vt:i4>1</vt:i4>
      </vt:variant>
      <vt:variant>
        <vt:lpstr>スライド タイトル</vt:lpstr>
      </vt:variant>
      <vt:variant>
        <vt:i4>32</vt:i4>
      </vt:variant>
    </vt:vector>
  </HeadingPairs>
  <TitlesOfParts>
    <vt:vector size="33" baseType="lpstr">
      <vt:lpstr>Office テーマ</vt:lpstr>
      <vt:lpstr>システムプログラミング</vt:lpstr>
      <vt:lpstr>今回の内容</vt:lpstr>
      <vt:lpstr>プロセス間通信 （IPC:Inter Process Communication）</vt:lpstr>
      <vt:lpstr>UNIXでのプロセス間通信の機構</vt:lpstr>
      <vt:lpstr>パイプとは？</vt:lpstr>
      <vt:lpstr>パイプにおけるファイル記述子の共有</vt:lpstr>
      <vt:lpstr>単方向パイプ</vt:lpstr>
      <vt:lpstr>双方向パイプ</vt:lpstr>
      <vt:lpstr>パイプの作成</vt:lpstr>
      <vt:lpstr>単方向パイプとファイル記述子</vt:lpstr>
      <vt:lpstr>単方向パイプによるプロセス間通信</vt:lpstr>
      <vt:lpstr>例（打ち込んで確認）</vt:lpstr>
      <vt:lpstr>スライド 13</vt:lpstr>
      <vt:lpstr>演習課題</vt:lpstr>
      <vt:lpstr>単方向パイプによる シェルのパイプ機能の実現</vt:lpstr>
      <vt:lpstr>dupシステムコール</vt:lpstr>
      <vt:lpstr>例（入力して確認）</vt:lpstr>
      <vt:lpstr>続き</vt:lpstr>
      <vt:lpstr>双方向パイプ</vt:lpstr>
      <vt:lpstr>双方向パイプによるプロセス間通信</vt:lpstr>
      <vt:lpstr>例（打ち込んで確認）</vt:lpstr>
      <vt:lpstr>スライド 22</vt:lpstr>
      <vt:lpstr>スライド 23</vt:lpstr>
      <vt:lpstr>ソケットを使ったプロセス間通信</vt:lpstr>
      <vt:lpstr>用語説明</vt:lpstr>
      <vt:lpstr>ドメイン</vt:lpstr>
      <vt:lpstr>スライド 27</vt:lpstr>
      <vt:lpstr>例（打ち込んで実行）</vt:lpstr>
      <vt:lpstr>サーバプログラム</vt:lpstr>
      <vt:lpstr>スライド 30</vt:lpstr>
      <vt:lpstr>クライアントプログラム</vt:lpstr>
      <vt:lpstr>スライド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94</cp:revision>
  <dcterms:created xsi:type="dcterms:W3CDTF">2009-12-08T02:11:05Z</dcterms:created>
  <dcterms:modified xsi:type="dcterms:W3CDTF">2009-12-15T03:56:37Z</dcterms:modified>
</cp:coreProperties>
</file>