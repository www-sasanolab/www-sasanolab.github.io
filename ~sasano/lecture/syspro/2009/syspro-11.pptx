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6" r:id="rId10"/>
    <p:sldId id="280" r:id="rId11"/>
    <p:sldId id="268" r:id="rId12"/>
    <p:sldId id="269" r:id="rId13"/>
    <p:sldId id="270" r:id="rId14"/>
    <p:sldId id="274" r:id="rId15"/>
    <p:sldId id="275" r:id="rId16"/>
    <p:sldId id="278" r:id="rId17"/>
    <p:sldId id="279" r:id="rId18"/>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2009/12/8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システムプログラミング</a:t>
            </a:r>
            <a:endParaRPr kumimoji="1" lang="ja-JP" altLang="en-US" dirty="0"/>
          </a:p>
        </p:txBody>
      </p:sp>
      <p:sp>
        <p:nvSpPr>
          <p:cNvPr id="4" name="テキスト ボックス 3"/>
          <p:cNvSpPr txBox="1"/>
          <p:nvPr/>
        </p:nvSpPr>
        <p:spPr>
          <a:xfrm>
            <a:off x="2928926" y="3571876"/>
            <a:ext cx="2989921" cy="523220"/>
          </a:xfrm>
          <a:prstGeom prst="rect">
            <a:avLst/>
          </a:prstGeom>
          <a:noFill/>
        </p:spPr>
        <p:txBody>
          <a:bodyPr wrap="none" rtlCol="0">
            <a:spAutoFit/>
          </a:bodyPr>
          <a:lstStyle/>
          <a:p>
            <a:r>
              <a:rPr kumimoji="1" lang="ja-JP" altLang="en-US" sz="2800" dirty="0" smtClean="0"/>
              <a:t>第１１回　シグナル</a:t>
            </a:r>
            <a:endParaRPr kumimoji="1" lang="ja-JP" altLang="en-US" sz="2800" dirty="0"/>
          </a:p>
        </p:txBody>
      </p:sp>
      <p:sp>
        <p:nvSpPr>
          <p:cNvPr id="5" name="テキスト ボックス 4"/>
          <p:cNvSpPr txBox="1"/>
          <p:nvPr/>
        </p:nvSpPr>
        <p:spPr>
          <a:xfrm>
            <a:off x="2571736" y="5072074"/>
            <a:ext cx="3773790"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a:t>
            </a:r>
            <a:r>
              <a:rPr kumimoji="1" lang="ja-JP" altLang="en-US" dirty="0" smtClean="0"/>
              <a:t>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プロセス間通信</a:t>
            </a:r>
            <a:endParaRPr kumimoji="1" lang="en-US" altLang="ja-JP" dirty="0" smtClean="0"/>
          </a:p>
          <a:p>
            <a:pPr lvl="1"/>
            <a:r>
              <a:rPr lang="ja-JP" altLang="en-US" dirty="0" smtClean="0"/>
              <a:t>シグナルの送信 </a:t>
            </a:r>
            <a:r>
              <a:rPr lang="en-US" altLang="ja-JP" dirty="0" smtClean="0"/>
              <a:t>--- </a:t>
            </a:r>
            <a:r>
              <a:rPr lang="ja-JP" altLang="en-US" dirty="0" smtClean="0"/>
              <a:t>今回の内容</a:t>
            </a:r>
            <a:endParaRPr kumimoji="1" lang="en-US" altLang="ja-JP" dirty="0" smtClean="0"/>
          </a:p>
          <a:p>
            <a:pPr lvl="1"/>
            <a:r>
              <a:rPr lang="ja-JP" altLang="en-US" dirty="0" smtClean="0"/>
              <a:t>パイプによる通信</a:t>
            </a:r>
            <a:endParaRPr lang="en-US" altLang="ja-JP" dirty="0" smtClean="0"/>
          </a:p>
          <a:p>
            <a:pPr lvl="1"/>
            <a:r>
              <a:rPr kumimoji="1" lang="ja-JP" altLang="en-US" dirty="0" smtClean="0"/>
              <a:t>ソケットによる通信</a:t>
            </a:r>
            <a:endParaRPr kumimoji="1" lang="en-US" altLang="ja-JP" dirty="0" smtClean="0"/>
          </a:p>
          <a:p>
            <a:endParaRPr kumimoji="1"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前回の補足</a:t>
            </a:r>
            <a:endParaRPr kumimoji="1" lang="ja-JP" altLang="en-US" dirty="0"/>
          </a:p>
        </p:txBody>
      </p:sp>
      <p:sp>
        <p:nvSpPr>
          <p:cNvPr id="3" name="コンテンツ プレースホルダ 2"/>
          <p:cNvSpPr>
            <a:spLocks noGrp="1"/>
          </p:cNvSpPr>
          <p:nvPr>
            <p:ph idx="1"/>
          </p:nvPr>
        </p:nvSpPr>
        <p:spPr/>
        <p:txBody>
          <a:bodyPr>
            <a:normAutofit fontScale="92500"/>
          </a:bodyPr>
          <a:lstStyle/>
          <a:p>
            <a:r>
              <a:rPr lang="en-US" altLang="ja-JP" dirty="0" smtClean="0"/>
              <a:t>e</a:t>
            </a:r>
            <a:r>
              <a:rPr kumimoji="1" lang="en-US" altLang="ja-JP" dirty="0" smtClean="0"/>
              <a:t>xit</a:t>
            </a:r>
            <a:r>
              <a:rPr kumimoji="1" lang="ja-JP" altLang="en-US" dirty="0" smtClean="0"/>
              <a:t>システムコール</a:t>
            </a:r>
            <a:endParaRPr kumimoji="1" lang="en-US" altLang="ja-JP" dirty="0" smtClean="0"/>
          </a:p>
          <a:p>
            <a:pPr lvl="1"/>
            <a:r>
              <a:rPr lang="en-US" altLang="ja-JP" dirty="0" smtClean="0"/>
              <a:t>exit</a:t>
            </a:r>
            <a:r>
              <a:rPr lang="ja-JP" altLang="en-US" dirty="0" smtClean="0"/>
              <a:t>システムコールは、</a:t>
            </a:r>
            <a:r>
              <a:rPr lang="en-US" altLang="ja-JP" dirty="0" smtClean="0"/>
              <a:t>exit</a:t>
            </a:r>
            <a:r>
              <a:rPr lang="ja-JP" altLang="en-US" dirty="0" smtClean="0"/>
              <a:t>システムコールを呼び出したプロセスを終了させ、ゾンビ状態にする。</a:t>
            </a:r>
            <a:endParaRPr lang="en-US" altLang="ja-JP" dirty="0" smtClean="0"/>
          </a:p>
          <a:p>
            <a:pPr lvl="1"/>
            <a:r>
              <a:rPr lang="ja-JP" altLang="en-US" dirty="0" smtClean="0"/>
              <a:t>引数に受け取った数を終了</a:t>
            </a:r>
            <a:r>
              <a:rPr lang="en-US" altLang="ja-JP" dirty="0" smtClean="0"/>
              <a:t>status</a:t>
            </a:r>
            <a:r>
              <a:rPr lang="ja-JP" altLang="en-US" dirty="0" smtClean="0"/>
              <a:t>とし、</a:t>
            </a:r>
            <a:r>
              <a:rPr lang="en-US" altLang="ja-JP" dirty="0" smtClean="0"/>
              <a:t>wait</a:t>
            </a:r>
            <a:r>
              <a:rPr lang="ja-JP" altLang="en-US" dirty="0" smtClean="0"/>
              <a:t>システムコールの引数（</a:t>
            </a:r>
            <a:r>
              <a:rPr lang="en-US" altLang="ja-JP" dirty="0" err="1" smtClean="0"/>
              <a:t>int</a:t>
            </a:r>
            <a:r>
              <a:rPr lang="ja-JP" altLang="en-US" dirty="0" smtClean="0"/>
              <a:t>型へのポインタが渡される）にその情報が格納される。</a:t>
            </a:r>
            <a:endParaRPr lang="en-US" altLang="ja-JP" dirty="0" smtClean="0"/>
          </a:p>
          <a:p>
            <a:pPr lvl="1"/>
            <a:r>
              <a:rPr kumimoji="1" lang="ja-JP" altLang="en-US" dirty="0" smtClean="0"/>
              <a:t>ゾンビ状態のプロセスは、そのプロセスの親プロセスが</a:t>
            </a:r>
            <a:r>
              <a:rPr kumimoji="1" lang="en-US" altLang="ja-JP" dirty="0" smtClean="0"/>
              <a:t>wait</a:t>
            </a:r>
            <a:r>
              <a:rPr kumimoji="1" lang="ja-JP" altLang="en-US" dirty="0" smtClean="0"/>
              <a:t>システムコールを呼ぶことにより消滅する。</a:t>
            </a:r>
            <a:endParaRPr kumimoji="1" lang="en-US" altLang="ja-JP" dirty="0" smtClean="0"/>
          </a:p>
          <a:p>
            <a:pPr lvl="1"/>
            <a:r>
              <a:rPr lang="ja-JP" altLang="en-US" dirty="0" smtClean="0"/>
              <a:t>通常は親プロセスが</a:t>
            </a:r>
            <a:r>
              <a:rPr lang="en-US" altLang="ja-JP" dirty="0" smtClean="0"/>
              <a:t>wait</a:t>
            </a:r>
            <a:r>
              <a:rPr lang="ja-JP" altLang="en-US" dirty="0" smtClean="0"/>
              <a:t>システムコールを呼んでいるので、瞬時にゾンビ状態は消滅する。</a:t>
            </a:r>
            <a:endParaRPr kumimoji="1" lang="ja-JP"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DD9A39D8-3EFE-4E96-AC93-63D99F7D51B1}" type="slidenum">
              <a:rPr lang="en-US" altLang="ja-JP" smtClean="0">
                <a:ea typeface="ＭＳ Ｐゴシック" charset="-128"/>
              </a:rPr>
              <a:pPr/>
              <a:t>4</a:t>
            </a:fld>
            <a:endParaRPr lang="en-US" altLang="ja-JP" smtClean="0">
              <a:ea typeface="ＭＳ Ｐゴシック" charset="-128"/>
            </a:endParaRPr>
          </a:p>
        </p:txBody>
      </p:sp>
      <p:sp>
        <p:nvSpPr>
          <p:cNvPr id="4099" name="Rectangle 2"/>
          <p:cNvSpPr>
            <a:spLocks noGrp="1" noChangeArrowheads="1"/>
          </p:cNvSpPr>
          <p:nvPr>
            <p:ph type="title"/>
          </p:nvPr>
        </p:nvSpPr>
        <p:spPr/>
        <p:txBody>
          <a:bodyPr/>
          <a:lstStyle/>
          <a:p>
            <a:pPr eaLnBrk="1" hangingPunct="1"/>
            <a:r>
              <a:rPr lang="ja-JP" altLang="en-US" u="sng" dirty="0" smtClean="0"/>
              <a:t>シグナルとは？</a:t>
            </a:r>
          </a:p>
        </p:txBody>
      </p:sp>
      <p:sp>
        <p:nvSpPr>
          <p:cNvPr id="4100" name="Rectangle 3"/>
          <p:cNvSpPr>
            <a:spLocks noGrp="1" noChangeArrowheads="1"/>
          </p:cNvSpPr>
          <p:nvPr>
            <p:ph type="body" idx="1"/>
          </p:nvPr>
        </p:nvSpPr>
        <p:spPr/>
        <p:txBody>
          <a:bodyPr/>
          <a:lstStyle/>
          <a:p>
            <a:pPr eaLnBrk="1" hangingPunct="1"/>
            <a:r>
              <a:rPr lang="ja-JP" altLang="en-US" dirty="0" smtClean="0"/>
              <a:t>ある事象の発生をプロセスに知らせる働き</a:t>
            </a:r>
          </a:p>
          <a:p>
            <a:pPr eaLnBrk="1" hangingPunct="1"/>
            <a:r>
              <a:rPr lang="ja-JP" altLang="en-US" dirty="0" smtClean="0"/>
              <a:t>プロセスに対する割り込みと見ることができる（ソフトウェア割り込み）</a:t>
            </a:r>
          </a:p>
          <a:p>
            <a:pPr eaLnBrk="1" hangingPunct="1"/>
            <a:r>
              <a:rPr lang="ja-JP" altLang="en-US" dirty="0" smtClean="0"/>
              <a:t>約</a:t>
            </a:r>
            <a:r>
              <a:rPr lang="en-US" altLang="ja-JP" dirty="0" smtClean="0"/>
              <a:t>30</a:t>
            </a:r>
            <a:r>
              <a:rPr lang="ja-JP" altLang="en-US" dirty="0" smtClean="0"/>
              <a:t>種類ある。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番号プレースホルダ 5"/>
          <p:cNvSpPr>
            <a:spLocks noGrp="1"/>
          </p:cNvSpPr>
          <p:nvPr>
            <p:ph type="sldNum" sz="quarter" idx="12"/>
          </p:nvPr>
        </p:nvSpPr>
        <p:spPr>
          <a:noFill/>
        </p:spPr>
        <p:txBody>
          <a:bodyPr/>
          <a:lstStyle/>
          <a:p>
            <a:fld id="{C7316328-0AD7-4AC8-8896-D3D2B18680A8}" type="slidenum">
              <a:rPr lang="en-US" altLang="ja-JP" smtClean="0">
                <a:ea typeface="ＭＳ Ｐゴシック" charset="-128"/>
              </a:rPr>
              <a:pPr/>
              <a:t>5</a:t>
            </a:fld>
            <a:endParaRPr lang="en-US" altLang="ja-JP" smtClean="0">
              <a:ea typeface="ＭＳ Ｐゴシック" charset="-128"/>
            </a:endParaRPr>
          </a:p>
        </p:txBody>
      </p:sp>
      <p:sp>
        <p:nvSpPr>
          <p:cNvPr id="5123" name="Rectangle 3"/>
          <p:cNvSpPr>
            <a:spLocks noGrp="1" noChangeArrowheads="1"/>
          </p:cNvSpPr>
          <p:nvPr>
            <p:ph type="body" idx="1"/>
          </p:nvPr>
        </p:nvSpPr>
        <p:spPr/>
        <p:txBody>
          <a:bodyPr/>
          <a:lstStyle/>
          <a:p>
            <a:pPr eaLnBrk="1" hangingPunct="1"/>
            <a:endParaRPr lang="ja-JP" altLang="ja-JP" smtClean="0"/>
          </a:p>
        </p:txBody>
      </p:sp>
      <p:pic>
        <p:nvPicPr>
          <p:cNvPr id="5124" name="Picture 4" descr="名称未設定 1"/>
          <p:cNvPicPr>
            <a:picLocks noChangeAspect="1" noChangeArrowheads="1"/>
          </p:cNvPicPr>
          <p:nvPr/>
        </p:nvPicPr>
        <p:blipFill>
          <a:blip r:embed="rId2" cstate="print"/>
          <a:srcRect/>
          <a:stretch>
            <a:fillRect/>
          </a:stretch>
        </p:blipFill>
        <p:spPr bwMode="auto">
          <a:xfrm>
            <a:off x="250825" y="0"/>
            <a:ext cx="7885113" cy="68580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スライド番号プレースホルダ 5"/>
          <p:cNvSpPr>
            <a:spLocks noGrp="1"/>
          </p:cNvSpPr>
          <p:nvPr>
            <p:ph type="sldNum" sz="quarter" idx="12"/>
          </p:nvPr>
        </p:nvSpPr>
        <p:spPr>
          <a:noFill/>
        </p:spPr>
        <p:txBody>
          <a:bodyPr/>
          <a:lstStyle/>
          <a:p>
            <a:fld id="{EE4D01BE-B20E-47C3-8FDE-60758B40B330}" type="slidenum">
              <a:rPr lang="en-US" altLang="ja-JP" smtClean="0">
                <a:ea typeface="ＭＳ Ｐゴシック" charset="-128"/>
              </a:rPr>
              <a:pPr/>
              <a:t>6</a:t>
            </a:fld>
            <a:endParaRPr lang="en-US" altLang="ja-JP" smtClean="0">
              <a:ea typeface="ＭＳ Ｐゴシック" charset="-128"/>
            </a:endParaRPr>
          </a:p>
        </p:txBody>
      </p:sp>
      <p:sp>
        <p:nvSpPr>
          <p:cNvPr id="6147" name="Rectangle 2"/>
          <p:cNvSpPr>
            <a:spLocks noGrp="1" noChangeArrowheads="1"/>
          </p:cNvSpPr>
          <p:nvPr>
            <p:ph type="title"/>
          </p:nvPr>
        </p:nvSpPr>
        <p:spPr/>
        <p:txBody>
          <a:bodyPr/>
          <a:lstStyle/>
          <a:p>
            <a:pPr eaLnBrk="1" hangingPunct="1"/>
            <a:r>
              <a:rPr lang="ja-JP" altLang="en-US" dirty="0" smtClean="0"/>
              <a:t>シグナルとは</a:t>
            </a:r>
          </a:p>
        </p:txBody>
      </p:sp>
      <p:sp>
        <p:nvSpPr>
          <p:cNvPr id="6148" name="Rectangle 5"/>
          <p:cNvSpPr>
            <a:spLocks noChangeArrowheads="1"/>
          </p:cNvSpPr>
          <p:nvPr/>
        </p:nvSpPr>
        <p:spPr bwMode="auto">
          <a:xfrm>
            <a:off x="214282" y="1500174"/>
            <a:ext cx="3857652" cy="3970318"/>
          </a:xfrm>
          <a:prstGeom prst="rect">
            <a:avLst/>
          </a:prstGeom>
          <a:noFill/>
          <a:ln w="9525">
            <a:solidFill>
              <a:schemeClr val="tx1"/>
            </a:solidFill>
            <a:miter lim="800000"/>
            <a:headEnd/>
            <a:tailEnd/>
          </a:ln>
        </p:spPr>
        <p:txBody>
          <a:bodyPr wrap="square">
            <a:spAutoFit/>
          </a:bodyPr>
          <a:lstStyle/>
          <a:p>
            <a:r>
              <a:rPr lang="en-US" altLang="ja-JP" sz="2800" dirty="0" smtClean="0"/>
              <a:t>#i</a:t>
            </a:r>
            <a:r>
              <a:rPr lang="en-US" altLang="ja-JP" sz="2800" u="none" dirty="0" smtClean="0"/>
              <a:t>nclude &lt;</a:t>
            </a:r>
            <a:r>
              <a:rPr lang="en-US" altLang="ja-JP" sz="2800" u="none" dirty="0" err="1" smtClean="0"/>
              <a:t>stdio.h</a:t>
            </a:r>
            <a:r>
              <a:rPr lang="en-US" altLang="ja-JP" sz="2800" u="none" dirty="0" smtClean="0"/>
              <a:t>&gt;</a:t>
            </a:r>
          </a:p>
          <a:p>
            <a:r>
              <a:rPr lang="en-US" altLang="ja-JP" sz="2800" u="none" dirty="0" err="1" smtClean="0"/>
              <a:t>int</a:t>
            </a:r>
            <a:r>
              <a:rPr lang="en-US" altLang="ja-JP" sz="2800" u="none" dirty="0" smtClean="0"/>
              <a:t> </a:t>
            </a:r>
            <a:r>
              <a:rPr lang="en-US" altLang="ja-JP" sz="2800" u="none" dirty="0"/>
              <a:t>main () {</a:t>
            </a:r>
          </a:p>
          <a:p>
            <a:r>
              <a:rPr lang="en-US" altLang="ja-JP" sz="2800" u="none" dirty="0"/>
              <a:t>  </a:t>
            </a:r>
            <a:r>
              <a:rPr lang="en-US" altLang="ja-JP" sz="2800" u="none" dirty="0" err="1"/>
              <a:t>int</a:t>
            </a:r>
            <a:r>
              <a:rPr lang="en-US" altLang="ja-JP" sz="2800" u="none" dirty="0"/>
              <a:t> </a:t>
            </a:r>
            <a:r>
              <a:rPr lang="en-US" altLang="ja-JP" sz="2800" u="none" dirty="0" err="1"/>
              <a:t>i</a:t>
            </a:r>
            <a:r>
              <a:rPr lang="en-US" altLang="ja-JP" sz="2800" u="none" dirty="0"/>
              <a:t>=0;</a:t>
            </a:r>
          </a:p>
          <a:p>
            <a:r>
              <a:rPr lang="en-US" altLang="ja-JP" sz="2800" u="none" dirty="0"/>
              <a:t>  for (;1;i++) {</a:t>
            </a:r>
          </a:p>
          <a:p>
            <a:r>
              <a:rPr lang="en-US" altLang="ja-JP" sz="2800" u="none" dirty="0"/>
              <a:t>    sleep (1);</a:t>
            </a:r>
          </a:p>
          <a:p>
            <a:r>
              <a:rPr lang="en-US" altLang="ja-JP" sz="2800" u="none" dirty="0"/>
              <a:t>    </a:t>
            </a:r>
            <a:r>
              <a:rPr lang="en-US" altLang="ja-JP" sz="2800" u="none" dirty="0" err="1"/>
              <a:t>printf</a:t>
            </a:r>
            <a:r>
              <a:rPr lang="en-US" altLang="ja-JP" sz="2800" u="none" dirty="0"/>
              <a:t> ("hello %d\</a:t>
            </a:r>
            <a:r>
              <a:rPr lang="en-US" altLang="ja-JP" sz="2800" u="none" dirty="0" err="1"/>
              <a:t>n",i</a:t>
            </a:r>
            <a:r>
              <a:rPr lang="en-US" altLang="ja-JP" sz="2800" u="none" dirty="0"/>
              <a:t>);</a:t>
            </a:r>
          </a:p>
          <a:p>
            <a:r>
              <a:rPr lang="en-US" altLang="ja-JP" sz="2800" u="none" dirty="0"/>
              <a:t>  }</a:t>
            </a:r>
          </a:p>
          <a:p>
            <a:r>
              <a:rPr lang="en-US" altLang="ja-JP" sz="2800" u="none" dirty="0"/>
              <a:t>  return </a:t>
            </a:r>
            <a:r>
              <a:rPr lang="ja-JP" altLang="en-US" sz="2800" dirty="0" smtClean="0"/>
              <a:t> </a:t>
            </a:r>
            <a:r>
              <a:rPr lang="en-US" altLang="ja-JP" sz="2800" u="none" dirty="0" smtClean="0"/>
              <a:t>0;</a:t>
            </a:r>
            <a:endParaRPr lang="en-US" altLang="ja-JP" sz="2800" u="none" dirty="0"/>
          </a:p>
          <a:p>
            <a:r>
              <a:rPr lang="en-US" altLang="ja-JP" sz="2800" u="none" dirty="0"/>
              <a:t>}</a:t>
            </a:r>
          </a:p>
        </p:txBody>
      </p:sp>
      <p:sp>
        <p:nvSpPr>
          <p:cNvPr id="6149" name="Text Box 6"/>
          <p:cNvSpPr txBox="1">
            <a:spLocks noChangeArrowheads="1"/>
          </p:cNvSpPr>
          <p:nvPr/>
        </p:nvSpPr>
        <p:spPr bwMode="auto">
          <a:xfrm>
            <a:off x="4429124" y="1428736"/>
            <a:ext cx="4214842" cy="4893647"/>
          </a:xfrm>
          <a:prstGeom prst="rect">
            <a:avLst/>
          </a:prstGeom>
          <a:noFill/>
          <a:ln w="9525">
            <a:noFill/>
            <a:miter lim="800000"/>
            <a:headEnd/>
            <a:tailEnd/>
          </a:ln>
        </p:spPr>
        <p:txBody>
          <a:bodyPr wrap="square">
            <a:spAutoFit/>
          </a:bodyPr>
          <a:lstStyle/>
          <a:p>
            <a:r>
              <a:rPr lang="ja-JP" altLang="en-US" sz="2400" u="none" dirty="0"/>
              <a:t>これをコンパイル、実行し、</a:t>
            </a:r>
          </a:p>
          <a:p>
            <a:r>
              <a:rPr lang="en-US" altLang="ja-JP" sz="2400" u="none" dirty="0" err="1"/>
              <a:t>Ctrl_C</a:t>
            </a:r>
            <a:r>
              <a:rPr lang="en-US" altLang="ja-JP" sz="2400" u="none" dirty="0"/>
              <a:t> </a:t>
            </a:r>
            <a:r>
              <a:rPr lang="en-US" altLang="ja-JP" sz="2400" u="none" dirty="0" smtClean="0"/>
              <a:t>  </a:t>
            </a:r>
            <a:r>
              <a:rPr lang="ja-JP" altLang="en-US" sz="2400" dirty="0" smtClean="0"/>
              <a:t>（</a:t>
            </a:r>
            <a:r>
              <a:rPr lang="ja-JP" altLang="en-US" sz="2400" u="none" dirty="0" smtClean="0"/>
              <a:t>終了）</a:t>
            </a:r>
            <a:endParaRPr lang="ja-JP" altLang="en-US" sz="2400" u="none" dirty="0"/>
          </a:p>
          <a:p>
            <a:r>
              <a:rPr lang="en-US" altLang="ja-JP" sz="2400" u="none" dirty="0" err="1"/>
              <a:t>Ctrl_Z</a:t>
            </a:r>
            <a:r>
              <a:rPr lang="ja-JP" altLang="en-US" sz="2400" u="none" dirty="0"/>
              <a:t>　</a:t>
            </a:r>
            <a:r>
              <a:rPr lang="ja-JP" altLang="en-US" sz="2400" u="none" dirty="0" smtClean="0"/>
              <a:t>（一時停止）</a:t>
            </a:r>
            <a:endParaRPr lang="ja-JP" altLang="en-US" sz="2400" u="none" dirty="0"/>
          </a:p>
          <a:p>
            <a:r>
              <a:rPr lang="en-US" altLang="ja-JP" sz="2400" u="none" dirty="0" err="1"/>
              <a:t>fg</a:t>
            </a:r>
            <a:r>
              <a:rPr lang="en-US" altLang="ja-JP" sz="2400" u="none" dirty="0"/>
              <a:t>      </a:t>
            </a:r>
            <a:r>
              <a:rPr lang="en-US" altLang="ja-JP" sz="2400" u="none" dirty="0" smtClean="0"/>
              <a:t>     </a:t>
            </a:r>
            <a:r>
              <a:rPr lang="ja-JP" altLang="en-US" sz="2400" u="none" dirty="0" smtClean="0"/>
              <a:t>（再開）</a:t>
            </a:r>
            <a:endParaRPr lang="ja-JP" altLang="en-US" sz="2400" u="none" dirty="0"/>
          </a:p>
          <a:p>
            <a:r>
              <a:rPr lang="ja-JP" altLang="en-US" sz="2400" u="none" dirty="0"/>
              <a:t>などを入力してみる。</a:t>
            </a:r>
          </a:p>
          <a:p>
            <a:r>
              <a:rPr lang="ja-JP" altLang="en-US" sz="2400" u="none" dirty="0"/>
              <a:t>また、</a:t>
            </a:r>
            <a:r>
              <a:rPr lang="en-US" altLang="ja-JP" sz="2400" u="none" dirty="0" err="1"/>
              <a:t>ps</a:t>
            </a:r>
            <a:r>
              <a:rPr lang="en-US" altLang="ja-JP" sz="2400" u="none" dirty="0"/>
              <a:t> –</a:t>
            </a:r>
            <a:r>
              <a:rPr lang="en-US" altLang="ja-JP" sz="2400" u="none" dirty="0" err="1"/>
              <a:t>ef</a:t>
            </a:r>
            <a:r>
              <a:rPr lang="ja-JP" altLang="en-US" sz="2400" u="none" dirty="0"/>
              <a:t>でこのプログラム実行中にプロセス番号を調べ、</a:t>
            </a:r>
          </a:p>
          <a:p>
            <a:r>
              <a:rPr lang="en-US" altLang="ja-JP" sz="2400" u="none" dirty="0"/>
              <a:t>$ kill -STOP </a:t>
            </a:r>
            <a:r>
              <a:rPr lang="ja-JP" altLang="en-US" sz="2400" u="none" dirty="0"/>
              <a:t>プロセス番号</a:t>
            </a:r>
          </a:p>
          <a:p>
            <a:r>
              <a:rPr lang="en-US" altLang="ja-JP" sz="2400" u="none" dirty="0"/>
              <a:t>$ kill -CONT </a:t>
            </a:r>
            <a:r>
              <a:rPr lang="ja-JP" altLang="en-US" sz="2400" u="none" dirty="0"/>
              <a:t>プロセス番号</a:t>
            </a:r>
          </a:p>
          <a:p>
            <a:r>
              <a:rPr lang="en-US" altLang="ja-JP" sz="2400" u="none" dirty="0"/>
              <a:t>$ kill –INT </a:t>
            </a:r>
            <a:r>
              <a:rPr lang="ja-JP" altLang="en-US" sz="2400" u="none" dirty="0"/>
              <a:t>プロセス番号</a:t>
            </a:r>
          </a:p>
          <a:p>
            <a:r>
              <a:rPr lang="ja-JP" altLang="en-US" sz="2400" u="none" dirty="0"/>
              <a:t>を試す</a:t>
            </a:r>
            <a:r>
              <a:rPr lang="ja-JP" altLang="en-US" sz="2400" u="none" dirty="0" smtClean="0"/>
              <a:t>。</a:t>
            </a:r>
            <a:endParaRPr lang="en-US" altLang="ja-JP" sz="2400" u="none" dirty="0" smtClean="0"/>
          </a:p>
          <a:p>
            <a:r>
              <a:rPr lang="ja-JP" altLang="en-US" sz="2400" dirty="0" smtClean="0"/>
              <a:t>（</a:t>
            </a:r>
            <a:r>
              <a:rPr lang="en-US" altLang="ja-JP" sz="2400" dirty="0" smtClean="0"/>
              <a:t>terminal</a:t>
            </a:r>
            <a:r>
              <a:rPr lang="ja-JP" altLang="en-US" sz="2400" dirty="0" smtClean="0"/>
              <a:t>を２つ開くとやりやすい）</a:t>
            </a:r>
            <a:endParaRPr lang="ja-JP" altLang="en-US" sz="2400" u="none"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番号プレースホルダ 5"/>
          <p:cNvSpPr>
            <a:spLocks noGrp="1"/>
          </p:cNvSpPr>
          <p:nvPr>
            <p:ph type="sldNum" sz="quarter" idx="12"/>
          </p:nvPr>
        </p:nvSpPr>
        <p:spPr>
          <a:noFill/>
        </p:spPr>
        <p:txBody>
          <a:bodyPr/>
          <a:lstStyle/>
          <a:p>
            <a:fld id="{04F64E1F-6738-4047-8C78-EFD97CD923C8}" type="slidenum">
              <a:rPr lang="en-US" altLang="ja-JP" smtClean="0">
                <a:ea typeface="ＭＳ Ｐゴシック" charset="-128"/>
              </a:rPr>
              <a:pPr/>
              <a:t>7</a:t>
            </a:fld>
            <a:endParaRPr lang="en-US" altLang="ja-JP" smtClean="0">
              <a:ea typeface="ＭＳ Ｐゴシック" charset="-128"/>
            </a:endParaRPr>
          </a:p>
        </p:txBody>
      </p:sp>
      <p:sp>
        <p:nvSpPr>
          <p:cNvPr id="7171" name="Rectangle 2"/>
          <p:cNvSpPr>
            <a:spLocks noGrp="1" noChangeArrowheads="1"/>
          </p:cNvSpPr>
          <p:nvPr>
            <p:ph type="title"/>
          </p:nvPr>
        </p:nvSpPr>
        <p:spPr/>
        <p:txBody>
          <a:bodyPr>
            <a:normAutofit fontScale="90000"/>
          </a:bodyPr>
          <a:lstStyle/>
          <a:p>
            <a:pPr eaLnBrk="1" hangingPunct="1"/>
            <a:r>
              <a:rPr lang="ja-JP" altLang="en-US" sz="4000" smtClean="0"/>
              <a:t>シグナル捕獲時の処理の指定</a:t>
            </a:r>
            <a:br>
              <a:rPr lang="ja-JP" altLang="en-US" sz="4000" smtClean="0"/>
            </a:br>
            <a:r>
              <a:rPr lang="en-US" altLang="ja-JP" sz="4000" smtClean="0"/>
              <a:t>signal()</a:t>
            </a:r>
            <a:r>
              <a:rPr lang="ja-JP" altLang="en-US" sz="4000" smtClean="0"/>
              <a:t>システムコール</a:t>
            </a:r>
          </a:p>
        </p:txBody>
      </p:sp>
      <p:pic>
        <p:nvPicPr>
          <p:cNvPr id="7173" name="Picture 4" descr="名称未設定 2"/>
          <p:cNvPicPr>
            <a:picLocks noChangeAspect="1" noChangeArrowheads="1"/>
          </p:cNvPicPr>
          <p:nvPr/>
        </p:nvPicPr>
        <p:blipFill>
          <a:blip r:embed="rId2" cstate="print"/>
          <a:srcRect/>
          <a:stretch>
            <a:fillRect/>
          </a:stretch>
        </p:blipFill>
        <p:spPr bwMode="auto">
          <a:xfrm>
            <a:off x="0" y="1484313"/>
            <a:ext cx="9144000" cy="3895725"/>
          </a:xfrm>
          <a:prstGeom prst="rect">
            <a:avLst/>
          </a:prstGeom>
          <a:noFill/>
          <a:ln w="9525">
            <a:noFill/>
            <a:miter lim="800000"/>
            <a:headEnd/>
            <a:tailEnd/>
          </a:ln>
        </p:spPr>
      </p:pic>
      <p:sp>
        <p:nvSpPr>
          <p:cNvPr id="7176" name="Text Box 7"/>
          <p:cNvSpPr txBox="1">
            <a:spLocks noChangeArrowheads="1"/>
          </p:cNvSpPr>
          <p:nvPr/>
        </p:nvSpPr>
        <p:spPr bwMode="auto">
          <a:xfrm>
            <a:off x="2857488" y="3000372"/>
            <a:ext cx="2226892" cy="276999"/>
          </a:xfrm>
          <a:prstGeom prst="rect">
            <a:avLst/>
          </a:prstGeom>
          <a:noFill/>
          <a:ln w="9525">
            <a:noFill/>
            <a:miter lim="800000"/>
            <a:headEnd/>
            <a:tailEnd/>
          </a:ln>
        </p:spPr>
        <p:txBody>
          <a:bodyPr wrap="none">
            <a:spAutoFit/>
          </a:bodyPr>
          <a:lstStyle/>
          <a:p>
            <a:r>
              <a:rPr lang="ja-JP" altLang="en-US" sz="1200" u="none" dirty="0">
                <a:solidFill>
                  <a:srgbClr val="FF0000"/>
                </a:solidFill>
              </a:rPr>
              <a:t>シグナル番号</a:t>
            </a:r>
            <a:r>
              <a:rPr lang="ja-JP" altLang="en-US" sz="1200" u="none" dirty="0" smtClean="0">
                <a:solidFill>
                  <a:srgbClr val="FF0000"/>
                </a:solidFill>
              </a:rPr>
              <a:t>： シグナル</a:t>
            </a:r>
            <a:r>
              <a:rPr lang="ja-JP" altLang="en-US" sz="1200" u="none" dirty="0">
                <a:solidFill>
                  <a:srgbClr val="FF0000"/>
                </a:solidFill>
              </a:rPr>
              <a:t>の種類</a:t>
            </a:r>
          </a:p>
        </p:txBody>
      </p:sp>
      <p:sp>
        <p:nvSpPr>
          <p:cNvPr id="7177" name="Text Box 8"/>
          <p:cNvSpPr txBox="1">
            <a:spLocks noChangeArrowheads="1"/>
          </p:cNvSpPr>
          <p:nvPr/>
        </p:nvSpPr>
        <p:spPr bwMode="auto">
          <a:xfrm>
            <a:off x="4286248" y="2509059"/>
            <a:ext cx="4180953" cy="276999"/>
          </a:xfrm>
          <a:prstGeom prst="rect">
            <a:avLst/>
          </a:prstGeom>
          <a:noFill/>
          <a:ln w="9525">
            <a:noFill/>
            <a:miter lim="800000"/>
            <a:headEnd/>
            <a:tailEnd/>
          </a:ln>
        </p:spPr>
        <p:txBody>
          <a:bodyPr wrap="none">
            <a:spAutoFit/>
          </a:bodyPr>
          <a:lstStyle/>
          <a:p>
            <a:r>
              <a:rPr lang="ja-JP" altLang="en-US" sz="1200" u="none" dirty="0">
                <a:solidFill>
                  <a:srgbClr val="FF0000"/>
                </a:solidFill>
              </a:rPr>
              <a:t>シグナルハンドラ関数</a:t>
            </a:r>
            <a:r>
              <a:rPr lang="ja-JP" altLang="en-US" sz="1200" u="none" dirty="0" smtClean="0">
                <a:solidFill>
                  <a:srgbClr val="FF0000"/>
                </a:solidFill>
              </a:rPr>
              <a:t>： シグナル</a:t>
            </a:r>
            <a:r>
              <a:rPr lang="ja-JP" altLang="en-US" sz="1200" u="none" dirty="0">
                <a:solidFill>
                  <a:srgbClr val="FF0000"/>
                </a:solidFill>
              </a:rPr>
              <a:t>を捕獲した際に実行する関数</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E96C21A4-B90F-4B9A-B431-6382D51CC094}" type="slidenum">
              <a:rPr lang="en-US" altLang="ja-JP" smtClean="0">
                <a:ea typeface="ＭＳ Ｐゴシック" charset="-128"/>
              </a:rPr>
              <a:pPr/>
              <a:t>8</a:t>
            </a:fld>
            <a:endParaRPr lang="en-US" altLang="ja-JP" smtClean="0">
              <a:ea typeface="ＭＳ Ｐゴシック" charset="-128"/>
            </a:endParaRPr>
          </a:p>
        </p:txBody>
      </p:sp>
      <p:sp>
        <p:nvSpPr>
          <p:cNvPr id="8195" name="Rectangle 2"/>
          <p:cNvSpPr>
            <a:spLocks noGrp="1" noChangeArrowheads="1"/>
          </p:cNvSpPr>
          <p:nvPr>
            <p:ph type="title"/>
          </p:nvPr>
        </p:nvSpPr>
        <p:spPr>
          <a:xfrm>
            <a:off x="214282" y="357166"/>
            <a:ext cx="8658196" cy="439718"/>
          </a:xfrm>
        </p:spPr>
        <p:txBody>
          <a:bodyPr>
            <a:noAutofit/>
          </a:bodyPr>
          <a:lstStyle/>
          <a:p>
            <a:pPr eaLnBrk="1" hangingPunct="1"/>
            <a:r>
              <a:rPr lang="en-US" altLang="ja-JP" sz="3200" dirty="0" smtClean="0"/>
              <a:t>Signal</a:t>
            </a:r>
            <a:r>
              <a:rPr lang="ja-JP" altLang="en-US" sz="3200" dirty="0" smtClean="0"/>
              <a:t>システムコール使用例１（打ち込んで確認）</a:t>
            </a:r>
          </a:p>
        </p:txBody>
      </p:sp>
      <p:sp>
        <p:nvSpPr>
          <p:cNvPr id="8196" name="Rectangle 3"/>
          <p:cNvSpPr>
            <a:spLocks noGrp="1" noChangeArrowheads="1"/>
          </p:cNvSpPr>
          <p:nvPr>
            <p:ph type="body" idx="1"/>
          </p:nvPr>
        </p:nvSpPr>
        <p:spPr>
          <a:xfrm>
            <a:off x="4357686" y="3286124"/>
            <a:ext cx="3929122" cy="1087431"/>
          </a:xfrm>
          <a:noFill/>
          <a:ln>
            <a:solidFill>
              <a:schemeClr val="tx1"/>
            </a:solidFill>
          </a:ln>
        </p:spPr>
        <p:txBody>
          <a:bodyPr>
            <a:normAutofit fontScale="85000" lnSpcReduction="20000"/>
          </a:bodyPr>
          <a:lstStyle/>
          <a:p>
            <a:pPr eaLnBrk="1" hangingPunct="1">
              <a:buFontTx/>
              <a:buNone/>
            </a:pPr>
            <a:r>
              <a:rPr lang="en-US" altLang="ja-JP" dirty="0" smtClean="0"/>
              <a:t>Ctrl-C</a:t>
            </a:r>
            <a:r>
              <a:rPr lang="ja-JP" altLang="en-US" dirty="0" smtClean="0"/>
              <a:t>が押されたら一度はそれを捕獲し、２回目は終了するプログラム</a:t>
            </a:r>
          </a:p>
          <a:p>
            <a:pPr eaLnBrk="1" hangingPunct="1">
              <a:buFontTx/>
              <a:buNone/>
            </a:pPr>
            <a:endParaRPr lang="ja-JP" altLang="en-US" dirty="0" smtClean="0"/>
          </a:p>
          <a:p>
            <a:pPr eaLnBrk="1" hangingPunct="1">
              <a:buFontTx/>
              <a:buNone/>
            </a:pPr>
            <a:endParaRPr lang="en-US" altLang="ja-JP" dirty="0" smtClean="0"/>
          </a:p>
        </p:txBody>
      </p:sp>
      <p:sp>
        <p:nvSpPr>
          <p:cNvPr id="5" name="Text Box 5"/>
          <p:cNvSpPr txBox="1">
            <a:spLocks noChangeArrowheads="1"/>
          </p:cNvSpPr>
          <p:nvPr/>
        </p:nvSpPr>
        <p:spPr bwMode="auto">
          <a:xfrm>
            <a:off x="714348" y="1269762"/>
            <a:ext cx="7848600" cy="5016758"/>
          </a:xfrm>
          <a:prstGeom prst="rect">
            <a:avLst/>
          </a:prstGeom>
          <a:noFill/>
          <a:ln w="9525">
            <a:solidFill>
              <a:schemeClr val="tx1"/>
            </a:solidFill>
            <a:miter lim="800000"/>
            <a:headEnd/>
            <a:tailEnd/>
          </a:ln>
        </p:spPr>
        <p:txBody>
          <a:bodyPr>
            <a:spAutoFit/>
          </a:bodyPr>
          <a:lstStyle/>
          <a:p>
            <a:r>
              <a:rPr lang="en-US" altLang="ja-JP" sz="2000" u="none" dirty="0"/>
              <a:t>#include &lt;</a:t>
            </a:r>
            <a:r>
              <a:rPr lang="en-US" altLang="ja-JP" sz="2000" u="none" dirty="0" err="1"/>
              <a:t>signal.h</a:t>
            </a:r>
            <a:r>
              <a:rPr lang="en-US" altLang="ja-JP" sz="2000" u="none" dirty="0"/>
              <a:t>&gt;</a:t>
            </a:r>
            <a:r>
              <a:rPr lang="ja-JP" altLang="en-US" sz="2000" u="none" dirty="0"/>
              <a:t>　  </a:t>
            </a:r>
            <a:r>
              <a:rPr lang="en-US" altLang="ja-JP" sz="2000" u="none" dirty="0"/>
              <a:t>/* signal</a:t>
            </a:r>
            <a:r>
              <a:rPr lang="ja-JP" altLang="en-US" sz="2000" u="none" dirty="0"/>
              <a:t>の</a:t>
            </a:r>
            <a:r>
              <a:rPr lang="ja-JP" altLang="en-US" sz="2000" u="none" dirty="0" smtClean="0"/>
              <a:t>宣言   </a:t>
            </a:r>
            <a:r>
              <a:rPr lang="en-US" altLang="ja-JP" sz="2000" u="none" dirty="0"/>
              <a:t>SIGINT, SIG_DFL</a:t>
            </a:r>
            <a:r>
              <a:rPr lang="ja-JP" altLang="en-US" sz="2000" u="none" dirty="0"/>
              <a:t>のマクロ定義 *</a:t>
            </a:r>
            <a:r>
              <a:rPr lang="en-US" altLang="ja-JP" sz="2000" u="none" dirty="0"/>
              <a:t>/</a:t>
            </a:r>
          </a:p>
          <a:p>
            <a:r>
              <a:rPr lang="en-US" altLang="ja-JP" sz="2000" u="none" dirty="0"/>
              <a:t>#include &lt;</a:t>
            </a:r>
            <a:r>
              <a:rPr lang="en-US" altLang="ja-JP" sz="2000" u="none" dirty="0" err="1"/>
              <a:t>stdio.h</a:t>
            </a:r>
            <a:r>
              <a:rPr lang="en-US" altLang="ja-JP" sz="2000" u="none" dirty="0"/>
              <a:t>&gt;      /* </a:t>
            </a:r>
            <a:r>
              <a:rPr lang="en-US" altLang="ja-JP" sz="2000" u="none" dirty="0" err="1"/>
              <a:t>printf</a:t>
            </a:r>
            <a:r>
              <a:rPr lang="ja-JP" altLang="en-US" sz="2000" u="none" dirty="0"/>
              <a:t>の宣言 *</a:t>
            </a:r>
            <a:r>
              <a:rPr lang="en-US" altLang="ja-JP" sz="2000" u="none" dirty="0"/>
              <a:t>/</a:t>
            </a:r>
          </a:p>
          <a:p>
            <a:r>
              <a:rPr lang="en-US" altLang="ja-JP" sz="2000" u="none" dirty="0"/>
              <a:t>#include &lt;</a:t>
            </a:r>
            <a:r>
              <a:rPr lang="en-US" altLang="ja-JP" sz="2000" u="none" dirty="0" err="1"/>
              <a:t>unistd.h</a:t>
            </a:r>
            <a:r>
              <a:rPr lang="en-US" altLang="ja-JP" sz="2000" u="none" dirty="0"/>
              <a:t>&gt;    /* sleep</a:t>
            </a:r>
            <a:r>
              <a:rPr lang="ja-JP" altLang="en-US" sz="2000" u="none" dirty="0"/>
              <a:t>の宣言 *</a:t>
            </a:r>
            <a:r>
              <a:rPr lang="en-US" altLang="ja-JP" sz="2000" u="none" dirty="0" smtClean="0"/>
              <a:t>/</a:t>
            </a:r>
            <a:endParaRPr lang="en-US" altLang="ja-JP" sz="2000" u="none" dirty="0"/>
          </a:p>
          <a:p>
            <a:r>
              <a:rPr lang="en-US" altLang="ja-JP" sz="2000" u="none" dirty="0"/>
              <a:t>void f (</a:t>
            </a:r>
            <a:r>
              <a:rPr lang="en-US" altLang="ja-JP" sz="2000" u="none" dirty="0" err="1"/>
              <a:t>int</a:t>
            </a:r>
            <a:r>
              <a:rPr lang="en-US" altLang="ja-JP" sz="2000" u="none" dirty="0"/>
              <a:t> sig)</a:t>
            </a:r>
          </a:p>
          <a:p>
            <a:r>
              <a:rPr lang="en-US" altLang="ja-JP" sz="2000" u="none" dirty="0"/>
              <a:t>{</a:t>
            </a:r>
          </a:p>
          <a:p>
            <a:r>
              <a:rPr lang="en-US" altLang="ja-JP" sz="2000" u="none" dirty="0"/>
              <a:t>    </a:t>
            </a:r>
            <a:r>
              <a:rPr lang="en-US" altLang="ja-JP" sz="2000" u="none" dirty="0" err="1"/>
              <a:t>printf</a:t>
            </a:r>
            <a:r>
              <a:rPr lang="en-US" altLang="ja-JP" sz="2000" u="none" dirty="0" smtClean="0"/>
              <a:t>(“signal </a:t>
            </a:r>
            <a:r>
              <a:rPr lang="en-US" altLang="ja-JP" sz="2000" u="none" dirty="0"/>
              <a:t>%d\n", sig);</a:t>
            </a:r>
          </a:p>
          <a:p>
            <a:r>
              <a:rPr lang="en-US" altLang="ja-JP" sz="2000" u="none" dirty="0"/>
              <a:t>    signal(SIGINT, SIG_DFL);</a:t>
            </a:r>
          </a:p>
          <a:p>
            <a:r>
              <a:rPr lang="en-US" altLang="ja-JP" sz="2000" u="none" dirty="0" smtClean="0"/>
              <a:t>}</a:t>
            </a:r>
          </a:p>
          <a:p>
            <a:r>
              <a:rPr lang="en-US" altLang="ja-JP" sz="2000" u="none" dirty="0" err="1" smtClean="0"/>
              <a:t>int</a:t>
            </a:r>
            <a:r>
              <a:rPr lang="en-US" altLang="ja-JP" sz="2000" u="none" dirty="0" smtClean="0"/>
              <a:t> main()</a:t>
            </a:r>
          </a:p>
          <a:p>
            <a:r>
              <a:rPr lang="en-US" altLang="ja-JP" sz="2000" u="none" dirty="0" smtClean="0"/>
              <a:t>{</a:t>
            </a:r>
            <a:endParaRPr lang="en-US" altLang="ja-JP" sz="2000" u="none" dirty="0"/>
          </a:p>
          <a:p>
            <a:r>
              <a:rPr lang="en-US" altLang="ja-JP" sz="2000" u="none" dirty="0"/>
              <a:t>    </a:t>
            </a:r>
            <a:r>
              <a:rPr lang="en-US" altLang="ja-JP" sz="2000" u="none" dirty="0" smtClean="0"/>
              <a:t>signal</a:t>
            </a:r>
            <a:r>
              <a:rPr lang="ja-JP" altLang="en-US" sz="2000" dirty="0" smtClean="0"/>
              <a:t> </a:t>
            </a:r>
            <a:r>
              <a:rPr lang="en-US" altLang="ja-JP" sz="2000" u="none" dirty="0" smtClean="0"/>
              <a:t>(SIGINT</a:t>
            </a:r>
            <a:r>
              <a:rPr lang="en-US" altLang="ja-JP" sz="2000" u="none" dirty="0"/>
              <a:t>, f</a:t>
            </a:r>
            <a:r>
              <a:rPr lang="en-US" altLang="ja-JP" sz="2000" u="none" dirty="0" smtClean="0"/>
              <a:t>);</a:t>
            </a:r>
            <a:endParaRPr lang="en-US" altLang="ja-JP" sz="2000" u="none" dirty="0"/>
          </a:p>
          <a:p>
            <a:r>
              <a:rPr lang="en-US" altLang="ja-JP" sz="2000" u="none" dirty="0"/>
              <a:t>    while(1) {</a:t>
            </a:r>
          </a:p>
          <a:p>
            <a:r>
              <a:rPr lang="en-US" altLang="ja-JP" sz="2000" u="none" dirty="0"/>
              <a:t>        </a:t>
            </a:r>
            <a:r>
              <a:rPr lang="en-US" altLang="ja-JP" sz="2000" u="none" dirty="0" err="1"/>
              <a:t>printf</a:t>
            </a:r>
            <a:r>
              <a:rPr lang="en-US" altLang="ja-JP" sz="2000" u="none" dirty="0"/>
              <a:t>("Hello World!\n");</a:t>
            </a:r>
          </a:p>
          <a:p>
            <a:r>
              <a:rPr lang="en-US" altLang="ja-JP" sz="2000" u="none" dirty="0"/>
              <a:t>        sleep(1);</a:t>
            </a:r>
          </a:p>
          <a:p>
            <a:r>
              <a:rPr lang="en-US" altLang="ja-JP" sz="2000" u="none" dirty="0"/>
              <a:t>    }</a:t>
            </a:r>
          </a:p>
          <a:p>
            <a:r>
              <a:rPr lang="en-US" altLang="ja-JP" sz="2000" u="none" dirty="0"/>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スライド番号プレースホルダ 5"/>
          <p:cNvSpPr>
            <a:spLocks noGrp="1"/>
          </p:cNvSpPr>
          <p:nvPr>
            <p:ph type="sldNum" sz="quarter" idx="12"/>
          </p:nvPr>
        </p:nvSpPr>
        <p:spPr>
          <a:noFill/>
        </p:spPr>
        <p:txBody>
          <a:bodyPr/>
          <a:lstStyle/>
          <a:p>
            <a:fld id="{296851BE-1D6F-4C3A-BAEA-C0849FD0DF82}" type="slidenum">
              <a:rPr lang="en-US" altLang="ja-JP" smtClean="0">
                <a:ea typeface="ＭＳ Ｐゴシック" charset="-128"/>
              </a:rPr>
              <a:pPr/>
              <a:t>9</a:t>
            </a:fld>
            <a:endParaRPr lang="en-US" altLang="ja-JP" smtClean="0">
              <a:ea typeface="ＭＳ Ｐゴシック" charset="-128"/>
            </a:endParaRPr>
          </a:p>
        </p:txBody>
      </p:sp>
      <p:sp>
        <p:nvSpPr>
          <p:cNvPr id="11267" name="Rectangle 2"/>
          <p:cNvSpPr>
            <a:spLocks noGrp="1" noChangeArrowheads="1"/>
          </p:cNvSpPr>
          <p:nvPr>
            <p:ph type="title"/>
          </p:nvPr>
        </p:nvSpPr>
        <p:spPr>
          <a:xfrm>
            <a:off x="457200" y="274638"/>
            <a:ext cx="8229600" cy="939784"/>
          </a:xfrm>
        </p:spPr>
        <p:txBody>
          <a:bodyPr/>
          <a:lstStyle/>
          <a:p>
            <a:pPr eaLnBrk="1" hangingPunct="1"/>
            <a:r>
              <a:rPr lang="en-US" altLang="ja-JP" dirty="0" smtClean="0"/>
              <a:t>signal</a:t>
            </a:r>
            <a:r>
              <a:rPr lang="ja-JP" altLang="en-US" dirty="0" smtClean="0"/>
              <a:t>システムコール使用例</a:t>
            </a:r>
            <a:r>
              <a:rPr lang="en-US" altLang="ja-JP" dirty="0" smtClean="0"/>
              <a:t>2</a:t>
            </a:r>
            <a:endParaRPr lang="ja-JP" altLang="en-US" dirty="0" smtClean="0"/>
          </a:p>
        </p:txBody>
      </p:sp>
      <p:sp>
        <p:nvSpPr>
          <p:cNvPr id="11268" name="Rectangle 3"/>
          <p:cNvSpPr>
            <a:spLocks noGrp="1" noChangeArrowheads="1"/>
          </p:cNvSpPr>
          <p:nvPr>
            <p:ph type="body" idx="1"/>
          </p:nvPr>
        </p:nvSpPr>
        <p:spPr>
          <a:xfrm>
            <a:off x="395288" y="1341438"/>
            <a:ext cx="8229600" cy="5302272"/>
          </a:xfrm>
        </p:spPr>
        <p:txBody>
          <a:bodyPr>
            <a:normAutofit/>
          </a:bodyPr>
          <a:lstStyle/>
          <a:p>
            <a:pPr eaLnBrk="1" hangingPunct="1"/>
            <a:r>
              <a:rPr lang="ja-JP" altLang="en-US" dirty="0" smtClean="0"/>
              <a:t>前回紹介した</a:t>
            </a:r>
            <a:r>
              <a:rPr lang="en-US" altLang="ja-JP" dirty="0" smtClean="0"/>
              <a:t>fork</a:t>
            </a:r>
            <a:r>
              <a:rPr lang="ja-JP" altLang="en-US" dirty="0" smtClean="0"/>
              <a:t>するだけのプログラム</a:t>
            </a:r>
            <a:endParaRPr lang="en-US" altLang="ja-JP" dirty="0" smtClean="0"/>
          </a:p>
          <a:p>
            <a:pPr lvl="1" eaLnBrk="1" hangingPunct="1"/>
            <a:r>
              <a:rPr lang="ja-JP" altLang="en-US" dirty="0" smtClean="0"/>
              <a:t>親プロセスは子プロセスの終了を</a:t>
            </a:r>
            <a:r>
              <a:rPr lang="en-US" altLang="ja-JP" dirty="0" smtClean="0"/>
              <a:t>wait()</a:t>
            </a:r>
            <a:r>
              <a:rPr lang="ja-JP" altLang="en-US" dirty="0" smtClean="0"/>
              <a:t>システムコールでひたすら待つ処理形式，その間は他の仕事はできない。</a:t>
            </a:r>
          </a:p>
          <a:p>
            <a:pPr eaLnBrk="1" hangingPunct="1"/>
            <a:r>
              <a:rPr lang="ja-JP" altLang="en-US" dirty="0" smtClean="0"/>
              <a:t>今回紹介する親プロセスのプログラム</a:t>
            </a:r>
          </a:p>
          <a:p>
            <a:pPr lvl="1" eaLnBrk="1" hangingPunct="1"/>
            <a:r>
              <a:rPr lang="ja-JP" altLang="en-US" dirty="0" smtClean="0"/>
              <a:t>子プロセスの終了を待たず，</a:t>
            </a:r>
            <a:r>
              <a:rPr lang="ja-JP" altLang="en-US" dirty="0" smtClean="0">
                <a:solidFill>
                  <a:srgbClr val="FF0000"/>
                </a:solidFill>
              </a:rPr>
              <a:t>子プロセスが終了したことをシグナル</a:t>
            </a:r>
            <a:r>
              <a:rPr lang="en-US" altLang="ja-JP" dirty="0" smtClean="0">
                <a:solidFill>
                  <a:srgbClr val="FF0000"/>
                </a:solidFill>
              </a:rPr>
              <a:t>(SIGCHLD)</a:t>
            </a:r>
            <a:r>
              <a:rPr lang="ja-JP" altLang="en-US" dirty="0" smtClean="0">
                <a:solidFill>
                  <a:srgbClr val="FF0000"/>
                </a:solidFill>
              </a:rPr>
              <a:t>で受け取り</a:t>
            </a:r>
            <a:r>
              <a:rPr lang="ja-JP" altLang="en-US" dirty="0" smtClean="0"/>
              <a:t>，シグナル処理関数内で</a:t>
            </a:r>
            <a:r>
              <a:rPr lang="en-US" altLang="ja-JP" dirty="0" smtClean="0"/>
              <a:t>wait()</a:t>
            </a:r>
            <a:r>
              <a:rPr lang="ja-JP" altLang="en-US" dirty="0" smtClean="0"/>
              <a:t>システムコールを呼ぶ。待ち時間がない。（子プロセスが終了したとき、</a:t>
            </a:r>
            <a:r>
              <a:rPr lang="en-US" altLang="ja-JP" dirty="0" smtClean="0"/>
              <a:t>SIGCHLD</a:t>
            </a:r>
            <a:r>
              <a:rPr lang="ja-JP" altLang="en-US" dirty="0" smtClean="0"/>
              <a:t>シグナルが親プロセスに送られる。）</a:t>
            </a:r>
          </a:p>
          <a:p>
            <a:pPr lvl="1" eaLnBrk="1" hangingPunct="1"/>
            <a:r>
              <a:rPr lang="ja-JP" altLang="en-US" dirty="0" smtClean="0"/>
              <a:t>親も他の仕事ができるようになる。</a:t>
            </a:r>
            <a:endParaRPr lang="en-US" altLang="ja-JP"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131762"/>
            <a:ext cx="8229600" cy="654032"/>
          </a:xfrm>
        </p:spPr>
        <p:txBody>
          <a:bodyPr>
            <a:normAutofit fontScale="90000"/>
          </a:bodyPr>
          <a:lstStyle/>
          <a:p>
            <a:r>
              <a:rPr lang="ja-JP" altLang="en-US" dirty="0" smtClean="0"/>
              <a:t>例（打ち込んで確認）</a:t>
            </a:r>
            <a:endParaRPr kumimoji="1" lang="ja-JP" altLang="en-US" dirty="0"/>
          </a:p>
        </p:txBody>
      </p:sp>
      <p:sp>
        <p:nvSpPr>
          <p:cNvPr id="4" name="正方形/長方形 3"/>
          <p:cNvSpPr/>
          <p:nvPr/>
        </p:nvSpPr>
        <p:spPr>
          <a:xfrm>
            <a:off x="285720" y="939961"/>
            <a:ext cx="3929090" cy="5632311"/>
          </a:xfrm>
          <a:prstGeom prst="rect">
            <a:avLst/>
          </a:prstGeom>
          <a:ln>
            <a:solidFill>
              <a:schemeClr val="accent1"/>
            </a:solidFill>
          </a:ln>
        </p:spPr>
        <p:txBody>
          <a:bodyPr wrap="square">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void </a:t>
            </a:r>
            <a:r>
              <a:rPr lang="en-US" altLang="ja-JP" sz="2000" dirty="0" err="1" smtClean="0"/>
              <a:t>sigpwait</a:t>
            </a:r>
            <a:r>
              <a:rPr lang="en-US" altLang="ja-JP" sz="2000" dirty="0" smtClean="0"/>
              <a:t> </a:t>
            </a:r>
            <a:r>
              <a:rPr lang="en-US" altLang="ja-JP" sz="2000" dirty="0" smtClean="0"/>
              <a:t>(</a:t>
            </a:r>
            <a:r>
              <a:rPr lang="en-US" altLang="ja-JP" sz="2000" dirty="0" err="1" smtClean="0"/>
              <a:t>int</a:t>
            </a:r>
            <a:r>
              <a:rPr lang="en-US" altLang="ja-JP" sz="2000" dirty="0" smtClean="0"/>
              <a:t> sig</a:t>
            </a:r>
            <a:r>
              <a:rPr lang="en-US" altLang="ja-JP" sz="2000" dirty="0" smtClean="0"/>
              <a:t>) </a:t>
            </a:r>
            <a:r>
              <a:rPr lang="en-US" altLang="ja-JP" sz="2000" dirty="0" smtClean="0"/>
              <a:t>{</a:t>
            </a:r>
          </a:p>
          <a:p>
            <a:r>
              <a:rPr lang="en-US" altLang="ja-JP" sz="2000" dirty="0" smtClean="0"/>
              <a:t>  </a:t>
            </a:r>
            <a:r>
              <a:rPr lang="en-US" altLang="ja-JP" sz="2000" dirty="0" err="1" smtClean="0"/>
              <a:t>int</a:t>
            </a:r>
            <a:r>
              <a:rPr lang="en-US" altLang="ja-JP" sz="2000" dirty="0" smtClean="0"/>
              <a:t> status;</a:t>
            </a:r>
          </a:p>
          <a:p>
            <a:r>
              <a:rPr lang="en-US" altLang="ja-JP" sz="2000" dirty="0" smtClean="0"/>
              <a:t>  </a:t>
            </a:r>
            <a:r>
              <a:rPr lang="en-US" altLang="ja-JP" sz="2000" dirty="0" err="1" smtClean="0"/>
              <a:t>printf</a:t>
            </a:r>
            <a:r>
              <a:rPr lang="en-US" altLang="ja-JP" sz="2000" dirty="0" smtClean="0"/>
              <a:t> ("Parent process: child process has just finished.\n");</a:t>
            </a:r>
          </a:p>
          <a:p>
            <a:r>
              <a:rPr lang="en-US" altLang="ja-JP" sz="2000" dirty="0" smtClean="0"/>
              <a:t>  wait (&amp;status);</a:t>
            </a:r>
          </a:p>
          <a:p>
            <a:r>
              <a:rPr lang="en-US" altLang="ja-JP" sz="2000" dirty="0" smtClean="0"/>
              <a:t>  exit(1);</a:t>
            </a:r>
          </a:p>
          <a:p>
            <a:r>
              <a:rPr lang="en-US" altLang="ja-JP" sz="2000" dirty="0" smtClean="0"/>
              <a:t>}</a:t>
            </a:r>
          </a:p>
          <a:p>
            <a:r>
              <a:rPr lang="en-US" altLang="ja-JP" sz="2000" dirty="0" smtClean="0"/>
              <a:t> </a:t>
            </a:r>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if (signal(SIGCHLD, </a:t>
            </a:r>
            <a:r>
              <a:rPr lang="en-US" altLang="ja-JP" sz="2000" dirty="0" err="1" smtClean="0"/>
              <a:t>sigpwait</a:t>
            </a:r>
            <a:r>
              <a:rPr lang="en-US" altLang="ja-JP" sz="2000" dirty="0" smtClean="0"/>
              <a:t>) </a:t>
            </a:r>
            <a:endParaRPr lang="en-US" altLang="ja-JP" sz="2000" dirty="0" smtClean="0"/>
          </a:p>
          <a:p>
            <a:r>
              <a:rPr lang="en-US" altLang="ja-JP" sz="2000" dirty="0" smtClean="0"/>
              <a:t> </a:t>
            </a:r>
            <a:r>
              <a:rPr lang="en-US" altLang="ja-JP" sz="2000" dirty="0" smtClean="0"/>
              <a:t>       </a:t>
            </a:r>
            <a:r>
              <a:rPr lang="en-US" altLang="ja-JP" sz="2000" dirty="0" smtClean="0"/>
              <a:t>== </a:t>
            </a:r>
            <a:r>
              <a:rPr lang="en-US" altLang="ja-JP" sz="2000" dirty="0" smtClean="0"/>
              <a:t>SIG_ERR) {</a:t>
            </a:r>
          </a:p>
          <a:p>
            <a:r>
              <a:rPr lang="en-US" altLang="ja-JP" sz="2000" dirty="0" smtClean="0"/>
              <a:t>    </a:t>
            </a:r>
            <a:r>
              <a:rPr lang="en-US" altLang="ja-JP" sz="2000" dirty="0" err="1" smtClean="0"/>
              <a:t>perror</a:t>
            </a:r>
            <a:r>
              <a:rPr lang="en-US" altLang="ja-JP" sz="2000" dirty="0" smtClean="0"/>
              <a:t> ("signal");</a:t>
            </a:r>
          </a:p>
          <a:p>
            <a:r>
              <a:rPr lang="en-US" altLang="ja-JP" sz="2000" dirty="0" smtClean="0"/>
              <a:t>    exit(1);</a:t>
            </a:r>
          </a:p>
          <a:p>
            <a:r>
              <a:rPr lang="en-US" altLang="ja-JP" sz="2000" dirty="0" smtClean="0"/>
              <a:t>  }</a:t>
            </a:r>
            <a:endParaRPr lang="en-US" altLang="ja-JP" sz="2000" dirty="0"/>
          </a:p>
        </p:txBody>
      </p:sp>
      <p:sp>
        <p:nvSpPr>
          <p:cNvPr id="5" name="正方形/長方形 4"/>
          <p:cNvSpPr/>
          <p:nvPr/>
        </p:nvSpPr>
        <p:spPr>
          <a:xfrm>
            <a:off x="4572000" y="1000108"/>
            <a:ext cx="3857652" cy="4401205"/>
          </a:xfrm>
          <a:prstGeom prst="rect">
            <a:avLst/>
          </a:prstGeom>
          <a:ln>
            <a:solidFill>
              <a:schemeClr val="tx1"/>
            </a:solidFill>
          </a:ln>
        </p:spPr>
        <p:txBody>
          <a:bodyPr wrap="square">
            <a:spAutoFit/>
          </a:bodyPr>
          <a:lstStyle/>
          <a:p>
            <a:r>
              <a:rPr lang="en-US" altLang="ja-JP" sz="2000" dirty="0" smtClean="0"/>
              <a:t>if ((</a:t>
            </a:r>
            <a:r>
              <a:rPr lang="en-US" altLang="ja-JP" sz="2000" dirty="0" err="1" smtClean="0"/>
              <a:t>pid</a:t>
            </a:r>
            <a:r>
              <a:rPr lang="en-US" altLang="ja-JP" sz="2000" dirty="0" smtClean="0"/>
              <a:t> = fork()) == 0) {</a:t>
            </a:r>
          </a:p>
          <a:p>
            <a:r>
              <a:rPr lang="en-US" altLang="ja-JP" sz="2000" dirty="0" smtClean="0"/>
              <a:t>    </a:t>
            </a:r>
            <a:r>
              <a:rPr lang="en-US" altLang="ja-JP" sz="2000" dirty="0" err="1" smtClean="0"/>
              <a:t>printf</a:t>
            </a:r>
            <a:r>
              <a:rPr lang="en-US" altLang="ja-JP" sz="2000" dirty="0" smtClean="0"/>
              <a:t> ("Child process. ”);</a:t>
            </a:r>
          </a:p>
          <a:p>
            <a:r>
              <a:rPr lang="en-US" altLang="ja-JP" sz="2000" dirty="0" smtClean="0"/>
              <a:t>    </a:t>
            </a:r>
            <a:r>
              <a:rPr lang="en-US" altLang="ja-JP" sz="2000" dirty="0" err="1" smtClean="0"/>
              <a:t>printf</a:t>
            </a:r>
            <a:r>
              <a:rPr lang="en-US" altLang="ja-JP" sz="2000" dirty="0" smtClean="0"/>
              <a:t> (“sleep for 2 seconds.\n");</a:t>
            </a:r>
          </a:p>
          <a:p>
            <a:r>
              <a:rPr lang="en-US" altLang="ja-JP" sz="2000" dirty="0" smtClean="0"/>
              <a:t>    sleep(2);</a:t>
            </a:r>
          </a:p>
          <a:p>
            <a:r>
              <a:rPr lang="en-US" altLang="ja-JP" sz="2000" dirty="0" smtClean="0"/>
              <a:t>  } else if (</a:t>
            </a:r>
            <a:r>
              <a:rPr lang="en-US" altLang="ja-JP" sz="2000" dirty="0" err="1" smtClean="0"/>
              <a:t>pid</a:t>
            </a:r>
            <a:r>
              <a:rPr lang="en-US" altLang="ja-JP" sz="2000" dirty="0" smtClean="0"/>
              <a:t> &gt;= 1) {</a:t>
            </a:r>
          </a:p>
          <a:p>
            <a:r>
              <a:rPr lang="en-US" altLang="ja-JP" sz="2000" dirty="0" smtClean="0"/>
              <a:t>    </a:t>
            </a:r>
            <a:r>
              <a:rPr lang="en-US" altLang="ja-JP" sz="2000" dirty="0" err="1" smtClean="0"/>
              <a:t>printf</a:t>
            </a:r>
            <a:r>
              <a:rPr lang="en-US" altLang="ja-JP" sz="2000" dirty="0" smtClean="0"/>
              <a:t> ("Parent process. ”);</a:t>
            </a:r>
          </a:p>
          <a:p>
            <a:r>
              <a:rPr lang="en-US" altLang="ja-JP" sz="2000" dirty="0" smtClean="0"/>
              <a:t>    </a:t>
            </a:r>
            <a:r>
              <a:rPr lang="en-US" altLang="ja-JP" sz="2000" dirty="0" err="1" smtClean="0"/>
              <a:t>printf</a:t>
            </a:r>
            <a:r>
              <a:rPr lang="en-US" altLang="ja-JP" sz="2000" dirty="0" smtClean="0"/>
              <a:t> (“infinite loop.\n");</a:t>
            </a:r>
          </a:p>
          <a:p>
            <a:r>
              <a:rPr lang="en-US" altLang="ja-JP" sz="2000" dirty="0" smtClean="0"/>
              <a:t>    while (1);</a:t>
            </a:r>
          </a:p>
          <a:p>
            <a:r>
              <a:rPr lang="en-US" altLang="ja-JP" sz="2000" dirty="0" smtClean="0"/>
              <a:t>  }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exit (0);</a:t>
            </a:r>
          </a:p>
          <a:p>
            <a:r>
              <a:rPr lang="en-US" altLang="ja-JP" sz="2000" dirty="0" smtClean="0"/>
              <a:t>}</a:t>
            </a:r>
            <a:endParaRPr lang="en-US" altLang="ja-JP"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番号プレースホルダ 5"/>
          <p:cNvSpPr>
            <a:spLocks noGrp="1"/>
          </p:cNvSpPr>
          <p:nvPr>
            <p:ph type="sldNum" sz="quarter" idx="12"/>
          </p:nvPr>
        </p:nvSpPr>
        <p:spPr>
          <a:noFill/>
        </p:spPr>
        <p:txBody>
          <a:bodyPr/>
          <a:lstStyle/>
          <a:p>
            <a:fld id="{90B15FF1-5589-4176-B054-F40387B73B1E}" type="slidenum">
              <a:rPr lang="en-US" altLang="ja-JP" smtClean="0">
                <a:ea typeface="ＭＳ Ｐゴシック" charset="-128"/>
              </a:rPr>
              <a:pPr/>
              <a:t>11</a:t>
            </a:fld>
            <a:endParaRPr lang="en-US" altLang="ja-JP" smtClean="0">
              <a:ea typeface="ＭＳ Ｐゴシック" charset="-128"/>
            </a:endParaRPr>
          </a:p>
        </p:txBody>
      </p:sp>
      <p:sp>
        <p:nvSpPr>
          <p:cNvPr id="13315" name="Rectangle 2"/>
          <p:cNvSpPr>
            <a:spLocks noGrp="1" noChangeArrowheads="1"/>
          </p:cNvSpPr>
          <p:nvPr>
            <p:ph type="title"/>
          </p:nvPr>
        </p:nvSpPr>
        <p:spPr/>
        <p:txBody>
          <a:bodyPr/>
          <a:lstStyle/>
          <a:p>
            <a:pPr eaLnBrk="1" hangingPunct="1"/>
            <a:r>
              <a:rPr lang="ja-JP" altLang="en-US" u="sng" smtClean="0"/>
              <a:t>シグナルについて補足</a:t>
            </a:r>
          </a:p>
        </p:txBody>
      </p:sp>
      <p:sp>
        <p:nvSpPr>
          <p:cNvPr id="13316" name="テキスト ボックス 6"/>
          <p:cNvSpPr txBox="1">
            <a:spLocks noChangeArrowheads="1"/>
          </p:cNvSpPr>
          <p:nvPr/>
        </p:nvSpPr>
        <p:spPr bwMode="auto">
          <a:xfrm>
            <a:off x="500063" y="1643063"/>
            <a:ext cx="7786687" cy="1384300"/>
          </a:xfrm>
          <a:prstGeom prst="rect">
            <a:avLst/>
          </a:prstGeom>
          <a:noFill/>
          <a:ln w="9525">
            <a:noFill/>
            <a:miter lim="800000"/>
            <a:headEnd/>
            <a:tailEnd/>
          </a:ln>
        </p:spPr>
        <p:txBody>
          <a:bodyPr>
            <a:spAutoFit/>
          </a:bodyPr>
          <a:lstStyle/>
          <a:p>
            <a:r>
              <a:rPr lang="en-US" altLang="ja-JP" sz="2800" u="none" dirty="0"/>
              <a:t>signal</a:t>
            </a:r>
            <a:r>
              <a:rPr lang="ja-JP" altLang="en-US" sz="2800" u="none" dirty="0"/>
              <a:t>システムコールで各シグナルに対する処理を変更できるが、</a:t>
            </a:r>
            <a:r>
              <a:rPr lang="en-US" altLang="ja-JP" sz="2800" u="none" dirty="0"/>
              <a:t>SIGKILL(9)</a:t>
            </a:r>
            <a:r>
              <a:rPr lang="ja-JP" altLang="en-US" sz="2800" u="none" dirty="0"/>
              <a:t>と</a:t>
            </a:r>
            <a:r>
              <a:rPr lang="en-US" altLang="ja-JP" sz="2800" u="none" dirty="0"/>
              <a:t>SIGSTOP(19)</a:t>
            </a:r>
            <a:r>
              <a:rPr lang="ja-JP" altLang="en-US" sz="2800" u="none" dirty="0"/>
              <a:t>に対する処理だけは変更できない。</a:t>
            </a:r>
          </a:p>
        </p:txBody>
      </p:sp>
      <p:sp>
        <p:nvSpPr>
          <p:cNvPr id="13317" name="テキスト ボックス 5"/>
          <p:cNvSpPr txBox="1">
            <a:spLocks noChangeArrowheads="1"/>
          </p:cNvSpPr>
          <p:nvPr/>
        </p:nvSpPr>
        <p:spPr bwMode="auto">
          <a:xfrm>
            <a:off x="1143000" y="3214688"/>
            <a:ext cx="5399088" cy="954087"/>
          </a:xfrm>
          <a:prstGeom prst="rect">
            <a:avLst/>
          </a:prstGeom>
          <a:noFill/>
          <a:ln w="9525">
            <a:noFill/>
            <a:miter lim="800000"/>
            <a:headEnd/>
            <a:tailEnd/>
          </a:ln>
        </p:spPr>
        <p:txBody>
          <a:bodyPr wrap="none">
            <a:spAutoFit/>
          </a:bodyPr>
          <a:lstStyle/>
          <a:p>
            <a:r>
              <a:rPr lang="en-US" altLang="ja-JP" sz="2800" u="none"/>
              <a:t>SIGKILL --- </a:t>
            </a:r>
            <a:r>
              <a:rPr lang="ja-JP" altLang="en-US" sz="2800" u="none"/>
              <a:t>プロセスの終了</a:t>
            </a:r>
            <a:endParaRPr lang="en-US" altLang="ja-JP" sz="2800" u="none"/>
          </a:p>
          <a:p>
            <a:r>
              <a:rPr lang="en-US" altLang="ja-JP" sz="2800" u="none"/>
              <a:t>SIGSTOP --- </a:t>
            </a:r>
            <a:r>
              <a:rPr lang="ja-JP" altLang="en-US" sz="2800" u="none"/>
              <a:t>プロセスの一時停止</a:t>
            </a:r>
          </a:p>
        </p:txBody>
      </p:sp>
      <p:sp>
        <p:nvSpPr>
          <p:cNvPr id="13318" name="テキスト ボックス 7"/>
          <p:cNvSpPr txBox="1">
            <a:spLocks noChangeArrowheads="1"/>
          </p:cNvSpPr>
          <p:nvPr/>
        </p:nvSpPr>
        <p:spPr bwMode="auto">
          <a:xfrm>
            <a:off x="571500" y="4714875"/>
            <a:ext cx="7786688" cy="830263"/>
          </a:xfrm>
          <a:prstGeom prst="rect">
            <a:avLst/>
          </a:prstGeom>
          <a:noFill/>
          <a:ln w="9525">
            <a:noFill/>
            <a:miter lim="800000"/>
            <a:headEnd/>
            <a:tailEnd/>
          </a:ln>
        </p:spPr>
        <p:txBody>
          <a:bodyPr>
            <a:spAutoFit/>
          </a:bodyPr>
          <a:lstStyle/>
          <a:p>
            <a:r>
              <a:rPr lang="ja-JP" altLang="en-US" sz="2400" u="none" dirty="0"/>
              <a:t>スーパユーザ</a:t>
            </a:r>
            <a:r>
              <a:rPr lang="en-US" altLang="ja-JP" sz="2400" u="none" dirty="0"/>
              <a:t>(root)</a:t>
            </a:r>
            <a:r>
              <a:rPr lang="ja-JP" altLang="en-US" sz="2400" u="none" dirty="0"/>
              <a:t>が任意のプロセスを終了させたり一時停止させたりすることが必ずできるようにするため。</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番号プレースホルダ 5"/>
          <p:cNvSpPr>
            <a:spLocks noGrp="1"/>
          </p:cNvSpPr>
          <p:nvPr>
            <p:ph type="sldNum" sz="quarter" idx="12"/>
          </p:nvPr>
        </p:nvSpPr>
        <p:spPr>
          <a:noFill/>
        </p:spPr>
        <p:txBody>
          <a:bodyPr/>
          <a:lstStyle/>
          <a:p>
            <a:fld id="{913AEFD0-4BBE-4D0C-A7C2-C0FF4AEE2DE1}" type="slidenum">
              <a:rPr lang="en-US" altLang="ja-JP" smtClean="0">
                <a:ea typeface="ＭＳ Ｐゴシック" charset="-128"/>
              </a:rPr>
              <a:pPr/>
              <a:t>12</a:t>
            </a:fld>
            <a:endParaRPr lang="en-US" altLang="ja-JP" smtClean="0">
              <a:ea typeface="ＭＳ Ｐゴシック" charset="-128"/>
            </a:endParaRPr>
          </a:p>
        </p:txBody>
      </p:sp>
      <p:sp>
        <p:nvSpPr>
          <p:cNvPr id="14339" name="Rectangle 2"/>
          <p:cNvSpPr>
            <a:spLocks noGrp="1" noChangeArrowheads="1"/>
          </p:cNvSpPr>
          <p:nvPr>
            <p:ph type="title"/>
          </p:nvPr>
        </p:nvSpPr>
        <p:spPr/>
        <p:txBody>
          <a:bodyPr/>
          <a:lstStyle/>
          <a:p>
            <a:pPr eaLnBrk="1" hangingPunct="1"/>
            <a:r>
              <a:rPr lang="ja-JP" altLang="en-US" dirty="0" smtClean="0"/>
              <a:t>シグナルの実装</a:t>
            </a:r>
          </a:p>
        </p:txBody>
      </p:sp>
      <p:sp>
        <p:nvSpPr>
          <p:cNvPr id="14340" name="テキスト ボックス 6"/>
          <p:cNvSpPr txBox="1">
            <a:spLocks noChangeArrowheads="1"/>
          </p:cNvSpPr>
          <p:nvPr/>
        </p:nvSpPr>
        <p:spPr bwMode="auto">
          <a:xfrm>
            <a:off x="714348" y="1857364"/>
            <a:ext cx="7774885" cy="1938992"/>
          </a:xfrm>
          <a:prstGeom prst="rect">
            <a:avLst/>
          </a:prstGeom>
          <a:noFill/>
          <a:ln w="9525">
            <a:noFill/>
            <a:miter lim="800000"/>
            <a:headEnd/>
            <a:tailEnd/>
          </a:ln>
        </p:spPr>
        <p:txBody>
          <a:bodyPr wrap="none">
            <a:spAutoFit/>
          </a:bodyPr>
          <a:lstStyle/>
          <a:p>
            <a:r>
              <a:rPr lang="ja-JP" altLang="en-US" sz="2400" u="none" dirty="0" smtClean="0"/>
              <a:t>プロセス制</a:t>
            </a:r>
            <a:r>
              <a:rPr lang="ja-JP" altLang="en-US" sz="2400" u="none" dirty="0"/>
              <a:t>御ブロック</a:t>
            </a:r>
            <a:r>
              <a:rPr lang="en-US" altLang="ja-JP" sz="2400" u="none" dirty="0"/>
              <a:t>(</a:t>
            </a:r>
            <a:r>
              <a:rPr lang="ja-JP" altLang="en-US" sz="2400" u="none" dirty="0"/>
              <a:t>各プロセスごとにあり、メモリに常駐。</a:t>
            </a:r>
            <a:endParaRPr lang="en-US" altLang="ja-JP" sz="2400" u="none" dirty="0"/>
          </a:p>
          <a:p>
            <a:r>
              <a:rPr lang="en-US" altLang="ja-JP" sz="2400" u="none" dirty="0"/>
              <a:t>UNIX</a:t>
            </a:r>
            <a:r>
              <a:rPr lang="ja-JP" altLang="en-US" sz="2400" u="none" dirty="0"/>
              <a:t>系</a:t>
            </a:r>
            <a:r>
              <a:rPr lang="en-US" altLang="ja-JP" sz="2400" u="none" dirty="0"/>
              <a:t>OS</a:t>
            </a:r>
            <a:r>
              <a:rPr lang="ja-JP" altLang="en-US" sz="2400" u="none" dirty="0"/>
              <a:t>ではプロセス構造体</a:t>
            </a:r>
            <a:r>
              <a:rPr lang="en-US" altLang="ja-JP" sz="2400" u="none" dirty="0"/>
              <a:t>)</a:t>
            </a:r>
            <a:r>
              <a:rPr lang="ja-JP" altLang="en-US" sz="2400" u="none" dirty="0"/>
              <a:t>の中の、シグナル情報を</a:t>
            </a:r>
            <a:endParaRPr lang="en-US" altLang="ja-JP" sz="2400" u="none" dirty="0"/>
          </a:p>
          <a:p>
            <a:r>
              <a:rPr lang="ja-JP" altLang="en-US" sz="2400" u="none" dirty="0"/>
              <a:t>保持する部分への書き込み。</a:t>
            </a:r>
            <a:endParaRPr lang="en-US" altLang="ja-JP" sz="2400" u="none" dirty="0"/>
          </a:p>
          <a:p>
            <a:r>
              <a:rPr lang="ja-JP" altLang="en-US" sz="2400" u="none" dirty="0"/>
              <a:t>定期的（プロセスの切り替え時等）に、プロセス制御</a:t>
            </a:r>
            <a:endParaRPr lang="en-US" altLang="ja-JP" sz="2400" u="none" dirty="0"/>
          </a:p>
          <a:p>
            <a:r>
              <a:rPr lang="ja-JP" altLang="en-US" sz="2400" u="none" dirty="0"/>
              <a:t>ブロック中のシグナルの情報がチェックされる</a:t>
            </a:r>
            <a:r>
              <a:rPr lang="ja-JP" altLang="en-US" sz="2400" u="none" dirty="0" smtClean="0"/>
              <a:t>。</a:t>
            </a:r>
            <a:endParaRPr lang="en-US" altLang="ja-JP" sz="2400" u="none"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番号プレースホルダ 5"/>
          <p:cNvSpPr>
            <a:spLocks noGrp="1"/>
          </p:cNvSpPr>
          <p:nvPr>
            <p:ph type="sldNum" sz="quarter" idx="12"/>
          </p:nvPr>
        </p:nvSpPr>
        <p:spPr>
          <a:noFill/>
        </p:spPr>
        <p:txBody>
          <a:bodyPr/>
          <a:lstStyle/>
          <a:p>
            <a:fld id="{471B5C2D-68EB-48D0-A52B-A666BDA5E4D2}" type="slidenum">
              <a:rPr lang="en-US" altLang="ja-JP" smtClean="0">
                <a:ea typeface="ＭＳ Ｐゴシック" charset="-128"/>
              </a:rPr>
              <a:pPr/>
              <a:t>13</a:t>
            </a:fld>
            <a:endParaRPr lang="en-US" altLang="ja-JP" smtClean="0">
              <a:ea typeface="ＭＳ Ｐゴシック" charset="-128"/>
            </a:endParaRPr>
          </a:p>
        </p:txBody>
      </p:sp>
      <p:sp>
        <p:nvSpPr>
          <p:cNvPr id="15363" name="Rectangle 2"/>
          <p:cNvSpPr>
            <a:spLocks noGrp="1" noChangeArrowheads="1"/>
          </p:cNvSpPr>
          <p:nvPr>
            <p:ph type="title"/>
          </p:nvPr>
        </p:nvSpPr>
        <p:spPr>
          <a:xfrm>
            <a:off x="457200" y="142875"/>
            <a:ext cx="8229600" cy="1143000"/>
          </a:xfrm>
        </p:spPr>
        <p:txBody>
          <a:bodyPr/>
          <a:lstStyle/>
          <a:p>
            <a:pPr eaLnBrk="1" hangingPunct="1"/>
            <a:r>
              <a:rPr lang="ja-JP" altLang="en-US" u="sng" smtClean="0"/>
              <a:t>割り込みとシグナルのまとめ</a:t>
            </a:r>
          </a:p>
        </p:txBody>
      </p:sp>
      <p:sp>
        <p:nvSpPr>
          <p:cNvPr id="15364" name="テキスト ボックス 6"/>
          <p:cNvSpPr txBox="1">
            <a:spLocks noChangeArrowheads="1"/>
          </p:cNvSpPr>
          <p:nvPr/>
        </p:nvSpPr>
        <p:spPr bwMode="auto">
          <a:xfrm>
            <a:off x="285750" y="1071563"/>
            <a:ext cx="8643938" cy="5632450"/>
          </a:xfrm>
          <a:prstGeom prst="rect">
            <a:avLst/>
          </a:prstGeom>
          <a:noFill/>
          <a:ln w="9525">
            <a:noFill/>
            <a:miter lim="800000"/>
            <a:headEnd/>
            <a:tailEnd/>
          </a:ln>
        </p:spPr>
        <p:txBody>
          <a:bodyPr>
            <a:spAutoFit/>
          </a:bodyPr>
          <a:lstStyle/>
          <a:p>
            <a:r>
              <a:rPr lang="ja-JP" altLang="en-US" sz="2400" dirty="0"/>
              <a:t>割り込み（ハードウェア割り込み）</a:t>
            </a:r>
            <a:endParaRPr lang="en-US" altLang="ja-JP" sz="2400" dirty="0"/>
          </a:p>
          <a:p>
            <a:r>
              <a:rPr lang="en-US" altLang="ja-JP" sz="2400" u="none" dirty="0"/>
              <a:t>CPU</a:t>
            </a:r>
            <a:r>
              <a:rPr lang="ja-JP" altLang="en-US" sz="2400" u="none" dirty="0"/>
              <a:t>の命令実行への割り込み</a:t>
            </a:r>
            <a:endParaRPr lang="en-US" altLang="ja-JP" sz="2400" u="none" dirty="0"/>
          </a:p>
          <a:p>
            <a:r>
              <a:rPr lang="en-US" altLang="ja-JP" sz="2400" u="none" dirty="0"/>
              <a:t>    </a:t>
            </a:r>
            <a:r>
              <a:rPr lang="ja-JP" altLang="en-US" sz="2400" u="none" dirty="0"/>
              <a:t>外部割り込み</a:t>
            </a:r>
            <a:r>
              <a:rPr lang="en-US" altLang="ja-JP" sz="2400" u="none" dirty="0"/>
              <a:t>(CPU</a:t>
            </a:r>
            <a:r>
              <a:rPr lang="ja-JP" altLang="en-US" sz="2400" u="none" dirty="0"/>
              <a:t>の外部で発生。</a:t>
            </a:r>
            <a:r>
              <a:rPr lang="en-US" altLang="ja-JP" sz="2400" u="none" dirty="0"/>
              <a:t>)</a:t>
            </a:r>
          </a:p>
          <a:p>
            <a:r>
              <a:rPr lang="en-US" altLang="ja-JP" sz="2400" u="none" dirty="0"/>
              <a:t>        --- CPU</a:t>
            </a:r>
            <a:r>
              <a:rPr lang="ja-JP" altLang="en-US" sz="2400" u="none" dirty="0"/>
              <a:t>の信号線への入力。キーボード入力があった場合等。</a:t>
            </a:r>
            <a:endParaRPr lang="en-US" altLang="ja-JP" sz="2400" u="none" dirty="0"/>
          </a:p>
          <a:p>
            <a:r>
              <a:rPr lang="en-US" altLang="ja-JP" sz="2400" u="none" dirty="0"/>
              <a:t>    </a:t>
            </a:r>
            <a:r>
              <a:rPr lang="ja-JP" altLang="en-US" sz="2400" u="none" dirty="0"/>
              <a:t>内部割り込み</a:t>
            </a:r>
            <a:r>
              <a:rPr lang="en-US" altLang="ja-JP" sz="2400" u="none" dirty="0"/>
              <a:t>(CPU</a:t>
            </a:r>
            <a:r>
              <a:rPr lang="ja-JP" altLang="en-US" sz="2400" u="none" dirty="0"/>
              <a:t>内部で発生</a:t>
            </a:r>
            <a:r>
              <a:rPr lang="en-US" altLang="ja-JP" sz="2400" u="none" dirty="0"/>
              <a:t>)</a:t>
            </a:r>
          </a:p>
          <a:p>
            <a:r>
              <a:rPr lang="en-US" altLang="ja-JP" sz="2400" u="none" dirty="0"/>
              <a:t>         </a:t>
            </a:r>
            <a:r>
              <a:rPr lang="ja-JP" altLang="en-US" sz="2400" u="none" dirty="0"/>
              <a:t>トラップ命令</a:t>
            </a:r>
            <a:r>
              <a:rPr lang="en-US" altLang="ja-JP" sz="2400" u="none" dirty="0"/>
              <a:t> </a:t>
            </a:r>
            <a:r>
              <a:rPr lang="ja-JP" altLang="en-US" sz="2400" u="none" dirty="0"/>
              <a:t> </a:t>
            </a:r>
            <a:r>
              <a:rPr lang="en-US" altLang="ja-JP" sz="2400" u="none" dirty="0"/>
              <a:t>--- CPU</a:t>
            </a:r>
            <a:r>
              <a:rPr lang="ja-JP" altLang="en-US" sz="2400" u="none" dirty="0"/>
              <a:t>の命令の１つ。</a:t>
            </a:r>
            <a:endParaRPr lang="en-US" altLang="ja-JP" sz="2400" u="none" dirty="0"/>
          </a:p>
          <a:p>
            <a:r>
              <a:rPr lang="en-US" altLang="ja-JP" sz="2400" u="none" dirty="0"/>
              <a:t>                                 </a:t>
            </a:r>
            <a:r>
              <a:rPr lang="ja-JP" altLang="en-US" sz="2400" u="none" dirty="0"/>
              <a:t> </a:t>
            </a:r>
            <a:r>
              <a:rPr lang="ja-JP" altLang="en-US" sz="2400" dirty="0" smtClean="0"/>
              <a:t>    </a:t>
            </a:r>
            <a:r>
              <a:rPr lang="ja-JP" altLang="en-US" sz="2400" u="none" dirty="0" smtClean="0"/>
              <a:t>割り込み</a:t>
            </a:r>
            <a:r>
              <a:rPr lang="ja-JP" altLang="en-US" sz="2400" u="none" dirty="0"/>
              <a:t>を人為的に発生させる。</a:t>
            </a:r>
            <a:endParaRPr lang="en-US" altLang="ja-JP" sz="2400" u="none" dirty="0"/>
          </a:p>
          <a:p>
            <a:r>
              <a:rPr lang="en-US" altLang="ja-JP" sz="2400" u="none" dirty="0"/>
              <a:t>         </a:t>
            </a:r>
            <a:r>
              <a:rPr lang="ja-JP" altLang="en-US" sz="2400" u="none" dirty="0"/>
              <a:t>その他、浮動小数点エラー、電源異常等</a:t>
            </a:r>
            <a:endParaRPr lang="en-US" altLang="ja-JP" sz="2400" u="none" dirty="0"/>
          </a:p>
          <a:p>
            <a:r>
              <a:rPr lang="en-US" altLang="ja-JP" sz="2400" u="none" dirty="0"/>
              <a:t>    </a:t>
            </a:r>
            <a:r>
              <a:rPr lang="ja-JP" altLang="en-US" sz="2400" u="none" dirty="0"/>
              <a:t>メモリの先頭領域など、</a:t>
            </a:r>
            <a:r>
              <a:rPr lang="en-US" altLang="ja-JP" sz="2400" u="none" dirty="0"/>
              <a:t>CPU</a:t>
            </a:r>
            <a:r>
              <a:rPr lang="ja-JP" altLang="en-US" sz="2400" u="none" dirty="0"/>
              <a:t>であらかじめ定められた</a:t>
            </a:r>
            <a:endParaRPr lang="en-US" altLang="ja-JP" sz="2400" u="none" dirty="0"/>
          </a:p>
          <a:p>
            <a:r>
              <a:rPr lang="en-US" altLang="ja-JP" sz="2400" u="none" dirty="0"/>
              <a:t>    </a:t>
            </a:r>
            <a:r>
              <a:rPr lang="ja-JP" altLang="en-US" sz="2400" u="none" dirty="0"/>
              <a:t>場所に各割り込みに対する処理（のアドレス）を記述</a:t>
            </a:r>
            <a:endParaRPr lang="en-US" altLang="ja-JP" sz="2400" u="none" dirty="0"/>
          </a:p>
          <a:p>
            <a:r>
              <a:rPr lang="ja-JP" altLang="en-US" sz="2400" dirty="0"/>
              <a:t>シグナル（ソフトウェア割り込み）</a:t>
            </a:r>
            <a:endParaRPr lang="en-US" altLang="ja-JP" sz="2400" dirty="0"/>
          </a:p>
          <a:p>
            <a:r>
              <a:rPr lang="ja-JP" altLang="en-US" sz="2400" u="none" dirty="0"/>
              <a:t>プロセスへの割り込み。プロセス制御ブロックの書き換えで実現する。</a:t>
            </a:r>
            <a:r>
              <a:rPr lang="en-US" altLang="ja-JP" sz="2400" u="none" dirty="0"/>
              <a:t>(kill</a:t>
            </a:r>
            <a:r>
              <a:rPr lang="ja-JP" altLang="en-US" sz="2400" u="none" dirty="0"/>
              <a:t>システムコールで書き換える。</a:t>
            </a:r>
            <a:r>
              <a:rPr lang="en-US" altLang="ja-JP" sz="2400" u="none" dirty="0"/>
              <a:t>)</a:t>
            </a:r>
          </a:p>
          <a:p>
            <a:r>
              <a:rPr lang="en-US" altLang="ja-JP" sz="2400" u="none" dirty="0"/>
              <a:t>(</a:t>
            </a:r>
            <a:r>
              <a:rPr lang="ja-JP" altLang="en-US" sz="2400" u="none" dirty="0"/>
              <a:t>参考</a:t>
            </a:r>
            <a:r>
              <a:rPr lang="en-US" altLang="ja-JP" sz="2400" u="none" dirty="0"/>
              <a:t>)  </a:t>
            </a:r>
            <a:r>
              <a:rPr lang="ja-JP" altLang="en-US" sz="2400" u="none" dirty="0"/>
              <a:t>シグナルハンドラ（のアドレス）は</a:t>
            </a:r>
            <a:r>
              <a:rPr lang="en-US" altLang="ja-JP" sz="2400" u="none" dirty="0"/>
              <a:t>UNIX</a:t>
            </a:r>
            <a:r>
              <a:rPr lang="ja-JP" altLang="en-US" sz="2400" u="none" dirty="0"/>
              <a:t>ではユーザ構造体に保持する。</a:t>
            </a:r>
            <a:r>
              <a:rPr lang="en-US" altLang="ja-JP" sz="2400" u="none" dirty="0"/>
              <a:t>(signal</a:t>
            </a:r>
            <a:r>
              <a:rPr lang="ja-JP" altLang="en-US" sz="2400" u="none" dirty="0"/>
              <a:t>システムコールで変更可。</a:t>
            </a:r>
            <a:r>
              <a:rPr lang="en-US" altLang="ja-JP" sz="2400" u="none" dirty="0"/>
              <a: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スライド番号プレースホルダ 5"/>
          <p:cNvSpPr>
            <a:spLocks noGrp="1"/>
          </p:cNvSpPr>
          <p:nvPr>
            <p:ph type="sldNum" sz="quarter" idx="12"/>
          </p:nvPr>
        </p:nvSpPr>
        <p:spPr>
          <a:noFill/>
        </p:spPr>
        <p:txBody>
          <a:bodyPr/>
          <a:lstStyle/>
          <a:p>
            <a:fld id="{1B97D064-1DB4-411D-96CC-E84B24374321}" type="slidenum">
              <a:rPr lang="en-US" altLang="ja-JP" smtClean="0">
                <a:ea typeface="ＭＳ Ｐゴシック" charset="-128"/>
              </a:rPr>
              <a:pPr/>
              <a:t>14</a:t>
            </a:fld>
            <a:endParaRPr lang="en-US" altLang="ja-JP" smtClean="0">
              <a:ea typeface="ＭＳ Ｐゴシック" charset="-128"/>
            </a:endParaRPr>
          </a:p>
        </p:txBody>
      </p:sp>
      <p:sp>
        <p:nvSpPr>
          <p:cNvPr id="19459" name="Rectangle 2"/>
          <p:cNvSpPr>
            <a:spLocks noGrp="1" noChangeArrowheads="1"/>
          </p:cNvSpPr>
          <p:nvPr>
            <p:ph type="title"/>
          </p:nvPr>
        </p:nvSpPr>
        <p:spPr>
          <a:xfrm>
            <a:off x="457200" y="274638"/>
            <a:ext cx="8229600" cy="868346"/>
          </a:xfrm>
        </p:spPr>
        <p:txBody>
          <a:bodyPr/>
          <a:lstStyle/>
          <a:p>
            <a:pPr eaLnBrk="1" hangingPunct="1"/>
            <a:r>
              <a:rPr lang="ja-JP" altLang="en-US" dirty="0" smtClean="0"/>
              <a:t>プロセスへのシグナル送信</a:t>
            </a:r>
          </a:p>
        </p:txBody>
      </p:sp>
      <p:sp>
        <p:nvSpPr>
          <p:cNvPr id="19460" name="Rectangle 3"/>
          <p:cNvSpPr>
            <a:spLocks noGrp="1" noChangeArrowheads="1"/>
          </p:cNvSpPr>
          <p:nvPr>
            <p:ph type="body" idx="1"/>
          </p:nvPr>
        </p:nvSpPr>
        <p:spPr>
          <a:xfrm>
            <a:off x="357188" y="2143125"/>
            <a:ext cx="8229600" cy="4525963"/>
          </a:xfrm>
        </p:spPr>
        <p:txBody>
          <a:bodyPr/>
          <a:lstStyle/>
          <a:p>
            <a:pPr eaLnBrk="1" hangingPunct="1"/>
            <a:endParaRPr lang="ja-JP" altLang="ja-JP" smtClean="0"/>
          </a:p>
        </p:txBody>
      </p:sp>
      <p:pic>
        <p:nvPicPr>
          <p:cNvPr id="19461" name="Picture 4" descr="名称未設定5"/>
          <p:cNvPicPr>
            <a:picLocks noChangeAspect="1" noChangeArrowheads="1"/>
          </p:cNvPicPr>
          <p:nvPr/>
        </p:nvPicPr>
        <p:blipFill>
          <a:blip r:embed="rId2" cstate="print"/>
          <a:srcRect/>
          <a:stretch>
            <a:fillRect/>
          </a:stretch>
        </p:blipFill>
        <p:spPr bwMode="auto">
          <a:xfrm>
            <a:off x="0" y="1963738"/>
            <a:ext cx="9144000" cy="4894262"/>
          </a:xfrm>
          <a:prstGeom prst="rect">
            <a:avLst/>
          </a:prstGeom>
          <a:noFill/>
          <a:ln w="9525">
            <a:noFill/>
            <a:miter lim="800000"/>
            <a:headEnd/>
            <a:tailEnd/>
          </a:ln>
        </p:spPr>
      </p:pic>
      <p:sp>
        <p:nvSpPr>
          <p:cNvPr id="19462" name="テキスト ボックス 5"/>
          <p:cNvSpPr txBox="1">
            <a:spLocks noChangeArrowheads="1"/>
          </p:cNvSpPr>
          <p:nvPr/>
        </p:nvSpPr>
        <p:spPr bwMode="auto">
          <a:xfrm>
            <a:off x="1000100" y="1142984"/>
            <a:ext cx="4665663" cy="523875"/>
          </a:xfrm>
          <a:prstGeom prst="rect">
            <a:avLst/>
          </a:prstGeom>
          <a:noFill/>
          <a:ln w="9525">
            <a:noFill/>
            <a:miter lim="800000"/>
            <a:headEnd/>
            <a:tailEnd/>
          </a:ln>
        </p:spPr>
        <p:txBody>
          <a:bodyPr wrap="none">
            <a:spAutoFit/>
          </a:bodyPr>
          <a:lstStyle/>
          <a:p>
            <a:r>
              <a:rPr lang="ja-JP" altLang="en-US" sz="2800" u="none" dirty="0"/>
              <a:t> </a:t>
            </a:r>
            <a:r>
              <a:rPr lang="en-US" altLang="ja-JP" sz="2800" u="none" dirty="0"/>
              <a:t>kill </a:t>
            </a:r>
            <a:r>
              <a:rPr lang="ja-JP" altLang="en-US" sz="2800" u="none" dirty="0"/>
              <a:t>システムコールを用いる。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スライド番号プレースホルダ 5"/>
          <p:cNvSpPr>
            <a:spLocks noGrp="1"/>
          </p:cNvSpPr>
          <p:nvPr>
            <p:ph type="sldNum" sz="quarter" idx="12"/>
          </p:nvPr>
        </p:nvSpPr>
        <p:spPr>
          <a:noFill/>
        </p:spPr>
        <p:txBody>
          <a:bodyPr/>
          <a:lstStyle/>
          <a:p>
            <a:fld id="{62D9AEF7-9292-4D87-AD5D-723F49734096}" type="slidenum">
              <a:rPr lang="en-US" altLang="ja-JP" smtClean="0">
                <a:ea typeface="ＭＳ Ｐゴシック" charset="-128"/>
              </a:rPr>
              <a:pPr/>
              <a:t>15</a:t>
            </a:fld>
            <a:endParaRPr lang="en-US" altLang="ja-JP" smtClean="0">
              <a:ea typeface="ＭＳ Ｐゴシック" charset="-128"/>
            </a:endParaRPr>
          </a:p>
        </p:txBody>
      </p:sp>
      <p:sp>
        <p:nvSpPr>
          <p:cNvPr id="20483" name="Rectangle 2"/>
          <p:cNvSpPr>
            <a:spLocks noGrp="1" noChangeArrowheads="1"/>
          </p:cNvSpPr>
          <p:nvPr>
            <p:ph type="title"/>
          </p:nvPr>
        </p:nvSpPr>
        <p:spPr/>
        <p:txBody>
          <a:bodyPr/>
          <a:lstStyle/>
          <a:p>
            <a:pPr eaLnBrk="1" hangingPunct="1"/>
            <a:r>
              <a:rPr lang="ja-JP" altLang="en-US" u="sng" smtClean="0"/>
              <a:t>プロセスへのシグナル送信</a:t>
            </a:r>
          </a:p>
        </p:txBody>
      </p:sp>
      <p:sp>
        <p:nvSpPr>
          <p:cNvPr id="20484" name="テキスト ボックス 5"/>
          <p:cNvSpPr txBox="1">
            <a:spLocks noChangeArrowheads="1"/>
          </p:cNvSpPr>
          <p:nvPr/>
        </p:nvSpPr>
        <p:spPr bwMode="auto">
          <a:xfrm>
            <a:off x="428625" y="1500188"/>
            <a:ext cx="4546600" cy="523875"/>
          </a:xfrm>
          <a:prstGeom prst="rect">
            <a:avLst/>
          </a:prstGeom>
          <a:noFill/>
          <a:ln w="9525">
            <a:noFill/>
            <a:miter lim="800000"/>
            <a:headEnd/>
            <a:tailEnd/>
          </a:ln>
        </p:spPr>
        <p:txBody>
          <a:bodyPr wrap="none">
            <a:spAutoFit/>
          </a:bodyPr>
          <a:lstStyle/>
          <a:p>
            <a:r>
              <a:rPr lang="ja-JP" altLang="en-US" sz="2800" u="none"/>
              <a:t> </a:t>
            </a:r>
            <a:r>
              <a:rPr lang="en-US" altLang="ja-JP" sz="2800" u="none"/>
              <a:t>kill </a:t>
            </a:r>
            <a:r>
              <a:rPr lang="ja-JP" altLang="en-US" sz="2800" u="none"/>
              <a:t>システムコールの注意点</a:t>
            </a:r>
          </a:p>
        </p:txBody>
      </p:sp>
      <p:sp>
        <p:nvSpPr>
          <p:cNvPr id="20485" name="テキスト ボックス 6"/>
          <p:cNvSpPr txBox="1">
            <a:spLocks noChangeArrowheads="1"/>
          </p:cNvSpPr>
          <p:nvPr/>
        </p:nvSpPr>
        <p:spPr bwMode="auto">
          <a:xfrm>
            <a:off x="574675" y="2500313"/>
            <a:ext cx="8140729" cy="2677656"/>
          </a:xfrm>
          <a:prstGeom prst="rect">
            <a:avLst/>
          </a:prstGeom>
          <a:noFill/>
          <a:ln w="9525">
            <a:noFill/>
            <a:miter lim="800000"/>
            <a:headEnd/>
            <a:tailEnd/>
          </a:ln>
        </p:spPr>
        <p:txBody>
          <a:bodyPr wrap="square">
            <a:spAutoFit/>
          </a:bodyPr>
          <a:lstStyle/>
          <a:p>
            <a:r>
              <a:rPr lang="en-US" altLang="ja-JP" sz="2400" u="none" dirty="0"/>
              <a:t>kill</a:t>
            </a:r>
            <a:r>
              <a:rPr lang="ja-JP" altLang="en-US" sz="2400" u="none" dirty="0"/>
              <a:t>システムコールの送信プロセスのユーザ</a:t>
            </a:r>
            <a:r>
              <a:rPr lang="en-US" altLang="ja-JP" sz="2400" u="none" dirty="0"/>
              <a:t>ID</a:t>
            </a:r>
            <a:r>
              <a:rPr lang="ja-JP" altLang="en-US" sz="2400" u="none" dirty="0"/>
              <a:t>は</a:t>
            </a:r>
            <a:endParaRPr lang="en-US" altLang="ja-JP" sz="2400" u="none" dirty="0"/>
          </a:p>
          <a:p>
            <a:r>
              <a:rPr lang="ja-JP" altLang="en-US" sz="2400" u="none" dirty="0"/>
              <a:t>受信プロセスのユーザ</a:t>
            </a:r>
            <a:r>
              <a:rPr lang="en-US" altLang="ja-JP" sz="2400" u="none" dirty="0"/>
              <a:t>ID</a:t>
            </a:r>
            <a:r>
              <a:rPr lang="ja-JP" altLang="en-US" sz="2400" u="none" dirty="0"/>
              <a:t>と一致しなければならない。</a:t>
            </a:r>
            <a:endParaRPr lang="en-US" altLang="ja-JP" sz="2400" u="none" dirty="0"/>
          </a:p>
          <a:p>
            <a:r>
              <a:rPr lang="ja-JP" altLang="en-US" sz="2400" u="none" dirty="0"/>
              <a:t>ただし、送信プロセスのユーザ</a:t>
            </a:r>
            <a:r>
              <a:rPr lang="en-US" altLang="ja-JP" sz="2400" u="none" dirty="0"/>
              <a:t>ID</a:t>
            </a:r>
            <a:r>
              <a:rPr lang="ja-JP" altLang="en-US" sz="2400" u="none" dirty="0"/>
              <a:t>がスーパーユーザの場合は</a:t>
            </a:r>
            <a:endParaRPr lang="en-US" altLang="ja-JP" sz="2400" u="none" dirty="0"/>
          </a:p>
          <a:p>
            <a:r>
              <a:rPr lang="ja-JP" altLang="en-US" sz="2400" u="none" dirty="0"/>
              <a:t>一致しなくてよい。</a:t>
            </a:r>
            <a:endParaRPr lang="en-US" altLang="ja-JP" sz="2400" u="none" dirty="0"/>
          </a:p>
          <a:p>
            <a:endParaRPr lang="en-US" altLang="ja-JP" sz="2400" u="none" dirty="0"/>
          </a:p>
          <a:p>
            <a:r>
              <a:rPr lang="en-US" altLang="ja-JP" sz="2400" u="none" dirty="0" smtClean="0"/>
              <a:t>init</a:t>
            </a:r>
            <a:r>
              <a:rPr lang="ja-JP" altLang="en-US" sz="2400" u="none" dirty="0" smtClean="0"/>
              <a:t>プロセス</a:t>
            </a:r>
            <a:r>
              <a:rPr lang="ja-JP" altLang="en-US" sz="2400" dirty="0" smtClean="0"/>
              <a:t>（</a:t>
            </a:r>
            <a:r>
              <a:rPr lang="ja-JP" altLang="en-US" sz="2400" dirty="0" smtClean="0"/>
              <a:t>プロセス</a:t>
            </a:r>
            <a:r>
              <a:rPr lang="en-US" altLang="ja-JP" sz="2400" dirty="0" smtClean="0"/>
              <a:t>ID 1</a:t>
            </a:r>
            <a:r>
              <a:rPr lang="ja-JP" altLang="en-US" sz="2400" dirty="0" smtClean="0"/>
              <a:t>番</a:t>
            </a:r>
            <a:r>
              <a:rPr lang="ja-JP" altLang="en-US" sz="2400" dirty="0" smtClean="0"/>
              <a:t>）</a:t>
            </a:r>
            <a:r>
              <a:rPr lang="ja-JP" altLang="en-US" sz="2400" u="none" dirty="0" smtClean="0"/>
              <a:t>に</a:t>
            </a:r>
            <a:r>
              <a:rPr lang="ja-JP" altLang="en-US" sz="2400" u="none" dirty="0"/>
              <a:t>はシグナルハンドラが設定されていない</a:t>
            </a:r>
            <a:r>
              <a:rPr lang="ja-JP" altLang="en-US" sz="2400" u="none" dirty="0" smtClean="0"/>
              <a:t>。（間違って</a:t>
            </a:r>
            <a:r>
              <a:rPr lang="ja-JP" altLang="en-US" sz="2400" u="none" dirty="0"/>
              <a:t>システムを停止させないようにするため）</a:t>
            </a:r>
            <a:endParaRPr lang="en-US" altLang="ja-JP" sz="2400" u="none"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スライド番号プレースホルダ 5"/>
          <p:cNvSpPr>
            <a:spLocks noGrp="1"/>
          </p:cNvSpPr>
          <p:nvPr>
            <p:ph type="sldNum" sz="quarter" idx="12"/>
          </p:nvPr>
        </p:nvSpPr>
        <p:spPr>
          <a:noFill/>
        </p:spPr>
        <p:txBody>
          <a:bodyPr/>
          <a:lstStyle/>
          <a:p>
            <a:fld id="{0E3E2523-4329-44B0-B5C6-9A74A7336C40}" type="slidenum">
              <a:rPr lang="en-US" altLang="ja-JP" smtClean="0">
                <a:ea typeface="ＭＳ Ｐゴシック" charset="-128"/>
              </a:rPr>
              <a:pPr/>
              <a:t>16</a:t>
            </a:fld>
            <a:endParaRPr lang="en-US" altLang="ja-JP" smtClean="0">
              <a:ea typeface="ＭＳ Ｐゴシック" charset="-128"/>
            </a:endParaRPr>
          </a:p>
        </p:txBody>
      </p:sp>
      <p:sp>
        <p:nvSpPr>
          <p:cNvPr id="23555" name="Rectangle 2"/>
          <p:cNvSpPr>
            <a:spLocks noGrp="1" noChangeArrowheads="1"/>
          </p:cNvSpPr>
          <p:nvPr>
            <p:ph type="title"/>
          </p:nvPr>
        </p:nvSpPr>
        <p:spPr/>
        <p:txBody>
          <a:bodyPr/>
          <a:lstStyle/>
          <a:p>
            <a:pPr eaLnBrk="1" hangingPunct="1"/>
            <a:r>
              <a:rPr lang="ja-JP" altLang="en-US" dirty="0" smtClean="0"/>
              <a:t>練習問題１</a:t>
            </a:r>
          </a:p>
        </p:txBody>
      </p:sp>
      <p:sp>
        <p:nvSpPr>
          <p:cNvPr id="23556" name="Rectangle 3"/>
          <p:cNvSpPr>
            <a:spLocks noChangeArrowheads="1"/>
          </p:cNvSpPr>
          <p:nvPr/>
        </p:nvSpPr>
        <p:spPr bwMode="auto">
          <a:xfrm>
            <a:off x="714348" y="1142984"/>
            <a:ext cx="7596187" cy="5509200"/>
          </a:xfrm>
          <a:prstGeom prst="rect">
            <a:avLst/>
          </a:prstGeom>
          <a:noFill/>
          <a:ln w="9525">
            <a:noFill/>
            <a:miter lim="800000"/>
            <a:headEnd/>
            <a:tailEnd/>
          </a:ln>
        </p:spPr>
        <p:txBody>
          <a:bodyPr>
            <a:spAutoFit/>
          </a:bodyPr>
          <a:lstStyle/>
          <a:p>
            <a:r>
              <a:rPr lang="en-US" altLang="ja-JP" sz="3200" u="none" dirty="0"/>
              <a:t>Ctrl-C</a:t>
            </a:r>
            <a:r>
              <a:rPr lang="ja-JP" altLang="en-US" sz="3200" u="none" dirty="0"/>
              <a:t>を押したら、それが何回目かを表示</a:t>
            </a:r>
          </a:p>
          <a:p>
            <a:r>
              <a:rPr lang="ja-JP" altLang="en-US" sz="3200" u="none" dirty="0"/>
              <a:t>するプログラムを書け。</a:t>
            </a:r>
          </a:p>
          <a:p>
            <a:endParaRPr lang="ja-JP" altLang="en-US" sz="3200" u="none" dirty="0"/>
          </a:p>
          <a:p>
            <a:r>
              <a:rPr lang="en-US" altLang="ja-JP" sz="3200" u="none" dirty="0"/>
              <a:t>(</a:t>
            </a:r>
            <a:r>
              <a:rPr lang="ja-JP" altLang="en-US" sz="3200" u="none" dirty="0" smtClean="0"/>
              <a:t>プログラム本体は何もしない無限ループを実行する。シグナル捕獲関数を</a:t>
            </a:r>
            <a:r>
              <a:rPr lang="en-US" altLang="ja-JP" sz="3200" u="none" dirty="0" smtClean="0"/>
              <a:t>signal</a:t>
            </a:r>
            <a:r>
              <a:rPr lang="ja-JP" altLang="en-US" sz="3200" u="none" dirty="0" smtClean="0"/>
              <a:t>システムコールで</a:t>
            </a:r>
            <a:r>
              <a:rPr lang="en-US" altLang="ja-JP" sz="3200" u="none" dirty="0" smtClean="0"/>
              <a:t>SIGINT</a:t>
            </a:r>
            <a:r>
              <a:rPr lang="ja-JP" altLang="en-US" sz="3200" u="none" dirty="0" smtClean="0"/>
              <a:t>に対して設定する。</a:t>
            </a:r>
            <a:r>
              <a:rPr lang="en-US" altLang="ja-JP" sz="3200" u="none" dirty="0" smtClean="0"/>
              <a:t>Global</a:t>
            </a:r>
            <a:r>
              <a:rPr lang="ja-JP" altLang="en-US" sz="3200" u="none" dirty="0"/>
              <a:t>変数に</a:t>
            </a:r>
            <a:r>
              <a:rPr lang="en-US" altLang="ja-JP" sz="3200" u="none" dirty="0"/>
              <a:t>Ctrl-C</a:t>
            </a:r>
            <a:r>
              <a:rPr lang="ja-JP" altLang="en-US" sz="3200" u="none" dirty="0"/>
              <a:t>が押された回数を保持する。</a:t>
            </a:r>
            <a:r>
              <a:rPr lang="en-US" altLang="ja-JP" sz="3200" u="none" dirty="0" smtClean="0"/>
              <a:t>)</a:t>
            </a:r>
          </a:p>
          <a:p>
            <a:endParaRPr lang="en-US" altLang="ja-JP" sz="3200" dirty="0" smtClean="0"/>
          </a:p>
          <a:p>
            <a:r>
              <a:rPr lang="ja-JP" altLang="en-US" sz="3200" u="none" dirty="0" smtClean="0"/>
              <a:t>（終了方法）</a:t>
            </a:r>
            <a:r>
              <a:rPr lang="en-US" altLang="ja-JP" sz="3200" u="none" dirty="0" smtClean="0"/>
              <a:t>Ctrl-Z</a:t>
            </a:r>
            <a:r>
              <a:rPr lang="ja-JP" altLang="en-US" sz="3200" dirty="0" smtClean="0"/>
              <a:t>で中断し、</a:t>
            </a:r>
            <a:r>
              <a:rPr lang="en-US" altLang="ja-JP" sz="3200" dirty="0" err="1" smtClean="0"/>
              <a:t>ps</a:t>
            </a:r>
            <a:r>
              <a:rPr lang="ja-JP" altLang="en-US" sz="3200" dirty="0" smtClean="0"/>
              <a:t>コマンドで</a:t>
            </a:r>
            <a:r>
              <a:rPr lang="en-US" altLang="ja-JP" sz="3200" dirty="0" smtClean="0"/>
              <a:t>process id</a:t>
            </a:r>
            <a:r>
              <a:rPr lang="ja-JP" altLang="en-US" sz="3200" dirty="0" smtClean="0"/>
              <a:t>を調べ、</a:t>
            </a:r>
            <a:r>
              <a:rPr lang="en-US" altLang="ja-JP" sz="3200" dirty="0" smtClean="0"/>
              <a:t>kill</a:t>
            </a:r>
            <a:r>
              <a:rPr lang="ja-JP" altLang="en-US" sz="3200" dirty="0" smtClean="0"/>
              <a:t>コマンドで引数にその</a:t>
            </a:r>
            <a:r>
              <a:rPr lang="en-US" altLang="ja-JP" sz="3200" dirty="0" smtClean="0"/>
              <a:t>id</a:t>
            </a:r>
            <a:r>
              <a:rPr lang="ja-JP" altLang="en-US" sz="3200" dirty="0" smtClean="0"/>
              <a:t>を与えて終了させる。</a:t>
            </a:r>
            <a:endParaRPr lang="en-US" altLang="ja-JP" sz="3200"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スライド番号プレースホルダ 5"/>
          <p:cNvSpPr>
            <a:spLocks noGrp="1"/>
          </p:cNvSpPr>
          <p:nvPr>
            <p:ph type="sldNum" sz="quarter" idx="12"/>
          </p:nvPr>
        </p:nvSpPr>
        <p:spPr>
          <a:noFill/>
        </p:spPr>
        <p:txBody>
          <a:bodyPr/>
          <a:lstStyle/>
          <a:p>
            <a:fld id="{D97DDF1B-95C4-400D-AB80-2E16EEDC876B}" type="slidenum">
              <a:rPr lang="en-US" altLang="ja-JP" smtClean="0">
                <a:ea typeface="ＭＳ Ｐゴシック" charset="-128"/>
              </a:rPr>
              <a:pPr/>
              <a:t>17</a:t>
            </a:fld>
            <a:endParaRPr lang="en-US" altLang="ja-JP" smtClean="0">
              <a:ea typeface="ＭＳ Ｐゴシック" charset="-128"/>
            </a:endParaRPr>
          </a:p>
        </p:txBody>
      </p:sp>
      <p:sp>
        <p:nvSpPr>
          <p:cNvPr id="24579" name="Rectangle 2"/>
          <p:cNvSpPr>
            <a:spLocks noGrp="1" noChangeArrowheads="1"/>
          </p:cNvSpPr>
          <p:nvPr>
            <p:ph type="title"/>
          </p:nvPr>
        </p:nvSpPr>
        <p:spPr>
          <a:xfrm>
            <a:off x="457200" y="274638"/>
            <a:ext cx="8229600" cy="796908"/>
          </a:xfrm>
        </p:spPr>
        <p:txBody>
          <a:bodyPr/>
          <a:lstStyle/>
          <a:p>
            <a:pPr eaLnBrk="1" hangingPunct="1"/>
            <a:r>
              <a:rPr lang="ja-JP" altLang="en-US" dirty="0" smtClean="0"/>
              <a:t>練習問題２</a:t>
            </a:r>
          </a:p>
        </p:txBody>
      </p:sp>
      <p:sp>
        <p:nvSpPr>
          <p:cNvPr id="24580" name="Rectangle 3"/>
          <p:cNvSpPr>
            <a:spLocks noChangeArrowheads="1"/>
          </p:cNvSpPr>
          <p:nvPr/>
        </p:nvSpPr>
        <p:spPr bwMode="auto">
          <a:xfrm>
            <a:off x="785786" y="1142984"/>
            <a:ext cx="7715304" cy="5509200"/>
          </a:xfrm>
          <a:prstGeom prst="rect">
            <a:avLst/>
          </a:prstGeom>
          <a:noFill/>
          <a:ln w="9525">
            <a:noFill/>
            <a:miter lim="800000"/>
            <a:headEnd/>
            <a:tailEnd/>
          </a:ln>
        </p:spPr>
        <p:txBody>
          <a:bodyPr wrap="square">
            <a:spAutoFit/>
          </a:bodyPr>
          <a:lstStyle/>
          <a:p>
            <a:r>
              <a:rPr lang="ja-JP" altLang="en-US" sz="3200" u="none" dirty="0"/>
              <a:t>自分がログインしているマシンの（自分のユーザ</a:t>
            </a:r>
            <a:r>
              <a:rPr lang="en-US" altLang="ja-JP" sz="3200" u="none" dirty="0"/>
              <a:t>ID</a:t>
            </a:r>
            <a:r>
              <a:rPr lang="ja-JP" altLang="en-US" sz="3200" u="none" dirty="0"/>
              <a:t>の）プロセスのプロセス番号を列挙するプログラムを書け。</a:t>
            </a:r>
          </a:p>
          <a:p>
            <a:endParaRPr lang="ja-JP" altLang="en-US" sz="3200" u="none" dirty="0"/>
          </a:p>
          <a:p>
            <a:r>
              <a:rPr lang="ja-JP" altLang="en-US" sz="3200" u="none" dirty="0"/>
              <a:t> </a:t>
            </a:r>
            <a:r>
              <a:rPr lang="en-US" altLang="ja-JP" sz="3200" u="none" dirty="0"/>
              <a:t>kill(</a:t>
            </a:r>
            <a:r>
              <a:rPr lang="en-US" altLang="ja-JP" sz="3200" u="none" dirty="0" err="1"/>
              <a:t>pid</a:t>
            </a:r>
            <a:r>
              <a:rPr lang="en-US" altLang="ja-JP" sz="3200" u="none" dirty="0"/>
              <a:t>, 0)</a:t>
            </a:r>
            <a:r>
              <a:rPr lang="ja-JP" altLang="en-US" sz="3200" u="none" dirty="0"/>
              <a:t>を用いる</a:t>
            </a:r>
            <a:r>
              <a:rPr lang="ja-JP" altLang="en-US" sz="3200" u="none" dirty="0" smtClean="0"/>
              <a:t>。（第２引数が</a:t>
            </a:r>
            <a:r>
              <a:rPr lang="en-US" altLang="ja-JP" sz="3200" u="none" dirty="0" smtClean="0"/>
              <a:t>0</a:t>
            </a:r>
            <a:r>
              <a:rPr lang="ja-JP" altLang="en-US" sz="3200" u="none" dirty="0" smtClean="0"/>
              <a:t>の場合はシグナルは送られないが、エラーチェックは行われる。</a:t>
            </a:r>
            <a:r>
              <a:rPr lang="en-US" altLang="ja-JP" sz="3200" u="none" dirty="0" err="1" smtClean="0"/>
              <a:t>pid</a:t>
            </a:r>
            <a:r>
              <a:rPr lang="ja-JP" altLang="en-US" sz="3200" u="none" dirty="0" smtClean="0"/>
              <a:t>が自分のプロセスの</a:t>
            </a:r>
            <a:r>
              <a:rPr lang="en-US" altLang="ja-JP" sz="3200" dirty="0" smtClean="0"/>
              <a:t>ID</a:t>
            </a:r>
            <a:r>
              <a:rPr lang="ja-JP" altLang="en-US" sz="3200" dirty="0" smtClean="0"/>
              <a:t>の場合返り値が</a:t>
            </a:r>
            <a:r>
              <a:rPr lang="en-US" altLang="ja-JP" sz="3200" dirty="0" smtClean="0"/>
              <a:t>0</a:t>
            </a:r>
            <a:r>
              <a:rPr lang="ja-JP" altLang="en-US" sz="3200" dirty="0" smtClean="0"/>
              <a:t>であり、それ以外の場合</a:t>
            </a:r>
            <a:r>
              <a:rPr lang="ja-JP" altLang="en-US" sz="3200" dirty="0" smtClean="0"/>
              <a:t>は、存在</a:t>
            </a:r>
            <a:r>
              <a:rPr lang="ja-JP" altLang="en-US" sz="3200" dirty="0" smtClean="0"/>
              <a:t>しない</a:t>
            </a:r>
            <a:r>
              <a:rPr lang="en-US" altLang="ja-JP" sz="3200" dirty="0" smtClean="0"/>
              <a:t>ID</a:t>
            </a:r>
            <a:r>
              <a:rPr lang="ja-JP" altLang="en-US" sz="3200" dirty="0" smtClean="0"/>
              <a:t>か、あるいは自分以外のプロセスということで返り値が</a:t>
            </a:r>
            <a:r>
              <a:rPr lang="en-US" altLang="ja-JP" sz="3200" dirty="0" smtClean="0"/>
              <a:t>-1</a:t>
            </a:r>
            <a:r>
              <a:rPr lang="ja-JP" altLang="en-US" sz="3200" dirty="0" smtClean="0"/>
              <a:t>になる。</a:t>
            </a:r>
            <a:r>
              <a:rPr lang="en-US" altLang="ja-JP" sz="3200" u="none" dirty="0" smtClean="0"/>
              <a:t>)</a:t>
            </a:r>
            <a:endParaRPr lang="ja-JP" altLang="en-US" sz="3200" u="none" dirty="0"/>
          </a:p>
          <a:p>
            <a:r>
              <a:rPr lang="ja-JP" altLang="en-US" sz="3200" u="none" dirty="0"/>
              <a:t> </a:t>
            </a:r>
            <a:r>
              <a:rPr lang="en-US" altLang="ja-JP" sz="3200" u="none" dirty="0" err="1"/>
              <a:t>pid</a:t>
            </a:r>
            <a:r>
              <a:rPr lang="ja-JP" altLang="en-US" sz="3200" u="none" dirty="0"/>
              <a:t>を</a:t>
            </a:r>
            <a:r>
              <a:rPr lang="en-US" altLang="ja-JP" sz="3200" u="none" dirty="0"/>
              <a:t>1</a:t>
            </a:r>
            <a:r>
              <a:rPr lang="ja-JP" altLang="en-US" sz="3200" u="none" dirty="0"/>
              <a:t>から</a:t>
            </a:r>
            <a:r>
              <a:rPr lang="en-US" altLang="ja-JP" sz="3200" u="none" dirty="0"/>
              <a:t>32767</a:t>
            </a:r>
            <a:r>
              <a:rPr lang="ja-JP" altLang="en-US" sz="3200" u="none" dirty="0" err="1"/>
              <a:t>まで</a:t>
            </a:r>
            <a:r>
              <a:rPr lang="ja-JP" altLang="en-US" sz="3200" u="none" dirty="0"/>
              <a:t>変化させる。</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1104</Words>
  <Application>Microsoft Office PowerPoint</Application>
  <PresentationFormat>画面に合わせる (4:3)</PresentationFormat>
  <Paragraphs>158</Paragraphs>
  <Slides>17</Slides>
  <Notes>0</Notes>
  <HiddenSlides>0</HiddenSlides>
  <MMClips>0</MMClips>
  <ScaleCrop>false</ScaleCrop>
  <HeadingPairs>
    <vt:vector size="4" baseType="variant">
      <vt:variant>
        <vt:lpstr>テーマ</vt:lpstr>
      </vt:variant>
      <vt:variant>
        <vt:i4>1</vt:i4>
      </vt:variant>
      <vt:variant>
        <vt:lpstr>スライド タイトル</vt:lpstr>
      </vt:variant>
      <vt:variant>
        <vt:i4>17</vt:i4>
      </vt:variant>
    </vt:vector>
  </HeadingPairs>
  <TitlesOfParts>
    <vt:vector size="18" baseType="lpstr">
      <vt:lpstr>Office テーマ</vt:lpstr>
      <vt:lpstr>システムプログラミング</vt:lpstr>
      <vt:lpstr>今回の内容</vt:lpstr>
      <vt:lpstr>前回の補足</vt:lpstr>
      <vt:lpstr>シグナルとは？</vt:lpstr>
      <vt:lpstr>スライド 5</vt:lpstr>
      <vt:lpstr>シグナルとは</vt:lpstr>
      <vt:lpstr>シグナル捕獲時の処理の指定 signal()システムコール</vt:lpstr>
      <vt:lpstr>Signalシステムコール使用例１（打ち込んで確認）</vt:lpstr>
      <vt:lpstr>signalシステムコール使用例2</vt:lpstr>
      <vt:lpstr>例（打ち込んで確認）</vt:lpstr>
      <vt:lpstr>シグナルについて補足</vt:lpstr>
      <vt:lpstr>シグナルの実装</vt:lpstr>
      <vt:lpstr>割り込みとシグナルのまとめ</vt:lpstr>
      <vt:lpstr>プロセスへのシグナル送信</vt:lpstr>
      <vt:lpstr>プロセスへのシグナル送信</vt:lpstr>
      <vt:lpstr>練習問題１</vt:lpstr>
      <vt:lpstr>練習問題２</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dc:title>
  <dc:creator>sasano</dc:creator>
  <cp:lastModifiedBy>sasano</cp:lastModifiedBy>
  <cp:revision>87</cp:revision>
  <dcterms:created xsi:type="dcterms:W3CDTF">2009-12-02T06:44:17Z</dcterms:created>
  <dcterms:modified xsi:type="dcterms:W3CDTF">2009-12-07T15:46:22Z</dcterms:modified>
</cp:coreProperties>
</file>