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83" r:id="rId3"/>
    <p:sldId id="258" r:id="rId4"/>
    <p:sldId id="259" r:id="rId5"/>
    <p:sldId id="260" r:id="rId6"/>
    <p:sldId id="285" r:id="rId7"/>
    <p:sldId id="291" r:id="rId8"/>
    <p:sldId id="292" r:id="rId9"/>
    <p:sldId id="294" r:id="rId10"/>
    <p:sldId id="293" r:id="rId11"/>
    <p:sldId id="301" r:id="rId12"/>
    <p:sldId id="289" r:id="rId13"/>
    <p:sldId id="290" r:id="rId14"/>
    <p:sldId id="287" r:id="rId15"/>
    <p:sldId id="296" r:id="rId16"/>
    <p:sldId id="297" r:id="rId17"/>
    <p:sldId id="300" r:id="rId18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52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BD7067-889B-414B-8FB7-514FA296842A}" type="datetimeFigureOut">
              <a:rPr kumimoji="1" lang="ja-JP" altLang="en-US" smtClean="0"/>
              <a:pPr/>
              <a:t>2009/11/24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764C83-18AE-4D8A-85D3-41F9B0F367E6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59C65D7-4410-4850-A21A-1AD6AD518FBE}" type="slidenum">
              <a:rPr lang="en-US" altLang="ja-JP"/>
              <a:pPr/>
              <a:t>6</a:t>
            </a:fld>
            <a:endParaRPr lang="en-US" altLang="ja-JP"/>
          </a:p>
        </p:txBody>
      </p:sp>
      <p:sp>
        <p:nvSpPr>
          <p:cNvPr id="171010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1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ja-JP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A2811F7-7735-42E8-A76C-26674AFC4D87}" type="slidenum">
              <a:rPr lang="en-US" altLang="ja-JP"/>
              <a:pPr/>
              <a:t>7</a:t>
            </a:fld>
            <a:endParaRPr lang="en-US" altLang="ja-JP"/>
          </a:p>
        </p:txBody>
      </p:sp>
      <p:sp>
        <p:nvSpPr>
          <p:cNvPr id="177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7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ja-JP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E181831-510E-4AEA-8F90-8A0F5BC8FC30}" type="slidenum">
              <a:rPr lang="en-US" altLang="ja-JP"/>
              <a:pPr/>
              <a:t>8</a:t>
            </a:fld>
            <a:endParaRPr lang="en-US" altLang="ja-JP"/>
          </a:p>
        </p:txBody>
      </p:sp>
      <p:sp>
        <p:nvSpPr>
          <p:cNvPr id="178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8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ja-JP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A61E347-7B73-4D4F-AD1E-7235721ABCA1}" type="slidenum">
              <a:rPr lang="en-US" altLang="ja-JP"/>
              <a:pPr/>
              <a:t>9</a:t>
            </a:fld>
            <a:endParaRPr lang="en-US" altLang="ja-JP"/>
          </a:p>
        </p:txBody>
      </p:sp>
      <p:sp>
        <p:nvSpPr>
          <p:cNvPr id="18022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0227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ja-JP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E525F98-45A6-4F40-8B1C-86FE2A35CB97}" type="slidenum">
              <a:rPr lang="en-US" altLang="ja-JP"/>
              <a:pPr/>
              <a:t>10</a:t>
            </a:fld>
            <a:endParaRPr lang="en-US" altLang="ja-JP"/>
          </a:p>
        </p:txBody>
      </p:sp>
      <p:sp>
        <p:nvSpPr>
          <p:cNvPr id="17920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9203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ja-JP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4253E1B-1E1A-4859-906F-9B7F9FE7D9C6}" type="slidenum">
              <a:rPr lang="en-US" altLang="ja-JP"/>
              <a:pPr/>
              <a:t>12</a:t>
            </a:fld>
            <a:endParaRPr lang="en-US" altLang="ja-JP"/>
          </a:p>
        </p:txBody>
      </p:sp>
      <p:sp>
        <p:nvSpPr>
          <p:cNvPr id="175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5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ja-JP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6F7A4EE-7278-4247-9E2C-624E95DF9328}" type="slidenum">
              <a:rPr lang="en-US" altLang="ja-JP"/>
              <a:pPr/>
              <a:t>13</a:t>
            </a:fld>
            <a:endParaRPr lang="en-US" altLang="ja-JP"/>
          </a:p>
        </p:txBody>
      </p:sp>
      <p:sp>
        <p:nvSpPr>
          <p:cNvPr id="176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6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ja-JP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EC33996-6F79-4342-9DCE-2FF934E2331D}" type="slidenum">
              <a:rPr lang="en-US" altLang="ja-JP"/>
              <a:pPr/>
              <a:t>14</a:t>
            </a:fld>
            <a:endParaRPr lang="en-US" altLang="ja-JP"/>
          </a:p>
        </p:txBody>
      </p:sp>
      <p:sp>
        <p:nvSpPr>
          <p:cNvPr id="173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ja-JP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DE195A8-CFF0-455C-B9FB-CC492D063F86}" type="slidenum">
              <a:rPr lang="en-US" altLang="ja-JP"/>
              <a:pPr/>
              <a:t>15</a:t>
            </a:fld>
            <a:endParaRPr lang="en-US" altLang="ja-JP"/>
          </a:p>
        </p:txBody>
      </p:sp>
      <p:sp>
        <p:nvSpPr>
          <p:cNvPr id="18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2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ja-JP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FE5593D-3C40-4BC7-A341-592465403104}" type="slidenum">
              <a:rPr lang="en-US" altLang="ja-JP"/>
              <a:pPr/>
              <a:t>16</a:t>
            </a:fld>
            <a:endParaRPr lang="en-US" altLang="ja-JP"/>
          </a:p>
        </p:txBody>
      </p:sp>
      <p:sp>
        <p:nvSpPr>
          <p:cNvPr id="183298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3299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ja-JP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 サブタイトルの書式設定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2009/11/24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2009/11/24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2009/11/24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2009/11/24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2009/11/24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2009/11/24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2009/11/24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2009/11/24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2009/11/24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2009/11/24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2009/11/24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pPr/>
              <a:t>2009/11/24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 smtClean="0"/>
              <a:t>システムプログラミング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第９回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571736" y="5000636"/>
            <a:ext cx="40126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 smtClean="0"/>
              <a:t>情報工学科　篠埜　功</a:t>
            </a:r>
            <a:endParaRPr kumimoji="1" lang="ja-JP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今回の内容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前回の補足（ハードリンクについて）</a:t>
            </a:r>
            <a:endParaRPr kumimoji="1" lang="en-US" altLang="ja-JP" dirty="0" smtClean="0"/>
          </a:p>
          <a:p>
            <a:r>
              <a:rPr lang="ja-JP" altLang="en-US" dirty="0" smtClean="0"/>
              <a:t>プロセスの生成</a:t>
            </a:r>
            <a:endParaRPr kumimoji="1" lang="ja-JP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先週の質問について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642911" y="1571612"/>
            <a:ext cx="800105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 smtClean="0"/>
              <a:t>$ </a:t>
            </a:r>
            <a:r>
              <a:rPr lang="en-US" altLang="ja-JP" sz="2800" dirty="0" err="1" smtClean="0"/>
              <a:t>ls</a:t>
            </a:r>
            <a:r>
              <a:rPr lang="en-US" altLang="ja-JP" sz="2800" dirty="0" smtClean="0"/>
              <a:t> –l</a:t>
            </a:r>
          </a:p>
          <a:p>
            <a:r>
              <a:rPr kumimoji="1" lang="ja-JP" altLang="en-US" sz="2800" dirty="0" smtClean="0"/>
              <a:t>で表示される、</a:t>
            </a:r>
            <a:r>
              <a:rPr kumimoji="1" lang="en-US" altLang="ja-JP" sz="2800" dirty="0" smtClean="0"/>
              <a:t>permission</a:t>
            </a:r>
            <a:r>
              <a:rPr kumimoji="1" lang="ja-JP" altLang="en-US" sz="2800" dirty="0" smtClean="0"/>
              <a:t>情報の隣の数字は、リンク数（ハードリンク）である。</a:t>
            </a:r>
            <a:endParaRPr kumimoji="1" lang="en-US" altLang="ja-JP" sz="2800" dirty="0" smtClean="0"/>
          </a:p>
          <a:p>
            <a:endParaRPr lang="en-US" altLang="ja-JP" sz="2800" dirty="0" smtClean="0"/>
          </a:p>
          <a:p>
            <a:r>
              <a:rPr kumimoji="1" lang="ja-JP" altLang="en-US" sz="2800" dirty="0" smtClean="0"/>
              <a:t>複数のファイル名を同じファイル（</a:t>
            </a:r>
            <a:r>
              <a:rPr kumimoji="1" lang="en-US" altLang="ja-JP" sz="2800" dirty="0" err="1" smtClean="0"/>
              <a:t>inode</a:t>
            </a:r>
            <a:r>
              <a:rPr kumimoji="1" lang="ja-JP" altLang="en-US" sz="2800" dirty="0" smtClean="0"/>
              <a:t>番号）に対応させてよい。</a:t>
            </a:r>
            <a:endParaRPr kumimoji="1" lang="en-US" altLang="ja-JP" sz="2800" dirty="0" smtClean="0"/>
          </a:p>
          <a:p>
            <a:r>
              <a:rPr lang="ja-JP" altLang="en-US" sz="2800" dirty="0" smtClean="0"/>
              <a:t>ファイル</a:t>
            </a:r>
            <a:r>
              <a:rPr lang="en-US" altLang="ja-JP" sz="2800" dirty="0" smtClean="0"/>
              <a:t>(</a:t>
            </a:r>
            <a:r>
              <a:rPr lang="en-US" altLang="ja-JP" sz="2800" dirty="0" err="1" smtClean="0"/>
              <a:t>inode</a:t>
            </a:r>
            <a:r>
              <a:rPr lang="en-US" altLang="ja-JP" sz="2800" dirty="0" smtClean="0"/>
              <a:t>)</a:t>
            </a:r>
            <a:r>
              <a:rPr lang="ja-JP" altLang="en-US" sz="2800" dirty="0" smtClean="0"/>
              <a:t>は、それにつけられているファイル名の数を保持している。すべてのファイル名（ハードリンク）が削除されたとき、それに対応する</a:t>
            </a:r>
            <a:r>
              <a:rPr lang="en-US" altLang="ja-JP" sz="2800" dirty="0" err="1" smtClean="0"/>
              <a:t>inode</a:t>
            </a:r>
            <a:r>
              <a:rPr lang="ja-JP" altLang="en-US" sz="2800" dirty="0" smtClean="0"/>
              <a:t>とファイルの中身が削除される。</a:t>
            </a:r>
            <a:endParaRPr lang="en-US" altLang="ja-JP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ハードリンクの作成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928662" y="1428736"/>
            <a:ext cx="735811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 smtClean="0"/>
              <a:t> $  </a:t>
            </a:r>
            <a:r>
              <a:rPr kumimoji="1" lang="en-US" altLang="ja-JP" sz="2400" dirty="0" err="1" smtClean="0"/>
              <a:t>ln</a:t>
            </a:r>
            <a:r>
              <a:rPr kumimoji="1" lang="en-US" altLang="ja-JP" sz="2400" dirty="0" smtClean="0"/>
              <a:t>  </a:t>
            </a:r>
            <a:r>
              <a:rPr kumimoji="1" lang="en-US" altLang="ja-JP" sz="2400" dirty="0" err="1" smtClean="0"/>
              <a:t>test.c</a:t>
            </a:r>
            <a:r>
              <a:rPr kumimoji="1" lang="en-US" altLang="ja-JP" sz="2400" dirty="0" smtClean="0"/>
              <a:t> </a:t>
            </a:r>
            <a:r>
              <a:rPr kumimoji="1" lang="en-US" altLang="ja-JP" sz="2400" dirty="0" err="1" smtClean="0"/>
              <a:t>foo</a:t>
            </a:r>
            <a:endParaRPr kumimoji="1" lang="en-US" altLang="ja-JP" sz="2400" dirty="0" smtClean="0"/>
          </a:p>
          <a:p>
            <a:r>
              <a:rPr lang="ja-JP" altLang="en-US" sz="2400" dirty="0" smtClean="0"/>
              <a:t>とすると、</a:t>
            </a:r>
            <a:r>
              <a:rPr lang="en-US" altLang="ja-JP" sz="2400" dirty="0" err="1" smtClean="0"/>
              <a:t>test.c</a:t>
            </a:r>
            <a:r>
              <a:rPr lang="ja-JP" altLang="en-US" sz="2400" dirty="0" smtClean="0"/>
              <a:t>が指すファイルを、</a:t>
            </a:r>
            <a:r>
              <a:rPr lang="en-US" altLang="ja-JP" sz="2400" dirty="0" err="1" smtClean="0"/>
              <a:t>foo</a:t>
            </a:r>
            <a:r>
              <a:rPr lang="ja-JP" altLang="en-US" sz="2400" dirty="0" smtClean="0"/>
              <a:t>という名前で指すようになる。</a:t>
            </a:r>
            <a:endParaRPr lang="en-US" altLang="ja-JP" sz="2400" dirty="0" smtClean="0"/>
          </a:p>
          <a:p>
            <a:endParaRPr kumimoji="1" lang="en-US" altLang="ja-JP" sz="2400" dirty="0" smtClean="0"/>
          </a:p>
          <a:p>
            <a:r>
              <a:rPr lang="ja-JP" altLang="en-US" sz="2400" dirty="0" smtClean="0"/>
              <a:t>ディレクトリに対するハードリンクは作成できない。（ただし、ディレクトリ作成時に、</a:t>
            </a:r>
            <a:r>
              <a:rPr lang="en-US" altLang="ja-JP" sz="2400" dirty="0" smtClean="0"/>
              <a:t>., ..</a:t>
            </a:r>
            <a:r>
              <a:rPr lang="ja-JP" altLang="en-US" sz="2400" dirty="0" smtClean="0"/>
              <a:t>というハードリンクが自動的に作成される。）</a:t>
            </a:r>
            <a:endParaRPr lang="en-US" altLang="ja-JP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シンボリックリンク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714348" y="1500174"/>
            <a:ext cx="742955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 smtClean="0"/>
              <a:t>リンクには２種類あり、ハードリンクとシンボリックリンクがある。</a:t>
            </a:r>
            <a:endParaRPr lang="en-US" altLang="ja-JP" sz="2800" dirty="0" smtClean="0"/>
          </a:p>
          <a:p>
            <a:endParaRPr lang="en-US" altLang="ja-JP" sz="2800" dirty="0" smtClean="0"/>
          </a:p>
          <a:p>
            <a:r>
              <a:rPr kumimoji="1" lang="en-US" altLang="ja-JP" sz="2800" dirty="0" smtClean="0"/>
              <a:t>$ </a:t>
            </a:r>
            <a:r>
              <a:rPr kumimoji="1" lang="en-US" altLang="ja-JP" sz="2800" dirty="0" err="1" smtClean="0"/>
              <a:t>ls</a:t>
            </a:r>
            <a:r>
              <a:rPr kumimoji="1" lang="en-US" altLang="ja-JP" sz="2800" dirty="0" smtClean="0"/>
              <a:t> –s </a:t>
            </a:r>
            <a:r>
              <a:rPr kumimoji="1" lang="en-US" altLang="ja-JP" sz="2800" dirty="0" err="1" smtClean="0"/>
              <a:t>test.c</a:t>
            </a:r>
            <a:r>
              <a:rPr kumimoji="1" lang="en-US" altLang="ja-JP" sz="2800" dirty="0" smtClean="0"/>
              <a:t> </a:t>
            </a:r>
            <a:r>
              <a:rPr kumimoji="1" lang="en-US" altLang="ja-JP" sz="2800" dirty="0" err="1" smtClean="0"/>
              <a:t>foo</a:t>
            </a:r>
            <a:endParaRPr kumimoji="1" lang="en-US" altLang="ja-JP" sz="2800" dirty="0" smtClean="0"/>
          </a:p>
          <a:p>
            <a:r>
              <a:rPr lang="ja-JP" altLang="en-US" sz="2800" dirty="0" smtClean="0"/>
              <a:t>によって、</a:t>
            </a:r>
            <a:r>
              <a:rPr lang="en-US" altLang="ja-JP" sz="2800" dirty="0" err="1" smtClean="0"/>
              <a:t>foo</a:t>
            </a:r>
            <a:r>
              <a:rPr lang="ja-JP" altLang="en-US" sz="2800" dirty="0" smtClean="0"/>
              <a:t>は</a:t>
            </a:r>
            <a:r>
              <a:rPr lang="en-US" altLang="ja-JP" sz="2800" dirty="0" err="1" smtClean="0"/>
              <a:t>test.c</a:t>
            </a:r>
            <a:r>
              <a:rPr lang="ja-JP" altLang="en-US" sz="2800" dirty="0" smtClean="0"/>
              <a:t>を指すようになる。</a:t>
            </a:r>
            <a:endParaRPr lang="en-US" altLang="ja-JP" sz="2800" dirty="0" smtClean="0"/>
          </a:p>
          <a:p>
            <a:r>
              <a:rPr lang="ja-JP" altLang="en-US" sz="2800" dirty="0" smtClean="0"/>
              <a:t>これにより、</a:t>
            </a:r>
            <a:r>
              <a:rPr lang="en-US" altLang="ja-JP" sz="2800" dirty="0" err="1" smtClean="0"/>
              <a:t>foo</a:t>
            </a:r>
            <a:r>
              <a:rPr lang="ja-JP" altLang="en-US" sz="2800" dirty="0" smtClean="0"/>
              <a:t>という新しいファイル（</a:t>
            </a:r>
            <a:r>
              <a:rPr lang="en-US" altLang="ja-JP" sz="2800" dirty="0" err="1" smtClean="0"/>
              <a:t>test.c</a:t>
            </a:r>
            <a:r>
              <a:rPr lang="ja-JP" altLang="en-US" sz="2800" dirty="0" smtClean="0"/>
              <a:t>という名前を持っているファイル）が作成される。</a:t>
            </a:r>
            <a:endParaRPr lang="en-US" altLang="ja-JP" sz="2800" dirty="0" smtClean="0"/>
          </a:p>
          <a:p>
            <a:endParaRPr lang="en-US" altLang="ja-JP" sz="2800" dirty="0" smtClean="0"/>
          </a:p>
          <a:p>
            <a:r>
              <a:rPr kumimoji="1" lang="en-US" altLang="ja-JP" sz="2800" dirty="0" smtClean="0"/>
              <a:t> </a:t>
            </a:r>
            <a:r>
              <a:rPr kumimoji="1" lang="en-US" altLang="ja-JP" sz="2800" dirty="0" err="1" smtClean="0"/>
              <a:t>ls</a:t>
            </a:r>
            <a:r>
              <a:rPr kumimoji="1" lang="en-US" altLang="ja-JP" sz="2800" dirty="0" smtClean="0"/>
              <a:t> –l </a:t>
            </a:r>
            <a:r>
              <a:rPr kumimoji="1" lang="ja-JP" altLang="en-US" sz="2800" dirty="0" smtClean="0"/>
              <a:t>で表示されるリンクカウントは、ハードリンクの数である。</a:t>
            </a:r>
            <a:endParaRPr kumimoji="1" lang="ja-JP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29134-03AF-4BBB-A86E-600F8E71CFCE}" type="slidenum">
              <a:rPr lang="en-US" altLang="ja-JP"/>
              <a:pPr/>
              <a:t>6</a:t>
            </a:fld>
            <a:endParaRPr lang="en-US" altLang="ja-JP"/>
          </a:p>
        </p:txBody>
      </p:sp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プロセスとは？</a:t>
            </a:r>
          </a:p>
        </p:txBody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484313"/>
            <a:ext cx="8393141" cy="4516455"/>
          </a:xfrm>
        </p:spPr>
        <p:txBody>
          <a:bodyPr>
            <a:normAutofit fontScale="85000" lnSpcReduction="10000"/>
          </a:bodyPr>
          <a:lstStyle/>
          <a:p>
            <a:r>
              <a:rPr lang="en-US" altLang="ja-JP" dirty="0" smtClean="0"/>
              <a:t>Unix</a:t>
            </a:r>
            <a:r>
              <a:rPr lang="ja-JP" altLang="en-US" dirty="0" smtClean="0"/>
              <a:t>系</a:t>
            </a:r>
            <a:r>
              <a:rPr lang="en-US" altLang="ja-JP" dirty="0" smtClean="0"/>
              <a:t>OS</a:t>
            </a:r>
            <a:r>
              <a:rPr lang="ja-JP" altLang="en-US" dirty="0" smtClean="0"/>
              <a:t>では、複数のプログラムを同時に並行して実行させることができる（各時点では１つのプログラムが実行されている）。</a:t>
            </a:r>
            <a:r>
              <a:rPr lang="en-US" altLang="ja-JP" dirty="0" smtClean="0"/>
              <a:t>OS</a:t>
            </a:r>
            <a:r>
              <a:rPr lang="ja-JP" altLang="en-US" dirty="0" smtClean="0"/>
              <a:t>は各プログラムを切り替えて実行する。一つ一つのプログラムについて、プログラム中のどこをどういう状態（メモリ、レジスタ）で実行しているか、（今実行していない場合は）復帰できるように覚えておく必要がある。このそれぞれのプログラムの実行の状態（を管理するテーブルのエントリ）をプロセスという。</a:t>
            </a:r>
            <a:endParaRPr lang="en-US" altLang="ja-JP" dirty="0" smtClean="0"/>
          </a:p>
          <a:p>
            <a:endParaRPr lang="en-US" altLang="ja-JP" dirty="0" smtClean="0"/>
          </a:p>
          <a:p>
            <a:r>
              <a:rPr lang="ja-JP" altLang="en-US" dirty="0" smtClean="0"/>
              <a:t>各プロセスは、生成状態、実行状態、休眠状態、実行可能状態、ゾンビ状態のいずれかの状態にある。</a:t>
            </a:r>
            <a:endParaRPr lang="en-US" altLang="ja-JP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82B4C-FCAE-4F10-B1D8-75362E788D8A}" type="slidenum">
              <a:rPr lang="en-US" altLang="ja-JP"/>
              <a:pPr/>
              <a:t>7</a:t>
            </a:fld>
            <a:endParaRPr lang="en-US" altLang="ja-JP" dirty="0"/>
          </a:p>
        </p:txBody>
      </p:sp>
      <p:sp>
        <p:nvSpPr>
          <p:cNvPr id="133123" name="Rectangle 3"/>
          <p:cNvSpPr>
            <a:spLocks noGrp="1" noChangeArrowheads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ja-JP" altLang="en-US" u="sng"/>
              <a:t>プロセスの状態</a:t>
            </a:r>
          </a:p>
        </p:txBody>
      </p:sp>
      <p:sp>
        <p:nvSpPr>
          <p:cNvPr id="13312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42910" y="1285860"/>
            <a:ext cx="7643866" cy="4786346"/>
          </a:xfrm>
          <a:noFill/>
        </p:spPr>
        <p:txBody>
          <a:bodyPr>
            <a:noAutofit/>
          </a:bodyPr>
          <a:lstStyle/>
          <a:p>
            <a:r>
              <a:rPr lang="en-US" altLang="ja-JP" sz="2800" dirty="0" smtClean="0"/>
              <a:t>5</a:t>
            </a:r>
            <a:r>
              <a:rPr lang="ja-JP" altLang="en-US" sz="2800" dirty="0" err="1"/>
              <a:t>つの</a:t>
            </a:r>
            <a:r>
              <a:rPr lang="ja-JP" altLang="en-US" sz="2800" dirty="0"/>
              <a:t>状態を</a:t>
            </a:r>
            <a:r>
              <a:rPr lang="ja-JP" altLang="en-US" sz="2800" dirty="0" smtClean="0"/>
              <a:t>遷移</a:t>
            </a:r>
            <a:endParaRPr lang="ja-JP" altLang="en-US" sz="2800" dirty="0"/>
          </a:p>
          <a:p>
            <a:pPr lvl="1"/>
            <a:r>
              <a:rPr lang="ja-JP" altLang="en-US" dirty="0"/>
              <a:t>実行状態：現在</a:t>
            </a:r>
            <a:r>
              <a:rPr lang="en-US" altLang="ja-JP" dirty="0"/>
              <a:t>CPU</a:t>
            </a:r>
            <a:r>
              <a:rPr lang="ja-JP" altLang="en-US" dirty="0"/>
              <a:t>で実行中の状態</a:t>
            </a:r>
          </a:p>
          <a:p>
            <a:pPr lvl="1"/>
            <a:r>
              <a:rPr lang="ja-JP" altLang="en-US" dirty="0"/>
              <a:t>実行可能状態：スケジューラに</a:t>
            </a:r>
            <a:r>
              <a:rPr lang="ja-JP" altLang="en-US" dirty="0" smtClean="0"/>
              <a:t>よる</a:t>
            </a:r>
            <a:r>
              <a:rPr lang="en-US" altLang="ja-JP" dirty="0" smtClean="0"/>
              <a:t>CPU</a:t>
            </a:r>
            <a:r>
              <a:rPr lang="ja-JP" altLang="en-US" dirty="0"/>
              <a:t>の割り当てを待っている状態</a:t>
            </a:r>
          </a:p>
          <a:p>
            <a:pPr lvl="1"/>
            <a:r>
              <a:rPr lang="ja-JP" altLang="en-US" dirty="0"/>
              <a:t>休眠状態：入出力の終了待ちなどで実行を継続できない状態</a:t>
            </a:r>
          </a:p>
          <a:p>
            <a:pPr lvl="1"/>
            <a:r>
              <a:rPr lang="ja-JP" altLang="en-US" dirty="0"/>
              <a:t>生成状態：</a:t>
            </a:r>
            <a:r>
              <a:rPr lang="en-US" altLang="ja-JP" dirty="0"/>
              <a:t>fork()</a:t>
            </a:r>
            <a:r>
              <a:rPr lang="ja-JP" altLang="en-US" dirty="0"/>
              <a:t>システムコールにより生成された状態</a:t>
            </a:r>
          </a:p>
          <a:p>
            <a:pPr lvl="1"/>
            <a:r>
              <a:rPr lang="ja-JP" altLang="en-US" dirty="0"/>
              <a:t>ゾンビ状態：</a:t>
            </a:r>
            <a:r>
              <a:rPr lang="en-US" altLang="ja-JP" dirty="0"/>
              <a:t>exit()</a:t>
            </a:r>
            <a:r>
              <a:rPr lang="ja-JP" altLang="en-US" dirty="0" smtClean="0"/>
              <a:t>システムコール</a:t>
            </a:r>
            <a:r>
              <a:rPr lang="ja-JP" altLang="en-US" dirty="0"/>
              <a:t>により終了した状態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B0FA6-D932-443E-B61C-6CDEA4AEC6A4}" type="slidenum">
              <a:rPr lang="en-US" altLang="ja-JP"/>
              <a:pPr/>
              <a:t>8</a:t>
            </a:fld>
            <a:endParaRPr lang="en-US" altLang="ja-JP"/>
          </a:p>
        </p:txBody>
      </p:sp>
      <p:sp>
        <p:nvSpPr>
          <p:cNvPr id="1341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4348" y="4286256"/>
            <a:ext cx="7459688" cy="2379659"/>
          </a:xfrm>
        </p:spPr>
        <p:txBody>
          <a:bodyPr>
            <a:normAutofit/>
          </a:bodyPr>
          <a:lstStyle/>
          <a:p>
            <a:r>
              <a:rPr lang="ja-JP" altLang="en-US" sz="2400" dirty="0"/>
              <a:t>入力待ちにより実行</a:t>
            </a:r>
            <a:r>
              <a:rPr lang="ja-JP" altLang="en-US" sz="2400" dirty="0" smtClean="0"/>
              <a:t>状態から休眠</a:t>
            </a:r>
            <a:r>
              <a:rPr lang="ja-JP" altLang="en-US" sz="2400" dirty="0"/>
              <a:t>状態へ</a:t>
            </a:r>
          </a:p>
          <a:p>
            <a:pPr lvl="1"/>
            <a:r>
              <a:rPr lang="ja-JP" altLang="en-US" sz="2400" dirty="0"/>
              <a:t>他のプロセスへ実行権を譲る</a:t>
            </a:r>
          </a:p>
          <a:p>
            <a:r>
              <a:rPr lang="en-US" altLang="ja-JP" sz="2400" dirty="0" smtClean="0"/>
              <a:t>CPU</a:t>
            </a:r>
            <a:r>
              <a:rPr lang="ja-JP" altLang="en-US" sz="2400" dirty="0" smtClean="0"/>
              <a:t>占有</a:t>
            </a:r>
            <a:r>
              <a:rPr lang="ja-JP" altLang="en-US" sz="2400" dirty="0"/>
              <a:t>時間経過による実行</a:t>
            </a:r>
            <a:r>
              <a:rPr lang="ja-JP" altLang="en-US" sz="2400" dirty="0" smtClean="0"/>
              <a:t>状態から実行可能</a:t>
            </a:r>
            <a:r>
              <a:rPr lang="ja-JP" altLang="en-US" sz="2400" dirty="0"/>
              <a:t>状態への遷移</a:t>
            </a:r>
          </a:p>
          <a:p>
            <a:pPr lvl="1"/>
            <a:r>
              <a:rPr lang="en-US" altLang="ja-JP" sz="2400" dirty="0" smtClean="0"/>
              <a:t>Time </a:t>
            </a:r>
            <a:r>
              <a:rPr lang="en-US" altLang="ja-JP" sz="2400" dirty="0"/>
              <a:t>Sharing </a:t>
            </a:r>
            <a:r>
              <a:rPr lang="en-US" altLang="ja-JP" sz="2400" dirty="0" smtClean="0"/>
              <a:t>System</a:t>
            </a:r>
            <a:r>
              <a:rPr lang="ja-JP" altLang="en-US" sz="2400" dirty="0" smtClean="0"/>
              <a:t>の</a:t>
            </a:r>
            <a:r>
              <a:rPr lang="ja-JP" altLang="en-US" sz="2400" dirty="0"/>
              <a:t>実現</a:t>
            </a:r>
          </a:p>
        </p:txBody>
      </p:sp>
      <p:pic>
        <p:nvPicPr>
          <p:cNvPr id="134147" name="Picture 3" descr="fig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472" y="714356"/>
            <a:ext cx="7885113" cy="3495675"/>
          </a:xfrm>
          <a:prstGeom prst="rect">
            <a:avLst/>
          </a:prstGeom>
          <a:noFill/>
        </p:spPr>
      </p:pic>
      <p:sp>
        <p:nvSpPr>
          <p:cNvPr id="134148" name="Rectangle 4"/>
          <p:cNvSpPr>
            <a:spLocks noGrp="1" noChangeArrowheads="1"/>
          </p:cNvSpPr>
          <p:nvPr>
            <p:ph type="title"/>
          </p:nvPr>
        </p:nvSpPr>
        <p:spPr>
          <a:xfrm>
            <a:off x="468313" y="-171450"/>
            <a:ext cx="8229600" cy="1143000"/>
          </a:xfrm>
        </p:spPr>
        <p:txBody>
          <a:bodyPr/>
          <a:lstStyle/>
          <a:p>
            <a:r>
              <a:rPr lang="en-US" altLang="ja-JP" sz="3600" u="sng"/>
              <a:t> </a:t>
            </a:r>
            <a:r>
              <a:rPr lang="ja-JP" altLang="en-US" sz="3600" u="sng"/>
              <a:t>プロセスの状態遷移図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72709-387B-476D-9098-6D68CC8399A9}" type="slidenum">
              <a:rPr lang="en-US" altLang="ja-JP"/>
              <a:pPr/>
              <a:t>9</a:t>
            </a:fld>
            <a:endParaRPr lang="en-US" altLang="ja-JP"/>
          </a:p>
        </p:txBody>
      </p:sp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u="sng"/>
              <a:t>プロセスの優先度</a:t>
            </a:r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829196"/>
          </a:xfrm>
        </p:spPr>
        <p:txBody>
          <a:bodyPr>
            <a:normAutofit fontScale="92500" lnSpcReduction="20000"/>
          </a:bodyPr>
          <a:lstStyle/>
          <a:p>
            <a:r>
              <a:rPr lang="ja-JP" altLang="en-US" dirty="0"/>
              <a:t>実行可能状態にあるプロセスに対して優先度を定義</a:t>
            </a:r>
          </a:p>
          <a:p>
            <a:r>
              <a:rPr lang="ja-JP" altLang="en-US" dirty="0"/>
              <a:t>スケジューラにより，優先度の高い順に選択されて実行</a:t>
            </a:r>
          </a:p>
          <a:p>
            <a:r>
              <a:rPr lang="ja-JP" altLang="en-US" dirty="0"/>
              <a:t>カーネル</a:t>
            </a:r>
          </a:p>
          <a:p>
            <a:pPr lvl="1"/>
            <a:r>
              <a:rPr lang="ja-JP" altLang="en-US" dirty="0"/>
              <a:t>プロセス優先度を自律的制御で刻々と</a:t>
            </a:r>
            <a:r>
              <a:rPr lang="ja-JP" altLang="en-US" dirty="0" smtClean="0"/>
              <a:t>変化させ、プロセス実行</a:t>
            </a:r>
            <a:r>
              <a:rPr lang="ja-JP" altLang="en-US" dirty="0"/>
              <a:t>の機会均等を実現</a:t>
            </a:r>
          </a:p>
          <a:p>
            <a:pPr lvl="1"/>
            <a:r>
              <a:rPr lang="ja-JP" altLang="en-US" dirty="0" smtClean="0"/>
              <a:t>プロセスの優先度</a:t>
            </a:r>
            <a:r>
              <a:rPr lang="ja-JP" altLang="en-US" dirty="0"/>
              <a:t>を変更</a:t>
            </a:r>
            <a:r>
              <a:rPr lang="ja-JP" altLang="en-US" dirty="0" smtClean="0"/>
              <a:t>するためのシステムコール</a:t>
            </a:r>
            <a:r>
              <a:rPr lang="en-US" altLang="ja-JP" dirty="0" smtClean="0"/>
              <a:t>nice</a:t>
            </a:r>
            <a:r>
              <a:rPr lang="ja-JP" altLang="en-US" dirty="0" smtClean="0"/>
              <a:t>がある。</a:t>
            </a:r>
            <a:r>
              <a:rPr lang="en-US" altLang="ja-JP" dirty="0" smtClean="0"/>
              <a:t>n</a:t>
            </a:r>
            <a:r>
              <a:rPr lang="en-US" altLang="ja-JP" dirty="0" smtClean="0"/>
              <a:t>ice(3)</a:t>
            </a:r>
            <a:r>
              <a:rPr lang="ja-JP" altLang="en-US" dirty="0" smtClean="0"/>
              <a:t>などで呼び出すと、呼び出したプロセスの優先度に</a:t>
            </a:r>
            <a:r>
              <a:rPr lang="en-US" altLang="ja-JP" dirty="0" smtClean="0"/>
              <a:t>3</a:t>
            </a:r>
            <a:r>
              <a:rPr lang="ja-JP" altLang="en-US" dirty="0" smtClean="0"/>
              <a:t>が足される（優先度が下がる）。</a:t>
            </a:r>
            <a:r>
              <a:rPr lang="ja-JP" altLang="en-US" dirty="0" smtClean="0"/>
              <a:t>（マイナスの数を指定できるのは</a:t>
            </a:r>
            <a:r>
              <a:rPr lang="en-US" altLang="ja-JP" dirty="0" smtClean="0"/>
              <a:t>root</a:t>
            </a:r>
            <a:r>
              <a:rPr lang="ja-JP" altLang="en-US" dirty="0" smtClean="0"/>
              <a:t>権限で実行されているプロセスのみ。一般ユーザのプロセスは優先度を下げることのみ可能。）</a:t>
            </a:r>
            <a:endParaRPr lang="en-US" altLang="ja-JP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951E3-A8FF-4CA7-ABF9-64946D8C40F1}" type="slidenum">
              <a:rPr lang="en-US" altLang="ja-JP"/>
              <a:pPr/>
              <a:t>10</a:t>
            </a:fld>
            <a:endParaRPr lang="en-US" altLang="ja-JP"/>
          </a:p>
        </p:txBody>
      </p:sp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u="sng" dirty="0" smtClean="0"/>
              <a:t>プロセス</a:t>
            </a:r>
            <a:r>
              <a:rPr lang="en-US" altLang="ja-JP" u="sng" dirty="0" smtClean="0"/>
              <a:t>ID</a:t>
            </a:r>
            <a:endParaRPr lang="ja-JP" altLang="en-US" u="sng" dirty="0"/>
          </a:p>
        </p:txBody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2757493"/>
          </a:xfrm>
        </p:spPr>
        <p:txBody>
          <a:bodyPr>
            <a:normAutofit lnSpcReduction="10000"/>
          </a:bodyPr>
          <a:lstStyle/>
          <a:p>
            <a:r>
              <a:rPr lang="ja-JP" altLang="en-US" sz="2400" dirty="0" smtClean="0"/>
              <a:t>プロセス</a:t>
            </a:r>
            <a:r>
              <a:rPr lang="en-US" altLang="ja-JP" sz="2400" dirty="0"/>
              <a:t>ID</a:t>
            </a:r>
          </a:p>
          <a:p>
            <a:pPr lvl="1"/>
            <a:r>
              <a:rPr lang="ja-JP" altLang="en-US" sz="2400" dirty="0"/>
              <a:t>プロセスを一意に識別するための</a:t>
            </a:r>
            <a:r>
              <a:rPr lang="ja-JP" altLang="en-US" sz="2400" dirty="0" smtClean="0"/>
              <a:t>番号。この番号ですべてのプロセスを管理する。</a:t>
            </a:r>
            <a:endParaRPr lang="en-US" altLang="ja-JP" sz="2400" dirty="0" smtClean="0"/>
          </a:p>
          <a:p>
            <a:r>
              <a:rPr lang="ja-JP" altLang="en-US" sz="2400" dirty="0" smtClean="0"/>
              <a:t>現在実行中のプロセス</a:t>
            </a:r>
            <a:r>
              <a:rPr lang="en-US" altLang="ja-JP" sz="2400" dirty="0" smtClean="0"/>
              <a:t>ID</a:t>
            </a:r>
            <a:r>
              <a:rPr lang="ja-JP" altLang="en-US" sz="2400" dirty="0" smtClean="0"/>
              <a:t>は、</a:t>
            </a:r>
            <a:r>
              <a:rPr lang="en-US" altLang="ja-JP" sz="2400" dirty="0" err="1" smtClean="0"/>
              <a:t>getpid</a:t>
            </a:r>
            <a:r>
              <a:rPr lang="en-US" altLang="ja-JP" sz="2400" dirty="0" smtClean="0"/>
              <a:t>()</a:t>
            </a:r>
            <a:r>
              <a:rPr lang="ja-JP" altLang="en-US" sz="2400" dirty="0" smtClean="0"/>
              <a:t>システムコールにより取得できる。</a:t>
            </a:r>
            <a:endParaRPr lang="en-US" altLang="ja-JP" sz="2400" dirty="0" smtClean="0"/>
          </a:p>
          <a:p>
            <a:r>
              <a:rPr lang="ja-JP" altLang="en-US" sz="2400" dirty="0" smtClean="0"/>
              <a:t>現在実行中のプロセスの親プロセスのプロセス</a:t>
            </a:r>
            <a:r>
              <a:rPr lang="en-US" altLang="ja-JP" sz="2400" dirty="0" smtClean="0"/>
              <a:t>ID</a:t>
            </a:r>
            <a:r>
              <a:rPr lang="ja-JP" altLang="en-US" sz="2400" dirty="0" smtClean="0"/>
              <a:t>は、</a:t>
            </a:r>
            <a:r>
              <a:rPr lang="en-US" altLang="ja-JP" sz="2400" dirty="0" err="1" smtClean="0"/>
              <a:t>getppid</a:t>
            </a:r>
            <a:r>
              <a:rPr lang="en-US" altLang="ja-JP" sz="2400" dirty="0" smtClean="0"/>
              <a:t>()</a:t>
            </a:r>
            <a:r>
              <a:rPr lang="ja-JP" altLang="en-US" sz="2400" dirty="0" smtClean="0"/>
              <a:t>システムコールにより取得できる。</a:t>
            </a:r>
            <a:endParaRPr lang="ja-JP" altLang="en-US" sz="2400" dirty="0"/>
          </a:p>
        </p:txBody>
      </p:sp>
      <p:sp>
        <p:nvSpPr>
          <p:cNvPr id="5" name="正方形/長方形 4"/>
          <p:cNvSpPr/>
          <p:nvPr/>
        </p:nvSpPr>
        <p:spPr>
          <a:xfrm>
            <a:off x="785786" y="4429132"/>
            <a:ext cx="4572000" cy="193899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altLang="ja-JP" sz="2400" dirty="0" smtClean="0"/>
              <a:t>SYNOPSIS</a:t>
            </a:r>
          </a:p>
          <a:p>
            <a:r>
              <a:rPr lang="en-US" altLang="ja-JP" sz="2400" dirty="0" smtClean="0"/>
              <a:t>       #include &lt;sys/</a:t>
            </a:r>
            <a:r>
              <a:rPr lang="en-US" altLang="ja-JP" sz="2400" dirty="0" err="1" smtClean="0"/>
              <a:t>types.h</a:t>
            </a:r>
            <a:r>
              <a:rPr lang="en-US" altLang="ja-JP" sz="2400" dirty="0" smtClean="0"/>
              <a:t>&gt;</a:t>
            </a:r>
          </a:p>
          <a:p>
            <a:r>
              <a:rPr lang="en-US" altLang="ja-JP" sz="2400" dirty="0" smtClean="0"/>
              <a:t>       #include &lt;</a:t>
            </a:r>
            <a:r>
              <a:rPr lang="en-US" altLang="ja-JP" sz="2400" dirty="0" err="1" smtClean="0"/>
              <a:t>unistd.h</a:t>
            </a:r>
            <a:r>
              <a:rPr lang="en-US" altLang="ja-JP" sz="2400" dirty="0" smtClean="0"/>
              <a:t>&gt;</a:t>
            </a:r>
          </a:p>
          <a:p>
            <a:r>
              <a:rPr lang="en-US" altLang="ja-JP" sz="2400" dirty="0" smtClean="0"/>
              <a:t>       </a:t>
            </a:r>
            <a:r>
              <a:rPr lang="en-US" altLang="ja-JP" sz="2400" dirty="0" err="1" smtClean="0"/>
              <a:t>pid_t</a:t>
            </a:r>
            <a:r>
              <a:rPr lang="en-US" altLang="ja-JP" sz="2400" dirty="0" smtClean="0"/>
              <a:t> </a:t>
            </a:r>
            <a:r>
              <a:rPr lang="en-US" altLang="ja-JP" sz="2400" dirty="0" err="1" smtClean="0"/>
              <a:t>getpid</a:t>
            </a:r>
            <a:r>
              <a:rPr lang="en-US" altLang="ja-JP" sz="2400" dirty="0" smtClean="0"/>
              <a:t>(void);</a:t>
            </a:r>
          </a:p>
          <a:p>
            <a:r>
              <a:rPr lang="en-US" altLang="ja-JP" sz="2400" dirty="0" smtClean="0"/>
              <a:t>       </a:t>
            </a:r>
            <a:r>
              <a:rPr lang="en-US" altLang="ja-JP" sz="2400" dirty="0" err="1" smtClean="0"/>
              <a:t>pid_t</a:t>
            </a:r>
            <a:r>
              <a:rPr lang="en-US" altLang="ja-JP" sz="2400" dirty="0" smtClean="0"/>
              <a:t> </a:t>
            </a:r>
            <a:r>
              <a:rPr lang="en-US" altLang="ja-JP" sz="2400" dirty="0" err="1" smtClean="0"/>
              <a:t>getppid</a:t>
            </a:r>
            <a:r>
              <a:rPr lang="en-US" altLang="ja-JP" sz="2400" dirty="0" smtClean="0"/>
              <a:t>(void);</a:t>
            </a:r>
            <a:endParaRPr lang="en-US" altLang="ja-JP" sz="24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5500694" y="4500570"/>
            <a:ext cx="342899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 err="1" smtClean="0"/>
              <a:t>pid_t</a:t>
            </a:r>
            <a:r>
              <a:rPr lang="ja-JP" altLang="en-US" sz="2800" dirty="0" smtClean="0"/>
              <a:t>は</a:t>
            </a:r>
            <a:r>
              <a:rPr lang="en-US" altLang="ja-JP" sz="2800" dirty="0" err="1" smtClean="0"/>
              <a:t>int</a:t>
            </a:r>
            <a:r>
              <a:rPr lang="ja-JP" altLang="en-US" sz="2800" dirty="0" smtClean="0"/>
              <a:t>型。</a:t>
            </a:r>
            <a:endParaRPr lang="en-US" altLang="ja-JP" sz="2800" dirty="0" smtClean="0"/>
          </a:p>
          <a:p>
            <a:r>
              <a:rPr kumimoji="1" lang="en-US" altLang="ja-JP" sz="2800" dirty="0" smtClean="0"/>
              <a:t>header</a:t>
            </a:r>
            <a:r>
              <a:rPr kumimoji="1" lang="ja-JP" altLang="en-US" sz="2800" dirty="0" smtClean="0"/>
              <a:t>ファイル内で</a:t>
            </a:r>
            <a:r>
              <a:rPr kumimoji="1" lang="en-US" altLang="ja-JP" sz="2800" dirty="0" err="1" smtClean="0"/>
              <a:t>typedef</a:t>
            </a:r>
            <a:r>
              <a:rPr kumimoji="1" lang="ja-JP" altLang="en-US" sz="2800" dirty="0" smtClean="0"/>
              <a:t>で定義されている。</a:t>
            </a:r>
            <a:endParaRPr kumimoji="1" lang="ja-JP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346076"/>
            <a:ext cx="8229600" cy="582594"/>
          </a:xfrm>
        </p:spPr>
        <p:txBody>
          <a:bodyPr>
            <a:normAutofit fontScale="90000"/>
          </a:bodyPr>
          <a:lstStyle/>
          <a:p>
            <a:r>
              <a:rPr lang="ja-JP" altLang="en-US" dirty="0" smtClean="0"/>
              <a:t>例（打ち込んで確認）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571472" y="1142984"/>
            <a:ext cx="8072462" cy="310854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800" dirty="0" smtClean="0"/>
              <a:t>#include &lt;sys/</a:t>
            </a:r>
            <a:r>
              <a:rPr lang="en-US" altLang="ja-JP" sz="2800" dirty="0" err="1" smtClean="0"/>
              <a:t>types.h</a:t>
            </a:r>
            <a:r>
              <a:rPr lang="en-US" altLang="ja-JP" sz="2800" dirty="0" smtClean="0"/>
              <a:t>&gt;</a:t>
            </a:r>
          </a:p>
          <a:p>
            <a:r>
              <a:rPr lang="en-US" altLang="ja-JP" sz="2800" dirty="0" smtClean="0"/>
              <a:t>#include &lt;</a:t>
            </a:r>
            <a:r>
              <a:rPr lang="en-US" altLang="ja-JP" sz="2800" dirty="0" err="1" smtClean="0"/>
              <a:t>unistd.h</a:t>
            </a:r>
            <a:r>
              <a:rPr lang="en-US" altLang="ja-JP" sz="2800" dirty="0" smtClean="0"/>
              <a:t>&gt;</a:t>
            </a:r>
          </a:p>
          <a:p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main (void) {</a:t>
            </a:r>
          </a:p>
          <a:p>
            <a:r>
              <a:rPr lang="en-US" altLang="ja-JP" sz="2800" dirty="0" smtClean="0"/>
              <a:t>  </a:t>
            </a:r>
            <a:r>
              <a:rPr lang="en-US" altLang="ja-JP" sz="2800" dirty="0" err="1" smtClean="0"/>
              <a:t>printf</a:t>
            </a:r>
            <a:r>
              <a:rPr lang="en-US" altLang="ja-JP" sz="2800" dirty="0" smtClean="0"/>
              <a:t> ("ID of the current process is %d.\n", </a:t>
            </a:r>
            <a:r>
              <a:rPr lang="en-US" altLang="ja-JP" sz="2800" dirty="0" err="1" smtClean="0"/>
              <a:t>getpid</a:t>
            </a:r>
            <a:r>
              <a:rPr lang="en-US" altLang="ja-JP" sz="2800" dirty="0" smtClean="0"/>
              <a:t>());</a:t>
            </a:r>
          </a:p>
          <a:p>
            <a:r>
              <a:rPr lang="en-US" altLang="ja-JP" sz="2800" dirty="0" smtClean="0"/>
              <a:t>  </a:t>
            </a:r>
            <a:r>
              <a:rPr lang="en-US" altLang="ja-JP" sz="2800" dirty="0" err="1" smtClean="0"/>
              <a:t>printf</a:t>
            </a:r>
            <a:r>
              <a:rPr lang="en-US" altLang="ja-JP" sz="2800" dirty="0" smtClean="0"/>
              <a:t> ("ID of the parent process is %d.\n", </a:t>
            </a:r>
            <a:r>
              <a:rPr lang="en-US" altLang="ja-JP" sz="2800" dirty="0" err="1" smtClean="0"/>
              <a:t>getppid</a:t>
            </a:r>
            <a:r>
              <a:rPr lang="en-US" altLang="ja-JP" sz="2800" dirty="0" smtClean="0"/>
              <a:t>());</a:t>
            </a:r>
          </a:p>
          <a:p>
            <a:r>
              <a:rPr lang="en-US" altLang="ja-JP" sz="2800" dirty="0" smtClean="0"/>
              <a:t>  return 0;</a:t>
            </a:r>
          </a:p>
          <a:p>
            <a:r>
              <a:rPr lang="en-US" altLang="ja-JP" sz="2800" dirty="0" smtClean="0"/>
              <a:t>}</a:t>
            </a:r>
            <a:endParaRPr lang="en-US" altLang="ja-JP" sz="28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857224" y="4406824"/>
            <a:ext cx="73581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 smtClean="0"/>
              <a:t>このプログラムをプロンプト上で</a:t>
            </a:r>
            <a:endParaRPr lang="en-US" altLang="ja-JP" sz="2400" dirty="0" smtClean="0"/>
          </a:p>
          <a:p>
            <a:r>
              <a:rPr lang="en-US" altLang="ja-JP" sz="2400" dirty="0" smtClean="0"/>
              <a:t>$ ./</a:t>
            </a:r>
            <a:r>
              <a:rPr lang="en-US" altLang="ja-JP" sz="2400" dirty="0" err="1" smtClean="0"/>
              <a:t>a.out</a:t>
            </a:r>
            <a:endParaRPr lang="en-US" altLang="ja-JP" sz="2400" dirty="0" smtClean="0"/>
          </a:p>
          <a:p>
            <a:r>
              <a:rPr lang="ja-JP" altLang="en-US" sz="2400" dirty="0" err="1" smtClean="0"/>
              <a:t>のように</a:t>
            </a:r>
            <a:r>
              <a:rPr lang="ja-JP" altLang="en-US" sz="2400" dirty="0" smtClean="0"/>
              <a:t>実行した場合は、親プロセスは、シェル</a:t>
            </a:r>
            <a:r>
              <a:rPr lang="en-US" altLang="ja-JP" sz="2400" dirty="0" smtClean="0"/>
              <a:t>(</a:t>
            </a:r>
            <a:r>
              <a:rPr lang="ja-JP" altLang="en-US" sz="2400" dirty="0" smtClean="0"/>
              <a:t>私の場合は</a:t>
            </a:r>
            <a:r>
              <a:rPr lang="en-US" altLang="ja-JP" sz="2400" dirty="0" err="1" smtClean="0"/>
              <a:t>tcsh</a:t>
            </a:r>
            <a:r>
              <a:rPr lang="en-US" altLang="ja-JP" sz="2400" dirty="0" smtClean="0"/>
              <a:t>)</a:t>
            </a:r>
            <a:r>
              <a:rPr lang="ja-JP" altLang="en-US" sz="2400" dirty="0" smtClean="0"/>
              <a:t>である。</a:t>
            </a:r>
            <a:endParaRPr lang="en-US" altLang="ja-JP" sz="2400" dirty="0" smtClean="0"/>
          </a:p>
          <a:p>
            <a:r>
              <a:rPr lang="en-US" altLang="ja-JP" sz="2400" dirty="0" smtClean="0"/>
              <a:t>$ </a:t>
            </a:r>
            <a:r>
              <a:rPr lang="en-US" altLang="ja-JP" sz="2400" dirty="0" err="1" smtClean="0"/>
              <a:t>ps</a:t>
            </a:r>
            <a:r>
              <a:rPr lang="en-US" altLang="ja-JP" sz="2400" dirty="0" smtClean="0"/>
              <a:t> –</a:t>
            </a:r>
            <a:r>
              <a:rPr lang="en-US" altLang="ja-JP" sz="2400" dirty="0" err="1" smtClean="0"/>
              <a:t>ef</a:t>
            </a:r>
            <a:r>
              <a:rPr lang="en-US" altLang="ja-JP" sz="2400" dirty="0" smtClean="0"/>
              <a:t> | </a:t>
            </a:r>
            <a:r>
              <a:rPr lang="en-US" altLang="ja-JP" sz="2400" dirty="0" err="1" smtClean="0"/>
              <a:t>grep</a:t>
            </a:r>
            <a:r>
              <a:rPr lang="en-US" altLang="ja-JP" sz="2400" dirty="0" smtClean="0"/>
              <a:t> </a:t>
            </a:r>
            <a:r>
              <a:rPr lang="en-US" altLang="ja-JP" sz="2400" dirty="0" err="1" smtClean="0"/>
              <a:t>sasano</a:t>
            </a:r>
            <a:endParaRPr lang="en-US" altLang="ja-JP" sz="2400" dirty="0" smtClean="0"/>
          </a:p>
          <a:p>
            <a:r>
              <a:rPr lang="ja-JP" altLang="en-US" sz="2400" dirty="0" err="1" smtClean="0"/>
              <a:t>のように</a:t>
            </a:r>
            <a:r>
              <a:rPr lang="ja-JP" altLang="en-US" sz="2400" dirty="0" smtClean="0"/>
              <a:t>して確認。</a:t>
            </a:r>
            <a:endParaRPr kumimoji="1" lang="ja-JP" alt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B3BE8-C479-4041-B4A4-0B9DF133925C}" type="slidenum">
              <a:rPr lang="en-US" altLang="ja-JP"/>
              <a:pPr/>
              <a:t>12</a:t>
            </a:fld>
            <a:endParaRPr lang="en-US" altLang="ja-JP"/>
          </a:p>
        </p:txBody>
      </p:sp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プロセスの木構造</a:t>
            </a:r>
          </a:p>
        </p:txBody>
      </p:sp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1"/>
            <a:ext cx="8229600" cy="4257692"/>
          </a:xfrm>
        </p:spPr>
        <p:txBody>
          <a:bodyPr/>
          <a:lstStyle/>
          <a:p>
            <a:r>
              <a:rPr lang="ja-JP" altLang="en-US" dirty="0" smtClean="0"/>
              <a:t>プロセス</a:t>
            </a:r>
            <a:r>
              <a:rPr lang="en-US" altLang="ja-JP" dirty="0" smtClean="0"/>
              <a:t>init --- </a:t>
            </a:r>
            <a:r>
              <a:rPr lang="ja-JP" altLang="en-US" dirty="0" smtClean="0"/>
              <a:t>プロセス</a:t>
            </a:r>
            <a:r>
              <a:rPr lang="en-US" altLang="ja-JP" dirty="0" smtClean="0"/>
              <a:t>ID 1</a:t>
            </a:r>
            <a:r>
              <a:rPr lang="ja-JP" altLang="en-US" dirty="0" smtClean="0"/>
              <a:t>番のプロセス。</a:t>
            </a:r>
            <a:endParaRPr lang="en-US" altLang="ja-JP" dirty="0"/>
          </a:p>
          <a:p>
            <a:pPr lvl="1"/>
            <a:r>
              <a:rPr lang="en-US" altLang="ja-JP" dirty="0" smtClean="0"/>
              <a:t>init</a:t>
            </a:r>
            <a:r>
              <a:rPr lang="ja-JP" altLang="en-US" dirty="0" smtClean="0"/>
              <a:t>は、すべてのプロセスの先祖である。</a:t>
            </a:r>
            <a:endParaRPr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000100" y="3071810"/>
            <a:ext cx="406393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 smtClean="0"/>
              <a:t>$ </a:t>
            </a:r>
            <a:r>
              <a:rPr lang="en-US" altLang="ja-JP" sz="2800" dirty="0" err="1" smtClean="0"/>
              <a:t>ps</a:t>
            </a:r>
            <a:r>
              <a:rPr lang="en-US" altLang="ja-JP" sz="2800" dirty="0" smtClean="0"/>
              <a:t> –</a:t>
            </a:r>
            <a:r>
              <a:rPr lang="en-US" altLang="ja-JP" sz="2800" dirty="0" err="1" smtClean="0"/>
              <a:t>ef</a:t>
            </a:r>
            <a:r>
              <a:rPr lang="en-US" altLang="ja-JP" sz="2800" dirty="0" smtClean="0"/>
              <a:t> | less</a:t>
            </a:r>
          </a:p>
          <a:p>
            <a:r>
              <a:rPr kumimoji="1" lang="ja-JP" altLang="en-US" sz="2800" dirty="0" smtClean="0"/>
              <a:t>で、</a:t>
            </a:r>
            <a:r>
              <a:rPr lang="ja-JP" altLang="en-US" sz="2800" dirty="0" smtClean="0"/>
              <a:t>一番上に表示される。</a:t>
            </a:r>
            <a:endParaRPr lang="en-US" altLang="ja-JP" sz="2800" dirty="0" smtClean="0"/>
          </a:p>
          <a:p>
            <a:r>
              <a:rPr kumimoji="1" lang="en-US" altLang="ja-JP" sz="2800" dirty="0" smtClean="0"/>
              <a:t>PID</a:t>
            </a:r>
            <a:r>
              <a:rPr kumimoji="1" lang="ja-JP" altLang="en-US" sz="2800" dirty="0" smtClean="0"/>
              <a:t>の欄を確認。</a:t>
            </a:r>
            <a:endParaRPr kumimoji="1" lang="ja-JP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AE539-4AAE-431D-9A52-E961252093A0}" type="slidenum">
              <a:rPr lang="en-US" altLang="ja-JP"/>
              <a:pPr/>
              <a:t>13</a:t>
            </a:fld>
            <a:endParaRPr lang="en-US" altLang="ja-JP"/>
          </a:p>
        </p:txBody>
      </p:sp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ja-JP" altLang="en-US" dirty="0"/>
              <a:t>実際</a:t>
            </a:r>
            <a:r>
              <a:rPr lang="ja-JP" altLang="en-US" dirty="0" smtClean="0"/>
              <a:t>のプロセスの木構造の例</a:t>
            </a:r>
            <a:r>
              <a:rPr lang="en-US" altLang="ja-JP" dirty="0" smtClean="0"/>
              <a:t>(p.145)</a:t>
            </a:r>
            <a:endParaRPr lang="ja-JP" altLang="en-US" dirty="0"/>
          </a:p>
        </p:txBody>
      </p:sp>
      <p:pic>
        <p:nvPicPr>
          <p:cNvPr id="132100" name="Picture 4" descr="fig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32013" y="1274763"/>
            <a:ext cx="4879975" cy="5029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5C62D-4CC4-4861-B8BC-621A1D600292}" type="slidenum">
              <a:rPr lang="en-US" altLang="ja-JP"/>
              <a:pPr/>
              <a:t>14</a:t>
            </a:fld>
            <a:endParaRPr lang="en-US" altLang="ja-JP"/>
          </a:p>
        </p:txBody>
      </p:sp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939784"/>
          </a:xfrm>
        </p:spPr>
        <p:txBody>
          <a:bodyPr/>
          <a:lstStyle/>
          <a:p>
            <a:r>
              <a:rPr lang="en-US" altLang="ja-JP" dirty="0" smtClean="0"/>
              <a:t>fork</a:t>
            </a:r>
            <a:r>
              <a:rPr lang="ja-JP" altLang="en-US" dirty="0" smtClean="0"/>
              <a:t>システムコール</a:t>
            </a:r>
            <a:endParaRPr lang="ja-JP" alt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000100" y="1428736"/>
            <a:ext cx="71438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プロセスは</a:t>
            </a:r>
            <a:r>
              <a:rPr kumimoji="1" lang="en-US" altLang="ja-JP" sz="2400" dirty="0" smtClean="0"/>
              <a:t>fork</a:t>
            </a:r>
            <a:r>
              <a:rPr kumimoji="1" lang="ja-JP" altLang="en-US" sz="2400" dirty="0" smtClean="0"/>
              <a:t>システムコールにより生成する。生成されたプロセスを、</a:t>
            </a:r>
            <a:r>
              <a:rPr kumimoji="1" lang="en-US" altLang="ja-JP" sz="2400" dirty="0" smtClean="0"/>
              <a:t>fork</a:t>
            </a:r>
            <a:r>
              <a:rPr kumimoji="1" lang="ja-JP" altLang="en-US" sz="2400" dirty="0" smtClean="0"/>
              <a:t>システムコールを呼び出したプロセスの子プロセスという。</a:t>
            </a:r>
            <a:endParaRPr kumimoji="1" lang="en-US" altLang="ja-JP" sz="2400" dirty="0" smtClean="0"/>
          </a:p>
          <a:p>
            <a:r>
              <a:rPr lang="ja-JP" altLang="en-US" sz="2400" dirty="0" smtClean="0"/>
              <a:t>子プロセスにとっては、</a:t>
            </a:r>
            <a:r>
              <a:rPr lang="en-US" altLang="ja-JP" sz="2400" dirty="0" smtClean="0"/>
              <a:t>fork</a:t>
            </a:r>
            <a:r>
              <a:rPr lang="ja-JP" altLang="en-US" sz="2400" dirty="0" smtClean="0"/>
              <a:t>システムコールを呼び出したプロセスを親プロセスという。</a:t>
            </a:r>
            <a:endParaRPr lang="en-US" altLang="ja-JP" sz="2400" dirty="0" smtClean="0"/>
          </a:p>
          <a:p>
            <a:r>
              <a:rPr kumimoji="1" lang="ja-JP" altLang="en-US" sz="2400" dirty="0" smtClean="0"/>
              <a:t>親は一つなので、プロセスは木構造を成す。</a:t>
            </a:r>
            <a:endParaRPr kumimoji="1" lang="en-US" altLang="ja-JP" sz="2400" dirty="0" smtClean="0"/>
          </a:p>
          <a:p>
            <a:r>
              <a:rPr lang="ja-JP" altLang="en-US" sz="2400" dirty="0" smtClean="0"/>
              <a:t>すべてのプロセスは</a:t>
            </a:r>
            <a:r>
              <a:rPr lang="en-US" altLang="ja-JP" sz="2400" dirty="0" smtClean="0"/>
              <a:t>fork</a:t>
            </a:r>
            <a:r>
              <a:rPr lang="ja-JP" altLang="en-US" sz="2400" dirty="0" smtClean="0"/>
              <a:t>システムコールで生成される（プロセス</a:t>
            </a:r>
            <a:r>
              <a:rPr lang="en-US" altLang="ja-JP" sz="2400" dirty="0" smtClean="0"/>
              <a:t>0</a:t>
            </a:r>
            <a:r>
              <a:rPr lang="ja-JP" altLang="en-US" sz="2400" dirty="0" smtClean="0"/>
              <a:t>番以外は） 。</a:t>
            </a:r>
            <a:endParaRPr kumimoji="1" lang="ja-JP" altLang="en-US" sz="2400" dirty="0"/>
          </a:p>
        </p:txBody>
      </p:sp>
      <p:sp>
        <p:nvSpPr>
          <p:cNvPr id="7" name="正方形/長方形 6"/>
          <p:cNvSpPr/>
          <p:nvPr/>
        </p:nvSpPr>
        <p:spPr>
          <a:xfrm>
            <a:off x="1714480" y="4714884"/>
            <a:ext cx="5072098" cy="181588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800" dirty="0" smtClean="0"/>
              <a:t>SYNOPSIS</a:t>
            </a:r>
          </a:p>
          <a:p>
            <a:r>
              <a:rPr lang="en-US" altLang="ja-JP" sz="2800" dirty="0" smtClean="0"/>
              <a:t>       #include &lt;sys/</a:t>
            </a:r>
            <a:r>
              <a:rPr lang="en-US" altLang="ja-JP" sz="2800" dirty="0" err="1" smtClean="0"/>
              <a:t>types.h</a:t>
            </a:r>
            <a:r>
              <a:rPr lang="en-US" altLang="ja-JP" sz="2800" dirty="0" smtClean="0"/>
              <a:t>&gt;</a:t>
            </a:r>
          </a:p>
          <a:p>
            <a:r>
              <a:rPr lang="en-US" altLang="ja-JP" sz="2800" dirty="0" smtClean="0"/>
              <a:t>       #include &lt;</a:t>
            </a:r>
            <a:r>
              <a:rPr lang="en-US" altLang="ja-JP" sz="2800" dirty="0" err="1" smtClean="0"/>
              <a:t>unistd.h</a:t>
            </a:r>
            <a:r>
              <a:rPr lang="en-US" altLang="ja-JP" sz="2800" dirty="0" smtClean="0"/>
              <a:t>&gt;</a:t>
            </a:r>
          </a:p>
          <a:p>
            <a:r>
              <a:rPr lang="en-US" altLang="ja-JP" sz="2800" dirty="0" smtClean="0"/>
              <a:t>       </a:t>
            </a:r>
            <a:r>
              <a:rPr lang="en-US" altLang="ja-JP" sz="2800" dirty="0" err="1" smtClean="0"/>
              <a:t>pid_t</a:t>
            </a:r>
            <a:r>
              <a:rPr lang="en-US" altLang="ja-JP" sz="2800" dirty="0" smtClean="0"/>
              <a:t> fork(void);</a:t>
            </a:r>
            <a:endParaRPr lang="en-US" altLang="ja-JP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91001-423A-4D2D-B489-BF54D32C2760}" type="slidenum">
              <a:rPr lang="en-US" altLang="ja-JP"/>
              <a:pPr/>
              <a:t>15</a:t>
            </a:fld>
            <a:endParaRPr lang="en-US" altLang="ja-JP"/>
          </a:p>
        </p:txBody>
      </p:sp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8229600" cy="1143000"/>
          </a:xfrm>
        </p:spPr>
        <p:txBody>
          <a:bodyPr/>
          <a:lstStyle/>
          <a:p>
            <a:r>
              <a:rPr lang="en-US" altLang="ja-JP" dirty="0" smtClean="0"/>
              <a:t>fork</a:t>
            </a:r>
            <a:r>
              <a:rPr lang="ja-JP" altLang="en-US" dirty="0" smtClean="0"/>
              <a:t>システムコール</a:t>
            </a:r>
            <a:endParaRPr lang="ja-JP" altLang="en-US" dirty="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0" y="1000108"/>
            <a:ext cx="9144000" cy="3679825"/>
            <a:chOff x="0" y="1026"/>
            <a:chExt cx="5760" cy="2318"/>
          </a:xfrm>
        </p:grpSpPr>
        <p:pic>
          <p:nvPicPr>
            <p:cNvPr id="138245" name="Picture 5" descr="fig7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0" y="1026"/>
              <a:ext cx="5760" cy="23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</p:pic>
        <p:sp>
          <p:nvSpPr>
            <p:cNvPr id="138246" name="Rectangle 6"/>
            <p:cNvSpPr>
              <a:spLocks noChangeArrowheads="1"/>
            </p:cNvSpPr>
            <p:nvPr/>
          </p:nvSpPr>
          <p:spPr bwMode="auto">
            <a:xfrm>
              <a:off x="158" y="1888"/>
              <a:ext cx="499" cy="227"/>
            </a:xfrm>
            <a:prstGeom prst="rect">
              <a:avLst/>
            </a:prstGeom>
            <a:solidFill>
              <a:schemeClr val="accent1">
                <a:alpha val="27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38247" name="Line 7"/>
            <p:cNvSpPr>
              <a:spLocks noChangeShapeType="1"/>
            </p:cNvSpPr>
            <p:nvPr/>
          </p:nvSpPr>
          <p:spPr bwMode="auto">
            <a:xfrm>
              <a:off x="476" y="2115"/>
              <a:ext cx="91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38248" name="Text Box 8"/>
            <p:cNvSpPr txBox="1">
              <a:spLocks noChangeArrowheads="1"/>
            </p:cNvSpPr>
            <p:nvPr/>
          </p:nvSpPr>
          <p:spPr bwMode="auto">
            <a:xfrm>
              <a:off x="521" y="2160"/>
              <a:ext cx="32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ja-JP" sz="2400" u="none" dirty="0" err="1"/>
                <a:t>int</a:t>
              </a:r>
              <a:endParaRPr lang="en-US" altLang="ja-JP" sz="2400" u="none" dirty="0"/>
            </a:p>
          </p:txBody>
        </p:sp>
      </p:grpSp>
      <p:sp>
        <p:nvSpPr>
          <p:cNvPr id="138249" name="Text Box 9"/>
          <p:cNvSpPr txBox="1">
            <a:spLocks noChangeArrowheads="1"/>
          </p:cNvSpPr>
          <p:nvPr/>
        </p:nvSpPr>
        <p:spPr bwMode="auto">
          <a:xfrm>
            <a:off x="642910" y="4786322"/>
            <a:ext cx="7358114" cy="193899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ja-JP" altLang="en-US" sz="2400" u="none" dirty="0"/>
              <a:t>親プロセスの分身が子プロセスとして</a:t>
            </a:r>
            <a:r>
              <a:rPr lang="ja-JP" altLang="en-US" sz="2400" u="none" dirty="0" smtClean="0"/>
              <a:t>生成される。</a:t>
            </a:r>
            <a:endParaRPr lang="ja-JP" altLang="en-US" sz="2400" u="none" dirty="0"/>
          </a:p>
          <a:p>
            <a:r>
              <a:rPr lang="en-US" altLang="ja-JP" sz="2400" dirty="0" smtClean="0"/>
              <a:t>f</a:t>
            </a:r>
            <a:r>
              <a:rPr lang="en-US" altLang="ja-JP" sz="2400" u="none" dirty="0" smtClean="0"/>
              <a:t>ork</a:t>
            </a:r>
            <a:r>
              <a:rPr lang="ja-JP" altLang="en-US" sz="2400" u="none" dirty="0" smtClean="0"/>
              <a:t>システムコール終了後</a:t>
            </a:r>
            <a:r>
              <a:rPr lang="ja-JP" altLang="en-US" sz="2400" u="none" dirty="0"/>
              <a:t>，全く同じプロセス</a:t>
            </a:r>
            <a:r>
              <a:rPr lang="ja-JP" altLang="en-US" sz="2400" u="none" dirty="0" smtClean="0"/>
              <a:t>が</a:t>
            </a:r>
            <a:r>
              <a:rPr lang="ja-JP" altLang="en-US" sz="2400" dirty="0" smtClean="0"/>
              <a:t>並行</a:t>
            </a:r>
            <a:r>
              <a:rPr lang="ja-JP" altLang="en-US" sz="2400" u="none" dirty="0" smtClean="0"/>
              <a:t>して実行</a:t>
            </a:r>
            <a:r>
              <a:rPr lang="ja-JP" altLang="en-US" sz="2400" dirty="0" smtClean="0"/>
              <a:t>される。</a:t>
            </a:r>
            <a:endParaRPr lang="ja-JP" altLang="en-US" sz="2400" u="none" dirty="0"/>
          </a:p>
          <a:p>
            <a:r>
              <a:rPr lang="en-US" altLang="ja-JP" sz="2400" u="none" dirty="0" smtClean="0"/>
              <a:t>fork</a:t>
            </a:r>
            <a:r>
              <a:rPr lang="en-US" altLang="ja-JP" sz="2400" u="none" dirty="0"/>
              <a:t>()</a:t>
            </a:r>
            <a:r>
              <a:rPr lang="ja-JP" altLang="en-US" sz="2400" u="none" dirty="0"/>
              <a:t>システムコールの戻り値により親と</a:t>
            </a:r>
            <a:r>
              <a:rPr lang="ja-JP" altLang="en-US" sz="2400" u="none" dirty="0" smtClean="0"/>
              <a:t>子をプログラム内で識別する。（具体的には</a:t>
            </a:r>
            <a:r>
              <a:rPr lang="en-US" altLang="ja-JP" sz="2400" u="none" dirty="0" smtClean="0"/>
              <a:t>if</a:t>
            </a:r>
            <a:r>
              <a:rPr lang="ja-JP" altLang="en-US" sz="2400" u="none" dirty="0" smtClean="0"/>
              <a:t>文で分岐すればよい。）</a:t>
            </a:r>
            <a:endParaRPr lang="en-US" altLang="ja-JP" sz="2400" u="none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44504-0EA3-4648-A930-4CF55BCF0AC0}" type="slidenum">
              <a:rPr lang="en-US" altLang="ja-JP"/>
              <a:pPr/>
              <a:t>16</a:t>
            </a:fld>
            <a:endParaRPr lang="en-US" altLang="ja-JP"/>
          </a:p>
        </p:txBody>
      </p:sp>
      <p:sp>
        <p:nvSpPr>
          <p:cNvPr id="139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8229600" cy="1143000"/>
          </a:xfrm>
        </p:spPr>
        <p:txBody>
          <a:bodyPr/>
          <a:lstStyle/>
          <a:p>
            <a:r>
              <a:rPr lang="ja-JP" altLang="en-US" sz="4000"/>
              <a:t>親プロセスと子プロセスの切り分け</a:t>
            </a:r>
          </a:p>
        </p:txBody>
      </p:sp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2" y="1268413"/>
            <a:ext cx="8389967" cy="2374901"/>
          </a:xfrm>
        </p:spPr>
        <p:txBody>
          <a:bodyPr>
            <a:normAutofit lnSpcReduction="10000"/>
          </a:bodyPr>
          <a:lstStyle/>
          <a:p>
            <a:r>
              <a:rPr lang="en-US" altLang="ja-JP" sz="2400" dirty="0" smtClean="0"/>
              <a:t>fork</a:t>
            </a:r>
            <a:r>
              <a:rPr lang="ja-JP" altLang="en-US" sz="2400" dirty="0" smtClean="0"/>
              <a:t>システムコールの返り値</a:t>
            </a:r>
            <a:endParaRPr lang="ja-JP" altLang="en-US" sz="2400" dirty="0"/>
          </a:p>
          <a:p>
            <a:pPr lvl="1"/>
            <a:r>
              <a:rPr lang="en-US" altLang="ja-JP" sz="2400" dirty="0"/>
              <a:t>0: </a:t>
            </a:r>
            <a:r>
              <a:rPr lang="en-US" altLang="ja-JP" sz="2400" dirty="0" smtClean="0"/>
              <a:t>0</a:t>
            </a:r>
            <a:r>
              <a:rPr lang="ja-JP" altLang="en-US" sz="2400" dirty="0" smtClean="0"/>
              <a:t>を受け取ったら、そのプロセスは子プロセスである。</a:t>
            </a:r>
            <a:endParaRPr lang="ja-JP" altLang="en-US" sz="2400" dirty="0"/>
          </a:p>
          <a:p>
            <a:pPr lvl="1"/>
            <a:r>
              <a:rPr lang="en-US" altLang="ja-JP" sz="2400" dirty="0"/>
              <a:t>1</a:t>
            </a:r>
            <a:r>
              <a:rPr lang="ja-JP" altLang="en-US" sz="2400" dirty="0"/>
              <a:t>以上</a:t>
            </a:r>
            <a:r>
              <a:rPr lang="ja-JP" altLang="en-US" sz="2400" dirty="0" smtClean="0"/>
              <a:t>：これを受けったら、そのプロセスは親プロセスである。値は生成された子</a:t>
            </a:r>
            <a:r>
              <a:rPr lang="ja-JP" altLang="en-US" sz="2400" dirty="0"/>
              <a:t>プロセスのプロセス</a:t>
            </a:r>
            <a:r>
              <a:rPr lang="en-US" altLang="ja-JP" sz="2400" dirty="0" smtClean="0"/>
              <a:t>ID</a:t>
            </a:r>
            <a:r>
              <a:rPr lang="ja-JP" altLang="en-US" sz="2400" dirty="0" smtClean="0"/>
              <a:t>である。</a:t>
            </a:r>
            <a:endParaRPr lang="ja-JP" altLang="en-US" sz="2400" dirty="0"/>
          </a:p>
          <a:p>
            <a:pPr lvl="1"/>
            <a:r>
              <a:rPr lang="ja-JP" altLang="en-US" sz="2400" dirty="0"/>
              <a:t>－</a:t>
            </a:r>
            <a:r>
              <a:rPr lang="en-US" altLang="ja-JP" sz="2400" dirty="0"/>
              <a:t>1</a:t>
            </a:r>
            <a:r>
              <a:rPr lang="ja-JP" altLang="en-US" sz="2400" dirty="0"/>
              <a:t>：　</a:t>
            </a:r>
            <a:r>
              <a:rPr lang="ja-JP" altLang="en-US" sz="2400" dirty="0" smtClean="0"/>
              <a:t>これを受け取ったら、</a:t>
            </a:r>
            <a:r>
              <a:rPr lang="en-US" altLang="ja-JP" sz="2400" dirty="0" smtClean="0"/>
              <a:t>fork</a:t>
            </a:r>
            <a:r>
              <a:rPr lang="ja-JP" altLang="en-US" sz="2400" dirty="0" smtClean="0"/>
              <a:t>システムコールがエラーで終了している。この場合は子プロセスは生成されていない。</a:t>
            </a:r>
            <a:endParaRPr lang="ja-JP" altLang="en-US" sz="2400" dirty="0"/>
          </a:p>
        </p:txBody>
      </p:sp>
      <p:pic>
        <p:nvPicPr>
          <p:cNvPr id="139268" name="Picture 4" descr="fig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29058" y="3571876"/>
            <a:ext cx="4284662" cy="31178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8" name="テキスト ボックス 7"/>
          <p:cNvSpPr txBox="1"/>
          <p:nvPr/>
        </p:nvSpPr>
        <p:spPr>
          <a:xfrm>
            <a:off x="928662" y="4071942"/>
            <a:ext cx="2786082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800" dirty="0" smtClean="0"/>
              <a:t>fork</a:t>
            </a:r>
            <a:r>
              <a:rPr lang="ja-JP" altLang="en-US" sz="2800" dirty="0" smtClean="0"/>
              <a:t>システムコールを呼び出す典型的書き方</a:t>
            </a:r>
            <a:endParaRPr kumimoji="1" lang="ja-JP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 fontScale="90000"/>
          </a:bodyPr>
          <a:lstStyle/>
          <a:p>
            <a:r>
              <a:rPr kumimoji="1" lang="ja-JP" altLang="en-US" dirty="0" smtClean="0"/>
              <a:t>例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642910" y="1214422"/>
            <a:ext cx="7715304" cy="526297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400" dirty="0" smtClean="0"/>
              <a:t>#include &lt;sys/</a:t>
            </a:r>
            <a:r>
              <a:rPr lang="en-US" altLang="ja-JP" sz="2400" dirty="0" err="1" smtClean="0"/>
              <a:t>types.h</a:t>
            </a:r>
            <a:r>
              <a:rPr lang="en-US" altLang="ja-JP" sz="2400" dirty="0" smtClean="0"/>
              <a:t>&gt;</a:t>
            </a:r>
          </a:p>
          <a:p>
            <a:r>
              <a:rPr lang="en-US" altLang="ja-JP" sz="2400" dirty="0" smtClean="0"/>
              <a:t>#include &lt;</a:t>
            </a:r>
            <a:r>
              <a:rPr lang="en-US" altLang="ja-JP" sz="2400" dirty="0" err="1" smtClean="0"/>
              <a:t>unistd.h</a:t>
            </a:r>
            <a:r>
              <a:rPr lang="en-US" altLang="ja-JP" sz="2400" dirty="0" smtClean="0"/>
              <a:t>&gt;</a:t>
            </a:r>
          </a:p>
          <a:p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main (void) {</a:t>
            </a:r>
          </a:p>
          <a:p>
            <a:r>
              <a:rPr lang="en-US" altLang="ja-JP" sz="2400" dirty="0" smtClean="0"/>
              <a:t>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</a:t>
            </a:r>
            <a:r>
              <a:rPr lang="en-US" altLang="ja-JP" sz="2400" dirty="0" err="1" smtClean="0"/>
              <a:t>pid</a:t>
            </a:r>
            <a:r>
              <a:rPr lang="en-US" altLang="ja-JP" sz="2400" dirty="0" smtClean="0"/>
              <a:t>;</a:t>
            </a:r>
          </a:p>
          <a:p>
            <a:r>
              <a:rPr lang="ja-JP" altLang="en-US" sz="2400" dirty="0" smtClean="0"/>
              <a:t>  </a:t>
            </a:r>
            <a:r>
              <a:rPr lang="en-US" altLang="ja-JP" sz="2400" dirty="0" smtClean="0"/>
              <a:t>if ((</a:t>
            </a:r>
            <a:r>
              <a:rPr lang="en-US" altLang="ja-JP" sz="2400" dirty="0" err="1" smtClean="0"/>
              <a:t>pid</a:t>
            </a:r>
            <a:r>
              <a:rPr lang="en-US" altLang="ja-JP" sz="2400" dirty="0" smtClean="0"/>
              <a:t> = fork()) == 0) {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("Child process. ID=%d\n", </a:t>
            </a:r>
            <a:r>
              <a:rPr lang="en-US" altLang="ja-JP" sz="2400" dirty="0" err="1" smtClean="0"/>
              <a:t>getpid</a:t>
            </a:r>
            <a:r>
              <a:rPr lang="en-US" altLang="ja-JP" sz="2400" dirty="0" smtClean="0"/>
              <a:t>());</a:t>
            </a:r>
          </a:p>
          <a:p>
            <a:r>
              <a:rPr lang="en-US" altLang="ja-JP" sz="2400" dirty="0" smtClean="0"/>
              <a:t>  } else if (</a:t>
            </a:r>
            <a:r>
              <a:rPr lang="en-US" altLang="ja-JP" sz="2400" dirty="0" err="1" smtClean="0"/>
              <a:t>pid</a:t>
            </a:r>
            <a:r>
              <a:rPr lang="en-US" altLang="ja-JP" sz="2400" dirty="0" smtClean="0"/>
              <a:t> &gt;= 1) {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("Parent process. ID=%d, </a:t>
            </a:r>
            <a:r>
              <a:rPr lang="en-US" altLang="ja-JP" sz="2400" dirty="0" err="1" smtClean="0"/>
              <a:t>pid</a:t>
            </a:r>
            <a:r>
              <a:rPr lang="en-US" altLang="ja-JP" sz="2400" dirty="0" smtClean="0"/>
              <a:t>=%d\n", </a:t>
            </a:r>
            <a:r>
              <a:rPr lang="en-US" altLang="ja-JP" sz="2400" dirty="0" err="1" smtClean="0"/>
              <a:t>getpid</a:t>
            </a:r>
            <a:r>
              <a:rPr lang="en-US" altLang="ja-JP" sz="2400" dirty="0" smtClean="0"/>
              <a:t>(), </a:t>
            </a:r>
            <a:r>
              <a:rPr lang="en-US" altLang="ja-JP" sz="2400" dirty="0" err="1" smtClean="0"/>
              <a:t>pid</a:t>
            </a:r>
            <a:r>
              <a:rPr lang="en-US" altLang="ja-JP" sz="2400" dirty="0" smtClean="0"/>
              <a:t>);</a:t>
            </a:r>
          </a:p>
          <a:p>
            <a:r>
              <a:rPr lang="en-US" altLang="ja-JP" sz="2400" dirty="0" smtClean="0"/>
              <a:t>  } else {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perror</a:t>
            </a:r>
            <a:r>
              <a:rPr lang="en-US" altLang="ja-JP" sz="2400" dirty="0" smtClean="0"/>
              <a:t> ("fork");</a:t>
            </a:r>
          </a:p>
          <a:p>
            <a:r>
              <a:rPr lang="en-US" altLang="ja-JP" sz="2400" dirty="0" smtClean="0"/>
              <a:t>    exit(1);</a:t>
            </a:r>
          </a:p>
          <a:p>
            <a:r>
              <a:rPr lang="en-US" altLang="ja-JP" sz="2400" dirty="0" smtClean="0"/>
              <a:t>  }</a:t>
            </a:r>
          </a:p>
          <a:p>
            <a:r>
              <a:rPr lang="en-US" altLang="ja-JP" sz="2400" dirty="0" smtClean="0"/>
              <a:t>  exit (0);</a:t>
            </a:r>
          </a:p>
          <a:p>
            <a:r>
              <a:rPr lang="en-US" altLang="ja-JP" sz="2400" dirty="0" smtClean="0"/>
              <a:t>}</a:t>
            </a:r>
            <a:endParaRPr lang="en-US" altLang="ja-JP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C0C0C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C0C0C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1144</Words>
  <Application>Microsoft Office PowerPoint</Application>
  <PresentationFormat>画面に合わせる (4:3)</PresentationFormat>
  <Paragraphs>133</Paragraphs>
  <Slides>17</Slides>
  <Notes>10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17</vt:i4>
      </vt:variant>
    </vt:vector>
  </HeadingPairs>
  <TitlesOfParts>
    <vt:vector size="18" baseType="lpstr">
      <vt:lpstr>Office テーマ</vt:lpstr>
      <vt:lpstr>システムプログラミング 第９回</vt:lpstr>
      <vt:lpstr>今回の内容</vt:lpstr>
      <vt:lpstr>先週の質問について</vt:lpstr>
      <vt:lpstr>ハードリンクの作成</vt:lpstr>
      <vt:lpstr>シンボリックリンク</vt:lpstr>
      <vt:lpstr>プロセスとは？</vt:lpstr>
      <vt:lpstr>プロセスの状態</vt:lpstr>
      <vt:lpstr> プロセスの状態遷移図</vt:lpstr>
      <vt:lpstr>プロセスの優先度</vt:lpstr>
      <vt:lpstr>プロセスID</vt:lpstr>
      <vt:lpstr>例（打ち込んで確認）</vt:lpstr>
      <vt:lpstr>プロセスの木構造</vt:lpstr>
      <vt:lpstr>実際のプロセスの木構造の例(p.145)</vt:lpstr>
      <vt:lpstr>forkシステムコール</vt:lpstr>
      <vt:lpstr>forkシステムコール</vt:lpstr>
      <vt:lpstr>親プロセスと子プロセスの切り分け</vt:lpstr>
      <vt:lpstr>例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システムプログラミング 第９回</dc:title>
  <dc:creator>sasano</dc:creator>
  <cp:lastModifiedBy>sasano</cp:lastModifiedBy>
  <cp:revision>122</cp:revision>
  <dcterms:created xsi:type="dcterms:W3CDTF">2009-11-15T06:34:26Z</dcterms:created>
  <dcterms:modified xsi:type="dcterms:W3CDTF">2009-11-23T15:43:54Z</dcterms:modified>
</cp:coreProperties>
</file>