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57" r:id="rId4"/>
    <p:sldId id="260" r:id="rId5"/>
    <p:sldId id="261" r:id="rId6"/>
    <p:sldId id="262" r:id="rId7"/>
    <p:sldId id="264" r:id="rId8"/>
    <p:sldId id="265" r:id="rId9"/>
    <p:sldId id="266" r:id="rId10"/>
    <p:sldId id="268" r:id="rId11"/>
    <p:sldId id="267" r:id="rId12"/>
    <p:sldId id="263" r:id="rId13"/>
    <p:sldId id="270" r:id="rId14"/>
    <p:sldId id="271" r:id="rId1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CD4904-425D-459E-82AB-71B230665720}" type="datetimeFigureOut">
              <a:rPr kumimoji="1" lang="ja-JP" altLang="en-US" smtClean="0"/>
              <a:pPr/>
              <a:t>2009/12/8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D2421F-8152-4060-AFB5-82FBE59520E8}"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47F32-1C87-4F56-B389-426D3BBCEE62}" type="slidenum">
              <a:rPr lang="en-US" altLang="ja-JP"/>
              <a:pPr/>
              <a:t>3</a:t>
            </a:fld>
            <a:endParaRPr lang="en-US" altLang="ja-JP"/>
          </a:p>
        </p:txBody>
      </p:sp>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r>
              <a:rPr lang="en-US" altLang="ja-JP" dirty="0" smtClean="0"/>
              <a:t/>
            </a:r>
            <a:br>
              <a:rPr lang="en-US" altLang="ja-JP" dirty="0" smtClean="0"/>
            </a:br>
            <a:r>
              <a:rPr lang="ja-JP" altLang="en-US" dirty="0" smtClean="0"/>
              <a:t>第１０回</a:t>
            </a:r>
            <a:endParaRPr kumimoji="1" lang="ja-JP" altLang="en-US" dirty="0"/>
          </a:p>
        </p:txBody>
      </p:sp>
      <p:sp>
        <p:nvSpPr>
          <p:cNvPr id="4" name="テキスト ボックス 3"/>
          <p:cNvSpPr txBox="1"/>
          <p:nvPr/>
        </p:nvSpPr>
        <p:spPr>
          <a:xfrm>
            <a:off x="2786050" y="478632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今回の内容</a:t>
            </a:r>
            <a:endParaRPr kumimoji="1" lang="ja-JP" altLang="en-US" dirty="0"/>
          </a:p>
        </p:txBody>
      </p:sp>
      <p:sp>
        <p:nvSpPr>
          <p:cNvPr id="3" name="コンテンツ プレースホルダ 2"/>
          <p:cNvSpPr>
            <a:spLocks noGrp="1"/>
          </p:cNvSpPr>
          <p:nvPr>
            <p:ph idx="1"/>
          </p:nvPr>
        </p:nvSpPr>
        <p:spPr>
          <a:xfrm>
            <a:off x="428596" y="1428736"/>
            <a:ext cx="8229600" cy="4525963"/>
          </a:xfrm>
        </p:spPr>
        <p:txBody>
          <a:bodyPr>
            <a:normAutofit fontScale="92500" lnSpcReduction="10000"/>
          </a:bodyPr>
          <a:lstStyle/>
          <a:p>
            <a:r>
              <a:rPr kumimoji="1" lang="ja-JP" altLang="en-US" dirty="0" smtClean="0"/>
              <a:t>プロセス（続き）</a:t>
            </a:r>
            <a:endParaRPr kumimoji="1" lang="en-US" altLang="ja-JP" dirty="0" smtClean="0"/>
          </a:p>
          <a:p>
            <a:pPr lvl="1"/>
            <a:r>
              <a:rPr lang="en-US" altLang="ja-JP" dirty="0" err="1" smtClean="0"/>
              <a:t>execve</a:t>
            </a:r>
            <a:r>
              <a:rPr lang="ja-JP" altLang="en-US" dirty="0" smtClean="0"/>
              <a:t>システムコール</a:t>
            </a:r>
            <a:endParaRPr lang="en-US" altLang="ja-JP" dirty="0" smtClean="0"/>
          </a:p>
          <a:p>
            <a:pPr lvl="2"/>
            <a:r>
              <a:rPr lang="ja-JP" altLang="en-US" dirty="0" smtClean="0"/>
              <a:t>現在のプロセスを、引数に与えられたファイル（実行形式ファイルあるいはシェルスクリプト等の実行可能なファイル）を受け取り、現在のプログラムをそれで置き換える（変身）。</a:t>
            </a:r>
            <a:endParaRPr lang="en-US" altLang="ja-JP" dirty="0" smtClean="0"/>
          </a:p>
          <a:p>
            <a:pPr lvl="2"/>
            <a:r>
              <a:rPr lang="en-US" altLang="ja-JP" dirty="0" smtClean="0"/>
              <a:t>fork</a:t>
            </a:r>
            <a:r>
              <a:rPr lang="ja-JP" altLang="en-US" dirty="0" smtClean="0"/>
              <a:t>システムコールによって子プロセスの生成後、子プロセスが</a:t>
            </a:r>
            <a:r>
              <a:rPr lang="en-US" altLang="ja-JP" dirty="0" err="1" smtClean="0"/>
              <a:t>execve</a:t>
            </a:r>
            <a:r>
              <a:rPr lang="ja-JP" altLang="en-US" dirty="0" smtClean="0"/>
              <a:t>システムコールによって新しいプログラムを読み込むというのが典型的な使い方</a:t>
            </a:r>
            <a:r>
              <a:rPr lang="en-US" altLang="ja-JP" dirty="0" smtClean="0"/>
              <a:t>(fork-exec)</a:t>
            </a:r>
            <a:r>
              <a:rPr lang="ja-JP" altLang="en-US" dirty="0" err="1" smtClean="0"/>
              <a:t>。</a:t>
            </a:r>
            <a:endParaRPr lang="en-US" altLang="ja-JP" dirty="0" smtClean="0"/>
          </a:p>
          <a:p>
            <a:pPr lvl="2"/>
            <a:r>
              <a:rPr lang="en-US" altLang="ja-JP" dirty="0" err="1" smtClean="0"/>
              <a:t>e</a:t>
            </a:r>
            <a:r>
              <a:rPr kumimoji="1" lang="en-US" altLang="ja-JP" dirty="0" err="1" smtClean="0"/>
              <a:t>xecve</a:t>
            </a:r>
            <a:r>
              <a:rPr kumimoji="1" lang="ja-JP" altLang="en-US" dirty="0" smtClean="0"/>
              <a:t>システムコールを使って定義</a:t>
            </a:r>
            <a:r>
              <a:rPr kumimoji="1" lang="ja-JP" altLang="en-US" dirty="0" err="1" smtClean="0"/>
              <a:t>されたいくつかの</a:t>
            </a:r>
            <a:r>
              <a:rPr kumimoji="1" lang="ja-JP" altLang="en-US" dirty="0" smtClean="0"/>
              <a:t>ライブラリ関数があり、自分の使い方あった、便利がよい関数を用いればよい。以下ではこれらをまとめて</a:t>
            </a:r>
            <a:r>
              <a:rPr kumimoji="1" lang="en-US" altLang="ja-JP" dirty="0" smtClean="0"/>
              <a:t>exec</a:t>
            </a:r>
            <a:r>
              <a:rPr kumimoji="1" lang="ja-JP" altLang="en-US" dirty="0" smtClean="0"/>
              <a:t>システムコールと呼ぶこととする。</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6306A473-A974-48D7-864D-785911377B5A}" type="slidenum">
              <a:rPr lang="en-US" altLang="ja-JP"/>
              <a:pPr/>
              <a:t>3</a:t>
            </a:fld>
            <a:endParaRPr lang="en-US" altLang="ja-JP"/>
          </a:p>
        </p:txBody>
      </p:sp>
      <p:pic>
        <p:nvPicPr>
          <p:cNvPr id="140292" name="Picture 4" descr="fig6"/>
          <p:cNvPicPr>
            <a:picLocks noChangeAspect="1" noChangeArrowheads="1"/>
          </p:cNvPicPr>
          <p:nvPr/>
        </p:nvPicPr>
        <p:blipFill>
          <a:blip r:embed="rId3" cstate="print"/>
          <a:srcRect/>
          <a:stretch>
            <a:fillRect/>
          </a:stretch>
        </p:blipFill>
        <p:spPr bwMode="auto">
          <a:xfrm>
            <a:off x="395288" y="333375"/>
            <a:ext cx="7632700" cy="6280150"/>
          </a:xfrm>
          <a:prstGeom prst="rect">
            <a:avLst/>
          </a:prstGeom>
          <a:noFill/>
        </p:spPr>
      </p:pic>
      <p:sp>
        <p:nvSpPr>
          <p:cNvPr id="140293" name="Rectangle 5"/>
          <p:cNvSpPr>
            <a:spLocks noChangeArrowheads="1"/>
          </p:cNvSpPr>
          <p:nvPr/>
        </p:nvSpPr>
        <p:spPr bwMode="auto">
          <a:xfrm>
            <a:off x="1476375" y="1773238"/>
            <a:ext cx="1079500" cy="287337"/>
          </a:xfrm>
          <a:prstGeom prst="rect">
            <a:avLst/>
          </a:prstGeom>
          <a:solidFill>
            <a:srgbClr val="FF0000">
              <a:alpha val="25999"/>
            </a:srgbClr>
          </a:solidFill>
          <a:ln w="9525">
            <a:solidFill>
              <a:schemeClr val="tx1"/>
            </a:solidFill>
            <a:miter lim="800000"/>
            <a:headEnd/>
            <a:tailEnd/>
          </a:ln>
          <a:effectLst/>
        </p:spPr>
        <p:txBody>
          <a:bodyPr wrap="none" anchor="ctr"/>
          <a:lstStyle/>
          <a:p>
            <a:endParaRPr lang="ja-JP" altLang="en-US"/>
          </a:p>
        </p:txBody>
      </p:sp>
      <p:sp>
        <p:nvSpPr>
          <p:cNvPr id="7" name="テキスト ボックス 6"/>
          <p:cNvSpPr txBox="1"/>
          <p:nvPr/>
        </p:nvSpPr>
        <p:spPr>
          <a:xfrm>
            <a:off x="5000628" y="357166"/>
            <a:ext cx="3857652" cy="3539430"/>
          </a:xfrm>
          <a:prstGeom prst="rect">
            <a:avLst/>
          </a:prstGeom>
          <a:noFill/>
          <a:ln>
            <a:solidFill>
              <a:schemeClr val="tx1"/>
            </a:solidFill>
          </a:ln>
        </p:spPr>
        <p:txBody>
          <a:bodyPr wrap="square" rtlCol="0">
            <a:spAutoFit/>
          </a:bodyPr>
          <a:lstStyle/>
          <a:p>
            <a:r>
              <a:rPr lang="ja-JP" altLang="en-US" sz="2800" dirty="0" smtClean="0"/>
              <a:t>実行形式ファイルに格納されているプログラムを別プロセスで実行したい場合は、</a:t>
            </a:r>
            <a:r>
              <a:rPr lang="en-US" altLang="ja-JP" sz="2800" dirty="0" smtClean="0"/>
              <a:t>fork</a:t>
            </a:r>
            <a:r>
              <a:rPr lang="ja-JP" altLang="en-US" sz="2800" dirty="0" smtClean="0"/>
              <a:t>で子プロセスを作り、子プロセスで</a:t>
            </a:r>
            <a:r>
              <a:rPr lang="en-US" altLang="ja-JP" sz="2800" dirty="0" smtClean="0"/>
              <a:t>exec</a:t>
            </a:r>
            <a:r>
              <a:rPr lang="ja-JP" altLang="en-US" sz="2800" dirty="0" smtClean="0"/>
              <a:t>システムコールを用いる。これを</a:t>
            </a:r>
            <a:r>
              <a:rPr lang="en-US" altLang="ja-JP" sz="2800" dirty="0" smtClean="0"/>
              <a:t>fork-exec</a:t>
            </a:r>
            <a:r>
              <a:rPr lang="ja-JP" altLang="en-US" sz="2800" dirty="0" smtClean="0"/>
              <a:t>という。</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lang="ja-JP" altLang="en-US" dirty="0" smtClean="0"/>
              <a:t>例（打ち込んで確認）</a:t>
            </a:r>
            <a:endParaRPr kumimoji="1" lang="ja-JP" altLang="en-US" dirty="0"/>
          </a:p>
        </p:txBody>
      </p:sp>
      <p:sp>
        <p:nvSpPr>
          <p:cNvPr id="5" name="テキスト ボックス 4"/>
          <p:cNvSpPr txBox="1"/>
          <p:nvPr/>
        </p:nvSpPr>
        <p:spPr>
          <a:xfrm>
            <a:off x="5643570" y="1643050"/>
            <a:ext cx="2928958" cy="830997"/>
          </a:xfrm>
          <a:prstGeom prst="rect">
            <a:avLst/>
          </a:prstGeom>
          <a:noFill/>
          <a:ln>
            <a:solidFill>
              <a:schemeClr val="tx1"/>
            </a:solidFill>
          </a:ln>
        </p:spPr>
        <p:txBody>
          <a:bodyPr wrap="square" rtlCol="0">
            <a:spAutoFit/>
          </a:bodyPr>
          <a:lstStyle/>
          <a:p>
            <a:r>
              <a:rPr lang="ja-JP" altLang="en-US" sz="2400" dirty="0" smtClean="0"/>
              <a:t>子プロセスで</a:t>
            </a:r>
            <a:r>
              <a:rPr lang="en-US" altLang="ja-JP" sz="2400" dirty="0" err="1" smtClean="0"/>
              <a:t>ps</a:t>
            </a:r>
            <a:r>
              <a:rPr lang="ja-JP" altLang="en-US" sz="2400" dirty="0" smtClean="0"/>
              <a:t>コマンドを実行</a:t>
            </a:r>
            <a:r>
              <a:rPr kumimoji="1" lang="ja-JP" altLang="en-US" sz="2400" dirty="0" smtClean="0"/>
              <a:t>する例</a:t>
            </a:r>
            <a:endParaRPr kumimoji="1" lang="ja-JP" altLang="en-US" sz="2400" dirty="0"/>
          </a:p>
        </p:txBody>
      </p:sp>
      <p:sp>
        <p:nvSpPr>
          <p:cNvPr id="7" name="正方形/長方形 6"/>
          <p:cNvSpPr/>
          <p:nvPr/>
        </p:nvSpPr>
        <p:spPr>
          <a:xfrm>
            <a:off x="714348" y="1071546"/>
            <a:ext cx="4572000" cy="5632311"/>
          </a:xfrm>
          <a:prstGeom prst="rect">
            <a:avLst/>
          </a:prstGeom>
          <a:ln>
            <a:solidFill>
              <a:schemeClr val="tx1"/>
            </a:solidFill>
          </a:ln>
        </p:spPr>
        <p:txBody>
          <a:bodyPr>
            <a:spAutoFit/>
          </a:bodyPr>
          <a:lstStyle/>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a:t>
            </a:r>
            <a:r>
              <a:rPr lang="en-US" altLang="ja-JP" sz="2000" dirty="0" smtClean="0"/>
              <a:t> [2] = {"/bin/</a:t>
            </a:r>
            <a:r>
              <a:rPr lang="en-US" altLang="ja-JP" sz="2000" dirty="0" err="1" smtClean="0"/>
              <a:t>ps</a:t>
            </a:r>
            <a:r>
              <a:rPr lang="en-US" altLang="ja-JP" sz="2000" dirty="0" smtClean="0"/>
              <a:t>", NULL};</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execv</a:t>
            </a:r>
            <a:r>
              <a:rPr lang="en-US" altLang="ja-JP" sz="2000" dirty="0" smtClean="0"/>
              <a:t>("/bin/</a:t>
            </a:r>
            <a:r>
              <a:rPr lang="en-US" altLang="ja-JP" sz="2000" dirty="0" err="1" smtClean="0"/>
              <a:t>ps</a:t>
            </a:r>
            <a:r>
              <a:rPr lang="en-US" altLang="ja-JP" sz="2000" dirty="0" smtClean="0"/>
              <a:t>", </a:t>
            </a:r>
            <a:r>
              <a:rPr lang="en-US" altLang="ja-JP" sz="2000" dirty="0" err="1" smtClean="0"/>
              <a:t>argv</a:t>
            </a:r>
            <a:r>
              <a:rPr lang="en-US" altLang="ja-JP" sz="2000" dirty="0" smtClean="0"/>
              <a:t>);</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ait</a:t>
            </a:r>
            <a:r>
              <a:rPr kumimoji="1" lang="ja-JP" altLang="en-US" dirty="0" smtClean="0"/>
              <a:t>システムコール</a:t>
            </a:r>
            <a:endParaRPr kumimoji="1" lang="ja-JP" altLang="en-US" dirty="0"/>
          </a:p>
        </p:txBody>
      </p:sp>
      <p:sp>
        <p:nvSpPr>
          <p:cNvPr id="4" name="Text Box 5"/>
          <p:cNvSpPr txBox="1">
            <a:spLocks noChangeArrowheads="1"/>
          </p:cNvSpPr>
          <p:nvPr/>
        </p:nvSpPr>
        <p:spPr bwMode="auto">
          <a:xfrm>
            <a:off x="1071538" y="1285860"/>
            <a:ext cx="7143800" cy="4524315"/>
          </a:xfrm>
          <a:prstGeom prst="rect">
            <a:avLst/>
          </a:prstGeom>
          <a:noFill/>
          <a:ln w="9525">
            <a:noFill/>
            <a:miter lim="800000"/>
            <a:headEnd/>
            <a:tailEnd/>
          </a:ln>
          <a:effectLst/>
        </p:spPr>
        <p:txBody>
          <a:bodyPr wrap="square">
            <a:spAutoFit/>
          </a:bodyPr>
          <a:lstStyle/>
          <a:p>
            <a:r>
              <a:rPr lang="ja-JP" altLang="en-US" sz="2400" u="none" dirty="0"/>
              <a:t>子プロセス生成後，親プロセスは</a:t>
            </a:r>
            <a:r>
              <a:rPr lang="en-US" altLang="ja-JP" sz="2400" u="none" dirty="0"/>
              <a:t>wait()</a:t>
            </a:r>
            <a:r>
              <a:rPr lang="ja-JP" altLang="en-US" sz="2400" u="none" dirty="0"/>
              <a:t>を呼んで子プロセスの終了を</a:t>
            </a:r>
            <a:r>
              <a:rPr lang="ja-JP" altLang="en-US" sz="2400" u="none" dirty="0" smtClean="0"/>
              <a:t>待つ。</a:t>
            </a:r>
            <a:endParaRPr lang="en-US" altLang="ja-JP" sz="2400" u="none" dirty="0" smtClean="0"/>
          </a:p>
          <a:p>
            <a:r>
              <a:rPr lang="ja-JP" altLang="en-US" sz="2400" dirty="0" smtClean="0"/>
              <a:t>子プロセスが終了すると、</a:t>
            </a:r>
            <a:r>
              <a:rPr lang="en-US" altLang="ja-JP" sz="2400" dirty="0" smtClean="0"/>
              <a:t>wait</a:t>
            </a:r>
            <a:r>
              <a:rPr lang="ja-JP" altLang="en-US" sz="2400" dirty="0" smtClean="0"/>
              <a:t>システムコールにより、子プロセス用のプロセステーブルのエントリ、プロセス</a:t>
            </a:r>
            <a:r>
              <a:rPr lang="en-US" altLang="ja-JP" sz="2400" dirty="0" smtClean="0"/>
              <a:t>ID</a:t>
            </a:r>
            <a:r>
              <a:rPr lang="ja-JP" altLang="en-US" sz="2400" dirty="0" smtClean="0"/>
              <a:t>が消され、それらが再利用可能な状態になる。</a:t>
            </a:r>
            <a:endParaRPr lang="en-US" altLang="ja-JP" sz="2400" dirty="0" smtClean="0"/>
          </a:p>
          <a:p>
            <a:r>
              <a:rPr lang="ja-JP" altLang="en-US" sz="2400" u="none" dirty="0" smtClean="0"/>
              <a:t>子プロセスが終了した後、親プロセスが</a:t>
            </a:r>
            <a:r>
              <a:rPr lang="en-US" altLang="ja-JP" sz="2400" u="none" dirty="0" smtClean="0"/>
              <a:t>wait</a:t>
            </a:r>
            <a:r>
              <a:rPr lang="ja-JP" altLang="en-US" sz="2400" dirty="0" smtClean="0"/>
              <a:t>システムコールを呼ばなかった場合は、子プロセスはゾンビ状態となる。親プロセスが終了したら</a:t>
            </a:r>
            <a:r>
              <a:rPr lang="en-US" altLang="ja-JP" sz="2400" dirty="0" smtClean="0"/>
              <a:t>init</a:t>
            </a:r>
            <a:r>
              <a:rPr lang="ja-JP" altLang="en-US" sz="2400" dirty="0" smtClean="0"/>
              <a:t>プロセスが親になり、</a:t>
            </a:r>
            <a:r>
              <a:rPr lang="en-US" altLang="ja-JP" sz="2400" dirty="0" smtClean="0"/>
              <a:t>init</a:t>
            </a:r>
            <a:r>
              <a:rPr lang="ja-JP" altLang="en-US" sz="2400" dirty="0" smtClean="0"/>
              <a:t>プロセスが</a:t>
            </a:r>
            <a:r>
              <a:rPr lang="en-US" altLang="ja-JP" sz="2400" dirty="0" smtClean="0"/>
              <a:t>wait</a:t>
            </a:r>
            <a:r>
              <a:rPr lang="ja-JP" altLang="en-US" sz="2400" dirty="0" smtClean="0"/>
              <a:t>システムコールを呼び出す（のでゾンビ状態ではなくなり、プロセスが終了する）。</a:t>
            </a:r>
            <a:endParaRPr lang="ja-JP" altLang="en-US" sz="2400" u="none" dirty="0"/>
          </a:p>
          <a:p>
            <a:r>
              <a:rPr lang="ja-JP" altLang="en-US" sz="2400" u="none" dirty="0"/>
              <a:t>子プロセスの終了ステータス情報を得るため，</a:t>
            </a:r>
            <a:r>
              <a:rPr lang="ja-JP" altLang="en-US" sz="2400" u="none" dirty="0" smtClean="0"/>
              <a:t>引数</a:t>
            </a:r>
            <a:r>
              <a:rPr lang="ja-JP" altLang="en-US" sz="2400" dirty="0" smtClean="0"/>
              <a:t>に</a:t>
            </a:r>
            <a:r>
              <a:rPr lang="en-US" altLang="ja-JP" sz="2400" dirty="0" err="1" smtClean="0"/>
              <a:t>int</a:t>
            </a:r>
            <a:r>
              <a:rPr lang="ja-JP" altLang="en-US" sz="2400" dirty="0" smtClean="0"/>
              <a:t>型へのポインタを渡す。</a:t>
            </a:r>
            <a:endParaRPr lang="ja-JP" altLang="en-US" sz="2400" u="non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ゾンビプロセス（打ち込んで確認）</a:t>
            </a:r>
            <a:endParaRPr kumimoji="1" lang="ja-JP" altLang="en-US" dirty="0"/>
          </a:p>
        </p:txBody>
      </p:sp>
      <p:sp>
        <p:nvSpPr>
          <p:cNvPr id="4" name="正方形/長方形 3"/>
          <p:cNvSpPr/>
          <p:nvPr/>
        </p:nvSpPr>
        <p:spPr>
          <a:xfrm>
            <a:off x="928662" y="1214422"/>
            <a:ext cx="328614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if ((</a:t>
            </a:r>
            <a:r>
              <a:rPr lang="en-US" altLang="ja-JP" sz="2000" dirty="0" err="1" smtClean="0"/>
              <a:t>pid</a:t>
            </a:r>
            <a:r>
              <a:rPr lang="en-US" altLang="ja-JP" sz="2000" dirty="0" smtClean="0"/>
              <a:t> = fork()) == 0) {</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sleep (5);</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5" name="テキスト ボックス 4"/>
          <p:cNvSpPr txBox="1"/>
          <p:nvPr/>
        </p:nvSpPr>
        <p:spPr>
          <a:xfrm>
            <a:off x="4643438" y="1500174"/>
            <a:ext cx="4000528" cy="2677656"/>
          </a:xfrm>
          <a:prstGeom prst="rect">
            <a:avLst/>
          </a:prstGeom>
          <a:noFill/>
          <a:ln>
            <a:noFill/>
          </a:ln>
        </p:spPr>
        <p:txBody>
          <a:bodyPr wrap="square" rtlCol="0">
            <a:spAutoFit/>
          </a:bodyPr>
          <a:lstStyle/>
          <a:p>
            <a:r>
              <a:rPr kumimoji="1" lang="ja-JP" altLang="en-US" sz="2400" dirty="0" smtClean="0"/>
              <a:t>このプログラムを実行し、</a:t>
            </a:r>
            <a:r>
              <a:rPr kumimoji="1" lang="en-US" altLang="ja-JP" sz="2400" dirty="0" smtClean="0"/>
              <a:t>5</a:t>
            </a:r>
            <a:r>
              <a:rPr kumimoji="1" lang="ja-JP" altLang="en-US" sz="2400" dirty="0" smtClean="0"/>
              <a:t>秒以内に</a:t>
            </a:r>
            <a:r>
              <a:rPr kumimoji="1" lang="en-US" altLang="ja-JP" sz="2400" dirty="0" smtClean="0"/>
              <a:t>Ctrl-z</a:t>
            </a:r>
            <a:r>
              <a:rPr kumimoji="1" lang="ja-JP" altLang="en-US" sz="2400" dirty="0" smtClean="0"/>
              <a:t>で</a:t>
            </a:r>
            <a:r>
              <a:rPr kumimoji="1" lang="en-US" altLang="ja-JP" sz="2400" dirty="0" smtClean="0"/>
              <a:t>suspend</a:t>
            </a:r>
            <a:r>
              <a:rPr kumimoji="1" lang="ja-JP" altLang="en-US" sz="2400" dirty="0" smtClean="0"/>
              <a:t>する。そのときに</a:t>
            </a:r>
            <a:r>
              <a:rPr kumimoji="1" lang="en-US" altLang="ja-JP" sz="2400" dirty="0" err="1" smtClean="0"/>
              <a:t>ps</a:t>
            </a:r>
            <a:r>
              <a:rPr kumimoji="1" lang="ja-JP" altLang="en-US" sz="2400" dirty="0" smtClean="0"/>
              <a:t>コマンドを実行すると、以下のように、</a:t>
            </a:r>
            <a:r>
              <a:rPr kumimoji="1" lang="en-US" altLang="ja-JP" sz="2400" dirty="0" smtClean="0"/>
              <a:t>&lt;defunct&gt;</a:t>
            </a:r>
            <a:r>
              <a:rPr kumimoji="1" lang="ja-JP" altLang="en-US" sz="2400" dirty="0" smtClean="0"/>
              <a:t>と書かれたプロセスがあるはずである。これがゾンビプロセスである。</a:t>
            </a:r>
            <a:endParaRPr kumimoji="1" lang="ja-JP" altLang="en-US" sz="2400" dirty="0"/>
          </a:p>
        </p:txBody>
      </p:sp>
      <p:sp>
        <p:nvSpPr>
          <p:cNvPr id="6" name="正方形/長方形 5"/>
          <p:cNvSpPr/>
          <p:nvPr/>
        </p:nvSpPr>
        <p:spPr>
          <a:xfrm>
            <a:off x="4572000" y="4643446"/>
            <a:ext cx="4071966" cy="646331"/>
          </a:xfrm>
          <a:prstGeom prst="rect">
            <a:avLst/>
          </a:prstGeom>
        </p:spPr>
        <p:txBody>
          <a:bodyPr wrap="square">
            <a:spAutoFit/>
          </a:bodyPr>
          <a:lstStyle/>
          <a:p>
            <a:r>
              <a:rPr lang="en-US" altLang="ja-JP" dirty="0" smtClean="0"/>
              <a:t>19570 pts/0    00:00:00 </a:t>
            </a:r>
            <a:r>
              <a:rPr lang="en-US" altLang="ja-JP" dirty="0" err="1" smtClean="0"/>
              <a:t>a.out</a:t>
            </a:r>
            <a:endParaRPr lang="en-US" altLang="ja-JP" dirty="0" smtClean="0"/>
          </a:p>
          <a:p>
            <a:r>
              <a:rPr lang="en-US" altLang="ja-JP" dirty="0" smtClean="0"/>
              <a:t>19571 pts/0    00:00:00 </a:t>
            </a:r>
            <a:r>
              <a:rPr lang="en-US" altLang="ja-JP" dirty="0" err="1" smtClean="0"/>
              <a:t>a.out</a:t>
            </a:r>
            <a:r>
              <a:rPr lang="en-US" altLang="ja-JP" dirty="0" smtClean="0"/>
              <a:t> &lt;defunct&gt;</a:t>
            </a:r>
            <a:endParaRPr lang="en-US" altLang="ja-JP"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例：コマンドの引数に与えられたプログラムを実行（打ち込んで確認）</a:t>
            </a:r>
            <a:endParaRPr kumimoji="1" lang="ja-JP" altLang="en-US" dirty="0"/>
          </a:p>
        </p:txBody>
      </p:sp>
      <p:sp>
        <p:nvSpPr>
          <p:cNvPr id="4" name="正方形/長方形 3"/>
          <p:cNvSpPr/>
          <p:nvPr/>
        </p:nvSpPr>
        <p:spPr>
          <a:xfrm>
            <a:off x="714348" y="1571612"/>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 </a:t>
            </a:r>
            <a:r>
              <a:rPr lang="en-US" altLang="ja-JP" sz="2000" dirty="0" err="1" smtClean="0"/>
              <a:t>argv</a:t>
            </a:r>
            <a:r>
              <a:rPr lang="en-US" altLang="ja-JP" sz="2000" dirty="0" smtClean="0"/>
              <a:t> []) {</a:t>
            </a:r>
          </a:p>
          <a:p>
            <a:r>
              <a:rPr lang="en-US" altLang="ja-JP" sz="2000" dirty="0" smtClean="0"/>
              <a:t>  if (</a:t>
            </a:r>
            <a:r>
              <a:rPr lang="en-US" altLang="ja-JP" sz="2000" dirty="0" err="1" smtClean="0"/>
              <a:t>argc</a:t>
            </a:r>
            <a:r>
              <a:rPr lang="en-US" altLang="ja-JP" sz="2000" dirty="0" smtClean="0"/>
              <a:t> &lt; 2) {</a:t>
            </a:r>
          </a:p>
          <a:p>
            <a:r>
              <a:rPr lang="en-US" altLang="ja-JP" sz="2000" dirty="0" smtClean="0"/>
              <a:t>    </a:t>
            </a:r>
            <a:r>
              <a:rPr lang="en-US" altLang="ja-JP" sz="2000" dirty="0" err="1" smtClean="0"/>
              <a:t>fprintf</a:t>
            </a:r>
            <a:r>
              <a:rPr lang="en-US" altLang="ja-JP" sz="2000" dirty="0" smtClean="0"/>
              <a:t> (</a:t>
            </a:r>
            <a:r>
              <a:rPr lang="en-US" altLang="ja-JP" sz="2000" dirty="0" err="1" smtClean="0"/>
              <a:t>stderr</a:t>
            </a:r>
            <a:r>
              <a:rPr lang="en-US" altLang="ja-JP" sz="2000" dirty="0" smtClean="0"/>
              <a:t>,</a:t>
            </a:r>
          </a:p>
          <a:p>
            <a:r>
              <a:rPr lang="en-US" altLang="ja-JP" sz="2000" dirty="0" smtClean="0"/>
              <a:t>             "Usage: %s command [option]\n",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a:t>
            </a:r>
            <a:r>
              <a:rPr lang="en-US" altLang="ja-JP" sz="2000" dirty="0" err="1" smtClean="0"/>
              <a:t>execv</a:t>
            </a:r>
            <a:r>
              <a:rPr lang="en-US" altLang="ja-JP" sz="2000" dirty="0" smtClean="0"/>
              <a:t> (</a:t>
            </a:r>
            <a:r>
              <a:rPr lang="en-US" altLang="ja-JP" sz="2000" dirty="0" err="1" smtClean="0"/>
              <a:t>argv</a:t>
            </a:r>
            <a:r>
              <a:rPr lang="en-US" altLang="ja-JP" sz="2000" dirty="0" smtClean="0"/>
              <a:t>[1], &amp;</a:t>
            </a:r>
            <a:r>
              <a:rPr lang="en-US" altLang="ja-JP" sz="2000" dirty="0" err="1" smtClean="0"/>
              <a:t>argv</a:t>
            </a:r>
            <a:r>
              <a:rPr lang="en-US" altLang="ja-JP" sz="2000" dirty="0" smtClean="0"/>
              <a:t>[1]) == -1) {</a:t>
            </a:r>
          </a:p>
          <a:p>
            <a:r>
              <a:rPr lang="en-US" altLang="ja-JP" sz="2000" dirty="0" smtClean="0"/>
              <a:t>    </a:t>
            </a:r>
            <a:r>
              <a:rPr lang="en-US" altLang="ja-JP" sz="2000" dirty="0" err="1" smtClean="0"/>
              <a:t>perror</a:t>
            </a:r>
            <a:r>
              <a:rPr lang="en-US" altLang="ja-JP" sz="2000" dirty="0" smtClean="0"/>
              <a:t> ("</a:t>
            </a:r>
            <a:r>
              <a:rPr lang="en-US" altLang="ja-JP" sz="2000" dirty="0" err="1" smtClean="0"/>
              <a:t>execv</a:t>
            </a:r>
            <a:r>
              <a:rPr lang="en-US" altLang="ja-JP" sz="2000" dirty="0" smtClean="0"/>
              <a:t>");</a:t>
            </a:r>
          </a:p>
          <a:p>
            <a:r>
              <a:rPr lang="en-US" altLang="ja-JP" sz="2000" dirty="0" smtClean="0"/>
              <a:t>    exit(1);</a:t>
            </a:r>
          </a:p>
          <a:p>
            <a:r>
              <a:rPr lang="en-US" altLang="ja-JP" sz="2000" dirty="0" smtClean="0"/>
              <a:t>  }</a:t>
            </a:r>
          </a:p>
          <a:p>
            <a:r>
              <a:rPr lang="en-US" altLang="ja-JP" sz="2000" dirty="0" smtClean="0"/>
              <a:t>  return 0; /* </a:t>
            </a:r>
            <a:r>
              <a:rPr lang="ja-JP" altLang="en-US" sz="2000" dirty="0" smtClean="0"/>
              <a:t>ここには来ない *</a:t>
            </a:r>
            <a:r>
              <a:rPr lang="en-US" altLang="ja-JP" sz="2000" dirty="0" smtClean="0"/>
              <a:t>/</a:t>
            </a:r>
          </a:p>
          <a:p>
            <a:r>
              <a:rPr lang="en-US" altLang="ja-JP" sz="2000" dirty="0" smtClean="0"/>
              <a:t>}</a:t>
            </a:r>
            <a:endParaRPr lang="en-US" altLang="ja-JP" sz="2000" dirty="0"/>
          </a:p>
        </p:txBody>
      </p:sp>
      <p:sp>
        <p:nvSpPr>
          <p:cNvPr id="5" name="テキスト ボックス 4"/>
          <p:cNvSpPr txBox="1"/>
          <p:nvPr/>
        </p:nvSpPr>
        <p:spPr>
          <a:xfrm>
            <a:off x="5429256" y="2143116"/>
            <a:ext cx="3500430" cy="2308324"/>
          </a:xfrm>
          <a:prstGeom prst="rect">
            <a:avLst/>
          </a:prstGeom>
          <a:noFill/>
        </p:spPr>
        <p:txBody>
          <a:bodyPr wrap="square" rtlCol="0">
            <a:spAutoFit/>
          </a:bodyPr>
          <a:lstStyle/>
          <a:p>
            <a:r>
              <a:rPr kumimoji="1" lang="en-US" altLang="ja-JP" sz="2400" dirty="0" smtClean="0"/>
              <a:t>$ ./</a:t>
            </a:r>
            <a:r>
              <a:rPr kumimoji="1" lang="en-US" altLang="ja-JP" sz="2400" dirty="0" err="1" smtClean="0"/>
              <a:t>a.out</a:t>
            </a:r>
            <a:r>
              <a:rPr kumimoji="1" lang="en-US" altLang="ja-JP" sz="2400" dirty="0" smtClean="0"/>
              <a:t> </a:t>
            </a:r>
            <a:r>
              <a:rPr lang="ja-JP" altLang="en-US" sz="2400" dirty="0" smtClean="0"/>
              <a:t>  </a:t>
            </a:r>
            <a:r>
              <a:rPr kumimoji="1" lang="en-US" altLang="ja-JP" sz="2400" dirty="0" smtClean="0"/>
              <a:t>/bin/</a:t>
            </a:r>
            <a:r>
              <a:rPr kumimoji="1" lang="en-US" altLang="ja-JP" sz="2400" dirty="0" err="1" smtClean="0"/>
              <a:t>ps</a:t>
            </a:r>
            <a:r>
              <a:rPr kumimoji="1" lang="en-US" altLang="ja-JP" sz="2400" dirty="0" smtClean="0"/>
              <a:t> –</a:t>
            </a:r>
            <a:r>
              <a:rPr kumimoji="1" lang="en-US" altLang="ja-JP" sz="2400" dirty="0" err="1" smtClean="0"/>
              <a:t>ef</a:t>
            </a:r>
            <a:endParaRPr kumimoji="1" lang="en-US" altLang="ja-JP" sz="2400" dirty="0" smtClean="0"/>
          </a:p>
          <a:p>
            <a:r>
              <a:rPr lang="ja-JP" altLang="en-US" sz="2400" dirty="0" err="1" smtClean="0"/>
              <a:t>のように</a:t>
            </a:r>
            <a:r>
              <a:rPr lang="ja-JP" altLang="en-US" sz="2400" dirty="0" smtClean="0"/>
              <a:t>して実行する。</a:t>
            </a:r>
            <a:endParaRPr lang="en-US" altLang="ja-JP" sz="2400" dirty="0" smtClean="0"/>
          </a:p>
          <a:p>
            <a:r>
              <a:rPr kumimoji="1" lang="ja-JP" altLang="en-US" sz="2400" dirty="0" smtClean="0"/>
              <a:t>この場合、</a:t>
            </a:r>
            <a:endParaRPr kumimoji="1" lang="en-US" altLang="ja-JP" sz="2400" dirty="0" smtClean="0"/>
          </a:p>
          <a:p>
            <a:r>
              <a:rPr lang="en-US" altLang="ja-JP" sz="2400" dirty="0" smtClean="0"/>
              <a:t>$ /bin/</a:t>
            </a:r>
            <a:r>
              <a:rPr lang="en-US" altLang="ja-JP" sz="2400" dirty="0" err="1" smtClean="0"/>
              <a:t>ps</a:t>
            </a:r>
            <a:r>
              <a:rPr lang="en-US" altLang="ja-JP" sz="2400" dirty="0" smtClean="0"/>
              <a:t> –</a:t>
            </a:r>
            <a:r>
              <a:rPr lang="en-US" altLang="ja-JP" sz="2400" dirty="0" err="1" smtClean="0"/>
              <a:t>ef</a:t>
            </a:r>
            <a:endParaRPr lang="en-US" altLang="ja-JP" sz="2400" dirty="0" smtClean="0"/>
          </a:p>
          <a:p>
            <a:r>
              <a:rPr lang="ja-JP" altLang="en-US" sz="2400" dirty="0" smtClean="0"/>
              <a:t>と打ったのと同じ結果が表示される。</a:t>
            </a:r>
            <a:endParaRPr kumimoji="1" lang="ja-JP"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71414"/>
            <a:ext cx="8229600" cy="714356"/>
          </a:xfrm>
        </p:spPr>
        <p:txBody>
          <a:bodyPr>
            <a:normAutofit fontScale="90000"/>
          </a:bodyPr>
          <a:lstStyle/>
          <a:p>
            <a:r>
              <a:rPr lang="ja-JP" altLang="en-US" dirty="0" smtClean="0"/>
              <a:t>簡易</a:t>
            </a:r>
            <a:r>
              <a:rPr lang="en-US" altLang="ja-JP" dirty="0" smtClean="0"/>
              <a:t>shell</a:t>
            </a:r>
            <a:r>
              <a:rPr lang="ja-JP" altLang="en-US" dirty="0" smtClean="0"/>
              <a:t>（打ち込んで確認）</a:t>
            </a:r>
            <a:endParaRPr kumimoji="1" lang="ja-JP" altLang="en-US" dirty="0"/>
          </a:p>
        </p:txBody>
      </p:sp>
      <p:sp>
        <p:nvSpPr>
          <p:cNvPr id="4" name="正方形/長方形 3"/>
          <p:cNvSpPr/>
          <p:nvPr/>
        </p:nvSpPr>
        <p:spPr>
          <a:xfrm>
            <a:off x="71406" y="785794"/>
            <a:ext cx="4143404"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#define ARG_NUMBER 16</a:t>
            </a:r>
          </a:p>
          <a:p>
            <a:r>
              <a:rPr lang="en-US" altLang="ja-JP" sz="2000" dirty="0" smtClean="0"/>
              <a:t>#define PARAM_SIZE 128</a:t>
            </a:r>
          </a:p>
          <a:p>
            <a:r>
              <a:rPr lang="en-US" altLang="ja-JP" sz="2000" dirty="0" err="1" smtClean="0"/>
              <a:t>int</a:t>
            </a:r>
            <a:r>
              <a:rPr lang="en-US" altLang="ja-JP" sz="2000" dirty="0" smtClean="0"/>
              <a:t> </a:t>
            </a:r>
            <a:r>
              <a:rPr lang="en-US" altLang="ja-JP" sz="2000" dirty="0" err="1" smtClean="0"/>
              <a:t>getcomln</a:t>
            </a:r>
            <a:r>
              <a:rPr lang="en-US" altLang="ja-JP" sz="2000" dirty="0" smtClean="0"/>
              <a:t> (char * </a:t>
            </a:r>
            <a:r>
              <a:rPr lang="en-US" altLang="ja-JP" sz="2000" dirty="0" err="1" smtClean="0"/>
              <a:t>argvline</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i,j,k</a:t>
            </a:r>
            <a:r>
              <a:rPr lang="en-US" altLang="ja-JP" sz="2000" dirty="0" smtClean="0"/>
              <a:t>;</a:t>
            </a:r>
          </a:p>
          <a:p>
            <a:r>
              <a:rPr lang="en-US" altLang="ja-JP" sz="2000" dirty="0" smtClean="0"/>
              <a:t>  char </a:t>
            </a:r>
            <a:r>
              <a:rPr lang="en-US" altLang="ja-JP" sz="2000" dirty="0" err="1" smtClean="0"/>
              <a:t>linebuf</a:t>
            </a:r>
            <a:r>
              <a:rPr lang="en-US" altLang="ja-JP" sz="2000" dirty="0" smtClean="0"/>
              <a:t> [ARG_NUMBER * </a:t>
            </a:r>
          </a:p>
          <a:p>
            <a:r>
              <a:rPr lang="ja-JP" altLang="en-US" sz="2000" dirty="0" smtClean="0"/>
              <a:t>                          </a:t>
            </a:r>
            <a:r>
              <a:rPr lang="en-US" altLang="ja-JP" sz="2000" dirty="0" smtClean="0"/>
              <a:t>PARAM_SIZE];</a:t>
            </a:r>
          </a:p>
          <a:p>
            <a:r>
              <a:rPr lang="en-US" altLang="ja-JP" sz="2000" dirty="0" smtClean="0"/>
              <a:t>  for (</a:t>
            </a:r>
            <a:r>
              <a:rPr lang="en-US" altLang="ja-JP" sz="2000" dirty="0" err="1" smtClean="0"/>
              <a:t>i</a:t>
            </a:r>
            <a:r>
              <a:rPr lang="en-US" altLang="ja-JP" sz="2000" dirty="0" smtClean="0"/>
              <a:t>=0; </a:t>
            </a:r>
          </a:p>
          <a:p>
            <a:r>
              <a:rPr lang="en-US" altLang="ja-JP" sz="2000" dirty="0" smtClean="0"/>
              <a:t>         (</a:t>
            </a:r>
            <a:r>
              <a:rPr lang="en-US" altLang="ja-JP" sz="2000" dirty="0" err="1" smtClean="0"/>
              <a:t>linebuf</a:t>
            </a:r>
            <a:r>
              <a:rPr lang="en-US" altLang="ja-JP" sz="2000" dirty="0" smtClean="0"/>
              <a:t> [</a:t>
            </a:r>
            <a:r>
              <a:rPr lang="en-US" altLang="ja-JP" sz="2000" dirty="0" err="1" smtClean="0"/>
              <a:t>i</a:t>
            </a:r>
            <a:r>
              <a:rPr lang="en-US" altLang="ja-JP" sz="2000" dirty="0" smtClean="0"/>
              <a:t>] = </a:t>
            </a:r>
            <a:r>
              <a:rPr lang="en-US" altLang="ja-JP" sz="2000" dirty="0" err="1" smtClean="0"/>
              <a:t>getchar</a:t>
            </a:r>
            <a:r>
              <a:rPr lang="en-US" altLang="ja-JP" sz="2000" dirty="0" smtClean="0"/>
              <a:t>()) != EOF;</a:t>
            </a:r>
          </a:p>
          <a:p>
            <a:r>
              <a:rPr lang="en-US" altLang="ja-JP" sz="2000" dirty="0" smtClean="0"/>
              <a:t>         </a:t>
            </a:r>
            <a:r>
              <a:rPr lang="en-US" altLang="ja-JP" sz="2000" dirty="0" err="1" smtClean="0"/>
              <a:t>i</a:t>
            </a:r>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'\n') {</a:t>
            </a:r>
          </a:p>
          <a:p>
            <a:r>
              <a:rPr lang="en-US" altLang="ja-JP" sz="2000" dirty="0" smtClean="0"/>
              <a:t>      </a:t>
            </a:r>
            <a:r>
              <a:rPr lang="en-US" altLang="ja-JP" sz="2000" dirty="0" err="1" smtClean="0"/>
              <a:t>linebuf</a:t>
            </a:r>
            <a:r>
              <a:rPr lang="en-US" altLang="ja-JP" sz="2000" dirty="0" smtClean="0"/>
              <a:t>[</a:t>
            </a:r>
            <a:r>
              <a:rPr lang="en-US" altLang="ja-JP" sz="2000" dirty="0" err="1" smtClean="0"/>
              <a:t>i</a:t>
            </a:r>
            <a:r>
              <a:rPr lang="en-US" altLang="ja-JP" sz="2000" dirty="0" smtClean="0"/>
              <a:t>] = '\0';</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EOF) return EOF;</a:t>
            </a:r>
            <a:endParaRPr lang="en-US" altLang="ja-JP" sz="2000" dirty="0"/>
          </a:p>
        </p:txBody>
      </p:sp>
      <p:sp>
        <p:nvSpPr>
          <p:cNvPr id="5" name="正方形/長方形 4"/>
          <p:cNvSpPr/>
          <p:nvPr/>
        </p:nvSpPr>
        <p:spPr>
          <a:xfrm>
            <a:off x="4429124" y="928670"/>
            <a:ext cx="4572000" cy="5016758"/>
          </a:xfrm>
          <a:prstGeom prst="rect">
            <a:avLst/>
          </a:prstGeom>
          <a:ln>
            <a:solidFill>
              <a:schemeClr val="tx1"/>
            </a:solidFill>
          </a:ln>
        </p:spPr>
        <p:txBody>
          <a:bodyPr>
            <a:spAutoFit/>
          </a:bodyPr>
          <a:lstStyle/>
          <a:p>
            <a:r>
              <a:rPr lang="en-US" altLang="ja-JP" sz="2000" dirty="0" smtClean="0"/>
              <a:t> for (</a:t>
            </a:r>
            <a:r>
              <a:rPr lang="en-US" altLang="ja-JP" sz="2000" dirty="0" err="1" smtClean="0"/>
              <a:t>i</a:t>
            </a:r>
            <a:r>
              <a:rPr lang="en-US" altLang="ja-JP" sz="2000" dirty="0" smtClean="0"/>
              <a:t>=j=k=0;</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a:t>
            </a:r>
            <a:r>
              <a:rPr lang="en-US" altLang="ja-JP" sz="2000" dirty="0" err="1" smtClean="0"/>
              <a:t>linebuf</a:t>
            </a:r>
            <a:r>
              <a:rPr lang="en-US" altLang="ja-JP" sz="2000" dirty="0" smtClean="0"/>
              <a:t>[k]) != '\0';</a:t>
            </a:r>
          </a:p>
          <a:p>
            <a:r>
              <a:rPr lang="en-US" altLang="ja-JP" sz="2000" dirty="0" smtClean="0"/>
              <a:t>       j++, k++) {</a:t>
            </a:r>
          </a:p>
          <a:p>
            <a:r>
              <a:rPr lang="en-US" altLang="ja-JP" sz="2000" dirty="0" smtClean="0"/>
              <a:t>    switch (</a:t>
            </a:r>
            <a:r>
              <a:rPr lang="en-US" altLang="ja-JP" sz="2000" dirty="0" err="1" smtClean="0"/>
              <a:t>argvline</a:t>
            </a:r>
            <a:r>
              <a:rPr lang="en-US" altLang="ja-JP" sz="2000" dirty="0" smtClean="0"/>
              <a:t>[</a:t>
            </a:r>
            <a:r>
              <a:rPr lang="en-US" altLang="ja-JP" sz="2000" dirty="0" err="1" smtClean="0"/>
              <a:t>i</a:t>
            </a:r>
            <a:r>
              <a:rPr lang="en-US" altLang="ja-JP" sz="2000" dirty="0" smtClean="0"/>
              <a:t>][j]) {</a:t>
            </a:r>
          </a:p>
          <a:p>
            <a:r>
              <a:rPr lang="en-US" altLang="ja-JP" sz="2000" dirty="0" smtClean="0"/>
              <a:t>    case ' ':</a:t>
            </a:r>
          </a:p>
          <a:p>
            <a:r>
              <a:rPr lang="en-US" altLang="ja-JP" sz="2000" dirty="0" smtClean="0"/>
              <a:t>      if (j&gt;0)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'\0';</a:t>
            </a:r>
          </a:p>
          <a:p>
            <a:r>
              <a:rPr lang="en-US" altLang="ja-JP" sz="2000" dirty="0" smtClean="0"/>
              <a:t>        </a:t>
            </a:r>
            <a:r>
              <a:rPr lang="en-US" altLang="ja-JP" sz="2000" dirty="0" err="1" smtClean="0"/>
              <a:t>i</a:t>
            </a:r>
            <a:r>
              <a:rPr lang="en-US" altLang="ja-JP" sz="2000" dirty="0" smtClean="0"/>
              <a:t>++;</a:t>
            </a:r>
          </a:p>
          <a:p>
            <a:r>
              <a:rPr lang="en-US" altLang="ja-JP" sz="2000" dirty="0" smtClean="0"/>
              <a:t>      }</a:t>
            </a:r>
          </a:p>
          <a:p>
            <a:r>
              <a:rPr lang="en-US" altLang="ja-JP" sz="2000" dirty="0" smtClean="0"/>
              <a:t>      j=-1;</a:t>
            </a:r>
          </a:p>
          <a:p>
            <a:r>
              <a:rPr lang="en-US" altLang="ja-JP" sz="2000" dirty="0" smtClean="0"/>
              <a:t>    }</a:t>
            </a:r>
          </a:p>
          <a:p>
            <a:r>
              <a:rPr lang="en-US" altLang="ja-JP" sz="2000" dirty="0" smtClean="0"/>
              <a:t>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'\0';</a:t>
            </a:r>
          </a:p>
          <a:p>
            <a:r>
              <a:rPr lang="en-US" altLang="ja-JP" sz="2000" dirty="0" smtClean="0"/>
              <a:t>  if (</a:t>
            </a:r>
            <a:r>
              <a:rPr lang="en-US" altLang="ja-JP" sz="2000" dirty="0" err="1" smtClean="0"/>
              <a:t>i</a:t>
            </a:r>
            <a:r>
              <a:rPr lang="en-US" altLang="ja-JP" sz="2000" dirty="0" smtClean="0"/>
              <a:t>==0 &amp;&amp; j==0) return 0;</a:t>
            </a:r>
          </a:p>
          <a:p>
            <a:r>
              <a:rPr lang="en-US" altLang="ja-JP" sz="2000" dirty="0" smtClean="0"/>
              <a:t>  else return i+1;</a:t>
            </a:r>
          </a:p>
          <a:p>
            <a:r>
              <a:rPr lang="en-US" altLang="ja-JP" sz="2000" dirty="0" smtClean="0"/>
              <a:t>}</a:t>
            </a:r>
            <a:endParaRPr lang="ja-JP"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簡易</a:t>
            </a:r>
            <a:r>
              <a:rPr lang="en-US" altLang="ja-JP" dirty="0" smtClean="0"/>
              <a:t>shell</a:t>
            </a:r>
            <a:r>
              <a:rPr lang="ja-JP" altLang="en-US" dirty="0" smtClean="0"/>
              <a:t>の続き</a:t>
            </a:r>
            <a:endParaRPr kumimoji="1" lang="ja-JP" altLang="en-US" dirty="0"/>
          </a:p>
        </p:txBody>
      </p:sp>
      <p:sp>
        <p:nvSpPr>
          <p:cNvPr id="5" name="正方形/長方形 4"/>
          <p:cNvSpPr/>
          <p:nvPr/>
        </p:nvSpPr>
        <p:spPr>
          <a:xfrm>
            <a:off x="142844" y="928670"/>
            <a:ext cx="5000660" cy="5632311"/>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argcline</a:t>
            </a:r>
            <a:r>
              <a:rPr lang="en-US" altLang="ja-JP" sz="2000" dirty="0" smtClean="0"/>
              <a:t>, </a:t>
            </a:r>
            <a:r>
              <a:rPr lang="en-US" altLang="ja-JP" sz="2000" dirty="0" err="1" smtClean="0"/>
              <a:t>i</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argvline</a:t>
            </a:r>
            <a:r>
              <a:rPr lang="en-US" altLang="ja-JP" sz="2000" dirty="0" smtClean="0"/>
              <a:t> [ARG_NUMBER];</a:t>
            </a:r>
          </a:p>
          <a:p>
            <a:r>
              <a:rPr lang="en-US" altLang="ja-JP" sz="2000" dirty="0" smtClean="0"/>
              <a:t>  char line [ARG_NUMBER] [PARAM_SIZE];</a:t>
            </a:r>
          </a:p>
          <a:p>
            <a:endParaRPr lang="en-US" altLang="ja-JP" sz="2000" dirty="0" smtClean="0"/>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&lt;ARG_NUMBER; </a:t>
            </a:r>
            <a:r>
              <a:rPr lang="en-US" altLang="ja-JP" sz="2000" dirty="0" err="1" smtClean="0"/>
              <a:t>i</a:t>
            </a:r>
            <a:r>
              <a:rPr lang="en-US" altLang="ja-JP" sz="2000" dirty="0" smtClean="0"/>
              <a:t>++)</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 = line[</a:t>
            </a:r>
            <a:r>
              <a:rPr lang="en-US" altLang="ja-JP" sz="2000" dirty="0" err="1" smtClean="0"/>
              <a:t>i</a:t>
            </a:r>
            <a:r>
              <a:rPr lang="en-US" altLang="ja-JP" sz="2000" dirty="0" smtClean="0"/>
              <a:t>];</a:t>
            </a:r>
          </a:p>
          <a:p>
            <a:endParaRPr lang="en-US" altLang="ja-JP" sz="2000" dirty="0" smtClean="0"/>
          </a:p>
          <a:p>
            <a:r>
              <a:rPr lang="en-US" altLang="ja-JP" sz="2000" dirty="0" smtClean="0"/>
              <a:t>  while (</a:t>
            </a:r>
            <a:r>
              <a:rPr lang="en-US" altLang="ja-JP" sz="2000" dirty="0" err="1" smtClean="0"/>
              <a:t>printf</a:t>
            </a:r>
            <a:r>
              <a:rPr lang="en-US" altLang="ja-JP" sz="2000" dirty="0" smtClean="0"/>
              <a:t> ("&gt; "),</a:t>
            </a:r>
          </a:p>
          <a:p>
            <a:r>
              <a:rPr lang="en-US" altLang="ja-JP" sz="2000" dirty="0" smtClean="0"/>
              <a:t>         (</a:t>
            </a:r>
            <a:r>
              <a:rPr lang="en-US" altLang="ja-JP" sz="2000" dirty="0" err="1" smtClean="0"/>
              <a:t>argcline</a:t>
            </a:r>
            <a:r>
              <a:rPr lang="en-US" altLang="ja-JP" sz="2000" dirty="0" smtClean="0"/>
              <a:t> = </a:t>
            </a:r>
            <a:r>
              <a:rPr lang="en-US" altLang="ja-JP" sz="2000" dirty="0" err="1" smtClean="0"/>
              <a:t>getcomln</a:t>
            </a:r>
            <a:r>
              <a:rPr lang="en-US" altLang="ja-JP" sz="2000" dirty="0" smtClean="0"/>
              <a:t> (</a:t>
            </a:r>
            <a:r>
              <a:rPr lang="en-US" altLang="ja-JP" sz="2000" dirty="0" err="1" smtClean="0"/>
              <a:t>argvline</a:t>
            </a:r>
            <a:r>
              <a:rPr lang="en-US" altLang="ja-JP" sz="2000" dirty="0" smtClean="0"/>
              <a:t>)) != EOF) {</a:t>
            </a:r>
          </a:p>
          <a:p>
            <a:r>
              <a:rPr lang="en-US" altLang="ja-JP" sz="2000" dirty="0" smtClean="0"/>
              <a:t>    if (</a:t>
            </a:r>
            <a:r>
              <a:rPr lang="en-US" altLang="ja-JP" sz="2000" dirty="0" err="1" smtClean="0"/>
              <a:t>argcline</a:t>
            </a:r>
            <a:r>
              <a:rPr lang="en-US" altLang="ja-JP" sz="2000" dirty="0" smtClean="0"/>
              <a:t> == 0) continue;</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argvline</a:t>
            </a:r>
            <a:r>
              <a:rPr lang="en-US" altLang="ja-JP" sz="2000" dirty="0" smtClean="0"/>
              <a:t> [</a:t>
            </a:r>
            <a:r>
              <a:rPr lang="en-US" altLang="ja-JP" sz="2000" dirty="0" err="1" smtClean="0"/>
              <a:t>argcline</a:t>
            </a:r>
            <a:r>
              <a:rPr lang="en-US" altLang="ja-JP" sz="2000" dirty="0" smtClean="0"/>
              <a:t>] = NULL;</a:t>
            </a:r>
          </a:p>
          <a:p>
            <a:r>
              <a:rPr lang="en-US" altLang="ja-JP" sz="2000" dirty="0" smtClean="0"/>
              <a:t>      if (</a:t>
            </a:r>
            <a:r>
              <a:rPr lang="en-US" altLang="ja-JP" sz="2000" dirty="0" err="1" smtClean="0"/>
              <a:t>execvp</a:t>
            </a:r>
            <a:r>
              <a:rPr lang="en-US" altLang="ja-JP" sz="2000" dirty="0" smtClean="0"/>
              <a:t> (</a:t>
            </a:r>
            <a:r>
              <a:rPr lang="en-US" altLang="ja-JP" sz="2000" dirty="0" err="1" smtClean="0"/>
              <a:t>argvline</a:t>
            </a:r>
            <a:r>
              <a:rPr lang="en-US" altLang="ja-JP" sz="2000" dirty="0" smtClean="0"/>
              <a:t>[0], </a:t>
            </a:r>
            <a:r>
              <a:rPr lang="en-US" altLang="ja-JP" sz="2000" dirty="0" err="1" smtClean="0"/>
              <a:t>argvline</a:t>
            </a:r>
            <a:r>
              <a:rPr lang="en-US" altLang="ja-JP" sz="2000" dirty="0" smtClean="0"/>
              <a:t>) == -1) {</a:t>
            </a:r>
          </a:p>
          <a:p>
            <a:r>
              <a:rPr lang="en-US" altLang="ja-JP" sz="2000" dirty="0" smtClean="0"/>
              <a:t>        </a:t>
            </a:r>
            <a:r>
              <a:rPr lang="en-US" altLang="ja-JP" sz="2000" dirty="0" err="1" smtClean="0"/>
              <a:t>perror</a:t>
            </a:r>
            <a:r>
              <a:rPr lang="en-US" altLang="ja-JP" sz="2000" dirty="0" smtClean="0"/>
              <a:t> ("</a:t>
            </a:r>
            <a:r>
              <a:rPr lang="en-US" altLang="ja-JP" sz="2000" dirty="0" err="1" smtClean="0"/>
              <a:t>execvp</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en-US" altLang="ja-JP" sz="2000" dirty="0"/>
          </a:p>
        </p:txBody>
      </p:sp>
      <p:sp>
        <p:nvSpPr>
          <p:cNvPr id="6" name="正方形/長方形 5"/>
          <p:cNvSpPr/>
          <p:nvPr/>
        </p:nvSpPr>
        <p:spPr>
          <a:xfrm>
            <a:off x="5286380" y="928670"/>
            <a:ext cx="3571900" cy="2862322"/>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wait (&amp;status);</a:t>
            </a:r>
          </a:p>
          <a:p>
            <a:r>
              <a:rPr lang="en-US" altLang="ja-JP" sz="2000" dirty="0" smtClean="0"/>
              <a:t>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a:t>
            </a:r>
          </a:p>
          <a:p>
            <a:r>
              <a:rPr lang="en-US" altLang="ja-JP" sz="2000" dirty="0" smtClean="0"/>
              <a:t>  </a:t>
            </a:r>
            <a:r>
              <a:rPr lang="en-US" altLang="ja-JP" sz="2000" dirty="0" err="1" smtClean="0"/>
              <a:t>putchar</a:t>
            </a:r>
            <a:r>
              <a:rPr lang="en-US" altLang="ja-JP" sz="2000" dirty="0" smtClean="0"/>
              <a:t> ('\n');</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演習課題</a:t>
            </a:r>
            <a:endParaRPr kumimoji="1" lang="ja-JP" altLang="en-US" dirty="0"/>
          </a:p>
        </p:txBody>
      </p:sp>
      <p:sp>
        <p:nvSpPr>
          <p:cNvPr id="3" name="コンテンツ プレースホルダ 2"/>
          <p:cNvSpPr>
            <a:spLocks noGrp="1"/>
          </p:cNvSpPr>
          <p:nvPr>
            <p:ph idx="1"/>
          </p:nvPr>
        </p:nvSpPr>
        <p:spPr>
          <a:xfrm>
            <a:off x="357158" y="1500174"/>
            <a:ext cx="8329642" cy="5000660"/>
          </a:xfrm>
        </p:spPr>
        <p:txBody>
          <a:bodyPr>
            <a:normAutofit fontScale="85000" lnSpcReduction="10000"/>
          </a:bodyPr>
          <a:lstStyle/>
          <a:p>
            <a:r>
              <a:rPr lang="en-US" altLang="ja-JP" dirty="0" err="1" smtClean="0"/>
              <a:t>tcsh</a:t>
            </a:r>
            <a:r>
              <a:rPr lang="ja-JP" altLang="en-US" dirty="0" smtClean="0"/>
              <a:t>等のシェルで</a:t>
            </a:r>
            <a:r>
              <a:rPr lang="en-US" altLang="ja-JP" dirty="0" smtClean="0"/>
              <a:t>exit</a:t>
            </a:r>
            <a:r>
              <a:rPr lang="ja-JP" altLang="en-US" dirty="0" smtClean="0"/>
              <a:t>と打つとシェルが終了する。</a:t>
            </a:r>
            <a:r>
              <a:rPr lang="en-US" altLang="ja-JP" dirty="0" smtClean="0"/>
              <a:t>exit</a:t>
            </a:r>
            <a:r>
              <a:rPr lang="ja-JP" altLang="en-US" dirty="0" smtClean="0"/>
              <a:t>はシェルの内部コマンドである。</a:t>
            </a:r>
            <a:endParaRPr lang="en-US" altLang="ja-JP" dirty="0" smtClean="0"/>
          </a:p>
          <a:p>
            <a:r>
              <a:rPr kumimoji="1" lang="ja-JP" altLang="en-US" dirty="0" smtClean="0"/>
              <a:t>さきほどの簡易シェルに、</a:t>
            </a:r>
            <a:r>
              <a:rPr kumimoji="1" lang="en-US" altLang="ja-JP" dirty="0" smtClean="0"/>
              <a:t>exit</a:t>
            </a:r>
            <a:r>
              <a:rPr kumimoji="1" lang="ja-JP" altLang="en-US" dirty="0" smtClean="0"/>
              <a:t>（シェルの内部コマンド）を追加せよ。配列</a:t>
            </a:r>
            <a:r>
              <a:rPr lang="en-US" altLang="ja-JP" dirty="0" err="1" smtClean="0"/>
              <a:t>a</a:t>
            </a:r>
            <a:r>
              <a:rPr kumimoji="1" lang="en-US" altLang="ja-JP" dirty="0" err="1" smtClean="0"/>
              <a:t>rgvline</a:t>
            </a:r>
            <a:r>
              <a:rPr kumimoji="1" lang="ja-JP" altLang="en-US" dirty="0" smtClean="0"/>
              <a:t>の最初の要素が</a:t>
            </a:r>
            <a:r>
              <a:rPr kumimoji="1" lang="en-US" altLang="ja-JP" dirty="0" smtClean="0"/>
              <a:t>exit</a:t>
            </a:r>
            <a:r>
              <a:rPr kumimoji="1" lang="ja-JP" altLang="en-US" dirty="0" smtClean="0"/>
              <a:t>という文字列を指しているかどうかで判定すればよい。</a:t>
            </a:r>
            <a:endParaRPr kumimoji="1" lang="en-US" altLang="ja-JP" dirty="0" smtClean="0"/>
          </a:p>
          <a:p>
            <a:r>
              <a:rPr lang="ja-JP" altLang="en-US" dirty="0" smtClean="0"/>
              <a:t>文字列の比較には</a:t>
            </a:r>
            <a:r>
              <a:rPr lang="en-US" altLang="ja-JP" dirty="0" err="1" smtClean="0"/>
              <a:t>strcmp</a:t>
            </a:r>
            <a:r>
              <a:rPr lang="ja-JP" altLang="en-US" dirty="0" smtClean="0"/>
              <a:t>を用いよ。使い方は </a:t>
            </a:r>
            <a:r>
              <a:rPr lang="en-US" altLang="ja-JP" dirty="0" smtClean="0"/>
              <a:t>man </a:t>
            </a:r>
            <a:r>
              <a:rPr lang="en-US" altLang="ja-JP" dirty="0" err="1" smtClean="0"/>
              <a:t>strcmp</a:t>
            </a:r>
            <a:r>
              <a:rPr lang="en-US" altLang="ja-JP" dirty="0" smtClean="0"/>
              <a:t> </a:t>
            </a:r>
            <a:r>
              <a:rPr lang="ja-JP" altLang="en-US" dirty="0" smtClean="0"/>
              <a:t>で調べればよい。</a:t>
            </a:r>
            <a:endParaRPr lang="en-US" altLang="ja-JP" dirty="0" smtClean="0"/>
          </a:p>
          <a:p>
            <a:r>
              <a:rPr kumimoji="1" lang="en-US" altLang="ja-JP" dirty="0" err="1" smtClean="0"/>
              <a:t>tcsh</a:t>
            </a:r>
            <a:r>
              <a:rPr kumimoji="1" lang="ja-JP" altLang="en-US" dirty="0" smtClean="0"/>
              <a:t>等のシェルの</a:t>
            </a:r>
            <a:r>
              <a:rPr kumimoji="1" lang="en-US" altLang="ja-JP" dirty="0" smtClean="0"/>
              <a:t>exit</a:t>
            </a:r>
            <a:r>
              <a:rPr lang="ja-JP" altLang="en-US" dirty="0" smtClean="0"/>
              <a:t>コマンド</a:t>
            </a:r>
            <a:r>
              <a:rPr kumimoji="1" lang="ja-JP" altLang="en-US" dirty="0" smtClean="0"/>
              <a:t>は引数を取ることができ、それによって終了</a:t>
            </a:r>
            <a:r>
              <a:rPr kumimoji="1" lang="en-US" altLang="ja-JP" dirty="0" smtClean="0"/>
              <a:t>status</a:t>
            </a:r>
            <a:r>
              <a:rPr kumimoji="1" lang="ja-JP" altLang="en-US" dirty="0" smtClean="0"/>
              <a:t>を指定できるが、</a:t>
            </a:r>
            <a:r>
              <a:rPr lang="ja-JP" altLang="en-US" dirty="0" smtClean="0"/>
              <a:t>この課題では終了</a:t>
            </a:r>
            <a:r>
              <a:rPr lang="en-US" altLang="ja-JP" dirty="0" smtClean="0"/>
              <a:t>status</a:t>
            </a:r>
            <a:r>
              <a:rPr lang="ja-JP" altLang="en-US" dirty="0" smtClean="0"/>
              <a:t>は気にしないこととする。</a:t>
            </a:r>
            <a:endParaRPr lang="en-US" altLang="ja-JP" dirty="0" smtClean="0"/>
          </a:p>
          <a:p>
            <a:r>
              <a:rPr lang="en-US" altLang="ja-JP" dirty="0" smtClean="0"/>
              <a:t>exit</a:t>
            </a:r>
            <a:r>
              <a:rPr lang="ja-JP" altLang="en-US" dirty="0" smtClean="0"/>
              <a:t>によってシェル自体を終了させるので、シェルの内部コマンドとして実装するのが自然である。</a:t>
            </a:r>
            <a:endParaRPr lang="en-US" altLang="ja-JP"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cd</a:t>
            </a:r>
            <a:endParaRPr kumimoji="1" lang="ja-JP" altLang="en-US" dirty="0"/>
          </a:p>
        </p:txBody>
      </p:sp>
      <p:sp>
        <p:nvSpPr>
          <p:cNvPr id="3" name="コンテンツ プレースホルダ 2"/>
          <p:cNvSpPr>
            <a:spLocks noGrp="1"/>
          </p:cNvSpPr>
          <p:nvPr>
            <p:ph idx="1"/>
          </p:nvPr>
        </p:nvSpPr>
        <p:spPr>
          <a:xfrm>
            <a:off x="457200" y="1357298"/>
            <a:ext cx="8229600" cy="5000660"/>
          </a:xfrm>
        </p:spPr>
        <p:txBody>
          <a:bodyPr>
            <a:normAutofit fontScale="92500" lnSpcReduction="20000"/>
          </a:bodyPr>
          <a:lstStyle/>
          <a:p>
            <a:r>
              <a:rPr lang="en-US" altLang="ja-JP" dirty="0" err="1" smtClean="0"/>
              <a:t>c</a:t>
            </a:r>
            <a:r>
              <a:rPr kumimoji="1" lang="en-US" altLang="ja-JP" dirty="0" err="1" smtClean="0"/>
              <a:t>d</a:t>
            </a:r>
            <a:r>
              <a:rPr kumimoji="1" lang="ja-JP" altLang="en-US" dirty="0" smtClean="0"/>
              <a:t>コマンド</a:t>
            </a:r>
            <a:r>
              <a:rPr lang="ja-JP" altLang="en-US" dirty="0" smtClean="0"/>
              <a:t>は</a:t>
            </a:r>
            <a:r>
              <a:rPr lang="en-US" altLang="ja-JP" dirty="0" smtClean="0"/>
              <a:t>shell</a:t>
            </a:r>
            <a:r>
              <a:rPr kumimoji="1" lang="ja-JP" altLang="en-US" dirty="0" smtClean="0"/>
              <a:t>の内部コマンドである。</a:t>
            </a:r>
            <a:endParaRPr kumimoji="1" lang="en-US" altLang="ja-JP" dirty="0" smtClean="0"/>
          </a:p>
          <a:p>
            <a:r>
              <a:rPr lang="en-US" altLang="ja-JP" dirty="0" err="1" smtClean="0"/>
              <a:t>cd</a:t>
            </a:r>
            <a:r>
              <a:rPr lang="ja-JP" altLang="en-US" dirty="0" smtClean="0"/>
              <a:t>コマンドによって、</a:t>
            </a:r>
            <a:r>
              <a:rPr lang="en-US" altLang="ja-JP" dirty="0" smtClean="0"/>
              <a:t>shell</a:t>
            </a:r>
            <a:r>
              <a:rPr lang="ja-JP" altLang="en-US" dirty="0" smtClean="0"/>
              <a:t>自体のディレクトリが変更されなければならないので、</a:t>
            </a:r>
            <a:r>
              <a:rPr lang="en-US" altLang="ja-JP" dirty="0" err="1" smtClean="0"/>
              <a:t>cd</a:t>
            </a:r>
            <a:r>
              <a:rPr lang="ja-JP" altLang="en-US" dirty="0" smtClean="0"/>
              <a:t>は外部コマンドとしては実装できない。</a:t>
            </a:r>
            <a:endParaRPr lang="en-US" altLang="ja-JP" dirty="0" smtClean="0"/>
          </a:p>
          <a:p>
            <a:r>
              <a:rPr lang="en-US" altLang="ja-JP" dirty="0" err="1" smtClean="0"/>
              <a:t>cd</a:t>
            </a:r>
            <a:r>
              <a:rPr lang="ja-JP" altLang="en-US" dirty="0" smtClean="0"/>
              <a:t>コマンドが入力されたときは、</a:t>
            </a:r>
            <a:r>
              <a:rPr lang="en-US" altLang="ja-JP" dirty="0" smtClean="0"/>
              <a:t>shell</a:t>
            </a:r>
            <a:r>
              <a:rPr lang="ja-JP" altLang="en-US" dirty="0" smtClean="0"/>
              <a:t>本体において、</a:t>
            </a:r>
            <a:r>
              <a:rPr lang="en-US" altLang="ja-JP" dirty="0" err="1" smtClean="0"/>
              <a:t>c</a:t>
            </a:r>
            <a:r>
              <a:rPr kumimoji="1" lang="en-US" altLang="ja-JP" dirty="0" err="1" smtClean="0"/>
              <a:t>hdir</a:t>
            </a:r>
            <a:r>
              <a:rPr kumimoji="1" lang="ja-JP" altLang="en-US" dirty="0" smtClean="0"/>
              <a:t>システムコールを呼び出す。</a:t>
            </a:r>
            <a:endParaRPr kumimoji="1" lang="en-US" altLang="ja-JP" dirty="0" smtClean="0"/>
          </a:p>
          <a:p>
            <a:r>
              <a:rPr lang="ja-JP" altLang="en-US" dirty="0" smtClean="0"/>
              <a:t>配列</a:t>
            </a:r>
            <a:r>
              <a:rPr lang="en-US" altLang="ja-JP" dirty="0" err="1" smtClean="0"/>
              <a:t>argvline</a:t>
            </a:r>
            <a:r>
              <a:rPr lang="ja-JP" altLang="en-US" dirty="0" smtClean="0"/>
              <a:t>の最初の要素が</a:t>
            </a:r>
            <a:r>
              <a:rPr lang="en-US" altLang="ja-JP" dirty="0" err="1" smtClean="0"/>
              <a:t>cd</a:t>
            </a:r>
            <a:r>
              <a:rPr lang="ja-JP" altLang="en-US" dirty="0" smtClean="0"/>
              <a:t>という文字列を指しているかどうかで</a:t>
            </a:r>
            <a:r>
              <a:rPr lang="en-US" altLang="ja-JP" dirty="0" err="1" smtClean="0"/>
              <a:t>cd</a:t>
            </a:r>
            <a:r>
              <a:rPr lang="ja-JP" altLang="en-US" dirty="0" smtClean="0"/>
              <a:t>コマンドかどうかの判定をすればよい。</a:t>
            </a:r>
            <a:endParaRPr kumimoji="1" lang="en-US" altLang="ja-JP" dirty="0" smtClean="0"/>
          </a:p>
          <a:p>
            <a:r>
              <a:rPr lang="en-US" altLang="ja-JP" dirty="0" err="1" smtClean="0"/>
              <a:t>c</a:t>
            </a:r>
            <a:r>
              <a:rPr kumimoji="1" lang="en-US" altLang="ja-JP" dirty="0" err="1" smtClean="0"/>
              <a:t>hdir</a:t>
            </a:r>
            <a:r>
              <a:rPr kumimoji="1" lang="ja-JP" altLang="en-US" dirty="0" smtClean="0"/>
              <a:t>の使い方は、</a:t>
            </a:r>
            <a:endParaRPr kumimoji="1" lang="en-US" altLang="ja-JP" dirty="0" smtClean="0"/>
          </a:p>
          <a:p>
            <a:pPr>
              <a:buNone/>
            </a:pPr>
            <a:r>
              <a:rPr lang="ja-JP" altLang="en-US" dirty="0" smtClean="0"/>
              <a:t>　　</a:t>
            </a:r>
            <a:r>
              <a:rPr lang="en-US" altLang="ja-JP" dirty="0" smtClean="0"/>
              <a:t>$ man –s2 </a:t>
            </a:r>
            <a:r>
              <a:rPr lang="en-US" altLang="ja-JP" dirty="0" err="1" smtClean="0"/>
              <a:t>chdir</a:t>
            </a:r>
            <a:r>
              <a:rPr lang="ja-JP" altLang="en-US" dirty="0" smtClean="0"/>
              <a:t>　で確認。</a:t>
            </a:r>
            <a:endParaRPr lang="en-US" altLang="ja-JP"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レポート</a:t>
            </a:r>
            <a:r>
              <a:rPr kumimoji="1" lang="ja-JP" altLang="en-US" dirty="0" smtClean="0"/>
              <a:t>課題４</a:t>
            </a:r>
            <a:endParaRPr kumimoji="1" lang="ja-JP" altLang="en-US" dirty="0"/>
          </a:p>
        </p:txBody>
      </p:sp>
      <p:sp>
        <p:nvSpPr>
          <p:cNvPr id="5" name="テキスト ボックス 4"/>
          <p:cNvSpPr txBox="1"/>
          <p:nvPr/>
        </p:nvSpPr>
        <p:spPr>
          <a:xfrm>
            <a:off x="714348" y="1357298"/>
            <a:ext cx="7786742" cy="5693866"/>
          </a:xfrm>
          <a:prstGeom prst="rect">
            <a:avLst/>
          </a:prstGeom>
          <a:noFill/>
        </p:spPr>
        <p:txBody>
          <a:bodyPr wrap="square" rtlCol="0">
            <a:spAutoFit/>
          </a:bodyPr>
          <a:lstStyle/>
          <a:p>
            <a:r>
              <a:rPr kumimoji="1" lang="ja-JP" altLang="en-US" sz="2800" dirty="0" smtClean="0"/>
              <a:t>さきほどの簡易</a:t>
            </a:r>
            <a:r>
              <a:rPr kumimoji="1" lang="en-US" altLang="ja-JP" sz="2800" dirty="0" smtClean="0"/>
              <a:t>shell</a:t>
            </a:r>
            <a:r>
              <a:rPr kumimoji="1" lang="ja-JP" altLang="en-US" sz="2800" dirty="0" smtClean="0"/>
              <a:t>に、</a:t>
            </a:r>
            <a:r>
              <a:rPr kumimoji="1" lang="en-US" altLang="ja-JP" sz="2800" dirty="0" err="1" smtClean="0"/>
              <a:t>cd</a:t>
            </a:r>
            <a:r>
              <a:rPr kumimoji="1" lang="ja-JP" altLang="en-US" sz="2800" dirty="0" smtClean="0"/>
              <a:t>コマンドをシェルの内部コマンドとして追加せよ。</a:t>
            </a:r>
            <a:endParaRPr kumimoji="1" lang="en-US" altLang="ja-JP" sz="2800" dirty="0" smtClean="0"/>
          </a:p>
          <a:p>
            <a:endParaRPr kumimoji="1" lang="en-US" altLang="ja-JP" sz="2800" dirty="0" smtClean="0"/>
          </a:p>
          <a:p>
            <a:r>
              <a:rPr lang="ja-JP" altLang="en-US" sz="2800" dirty="0" smtClean="0"/>
              <a:t>引数無しの場合はホームディレクトリに移動。</a:t>
            </a:r>
            <a:endParaRPr lang="en-US" altLang="ja-JP" sz="2800" dirty="0" smtClean="0"/>
          </a:p>
          <a:p>
            <a:r>
              <a:rPr lang="ja-JP" altLang="en-US" sz="2800" dirty="0" smtClean="0"/>
              <a:t>引数１つの場合は、その引数で指定されたディレクトリへ移動。</a:t>
            </a:r>
            <a:endParaRPr lang="en-US" altLang="ja-JP" sz="2800" dirty="0" smtClean="0"/>
          </a:p>
          <a:p>
            <a:r>
              <a:rPr lang="ja-JP" altLang="en-US" sz="2800" dirty="0" smtClean="0"/>
              <a:t>それ以外の場合は、</a:t>
            </a:r>
            <a:r>
              <a:rPr lang="en-US" altLang="ja-JP" sz="2800" dirty="0" err="1" smtClean="0"/>
              <a:t>cd</a:t>
            </a:r>
            <a:r>
              <a:rPr lang="ja-JP" altLang="en-US" sz="2800" dirty="0" smtClean="0"/>
              <a:t>コマンドの使い方を表示（メッセージは、</a:t>
            </a:r>
            <a:r>
              <a:rPr lang="en-US" altLang="ja-JP" sz="2800" dirty="0" err="1" smtClean="0"/>
              <a:t>tcsh</a:t>
            </a:r>
            <a:r>
              <a:rPr lang="ja-JP" altLang="en-US" sz="2800" dirty="0" smtClean="0"/>
              <a:t>などにおける</a:t>
            </a:r>
            <a:r>
              <a:rPr lang="en-US" altLang="ja-JP" sz="2800" dirty="0" err="1" smtClean="0"/>
              <a:t>cd</a:t>
            </a:r>
            <a:r>
              <a:rPr lang="ja-JP" altLang="en-US" sz="2800" dirty="0" smtClean="0"/>
              <a:t>の使い方の表示を参考にして、自分で適当に作成）。</a:t>
            </a:r>
            <a:endParaRPr lang="en-US" altLang="ja-JP" sz="2800" dirty="0" smtClean="0"/>
          </a:p>
          <a:p>
            <a:endParaRPr lang="en-US" altLang="ja-JP" sz="2800" dirty="0" smtClean="0"/>
          </a:p>
          <a:p>
            <a:r>
              <a:rPr lang="ja-JP" altLang="en-US" sz="2800" dirty="0" smtClean="0"/>
              <a:t>ディレクトリ移動後は、他の通常のコマンドと同様、プロンプト表示に戻る。</a:t>
            </a:r>
            <a:endParaRPr lang="en-US" altLang="ja-JP" sz="2800" dirty="0" smtClean="0"/>
          </a:p>
          <a:p>
            <a:endParaRPr kumimoji="1"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kadai4.c, kadai4.txt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kadai4</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kadai4.txt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22</a:t>
            </a:r>
            <a:r>
              <a:rPr lang="ja-JP" altLang="en-US" sz="2400" dirty="0" smtClean="0">
                <a:solidFill>
                  <a:schemeClr val="tx1"/>
                </a:solidFill>
                <a:ea typeface="+mj-ea"/>
              </a:rPr>
              <a:t>日の講義開始時間まで。締め切り後に提出した場合、成績への反映を保証しない。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正方形/長方形 3"/>
          <p:cNvSpPr/>
          <p:nvPr/>
        </p:nvSpPr>
        <p:spPr>
          <a:xfrm>
            <a:off x="714348" y="1428736"/>
            <a:ext cx="7429552" cy="3970318"/>
          </a:xfrm>
          <a:prstGeom prst="rect">
            <a:avLst/>
          </a:prstGeom>
        </p:spPr>
        <p:txBody>
          <a:bodyPr wrap="square">
            <a:spAutoFit/>
          </a:bodyPr>
          <a:lstStyle/>
          <a:p>
            <a:r>
              <a:rPr lang="ja-JP" altLang="en-US" sz="2800" dirty="0" smtClean="0"/>
              <a:t>ホームディレクトリは、</a:t>
            </a:r>
            <a:r>
              <a:rPr lang="en-US" altLang="ja-JP" sz="2800" dirty="0" err="1" smtClean="0"/>
              <a:t>getenv</a:t>
            </a:r>
            <a:r>
              <a:rPr lang="ja-JP" altLang="en-US" sz="2800" dirty="0" smtClean="0"/>
              <a:t>ライブラリ関数で取得できる。</a:t>
            </a:r>
            <a:endParaRPr lang="en-US" altLang="ja-JP" sz="2800" dirty="0" smtClean="0"/>
          </a:p>
          <a:p>
            <a:r>
              <a:rPr lang="en-US" altLang="ja-JP" sz="2800" dirty="0" err="1" smtClean="0"/>
              <a:t>getenv</a:t>
            </a:r>
            <a:r>
              <a:rPr lang="en-US" altLang="ja-JP" sz="2800" dirty="0" smtClean="0"/>
              <a:t>(“HOME”)</a:t>
            </a:r>
            <a:r>
              <a:rPr lang="ja-JP" altLang="en-US" sz="2800" dirty="0" smtClean="0"/>
              <a:t>の</a:t>
            </a:r>
            <a:r>
              <a:rPr lang="ja-JP" altLang="en-US" sz="2800" dirty="0" smtClean="0"/>
              <a:t>返り値</a:t>
            </a:r>
            <a:r>
              <a:rPr lang="ja-JP" altLang="en-US" sz="2800" dirty="0" smtClean="0"/>
              <a:t>と</a:t>
            </a:r>
            <a:r>
              <a:rPr lang="ja-JP" altLang="en-US" sz="2800" dirty="0" smtClean="0"/>
              <a:t>して、</a:t>
            </a:r>
            <a:endParaRPr lang="en-US" altLang="ja-JP" sz="2800" dirty="0" smtClean="0"/>
          </a:p>
          <a:p>
            <a:pPr>
              <a:buNone/>
            </a:pPr>
            <a:r>
              <a:rPr lang="en-US" altLang="ja-JP" sz="2800" dirty="0" smtClean="0"/>
              <a:t>        ”/home/sit/</a:t>
            </a:r>
            <a:r>
              <a:rPr lang="en-US" altLang="ja-JP" sz="2800" dirty="0" err="1" smtClean="0"/>
              <a:t>sasano</a:t>
            </a:r>
            <a:r>
              <a:rPr lang="en-US" altLang="ja-JP" sz="2800" dirty="0" smtClean="0"/>
              <a:t>”(</a:t>
            </a:r>
            <a:r>
              <a:rPr lang="ja-JP" altLang="en-US" sz="2800" dirty="0" smtClean="0"/>
              <a:t>私の場合</a:t>
            </a:r>
            <a:r>
              <a:rPr lang="en-US" altLang="ja-JP" sz="2800" dirty="0" smtClean="0"/>
              <a:t>)</a:t>
            </a:r>
          </a:p>
          <a:p>
            <a:pPr>
              <a:buNone/>
            </a:pPr>
            <a:r>
              <a:rPr lang="ja-JP" altLang="en-US" sz="2800" dirty="0" err="1" smtClean="0"/>
              <a:t>のような</a:t>
            </a:r>
            <a:r>
              <a:rPr lang="ja-JP" altLang="en-US" sz="2800" dirty="0" smtClean="0"/>
              <a:t>文字列（</a:t>
            </a:r>
            <a:r>
              <a:rPr lang="en-US" altLang="ja-JP" sz="2800" dirty="0" smtClean="0"/>
              <a:t>char</a:t>
            </a:r>
            <a:r>
              <a:rPr lang="ja-JP" altLang="en-US" sz="2800" dirty="0" err="1" smtClean="0"/>
              <a:t>への</a:t>
            </a:r>
            <a:r>
              <a:rPr lang="ja-JP" altLang="en-US" sz="2800" dirty="0" smtClean="0"/>
              <a:t>ポインタ型）が得られる。</a:t>
            </a:r>
            <a:endParaRPr lang="en-US" altLang="ja-JP" sz="2800" dirty="0" smtClean="0"/>
          </a:p>
          <a:p>
            <a:pPr>
              <a:buNone/>
            </a:pPr>
            <a:r>
              <a:rPr lang="en-US" altLang="ja-JP" sz="2800" dirty="0" err="1" smtClean="0"/>
              <a:t>c</a:t>
            </a:r>
            <a:r>
              <a:rPr lang="en-US" altLang="ja-JP" sz="2800" dirty="0" err="1" smtClean="0"/>
              <a:t>d</a:t>
            </a:r>
            <a:r>
              <a:rPr lang="ja-JP" altLang="en-US" sz="2800" dirty="0" smtClean="0"/>
              <a:t>コマンドで引数がない場合は、それを</a:t>
            </a:r>
            <a:r>
              <a:rPr lang="en-US" altLang="ja-JP" sz="2800" dirty="0" err="1" smtClean="0"/>
              <a:t>chdir</a:t>
            </a:r>
            <a:r>
              <a:rPr lang="ja-JP" altLang="en-US" sz="2800" dirty="0" smtClean="0"/>
              <a:t>の引数に与えれればよい。</a:t>
            </a:r>
            <a:endParaRPr lang="en-US" altLang="ja-JP" sz="2800" dirty="0" smtClean="0"/>
          </a:p>
          <a:p>
            <a:pPr>
              <a:buNone/>
            </a:pPr>
            <a:r>
              <a:rPr lang="ja-JP" altLang="en-US" sz="2800" dirty="0" smtClean="0"/>
              <a:t>（レポート課題としては、ホームディレクトリの文字列を直書きでも</a:t>
            </a:r>
            <a:r>
              <a:rPr lang="en-US" altLang="ja-JP" sz="2800" dirty="0" smtClean="0"/>
              <a:t>OK</a:t>
            </a:r>
            <a:r>
              <a:rPr lang="ja-JP" altLang="en-US" sz="2800" dirty="0" smtClean="0"/>
              <a:t>とする。）</a:t>
            </a:r>
            <a:endParaRPr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TotalTime>
  <Words>1547</Words>
  <Application>Microsoft Office PowerPoint</Application>
  <PresentationFormat>画面に合わせる (4:3)</PresentationFormat>
  <Paragraphs>178</Paragraphs>
  <Slides>14</Slides>
  <Notes>1</Notes>
  <HiddenSlides>0</HiddenSlides>
  <MMClips>0</MMClips>
  <ScaleCrop>false</ScaleCrop>
  <HeadingPairs>
    <vt:vector size="4" baseType="variant">
      <vt:variant>
        <vt:lpstr>テーマ</vt:lpstr>
      </vt:variant>
      <vt:variant>
        <vt:i4>1</vt:i4>
      </vt:variant>
      <vt:variant>
        <vt:lpstr>スライド タイトル</vt:lpstr>
      </vt:variant>
      <vt:variant>
        <vt:i4>14</vt:i4>
      </vt:variant>
    </vt:vector>
  </HeadingPairs>
  <TitlesOfParts>
    <vt:vector size="15" baseType="lpstr">
      <vt:lpstr>Office テーマ</vt:lpstr>
      <vt:lpstr>システムプログラミング 第１０回</vt:lpstr>
      <vt:lpstr>今回の内容</vt:lpstr>
      <vt:lpstr>スライド 3</vt:lpstr>
      <vt:lpstr>例（打ち込んで確認）</vt:lpstr>
      <vt:lpstr>waitシステムコール</vt:lpstr>
      <vt:lpstr>ゾンビプロセス（打ち込んで確認）</vt:lpstr>
      <vt:lpstr>例：コマンドの引数に与えられたプログラムを実行（打ち込んで確認）</vt:lpstr>
      <vt:lpstr>簡易shell（打ち込んで確認）</vt:lpstr>
      <vt:lpstr>簡易shellの続き</vt:lpstr>
      <vt:lpstr>演習課題</vt:lpstr>
      <vt:lpstr>cd</vt:lpstr>
      <vt:lpstr>レポート課題４</vt:lpstr>
      <vt:lpstr>レポートの提出方法</vt:lpstr>
      <vt:lpstr>補足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110</cp:revision>
  <dcterms:created xsi:type="dcterms:W3CDTF">2009-11-23T15:34:51Z</dcterms:created>
  <dcterms:modified xsi:type="dcterms:W3CDTF">2009-12-08T02:07:15Z</dcterms:modified>
</cp:coreProperties>
</file>