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slides/slide4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Layouts/slideLayout7.xml" ContentType="application/vnd.openxmlformats-officedocument.presentationml.slideLayout+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0" r:id="rId5"/>
    <p:sldId id="271" r:id="rId6"/>
    <p:sldId id="261" r:id="rId7"/>
    <p:sldId id="262" r:id="rId8"/>
    <p:sldId id="268" r:id="rId9"/>
    <p:sldId id="263" r:id="rId10"/>
    <p:sldId id="264" r:id="rId11"/>
    <p:sldId id="265" r:id="rId12"/>
    <p:sldId id="270" r:id="rId13"/>
    <p:sldId id="266" r:id="rId14"/>
    <p:sldId id="269" r:id="rId15"/>
    <p:sldId id="267" r:id="rId16"/>
    <p:sldId id="272" r:id="rId17"/>
    <p:sldId id="285"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6" r:id="rId31"/>
    <p:sldId id="287" r:id="rId32"/>
    <p:sldId id="288" r:id="rId33"/>
    <p:sldId id="289" r:id="rId34"/>
    <p:sldId id="290" r:id="rId35"/>
    <p:sldId id="291" r:id="rId36"/>
    <p:sldId id="292" r:id="rId37"/>
    <p:sldId id="293" r:id="rId38"/>
    <p:sldId id="294" r:id="rId39"/>
    <p:sldId id="296" r:id="rId40"/>
    <p:sldId id="297" r:id="rId41"/>
    <p:sldId id="298" r:id="rId42"/>
    <p:sldId id="303" r:id="rId43"/>
    <p:sldId id="299" r:id="rId44"/>
    <p:sldId id="300" r:id="rId45"/>
    <p:sldId id="295" r:id="rId46"/>
    <p:sldId id="301" r:id="rId47"/>
    <p:sldId id="305" r:id="rId48"/>
    <p:sldId id="302" r:id="rId49"/>
  </p:sldIdLst>
  <p:sldSz cx="9144000" cy="6858000" type="screen4x3"/>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0" d="100"/>
          <a:sy n="70" d="100"/>
        </p:scale>
        <p:origin x="-522" y="-96"/>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772400" cy="1470025"/>
          </a:xfrm>
        </p:spPr>
        <p:txBody>
          <a:bodyPr/>
          <a:lstStyle/>
          <a:p>
            <a:r>
              <a:rPr kumimoji="1" lang="ja-JP" altLang="en-US" smtClean="0"/>
              <a:t>マスタ タイトルの書式設定</a:t>
            </a:r>
            <a:endParaRPr kumimoji="1" lang="ja-JP" altLang="en-US"/>
          </a:p>
        </p:txBody>
      </p:sp>
      <p:sp>
        <p:nvSpPr>
          <p:cNvPr id="3" name="サブタイトル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1" lang="ja-JP" altLang="en-US" smtClean="0"/>
              <a:t>マスタ サブタイトルの書式設定</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2009/11/24</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コンテンツ プレースホルダ 2"/>
          <p:cNvSpPr>
            <a:spLocks noGrp="1"/>
          </p:cNvSpPr>
          <p:nvPr>
            <p:ph idx="1"/>
          </p:nvPr>
        </p:nvSpPr>
        <p:spPr/>
        <p:txBody>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2009/11/24</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22313" y="4406900"/>
            <a:ext cx="7772400" cy="1362075"/>
          </a:xfrm>
        </p:spPr>
        <p:txBody>
          <a:bodyPr anchor="t"/>
          <a:lstStyle>
            <a:lvl1pPr algn="l">
              <a:defRPr sz="4000" b="1" cap="all"/>
            </a:lvl1p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kumimoji="1" lang="ja-JP" altLang="en-US" smtClean="0"/>
              <a:t>マスタ テキストの書式設定</a:t>
            </a:r>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2009/11/24</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コンテンツ プレースホル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コンテンツ プレースホル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2009/11/24</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vl1p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 テキストの書式設定</a:t>
            </a:r>
          </a:p>
        </p:txBody>
      </p:sp>
      <p:sp>
        <p:nvSpPr>
          <p:cNvPr id="4" name="コンテンツ プレースホル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テキスト プレースホル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 テキストの書式設定</a:t>
            </a:r>
          </a:p>
        </p:txBody>
      </p:sp>
      <p:sp>
        <p:nvSpPr>
          <p:cNvPr id="6" name="コンテンツ プレースホル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7" name="日付プレースホルダ 6"/>
          <p:cNvSpPr>
            <a:spLocks noGrp="1"/>
          </p:cNvSpPr>
          <p:nvPr>
            <p:ph type="dt" sz="half" idx="10"/>
          </p:nvPr>
        </p:nvSpPr>
        <p:spPr/>
        <p:txBody>
          <a:bodyPr/>
          <a:lstStyle/>
          <a:p>
            <a:fld id="{E90ED720-0104-4369-84BC-D37694168613}" type="datetimeFigureOut">
              <a:rPr kumimoji="1" lang="ja-JP" altLang="en-US" smtClean="0"/>
              <a:pPr/>
              <a:t>2009/11/24</a:t>
            </a:fld>
            <a:endParaRPr kumimoji="1" lang="ja-JP" altLang="en-US"/>
          </a:p>
        </p:txBody>
      </p:sp>
      <p:sp>
        <p:nvSpPr>
          <p:cNvPr id="8" name="フッター プレースホルダ 7"/>
          <p:cNvSpPr>
            <a:spLocks noGrp="1"/>
          </p:cNvSpPr>
          <p:nvPr>
            <p:ph type="ftr" sz="quarter" idx="11"/>
          </p:nvPr>
        </p:nvSpPr>
        <p:spPr/>
        <p:txBody>
          <a:bodyPr/>
          <a:lstStyle/>
          <a:p>
            <a:endParaRPr kumimoji="1" lang="ja-JP" altLang="en-US"/>
          </a:p>
        </p:txBody>
      </p:sp>
      <p:sp>
        <p:nvSpPr>
          <p:cNvPr id="9" name="スライド番号プレースホルダ 8"/>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日付プレースホルダ 2"/>
          <p:cNvSpPr>
            <a:spLocks noGrp="1"/>
          </p:cNvSpPr>
          <p:nvPr>
            <p:ph type="dt" sz="half" idx="10"/>
          </p:nvPr>
        </p:nvSpPr>
        <p:spPr/>
        <p:txBody>
          <a:bodyPr/>
          <a:lstStyle/>
          <a:p>
            <a:fld id="{E90ED720-0104-4369-84BC-D37694168613}" type="datetimeFigureOut">
              <a:rPr kumimoji="1" lang="ja-JP" altLang="en-US" smtClean="0"/>
              <a:pPr/>
              <a:t>2009/11/24</a:t>
            </a:fld>
            <a:endParaRPr kumimoji="1" lang="ja-JP" altLang="en-US"/>
          </a:p>
        </p:txBody>
      </p:sp>
      <p:sp>
        <p:nvSpPr>
          <p:cNvPr id="4" name="フッター プレースホルダ 3"/>
          <p:cNvSpPr>
            <a:spLocks noGrp="1"/>
          </p:cNvSpPr>
          <p:nvPr>
            <p:ph type="ftr" sz="quarter" idx="11"/>
          </p:nvPr>
        </p:nvSpPr>
        <p:spPr/>
        <p:txBody>
          <a:bodyPr/>
          <a:lstStyle/>
          <a:p>
            <a:endParaRPr kumimoji="1" lang="ja-JP" altLang="en-US"/>
          </a:p>
        </p:txBody>
      </p:sp>
      <p:sp>
        <p:nvSpPr>
          <p:cNvPr id="5" name="スライド番号プレースホルダ 4"/>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 1"/>
          <p:cNvSpPr>
            <a:spLocks noGrp="1"/>
          </p:cNvSpPr>
          <p:nvPr>
            <p:ph type="dt" sz="half" idx="10"/>
          </p:nvPr>
        </p:nvSpPr>
        <p:spPr/>
        <p:txBody>
          <a:bodyPr/>
          <a:lstStyle/>
          <a:p>
            <a:fld id="{E90ED720-0104-4369-84BC-D37694168613}" type="datetimeFigureOut">
              <a:rPr kumimoji="1" lang="ja-JP" altLang="en-US" smtClean="0"/>
              <a:pPr/>
              <a:t>2009/11/24</a:t>
            </a:fld>
            <a:endParaRPr kumimoji="1" lang="ja-JP" altLang="en-US"/>
          </a:p>
        </p:txBody>
      </p:sp>
      <p:sp>
        <p:nvSpPr>
          <p:cNvPr id="3" name="フッター プレースホルダ 2"/>
          <p:cNvSpPr>
            <a:spLocks noGrp="1"/>
          </p:cNvSpPr>
          <p:nvPr>
            <p:ph type="ftr" sz="quarter" idx="11"/>
          </p:nvPr>
        </p:nvSpPr>
        <p:spPr/>
        <p:txBody>
          <a:bodyPr/>
          <a:lstStyle/>
          <a:p>
            <a:endParaRPr kumimoji="1" lang="ja-JP" altLang="en-US"/>
          </a:p>
        </p:txBody>
      </p:sp>
      <p:sp>
        <p:nvSpPr>
          <p:cNvPr id="4" name="スライド番号プレースホルダ 3"/>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3050"/>
            <a:ext cx="3008313" cy="1162050"/>
          </a:xfrm>
        </p:spPr>
        <p:txBody>
          <a:bodyPr anchor="b"/>
          <a:lstStyle>
            <a:lvl1pPr algn="l">
              <a:defRPr sz="2000" b="1"/>
            </a:lvl1pPr>
          </a:lstStyle>
          <a:p>
            <a:r>
              <a:rPr kumimoji="1" lang="ja-JP" altLang="en-US" smtClean="0"/>
              <a:t>マスタ タイトルの書式設定</a:t>
            </a:r>
            <a:endParaRPr kumimoji="1" lang="ja-JP" altLang="en-US"/>
          </a:p>
        </p:txBody>
      </p:sp>
      <p:sp>
        <p:nvSpPr>
          <p:cNvPr id="3" name="コンテンツ プレースホル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テキスト プレースホル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2009/11/24</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792288" y="4800600"/>
            <a:ext cx="5486400" cy="566738"/>
          </a:xfrm>
        </p:spPr>
        <p:txBody>
          <a:bodyPr anchor="b"/>
          <a:lstStyle>
            <a:lvl1pPr algn="l">
              <a:defRPr sz="2000" b="1"/>
            </a:lvl1pPr>
          </a:lstStyle>
          <a:p>
            <a:r>
              <a:rPr kumimoji="1" lang="ja-JP" altLang="en-US" smtClean="0"/>
              <a:t>マスタ タイトルの書式設定</a:t>
            </a:r>
            <a:endParaRPr kumimoji="1" lang="ja-JP" altLang="en-US"/>
          </a:p>
        </p:txBody>
      </p:sp>
      <p:sp>
        <p:nvSpPr>
          <p:cNvPr id="3" name="図プレースホル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2009/11/24</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縦書きテキスト プレースホルダ 2"/>
          <p:cNvSpPr>
            <a:spLocks noGrp="1"/>
          </p:cNvSpPr>
          <p:nvPr>
            <p:ph type="body" orient="vert" idx="1"/>
          </p:nvPr>
        </p:nvSpPr>
        <p:spPr/>
        <p:txBody>
          <a:bodyPr vert="eaVert"/>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2009/11/24</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629400" y="274638"/>
            <a:ext cx="2057400" cy="5851525"/>
          </a:xfrm>
        </p:spPr>
        <p:txBody>
          <a:bodyPr vert="eaVert"/>
          <a:lstStyle/>
          <a:p>
            <a:r>
              <a:rPr kumimoji="1" lang="ja-JP" altLang="en-US" smtClean="0"/>
              <a:t>マスタ タイトルの書式設定</a:t>
            </a:r>
            <a:endParaRPr kumimoji="1" lang="ja-JP" altLang="en-US"/>
          </a:p>
        </p:txBody>
      </p:sp>
      <p:sp>
        <p:nvSpPr>
          <p:cNvPr id="3" name="縦書きテキスト プレースホルダ 2"/>
          <p:cNvSpPr>
            <a:spLocks noGrp="1"/>
          </p:cNvSpPr>
          <p:nvPr>
            <p:ph type="body" orient="vert" idx="1"/>
          </p:nvPr>
        </p:nvSpPr>
        <p:spPr>
          <a:xfrm>
            <a:off x="457200" y="274638"/>
            <a:ext cx="6019800" cy="5851525"/>
          </a:xfrm>
        </p:spPr>
        <p:txBody>
          <a:bodyPr vert="eaVert"/>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2009/11/24</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0ED720-0104-4369-84BC-D37694168613}" type="datetimeFigureOut">
              <a:rPr kumimoji="1" lang="ja-JP" altLang="en-US" smtClean="0"/>
              <a:pPr/>
              <a:t>2009/11/24</a:t>
            </a:fld>
            <a:endParaRPr kumimoji="1" lang="ja-JP" altLang="en-US"/>
          </a:p>
        </p:txBody>
      </p:sp>
      <p:sp>
        <p:nvSpPr>
          <p:cNvPr id="5" name="フッター プレースホル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2D8002D-B5B0-4BAC-B1F6-782DDCCE6D9C}" type="slidenum">
              <a:rPr kumimoji="1" lang="ja-JP" altLang="en-US" smtClean="0"/>
              <a:pPr/>
              <a:t>&lt;#&gt;</a:t>
            </a:fld>
            <a:endParaRPr kumimoji="1" lang="ja-JP"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kumimoji="1"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kumimoji="1"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p:txBody>
          <a:bodyPr>
            <a:normAutofit/>
          </a:bodyPr>
          <a:lstStyle/>
          <a:p>
            <a:r>
              <a:rPr kumimoji="1" lang="ja-JP" altLang="en-US" dirty="0" smtClean="0"/>
              <a:t>システムプログラミング</a:t>
            </a:r>
            <a:r>
              <a:rPr kumimoji="1" lang="en-US" altLang="ja-JP" dirty="0" smtClean="0"/>
              <a:t/>
            </a:r>
            <a:br>
              <a:rPr kumimoji="1" lang="en-US" altLang="ja-JP" dirty="0" smtClean="0"/>
            </a:br>
            <a:r>
              <a:rPr lang="ja-JP" altLang="en-US" dirty="0" smtClean="0"/>
              <a:t>第６回、７回、８回</a:t>
            </a:r>
            <a:endParaRPr kumimoji="1" lang="ja-JP" altLang="en-US" dirty="0"/>
          </a:p>
        </p:txBody>
      </p:sp>
      <p:sp>
        <p:nvSpPr>
          <p:cNvPr id="4" name="テキスト ボックス 3"/>
          <p:cNvSpPr txBox="1"/>
          <p:nvPr/>
        </p:nvSpPr>
        <p:spPr>
          <a:xfrm>
            <a:off x="2734842" y="4929198"/>
            <a:ext cx="3623108" cy="523220"/>
          </a:xfrm>
          <a:prstGeom prst="rect">
            <a:avLst/>
          </a:prstGeom>
          <a:noFill/>
        </p:spPr>
        <p:txBody>
          <a:bodyPr wrap="none" rtlCol="0">
            <a:spAutoFit/>
          </a:bodyPr>
          <a:lstStyle/>
          <a:p>
            <a:r>
              <a:rPr kumimoji="1" lang="ja-JP" altLang="en-US" sz="2800" dirty="0" smtClean="0"/>
              <a:t>情報工学科    篠埜　功</a:t>
            </a:r>
            <a:endParaRPr kumimoji="1" lang="ja-JP" altLang="en-US" sz="2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今日からの内容</a:t>
            </a:r>
            <a:endParaRPr kumimoji="1" lang="ja-JP" altLang="en-US" dirty="0"/>
          </a:p>
        </p:txBody>
      </p:sp>
      <p:sp>
        <p:nvSpPr>
          <p:cNvPr id="3" name="コンテンツ プレースホルダ 2"/>
          <p:cNvSpPr>
            <a:spLocks noGrp="1"/>
          </p:cNvSpPr>
          <p:nvPr>
            <p:ph idx="1"/>
          </p:nvPr>
        </p:nvSpPr>
        <p:spPr>
          <a:xfrm>
            <a:off x="457200" y="1600200"/>
            <a:ext cx="8229600" cy="3543312"/>
          </a:xfrm>
        </p:spPr>
        <p:txBody>
          <a:bodyPr>
            <a:normAutofit/>
          </a:bodyPr>
          <a:lstStyle/>
          <a:p>
            <a:r>
              <a:rPr lang="en-US" altLang="ja-JP" dirty="0" smtClean="0"/>
              <a:t>Linux</a:t>
            </a:r>
            <a:r>
              <a:rPr lang="ja-JP" altLang="en-US" dirty="0" smtClean="0"/>
              <a:t>のシステムコールを用いた</a:t>
            </a:r>
            <a:r>
              <a:rPr kumimoji="1" lang="en-US" altLang="ja-JP" dirty="0" smtClean="0"/>
              <a:t>C</a:t>
            </a:r>
            <a:r>
              <a:rPr kumimoji="1" lang="ja-JP" altLang="en-US" dirty="0" smtClean="0"/>
              <a:t>プログラムの作成</a:t>
            </a:r>
            <a:endParaRPr kumimoji="1" lang="en-US" altLang="ja-JP" dirty="0" smtClean="0"/>
          </a:p>
          <a:p>
            <a:r>
              <a:rPr lang="ja-JP" altLang="en-US" dirty="0" smtClean="0"/>
              <a:t>今日の内容</a:t>
            </a:r>
            <a:endParaRPr kumimoji="1" lang="en-US" altLang="ja-JP" dirty="0" smtClean="0"/>
          </a:p>
          <a:p>
            <a:pPr lvl="1"/>
            <a:r>
              <a:rPr lang="en-US" altLang="ja-JP" dirty="0" smtClean="0"/>
              <a:t>C</a:t>
            </a:r>
            <a:r>
              <a:rPr lang="ja-JP" altLang="en-US" dirty="0" smtClean="0"/>
              <a:t>プログラムの</a:t>
            </a:r>
            <a:r>
              <a:rPr lang="en-US" altLang="ja-JP" dirty="0" smtClean="0"/>
              <a:t>main</a:t>
            </a:r>
            <a:r>
              <a:rPr lang="ja-JP" altLang="en-US" dirty="0" smtClean="0"/>
              <a:t>関数の引数について</a:t>
            </a:r>
            <a:endParaRPr lang="en-US" altLang="ja-JP" dirty="0" smtClean="0"/>
          </a:p>
          <a:p>
            <a:pPr lvl="1"/>
            <a:r>
              <a:rPr lang="en-US" altLang="ja-JP" dirty="0" smtClean="0"/>
              <a:t>Usage </a:t>
            </a:r>
            <a:r>
              <a:rPr lang="ja-JP" altLang="en-US" dirty="0" smtClean="0"/>
              <a:t>メッセージについて</a:t>
            </a:r>
            <a:endParaRPr lang="en-US" altLang="ja-JP" dirty="0" smtClean="0"/>
          </a:p>
          <a:p>
            <a:pPr lvl="1"/>
            <a:r>
              <a:rPr lang="ja-JP" altLang="en-US" dirty="0" smtClean="0"/>
              <a:t>システムコールのエラーメッセージについて</a:t>
            </a:r>
            <a:endParaRPr kumimoji="1" lang="en-US" altLang="ja-JP" dirty="0" smtClean="0"/>
          </a:p>
          <a:p>
            <a:endParaRPr kumimoji="1" lang="ja-JP"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28596" y="285728"/>
            <a:ext cx="8229600" cy="714380"/>
          </a:xfrm>
        </p:spPr>
        <p:txBody>
          <a:bodyPr>
            <a:normAutofit fontScale="90000"/>
          </a:bodyPr>
          <a:lstStyle/>
          <a:p>
            <a:r>
              <a:rPr kumimoji="1" lang="en-US" altLang="ja-JP" dirty="0" smtClean="0"/>
              <a:t>C</a:t>
            </a:r>
            <a:r>
              <a:rPr kumimoji="1" lang="ja-JP" altLang="en-US" dirty="0" smtClean="0"/>
              <a:t>の</a:t>
            </a:r>
            <a:r>
              <a:rPr kumimoji="1" lang="en-US" altLang="ja-JP" dirty="0" smtClean="0"/>
              <a:t>main</a:t>
            </a:r>
            <a:r>
              <a:rPr lang="ja-JP" altLang="en-US" dirty="0" smtClean="0"/>
              <a:t>関数の引数について</a:t>
            </a:r>
            <a:endParaRPr kumimoji="1" lang="ja-JP" altLang="en-US" dirty="0"/>
          </a:p>
        </p:txBody>
      </p:sp>
      <p:sp>
        <p:nvSpPr>
          <p:cNvPr id="4" name="テキスト ボックス 3"/>
          <p:cNvSpPr txBox="1"/>
          <p:nvPr/>
        </p:nvSpPr>
        <p:spPr>
          <a:xfrm>
            <a:off x="1785918" y="1177713"/>
            <a:ext cx="5256567" cy="3108543"/>
          </a:xfrm>
          <a:prstGeom prst="rect">
            <a:avLst/>
          </a:prstGeom>
          <a:noFill/>
          <a:ln>
            <a:solidFill>
              <a:schemeClr val="tx1"/>
            </a:solidFill>
          </a:ln>
        </p:spPr>
        <p:txBody>
          <a:bodyPr wrap="none" rtlCol="0">
            <a:spAutoFit/>
          </a:bodyPr>
          <a:lstStyle/>
          <a:p>
            <a:r>
              <a:rPr lang="en-US" altLang="ja-JP" sz="2800" dirty="0" smtClean="0"/>
              <a:t>/* </a:t>
            </a:r>
            <a:r>
              <a:rPr lang="ja-JP" altLang="en-US" sz="2800" dirty="0" smtClean="0"/>
              <a:t>コマンド名および引数を表示 </a:t>
            </a:r>
            <a:r>
              <a:rPr lang="en-US" altLang="ja-JP" sz="2800" dirty="0" smtClean="0"/>
              <a:t>*/</a:t>
            </a:r>
          </a:p>
          <a:p>
            <a:r>
              <a:rPr lang="en-US" altLang="ja-JP" sz="2800" dirty="0" smtClean="0"/>
              <a:t>#include&lt;</a:t>
            </a:r>
            <a:r>
              <a:rPr lang="en-US" altLang="ja-JP" sz="2800" dirty="0" err="1" smtClean="0"/>
              <a:t>stdio.h</a:t>
            </a:r>
            <a:r>
              <a:rPr lang="en-US" altLang="ja-JP" sz="2800" dirty="0" smtClean="0"/>
              <a:t>&gt;</a:t>
            </a:r>
          </a:p>
          <a:p>
            <a:r>
              <a:rPr lang="en-US" altLang="ja-JP" sz="2800" dirty="0" err="1" smtClean="0"/>
              <a:t>int</a:t>
            </a:r>
            <a:r>
              <a:rPr lang="en-US" altLang="ja-JP" sz="2800" dirty="0" smtClean="0"/>
              <a:t> main (</a:t>
            </a:r>
            <a:r>
              <a:rPr lang="en-US" altLang="ja-JP" sz="2800" dirty="0" err="1" smtClean="0"/>
              <a:t>int</a:t>
            </a:r>
            <a:r>
              <a:rPr lang="en-US" altLang="ja-JP" sz="2800" dirty="0" smtClean="0"/>
              <a:t> </a:t>
            </a:r>
            <a:r>
              <a:rPr lang="en-US" altLang="ja-JP" sz="2800" dirty="0" err="1" smtClean="0"/>
              <a:t>argc</a:t>
            </a:r>
            <a:r>
              <a:rPr lang="en-US" altLang="ja-JP" sz="2800" dirty="0" smtClean="0"/>
              <a:t>, char *</a:t>
            </a:r>
            <a:r>
              <a:rPr lang="en-US" altLang="ja-JP" sz="2800" dirty="0" err="1" smtClean="0"/>
              <a:t>argv</a:t>
            </a:r>
            <a:r>
              <a:rPr lang="en-US" altLang="ja-JP" sz="2800" dirty="0" smtClean="0"/>
              <a:t>[ ]) {</a:t>
            </a:r>
          </a:p>
          <a:p>
            <a:r>
              <a:rPr lang="en-US" altLang="ja-JP" sz="2800" dirty="0" smtClean="0"/>
              <a:t>  for ( ; *</a:t>
            </a:r>
            <a:r>
              <a:rPr lang="en-US" altLang="ja-JP" sz="2800" dirty="0" err="1" smtClean="0"/>
              <a:t>argv</a:t>
            </a:r>
            <a:r>
              <a:rPr lang="en-US" altLang="ja-JP" sz="2800" dirty="0" smtClean="0"/>
              <a:t>; </a:t>
            </a:r>
            <a:r>
              <a:rPr lang="en-US" altLang="ja-JP" sz="2800" dirty="0" err="1" smtClean="0"/>
              <a:t>argv</a:t>
            </a:r>
            <a:r>
              <a:rPr lang="en-US" altLang="ja-JP" sz="2800" dirty="0" smtClean="0"/>
              <a:t>++)</a:t>
            </a:r>
          </a:p>
          <a:p>
            <a:r>
              <a:rPr lang="en-US" altLang="ja-JP" sz="2800" dirty="0" smtClean="0"/>
              <a:t>    </a:t>
            </a:r>
            <a:r>
              <a:rPr lang="en-US" altLang="ja-JP" sz="2800" dirty="0" err="1" smtClean="0"/>
              <a:t>printf</a:t>
            </a:r>
            <a:r>
              <a:rPr lang="en-US" altLang="ja-JP" sz="2800" dirty="0" smtClean="0"/>
              <a:t> ("%s\n", *</a:t>
            </a:r>
            <a:r>
              <a:rPr lang="en-US" altLang="ja-JP" sz="2800" dirty="0" err="1" smtClean="0"/>
              <a:t>argv</a:t>
            </a:r>
            <a:r>
              <a:rPr lang="en-US" altLang="ja-JP" sz="2800" dirty="0" smtClean="0"/>
              <a:t>);</a:t>
            </a:r>
          </a:p>
          <a:p>
            <a:r>
              <a:rPr lang="en-US" altLang="ja-JP" sz="2800" dirty="0" smtClean="0"/>
              <a:t>  return 0;</a:t>
            </a:r>
          </a:p>
          <a:p>
            <a:r>
              <a:rPr lang="en-US" altLang="ja-JP" sz="2800" dirty="0" smtClean="0"/>
              <a:t>}</a:t>
            </a:r>
          </a:p>
        </p:txBody>
      </p:sp>
      <p:sp>
        <p:nvSpPr>
          <p:cNvPr id="5" name="正方形/長方形 4"/>
          <p:cNvSpPr/>
          <p:nvPr/>
        </p:nvSpPr>
        <p:spPr>
          <a:xfrm>
            <a:off x="2285984" y="4406824"/>
            <a:ext cx="6000792" cy="2308324"/>
          </a:xfrm>
          <a:prstGeom prst="rect">
            <a:avLst/>
          </a:prstGeom>
        </p:spPr>
        <p:txBody>
          <a:bodyPr wrap="square">
            <a:spAutoFit/>
          </a:bodyPr>
          <a:lstStyle/>
          <a:p>
            <a:r>
              <a:rPr lang="en-US" altLang="ja-JP" sz="2400" dirty="0" smtClean="0"/>
              <a:t>$ </a:t>
            </a:r>
            <a:r>
              <a:rPr lang="en-US" altLang="ja-JP" sz="2400" dirty="0" err="1" smtClean="0"/>
              <a:t>gcc</a:t>
            </a:r>
            <a:r>
              <a:rPr lang="en-US" altLang="ja-JP" sz="2400" dirty="0" smtClean="0"/>
              <a:t> 1.c</a:t>
            </a:r>
          </a:p>
          <a:p>
            <a:r>
              <a:rPr lang="en-US" altLang="ja-JP" sz="2400" dirty="0" smtClean="0"/>
              <a:t>$ ./</a:t>
            </a:r>
            <a:r>
              <a:rPr lang="en-US" altLang="ja-JP" sz="2400" dirty="0" err="1" smtClean="0"/>
              <a:t>a.out</a:t>
            </a:r>
            <a:r>
              <a:rPr lang="en-US" altLang="ja-JP" sz="2400" dirty="0" smtClean="0"/>
              <a:t> </a:t>
            </a:r>
            <a:r>
              <a:rPr lang="ja-JP" altLang="en-US" sz="2400" dirty="0" smtClean="0"/>
              <a:t> </a:t>
            </a:r>
            <a:r>
              <a:rPr lang="en-US" altLang="ja-JP" sz="2400" dirty="0" err="1" smtClean="0"/>
              <a:t>abc</a:t>
            </a:r>
            <a:r>
              <a:rPr lang="en-US" altLang="ja-JP" sz="2400" dirty="0" smtClean="0"/>
              <a:t>  234</a:t>
            </a:r>
          </a:p>
          <a:p>
            <a:r>
              <a:rPr lang="en-US" altLang="ja-JP" sz="2400" dirty="0" smtClean="0"/>
              <a:t>./</a:t>
            </a:r>
            <a:r>
              <a:rPr lang="en-US" altLang="ja-JP" sz="2400" dirty="0" err="1" smtClean="0"/>
              <a:t>a.out</a:t>
            </a:r>
            <a:endParaRPr lang="en-US" altLang="ja-JP" sz="2400" dirty="0" smtClean="0"/>
          </a:p>
          <a:p>
            <a:r>
              <a:rPr lang="en-US" altLang="ja-JP" sz="2400" dirty="0" err="1" smtClean="0"/>
              <a:t>abc</a:t>
            </a:r>
            <a:endParaRPr lang="en-US" altLang="ja-JP" sz="2400" dirty="0" smtClean="0"/>
          </a:p>
          <a:p>
            <a:r>
              <a:rPr lang="en-US" altLang="ja-JP" sz="2400" dirty="0" smtClean="0"/>
              <a:t>234</a:t>
            </a:r>
          </a:p>
          <a:p>
            <a:r>
              <a:rPr lang="en-US" altLang="ja-JP" sz="2400" dirty="0" smtClean="0"/>
              <a:t>$</a:t>
            </a:r>
            <a:endParaRPr lang="en-US" altLang="ja-JP" sz="2400" dirty="0"/>
          </a:p>
        </p:txBody>
      </p:sp>
      <p:sp>
        <p:nvSpPr>
          <p:cNvPr id="7" name="正方形/長方形 6"/>
          <p:cNvSpPr/>
          <p:nvPr/>
        </p:nvSpPr>
        <p:spPr>
          <a:xfrm>
            <a:off x="928662" y="4445225"/>
            <a:ext cx="1415772" cy="461665"/>
          </a:xfrm>
          <a:prstGeom prst="rect">
            <a:avLst/>
          </a:prstGeom>
        </p:spPr>
        <p:txBody>
          <a:bodyPr wrap="none">
            <a:spAutoFit/>
          </a:bodyPr>
          <a:lstStyle/>
          <a:p>
            <a:r>
              <a:rPr lang="ja-JP" altLang="en-US" sz="2400" dirty="0" smtClean="0"/>
              <a:t>（実行例）</a:t>
            </a:r>
            <a:endParaRPr lang="en-US" altLang="ja-JP" sz="2400" dirty="0" smtClean="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03200"/>
            <a:ext cx="8229600" cy="939784"/>
          </a:xfrm>
        </p:spPr>
        <p:txBody>
          <a:bodyPr/>
          <a:lstStyle/>
          <a:p>
            <a:r>
              <a:rPr lang="en-US" altLang="ja-JP" dirty="0" smtClean="0"/>
              <a:t>m</a:t>
            </a:r>
            <a:r>
              <a:rPr kumimoji="1" lang="en-US" altLang="ja-JP" dirty="0" smtClean="0"/>
              <a:t>ain</a:t>
            </a:r>
            <a:r>
              <a:rPr kumimoji="1" lang="ja-JP" altLang="en-US" dirty="0" smtClean="0"/>
              <a:t>関数の第３引数</a:t>
            </a:r>
            <a:endParaRPr kumimoji="1" lang="ja-JP" altLang="en-US" dirty="0"/>
          </a:p>
        </p:txBody>
      </p:sp>
      <p:sp>
        <p:nvSpPr>
          <p:cNvPr id="4" name="テキスト ボックス 3"/>
          <p:cNvSpPr txBox="1"/>
          <p:nvPr/>
        </p:nvSpPr>
        <p:spPr>
          <a:xfrm>
            <a:off x="714348" y="1157101"/>
            <a:ext cx="7973666" cy="1200329"/>
          </a:xfrm>
          <a:prstGeom prst="rect">
            <a:avLst/>
          </a:prstGeom>
          <a:noFill/>
        </p:spPr>
        <p:txBody>
          <a:bodyPr wrap="square" rtlCol="0">
            <a:spAutoFit/>
          </a:bodyPr>
          <a:lstStyle/>
          <a:p>
            <a:r>
              <a:rPr kumimoji="1" lang="en-US" altLang="ja-JP" sz="2400" dirty="0" smtClean="0"/>
              <a:t> main</a:t>
            </a:r>
            <a:r>
              <a:rPr lang="ja-JP" altLang="en-US" sz="2400" dirty="0" smtClean="0"/>
              <a:t>関数は第３引数に環境変数の情報の配列が渡される場合がある。（</a:t>
            </a:r>
            <a:r>
              <a:rPr lang="en-US" altLang="ja-JP" sz="2400" dirty="0" smtClean="0"/>
              <a:t>ISO</a:t>
            </a:r>
            <a:r>
              <a:rPr lang="ja-JP" altLang="en-US" sz="2400" dirty="0" smtClean="0"/>
              <a:t>規格で定められているわけではなく、処理系依存。）</a:t>
            </a:r>
            <a:endParaRPr lang="en-US" altLang="ja-JP" sz="2400" dirty="0" smtClean="0"/>
          </a:p>
        </p:txBody>
      </p:sp>
      <p:sp>
        <p:nvSpPr>
          <p:cNvPr id="5" name="正方形/長方形 4"/>
          <p:cNvSpPr/>
          <p:nvPr/>
        </p:nvSpPr>
        <p:spPr>
          <a:xfrm>
            <a:off x="1285852" y="2428868"/>
            <a:ext cx="7000924" cy="2677656"/>
          </a:xfrm>
          <a:prstGeom prst="rect">
            <a:avLst/>
          </a:prstGeom>
          <a:ln>
            <a:solidFill>
              <a:schemeClr val="tx1"/>
            </a:solidFill>
          </a:ln>
        </p:spPr>
        <p:txBody>
          <a:bodyPr wrap="square">
            <a:spAutoFit/>
          </a:bodyPr>
          <a:lstStyle/>
          <a:p>
            <a:r>
              <a:rPr lang="en-US" altLang="ja-JP" sz="2800" dirty="0" smtClean="0"/>
              <a:t>#include&lt;</a:t>
            </a:r>
            <a:r>
              <a:rPr lang="en-US" altLang="ja-JP" sz="2800" dirty="0" err="1" smtClean="0"/>
              <a:t>stdio.h</a:t>
            </a:r>
            <a:r>
              <a:rPr lang="en-US" altLang="ja-JP" sz="2800" dirty="0" smtClean="0"/>
              <a:t>&gt;</a:t>
            </a:r>
          </a:p>
          <a:p>
            <a:r>
              <a:rPr lang="en-US" altLang="ja-JP" sz="2800" dirty="0" err="1" smtClean="0"/>
              <a:t>int</a:t>
            </a:r>
            <a:r>
              <a:rPr lang="en-US" altLang="ja-JP" sz="2800" dirty="0" smtClean="0"/>
              <a:t> main (</a:t>
            </a:r>
            <a:r>
              <a:rPr lang="en-US" altLang="ja-JP" sz="2800" dirty="0" err="1" smtClean="0"/>
              <a:t>int</a:t>
            </a:r>
            <a:r>
              <a:rPr lang="en-US" altLang="ja-JP" sz="2800" dirty="0" smtClean="0"/>
              <a:t> </a:t>
            </a:r>
            <a:r>
              <a:rPr lang="en-US" altLang="ja-JP" sz="2800" dirty="0" err="1" smtClean="0"/>
              <a:t>argc</a:t>
            </a:r>
            <a:r>
              <a:rPr lang="en-US" altLang="ja-JP" sz="2800" dirty="0" smtClean="0"/>
              <a:t>, char *</a:t>
            </a:r>
            <a:r>
              <a:rPr lang="en-US" altLang="ja-JP" sz="2800" dirty="0" err="1" smtClean="0"/>
              <a:t>argv</a:t>
            </a:r>
            <a:r>
              <a:rPr lang="en-US" altLang="ja-JP" sz="2800" dirty="0" smtClean="0"/>
              <a:t>[ ], char *</a:t>
            </a:r>
            <a:r>
              <a:rPr lang="en-US" altLang="ja-JP" sz="2800" dirty="0" err="1" smtClean="0"/>
              <a:t>envp</a:t>
            </a:r>
            <a:r>
              <a:rPr lang="en-US" altLang="ja-JP" sz="2800" dirty="0" smtClean="0"/>
              <a:t>[ ]) {</a:t>
            </a:r>
          </a:p>
          <a:p>
            <a:r>
              <a:rPr lang="en-US" altLang="ja-JP" sz="2800" dirty="0" smtClean="0"/>
              <a:t>  for (</a:t>
            </a:r>
            <a:r>
              <a:rPr lang="ja-JP" altLang="en-US" sz="2800" dirty="0" smtClean="0"/>
              <a:t> </a:t>
            </a:r>
            <a:r>
              <a:rPr lang="en-US" altLang="ja-JP" sz="2800" dirty="0" smtClean="0"/>
              <a:t>; *</a:t>
            </a:r>
            <a:r>
              <a:rPr lang="en-US" altLang="ja-JP" sz="2800" dirty="0" err="1" smtClean="0"/>
              <a:t>envp</a:t>
            </a:r>
            <a:r>
              <a:rPr lang="en-US" altLang="ja-JP" sz="2800" dirty="0" smtClean="0"/>
              <a:t>;  </a:t>
            </a:r>
            <a:r>
              <a:rPr lang="en-US" altLang="ja-JP" sz="2800" dirty="0" err="1" smtClean="0"/>
              <a:t>envp</a:t>
            </a:r>
            <a:r>
              <a:rPr lang="en-US" altLang="ja-JP" sz="2800" dirty="0" smtClean="0"/>
              <a:t>++)</a:t>
            </a:r>
          </a:p>
          <a:p>
            <a:r>
              <a:rPr lang="en-US" altLang="ja-JP" sz="2800" dirty="0" smtClean="0"/>
              <a:t>    </a:t>
            </a:r>
            <a:r>
              <a:rPr lang="en-US" altLang="ja-JP" sz="2800" dirty="0" err="1" smtClean="0"/>
              <a:t>printf</a:t>
            </a:r>
            <a:r>
              <a:rPr lang="en-US" altLang="ja-JP" sz="2800" dirty="0" smtClean="0"/>
              <a:t> ("%s\n", *</a:t>
            </a:r>
            <a:r>
              <a:rPr lang="en-US" altLang="ja-JP" sz="2800" dirty="0" err="1" smtClean="0"/>
              <a:t>envp</a:t>
            </a:r>
            <a:r>
              <a:rPr lang="en-US" altLang="ja-JP" sz="2800" dirty="0" smtClean="0"/>
              <a:t>);</a:t>
            </a:r>
          </a:p>
          <a:p>
            <a:r>
              <a:rPr lang="en-US" altLang="ja-JP" sz="2800" dirty="0" smtClean="0"/>
              <a:t>  return 0;</a:t>
            </a:r>
          </a:p>
          <a:p>
            <a:r>
              <a:rPr lang="en-US" altLang="ja-JP" sz="2800" dirty="0" smtClean="0"/>
              <a:t>}</a:t>
            </a:r>
          </a:p>
        </p:txBody>
      </p:sp>
      <p:sp>
        <p:nvSpPr>
          <p:cNvPr id="6" name="正方形/長方形 5"/>
          <p:cNvSpPr/>
          <p:nvPr/>
        </p:nvSpPr>
        <p:spPr>
          <a:xfrm>
            <a:off x="785786" y="5429264"/>
            <a:ext cx="7643866" cy="1200329"/>
          </a:xfrm>
          <a:prstGeom prst="rect">
            <a:avLst/>
          </a:prstGeom>
        </p:spPr>
        <p:txBody>
          <a:bodyPr wrap="square">
            <a:spAutoFit/>
          </a:bodyPr>
          <a:lstStyle/>
          <a:p>
            <a:r>
              <a:rPr lang="ja-JP" altLang="en-US" sz="2400" dirty="0" smtClean="0"/>
              <a:t>芝浦工大の環境では第３引数を受け取れる。第３引数はなくてもよい。環境変数はライブラリ関数</a:t>
            </a:r>
            <a:r>
              <a:rPr lang="en-US" altLang="ja-JP" sz="2400" dirty="0" err="1" smtClean="0"/>
              <a:t>getenv</a:t>
            </a:r>
            <a:r>
              <a:rPr lang="en-US" altLang="ja-JP" sz="2400" dirty="0" smtClean="0"/>
              <a:t>()</a:t>
            </a:r>
            <a:r>
              <a:rPr lang="ja-JP" altLang="en-US" sz="2400" dirty="0" smtClean="0"/>
              <a:t>で取得できるのでそれを使えばよい。</a:t>
            </a:r>
            <a:endParaRPr lang="ja-JP" altLang="en-US"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スタートアップ</a:t>
            </a:r>
            <a:r>
              <a:rPr lang="ja-JP" altLang="en-US" dirty="0" smtClean="0"/>
              <a:t>ルーチン</a:t>
            </a:r>
            <a:endParaRPr kumimoji="1" lang="ja-JP" altLang="en-US" dirty="0"/>
          </a:p>
        </p:txBody>
      </p:sp>
      <p:sp>
        <p:nvSpPr>
          <p:cNvPr id="4" name="テキスト ボックス 3"/>
          <p:cNvSpPr txBox="1"/>
          <p:nvPr/>
        </p:nvSpPr>
        <p:spPr>
          <a:xfrm>
            <a:off x="714348" y="1571612"/>
            <a:ext cx="7500990" cy="3785652"/>
          </a:xfrm>
          <a:prstGeom prst="rect">
            <a:avLst/>
          </a:prstGeom>
          <a:noFill/>
        </p:spPr>
        <p:txBody>
          <a:bodyPr wrap="square" rtlCol="0">
            <a:spAutoFit/>
          </a:bodyPr>
          <a:lstStyle/>
          <a:p>
            <a:r>
              <a:rPr kumimoji="1" lang="ja-JP" altLang="en-US" sz="2400" dirty="0" smtClean="0"/>
              <a:t>すべての</a:t>
            </a:r>
            <a:r>
              <a:rPr kumimoji="1" lang="en-US" altLang="ja-JP" sz="2400" dirty="0" smtClean="0"/>
              <a:t>C</a:t>
            </a:r>
            <a:r>
              <a:rPr kumimoji="1" lang="ja-JP" altLang="en-US" sz="2400" dirty="0" smtClean="0"/>
              <a:t>言語プログラムは、</a:t>
            </a:r>
            <a:r>
              <a:rPr lang="ja-JP" altLang="en-US" sz="2400" dirty="0" smtClean="0"/>
              <a:t>実行形式ファイルにするときに、</a:t>
            </a:r>
            <a:r>
              <a:rPr kumimoji="1" lang="ja-JP" altLang="en-US" sz="2400" dirty="0" smtClean="0"/>
              <a:t>スタートアップルーチンとリンクされる。</a:t>
            </a:r>
            <a:endParaRPr kumimoji="1" lang="en-US" altLang="ja-JP" sz="2400" dirty="0" smtClean="0"/>
          </a:p>
          <a:p>
            <a:r>
              <a:rPr kumimoji="1" lang="ja-JP" altLang="en-US" sz="2400" dirty="0" smtClean="0"/>
              <a:t>スタートアップルーチンは、</a:t>
            </a:r>
            <a:r>
              <a:rPr kumimoji="1" lang="en-US" altLang="ja-JP" sz="2400" dirty="0" smtClean="0"/>
              <a:t>/</a:t>
            </a:r>
            <a:r>
              <a:rPr kumimoji="1" lang="en-US" altLang="ja-JP" sz="2400" dirty="0" err="1" smtClean="0"/>
              <a:t>usr</a:t>
            </a:r>
            <a:r>
              <a:rPr kumimoji="1" lang="en-US" altLang="ja-JP" sz="2400" dirty="0" smtClean="0"/>
              <a:t>/lib/crt1.o</a:t>
            </a:r>
            <a:r>
              <a:rPr kumimoji="1" lang="ja-JP" altLang="en-US" sz="2400" dirty="0" smtClean="0"/>
              <a:t>にある。</a:t>
            </a:r>
            <a:endParaRPr kumimoji="1" lang="en-US" altLang="ja-JP" sz="2400" dirty="0" smtClean="0"/>
          </a:p>
          <a:p>
            <a:r>
              <a:rPr lang="en-US" altLang="ja-JP" sz="2400" dirty="0" smtClean="0"/>
              <a:t>     $ nm /</a:t>
            </a:r>
            <a:r>
              <a:rPr lang="en-US" altLang="ja-JP" sz="2400" dirty="0" err="1" smtClean="0"/>
              <a:t>usr</a:t>
            </a:r>
            <a:r>
              <a:rPr lang="en-US" altLang="ja-JP" sz="2400" dirty="0" smtClean="0"/>
              <a:t>/lib/crt1.o</a:t>
            </a:r>
          </a:p>
          <a:p>
            <a:r>
              <a:rPr kumimoji="1" lang="ja-JP" altLang="en-US" sz="2400" dirty="0" smtClean="0"/>
              <a:t>で確認。</a:t>
            </a:r>
            <a:r>
              <a:rPr lang="ja-JP" altLang="en-US" sz="2400" dirty="0" smtClean="0"/>
              <a:t>この出力結果に</a:t>
            </a:r>
            <a:endParaRPr kumimoji="1" lang="en-US" altLang="ja-JP" sz="2400" dirty="0" smtClean="0"/>
          </a:p>
          <a:p>
            <a:r>
              <a:rPr lang="en-US" altLang="ja-JP" sz="2400" dirty="0" smtClean="0"/>
              <a:t>     U main</a:t>
            </a:r>
          </a:p>
          <a:p>
            <a:r>
              <a:rPr kumimoji="1" lang="ja-JP" altLang="en-US" sz="2400" dirty="0" smtClean="0"/>
              <a:t>という行が含まれており</a:t>
            </a:r>
            <a:r>
              <a:rPr lang="ja-JP" altLang="en-US" sz="2400" dirty="0" smtClean="0"/>
              <a:t>、スタートアップルーチンが</a:t>
            </a:r>
            <a:r>
              <a:rPr lang="en-US" altLang="ja-JP" sz="2400" dirty="0" smtClean="0"/>
              <a:t>main</a:t>
            </a:r>
            <a:r>
              <a:rPr lang="ja-JP" altLang="en-US" sz="2400" dirty="0" smtClean="0"/>
              <a:t>関数を呼び出していることがここに反映されている。</a:t>
            </a:r>
            <a:endParaRPr lang="en-US" altLang="ja-JP" sz="2400" dirty="0" smtClean="0"/>
          </a:p>
          <a:p>
            <a:r>
              <a:rPr kumimoji="1" lang="ja-JP" altLang="en-US" sz="2400" dirty="0" smtClean="0"/>
              <a:t>スタートアップルーチン部分で引数の個数、引数の文字列配列、環境変数配列を</a:t>
            </a:r>
            <a:r>
              <a:rPr kumimoji="1" lang="en-US" altLang="ja-JP" sz="2400" dirty="0" smtClean="0"/>
              <a:t>main</a:t>
            </a:r>
            <a:r>
              <a:rPr lang="ja-JP" altLang="en-US" sz="2400" dirty="0" smtClean="0"/>
              <a:t>関数に渡す。</a:t>
            </a:r>
            <a:endParaRPr kumimoji="1" lang="ja-JP" altLang="en-US"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コマンドのオプションについ</a:t>
            </a:r>
            <a:r>
              <a:rPr lang="ja-JP" altLang="en-US" dirty="0" smtClean="0"/>
              <a:t>て</a:t>
            </a:r>
            <a:endParaRPr kumimoji="1" lang="ja-JP" altLang="en-US" dirty="0"/>
          </a:p>
        </p:txBody>
      </p:sp>
      <p:sp>
        <p:nvSpPr>
          <p:cNvPr id="3" name="コンテンツ プレースホルダ 2"/>
          <p:cNvSpPr>
            <a:spLocks noGrp="1"/>
          </p:cNvSpPr>
          <p:nvPr>
            <p:ph idx="1"/>
          </p:nvPr>
        </p:nvSpPr>
        <p:spPr>
          <a:xfrm>
            <a:off x="457200" y="1671639"/>
            <a:ext cx="8229600" cy="4186253"/>
          </a:xfrm>
        </p:spPr>
        <p:txBody>
          <a:bodyPr>
            <a:normAutofit fontScale="92500" lnSpcReduction="20000"/>
          </a:bodyPr>
          <a:lstStyle/>
          <a:p>
            <a:r>
              <a:rPr kumimoji="1" lang="ja-JP" altLang="en-US" dirty="0" smtClean="0"/>
              <a:t>オプションはハイフンのあとに１文字</a:t>
            </a:r>
            <a:r>
              <a:rPr kumimoji="1" lang="en-US" altLang="ja-JP" dirty="0" smtClean="0"/>
              <a:t>(-o</a:t>
            </a:r>
            <a:r>
              <a:rPr kumimoji="1" lang="ja-JP" altLang="en-US" dirty="0" smtClean="0"/>
              <a:t>など</a:t>
            </a:r>
            <a:r>
              <a:rPr kumimoji="1" lang="en-US" altLang="ja-JP" dirty="0" smtClean="0"/>
              <a:t>)</a:t>
            </a:r>
          </a:p>
          <a:p>
            <a:r>
              <a:rPr lang="ja-JP" altLang="en-US" dirty="0" smtClean="0"/>
              <a:t>オプションのあとにオプションの引数があることもある</a:t>
            </a:r>
            <a:endParaRPr lang="en-US" altLang="ja-JP" dirty="0" smtClean="0"/>
          </a:p>
          <a:p>
            <a:pPr lvl="1"/>
            <a:r>
              <a:rPr lang="ja-JP" altLang="en-US" dirty="0" smtClean="0"/>
              <a:t>（例） </a:t>
            </a:r>
            <a:r>
              <a:rPr lang="en-US" altLang="ja-JP" dirty="0" err="1" smtClean="0"/>
              <a:t>gcc</a:t>
            </a:r>
            <a:r>
              <a:rPr lang="en-US" altLang="ja-JP" dirty="0" smtClean="0"/>
              <a:t> –o main </a:t>
            </a:r>
            <a:r>
              <a:rPr lang="en-US" altLang="ja-JP" dirty="0" err="1" smtClean="0"/>
              <a:t>main.c</a:t>
            </a:r>
            <a:r>
              <a:rPr lang="en-US" altLang="ja-JP" dirty="0" smtClean="0"/>
              <a:t> </a:t>
            </a:r>
            <a:r>
              <a:rPr lang="ja-JP" altLang="en-US" dirty="0" smtClean="0"/>
              <a:t>など。</a:t>
            </a:r>
            <a:endParaRPr lang="en-US" altLang="ja-JP" dirty="0" smtClean="0"/>
          </a:p>
          <a:p>
            <a:r>
              <a:rPr lang="ja-JP" altLang="en-US" dirty="0" smtClean="0"/>
              <a:t>いくつかのオプションをまとめて記述することもある</a:t>
            </a:r>
            <a:endParaRPr lang="en-US" altLang="ja-JP" dirty="0" smtClean="0"/>
          </a:p>
          <a:p>
            <a:pPr lvl="1"/>
            <a:r>
              <a:rPr lang="ja-JP" altLang="en-US" dirty="0" smtClean="0"/>
              <a:t>例 </a:t>
            </a:r>
            <a:r>
              <a:rPr lang="en-US" altLang="ja-JP" dirty="0" err="1" smtClean="0"/>
              <a:t>ls</a:t>
            </a:r>
            <a:r>
              <a:rPr lang="en-US" altLang="ja-JP" dirty="0" smtClean="0"/>
              <a:t> –la </a:t>
            </a:r>
            <a:r>
              <a:rPr lang="ja-JP" altLang="en-US" dirty="0" smtClean="0"/>
              <a:t>は、</a:t>
            </a:r>
            <a:r>
              <a:rPr lang="en-US" altLang="ja-JP" dirty="0" err="1" smtClean="0"/>
              <a:t>ls</a:t>
            </a:r>
            <a:r>
              <a:rPr lang="en-US" altLang="ja-JP" dirty="0" smtClean="0"/>
              <a:t> –l  –a </a:t>
            </a:r>
            <a:r>
              <a:rPr lang="ja-JP" altLang="en-US" dirty="0" smtClean="0"/>
              <a:t>をまとめて書いたものである。</a:t>
            </a:r>
            <a:endParaRPr lang="en-US" altLang="ja-JP" dirty="0" smtClean="0"/>
          </a:p>
          <a:p>
            <a:r>
              <a:rPr lang="en-US" altLang="ja-JP" dirty="0" smtClean="0"/>
              <a:t>--help</a:t>
            </a:r>
            <a:r>
              <a:rPr lang="ja-JP" altLang="en-US" dirty="0" smtClean="0"/>
              <a:t>のように、ハイフンが２つの場合もある。（これは</a:t>
            </a:r>
            <a:r>
              <a:rPr lang="en-US" altLang="ja-JP" dirty="0" smtClean="0"/>
              <a:t>-h  –e  –l  –p</a:t>
            </a:r>
            <a:r>
              <a:rPr lang="ja-JP" altLang="en-US" dirty="0" smtClean="0"/>
              <a:t>を</a:t>
            </a:r>
            <a:r>
              <a:rPr lang="en-US" altLang="ja-JP" dirty="0" smtClean="0"/>
              <a:t>-help</a:t>
            </a:r>
            <a:r>
              <a:rPr lang="ja-JP" altLang="en-US" dirty="0" smtClean="0"/>
              <a:t>と書いた場合との区別のため）</a:t>
            </a:r>
            <a:endParaRPr kumimoji="1" lang="ja-JP" alt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smtClean="0"/>
              <a:t>Usage </a:t>
            </a:r>
            <a:r>
              <a:rPr kumimoji="1" lang="ja-JP" altLang="en-US" dirty="0" smtClean="0"/>
              <a:t>メッセージ</a:t>
            </a:r>
            <a:endParaRPr kumimoji="1" lang="ja-JP" altLang="en-US" dirty="0"/>
          </a:p>
        </p:txBody>
      </p:sp>
      <p:sp>
        <p:nvSpPr>
          <p:cNvPr id="3" name="コンテンツ プレースホルダ 2"/>
          <p:cNvSpPr>
            <a:spLocks noGrp="1"/>
          </p:cNvSpPr>
          <p:nvPr>
            <p:ph idx="1"/>
          </p:nvPr>
        </p:nvSpPr>
        <p:spPr>
          <a:xfrm>
            <a:off x="457200" y="1600201"/>
            <a:ext cx="8229600" cy="3686188"/>
          </a:xfrm>
        </p:spPr>
        <p:txBody>
          <a:bodyPr/>
          <a:lstStyle/>
          <a:p>
            <a:pPr marL="514350" indent="-514350">
              <a:buAutoNum type="arabicParenBoth"/>
            </a:pPr>
            <a:r>
              <a:rPr lang="ja-JP" altLang="en-US" dirty="0" smtClean="0"/>
              <a:t>オプションが正しく与えられなかった場合</a:t>
            </a:r>
            <a:endParaRPr lang="en-US" altLang="ja-JP" dirty="0" smtClean="0"/>
          </a:p>
          <a:p>
            <a:pPr>
              <a:buNone/>
            </a:pPr>
            <a:r>
              <a:rPr lang="en-US" altLang="ja-JP" dirty="0" smtClean="0"/>
              <a:t>(2) </a:t>
            </a:r>
            <a:r>
              <a:rPr lang="ja-JP" altLang="en-US" dirty="0" smtClean="0"/>
              <a:t>コマンドの引数に過不足があった場合</a:t>
            </a:r>
            <a:endParaRPr lang="en-US" altLang="ja-JP" dirty="0" smtClean="0"/>
          </a:p>
          <a:p>
            <a:pPr>
              <a:buNone/>
            </a:pPr>
            <a:r>
              <a:rPr lang="ja-JP" altLang="en-US" dirty="0" smtClean="0"/>
              <a:t>このような場合にメッセージを出すのが普通。これを</a:t>
            </a:r>
            <a:r>
              <a:rPr lang="en-US" altLang="ja-JP" dirty="0" smtClean="0"/>
              <a:t>Usage</a:t>
            </a:r>
            <a:r>
              <a:rPr lang="ja-JP" altLang="en-US" dirty="0" smtClean="0"/>
              <a:t>メッセージという。</a:t>
            </a:r>
            <a:endParaRPr lang="en-US" altLang="ja-JP" dirty="0" smtClean="0"/>
          </a:p>
          <a:p>
            <a:pPr>
              <a:buNone/>
            </a:pPr>
            <a:r>
              <a:rPr kumimoji="1" lang="ja-JP" altLang="en-US" dirty="0" smtClean="0"/>
              <a:t>例えば</a:t>
            </a:r>
            <a:r>
              <a:rPr lang="ja-JP" altLang="en-US" dirty="0" smtClean="0"/>
              <a:t>、</a:t>
            </a:r>
            <a:r>
              <a:rPr lang="en-US" altLang="ja-JP" dirty="0" smtClean="0"/>
              <a:t> $ cp </a:t>
            </a:r>
            <a:r>
              <a:rPr lang="ja-JP" altLang="en-US" dirty="0" err="1" smtClean="0"/>
              <a:t>のように</a:t>
            </a:r>
            <a:r>
              <a:rPr lang="en-US" altLang="ja-JP" dirty="0" smtClean="0"/>
              <a:t>cp</a:t>
            </a:r>
            <a:r>
              <a:rPr lang="ja-JP" altLang="en-US" dirty="0" smtClean="0"/>
              <a:t>コマンドを引数無しで実行すると、</a:t>
            </a:r>
            <a:r>
              <a:rPr lang="en-US" altLang="ja-JP" dirty="0" smtClean="0"/>
              <a:t>Usage</a:t>
            </a:r>
            <a:r>
              <a:rPr lang="ja-JP" altLang="en-US" dirty="0" smtClean="0"/>
              <a:t>メッセージが表示される。</a:t>
            </a:r>
            <a:endParaRPr lang="en-US" altLang="ja-JP" dirty="0" smtClean="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725470"/>
          </a:xfrm>
        </p:spPr>
        <p:txBody>
          <a:bodyPr>
            <a:normAutofit fontScale="90000"/>
          </a:bodyPr>
          <a:lstStyle/>
          <a:p>
            <a:r>
              <a:rPr lang="ja-JP" altLang="en-US" dirty="0" smtClean="0"/>
              <a:t>例（打ち込んで確認）</a:t>
            </a:r>
            <a:endParaRPr kumimoji="1" lang="ja-JP" altLang="en-US" dirty="0"/>
          </a:p>
        </p:txBody>
      </p:sp>
      <p:sp>
        <p:nvSpPr>
          <p:cNvPr id="5" name="正方形/長方形 4"/>
          <p:cNvSpPr/>
          <p:nvPr/>
        </p:nvSpPr>
        <p:spPr>
          <a:xfrm>
            <a:off x="857224" y="1500174"/>
            <a:ext cx="7572428" cy="2677656"/>
          </a:xfrm>
          <a:prstGeom prst="rect">
            <a:avLst/>
          </a:prstGeom>
          <a:ln>
            <a:solidFill>
              <a:schemeClr val="tx1"/>
            </a:solidFill>
          </a:ln>
        </p:spPr>
        <p:txBody>
          <a:bodyPr wrap="square">
            <a:spAutoFit/>
          </a:bodyPr>
          <a:lstStyle/>
          <a:p>
            <a:r>
              <a:rPr lang="en-US" altLang="ja-JP" sz="2400" dirty="0" smtClean="0"/>
              <a:t>/* Usage</a:t>
            </a:r>
            <a:r>
              <a:rPr lang="ja-JP" altLang="en-US" sz="2400" dirty="0" smtClean="0"/>
              <a:t>メッセージを表示するだけのプログラム *</a:t>
            </a:r>
            <a:r>
              <a:rPr lang="en-US" altLang="ja-JP" sz="2400" dirty="0" smtClean="0"/>
              <a:t>/</a:t>
            </a:r>
          </a:p>
          <a:p>
            <a:r>
              <a:rPr lang="en-US" altLang="ja-JP" sz="2400" dirty="0" smtClean="0"/>
              <a:t>#include&lt;</a:t>
            </a:r>
            <a:r>
              <a:rPr lang="en-US" altLang="ja-JP" sz="2400" dirty="0" err="1" smtClean="0"/>
              <a:t>stdio.h</a:t>
            </a:r>
            <a:r>
              <a:rPr lang="en-US" altLang="ja-JP" sz="2400" dirty="0" smtClean="0"/>
              <a:t>&gt;</a:t>
            </a:r>
          </a:p>
          <a:p>
            <a:r>
              <a:rPr lang="en-US" altLang="ja-JP" sz="2400" dirty="0" err="1" smtClean="0"/>
              <a:t>int</a:t>
            </a:r>
            <a:r>
              <a:rPr lang="en-US" altLang="ja-JP" sz="2400" dirty="0" smtClean="0"/>
              <a:t> main (</a:t>
            </a:r>
            <a:r>
              <a:rPr lang="en-US" altLang="ja-JP" sz="2400" dirty="0" err="1" smtClean="0"/>
              <a:t>int</a:t>
            </a:r>
            <a:r>
              <a:rPr lang="en-US" altLang="ja-JP" sz="2400" dirty="0" smtClean="0"/>
              <a:t> </a:t>
            </a:r>
            <a:r>
              <a:rPr lang="en-US" altLang="ja-JP" sz="2400" dirty="0" err="1" smtClean="0"/>
              <a:t>argc</a:t>
            </a:r>
            <a:r>
              <a:rPr lang="en-US" altLang="ja-JP" sz="2400" dirty="0" smtClean="0"/>
              <a:t>, char * </a:t>
            </a:r>
            <a:r>
              <a:rPr lang="en-US" altLang="ja-JP" sz="2400" dirty="0" err="1" smtClean="0"/>
              <a:t>argv</a:t>
            </a:r>
            <a:r>
              <a:rPr lang="en-US" altLang="ja-JP" sz="2400" dirty="0" smtClean="0"/>
              <a:t>[]) {</a:t>
            </a:r>
          </a:p>
          <a:p>
            <a:r>
              <a:rPr lang="en-US" altLang="ja-JP" sz="2400" dirty="0" smtClean="0"/>
              <a:t>  if (</a:t>
            </a:r>
            <a:r>
              <a:rPr lang="en-US" altLang="ja-JP" sz="2400" dirty="0" err="1" smtClean="0"/>
              <a:t>argc</a:t>
            </a:r>
            <a:r>
              <a:rPr lang="en-US" altLang="ja-JP" sz="2400" dirty="0" smtClean="0"/>
              <a:t>!=2)</a:t>
            </a:r>
          </a:p>
          <a:p>
            <a:r>
              <a:rPr lang="en-US" altLang="ja-JP" sz="2400" dirty="0" smtClean="0"/>
              <a:t>    </a:t>
            </a:r>
            <a:r>
              <a:rPr lang="en-US" altLang="ja-JP" sz="2400" dirty="0" err="1" smtClean="0"/>
              <a:t>fprintf</a:t>
            </a:r>
            <a:r>
              <a:rPr lang="en-US" altLang="ja-JP" sz="2400" dirty="0" smtClean="0"/>
              <a:t> (</a:t>
            </a:r>
            <a:r>
              <a:rPr lang="en-US" altLang="ja-JP" sz="2400" dirty="0" err="1" smtClean="0"/>
              <a:t>stderr</a:t>
            </a:r>
            <a:r>
              <a:rPr lang="en-US" altLang="ja-JP" sz="2400" dirty="0" smtClean="0"/>
              <a:t>, "Usage: %s filename\n", </a:t>
            </a:r>
            <a:r>
              <a:rPr lang="en-US" altLang="ja-JP" sz="2400" dirty="0" err="1" smtClean="0"/>
              <a:t>argv</a:t>
            </a:r>
            <a:r>
              <a:rPr lang="en-US" altLang="ja-JP" sz="2400" dirty="0" smtClean="0"/>
              <a:t>[0]);</a:t>
            </a:r>
          </a:p>
          <a:p>
            <a:r>
              <a:rPr lang="en-US" altLang="ja-JP" sz="2400" dirty="0" smtClean="0"/>
              <a:t>  return 0;</a:t>
            </a:r>
          </a:p>
          <a:p>
            <a:r>
              <a:rPr lang="en-US" altLang="ja-JP" sz="2400" dirty="0" smtClean="0"/>
              <a:t>}</a:t>
            </a:r>
            <a:endParaRPr lang="en-US" altLang="ja-JP" sz="2400" dirty="0"/>
          </a:p>
        </p:txBody>
      </p:sp>
      <p:sp>
        <p:nvSpPr>
          <p:cNvPr id="6" name="テキスト ボックス 5"/>
          <p:cNvSpPr txBox="1"/>
          <p:nvPr/>
        </p:nvSpPr>
        <p:spPr>
          <a:xfrm>
            <a:off x="1142976" y="4500570"/>
            <a:ext cx="3592843" cy="1815882"/>
          </a:xfrm>
          <a:prstGeom prst="rect">
            <a:avLst/>
          </a:prstGeom>
          <a:noFill/>
        </p:spPr>
        <p:txBody>
          <a:bodyPr wrap="none" rtlCol="0">
            <a:spAutoFit/>
          </a:bodyPr>
          <a:lstStyle/>
          <a:p>
            <a:r>
              <a:rPr kumimoji="1" lang="ja-JP" altLang="en-US" sz="2800" dirty="0" smtClean="0"/>
              <a:t>（実行例）</a:t>
            </a:r>
            <a:endParaRPr kumimoji="1" lang="en-US" altLang="ja-JP" sz="2800" dirty="0" smtClean="0"/>
          </a:p>
          <a:p>
            <a:r>
              <a:rPr lang="en-US" altLang="ja-JP" sz="2800" dirty="0" smtClean="0"/>
              <a:t>$  </a:t>
            </a:r>
            <a:r>
              <a:rPr lang="en-US" altLang="ja-JP" sz="2800" dirty="0" err="1" smtClean="0"/>
              <a:t>gcc</a:t>
            </a:r>
            <a:r>
              <a:rPr lang="en-US" altLang="ja-JP" sz="2800" dirty="0" smtClean="0"/>
              <a:t> </a:t>
            </a:r>
            <a:r>
              <a:rPr lang="en-US" altLang="ja-JP" sz="2800" dirty="0" err="1" smtClean="0"/>
              <a:t>usage.c</a:t>
            </a:r>
            <a:endParaRPr lang="en-US" altLang="ja-JP" sz="2800" dirty="0" smtClean="0"/>
          </a:p>
          <a:p>
            <a:r>
              <a:rPr kumimoji="1" lang="en-US" altLang="ja-JP" sz="2800" dirty="0" smtClean="0"/>
              <a:t>$  </a:t>
            </a:r>
            <a:r>
              <a:rPr lang="en-US" altLang="ja-JP" sz="2800" dirty="0" smtClean="0"/>
              <a:t>./</a:t>
            </a:r>
            <a:r>
              <a:rPr lang="en-US" altLang="ja-JP" sz="2800" dirty="0" err="1" smtClean="0"/>
              <a:t>a.out</a:t>
            </a:r>
            <a:endParaRPr lang="en-US" altLang="ja-JP" sz="2800" dirty="0" smtClean="0"/>
          </a:p>
          <a:p>
            <a:r>
              <a:rPr lang="en-US" altLang="ja-JP" sz="2800" dirty="0" smtClean="0"/>
              <a:t>Usage: ./</a:t>
            </a:r>
            <a:r>
              <a:rPr lang="en-US" altLang="ja-JP" sz="2800" dirty="0" err="1" smtClean="0"/>
              <a:t>a.out</a:t>
            </a:r>
            <a:r>
              <a:rPr lang="en-US" altLang="ja-JP" sz="2800" dirty="0" smtClean="0"/>
              <a:t> filename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システムコールについて</a:t>
            </a:r>
            <a:endParaRPr kumimoji="1" lang="ja-JP" altLang="en-US" dirty="0"/>
          </a:p>
        </p:txBody>
      </p:sp>
      <p:sp>
        <p:nvSpPr>
          <p:cNvPr id="3" name="コンテンツ プレースホルダ 2"/>
          <p:cNvSpPr>
            <a:spLocks noGrp="1"/>
          </p:cNvSpPr>
          <p:nvPr>
            <p:ph idx="1"/>
          </p:nvPr>
        </p:nvSpPr>
        <p:spPr>
          <a:xfrm>
            <a:off x="457200" y="1617681"/>
            <a:ext cx="8229600" cy="4525963"/>
          </a:xfrm>
        </p:spPr>
        <p:txBody>
          <a:bodyPr>
            <a:normAutofit fontScale="92500" lnSpcReduction="20000"/>
          </a:bodyPr>
          <a:lstStyle/>
          <a:p>
            <a:r>
              <a:rPr kumimoji="1" lang="ja-JP" altLang="en-US" dirty="0" smtClean="0"/>
              <a:t>システムコールとは、カーネル内のコードを呼び出すための</a:t>
            </a:r>
            <a:r>
              <a:rPr kumimoji="1" lang="en-US" altLang="ja-JP" dirty="0" smtClean="0"/>
              <a:t>C</a:t>
            </a:r>
            <a:r>
              <a:rPr kumimoji="1" lang="ja-JP" altLang="en-US" dirty="0" smtClean="0"/>
              <a:t>関数</a:t>
            </a:r>
            <a:endParaRPr kumimoji="1" lang="en-US" altLang="ja-JP" dirty="0" smtClean="0"/>
          </a:p>
          <a:p>
            <a:r>
              <a:rPr lang="ja-JP" altLang="en-US" dirty="0" smtClean="0"/>
              <a:t>ファイル、ネットワーク、キーボード等、ハードウェアとのやりとりはすべてカーネルが行う。ユーザはシステムコールを通じてカーネルにハードウェア操作を依頼する。</a:t>
            </a:r>
            <a:endParaRPr kumimoji="1" lang="en-US" altLang="ja-JP" dirty="0" smtClean="0"/>
          </a:p>
          <a:p>
            <a:r>
              <a:rPr lang="ja-JP" altLang="en-US" dirty="0" smtClean="0"/>
              <a:t>例えば、ファイルからデータを読み出す場合、</a:t>
            </a:r>
            <a:r>
              <a:rPr lang="en-US" altLang="ja-JP" dirty="0" err="1" smtClean="0"/>
              <a:t>getc</a:t>
            </a:r>
            <a:r>
              <a:rPr lang="en-US" altLang="ja-JP" dirty="0" smtClean="0"/>
              <a:t>, </a:t>
            </a:r>
            <a:r>
              <a:rPr lang="en-US" altLang="ja-JP" dirty="0" err="1" smtClean="0"/>
              <a:t>fgetc</a:t>
            </a:r>
            <a:r>
              <a:rPr lang="ja-JP" altLang="en-US" dirty="0" smtClean="0"/>
              <a:t>などのライブラリ関数を呼ぶが、どんなライブラリ関数を呼んだとしても、最終的には</a:t>
            </a:r>
            <a:r>
              <a:rPr lang="en-US" altLang="ja-JP" dirty="0" smtClean="0"/>
              <a:t>read</a:t>
            </a:r>
            <a:r>
              <a:rPr lang="ja-JP" altLang="en-US" dirty="0" smtClean="0"/>
              <a:t>システムコールが呼ばれ、カーネル内部のコードが実行される。</a:t>
            </a:r>
            <a:endParaRPr lang="en-US" altLang="ja-JP" dirty="0" smtClean="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システムコールの実装</a:t>
            </a:r>
            <a:endParaRPr kumimoji="1" lang="ja-JP" altLang="en-US" dirty="0"/>
          </a:p>
        </p:txBody>
      </p:sp>
      <p:sp>
        <p:nvSpPr>
          <p:cNvPr id="4" name="テキスト ボックス 3"/>
          <p:cNvSpPr txBox="1"/>
          <p:nvPr/>
        </p:nvSpPr>
        <p:spPr>
          <a:xfrm>
            <a:off x="857224" y="1285860"/>
            <a:ext cx="7500990" cy="3970318"/>
          </a:xfrm>
          <a:prstGeom prst="rect">
            <a:avLst/>
          </a:prstGeom>
          <a:noFill/>
        </p:spPr>
        <p:txBody>
          <a:bodyPr wrap="square" rtlCol="0">
            <a:spAutoFit/>
          </a:bodyPr>
          <a:lstStyle/>
          <a:p>
            <a:r>
              <a:rPr kumimoji="1" lang="ja-JP" altLang="en-US" sz="2800" dirty="0" smtClean="0"/>
              <a:t>システムコールは、</a:t>
            </a:r>
            <a:r>
              <a:rPr kumimoji="1" lang="en-US" altLang="ja-JP" sz="2800" dirty="0" smtClean="0"/>
              <a:t>C</a:t>
            </a:r>
            <a:r>
              <a:rPr kumimoji="1" lang="ja-JP" altLang="en-US" sz="2800" dirty="0" smtClean="0"/>
              <a:t>の関数であ</a:t>
            </a:r>
            <a:r>
              <a:rPr lang="ja-JP" altLang="en-US" sz="2800" dirty="0" smtClean="0"/>
              <a:t>り、ライブラリファイル </a:t>
            </a:r>
            <a:r>
              <a:rPr lang="en-US" altLang="ja-JP" sz="2800" dirty="0" smtClean="0"/>
              <a:t>/</a:t>
            </a:r>
            <a:r>
              <a:rPr lang="en-US" altLang="ja-JP" sz="2800" dirty="0" err="1" smtClean="0"/>
              <a:t>usr</a:t>
            </a:r>
            <a:r>
              <a:rPr lang="en-US" altLang="ja-JP" sz="2800" dirty="0" smtClean="0"/>
              <a:t>/lib/</a:t>
            </a:r>
            <a:r>
              <a:rPr lang="en-US" altLang="ja-JP" sz="2800" dirty="0" err="1" smtClean="0"/>
              <a:t>libc.a</a:t>
            </a:r>
            <a:r>
              <a:rPr lang="en-US" altLang="ja-JP" sz="2800" dirty="0" smtClean="0"/>
              <a:t> </a:t>
            </a:r>
            <a:r>
              <a:rPr lang="ja-JP" altLang="en-US" sz="2800" dirty="0" smtClean="0"/>
              <a:t>に入っている。</a:t>
            </a:r>
            <a:endParaRPr lang="en-US" altLang="ja-JP" sz="2800" dirty="0" smtClean="0"/>
          </a:p>
          <a:p>
            <a:r>
              <a:rPr lang="ja-JP" altLang="en-US" sz="2800" dirty="0" smtClean="0"/>
              <a:t>システムコールである</a:t>
            </a:r>
            <a:r>
              <a:rPr lang="en-US" altLang="ja-JP" sz="2800" dirty="0" smtClean="0"/>
              <a:t>C</a:t>
            </a:r>
            <a:r>
              <a:rPr lang="ja-JP" altLang="en-US" sz="2800" dirty="0" smtClean="0"/>
              <a:t>の関数の中で、ハードウェア割り込みを起こす命令（トラップ命令）が実行される。これにより、カーネルの割り込み処理部分に制御が移る。トラップ命令実行時にシステムコールの番号を伝え、それによってそれぞれのシステムコールに対応するカーネルのコードに制御が移ることになる。</a:t>
            </a:r>
            <a:endParaRPr kumimoji="1" lang="ja-JP" altLang="en-US" sz="2800" dirty="0"/>
          </a:p>
        </p:txBody>
      </p:sp>
      <p:sp>
        <p:nvSpPr>
          <p:cNvPr id="5" name="正方形/長方形 4"/>
          <p:cNvSpPr/>
          <p:nvPr/>
        </p:nvSpPr>
        <p:spPr>
          <a:xfrm>
            <a:off x="1000100" y="5500702"/>
            <a:ext cx="7572428" cy="1200329"/>
          </a:xfrm>
          <a:prstGeom prst="rect">
            <a:avLst/>
          </a:prstGeom>
          <a:ln>
            <a:solidFill>
              <a:schemeClr val="tx1"/>
            </a:solidFill>
          </a:ln>
        </p:spPr>
        <p:txBody>
          <a:bodyPr wrap="square">
            <a:spAutoFit/>
          </a:bodyPr>
          <a:lstStyle/>
          <a:p>
            <a:r>
              <a:rPr lang="en-US" altLang="ja-JP" sz="2400" dirty="0" smtClean="0"/>
              <a:t> $ </a:t>
            </a:r>
            <a:r>
              <a:rPr lang="en-US" altLang="ja-JP" sz="2400" dirty="0" err="1" smtClean="0"/>
              <a:t>ar</a:t>
            </a:r>
            <a:r>
              <a:rPr lang="en-US" altLang="ja-JP" sz="2400" dirty="0" smtClean="0"/>
              <a:t> t  /</a:t>
            </a:r>
            <a:r>
              <a:rPr lang="en-US" altLang="ja-JP" sz="2400" dirty="0" err="1" smtClean="0"/>
              <a:t>usr</a:t>
            </a:r>
            <a:r>
              <a:rPr lang="en-US" altLang="ja-JP" sz="2400" dirty="0" smtClean="0"/>
              <a:t>/lib/</a:t>
            </a:r>
            <a:r>
              <a:rPr lang="en-US" altLang="ja-JP" sz="2400" dirty="0" err="1" smtClean="0"/>
              <a:t>libc.a</a:t>
            </a:r>
            <a:r>
              <a:rPr lang="en-US" altLang="ja-JP" sz="2400" dirty="0" smtClean="0"/>
              <a:t> | less</a:t>
            </a:r>
          </a:p>
          <a:p>
            <a:r>
              <a:rPr lang="ja-JP" altLang="en-US" sz="2400" dirty="0" smtClean="0"/>
              <a:t>で</a:t>
            </a:r>
            <a:r>
              <a:rPr lang="en-US" altLang="ja-JP" sz="2400" dirty="0" err="1" smtClean="0"/>
              <a:t>libc.a</a:t>
            </a:r>
            <a:r>
              <a:rPr lang="ja-JP" altLang="en-US" sz="2400" dirty="0" smtClean="0"/>
              <a:t>の中身のオブジェクトファイルリストが表示される。</a:t>
            </a:r>
            <a:r>
              <a:rPr lang="en-US" altLang="ja-JP" sz="2400" dirty="0" err="1" smtClean="0"/>
              <a:t>write.o</a:t>
            </a:r>
            <a:r>
              <a:rPr lang="en-US" altLang="ja-JP" sz="2400" dirty="0" smtClean="0"/>
              <a:t>, </a:t>
            </a:r>
            <a:r>
              <a:rPr lang="en-US" altLang="ja-JP" sz="2400" dirty="0" err="1" smtClean="0"/>
              <a:t>read.o</a:t>
            </a:r>
            <a:r>
              <a:rPr lang="ja-JP" altLang="en-US" sz="2400" dirty="0" smtClean="0"/>
              <a:t>などが入っている。</a:t>
            </a:r>
            <a:endParaRPr lang="ja-JP" altLang="en-US" sz="2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システムコールの番号</a:t>
            </a:r>
            <a:endParaRPr kumimoji="1" lang="ja-JP" altLang="en-US" dirty="0"/>
          </a:p>
        </p:txBody>
      </p:sp>
      <p:sp>
        <p:nvSpPr>
          <p:cNvPr id="4" name="テキスト ボックス 3"/>
          <p:cNvSpPr txBox="1"/>
          <p:nvPr/>
        </p:nvSpPr>
        <p:spPr>
          <a:xfrm>
            <a:off x="1285852" y="1714488"/>
            <a:ext cx="1857388" cy="4893647"/>
          </a:xfrm>
          <a:prstGeom prst="rect">
            <a:avLst/>
          </a:prstGeom>
          <a:noFill/>
        </p:spPr>
        <p:txBody>
          <a:bodyPr wrap="square" rtlCol="0">
            <a:spAutoFit/>
          </a:bodyPr>
          <a:lstStyle/>
          <a:p>
            <a:r>
              <a:rPr kumimoji="1" lang="en-US" altLang="ja-JP" sz="2400" dirty="0" smtClean="0"/>
              <a:t>1</a:t>
            </a:r>
            <a:r>
              <a:rPr lang="ja-JP" altLang="en-US" sz="2400" dirty="0" smtClean="0"/>
              <a:t> </a:t>
            </a:r>
            <a:r>
              <a:rPr kumimoji="1" lang="en-US" altLang="ja-JP" sz="2400" dirty="0" smtClean="0"/>
              <a:t> exit</a:t>
            </a:r>
          </a:p>
          <a:p>
            <a:r>
              <a:rPr lang="en-US" altLang="ja-JP" sz="2400" dirty="0" smtClean="0"/>
              <a:t>2  fork</a:t>
            </a:r>
          </a:p>
          <a:p>
            <a:r>
              <a:rPr kumimoji="1" lang="en-US" altLang="ja-JP" sz="2400" dirty="0" smtClean="0"/>
              <a:t>3  read</a:t>
            </a:r>
          </a:p>
          <a:p>
            <a:r>
              <a:rPr lang="en-US" altLang="ja-JP" sz="2400" dirty="0" smtClean="0"/>
              <a:t>4  write</a:t>
            </a:r>
          </a:p>
          <a:p>
            <a:r>
              <a:rPr kumimoji="1" lang="en-US" altLang="ja-JP" sz="2400" dirty="0" smtClean="0"/>
              <a:t>5  open</a:t>
            </a:r>
          </a:p>
          <a:p>
            <a:r>
              <a:rPr lang="en-US" altLang="ja-JP" sz="2400" dirty="0" smtClean="0"/>
              <a:t>6  close</a:t>
            </a:r>
          </a:p>
          <a:p>
            <a:r>
              <a:rPr kumimoji="1" lang="en-US" altLang="ja-JP" sz="2400" dirty="0" smtClean="0"/>
              <a:t>7  wait</a:t>
            </a:r>
          </a:p>
          <a:p>
            <a:r>
              <a:rPr lang="en-US" altLang="ja-JP" sz="2400" dirty="0" smtClean="0"/>
              <a:t>8  </a:t>
            </a:r>
            <a:r>
              <a:rPr lang="en-US" altLang="ja-JP" sz="2400" dirty="0" err="1" smtClean="0"/>
              <a:t>creat</a:t>
            </a:r>
            <a:endParaRPr lang="en-US" altLang="ja-JP" sz="2400" dirty="0" smtClean="0"/>
          </a:p>
          <a:p>
            <a:r>
              <a:rPr kumimoji="1" lang="en-US" altLang="ja-JP" sz="2400" dirty="0" smtClean="0"/>
              <a:t>9  link</a:t>
            </a:r>
          </a:p>
          <a:p>
            <a:r>
              <a:rPr lang="en-US" altLang="ja-JP" sz="2400" dirty="0" smtClean="0"/>
              <a:t>10  unlink</a:t>
            </a:r>
          </a:p>
          <a:p>
            <a:r>
              <a:rPr kumimoji="1" lang="en-US" altLang="ja-JP" sz="2400" dirty="0" smtClean="0"/>
              <a:t>11  exec</a:t>
            </a:r>
          </a:p>
          <a:p>
            <a:r>
              <a:rPr lang="en-US" altLang="ja-JP" sz="2400" dirty="0" smtClean="0"/>
              <a:t>12  </a:t>
            </a:r>
            <a:r>
              <a:rPr lang="en-US" altLang="ja-JP" sz="2400" dirty="0" err="1" smtClean="0"/>
              <a:t>chdir</a:t>
            </a:r>
            <a:endParaRPr lang="en-US" altLang="ja-JP" sz="2400" dirty="0" smtClean="0"/>
          </a:p>
          <a:p>
            <a:r>
              <a:rPr kumimoji="1" lang="en-US" altLang="ja-JP" sz="2400" dirty="0" smtClean="0"/>
              <a:t>…</a:t>
            </a:r>
            <a:endParaRPr kumimoji="1" lang="ja-JP" altLang="en-US" sz="2400" dirty="0"/>
          </a:p>
        </p:txBody>
      </p:sp>
      <p:sp>
        <p:nvSpPr>
          <p:cNvPr id="5" name="テキスト ボックス 4"/>
          <p:cNvSpPr txBox="1"/>
          <p:nvPr/>
        </p:nvSpPr>
        <p:spPr>
          <a:xfrm>
            <a:off x="3500430" y="1928802"/>
            <a:ext cx="5000660" cy="1569660"/>
          </a:xfrm>
          <a:prstGeom prst="rect">
            <a:avLst/>
          </a:prstGeom>
          <a:noFill/>
        </p:spPr>
        <p:txBody>
          <a:bodyPr wrap="square" rtlCol="0">
            <a:spAutoFit/>
          </a:bodyPr>
          <a:lstStyle/>
          <a:p>
            <a:r>
              <a:rPr kumimoji="1" lang="ja-JP" altLang="en-US" sz="2400" dirty="0" smtClean="0"/>
              <a:t>今後の講義でシステムコールを少しずつ紹介する。各システムコールの</a:t>
            </a:r>
            <a:r>
              <a:rPr kumimoji="1" lang="en-US" altLang="ja-JP" sz="2400" dirty="0" smtClean="0"/>
              <a:t>C</a:t>
            </a:r>
            <a:r>
              <a:rPr kumimoji="1" lang="ja-JP" altLang="en-US" sz="2400" dirty="0" smtClean="0"/>
              <a:t>関数が番号の設定を行うので</a:t>
            </a:r>
            <a:r>
              <a:rPr lang="ja-JP" altLang="en-US" sz="2400" dirty="0" smtClean="0"/>
              <a:t>番号は知らなくてよい。</a:t>
            </a:r>
            <a:endParaRPr kumimoji="1" lang="ja-JP" altLang="en-US" sz="2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システムコールのマニュアル</a:t>
            </a:r>
            <a:endParaRPr kumimoji="1" lang="ja-JP" altLang="en-US" dirty="0"/>
          </a:p>
        </p:txBody>
      </p:sp>
      <p:sp>
        <p:nvSpPr>
          <p:cNvPr id="4" name="テキスト ボックス 3"/>
          <p:cNvSpPr txBox="1"/>
          <p:nvPr/>
        </p:nvSpPr>
        <p:spPr>
          <a:xfrm>
            <a:off x="857224" y="1571612"/>
            <a:ext cx="7858180" cy="4154984"/>
          </a:xfrm>
          <a:prstGeom prst="rect">
            <a:avLst/>
          </a:prstGeom>
          <a:noFill/>
        </p:spPr>
        <p:txBody>
          <a:bodyPr wrap="square" rtlCol="0">
            <a:spAutoFit/>
          </a:bodyPr>
          <a:lstStyle/>
          <a:p>
            <a:r>
              <a:rPr kumimoji="1" lang="ja-JP" altLang="en-US" sz="2400" dirty="0" smtClean="0"/>
              <a:t>システムコールは</a:t>
            </a:r>
            <a:r>
              <a:rPr kumimoji="1" lang="en-US" altLang="ja-JP" sz="2400" dirty="0" smtClean="0"/>
              <a:t>man</a:t>
            </a:r>
            <a:r>
              <a:rPr kumimoji="1" lang="ja-JP" altLang="en-US" sz="2400" dirty="0" smtClean="0"/>
              <a:t>コマンドでマニュアルを表示できる。</a:t>
            </a:r>
            <a:endParaRPr kumimoji="1" lang="en-US" altLang="ja-JP" sz="2400" dirty="0" smtClean="0"/>
          </a:p>
          <a:p>
            <a:r>
              <a:rPr lang="ja-JP" altLang="en-US" sz="2400" dirty="0" smtClean="0"/>
              <a:t>例えば、</a:t>
            </a:r>
            <a:endParaRPr lang="en-US" altLang="ja-JP" sz="2400" dirty="0" smtClean="0"/>
          </a:p>
          <a:p>
            <a:r>
              <a:rPr lang="en-US" altLang="ja-JP" sz="2400" dirty="0" smtClean="0"/>
              <a:t>    $ man  -S  2  write</a:t>
            </a:r>
          </a:p>
          <a:p>
            <a:r>
              <a:rPr kumimoji="1" lang="ja-JP" altLang="en-US" sz="2400" dirty="0" smtClean="0"/>
              <a:t>で</a:t>
            </a:r>
            <a:r>
              <a:rPr kumimoji="1" lang="en-US" altLang="ja-JP" sz="2400" dirty="0" smtClean="0"/>
              <a:t>write</a:t>
            </a:r>
            <a:r>
              <a:rPr kumimoji="1" lang="ja-JP" altLang="en-US" sz="2400" dirty="0" smtClean="0"/>
              <a:t>システムコールのマニュアルが表示される。</a:t>
            </a:r>
            <a:endParaRPr kumimoji="1" lang="en-US" altLang="ja-JP" sz="2400" dirty="0" smtClean="0"/>
          </a:p>
          <a:p>
            <a:r>
              <a:rPr lang="en-US" altLang="ja-JP" sz="2400" dirty="0" smtClean="0"/>
              <a:t>    $ man  write</a:t>
            </a:r>
          </a:p>
          <a:p>
            <a:r>
              <a:rPr kumimoji="1" lang="ja-JP" altLang="en-US" sz="2400" dirty="0" smtClean="0"/>
              <a:t>とすると</a:t>
            </a:r>
            <a:r>
              <a:rPr lang="ja-JP" altLang="en-US" sz="2400" dirty="0" smtClean="0"/>
              <a:t>、</a:t>
            </a:r>
            <a:r>
              <a:rPr lang="en-US" altLang="ja-JP" sz="2400" dirty="0" smtClean="0"/>
              <a:t>write</a:t>
            </a:r>
            <a:r>
              <a:rPr lang="ja-JP" altLang="en-US" sz="2400" dirty="0" smtClean="0"/>
              <a:t>コマンドのマニュアルが表示される。</a:t>
            </a:r>
            <a:endParaRPr lang="en-US" altLang="ja-JP" sz="2400" dirty="0" smtClean="0"/>
          </a:p>
          <a:p>
            <a:r>
              <a:rPr lang="en-US" altLang="ja-JP" sz="2400" dirty="0" smtClean="0"/>
              <a:t>    $ man –a write</a:t>
            </a:r>
          </a:p>
          <a:p>
            <a:r>
              <a:rPr kumimoji="1" lang="ja-JP" altLang="en-US" sz="2400" dirty="0" smtClean="0"/>
              <a:t>とすると、</a:t>
            </a:r>
            <a:r>
              <a:rPr kumimoji="1" lang="en-US" altLang="ja-JP" sz="2400" dirty="0" smtClean="0"/>
              <a:t>write</a:t>
            </a:r>
            <a:r>
              <a:rPr kumimoji="1" lang="ja-JP" altLang="en-US" sz="2400" dirty="0" smtClean="0"/>
              <a:t>の名前のマニュアルがすべて</a:t>
            </a:r>
            <a:r>
              <a:rPr kumimoji="1" lang="en-US" altLang="ja-JP" sz="2400" dirty="0" smtClean="0"/>
              <a:t>(PAGER</a:t>
            </a:r>
            <a:r>
              <a:rPr kumimoji="1" lang="ja-JP" altLang="en-US" sz="2400" dirty="0" smtClean="0"/>
              <a:t>が</a:t>
            </a:r>
            <a:r>
              <a:rPr kumimoji="1" lang="en-US" altLang="ja-JP" sz="2400" dirty="0" smtClean="0"/>
              <a:t>less</a:t>
            </a:r>
            <a:r>
              <a:rPr kumimoji="1" lang="ja-JP" altLang="en-US" sz="2400" dirty="0" smtClean="0"/>
              <a:t>の場合は</a:t>
            </a:r>
            <a:r>
              <a:rPr kumimoji="1" lang="en-US" altLang="ja-JP" sz="2400" dirty="0" smtClean="0"/>
              <a:t>q</a:t>
            </a:r>
            <a:r>
              <a:rPr kumimoji="1" lang="ja-JP" altLang="en-US" sz="2400" dirty="0" smtClean="0"/>
              <a:t>を押すごとに</a:t>
            </a:r>
            <a:r>
              <a:rPr kumimoji="1" lang="en-US" altLang="ja-JP" sz="2400" dirty="0" smtClean="0"/>
              <a:t>)</a:t>
            </a:r>
            <a:r>
              <a:rPr kumimoji="1" lang="ja-JP" altLang="en-US" sz="2400" dirty="0" smtClean="0"/>
              <a:t>順番に表示される。</a:t>
            </a:r>
            <a:endParaRPr kumimoji="1" lang="en-US" altLang="ja-JP" sz="2400" dirty="0" smtClean="0"/>
          </a:p>
          <a:p>
            <a:r>
              <a:rPr lang="en-US" altLang="ja-JP" sz="2400" dirty="0" smtClean="0"/>
              <a:t>man</a:t>
            </a:r>
            <a:r>
              <a:rPr lang="ja-JP" altLang="en-US" sz="2400" dirty="0" smtClean="0"/>
              <a:t>コマンドの</a:t>
            </a:r>
            <a:r>
              <a:rPr lang="en-US" altLang="ja-JP" sz="2400" dirty="0" smtClean="0"/>
              <a:t>-S</a:t>
            </a:r>
            <a:r>
              <a:rPr lang="ja-JP" altLang="en-US" sz="2400" dirty="0" smtClean="0"/>
              <a:t>の引数には分類番号を入れる。</a:t>
            </a:r>
            <a:r>
              <a:rPr lang="en-US" altLang="ja-JP" sz="2400" dirty="0" smtClean="0"/>
              <a:t>1</a:t>
            </a:r>
            <a:r>
              <a:rPr lang="ja-JP" altLang="en-US" sz="2400" dirty="0" smtClean="0"/>
              <a:t>はコマンド、</a:t>
            </a:r>
            <a:r>
              <a:rPr lang="en-US" altLang="ja-JP" sz="2400" dirty="0" smtClean="0"/>
              <a:t>2</a:t>
            </a:r>
            <a:r>
              <a:rPr lang="ja-JP" altLang="en-US" sz="2400" dirty="0" smtClean="0"/>
              <a:t>はシステムコール、</a:t>
            </a:r>
            <a:r>
              <a:rPr lang="en-US" altLang="ja-JP" sz="2400" dirty="0" smtClean="0"/>
              <a:t>3</a:t>
            </a:r>
            <a:r>
              <a:rPr lang="ja-JP" altLang="en-US" sz="2400" dirty="0" smtClean="0"/>
              <a:t>はライブラリ関数となっている。</a:t>
            </a:r>
            <a:endParaRPr kumimoji="1" lang="ja-JP" altLang="en-US" sz="2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kumimoji="1" lang="ja-JP" altLang="en-US" dirty="0" smtClean="0"/>
              <a:t>システムコールのエラーメッセージ</a:t>
            </a:r>
            <a:endParaRPr kumimoji="1" lang="ja-JP" altLang="en-US" dirty="0"/>
          </a:p>
        </p:txBody>
      </p:sp>
      <p:sp>
        <p:nvSpPr>
          <p:cNvPr id="3" name="コンテンツ プレースホルダ 2"/>
          <p:cNvSpPr>
            <a:spLocks noGrp="1"/>
          </p:cNvSpPr>
          <p:nvPr>
            <p:ph idx="1"/>
          </p:nvPr>
        </p:nvSpPr>
        <p:spPr/>
        <p:txBody>
          <a:bodyPr>
            <a:normAutofit fontScale="92500" lnSpcReduction="20000"/>
          </a:bodyPr>
          <a:lstStyle/>
          <a:p>
            <a:r>
              <a:rPr kumimoji="1" lang="ja-JP" altLang="en-US" dirty="0" smtClean="0"/>
              <a:t>システムコールがエラーになった場合、エラー番号が</a:t>
            </a:r>
            <a:r>
              <a:rPr kumimoji="1" lang="en-US" altLang="ja-JP" dirty="0" err="1" smtClean="0"/>
              <a:t>errno</a:t>
            </a:r>
            <a:r>
              <a:rPr kumimoji="1" lang="ja-JP" altLang="en-US" dirty="0" smtClean="0"/>
              <a:t>という外部変数に代入されている。この番号を用いてエラーメッセージを出力するライブラリ関数</a:t>
            </a:r>
            <a:r>
              <a:rPr kumimoji="1" lang="en-US" altLang="ja-JP" dirty="0" err="1" smtClean="0"/>
              <a:t>perror</a:t>
            </a:r>
            <a:r>
              <a:rPr kumimoji="1" lang="ja-JP" altLang="en-US" dirty="0" smtClean="0"/>
              <a:t>があるのでそれを用いる。（</a:t>
            </a:r>
            <a:r>
              <a:rPr kumimoji="1" lang="en-US" altLang="ja-JP" dirty="0" err="1" smtClean="0"/>
              <a:t>errno</a:t>
            </a:r>
            <a:r>
              <a:rPr kumimoji="1" lang="ja-JP" altLang="en-US" dirty="0" smtClean="0"/>
              <a:t>を直接使うプログラムは書かないほうがよい。）</a:t>
            </a:r>
            <a:endParaRPr kumimoji="1" lang="en-US" altLang="ja-JP" dirty="0" smtClean="0"/>
          </a:p>
          <a:p>
            <a:r>
              <a:rPr lang="ja-JP" altLang="en-US" dirty="0" smtClean="0"/>
              <a:t>例えば、</a:t>
            </a:r>
            <a:r>
              <a:rPr lang="en-US" altLang="ja-JP" dirty="0" smtClean="0"/>
              <a:t>$ </a:t>
            </a:r>
            <a:r>
              <a:rPr lang="en-US" altLang="ja-JP" dirty="0" err="1" smtClean="0"/>
              <a:t>ls</a:t>
            </a:r>
            <a:r>
              <a:rPr lang="en-US" altLang="ja-JP" dirty="0" smtClean="0"/>
              <a:t> </a:t>
            </a:r>
            <a:r>
              <a:rPr lang="en-US" altLang="ja-JP" dirty="0" err="1" smtClean="0"/>
              <a:t>aaa</a:t>
            </a:r>
            <a:r>
              <a:rPr lang="en-US" altLang="ja-JP" dirty="0" smtClean="0"/>
              <a:t> </a:t>
            </a:r>
            <a:r>
              <a:rPr lang="ja-JP" altLang="en-US" dirty="0" smtClean="0"/>
              <a:t>のように、</a:t>
            </a:r>
            <a:r>
              <a:rPr lang="en-US" altLang="ja-JP" dirty="0" err="1" smtClean="0"/>
              <a:t>ls</a:t>
            </a:r>
            <a:r>
              <a:rPr lang="ja-JP" altLang="en-US" dirty="0" smtClean="0"/>
              <a:t>コマンドで存在しないファイル名を指定した場合に、そのようなファイルは存在しないといったメッセージが出力される。ここでは</a:t>
            </a:r>
            <a:r>
              <a:rPr lang="en-US" altLang="ja-JP" dirty="0" err="1" smtClean="0"/>
              <a:t>perror</a:t>
            </a:r>
            <a:r>
              <a:rPr lang="ja-JP" altLang="en-US" dirty="0" smtClean="0"/>
              <a:t>関数が用いられている。（そのように</a:t>
            </a:r>
            <a:r>
              <a:rPr lang="en-US" altLang="ja-JP" dirty="0" err="1" smtClean="0"/>
              <a:t>ls</a:t>
            </a:r>
            <a:r>
              <a:rPr lang="ja-JP" altLang="en-US" dirty="0" smtClean="0"/>
              <a:t>コマンドが実装されている。）</a:t>
            </a:r>
            <a:endParaRPr lang="en-US" altLang="ja-JP" dirty="0" smtClean="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ライブラリ関数</a:t>
            </a:r>
            <a:r>
              <a:rPr kumimoji="1" lang="en-US" altLang="ja-JP" dirty="0" err="1" smtClean="0"/>
              <a:t>perror</a:t>
            </a:r>
            <a:endParaRPr kumimoji="1" lang="ja-JP" altLang="en-US" dirty="0"/>
          </a:p>
        </p:txBody>
      </p:sp>
      <p:sp>
        <p:nvSpPr>
          <p:cNvPr id="4" name="テキスト ボックス 3"/>
          <p:cNvSpPr txBox="1"/>
          <p:nvPr/>
        </p:nvSpPr>
        <p:spPr>
          <a:xfrm>
            <a:off x="785786" y="1714488"/>
            <a:ext cx="7072362" cy="2677656"/>
          </a:xfrm>
          <a:prstGeom prst="rect">
            <a:avLst/>
          </a:prstGeom>
          <a:noFill/>
        </p:spPr>
        <p:txBody>
          <a:bodyPr wrap="square" rtlCol="0">
            <a:spAutoFit/>
          </a:bodyPr>
          <a:lstStyle/>
          <a:p>
            <a:r>
              <a:rPr lang="en-US" altLang="ja-JP" sz="2800" dirty="0" smtClean="0"/>
              <a:t>void </a:t>
            </a:r>
            <a:r>
              <a:rPr lang="en-US" altLang="ja-JP" sz="2800" dirty="0" err="1" smtClean="0"/>
              <a:t>perror</a:t>
            </a:r>
            <a:r>
              <a:rPr lang="en-US" altLang="ja-JP" sz="2800" dirty="0" smtClean="0"/>
              <a:t> (char *s)</a:t>
            </a:r>
          </a:p>
          <a:p>
            <a:endParaRPr lang="en-US" altLang="ja-JP" sz="2800" dirty="0" smtClean="0"/>
          </a:p>
          <a:p>
            <a:r>
              <a:rPr lang="ja-JP" altLang="en-US" sz="2800" dirty="0" smtClean="0"/>
              <a:t>ライブラリ関数</a:t>
            </a:r>
            <a:r>
              <a:rPr lang="en-US" altLang="ja-JP" sz="2800" dirty="0" err="1" smtClean="0"/>
              <a:t>perror</a:t>
            </a:r>
            <a:r>
              <a:rPr lang="ja-JP" altLang="en-US" sz="2800" dirty="0" smtClean="0"/>
              <a:t>は文字列（</a:t>
            </a:r>
            <a:r>
              <a:rPr lang="en-US" altLang="ja-JP" sz="2800" dirty="0" smtClean="0"/>
              <a:t>char</a:t>
            </a:r>
            <a:r>
              <a:rPr lang="ja-JP" altLang="en-US" sz="2800" dirty="0" err="1" smtClean="0"/>
              <a:t>への</a:t>
            </a:r>
            <a:r>
              <a:rPr lang="ja-JP" altLang="en-US" sz="2800" dirty="0" smtClean="0"/>
              <a:t>ポインタ）を引数として受け取り、それを出力し、コロンと空白を出力したあとにシステムコールのエラーメッセージを表示する。</a:t>
            </a:r>
            <a:endParaRPr lang="en-US" altLang="ja-JP" sz="2800" dirty="0" smtClean="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285720" y="142876"/>
            <a:ext cx="8572560" cy="857232"/>
          </a:xfrm>
        </p:spPr>
        <p:txBody>
          <a:bodyPr>
            <a:noAutofit/>
          </a:bodyPr>
          <a:lstStyle/>
          <a:p>
            <a:r>
              <a:rPr lang="ja-JP" altLang="en-US" sz="3200" dirty="0" smtClean="0"/>
              <a:t>ファイルの１文字目を表示する例</a:t>
            </a:r>
            <a:r>
              <a:rPr lang="en-US" altLang="ja-JP" sz="3200" dirty="0" smtClean="0"/>
              <a:t/>
            </a:r>
            <a:br>
              <a:rPr lang="en-US" altLang="ja-JP" sz="3200" dirty="0" smtClean="0"/>
            </a:br>
            <a:r>
              <a:rPr lang="ja-JP" altLang="en-US" sz="3200" dirty="0" smtClean="0"/>
              <a:t>（入力して実行、後で詳述）</a:t>
            </a:r>
            <a:endParaRPr kumimoji="1" lang="ja-JP" altLang="en-US" sz="3200" dirty="0"/>
          </a:p>
        </p:txBody>
      </p:sp>
      <p:sp>
        <p:nvSpPr>
          <p:cNvPr id="5" name="テキスト ボックス 4"/>
          <p:cNvSpPr txBox="1"/>
          <p:nvPr/>
        </p:nvSpPr>
        <p:spPr>
          <a:xfrm>
            <a:off x="285720" y="1142984"/>
            <a:ext cx="3929090" cy="5632311"/>
          </a:xfrm>
          <a:prstGeom prst="rect">
            <a:avLst/>
          </a:prstGeom>
          <a:noFill/>
          <a:ln>
            <a:solidFill>
              <a:schemeClr val="tx1"/>
            </a:solidFill>
          </a:ln>
        </p:spPr>
        <p:txBody>
          <a:bodyPr wrap="square" rtlCol="0">
            <a:spAutoFit/>
          </a:bodyPr>
          <a:lstStyle/>
          <a:p>
            <a:r>
              <a:rPr lang="en-US" altLang="ja-JP" sz="2400" dirty="0" smtClean="0"/>
              <a:t>#include &lt;</a:t>
            </a:r>
            <a:r>
              <a:rPr lang="en-US" altLang="ja-JP" sz="2400" dirty="0" err="1" smtClean="0"/>
              <a:t>stdio.h</a:t>
            </a:r>
            <a:r>
              <a:rPr lang="en-US" altLang="ja-JP" sz="2400" dirty="0" smtClean="0"/>
              <a:t>&gt;</a:t>
            </a:r>
          </a:p>
          <a:p>
            <a:r>
              <a:rPr lang="en-US" altLang="ja-JP" sz="2400" dirty="0" smtClean="0"/>
              <a:t>#include &lt;sys/</a:t>
            </a:r>
            <a:r>
              <a:rPr lang="en-US" altLang="ja-JP" sz="2400" dirty="0" err="1" smtClean="0"/>
              <a:t>types.h</a:t>
            </a:r>
            <a:r>
              <a:rPr lang="en-US" altLang="ja-JP" sz="2400" dirty="0" smtClean="0"/>
              <a:t>&gt;</a:t>
            </a:r>
          </a:p>
          <a:p>
            <a:r>
              <a:rPr lang="en-US" altLang="ja-JP" sz="2400" dirty="0" smtClean="0"/>
              <a:t>#include &lt;sys/</a:t>
            </a:r>
            <a:r>
              <a:rPr lang="en-US" altLang="ja-JP" sz="2400" dirty="0" err="1" smtClean="0"/>
              <a:t>stat.h</a:t>
            </a:r>
            <a:r>
              <a:rPr lang="en-US" altLang="ja-JP" sz="2400" dirty="0" smtClean="0"/>
              <a:t>&gt;</a:t>
            </a:r>
          </a:p>
          <a:p>
            <a:r>
              <a:rPr lang="en-US" altLang="ja-JP" sz="2400" dirty="0" smtClean="0"/>
              <a:t>#include &lt;</a:t>
            </a:r>
            <a:r>
              <a:rPr lang="en-US" altLang="ja-JP" sz="2400" dirty="0" err="1" smtClean="0"/>
              <a:t>fcntl.h</a:t>
            </a:r>
            <a:r>
              <a:rPr lang="en-US" altLang="ja-JP" sz="2400" dirty="0" smtClean="0"/>
              <a:t>&gt;</a:t>
            </a:r>
          </a:p>
          <a:p>
            <a:r>
              <a:rPr lang="en-US" altLang="ja-JP" sz="2400" dirty="0" smtClean="0"/>
              <a:t>#include &lt;</a:t>
            </a:r>
            <a:r>
              <a:rPr lang="en-US" altLang="ja-JP" sz="2400" dirty="0" err="1" smtClean="0"/>
              <a:t>unistd.h</a:t>
            </a:r>
            <a:r>
              <a:rPr lang="en-US" altLang="ja-JP" sz="2400" dirty="0" smtClean="0"/>
              <a:t>&gt;</a:t>
            </a:r>
          </a:p>
          <a:p>
            <a:r>
              <a:rPr lang="en-US" altLang="ja-JP" sz="2400" dirty="0" smtClean="0"/>
              <a:t>#define ERR -1</a:t>
            </a:r>
          </a:p>
          <a:p>
            <a:r>
              <a:rPr lang="en-US" altLang="ja-JP" sz="2400" dirty="0" err="1" smtClean="0"/>
              <a:t>int</a:t>
            </a:r>
            <a:r>
              <a:rPr lang="en-US" altLang="ja-JP" sz="2400" dirty="0" smtClean="0"/>
              <a:t> main (void) {</a:t>
            </a:r>
          </a:p>
          <a:p>
            <a:r>
              <a:rPr lang="en-US" altLang="ja-JP" sz="2400" dirty="0" smtClean="0"/>
              <a:t>  </a:t>
            </a:r>
            <a:r>
              <a:rPr lang="en-US" altLang="ja-JP" sz="2400" dirty="0" err="1" smtClean="0"/>
              <a:t>int</a:t>
            </a:r>
            <a:r>
              <a:rPr lang="en-US" altLang="ja-JP" sz="2400" dirty="0" smtClean="0"/>
              <a:t> </a:t>
            </a:r>
            <a:r>
              <a:rPr lang="en-US" altLang="ja-JP" sz="2400" dirty="0" err="1" smtClean="0"/>
              <a:t>fd</a:t>
            </a:r>
            <a:r>
              <a:rPr lang="en-US" altLang="ja-JP" sz="2400" dirty="0" smtClean="0"/>
              <a:t>, n;</a:t>
            </a:r>
          </a:p>
          <a:p>
            <a:r>
              <a:rPr lang="en-US" altLang="ja-JP" sz="2400" dirty="0" smtClean="0"/>
              <a:t>  char c;</a:t>
            </a:r>
          </a:p>
          <a:p>
            <a:r>
              <a:rPr lang="en-US" altLang="ja-JP" sz="2400" dirty="0" smtClean="0"/>
              <a:t>  if ((</a:t>
            </a:r>
            <a:r>
              <a:rPr lang="en-US" altLang="ja-JP" sz="2400" dirty="0" err="1" smtClean="0"/>
              <a:t>fd</a:t>
            </a:r>
            <a:r>
              <a:rPr lang="en-US" altLang="ja-JP" sz="2400" dirty="0" smtClean="0"/>
              <a:t> = </a:t>
            </a:r>
            <a:r>
              <a:rPr lang="en-US" altLang="ja-JP" sz="2400" dirty="0" smtClean="0">
                <a:solidFill>
                  <a:srgbClr val="FF0000"/>
                </a:solidFill>
              </a:rPr>
              <a:t>open</a:t>
            </a:r>
            <a:r>
              <a:rPr lang="en-US" altLang="ja-JP" sz="2400" dirty="0" smtClean="0"/>
              <a:t> ("test", </a:t>
            </a:r>
          </a:p>
          <a:p>
            <a:r>
              <a:rPr lang="en-US" altLang="ja-JP" sz="2400" dirty="0" smtClean="0"/>
              <a:t>                            O_RDONLY))</a:t>
            </a:r>
          </a:p>
          <a:p>
            <a:r>
              <a:rPr lang="en-US" altLang="ja-JP" sz="2400" dirty="0" smtClean="0"/>
              <a:t>       == ERR) {</a:t>
            </a:r>
          </a:p>
          <a:p>
            <a:r>
              <a:rPr lang="en-US" altLang="ja-JP" sz="2400" dirty="0" smtClean="0"/>
              <a:t>    </a:t>
            </a:r>
            <a:r>
              <a:rPr lang="en-US" altLang="ja-JP" sz="2400" dirty="0" err="1" smtClean="0"/>
              <a:t>perror</a:t>
            </a:r>
            <a:r>
              <a:rPr lang="en-US" altLang="ja-JP" sz="2400" dirty="0" smtClean="0"/>
              <a:t> ("open");</a:t>
            </a:r>
          </a:p>
          <a:p>
            <a:r>
              <a:rPr lang="en-US" altLang="ja-JP" sz="2400" dirty="0" smtClean="0"/>
              <a:t>    </a:t>
            </a:r>
            <a:r>
              <a:rPr lang="en-US" altLang="ja-JP" sz="2400" dirty="0" smtClean="0">
                <a:solidFill>
                  <a:srgbClr val="FF0000"/>
                </a:solidFill>
              </a:rPr>
              <a:t>exit</a:t>
            </a:r>
            <a:r>
              <a:rPr lang="en-US" altLang="ja-JP" sz="2400" dirty="0" smtClean="0"/>
              <a:t>(1);</a:t>
            </a:r>
          </a:p>
          <a:p>
            <a:r>
              <a:rPr lang="en-US" altLang="ja-JP" sz="2400" dirty="0" smtClean="0"/>
              <a:t>  }</a:t>
            </a:r>
          </a:p>
        </p:txBody>
      </p:sp>
      <p:sp>
        <p:nvSpPr>
          <p:cNvPr id="7" name="正方形/長方形 6"/>
          <p:cNvSpPr/>
          <p:nvPr/>
        </p:nvSpPr>
        <p:spPr>
          <a:xfrm>
            <a:off x="4500562" y="1237855"/>
            <a:ext cx="4429156" cy="5262979"/>
          </a:xfrm>
          <a:prstGeom prst="rect">
            <a:avLst/>
          </a:prstGeom>
          <a:ln>
            <a:solidFill>
              <a:schemeClr val="tx1"/>
            </a:solidFill>
          </a:ln>
        </p:spPr>
        <p:txBody>
          <a:bodyPr wrap="square">
            <a:spAutoFit/>
          </a:bodyPr>
          <a:lstStyle/>
          <a:p>
            <a:r>
              <a:rPr lang="en-US" altLang="ja-JP" sz="2400" dirty="0" smtClean="0"/>
              <a:t>/* </a:t>
            </a:r>
            <a:r>
              <a:rPr lang="ja-JP" altLang="en-US" sz="2400" dirty="0" smtClean="0"/>
              <a:t>続き </a:t>
            </a:r>
            <a:r>
              <a:rPr lang="en-US" altLang="ja-JP" sz="2400" dirty="0" smtClean="0"/>
              <a:t>*/</a:t>
            </a:r>
          </a:p>
          <a:p>
            <a:r>
              <a:rPr lang="en-US" altLang="ja-JP" sz="2400" dirty="0" smtClean="0"/>
              <a:t>  if ( (n = </a:t>
            </a:r>
            <a:r>
              <a:rPr lang="en-US" altLang="ja-JP" sz="2400" dirty="0" smtClean="0">
                <a:solidFill>
                  <a:srgbClr val="FF0000"/>
                </a:solidFill>
              </a:rPr>
              <a:t>read</a:t>
            </a:r>
            <a:r>
              <a:rPr lang="en-US" altLang="ja-JP" sz="2400" dirty="0" smtClean="0"/>
              <a:t> (</a:t>
            </a:r>
            <a:r>
              <a:rPr lang="en-US" altLang="ja-JP" sz="2400" dirty="0" err="1" smtClean="0"/>
              <a:t>fd</a:t>
            </a:r>
            <a:r>
              <a:rPr lang="en-US" altLang="ja-JP" sz="2400" dirty="0" smtClean="0"/>
              <a:t>, &amp;c, 1) ) &gt; 0 )</a:t>
            </a:r>
          </a:p>
          <a:p>
            <a:r>
              <a:rPr lang="en-US" altLang="ja-JP" sz="2400" dirty="0" smtClean="0"/>
              <a:t>    </a:t>
            </a:r>
            <a:r>
              <a:rPr lang="en-US" altLang="ja-JP" sz="2400" dirty="0" err="1" smtClean="0"/>
              <a:t>printf</a:t>
            </a:r>
            <a:r>
              <a:rPr lang="en-US" altLang="ja-JP" sz="2400" dirty="0" smtClean="0"/>
              <a:t> ("1</a:t>
            </a:r>
            <a:r>
              <a:rPr lang="ja-JP" altLang="en-US" sz="2400" dirty="0" smtClean="0"/>
              <a:t>文字目は</a:t>
            </a:r>
            <a:r>
              <a:rPr lang="en-US" altLang="ja-JP" sz="2400" dirty="0" smtClean="0"/>
              <a:t>%c</a:t>
            </a:r>
            <a:r>
              <a:rPr lang="ja-JP" altLang="en-US" sz="2400" dirty="0" smtClean="0"/>
              <a:t>です。</a:t>
            </a:r>
            <a:r>
              <a:rPr lang="en-US" altLang="ja-JP" sz="2400" dirty="0" smtClean="0"/>
              <a:t>\n",</a:t>
            </a:r>
          </a:p>
          <a:p>
            <a:r>
              <a:rPr lang="en-US" altLang="ja-JP" sz="2400" dirty="0" smtClean="0"/>
              <a:t>        </a:t>
            </a:r>
            <a:r>
              <a:rPr lang="ja-JP" altLang="en-US" sz="2400" dirty="0" smtClean="0"/>
              <a:t>     </a:t>
            </a:r>
            <a:r>
              <a:rPr lang="en-US" altLang="ja-JP" sz="2400" dirty="0" smtClean="0"/>
              <a:t>    c);</a:t>
            </a:r>
          </a:p>
          <a:p>
            <a:r>
              <a:rPr lang="en-US" altLang="ja-JP" sz="2400" dirty="0" smtClean="0"/>
              <a:t>  if (n==ERR) {</a:t>
            </a:r>
          </a:p>
          <a:p>
            <a:r>
              <a:rPr lang="en-US" altLang="ja-JP" sz="2400" dirty="0" smtClean="0"/>
              <a:t>    </a:t>
            </a:r>
            <a:r>
              <a:rPr lang="en-US" altLang="ja-JP" sz="2400" dirty="0" err="1" smtClean="0"/>
              <a:t>perror</a:t>
            </a:r>
            <a:r>
              <a:rPr lang="en-US" altLang="ja-JP" sz="2400" dirty="0" smtClean="0"/>
              <a:t> ("read");</a:t>
            </a:r>
          </a:p>
          <a:p>
            <a:r>
              <a:rPr lang="en-US" altLang="ja-JP" sz="2400" dirty="0" smtClean="0"/>
              <a:t>    </a:t>
            </a:r>
            <a:r>
              <a:rPr lang="en-US" altLang="ja-JP" sz="2400" dirty="0" smtClean="0">
                <a:solidFill>
                  <a:srgbClr val="FF0000"/>
                </a:solidFill>
              </a:rPr>
              <a:t>exit</a:t>
            </a:r>
            <a:r>
              <a:rPr lang="en-US" altLang="ja-JP" sz="2400" dirty="0" smtClean="0"/>
              <a:t>(1);</a:t>
            </a:r>
          </a:p>
          <a:p>
            <a:r>
              <a:rPr lang="en-US" altLang="ja-JP" sz="2400" dirty="0" smtClean="0"/>
              <a:t>  }</a:t>
            </a:r>
          </a:p>
          <a:p>
            <a:r>
              <a:rPr lang="en-US" altLang="ja-JP" sz="2400" dirty="0" smtClean="0"/>
              <a:t>  if (</a:t>
            </a:r>
            <a:r>
              <a:rPr lang="en-US" altLang="ja-JP" sz="2400" dirty="0" smtClean="0">
                <a:solidFill>
                  <a:srgbClr val="FF0000"/>
                </a:solidFill>
              </a:rPr>
              <a:t>close </a:t>
            </a:r>
            <a:r>
              <a:rPr lang="en-US" altLang="ja-JP" sz="2400" dirty="0" smtClean="0"/>
              <a:t>(</a:t>
            </a:r>
            <a:r>
              <a:rPr lang="en-US" altLang="ja-JP" sz="2400" dirty="0" err="1" smtClean="0"/>
              <a:t>fd</a:t>
            </a:r>
            <a:r>
              <a:rPr lang="en-US" altLang="ja-JP" sz="2400" dirty="0" smtClean="0"/>
              <a:t>) == ERR) {</a:t>
            </a:r>
          </a:p>
          <a:p>
            <a:r>
              <a:rPr lang="en-US" altLang="ja-JP" sz="2400" dirty="0" smtClean="0"/>
              <a:t>    </a:t>
            </a:r>
            <a:r>
              <a:rPr lang="en-US" altLang="ja-JP" sz="2400" dirty="0" err="1" smtClean="0"/>
              <a:t>perror</a:t>
            </a:r>
            <a:r>
              <a:rPr lang="en-US" altLang="ja-JP" sz="2400" dirty="0" smtClean="0"/>
              <a:t> ("close");</a:t>
            </a:r>
          </a:p>
          <a:p>
            <a:r>
              <a:rPr lang="en-US" altLang="ja-JP" sz="2400" dirty="0" smtClean="0"/>
              <a:t>    </a:t>
            </a:r>
            <a:r>
              <a:rPr lang="en-US" altLang="ja-JP" sz="2400" dirty="0" smtClean="0">
                <a:solidFill>
                  <a:srgbClr val="FF0000"/>
                </a:solidFill>
              </a:rPr>
              <a:t>exit</a:t>
            </a:r>
            <a:r>
              <a:rPr lang="en-US" altLang="ja-JP" sz="2400" dirty="0" smtClean="0"/>
              <a:t>(1);</a:t>
            </a:r>
          </a:p>
          <a:p>
            <a:r>
              <a:rPr lang="en-US" altLang="ja-JP" sz="2400" dirty="0" smtClean="0"/>
              <a:t>  }</a:t>
            </a:r>
          </a:p>
          <a:p>
            <a:r>
              <a:rPr lang="en-US" altLang="ja-JP" sz="2400" dirty="0" smtClean="0"/>
              <a:t>  return 0;</a:t>
            </a:r>
          </a:p>
          <a:p>
            <a:r>
              <a:rPr lang="en-US" altLang="ja-JP" sz="2400" dirty="0" smtClean="0"/>
              <a:t>}</a:t>
            </a:r>
            <a:endParaRPr lang="ja-JP" altLang="en-US" sz="2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演習課題</a:t>
            </a:r>
            <a:endParaRPr kumimoji="1" lang="ja-JP" altLang="en-US" dirty="0"/>
          </a:p>
        </p:txBody>
      </p:sp>
      <p:sp>
        <p:nvSpPr>
          <p:cNvPr id="5" name="テキスト ボックス 4"/>
          <p:cNvSpPr txBox="1"/>
          <p:nvPr/>
        </p:nvSpPr>
        <p:spPr>
          <a:xfrm>
            <a:off x="642910" y="1571612"/>
            <a:ext cx="8001024" cy="1569660"/>
          </a:xfrm>
          <a:prstGeom prst="rect">
            <a:avLst/>
          </a:prstGeom>
          <a:noFill/>
        </p:spPr>
        <p:txBody>
          <a:bodyPr wrap="square" rtlCol="0">
            <a:spAutoFit/>
          </a:bodyPr>
          <a:lstStyle/>
          <a:p>
            <a:r>
              <a:rPr kumimoji="1" lang="ja-JP" altLang="en-US" sz="2400" dirty="0" smtClean="0"/>
              <a:t>さきほどのプログラムを参考にして、テキストファイルの２文字目まで表示するプログラムを</a:t>
            </a:r>
            <a:r>
              <a:rPr lang="en-US" altLang="ja-JP" sz="2400" dirty="0" smtClean="0"/>
              <a:t>open</a:t>
            </a:r>
            <a:r>
              <a:rPr lang="ja-JP" altLang="en-US" sz="2400" dirty="0" smtClean="0"/>
              <a:t>システムコール</a:t>
            </a:r>
            <a:r>
              <a:rPr lang="en-US" altLang="ja-JP" sz="2400" dirty="0" smtClean="0"/>
              <a:t>, read</a:t>
            </a:r>
            <a:r>
              <a:rPr lang="ja-JP" altLang="en-US" sz="2400" dirty="0" smtClean="0"/>
              <a:t>システムコールを使って作成せよ。</a:t>
            </a:r>
            <a:endParaRPr lang="en-US" altLang="ja-JP" sz="2400" dirty="0" smtClean="0"/>
          </a:p>
          <a:p>
            <a:r>
              <a:rPr lang="ja-JP" altLang="en-US" sz="2400" dirty="0" smtClean="0"/>
              <a:t>（さきほどと同様、</a:t>
            </a:r>
            <a:r>
              <a:rPr kumimoji="1" lang="en-US" altLang="ja-JP" sz="2400" dirty="0" err="1" smtClean="0"/>
              <a:t>printf</a:t>
            </a:r>
            <a:r>
              <a:rPr kumimoji="1" lang="ja-JP" altLang="en-US" sz="2400" dirty="0" smtClean="0"/>
              <a:t>は使うことにする。）</a:t>
            </a:r>
            <a:endParaRPr kumimoji="1" lang="ja-JP" altLang="en-US" sz="2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ファイル、プロセス</a:t>
            </a:r>
            <a:endParaRPr kumimoji="1" lang="ja-JP" altLang="en-US" dirty="0"/>
          </a:p>
        </p:txBody>
      </p:sp>
      <p:sp>
        <p:nvSpPr>
          <p:cNvPr id="3" name="コンテンツ プレースホルダ 2"/>
          <p:cNvSpPr>
            <a:spLocks noGrp="1"/>
          </p:cNvSpPr>
          <p:nvPr>
            <p:ph idx="1"/>
          </p:nvPr>
        </p:nvSpPr>
        <p:spPr/>
        <p:txBody>
          <a:bodyPr/>
          <a:lstStyle/>
          <a:p>
            <a:r>
              <a:rPr lang="en-US" altLang="ja-JP" dirty="0" smtClean="0"/>
              <a:t>OS(Linux)</a:t>
            </a:r>
            <a:r>
              <a:rPr lang="ja-JP" altLang="en-US" dirty="0" smtClean="0"/>
              <a:t>は、ファイルとプロセスを木構造で管理する。</a:t>
            </a:r>
            <a:endParaRPr lang="en-US" altLang="ja-JP" dirty="0" smtClean="0"/>
          </a:p>
          <a:p>
            <a:r>
              <a:rPr kumimoji="1" lang="ja-JP" altLang="en-US" dirty="0" smtClean="0"/>
              <a:t>まず、ファイルの木構造について学習する。</a:t>
            </a:r>
            <a:endParaRPr kumimoji="1" lang="ja-JP" alt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ファイル操作のシステムコール</a:t>
            </a:r>
            <a:endParaRPr kumimoji="1" lang="ja-JP" altLang="en-US" dirty="0"/>
          </a:p>
        </p:txBody>
      </p:sp>
      <p:sp>
        <p:nvSpPr>
          <p:cNvPr id="4" name="テキスト ボックス 3"/>
          <p:cNvSpPr txBox="1"/>
          <p:nvPr/>
        </p:nvSpPr>
        <p:spPr>
          <a:xfrm>
            <a:off x="1285852" y="1500174"/>
            <a:ext cx="6715172" cy="1384995"/>
          </a:xfrm>
          <a:prstGeom prst="rect">
            <a:avLst/>
          </a:prstGeom>
          <a:noFill/>
        </p:spPr>
        <p:txBody>
          <a:bodyPr wrap="square" rtlCol="0">
            <a:spAutoFit/>
          </a:bodyPr>
          <a:lstStyle/>
          <a:p>
            <a:r>
              <a:rPr kumimoji="1" lang="ja-JP" altLang="en-US" sz="2800" dirty="0" smtClean="0"/>
              <a:t>ファイルは</a:t>
            </a:r>
            <a:r>
              <a:rPr lang="en-US" altLang="ja-JP" sz="2800" dirty="0" smtClean="0"/>
              <a:t>OS(Linux)</a:t>
            </a:r>
            <a:r>
              <a:rPr lang="ja-JP" altLang="en-US" sz="2800" dirty="0" smtClean="0"/>
              <a:t>が管理している。</a:t>
            </a:r>
            <a:endParaRPr lang="en-US" altLang="ja-JP" sz="2800" dirty="0" smtClean="0"/>
          </a:p>
          <a:p>
            <a:r>
              <a:rPr kumimoji="1" lang="ja-JP" altLang="en-US" sz="2800" dirty="0" smtClean="0"/>
              <a:t>ファイルの操作等を行うためのシステムコールが</a:t>
            </a:r>
            <a:r>
              <a:rPr lang="ja-JP" altLang="en-US" sz="2800" dirty="0" smtClean="0"/>
              <a:t>提供される。</a:t>
            </a:r>
            <a:endParaRPr kumimoji="1" lang="ja-JP" altLang="en-US" sz="2800" dirty="0"/>
          </a:p>
        </p:txBody>
      </p:sp>
      <p:sp>
        <p:nvSpPr>
          <p:cNvPr id="5" name="テキスト ボックス 4"/>
          <p:cNvSpPr txBox="1"/>
          <p:nvPr/>
        </p:nvSpPr>
        <p:spPr>
          <a:xfrm>
            <a:off x="1142976" y="3071810"/>
            <a:ext cx="7000924" cy="954107"/>
          </a:xfrm>
          <a:prstGeom prst="rect">
            <a:avLst/>
          </a:prstGeom>
          <a:noFill/>
        </p:spPr>
        <p:txBody>
          <a:bodyPr wrap="square" rtlCol="0">
            <a:spAutoFit/>
          </a:bodyPr>
          <a:lstStyle/>
          <a:p>
            <a:r>
              <a:rPr lang="en-US" altLang="ja-JP" sz="2800" dirty="0" smtClean="0"/>
              <a:t> open, </a:t>
            </a:r>
            <a:r>
              <a:rPr lang="en-US" altLang="ja-JP" sz="2800" dirty="0" err="1" smtClean="0"/>
              <a:t>creat</a:t>
            </a:r>
            <a:r>
              <a:rPr lang="en-US" altLang="ja-JP" sz="2800" dirty="0" smtClean="0"/>
              <a:t>, close, read, write, </a:t>
            </a:r>
            <a:r>
              <a:rPr lang="en-US" altLang="ja-JP" sz="2800" dirty="0" err="1" smtClean="0"/>
              <a:t>lseek</a:t>
            </a:r>
            <a:r>
              <a:rPr lang="en-US" altLang="ja-JP" sz="2800" dirty="0" smtClean="0"/>
              <a:t>, dup, dup2</a:t>
            </a:r>
            <a:r>
              <a:rPr lang="ja-JP" altLang="en-US" sz="2800" dirty="0" smtClean="0"/>
              <a:t>等がある。</a:t>
            </a:r>
            <a:endParaRPr kumimoji="1" lang="ja-JP" altLang="en-US" sz="2800" dirty="0"/>
          </a:p>
        </p:txBody>
      </p:sp>
      <p:sp>
        <p:nvSpPr>
          <p:cNvPr id="6" name="テキスト ボックス 5"/>
          <p:cNvSpPr txBox="1"/>
          <p:nvPr/>
        </p:nvSpPr>
        <p:spPr>
          <a:xfrm>
            <a:off x="1214414" y="5000636"/>
            <a:ext cx="6357982" cy="1384995"/>
          </a:xfrm>
          <a:prstGeom prst="rect">
            <a:avLst/>
          </a:prstGeom>
          <a:noFill/>
        </p:spPr>
        <p:txBody>
          <a:bodyPr wrap="square" rtlCol="0">
            <a:spAutoFit/>
          </a:bodyPr>
          <a:lstStyle/>
          <a:p>
            <a:r>
              <a:rPr kumimoji="1" lang="ja-JP" altLang="en-US" sz="2800" dirty="0" smtClean="0"/>
              <a:t>今日は</a:t>
            </a:r>
            <a:r>
              <a:rPr kumimoji="1" lang="en-US" altLang="ja-JP" sz="2800" dirty="0" smtClean="0"/>
              <a:t>open, close, read, write</a:t>
            </a:r>
            <a:r>
              <a:rPr kumimoji="1" lang="ja-JP" altLang="en-US" sz="2800" dirty="0" smtClean="0"/>
              <a:t>の解説を行う。この前に、まず、ファイルの基本</a:t>
            </a:r>
            <a:r>
              <a:rPr lang="ja-JP" altLang="en-US" sz="2800" dirty="0" smtClean="0"/>
              <a:t>事項</a:t>
            </a:r>
            <a:r>
              <a:rPr kumimoji="1" lang="ja-JP" altLang="en-US" sz="2800" dirty="0" smtClean="0"/>
              <a:t>の説明を行う。</a:t>
            </a:r>
            <a:endParaRPr kumimoji="1" lang="ja-JP" altLang="en-US" sz="2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ファイルとは</a:t>
            </a:r>
            <a:endParaRPr kumimoji="1" lang="ja-JP" altLang="en-US" dirty="0"/>
          </a:p>
        </p:txBody>
      </p:sp>
      <p:sp>
        <p:nvSpPr>
          <p:cNvPr id="4" name="テキスト ボックス 3"/>
          <p:cNvSpPr txBox="1"/>
          <p:nvPr/>
        </p:nvSpPr>
        <p:spPr>
          <a:xfrm>
            <a:off x="785786" y="1500174"/>
            <a:ext cx="7715304" cy="4832092"/>
          </a:xfrm>
          <a:prstGeom prst="rect">
            <a:avLst/>
          </a:prstGeom>
          <a:noFill/>
        </p:spPr>
        <p:txBody>
          <a:bodyPr wrap="square" rtlCol="0">
            <a:spAutoFit/>
          </a:bodyPr>
          <a:lstStyle/>
          <a:p>
            <a:r>
              <a:rPr kumimoji="1" lang="en-US" altLang="ja-JP" sz="2800" dirty="0" smtClean="0"/>
              <a:t>UNIX</a:t>
            </a:r>
            <a:r>
              <a:rPr lang="ja-JP" altLang="en-US" sz="2800" dirty="0" smtClean="0"/>
              <a:t>系</a:t>
            </a:r>
            <a:r>
              <a:rPr lang="en-US" altLang="ja-JP" sz="2800" dirty="0" smtClean="0"/>
              <a:t>OS</a:t>
            </a:r>
            <a:r>
              <a:rPr lang="ja-JP" altLang="en-US" sz="2800" dirty="0" smtClean="0"/>
              <a:t>ではファイルは１つの木構造で管理される。ルートディレクトリ以外は、すべてのファイルには親（ディレクトリ）がある。</a:t>
            </a:r>
            <a:endParaRPr lang="en-US" altLang="ja-JP" sz="2800" dirty="0" smtClean="0"/>
          </a:p>
          <a:p>
            <a:endParaRPr kumimoji="1" lang="en-US" altLang="ja-JP" sz="2800" dirty="0" smtClean="0"/>
          </a:p>
          <a:p>
            <a:r>
              <a:rPr lang="ja-JP" altLang="en-US" sz="2800" dirty="0" smtClean="0"/>
              <a:t>ディレクトリもファイルの一種であり、そのディレクトリの子供のファイルの名前を保持しているファイルである。ディレクトリファイルも、（ルートディレクトリ以外は）何らかのディレクトリの子供である。</a:t>
            </a:r>
            <a:endParaRPr lang="en-US" altLang="ja-JP" sz="2800" dirty="0" smtClean="0"/>
          </a:p>
          <a:p>
            <a:endParaRPr kumimoji="1" lang="en-US" altLang="ja-JP" sz="2800" dirty="0" smtClean="0"/>
          </a:p>
          <a:p>
            <a:r>
              <a:rPr lang="ja-JP" altLang="en-US" sz="2800" dirty="0" smtClean="0"/>
              <a:t>すべてのファイルはルートディレクトリから親子関係を辿ることによって到達できる。</a:t>
            </a:r>
            <a:endParaRPr kumimoji="1" lang="ja-JP" altLang="en-US" sz="2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357158" y="214290"/>
            <a:ext cx="8229600" cy="785818"/>
          </a:xfrm>
        </p:spPr>
        <p:txBody>
          <a:bodyPr/>
          <a:lstStyle/>
          <a:p>
            <a:r>
              <a:rPr kumimoji="1" lang="ja-JP" altLang="en-US" dirty="0" smtClean="0"/>
              <a:t>デバイスファイル</a:t>
            </a:r>
            <a:endParaRPr kumimoji="1" lang="ja-JP" altLang="en-US" dirty="0"/>
          </a:p>
        </p:txBody>
      </p:sp>
      <p:sp>
        <p:nvSpPr>
          <p:cNvPr id="4" name="テキスト ボックス 3"/>
          <p:cNvSpPr txBox="1"/>
          <p:nvPr/>
        </p:nvSpPr>
        <p:spPr>
          <a:xfrm>
            <a:off x="642910" y="1142984"/>
            <a:ext cx="8001024" cy="5693866"/>
          </a:xfrm>
          <a:prstGeom prst="rect">
            <a:avLst/>
          </a:prstGeom>
          <a:noFill/>
        </p:spPr>
        <p:txBody>
          <a:bodyPr wrap="square" rtlCol="0">
            <a:spAutoFit/>
          </a:bodyPr>
          <a:lstStyle/>
          <a:p>
            <a:r>
              <a:rPr kumimoji="1" lang="en-US" altLang="ja-JP" sz="2800" dirty="0" smtClean="0"/>
              <a:t>UNIX</a:t>
            </a:r>
            <a:r>
              <a:rPr kumimoji="1" lang="ja-JP" altLang="en-US" sz="2800" dirty="0" smtClean="0"/>
              <a:t>では、端末、ディスク、磁気テープ、プリンタなどの周辺機器やメモリなどの装置のそれぞれに対応するファイルがある。特殊ファイル、あるいはスペシャルファイルとも呼ばれる。これらのファイルは通常</a:t>
            </a:r>
            <a:r>
              <a:rPr kumimoji="1" lang="en-US" altLang="ja-JP" sz="2800" dirty="0" smtClean="0"/>
              <a:t>/dev</a:t>
            </a:r>
            <a:r>
              <a:rPr kumimoji="1" lang="ja-JP" altLang="en-US" sz="2800" dirty="0" smtClean="0"/>
              <a:t>ディレクトリ以下にある。</a:t>
            </a:r>
            <a:endParaRPr kumimoji="1" lang="en-US" altLang="ja-JP" sz="2800" dirty="0" smtClean="0"/>
          </a:p>
          <a:p>
            <a:r>
              <a:rPr lang="ja-JP" altLang="en-US" sz="2800" dirty="0" smtClean="0"/>
              <a:t>デバイスは次の２種類に分けられる。</a:t>
            </a:r>
            <a:endParaRPr lang="en-US" altLang="ja-JP" sz="2800" dirty="0" smtClean="0"/>
          </a:p>
          <a:p>
            <a:pPr>
              <a:buFont typeface="Arial" pitchFamily="34" charset="0"/>
              <a:buChar char="•"/>
            </a:pPr>
            <a:r>
              <a:rPr kumimoji="1" lang="ja-JP" altLang="en-US" sz="2800" dirty="0" smtClean="0"/>
              <a:t>　キャラクタデバイス</a:t>
            </a:r>
            <a:r>
              <a:rPr lang="ja-JP" altLang="en-US" sz="2800" dirty="0" smtClean="0"/>
              <a:t> </a:t>
            </a:r>
            <a:r>
              <a:rPr lang="en-US" altLang="ja-JP" sz="2800" dirty="0" smtClean="0"/>
              <a:t>--- </a:t>
            </a:r>
            <a:r>
              <a:rPr lang="ja-JP" altLang="en-US" sz="2800" dirty="0" smtClean="0"/>
              <a:t>端末やプリンタなど、文字単位で入出力を行う装置</a:t>
            </a:r>
            <a:endParaRPr lang="en-US" altLang="ja-JP" sz="2800" dirty="0" smtClean="0"/>
          </a:p>
          <a:p>
            <a:pPr>
              <a:buFont typeface="Arial" pitchFamily="34" charset="0"/>
              <a:buChar char="•"/>
            </a:pPr>
            <a:r>
              <a:rPr kumimoji="1" lang="ja-JP" altLang="en-US" sz="2800" dirty="0" smtClean="0"/>
              <a:t>　ブロックデバイス </a:t>
            </a:r>
            <a:r>
              <a:rPr kumimoji="1" lang="en-US" altLang="ja-JP" sz="2800" dirty="0" smtClean="0"/>
              <a:t>--- </a:t>
            </a:r>
            <a:r>
              <a:rPr kumimoji="1" lang="ja-JP" altLang="en-US" sz="2800" dirty="0" smtClean="0"/>
              <a:t>ディスクや磁気テープ装置など、データをある程度まとまったブロック単位で処理する装置</a:t>
            </a:r>
            <a:endParaRPr kumimoji="1" lang="en-US" altLang="ja-JP" sz="2800" dirty="0" smtClean="0"/>
          </a:p>
          <a:p>
            <a:r>
              <a:rPr kumimoji="1" lang="ja-JP" altLang="en-US" sz="2800" dirty="0" smtClean="0"/>
              <a:t>デバイスファイルも普通のファイルと同様に扱える（</a:t>
            </a:r>
            <a:r>
              <a:rPr kumimoji="1" lang="en-US" altLang="ja-JP" sz="2800" dirty="0" smtClean="0"/>
              <a:t>UNIX</a:t>
            </a:r>
            <a:r>
              <a:rPr kumimoji="1" lang="ja-JP" altLang="en-US" sz="2800" dirty="0" smtClean="0"/>
              <a:t>の利点）</a:t>
            </a:r>
            <a:endParaRPr kumimoji="1" lang="en-US" altLang="ja-JP" sz="2800" dirty="0" smtClean="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ファイル名、パス名</a:t>
            </a:r>
            <a:endParaRPr kumimoji="1" lang="ja-JP" altLang="en-US" dirty="0"/>
          </a:p>
        </p:txBody>
      </p:sp>
      <p:sp>
        <p:nvSpPr>
          <p:cNvPr id="3" name="コンテンツ プレースホルダ 2"/>
          <p:cNvSpPr>
            <a:spLocks noGrp="1"/>
          </p:cNvSpPr>
          <p:nvPr>
            <p:ph idx="1"/>
          </p:nvPr>
        </p:nvSpPr>
        <p:spPr/>
        <p:txBody>
          <a:bodyPr>
            <a:normAutofit fontScale="92500"/>
          </a:bodyPr>
          <a:lstStyle/>
          <a:p>
            <a:r>
              <a:rPr kumimoji="1" lang="ja-JP" altLang="en-US" dirty="0" smtClean="0"/>
              <a:t>ファイルには、名前がある。それをファイル名という。ディレクトリが違えば同じファイル名であっても別のファイルである。</a:t>
            </a:r>
            <a:endParaRPr lang="en-US" altLang="ja-JP" dirty="0" smtClean="0"/>
          </a:p>
          <a:p>
            <a:r>
              <a:rPr kumimoji="1" lang="ja-JP" altLang="en-US" dirty="0" smtClean="0"/>
              <a:t>パス名は、経路（パス）をファイル名の前につけたものである。</a:t>
            </a:r>
            <a:endParaRPr kumimoji="1" lang="en-US" altLang="ja-JP" dirty="0" smtClean="0"/>
          </a:p>
          <a:p>
            <a:r>
              <a:rPr lang="ja-JP" altLang="en-US" dirty="0" smtClean="0"/>
              <a:t>ファイル名は</a:t>
            </a:r>
            <a:r>
              <a:rPr lang="en-US" altLang="ja-JP" dirty="0" smtClean="0"/>
              <a:t>255</a:t>
            </a:r>
            <a:r>
              <a:rPr lang="ja-JP" altLang="en-US" dirty="0" smtClean="0"/>
              <a:t>文字以内、パス名は</a:t>
            </a:r>
            <a:r>
              <a:rPr lang="en-US" altLang="ja-JP" dirty="0" smtClean="0"/>
              <a:t>4095</a:t>
            </a:r>
            <a:r>
              <a:rPr lang="ja-JP" altLang="en-US" dirty="0" smtClean="0"/>
              <a:t>文字以内。大文字、小文字、数字、ピリオド、ハイフン、アンダーバーが使える。ファイル名に日本語は使えるが、現状では使わないのが無難。</a:t>
            </a:r>
            <a:endParaRPr kumimoji="1" lang="en-US" altLang="ja-JP" dirty="0" smtClean="0"/>
          </a:p>
          <a:p>
            <a:pPr>
              <a:buNone/>
            </a:pPr>
            <a:endParaRPr kumimoji="1" lang="ja-JP" alt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絶対パス、相対パス</a:t>
            </a:r>
            <a:endParaRPr kumimoji="1" lang="ja-JP" altLang="en-US" dirty="0"/>
          </a:p>
        </p:txBody>
      </p:sp>
      <p:sp>
        <p:nvSpPr>
          <p:cNvPr id="3" name="コンテンツ プレースホルダ 2"/>
          <p:cNvSpPr>
            <a:spLocks noGrp="1"/>
          </p:cNvSpPr>
          <p:nvPr>
            <p:ph idx="1"/>
          </p:nvPr>
        </p:nvSpPr>
        <p:spPr/>
        <p:txBody>
          <a:bodyPr/>
          <a:lstStyle/>
          <a:p>
            <a:r>
              <a:rPr kumimoji="1" lang="ja-JP" altLang="en-US" dirty="0" smtClean="0"/>
              <a:t>絶対パス </a:t>
            </a:r>
            <a:r>
              <a:rPr kumimoji="1" lang="en-US" altLang="ja-JP" dirty="0" smtClean="0"/>
              <a:t>--- </a:t>
            </a:r>
            <a:r>
              <a:rPr kumimoji="1" lang="ja-JP" altLang="en-US" dirty="0" smtClean="0"/>
              <a:t>ルートディレクトリから下向きに辿るパス</a:t>
            </a:r>
            <a:endParaRPr kumimoji="1" lang="en-US" altLang="ja-JP" dirty="0" smtClean="0"/>
          </a:p>
          <a:p>
            <a:r>
              <a:rPr lang="ja-JP" altLang="en-US" dirty="0" smtClean="0"/>
              <a:t>相対パス </a:t>
            </a:r>
            <a:r>
              <a:rPr lang="en-US" altLang="ja-JP" dirty="0" smtClean="0"/>
              <a:t>--- </a:t>
            </a:r>
            <a:r>
              <a:rPr lang="ja-JP" altLang="en-US" dirty="0" smtClean="0"/>
              <a:t>現在のディレクトリからの相対的な経路で表すパス名、上に行くこともある。</a:t>
            </a:r>
            <a:endParaRPr lang="en-US" altLang="ja-JP" dirty="0" smtClean="0"/>
          </a:p>
          <a:p>
            <a:r>
              <a:rPr lang="ja-JP" altLang="en-US" dirty="0" smtClean="0"/>
              <a:t>ピリオド </a:t>
            </a:r>
            <a:r>
              <a:rPr lang="en-US" altLang="ja-JP" dirty="0" smtClean="0"/>
              <a:t>--- </a:t>
            </a:r>
            <a:r>
              <a:rPr lang="ja-JP" altLang="en-US" dirty="0" smtClean="0"/>
              <a:t>現在のディレクトリ</a:t>
            </a:r>
            <a:r>
              <a:rPr lang="en-US" altLang="ja-JP" dirty="0" smtClean="0"/>
              <a:t>(current directory)</a:t>
            </a:r>
            <a:r>
              <a:rPr lang="ja-JP" altLang="en-US" dirty="0" smtClean="0"/>
              <a:t>を表す。</a:t>
            </a:r>
            <a:endParaRPr lang="en-US" altLang="ja-JP" dirty="0" smtClean="0"/>
          </a:p>
          <a:p>
            <a:r>
              <a:rPr kumimoji="1" lang="ja-JP" altLang="en-US" dirty="0" smtClean="0"/>
              <a:t>ピリオド２つ </a:t>
            </a:r>
            <a:r>
              <a:rPr kumimoji="1" lang="en-US" altLang="ja-JP" dirty="0" smtClean="0"/>
              <a:t>--- </a:t>
            </a:r>
            <a:r>
              <a:rPr kumimoji="1" lang="ja-JP" altLang="en-US" dirty="0" smtClean="0"/>
              <a:t>親ディレクトリを</a:t>
            </a:r>
            <a:r>
              <a:rPr lang="ja-JP" altLang="en-US" dirty="0" smtClean="0"/>
              <a:t>表す。</a:t>
            </a:r>
            <a:endParaRPr lang="en-US" altLang="ja-JP" dirty="0" smtClean="0"/>
          </a:p>
          <a:p>
            <a:pPr>
              <a:buNone/>
            </a:pPr>
            <a:r>
              <a:rPr lang="ja-JP" altLang="en-US" dirty="0" smtClean="0"/>
              <a:t>（例） </a:t>
            </a:r>
            <a:r>
              <a:rPr lang="en-US" altLang="ja-JP" dirty="0" smtClean="0"/>
              <a:t>../.. </a:t>
            </a:r>
            <a:r>
              <a:rPr lang="ja-JP" altLang="en-US" dirty="0" smtClean="0"/>
              <a:t>は２つ上の親のディレクトリを表す。</a:t>
            </a:r>
            <a:endParaRPr kumimoji="1" lang="en-US" altLang="ja-JP" dirty="0" smtClean="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28596" y="285728"/>
            <a:ext cx="8229600" cy="868346"/>
          </a:xfrm>
        </p:spPr>
        <p:txBody>
          <a:bodyPr/>
          <a:lstStyle/>
          <a:p>
            <a:r>
              <a:rPr kumimoji="1" lang="ja-JP" altLang="en-US" dirty="0" smtClean="0"/>
              <a:t>ピリオドの役割</a:t>
            </a:r>
            <a:endParaRPr kumimoji="1" lang="ja-JP" altLang="en-US" dirty="0"/>
          </a:p>
        </p:txBody>
      </p:sp>
      <p:sp>
        <p:nvSpPr>
          <p:cNvPr id="4" name="正方形/長方形 3"/>
          <p:cNvSpPr/>
          <p:nvPr/>
        </p:nvSpPr>
        <p:spPr>
          <a:xfrm>
            <a:off x="571472" y="1500174"/>
            <a:ext cx="8143900" cy="4893647"/>
          </a:xfrm>
          <a:prstGeom prst="rect">
            <a:avLst/>
          </a:prstGeom>
        </p:spPr>
        <p:txBody>
          <a:bodyPr wrap="square">
            <a:spAutoFit/>
          </a:bodyPr>
          <a:lstStyle/>
          <a:p>
            <a:r>
              <a:rPr lang="ja-JP" altLang="en-US" sz="2400" dirty="0" smtClean="0"/>
              <a:t>ピリオド </a:t>
            </a:r>
            <a:r>
              <a:rPr lang="en-US" altLang="ja-JP" sz="2400" dirty="0" smtClean="0"/>
              <a:t>. </a:t>
            </a:r>
            <a:r>
              <a:rPr lang="ja-JP" altLang="en-US" sz="2400" dirty="0" smtClean="0"/>
              <a:t>はカレントディレクトリを表す。カレントディレクトリの実行形式ファイルを実行するとき、</a:t>
            </a:r>
          </a:p>
          <a:p>
            <a:r>
              <a:rPr lang="ja-JP" altLang="en-US" sz="2400" dirty="0" smtClean="0"/>
              <a:t>    </a:t>
            </a:r>
            <a:r>
              <a:rPr lang="en-US" altLang="ja-JP" sz="2400" dirty="0" smtClean="0"/>
              <a:t>$  ./test</a:t>
            </a:r>
          </a:p>
          <a:p>
            <a:r>
              <a:rPr lang="ja-JP" altLang="en-US" sz="2400" dirty="0" err="1" smtClean="0"/>
              <a:t>のように</a:t>
            </a:r>
            <a:r>
              <a:rPr lang="ja-JP" altLang="en-US" sz="2400" dirty="0" smtClean="0"/>
              <a:t>して実行する。単にファイル名を</a:t>
            </a:r>
            <a:endParaRPr lang="en-US" altLang="ja-JP" sz="2400" dirty="0" smtClean="0"/>
          </a:p>
          <a:p>
            <a:r>
              <a:rPr lang="en-US" altLang="ja-JP" sz="2400" dirty="0" smtClean="0"/>
              <a:t>   $ test</a:t>
            </a:r>
          </a:p>
          <a:p>
            <a:r>
              <a:rPr lang="ja-JP" altLang="en-US" sz="2400" dirty="0" err="1" smtClean="0"/>
              <a:t>のように</a:t>
            </a:r>
            <a:r>
              <a:rPr lang="ja-JP" altLang="en-US" sz="2400" dirty="0" smtClean="0"/>
              <a:t>打った場合は、</a:t>
            </a:r>
            <a:r>
              <a:rPr lang="en-US" altLang="ja-JP" sz="2400" dirty="0" smtClean="0"/>
              <a:t>test</a:t>
            </a:r>
            <a:r>
              <a:rPr lang="ja-JP" altLang="en-US" sz="2400" dirty="0" smtClean="0"/>
              <a:t>という実行形式ファイルを、シェル</a:t>
            </a:r>
            <a:r>
              <a:rPr lang="en-US" altLang="ja-JP" sz="2400" dirty="0" smtClean="0"/>
              <a:t>(</a:t>
            </a:r>
            <a:r>
              <a:rPr lang="ja-JP" altLang="en-US" sz="2400" dirty="0" smtClean="0"/>
              <a:t>例えば</a:t>
            </a:r>
            <a:r>
              <a:rPr lang="en-US" altLang="ja-JP" sz="2400" dirty="0" err="1" smtClean="0"/>
              <a:t>tcsh</a:t>
            </a:r>
            <a:r>
              <a:rPr lang="en-US" altLang="ja-JP" sz="2400" dirty="0" smtClean="0"/>
              <a:t>)</a:t>
            </a:r>
            <a:r>
              <a:rPr lang="ja-JP" altLang="en-US" sz="2400" dirty="0" smtClean="0"/>
              <a:t>が、シェル変数</a:t>
            </a:r>
            <a:r>
              <a:rPr lang="en-US" altLang="ja-JP" sz="2400" dirty="0" smtClean="0"/>
              <a:t>PATH</a:t>
            </a:r>
            <a:r>
              <a:rPr lang="ja-JP" altLang="en-US" sz="2400" dirty="0" smtClean="0"/>
              <a:t>に格納されているディレクトリを順番に探すことになる。</a:t>
            </a:r>
            <a:r>
              <a:rPr lang="en-US" altLang="ja-JP" sz="2400" dirty="0" smtClean="0"/>
              <a:t>PATH</a:t>
            </a:r>
            <a:r>
              <a:rPr lang="ja-JP" altLang="en-US" sz="2400" dirty="0" smtClean="0"/>
              <a:t>に </a:t>
            </a:r>
            <a:r>
              <a:rPr lang="en-US" altLang="ja-JP" sz="2400" dirty="0" smtClean="0"/>
              <a:t>. </a:t>
            </a:r>
            <a:r>
              <a:rPr lang="ja-JP" altLang="en-US" sz="2400" dirty="0" smtClean="0"/>
              <a:t>が指定されていない場合は、カレントディレクトリに</a:t>
            </a:r>
            <a:r>
              <a:rPr lang="en-US" altLang="ja-JP" sz="2400" dirty="0" smtClean="0"/>
              <a:t>test</a:t>
            </a:r>
            <a:r>
              <a:rPr lang="ja-JP" altLang="en-US" sz="2400" dirty="0" smtClean="0"/>
              <a:t>があっても実行できない。また、</a:t>
            </a:r>
            <a:r>
              <a:rPr lang="en-US" altLang="ja-JP" sz="2400" dirty="0" smtClean="0"/>
              <a:t>test</a:t>
            </a:r>
            <a:r>
              <a:rPr lang="ja-JP" altLang="en-US" sz="2400" dirty="0" smtClean="0"/>
              <a:t>という名前の実行ファイルがシェルの内部コマンドだったり（実際は違うが）、他の</a:t>
            </a:r>
            <a:r>
              <a:rPr lang="en-US" altLang="ja-JP" sz="2400" dirty="0" smtClean="0"/>
              <a:t>PATH</a:t>
            </a:r>
            <a:r>
              <a:rPr lang="ja-JP" altLang="en-US" sz="2400" dirty="0" smtClean="0"/>
              <a:t>の（順番が先になっている）ディレクトリにあると、そちらが実行される。</a:t>
            </a:r>
            <a:r>
              <a:rPr lang="en-US" altLang="ja-JP" sz="2400" dirty="0" smtClean="0"/>
              <a:t>(</a:t>
            </a:r>
            <a:r>
              <a:rPr lang="ja-JP" altLang="en-US" sz="2400" dirty="0" smtClean="0"/>
              <a:t>実際に、</a:t>
            </a:r>
            <a:r>
              <a:rPr lang="en-US" altLang="ja-JP" sz="2400" dirty="0" smtClean="0"/>
              <a:t>/</a:t>
            </a:r>
            <a:r>
              <a:rPr lang="en-US" altLang="ja-JP" sz="2400" dirty="0" err="1" smtClean="0"/>
              <a:t>usr</a:t>
            </a:r>
            <a:r>
              <a:rPr lang="en-US" altLang="ja-JP" sz="2400" dirty="0" smtClean="0"/>
              <a:t>/bin/test</a:t>
            </a:r>
            <a:r>
              <a:rPr lang="ja-JP" altLang="en-US" sz="2400" dirty="0" smtClean="0"/>
              <a:t>が存在する。</a:t>
            </a:r>
            <a:r>
              <a:rPr lang="en-US" altLang="ja-JP" sz="2400" dirty="0" smtClean="0"/>
              <a:t>)</a:t>
            </a: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ホームディレクトリ</a:t>
            </a:r>
            <a:endParaRPr kumimoji="1" lang="ja-JP" altLang="en-US" dirty="0"/>
          </a:p>
        </p:txBody>
      </p:sp>
      <p:sp>
        <p:nvSpPr>
          <p:cNvPr id="4" name="テキスト ボックス 3"/>
          <p:cNvSpPr txBox="1"/>
          <p:nvPr/>
        </p:nvSpPr>
        <p:spPr>
          <a:xfrm>
            <a:off x="785786" y="1571612"/>
            <a:ext cx="7286676" cy="3539430"/>
          </a:xfrm>
          <a:prstGeom prst="rect">
            <a:avLst/>
          </a:prstGeom>
          <a:noFill/>
        </p:spPr>
        <p:txBody>
          <a:bodyPr wrap="square" rtlCol="0">
            <a:spAutoFit/>
          </a:bodyPr>
          <a:lstStyle/>
          <a:p>
            <a:r>
              <a:rPr kumimoji="1" lang="ja-JP" altLang="en-US" sz="2800" dirty="0" smtClean="0"/>
              <a:t>ログイン時のディレクトリをホームディレクトリという。通常、</a:t>
            </a:r>
            <a:r>
              <a:rPr kumimoji="1" lang="en-US" altLang="ja-JP" sz="2800" dirty="0" smtClean="0"/>
              <a:t>/home</a:t>
            </a:r>
            <a:r>
              <a:rPr kumimoji="1" lang="ja-JP" altLang="en-US" sz="2800" dirty="0" smtClean="0"/>
              <a:t>の下に作成される</a:t>
            </a:r>
            <a:r>
              <a:rPr lang="ja-JP" altLang="en-US" sz="2800" dirty="0" smtClean="0"/>
              <a:t>。（</a:t>
            </a:r>
            <a:r>
              <a:rPr lang="en-US" altLang="ja-JP" sz="2800" dirty="0" smtClean="0"/>
              <a:t>r</a:t>
            </a:r>
            <a:r>
              <a:rPr kumimoji="1" lang="en-US" altLang="ja-JP" sz="2800" dirty="0" smtClean="0"/>
              <a:t>oot</a:t>
            </a:r>
            <a:r>
              <a:rPr kumimoji="1" lang="ja-JP" altLang="en-US" sz="2800" dirty="0" smtClean="0"/>
              <a:t>というユーザ（スーパーユーザ）のホームディレクトリは</a:t>
            </a:r>
            <a:r>
              <a:rPr kumimoji="1" lang="en-US" altLang="ja-JP" sz="2800" dirty="0" smtClean="0"/>
              <a:t>/root</a:t>
            </a:r>
            <a:r>
              <a:rPr lang="ja-JP" altLang="en-US" sz="2800" dirty="0" smtClean="0"/>
              <a:t>である）。演習室では、（私</a:t>
            </a:r>
            <a:r>
              <a:rPr lang="en-US" altLang="ja-JP" sz="2800" dirty="0" err="1" smtClean="0"/>
              <a:t>sasano</a:t>
            </a:r>
            <a:r>
              <a:rPr lang="ja-JP" altLang="en-US" sz="2800" dirty="0" smtClean="0"/>
              <a:t>の場合）</a:t>
            </a:r>
            <a:r>
              <a:rPr lang="en-US" altLang="ja-JP" sz="2800" dirty="0" smtClean="0"/>
              <a:t>/home/sit</a:t>
            </a:r>
            <a:r>
              <a:rPr lang="ja-JP" altLang="en-US" sz="2800" dirty="0" smtClean="0"/>
              <a:t>の下にある。ディレクトリを変更するコマンドが</a:t>
            </a:r>
            <a:r>
              <a:rPr lang="en-US" altLang="ja-JP" sz="2800" dirty="0" err="1" smtClean="0"/>
              <a:t>cd</a:t>
            </a:r>
            <a:r>
              <a:rPr lang="ja-JP" altLang="en-US" sz="2800" dirty="0" smtClean="0"/>
              <a:t>（シェルの内部コマンド）であり、これは</a:t>
            </a:r>
            <a:r>
              <a:rPr lang="en-US" altLang="ja-JP" sz="2800" dirty="0" err="1" smtClean="0"/>
              <a:t>chdir</a:t>
            </a:r>
            <a:r>
              <a:rPr lang="ja-JP" altLang="en-US" sz="2800" dirty="0" smtClean="0"/>
              <a:t>システムコールを使って実現されている。ホームディレクトリはチルダ</a:t>
            </a:r>
            <a:r>
              <a:rPr lang="en-US" altLang="ja-JP" sz="2800" dirty="0" smtClean="0"/>
              <a:t>~</a:t>
            </a:r>
            <a:r>
              <a:rPr lang="ja-JP" altLang="en-US" sz="2800" dirty="0" smtClean="0"/>
              <a:t>で表される。</a:t>
            </a:r>
            <a:endParaRPr lang="en-US" altLang="ja-JP" sz="2800" dirty="0" smtClean="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ファイルの保護</a:t>
            </a:r>
            <a:endParaRPr kumimoji="1" lang="ja-JP" altLang="en-US" dirty="0"/>
          </a:p>
        </p:txBody>
      </p:sp>
      <p:sp>
        <p:nvSpPr>
          <p:cNvPr id="4" name="テキスト ボックス 3"/>
          <p:cNvSpPr txBox="1"/>
          <p:nvPr/>
        </p:nvSpPr>
        <p:spPr>
          <a:xfrm>
            <a:off x="642910" y="1285860"/>
            <a:ext cx="7500990" cy="5262979"/>
          </a:xfrm>
          <a:prstGeom prst="rect">
            <a:avLst/>
          </a:prstGeom>
          <a:noFill/>
        </p:spPr>
        <p:txBody>
          <a:bodyPr wrap="square" rtlCol="0">
            <a:spAutoFit/>
          </a:bodyPr>
          <a:lstStyle/>
          <a:p>
            <a:r>
              <a:rPr kumimoji="1" lang="ja-JP" altLang="en-US" sz="2800" dirty="0" smtClean="0">
                <a:latin typeface="+mn-ea"/>
              </a:rPr>
              <a:t>ファイルを他人（他のユーザ）に見られないように、</a:t>
            </a:r>
            <a:r>
              <a:rPr kumimoji="1" lang="en-US" altLang="ja-JP" sz="2800" dirty="0" smtClean="0">
                <a:latin typeface="+mn-ea"/>
              </a:rPr>
              <a:t>permission</a:t>
            </a:r>
            <a:r>
              <a:rPr kumimoji="1" lang="ja-JP" altLang="en-US" sz="2800" dirty="0" smtClean="0">
                <a:latin typeface="+mn-ea"/>
              </a:rPr>
              <a:t>の指定ができる。</a:t>
            </a:r>
            <a:endParaRPr lang="en-US" altLang="ja-JP" sz="2800" dirty="0" smtClean="0">
              <a:latin typeface="+mn-ea"/>
            </a:endParaRPr>
          </a:p>
          <a:p>
            <a:r>
              <a:rPr lang="en-US" altLang="ja-JP" sz="2800" dirty="0" smtClean="0">
                <a:latin typeface="+mn-ea"/>
              </a:rPr>
              <a:t>   $ </a:t>
            </a:r>
            <a:r>
              <a:rPr lang="en-US" altLang="ja-JP" sz="2800" dirty="0" err="1" smtClean="0">
                <a:latin typeface="+mn-ea"/>
              </a:rPr>
              <a:t>ls</a:t>
            </a:r>
            <a:r>
              <a:rPr lang="en-US" altLang="ja-JP" sz="2800" dirty="0" smtClean="0">
                <a:latin typeface="+mn-ea"/>
              </a:rPr>
              <a:t> –al</a:t>
            </a:r>
          </a:p>
          <a:p>
            <a:r>
              <a:rPr kumimoji="1" lang="ja-JP" altLang="en-US" sz="2800" dirty="0" smtClean="0">
                <a:latin typeface="+mn-ea"/>
              </a:rPr>
              <a:t>で確認できる。</a:t>
            </a:r>
            <a:endParaRPr lang="en-US" altLang="ja-JP" sz="2800" dirty="0" smtClean="0">
              <a:latin typeface="+mn-ea"/>
            </a:endParaRPr>
          </a:p>
          <a:p>
            <a:r>
              <a:rPr lang="en-US" altLang="ja-JP" sz="2800" dirty="0" smtClean="0">
                <a:latin typeface="+mn-ea"/>
              </a:rPr>
              <a:t> d </a:t>
            </a:r>
            <a:r>
              <a:rPr lang="en-US" altLang="ja-JP" sz="2800" dirty="0" err="1" smtClean="0">
                <a:latin typeface="+mn-ea"/>
              </a:rPr>
              <a:t>rwx</a:t>
            </a:r>
            <a:r>
              <a:rPr lang="en-US" altLang="ja-JP" sz="2800" dirty="0" smtClean="0">
                <a:latin typeface="+mn-ea"/>
              </a:rPr>
              <a:t> </a:t>
            </a:r>
            <a:r>
              <a:rPr lang="en-US" altLang="ja-JP" sz="2800" dirty="0" err="1" smtClean="0">
                <a:latin typeface="+mn-ea"/>
              </a:rPr>
              <a:t>rwx</a:t>
            </a:r>
            <a:r>
              <a:rPr lang="en-US" altLang="ja-JP" sz="2800" dirty="0" smtClean="0">
                <a:latin typeface="+mn-ea"/>
              </a:rPr>
              <a:t> </a:t>
            </a:r>
            <a:r>
              <a:rPr lang="en-US" altLang="ja-JP" sz="2800" dirty="0" err="1" smtClean="0">
                <a:latin typeface="+mn-ea"/>
              </a:rPr>
              <a:t>rwx</a:t>
            </a:r>
            <a:endParaRPr lang="en-US" altLang="ja-JP" sz="2800" dirty="0" smtClean="0">
              <a:latin typeface="+mn-ea"/>
            </a:endParaRPr>
          </a:p>
          <a:p>
            <a:r>
              <a:rPr lang="ja-JP" altLang="en-US" sz="2800" dirty="0" smtClean="0">
                <a:latin typeface="+mn-ea"/>
              </a:rPr>
              <a:t>の最初の桁以外は変更できる。</a:t>
            </a:r>
            <a:endParaRPr lang="en-US" altLang="ja-JP" sz="2800" dirty="0" smtClean="0">
              <a:latin typeface="+mn-ea"/>
            </a:endParaRPr>
          </a:p>
          <a:p>
            <a:r>
              <a:rPr lang="ja-JP" altLang="en-US" sz="2800" dirty="0" smtClean="0">
                <a:latin typeface="+mn-ea"/>
              </a:rPr>
              <a:t>最初が</a:t>
            </a:r>
            <a:r>
              <a:rPr lang="en-US" altLang="ja-JP" sz="2800" dirty="0" smtClean="0">
                <a:latin typeface="+mn-ea"/>
              </a:rPr>
              <a:t>d</a:t>
            </a:r>
            <a:r>
              <a:rPr lang="ja-JP" altLang="en-US" sz="2800" dirty="0" smtClean="0">
                <a:latin typeface="+mn-ea"/>
              </a:rPr>
              <a:t>だとディレクトリ、</a:t>
            </a:r>
            <a:r>
              <a:rPr lang="en-US" altLang="ja-JP" sz="2800" dirty="0" smtClean="0">
                <a:latin typeface="+mn-ea"/>
              </a:rPr>
              <a:t>-</a:t>
            </a:r>
            <a:r>
              <a:rPr lang="ja-JP" altLang="en-US" sz="2800" dirty="0" smtClean="0">
                <a:latin typeface="+mn-ea"/>
              </a:rPr>
              <a:t>は一般のファイル。</a:t>
            </a:r>
            <a:endParaRPr lang="en-US" altLang="ja-JP" sz="2800" dirty="0" smtClean="0">
              <a:latin typeface="+mn-ea"/>
            </a:endParaRPr>
          </a:p>
          <a:p>
            <a:r>
              <a:rPr lang="ja-JP" altLang="en-US" sz="2800" dirty="0" smtClean="0">
                <a:latin typeface="+mn-ea"/>
              </a:rPr>
              <a:t>そのあとは、</a:t>
            </a:r>
            <a:r>
              <a:rPr lang="en-US" altLang="ja-JP" sz="2800" dirty="0" smtClean="0">
                <a:latin typeface="+mn-ea"/>
              </a:rPr>
              <a:t>owner, group, other</a:t>
            </a:r>
            <a:r>
              <a:rPr lang="ja-JP" altLang="en-US" sz="2800" dirty="0" smtClean="0">
                <a:latin typeface="+mn-ea"/>
              </a:rPr>
              <a:t>に対する読み書き実行の許可を表す。</a:t>
            </a:r>
            <a:endParaRPr lang="en-US" altLang="ja-JP" sz="2800" dirty="0" smtClean="0">
              <a:latin typeface="+mn-ea"/>
            </a:endParaRPr>
          </a:p>
          <a:p>
            <a:r>
              <a:rPr lang="ja-JP" altLang="en-US" sz="2800" dirty="0" smtClean="0">
                <a:latin typeface="+mn-ea"/>
              </a:rPr>
              <a:t>（例） </a:t>
            </a:r>
            <a:r>
              <a:rPr lang="en-US" altLang="ja-JP" sz="2800" dirty="0" smtClean="0">
                <a:latin typeface="+mn-ea"/>
                <a:cs typeface="Tunga" pitchFamily="2" charset="0"/>
              </a:rPr>
              <a:t>-</a:t>
            </a:r>
            <a:r>
              <a:rPr lang="en-US" altLang="ja-JP" sz="2800" dirty="0" err="1" smtClean="0">
                <a:latin typeface="+mn-ea"/>
                <a:cs typeface="Tunga" pitchFamily="2" charset="0"/>
              </a:rPr>
              <a:t>rw</a:t>
            </a:r>
            <a:r>
              <a:rPr lang="en-US" altLang="ja-JP" sz="2800" dirty="0" smtClean="0">
                <a:latin typeface="+mn-ea"/>
                <a:cs typeface="Tunga" pitchFamily="2" charset="0"/>
              </a:rPr>
              <a:t>-r—r--</a:t>
            </a:r>
            <a:r>
              <a:rPr lang="ja-JP" altLang="en-US" sz="2800" dirty="0" smtClean="0">
                <a:latin typeface="+mn-ea"/>
              </a:rPr>
              <a:t>だと、一般ファイルで、所有者は読み書き、グループメンバーとその他のユーザは読み出しのみ許可。</a:t>
            </a:r>
            <a:endParaRPr lang="en-US" altLang="ja-JP" sz="2800" dirty="0" smtClean="0">
              <a:latin typeface="+mn-ea"/>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smtClean="0"/>
              <a:t>Permission</a:t>
            </a:r>
            <a:r>
              <a:rPr kumimoji="1" lang="ja-JP" altLang="en-US" dirty="0" smtClean="0"/>
              <a:t>の変更</a:t>
            </a:r>
            <a:endParaRPr kumimoji="1" lang="ja-JP" altLang="en-US" dirty="0"/>
          </a:p>
        </p:txBody>
      </p:sp>
      <p:sp>
        <p:nvSpPr>
          <p:cNvPr id="4" name="テキスト ボックス 3"/>
          <p:cNvSpPr txBox="1"/>
          <p:nvPr/>
        </p:nvSpPr>
        <p:spPr>
          <a:xfrm>
            <a:off x="1000100" y="1500174"/>
            <a:ext cx="7215238" cy="3970318"/>
          </a:xfrm>
          <a:prstGeom prst="rect">
            <a:avLst/>
          </a:prstGeom>
          <a:noFill/>
        </p:spPr>
        <p:txBody>
          <a:bodyPr wrap="square" rtlCol="0">
            <a:spAutoFit/>
          </a:bodyPr>
          <a:lstStyle/>
          <a:p>
            <a:r>
              <a:rPr kumimoji="1" lang="en-US" altLang="ja-JP" sz="2800" dirty="0" smtClean="0"/>
              <a:t>Permission</a:t>
            </a:r>
            <a:r>
              <a:rPr kumimoji="1" lang="ja-JP" altLang="en-US" sz="2800" dirty="0" smtClean="0"/>
              <a:t>の変更は</a:t>
            </a:r>
            <a:r>
              <a:rPr kumimoji="1" lang="en-US" altLang="ja-JP" sz="2800" dirty="0" err="1" smtClean="0"/>
              <a:t>chmod</a:t>
            </a:r>
            <a:r>
              <a:rPr kumimoji="1" lang="ja-JP" altLang="en-US" sz="2800" dirty="0" smtClean="0"/>
              <a:t>コマンドで行う。</a:t>
            </a:r>
            <a:endParaRPr kumimoji="1" lang="en-US" altLang="ja-JP" sz="2800" dirty="0" smtClean="0"/>
          </a:p>
          <a:p>
            <a:r>
              <a:rPr lang="en-US" altLang="ja-JP" sz="2800" dirty="0" smtClean="0"/>
              <a:t>  $ </a:t>
            </a:r>
            <a:r>
              <a:rPr lang="en-US" altLang="ja-JP" sz="2800" dirty="0" err="1" smtClean="0"/>
              <a:t>chmod</a:t>
            </a:r>
            <a:r>
              <a:rPr lang="en-US" altLang="ja-JP" sz="2800" dirty="0" smtClean="0"/>
              <a:t>  </a:t>
            </a:r>
            <a:r>
              <a:rPr lang="ja-JP" altLang="en-US" sz="2800" dirty="0" smtClean="0"/>
              <a:t>モード  ファイル名</a:t>
            </a:r>
            <a:endParaRPr lang="en-US" altLang="ja-JP" sz="2800" dirty="0" smtClean="0"/>
          </a:p>
          <a:p>
            <a:endParaRPr kumimoji="1" lang="en-US" altLang="ja-JP" sz="2800" dirty="0" smtClean="0"/>
          </a:p>
          <a:p>
            <a:r>
              <a:rPr lang="ja-JP" altLang="en-US" sz="2800" dirty="0" smtClean="0"/>
              <a:t>モードは、</a:t>
            </a:r>
            <a:r>
              <a:rPr lang="en-US" altLang="ja-JP" sz="2800" dirty="0" err="1" smtClean="0"/>
              <a:t>rwx</a:t>
            </a:r>
            <a:r>
              <a:rPr lang="ja-JP" altLang="en-US" sz="2800" dirty="0" smtClean="0"/>
              <a:t>の組を</a:t>
            </a:r>
            <a:r>
              <a:rPr lang="en-US" altLang="ja-JP" sz="2800" dirty="0" smtClean="0"/>
              <a:t>3</a:t>
            </a:r>
            <a:r>
              <a:rPr lang="ja-JP" altLang="en-US" sz="2800" dirty="0" smtClean="0"/>
              <a:t>桁の</a:t>
            </a:r>
            <a:r>
              <a:rPr lang="en-US" altLang="ja-JP" sz="2800" dirty="0" smtClean="0"/>
              <a:t>2</a:t>
            </a:r>
            <a:r>
              <a:rPr lang="ja-JP" altLang="en-US" sz="2800" dirty="0" smtClean="0"/>
              <a:t>進数と考え、これを</a:t>
            </a:r>
            <a:r>
              <a:rPr lang="en-US" altLang="ja-JP" sz="2800" dirty="0" smtClean="0"/>
              <a:t>8</a:t>
            </a:r>
            <a:r>
              <a:rPr lang="ja-JP" altLang="en-US" sz="2800" dirty="0" smtClean="0"/>
              <a:t>進１桁で表わし、</a:t>
            </a:r>
            <a:r>
              <a:rPr lang="en-US" altLang="ja-JP" sz="2800" dirty="0" smtClean="0"/>
              <a:t>8</a:t>
            </a:r>
            <a:r>
              <a:rPr lang="ja-JP" altLang="en-US" sz="2800" dirty="0" smtClean="0"/>
              <a:t>進３桁で指定することができる。例えば、</a:t>
            </a:r>
            <a:r>
              <a:rPr lang="en-US" altLang="ja-JP" sz="2800" dirty="0" err="1" smtClean="0"/>
              <a:t>rw</a:t>
            </a:r>
            <a:r>
              <a:rPr lang="en-US" altLang="ja-JP" sz="2800" dirty="0" smtClean="0"/>
              <a:t>-r--r--</a:t>
            </a:r>
            <a:r>
              <a:rPr lang="ja-JP" altLang="en-US" sz="2800" dirty="0" smtClean="0"/>
              <a:t>にしたい場合は</a:t>
            </a:r>
            <a:r>
              <a:rPr lang="en-US" altLang="ja-JP" sz="2800" dirty="0" smtClean="0"/>
              <a:t>644</a:t>
            </a:r>
            <a:r>
              <a:rPr lang="ja-JP" altLang="en-US" sz="2800" dirty="0" smtClean="0"/>
              <a:t>とする。</a:t>
            </a:r>
            <a:endParaRPr lang="en-US" altLang="ja-JP" sz="2800" dirty="0" smtClean="0"/>
          </a:p>
          <a:p>
            <a:endParaRPr kumimoji="1" lang="en-US" altLang="ja-JP" sz="2800" dirty="0" smtClean="0"/>
          </a:p>
          <a:p>
            <a:r>
              <a:rPr lang="en-US" altLang="ja-JP" sz="2800" dirty="0" err="1" smtClean="0"/>
              <a:t>chmod</a:t>
            </a:r>
            <a:r>
              <a:rPr lang="ja-JP" altLang="en-US" sz="2800" dirty="0" smtClean="0"/>
              <a:t>は、</a:t>
            </a:r>
            <a:r>
              <a:rPr lang="en-US" altLang="ja-JP" sz="2800" dirty="0" err="1" smtClean="0"/>
              <a:t>chmod</a:t>
            </a:r>
            <a:r>
              <a:rPr lang="ja-JP" altLang="en-US" sz="2800" dirty="0" smtClean="0"/>
              <a:t>システムコールを使って実現されている。</a:t>
            </a:r>
            <a:endParaRPr lang="en-US" altLang="ja-JP" sz="2800" dirty="0" smtClean="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ファイルの所有者</a:t>
            </a:r>
            <a:endParaRPr kumimoji="1" lang="ja-JP" altLang="en-US" dirty="0"/>
          </a:p>
        </p:txBody>
      </p:sp>
      <p:sp>
        <p:nvSpPr>
          <p:cNvPr id="4" name="テキスト ボックス 3"/>
          <p:cNvSpPr txBox="1"/>
          <p:nvPr/>
        </p:nvSpPr>
        <p:spPr>
          <a:xfrm>
            <a:off x="642910" y="1571612"/>
            <a:ext cx="7858180" cy="3970318"/>
          </a:xfrm>
          <a:prstGeom prst="rect">
            <a:avLst/>
          </a:prstGeom>
          <a:noFill/>
        </p:spPr>
        <p:txBody>
          <a:bodyPr wrap="square" rtlCol="0">
            <a:spAutoFit/>
          </a:bodyPr>
          <a:lstStyle/>
          <a:p>
            <a:r>
              <a:rPr kumimoji="1" lang="ja-JP" altLang="en-US" sz="2800" dirty="0" smtClean="0"/>
              <a:t>ファイルには所有者</a:t>
            </a:r>
            <a:r>
              <a:rPr lang="ja-JP" altLang="en-US" sz="2800" dirty="0" smtClean="0"/>
              <a:t>、グループが関連づけられている。</a:t>
            </a:r>
            <a:endParaRPr lang="en-US" altLang="ja-JP" sz="2800" dirty="0" smtClean="0"/>
          </a:p>
          <a:p>
            <a:r>
              <a:rPr kumimoji="1" lang="en-US" altLang="ja-JP" sz="2800" dirty="0" smtClean="0"/>
              <a:t> $ </a:t>
            </a:r>
            <a:r>
              <a:rPr kumimoji="1" lang="en-US" altLang="ja-JP" sz="2800" dirty="0" err="1" smtClean="0"/>
              <a:t>ls</a:t>
            </a:r>
            <a:r>
              <a:rPr kumimoji="1" lang="en-US" altLang="ja-JP" sz="2800" dirty="0" smtClean="0"/>
              <a:t> –l</a:t>
            </a:r>
          </a:p>
          <a:p>
            <a:r>
              <a:rPr lang="ja-JP" altLang="en-US" sz="2800" dirty="0" smtClean="0"/>
              <a:t>で確認できる。</a:t>
            </a:r>
            <a:endParaRPr lang="en-US" altLang="ja-JP" sz="2800" dirty="0" smtClean="0"/>
          </a:p>
          <a:p>
            <a:endParaRPr kumimoji="1" lang="en-US" altLang="ja-JP" sz="2800" dirty="0" smtClean="0"/>
          </a:p>
          <a:p>
            <a:r>
              <a:rPr lang="ja-JP" altLang="en-US" sz="2800" dirty="0" smtClean="0"/>
              <a:t>ファイルの所有者の変更は</a:t>
            </a:r>
            <a:r>
              <a:rPr lang="en-US" altLang="ja-JP" sz="2800" dirty="0" err="1" smtClean="0"/>
              <a:t>chown</a:t>
            </a:r>
            <a:r>
              <a:rPr lang="ja-JP" altLang="en-US" sz="2800" dirty="0" smtClean="0"/>
              <a:t>コマンド、グループの変更は</a:t>
            </a:r>
            <a:r>
              <a:rPr lang="en-US" altLang="ja-JP" sz="2800" dirty="0" err="1" smtClean="0"/>
              <a:t>chgrp</a:t>
            </a:r>
            <a:r>
              <a:rPr lang="ja-JP" altLang="en-US" sz="2800" dirty="0" smtClean="0"/>
              <a:t>コマンドで行う。これらは</a:t>
            </a:r>
            <a:r>
              <a:rPr lang="en-US" altLang="ja-JP" sz="2800" dirty="0" err="1" smtClean="0"/>
              <a:t>chown</a:t>
            </a:r>
            <a:r>
              <a:rPr lang="ja-JP" altLang="en-US" sz="2800" dirty="0" smtClean="0"/>
              <a:t>システムコールを使って実現されている。ただし、所有者とスーパーユーザ以外は変更できない。</a:t>
            </a:r>
            <a:endParaRPr lang="en-US" altLang="ja-JP" sz="2800" dirty="0" smtClean="0"/>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ディレクトリファイル</a:t>
            </a:r>
            <a:endParaRPr kumimoji="1" lang="ja-JP" altLang="en-US" dirty="0"/>
          </a:p>
        </p:txBody>
      </p:sp>
      <p:sp>
        <p:nvSpPr>
          <p:cNvPr id="4" name="テキスト ボックス 3"/>
          <p:cNvSpPr txBox="1"/>
          <p:nvPr/>
        </p:nvSpPr>
        <p:spPr>
          <a:xfrm>
            <a:off x="1142977" y="1643050"/>
            <a:ext cx="7286676" cy="4401205"/>
          </a:xfrm>
          <a:prstGeom prst="rect">
            <a:avLst/>
          </a:prstGeom>
          <a:noFill/>
        </p:spPr>
        <p:txBody>
          <a:bodyPr wrap="square" rtlCol="0">
            <a:spAutoFit/>
          </a:bodyPr>
          <a:lstStyle/>
          <a:p>
            <a:r>
              <a:rPr kumimoji="1" lang="ja-JP" altLang="en-US" sz="2800" dirty="0" smtClean="0"/>
              <a:t>ディレクトリファイルには、ファイル名から</a:t>
            </a:r>
            <a:r>
              <a:rPr kumimoji="1" lang="en-US" altLang="ja-JP" sz="2800" dirty="0" err="1" smtClean="0"/>
              <a:t>i</a:t>
            </a:r>
            <a:r>
              <a:rPr kumimoji="1" lang="ja-JP" altLang="en-US" sz="2800" dirty="0" smtClean="0"/>
              <a:t>ノード番号</a:t>
            </a:r>
            <a:r>
              <a:rPr kumimoji="1" lang="en-US" altLang="ja-JP" sz="2800" dirty="0" smtClean="0"/>
              <a:t>(</a:t>
            </a:r>
            <a:r>
              <a:rPr kumimoji="1" lang="en-US" altLang="ja-JP" sz="2800" dirty="0" err="1" smtClean="0"/>
              <a:t>i</a:t>
            </a:r>
            <a:r>
              <a:rPr kumimoji="1" lang="ja-JP" altLang="en-US" sz="2800" dirty="0" smtClean="0"/>
              <a:t>ノードは</a:t>
            </a:r>
            <a:r>
              <a:rPr kumimoji="1" lang="en-US" altLang="ja-JP" sz="2800" dirty="0" smtClean="0"/>
              <a:t>index node</a:t>
            </a:r>
            <a:r>
              <a:rPr lang="ja-JP" altLang="en-US" sz="2800" dirty="0" smtClean="0"/>
              <a:t>の略</a:t>
            </a:r>
            <a:r>
              <a:rPr lang="en-US" altLang="ja-JP" sz="2800" dirty="0" smtClean="0"/>
              <a:t>)</a:t>
            </a:r>
            <a:r>
              <a:rPr lang="ja-JP" altLang="en-US" sz="2800" dirty="0" err="1" smtClean="0"/>
              <a:t>への</a:t>
            </a:r>
            <a:r>
              <a:rPr lang="ja-JP" altLang="en-US" sz="2800" dirty="0" smtClean="0"/>
              <a:t>対応がファイルの数だけ格納されている。（実際のデータ構造は、ハッシュテーブルや線形リストなど。）</a:t>
            </a:r>
            <a:endParaRPr lang="en-US" altLang="ja-JP" sz="2800" dirty="0" smtClean="0"/>
          </a:p>
          <a:p>
            <a:endParaRPr kumimoji="1" lang="en-US" altLang="ja-JP" sz="2800" dirty="0" smtClean="0"/>
          </a:p>
          <a:p>
            <a:r>
              <a:rPr lang="ja-JP" altLang="en-US" sz="2800" dirty="0" smtClean="0"/>
              <a:t>ファイルの</a:t>
            </a:r>
            <a:r>
              <a:rPr lang="en-US" altLang="ja-JP" sz="2800" dirty="0" err="1" smtClean="0"/>
              <a:t>i</a:t>
            </a:r>
            <a:r>
              <a:rPr lang="ja-JP" altLang="en-US" sz="2800" dirty="0" smtClean="0"/>
              <a:t>ノード番号は</a:t>
            </a:r>
            <a:endParaRPr lang="en-US" altLang="ja-JP" sz="2800" dirty="0" smtClean="0"/>
          </a:p>
          <a:p>
            <a:r>
              <a:rPr kumimoji="1" lang="en-US" altLang="ja-JP" sz="2800" dirty="0" smtClean="0"/>
              <a:t>  $ </a:t>
            </a:r>
            <a:r>
              <a:rPr kumimoji="1" lang="en-US" altLang="ja-JP" sz="2800" dirty="0" err="1" smtClean="0"/>
              <a:t>ls</a:t>
            </a:r>
            <a:r>
              <a:rPr kumimoji="1" lang="en-US" altLang="ja-JP" sz="2800" dirty="0" smtClean="0"/>
              <a:t> –</a:t>
            </a:r>
            <a:r>
              <a:rPr kumimoji="1" lang="en-US" altLang="ja-JP" sz="2800" dirty="0" err="1" smtClean="0"/>
              <a:t>li</a:t>
            </a:r>
            <a:endParaRPr kumimoji="1" lang="en-US" altLang="ja-JP" sz="2800" dirty="0" smtClean="0"/>
          </a:p>
          <a:p>
            <a:r>
              <a:rPr lang="ja-JP" altLang="en-US" sz="2800" dirty="0" smtClean="0"/>
              <a:t>等、</a:t>
            </a:r>
            <a:r>
              <a:rPr lang="en-US" altLang="ja-JP" sz="2800" dirty="0" err="1" smtClean="0"/>
              <a:t>ls</a:t>
            </a:r>
            <a:r>
              <a:rPr lang="ja-JP" altLang="en-US" sz="2800" dirty="0" smtClean="0"/>
              <a:t>に</a:t>
            </a:r>
            <a:r>
              <a:rPr lang="en-US" altLang="ja-JP" sz="2800" dirty="0" smtClean="0"/>
              <a:t>-</a:t>
            </a:r>
            <a:r>
              <a:rPr lang="en-US" altLang="ja-JP" sz="2800" dirty="0" err="1" smtClean="0"/>
              <a:t>i</a:t>
            </a:r>
            <a:r>
              <a:rPr lang="ja-JP" altLang="en-US" sz="2800" dirty="0" smtClean="0"/>
              <a:t>オプションを与えると確認できる。</a:t>
            </a:r>
            <a:endParaRPr lang="en-US" altLang="ja-JP" sz="2800" dirty="0" smtClean="0"/>
          </a:p>
          <a:p>
            <a:endParaRPr kumimoji="1" lang="en-US" altLang="ja-JP" sz="2800" dirty="0" smtClean="0"/>
          </a:p>
          <a:p>
            <a:endParaRPr kumimoji="1" lang="en-US" altLang="ja-JP" sz="2800" dirty="0" smtClean="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868346"/>
          </a:xfrm>
        </p:spPr>
        <p:txBody>
          <a:bodyPr/>
          <a:lstStyle/>
          <a:p>
            <a:r>
              <a:rPr lang="ja-JP" altLang="en-US" dirty="0" smtClean="0"/>
              <a:t>ファイルシステムの実装</a:t>
            </a:r>
            <a:endParaRPr kumimoji="1" lang="ja-JP" altLang="en-US" dirty="0"/>
          </a:p>
        </p:txBody>
      </p:sp>
      <p:sp>
        <p:nvSpPr>
          <p:cNvPr id="5" name="テキスト ボックス 4"/>
          <p:cNvSpPr txBox="1"/>
          <p:nvPr/>
        </p:nvSpPr>
        <p:spPr>
          <a:xfrm>
            <a:off x="428596" y="1285860"/>
            <a:ext cx="8358246" cy="5262979"/>
          </a:xfrm>
          <a:prstGeom prst="rect">
            <a:avLst/>
          </a:prstGeom>
          <a:noFill/>
        </p:spPr>
        <p:txBody>
          <a:bodyPr wrap="square" rtlCol="0">
            <a:spAutoFit/>
          </a:bodyPr>
          <a:lstStyle/>
          <a:p>
            <a:r>
              <a:rPr kumimoji="1" lang="ja-JP" altLang="en-US" sz="2800" dirty="0" smtClean="0"/>
              <a:t>ファイルシステムは、ブートブロック、スーパーブロック、</a:t>
            </a:r>
            <a:r>
              <a:rPr kumimoji="1" lang="en-US" altLang="ja-JP" sz="2800" dirty="0" err="1" smtClean="0"/>
              <a:t>i</a:t>
            </a:r>
            <a:r>
              <a:rPr kumimoji="1" lang="ja-JP" altLang="en-US" sz="2800" dirty="0" smtClean="0"/>
              <a:t>ノードリスト、データブロックの４つの領域から構成される。</a:t>
            </a:r>
            <a:endParaRPr lang="en-US" altLang="ja-JP" sz="2800" dirty="0" smtClean="0"/>
          </a:p>
          <a:p>
            <a:pPr>
              <a:buFont typeface="Arial" pitchFamily="34" charset="0"/>
              <a:buChar char="•"/>
            </a:pPr>
            <a:r>
              <a:rPr kumimoji="1" lang="ja-JP" altLang="en-US" sz="2800" dirty="0" smtClean="0"/>
              <a:t>  ブートブロック </a:t>
            </a:r>
            <a:r>
              <a:rPr kumimoji="1" lang="en-US" altLang="ja-JP" sz="2800" dirty="0" smtClean="0"/>
              <a:t>--- </a:t>
            </a:r>
            <a:r>
              <a:rPr lang="en-US" altLang="ja-JP" sz="2800" dirty="0" smtClean="0"/>
              <a:t>OS</a:t>
            </a:r>
            <a:r>
              <a:rPr kumimoji="1" lang="ja-JP" altLang="en-US" sz="2800" dirty="0" smtClean="0"/>
              <a:t>を起動するためのプログラムを格納。</a:t>
            </a:r>
            <a:endParaRPr kumimoji="1" lang="en-US" altLang="ja-JP" sz="2800" dirty="0" smtClean="0"/>
          </a:p>
          <a:p>
            <a:pPr>
              <a:buFont typeface="Arial" pitchFamily="34" charset="0"/>
              <a:buChar char="•"/>
            </a:pPr>
            <a:r>
              <a:rPr lang="ja-JP" altLang="en-US" sz="2800" dirty="0" smtClean="0"/>
              <a:t>  スーパーブロック </a:t>
            </a:r>
            <a:r>
              <a:rPr lang="en-US" altLang="ja-JP" sz="2800" dirty="0" smtClean="0"/>
              <a:t>--- </a:t>
            </a:r>
            <a:r>
              <a:rPr lang="ja-JP" altLang="en-US" sz="2800" dirty="0" smtClean="0"/>
              <a:t>ファイルシステムの大きさ、ブロック数、ブロックサイズ、空きブロック、</a:t>
            </a:r>
            <a:r>
              <a:rPr lang="en-US" altLang="ja-JP" sz="2800" dirty="0" err="1" smtClean="0"/>
              <a:t>i</a:t>
            </a:r>
            <a:r>
              <a:rPr lang="ja-JP" altLang="en-US" sz="2800" dirty="0" smtClean="0"/>
              <a:t>ノードリストの大きさ、空き</a:t>
            </a:r>
            <a:r>
              <a:rPr lang="en-US" altLang="ja-JP" sz="2800" dirty="0" err="1" smtClean="0"/>
              <a:t>i</a:t>
            </a:r>
            <a:r>
              <a:rPr lang="ja-JP" altLang="en-US" sz="2800" dirty="0" smtClean="0"/>
              <a:t>ノードリストの情報などを格納。</a:t>
            </a:r>
            <a:endParaRPr lang="en-US" altLang="ja-JP" sz="2800" dirty="0" smtClean="0"/>
          </a:p>
          <a:p>
            <a:pPr>
              <a:buFont typeface="Arial" pitchFamily="34" charset="0"/>
              <a:buChar char="•"/>
            </a:pPr>
            <a:r>
              <a:rPr lang="en-US" altLang="ja-JP" sz="2800" dirty="0" smtClean="0"/>
              <a:t>  </a:t>
            </a:r>
            <a:r>
              <a:rPr lang="en-US" altLang="ja-JP" sz="2800" dirty="0" err="1" smtClean="0"/>
              <a:t>i</a:t>
            </a:r>
            <a:r>
              <a:rPr lang="ja-JP" altLang="en-US" sz="2800" dirty="0" smtClean="0"/>
              <a:t>ノードリスト </a:t>
            </a:r>
            <a:r>
              <a:rPr lang="en-US" altLang="ja-JP" sz="2800" dirty="0" smtClean="0"/>
              <a:t>--- </a:t>
            </a:r>
            <a:r>
              <a:rPr lang="en-US" altLang="ja-JP" sz="2800" dirty="0" err="1" smtClean="0"/>
              <a:t>i</a:t>
            </a:r>
            <a:r>
              <a:rPr lang="ja-JP" altLang="en-US" sz="2800" dirty="0" smtClean="0"/>
              <a:t>ノードのリスト。</a:t>
            </a:r>
            <a:r>
              <a:rPr lang="en-US" altLang="ja-JP" sz="2800" dirty="0" err="1" smtClean="0"/>
              <a:t>i</a:t>
            </a:r>
            <a:r>
              <a:rPr lang="ja-JP" altLang="en-US" sz="2800" dirty="0" smtClean="0"/>
              <a:t>ノードには各ファイルの種類、所有者、</a:t>
            </a:r>
            <a:r>
              <a:rPr lang="en-US" altLang="ja-JP" sz="2800" dirty="0" smtClean="0"/>
              <a:t>permission</a:t>
            </a:r>
            <a:r>
              <a:rPr lang="ja-JP" altLang="en-US" sz="2800" dirty="0" err="1" smtClean="0"/>
              <a:t>、</a:t>
            </a:r>
            <a:r>
              <a:rPr lang="ja-JP" altLang="en-US" sz="2800" dirty="0" smtClean="0"/>
              <a:t>変更時刻、ファイルサイズ、データブロック内の場所などが格納されている。</a:t>
            </a:r>
            <a:endParaRPr lang="en-US" altLang="ja-JP" sz="2800" dirty="0" smtClean="0"/>
          </a:p>
          <a:p>
            <a:pPr>
              <a:buFont typeface="Arial" pitchFamily="34" charset="0"/>
              <a:buChar char="•"/>
            </a:pPr>
            <a:r>
              <a:rPr lang="ja-JP" altLang="en-US" sz="2800" dirty="0" smtClean="0"/>
              <a:t>  データブロック </a:t>
            </a:r>
            <a:r>
              <a:rPr lang="en-US" altLang="ja-JP" sz="2800" dirty="0" smtClean="0"/>
              <a:t>--- </a:t>
            </a:r>
            <a:r>
              <a:rPr lang="ja-JP" altLang="en-US" sz="2800" dirty="0" smtClean="0"/>
              <a:t>ファイルの中身が格納されている。</a:t>
            </a:r>
            <a:endParaRPr lang="en-US" altLang="ja-JP" sz="2800" dirty="0" smtClean="0"/>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smtClean="0"/>
              <a:t>o</a:t>
            </a:r>
            <a:r>
              <a:rPr kumimoji="1" lang="en-US" altLang="ja-JP" dirty="0" smtClean="0"/>
              <a:t>pen</a:t>
            </a:r>
            <a:r>
              <a:rPr kumimoji="1" lang="ja-JP" altLang="en-US" dirty="0" smtClean="0"/>
              <a:t>システム</a:t>
            </a:r>
            <a:r>
              <a:rPr lang="ja-JP" altLang="en-US" dirty="0" smtClean="0"/>
              <a:t>コール</a:t>
            </a:r>
            <a:endParaRPr kumimoji="1" lang="ja-JP" altLang="en-US" dirty="0"/>
          </a:p>
        </p:txBody>
      </p:sp>
      <p:sp>
        <p:nvSpPr>
          <p:cNvPr id="4" name="テキスト ボックス 3"/>
          <p:cNvSpPr txBox="1"/>
          <p:nvPr/>
        </p:nvSpPr>
        <p:spPr>
          <a:xfrm>
            <a:off x="500034" y="1428736"/>
            <a:ext cx="8143900" cy="2677656"/>
          </a:xfrm>
          <a:prstGeom prst="rect">
            <a:avLst/>
          </a:prstGeom>
          <a:noFill/>
        </p:spPr>
        <p:txBody>
          <a:bodyPr wrap="square" rtlCol="0">
            <a:spAutoFit/>
          </a:bodyPr>
          <a:lstStyle/>
          <a:p>
            <a:r>
              <a:rPr kumimoji="1" lang="ja-JP" altLang="en-US" sz="2800" dirty="0" smtClean="0"/>
              <a:t>ファイルからのデータの読み込み</a:t>
            </a:r>
            <a:r>
              <a:rPr lang="ja-JP" altLang="en-US" sz="2800" dirty="0" smtClean="0"/>
              <a:t>、ファイルへのデータの書き込みを</a:t>
            </a:r>
            <a:r>
              <a:rPr kumimoji="1" lang="ja-JP" altLang="en-US" sz="2800" dirty="0" smtClean="0"/>
              <a:t>するには、まずファイルをオープンする。これを行うのが</a:t>
            </a:r>
            <a:r>
              <a:rPr kumimoji="1" lang="en-US" altLang="ja-JP" sz="2800" dirty="0" smtClean="0"/>
              <a:t>open</a:t>
            </a:r>
            <a:r>
              <a:rPr kumimoji="1" lang="ja-JP" altLang="en-US" sz="2800" dirty="0" smtClean="0"/>
              <a:t>システムコールである。</a:t>
            </a:r>
            <a:endParaRPr kumimoji="1" lang="en-US" altLang="ja-JP" sz="2800" dirty="0" smtClean="0"/>
          </a:p>
          <a:p>
            <a:endParaRPr lang="en-US" altLang="ja-JP" sz="2800" dirty="0" smtClean="0"/>
          </a:p>
          <a:p>
            <a:r>
              <a:rPr lang="en-US" altLang="ja-JP" sz="2800" dirty="0" smtClean="0"/>
              <a:t>open</a:t>
            </a:r>
            <a:r>
              <a:rPr lang="ja-JP" altLang="en-US" sz="2800" dirty="0" smtClean="0"/>
              <a:t>システムコールを使う場合、</a:t>
            </a:r>
            <a:r>
              <a:rPr lang="en-US" altLang="ja-JP" sz="2800" dirty="0" err="1" smtClean="0"/>
              <a:t>types.h</a:t>
            </a:r>
            <a:r>
              <a:rPr lang="en-US" altLang="ja-JP" sz="2800" dirty="0" smtClean="0"/>
              <a:t>, </a:t>
            </a:r>
            <a:r>
              <a:rPr lang="en-US" altLang="ja-JP" sz="2800" dirty="0" err="1" smtClean="0"/>
              <a:t>stat.h</a:t>
            </a:r>
            <a:r>
              <a:rPr lang="en-US" altLang="ja-JP" sz="2800" dirty="0" smtClean="0"/>
              <a:t>, </a:t>
            </a:r>
            <a:r>
              <a:rPr lang="en-US" altLang="ja-JP" sz="2800" dirty="0" err="1" smtClean="0"/>
              <a:t>fcntl.h</a:t>
            </a:r>
            <a:r>
              <a:rPr lang="ja-JP" altLang="en-US" sz="2800" dirty="0" smtClean="0"/>
              <a:t>をインクルードする。</a:t>
            </a:r>
            <a:endParaRPr lang="en-US" altLang="ja-JP" sz="2800" dirty="0" smtClean="0"/>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85804" y="357166"/>
            <a:ext cx="8229600" cy="500066"/>
          </a:xfrm>
        </p:spPr>
        <p:txBody>
          <a:bodyPr>
            <a:normAutofit fontScale="90000"/>
          </a:bodyPr>
          <a:lstStyle/>
          <a:p>
            <a:r>
              <a:rPr lang="en-US" altLang="ja-JP" dirty="0" smtClean="0"/>
              <a:t>o</a:t>
            </a:r>
            <a:r>
              <a:rPr kumimoji="1" lang="en-US" altLang="ja-JP" dirty="0" smtClean="0"/>
              <a:t>pen</a:t>
            </a:r>
            <a:r>
              <a:rPr kumimoji="1" lang="ja-JP" altLang="en-US" dirty="0" smtClean="0"/>
              <a:t>システムコールの引数</a:t>
            </a:r>
            <a:endParaRPr kumimoji="1" lang="ja-JP" altLang="en-US" dirty="0"/>
          </a:p>
        </p:txBody>
      </p:sp>
      <p:sp>
        <p:nvSpPr>
          <p:cNvPr id="4" name="テキスト ボックス 3"/>
          <p:cNvSpPr txBox="1"/>
          <p:nvPr/>
        </p:nvSpPr>
        <p:spPr>
          <a:xfrm>
            <a:off x="500034" y="1166417"/>
            <a:ext cx="8215370" cy="5262979"/>
          </a:xfrm>
          <a:prstGeom prst="rect">
            <a:avLst/>
          </a:prstGeom>
          <a:noFill/>
        </p:spPr>
        <p:txBody>
          <a:bodyPr wrap="square" rtlCol="0">
            <a:spAutoFit/>
          </a:bodyPr>
          <a:lstStyle/>
          <a:p>
            <a:r>
              <a:rPr lang="en-US" altLang="ja-JP" sz="2800" dirty="0" smtClean="0"/>
              <a:t>o</a:t>
            </a:r>
            <a:r>
              <a:rPr kumimoji="1" lang="en-US" altLang="ja-JP" sz="2800" dirty="0" smtClean="0"/>
              <a:t>pen</a:t>
            </a:r>
            <a:r>
              <a:rPr kumimoji="1" lang="ja-JP" altLang="en-US" sz="2800" dirty="0" smtClean="0"/>
              <a:t>システムコールは、パス名、フラグ</a:t>
            </a:r>
            <a:r>
              <a:rPr lang="ja-JP" altLang="en-US" sz="2800" dirty="0" smtClean="0"/>
              <a:t>の２引数あるいは、これらに</a:t>
            </a:r>
            <a:r>
              <a:rPr kumimoji="1" lang="ja-JP" altLang="en-US" sz="2800" dirty="0" smtClean="0"/>
              <a:t>モードを加えた３引数で呼び出す。</a:t>
            </a:r>
            <a:endParaRPr lang="en-US" altLang="ja-JP" sz="2800" dirty="0" smtClean="0"/>
          </a:p>
          <a:p>
            <a:r>
              <a:rPr kumimoji="1" lang="ja-JP" altLang="en-US" sz="2800" dirty="0" smtClean="0"/>
              <a:t>パス名で指定されたファイルを、フラグに従ってオープンし、ファイル記述子</a:t>
            </a:r>
            <a:r>
              <a:rPr kumimoji="1" lang="en-US" altLang="ja-JP" sz="2800" dirty="0" smtClean="0"/>
              <a:t>(file descriptor,  </a:t>
            </a:r>
            <a:r>
              <a:rPr kumimoji="1" lang="en-US" altLang="ja-JP" sz="2800" dirty="0" err="1" smtClean="0"/>
              <a:t>int</a:t>
            </a:r>
            <a:r>
              <a:rPr kumimoji="1" lang="ja-JP" altLang="en-US" sz="2800" dirty="0" smtClean="0"/>
              <a:t>型</a:t>
            </a:r>
            <a:r>
              <a:rPr kumimoji="1" lang="en-US" altLang="ja-JP" sz="2800" dirty="0" smtClean="0"/>
              <a:t>)</a:t>
            </a:r>
            <a:r>
              <a:rPr kumimoji="1" lang="ja-JP" altLang="en-US" sz="2800" dirty="0" smtClean="0"/>
              <a:t>を返す。フラグが</a:t>
            </a:r>
            <a:r>
              <a:rPr kumimoji="1" lang="en-US" altLang="ja-JP" sz="2800" dirty="0" smtClean="0"/>
              <a:t>O_CREAT</a:t>
            </a:r>
            <a:r>
              <a:rPr kumimoji="1" lang="ja-JP" altLang="en-US" sz="2800" dirty="0" smtClean="0"/>
              <a:t>の場合、モードが必要。</a:t>
            </a:r>
            <a:endParaRPr kumimoji="1" lang="en-US" altLang="ja-JP" sz="2800" dirty="0" smtClean="0"/>
          </a:p>
          <a:p>
            <a:r>
              <a:rPr lang="ja-JP" altLang="en-US" sz="2800" dirty="0" smtClean="0"/>
              <a:t>ファイル記述子は、利用者ファイル記述子表の</a:t>
            </a:r>
            <a:endParaRPr kumimoji="1" lang="en-US" altLang="ja-JP" sz="2800" dirty="0" smtClean="0"/>
          </a:p>
          <a:p>
            <a:r>
              <a:rPr lang="ja-JP" altLang="en-US" sz="2800" dirty="0" smtClean="0"/>
              <a:t>何番目かを表す。</a:t>
            </a:r>
            <a:endParaRPr lang="en-US" altLang="ja-JP" sz="2800" dirty="0" smtClean="0"/>
          </a:p>
          <a:p>
            <a:r>
              <a:rPr kumimoji="1" lang="ja-JP" altLang="en-US" sz="2800" dirty="0" smtClean="0"/>
              <a:t>オープンするとは、データ入出力用のバッファを確保し、利用者ファイル記述子表中の１つの構造体を割り当て、構造体の各メンバーに初期値を設定することをいう。</a:t>
            </a:r>
            <a:endParaRPr kumimoji="1" lang="en-US" altLang="ja-JP" sz="2800" dirty="0" smtClean="0"/>
          </a:p>
          <a:p>
            <a:r>
              <a:rPr lang="ja-JP" altLang="en-US" sz="2800" dirty="0" smtClean="0"/>
              <a:t>利用者ファイル記述子表については</a:t>
            </a:r>
            <a:r>
              <a:rPr lang="en-US" altLang="ja-JP" sz="2800" dirty="0" smtClean="0"/>
              <a:t>dup</a:t>
            </a:r>
            <a:r>
              <a:rPr lang="ja-JP" altLang="en-US" sz="2800" dirty="0" smtClean="0"/>
              <a:t>システムコールの説明時に説明する。</a:t>
            </a:r>
            <a:endParaRPr kumimoji="1" lang="ja-JP" altLang="en-US" sz="2800" dirty="0"/>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939784"/>
          </a:xfrm>
        </p:spPr>
        <p:txBody>
          <a:bodyPr>
            <a:normAutofit/>
          </a:bodyPr>
          <a:lstStyle/>
          <a:p>
            <a:r>
              <a:rPr lang="en-US" altLang="ja-JP" sz="3600" dirty="0" smtClean="0"/>
              <a:t>o</a:t>
            </a:r>
            <a:r>
              <a:rPr kumimoji="1" lang="en-US" altLang="ja-JP" sz="3600" dirty="0" smtClean="0"/>
              <a:t>pen</a:t>
            </a:r>
            <a:r>
              <a:rPr kumimoji="1" lang="ja-JP" altLang="en-US" sz="3600" dirty="0" smtClean="0"/>
              <a:t>システムコールの代表的なフラグ</a:t>
            </a:r>
            <a:endParaRPr kumimoji="1" lang="ja-JP" altLang="en-US" sz="3600" dirty="0"/>
          </a:p>
        </p:txBody>
      </p:sp>
      <p:sp>
        <p:nvSpPr>
          <p:cNvPr id="4" name="テキスト ボックス 3"/>
          <p:cNvSpPr txBox="1"/>
          <p:nvPr/>
        </p:nvSpPr>
        <p:spPr>
          <a:xfrm>
            <a:off x="357158" y="1714488"/>
            <a:ext cx="8501122" cy="3539430"/>
          </a:xfrm>
          <a:prstGeom prst="rect">
            <a:avLst/>
          </a:prstGeom>
          <a:noFill/>
        </p:spPr>
        <p:txBody>
          <a:bodyPr wrap="square" rtlCol="0">
            <a:spAutoFit/>
          </a:bodyPr>
          <a:lstStyle/>
          <a:p>
            <a:r>
              <a:rPr kumimoji="1" lang="en-US" altLang="ja-JP" sz="2800" dirty="0" smtClean="0"/>
              <a:t>O_RDONLY --- </a:t>
            </a:r>
            <a:r>
              <a:rPr kumimoji="1" lang="ja-JP" altLang="en-US" sz="2800" dirty="0" smtClean="0"/>
              <a:t>読みだしのみ</a:t>
            </a:r>
            <a:endParaRPr kumimoji="1" lang="en-US" altLang="ja-JP" sz="2800" dirty="0" smtClean="0"/>
          </a:p>
          <a:p>
            <a:r>
              <a:rPr lang="en-US" altLang="ja-JP" sz="2800" dirty="0" smtClean="0"/>
              <a:t>O_WRONLY --- </a:t>
            </a:r>
            <a:r>
              <a:rPr lang="ja-JP" altLang="en-US" sz="2800" dirty="0" smtClean="0"/>
              <a:t>書き込みのみ</a:t>
            </a:r>
            <a:endParaRPr lang="en-US" altLang="ja-JP" sz="2800" dirty="0" smtClean="0"/>
          </a:p>
          <a:p>
            <a:r>
              <a:rPr kumimoji="1" lang="en-US" altLang="ja-JP" sz="2800" dirty="0" smtClean="0"/>
              <a:t>O_RDWR --- </a:t>
            </a:r>
            <a:r>
              <a:rPr kumimoji="1" lang="ja-JP" altLang="en-US" sz="2800" dirty="0" smtClean="0"/>
              <a:t>読み出し、書き込みの両方</a:t>
            </a:r>
            <a:r>
              <a:rPr lang="ja-JP" altLang="en-US" sz="2800" dirty="0" smtClean="0"/>
              <a:t>を行う</a:t>
            </a:r>
            <a:endParaRPr lang="en-US" altLang="ja-JP" sz="2800" dirty="0" smtClean="0"/>
          </a:p>
          <a:p>
            <a:r>
              <a:rPr kumimoji="1" lang="en-US" altLang="ja-JP" sz="2800" dirty="0" smtClean="0"/>
              <a:t>O_CREAT </a:t>
            </a:r>
            <a:r>
              <a:rPr lang="en-US" altLang="ja-JP" sz="2800" dirty="0" smtClean="0"/>
              <a:t>--- </a:t>
            </a:r>
            <a:r>
              <a:rPr lang="ja-JP" altLang="en-US" sz="2800" dirty="0" smtClean="0"/>
              <a:t>ファイルが存在しない場合作成する。第３引数のモードでファイルの</a:t>
            </a:r>
            <a:r>
              <a:rPr lang="en-US" altLang="ja-JP" sz="2800" dirty="0" smtClean="0"/>
              <a:t>permission</a:t>
            </a:r>
            <a:r>
              <a:rPr lang="ja-JP" altLang="en-US" sz="2800" dirty="0" smtClean="0"/>
              <a:t>等を設定する。</a:t>
            </a:r>
            <a:endParaRPr lang="en-US" altLang="ja-JP" sz="2800" dirty="0" smtClean="0"/>
          </a:p>
          <a:p>
            <a:endParaRPr lang="en-US" altLang="ja-JP" sz="2800" dirty="0" smtClean="0"/>
          </a:p>
          <a:p>
            <a:r>
              <a:rPr lang="ja-JP" altLang="en-US" sz="2800" dirty="0" smtClean="0"/>
              <a:t>これらのフラグは</a:t>
            </a:r>
            <a:r>
              <a:rPr lang="en-US" altLang="ja-JP" sz="2800" dirty="0" err="1" smtClean="0"/>
              <a:t>fcntl.h</a:t>
            </a:r>
            <a:r>
              <a:rPr lang="ja-JP" altLang="en-US" sz="2800" dirty="0" smtClean="0"/>
              <a:t>に記述されているので、インクルードして使う。</a:t>
            </a:r>
            <a:endParaRPr lang="en-US" altLang="ja-JP" sz="2800" dirty="0" smtClean="0"/>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モード</a:t>
            </a:r>
            <a:endParaRPr kumimoji="1" lang="ja-JP" altLang="en-US" dirty="0"/>
          </a:p>
        </p:txBody>
      </p:sp>
      <p:sp>
        <p:nvSpPr>
          <p:cNvPr id="5" name="テキスト ボックス 4"/>
          <p:cNvSpPr txBox="1"/>
          <p:nvPr/>
        </p:nvSpPr>
        <p:spPr>
          <a:xfrm>
            <a:off x="785786" y="1500174"/>
            <a:ext cx="7643866" cy="5262979"/>
          </a:xfrm>
          <a:prstGeom prst="rect">
            <a:avLst/>
          </a:prstGeom>
          <a:noFill/>
        </p:spPr>
        <p:txBody>
          <a:bodyPr wrap="square" rtlCol="0">
            <a:spAutoFit/>
          </a:bodyPr>
          <a:lstStyle/>
          <a:p>
            <a:r>
              <a:rPr lang="en-US" altLang="ja-JP" sz="2800" dirty="0" smtClean="0"/>
              <a:t>open</a:t>
            </a:r>
            <a:r>
              <a:rPr lang="ja-JP" altLang="en-US" sz="2800" dirty="0" smtClean="0"/>
              <a:t>システムコールの第３引数に与えられるモードでは、ファイルの</a:t>
            </a:r>
            <a:r>
              <a:rPr lang="en-US" altLang="ja-JP" sz="2800" dirty="0" smtClean="0"/>
              <a:t>permission</a:t>
            </a:r>
            <a:r>
              <a:rPr lang="ja-JP" altLang="en-US" sz="2800" dirty="0" smtClean="0"/>
              <a:t>およびセットユーザ</a:t>
            </a:r>
            <a:r>
              <a:rPr lang="en-US" altLang="ja-JP" sz="2800" dirty="0" smtClean="0"/>
              <a:t>ID</a:t>
            </a:r>
            <a:r>
              <a:rPr lang="ja-JP" altLang="en-US" sz="2800" dirty="0" smtClean="0"/>
              <a:t>ビット、セットグループ</a:t>
            </a:r>
            <a:r>
              <a:rPr lang="en-US" altLang="ja-JP" sz="2800" dirty="0" smtClean="0"/>
              <a:t>ID</a:t>
            </a:r>
            <a:r>
              <a:rPr lang="ja-JP" altLang="en-US" sz="2800" dirty="0" smtClean="0"/>
              <a:t>ビット、</a:t>
            </a:r>
            <a:r>
              <a:rPr lang="en-US" altLang="ja-JP" sz="2800" dirty="0" smtClean="0"/>
              <a:t>sticky</a:t>
            </a:r>
            <a:r>
              <a:rPr lang="ja-JP" altLang="en-US" sz="2800" dirty="0" smtClean="0"/>
              <a:t>ビット</a:t>
            </a:r>
            <a:r>
              <a:rPr lang="en-US" altLang="ja-JP" sz="2800" dirty="0" smtClean="0"/>
              <a:t>(/</a:t>
            </a:r>
            <a:r>
              <a:rPr lang="en-US" altLang="ja-JP" sz="2800" dirty="0" err="1" smtClean="0"/>
              <a:t>tmp</a:t>
            </a:r>
            <a:r>
              <a:rPr lang="ja-JP" altLang="en-US" sz="2800" dirty="0" smtClean="0"/>
              <a:t>などで使用</a:t>
            </a:r>
            <a:r>
              <a:rPr lang="en-US" altLang="ja-JP" sz="2800" dirty="0" smtClean="0"/>
              <a:t>)</a:t>
            </a:r>
            <a:r>
              <a:rPr lang="ja-JP" altLang="en-US" sz="2800" dirty="0" smtClean="0"/>
              <a:t>を</a:t>
            </a:r>
            <a:r>
              <a:rPr lang="en-US" altLang="ja-JP" sz="2800" dirty="0" smtClean="0"/>
              <a:t>12</a:t>
            </a:r>
            <a:r>
              <a:rPr lang="ja-JP" altLang="en-US" sz="2800" dirty="0" smtClean="0"/>
              <a:t>桁の２進数で表す。代表的な数値は</a:t>
            </a:r>
            <a:r>
              <a:rPr lang="en-US" altLang="ja-JP" sz="2800" dirty="0" err="1" smtClean="0"/>
              <a:t>stat.h</a:t>
            </a:r>
            <a:r>
              <a:rPr lang="ja-JP" altLang="en-US" sz="2800" dirty="0" smtClean="0"/>
              <a:t>でマクロとして提供されているが、数値で直接指定してよい。</a:t>
            </a:r>
            <a:endParaRPr lang="en-US" altLang="ja-JP" sz="2800" dirty="0" smtClean="0"/>
          </a:p>
          <a:p>
            <a:endParaRPr lang="en-US" altLang="ja-JP" sz="2800" dirty="0" smtClean="0"/>
          </a:p>
          <a:p>
            <a:r>
              <a:rPr lang="ja-JP" altLang="en-US" sz="2800" dirty="0" smtClean="0"/>
              <a:t>（例）</a:t>
            </a:r>
            <a:r>
              <a:rPr lang="en-US" altLang="ja-JP" sz="2800" dirty="0" smtClean="0"/>
              <a:t>S_IRWXU</a:t>
            </a:r>
            <a:r>
              <a:rPr lang="ja-JP" altLang="en-US" sz="2800" dirty="0" smtClean="0"/>
              <a:t> </a:t>
            </a:r>
            <a:r>
              <a:rPr lang="en-US" altLang="ja-JP" sz="2800" dirty="0" smtClean="0"/>
              <a:t>--- </a:t>
            </a:r>
            <a:r>
              <a:rPr lang="ja-JP" altLang="en-US" sz="2800" dirty="0" smtClean="0"/>
              <a:t>所有者は</a:t>
            </a:r>
            <a:r>
              <a:rPr lang="en-US" altLang="ja-JP" sz="2800" dirty="0" smtClean="0"/>
              <a:t>read, write, execute</a:t>
            </a:r>
            <a:r>
              <a:rPr lang="ja-JP" altLang="en-US" sz="2800" dirty="0" smtClean="0"/>
              <a:t>ができる。</a:t>
            </a:r>
            <a:endParaRPr lang="en-US" altLang="ja-JP" sz="2800" dirty="0" smtClean="0"/>
          </a:p>
          <a:p>
            <a:r>
              <a:rPr lang="ja-JP" altLang="en-US" sz="2800" dirty="0" smtClean="0"/>
              <a:t>その他にもあるが、</a:t>
            </a:r>
            <a:endParaRPr lang="en-US" altLang="ja-JP" sz="2800" dirty="0" smtClean="0"/>
          </a:p>
          <a:p>
            <a:r>
              <a:rPr lang="en-US" altLang="ja-JP" sz="2800" dirty="0" smtClean="0"/>
              <a:t>  </a:t>
            </a:r>
            <a:r>
              <a:rPr lang="ja-JP" altLang="en-US" sz="2800" dirty="0" smtClean="0"/>
              <a:t>  </a:t>
            </a:r>
            <a:r>
              <a:rPr lang="en-US" altLang="ja-JP" sz="2800" dirty="0" smtClean="0"/>
              <a:t>$  man –S 2 open</a:t>
            </a:r>
          </a:p>
          <a:p>
            <a:r>
              <a:rPr lang="ja-JP" altLang="en-US" sz="2800" dirty="0" smtClean="0"/>
              <a:t>で確認。</a:t>
            </a:r>
            <a:endParaRPr kumimoji="1" lang="ja-JP" altLang="en-US" sz="2800" dirty="0"/>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smtClean="0"/>
              <a:t>r</a:t>
            </a:r>
            <a:r>
              <a:rPr kumimoji="1" lang="en-US" altLang="ja-JP" dirty="0" smtClean="0"/>
              <a:t>ead</a:t>
            </a:r>
            <a:r>
              <a:rPr kumimoji="1" lang="ja-JP" altLang="en-US" dirty="0" smtClean="0"/>
              <a:t>システムコール</a:t>
            </a:r>
            <a:endParaRPr kumimoji="1" lang="ja-JP" altLang="en-US" dirty="0"/>
          </a:p>
        </p:txBody>
      </p:sp>
      <p:sp>
        <p:nvSpPr>
          <p:cNvPr id="4" name="テキスト ボックス 3"/>
          <p:cNvSpPr txBox="1"/>
          <p:nvPr/>
        </p:nvSpPr>
        <p:spPr>
          <a:xfrm>
            <a:off x="714348" y="1571612"/>
            <a:ext cx="8001056" cy="4832092"/>
          </a:xfrm>
          <a:prstGeom prst="rect">
            <a:avLst/>
          </a:prstGeom>
          <a:noFill/>
        </p:spPr>
        <p:txBody>
          <a:bodyPr wrap="square" rtlCol="0">
            <a:spAutoFit/>
          </a:bodyPr>
          <a:lstStyle/>
          <a:p>
            <a:r>
              <a:rPr kumimoji="1" lang="ja-JP" altLang="en-US" sz="2800" dirty="0" smtClean="0"/>
              <a:t>ファイルからデータを読み出すためのシステムコールが</a:t>
            </a:r>
            <a:r>
              <a:rPr kumimoji="1" lang="en-US" altLang="ja-JP" sz="2800" dirty="0" smtClean="0"/>
              <a:t>read</a:t>
            </a:r>
            <a:r>
              <a:rPr kumimoji="1" lang="ja-JP" altLang="en-US" sz="2800" dirty="0" smtClean="0"/>
              <a:t>システムコールである。</a:t>
            </a:r>
            <a:endParaRPr kumimoji="1" lang="en-US" altLang="ja-JP" sz="2800" dirty="0" smtClean="0"/>
          </a:p>
          <a:p>
            <a:r>
              <a:rPr lang="en-US" altLang="ja-JP" sz="2800" dirty="0" err="1" smtClean="0"/>
              <a:t>u</a:t>
            </a:r>
            <a:r>
              <a:rPr kumimoji="1" lang="en-US" altLang="ja-JP" sz="2800" dirty="0" err="1" smtClean="0"/>
              <a:t>nistd.h</a:t>
            </a:r>
            <a:r>
              <a:rPr kumimoji="1" lang="ja-JP" altLang="en-US" sz="2800" dirty="0" smtClean="0"/>
              <a:t>をインクルードする。</a:t>
            </a:r>
            <a:endParaRPr kumimoji="1" lang="en-US" altLang="ja-JP" sz="2800" dirty="0" smtClean="0"/>
          </a:p>
          <a:p>
            <a:endParaRPr lang="en-US" altLang="ja-JP" sz="2800" dirty="0" smtClean="0"/>
          </a:p>
          <a:p>
            <a:r>
              <a:rPr kumimoji="1" lang="ja-JP" altLang="en-US" sz="2800" dirty="0" smtClean="0"/>
              <a:t>ファイル記述子、データ格納領域へのポインタ、読み出しバイト数を引数に与える。返り値は読み出したバイト数。これが</a:t>
            </a:r>
            <a:r>
              <a:rPr kumimoji="1" lang="en-US" altLang="ja-JP" sz="2800" dirty="0" smtClean="0"/>
              <a:t>0</a:t>
            </a:r>
            <a:r>
              <a:rPr kumimoji="1" lang="ja-JP" altLang="en-US" sz="2800" dirty="0" smtClean="0"/>
              <a:t>のときはファイルの最後まで読み終わっているということになる。</a:t>
            </a:r>
            <a:endParaRPr lang="en-US" altLang="ja-JP" sz="2800" dirty="0" smtClean="0"/>
          </a:p>
          <a:p>
            <a:r>
              <a:rPr lang="en-US" altLang="ja-JP" sz="2800" dirty="0" smtClean="0"/>
              <a:t>r</a:t>
            </a:r>
            <a:r>
              <a:rPr kumimoji="1" lang="en-US" altLang="ja-JP" sz="2800" dirty="0" smtClean="0"/>
              <a:t>ead</a:t>
            </a:r>
            <a:r>
              <a:rPr kumimoji="1" lang="ja-JP" altLang="en-US" sz="2800" dirty="0" smtClean="0"/>
              <a:t>システムコールが正常終了しなかった場合は</a:t>
            </a:r>
            <a:r>
              <a:rPr lang="en-US" altLang="ja-JP" sz="2800" dirty="0" smtClean="0"/>
              <a:t>-1</a:t>
            </a:r>
            <a:r>
              <a:rPr lang="ja-JP" altLang="en-US" sz="2800" dirty="0" smtClean="0"/>
              <a:t>が返ってくる。このときは</a:t>
            </a:r>
            <a:r>
              <a:rPr lang="en-US" altLang="ja-JP" sz="2800" dirty="0" err="1" smtClean="0"/>
              <a:t>perror</a:t>
            </a:r>
            <a:r>
              <a:rPr lang="ja-JP" altLang="en-US" sz="2800" dirty="0" smtClean="0"/>
              <a:t>でエラーメッセージを表示する。</a:t>
            </a:r>
            <a:endParaRPr kumimoji="1" lang="ja-JP" altLang="en-US" sz="2800" dirty="0"/>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smtClean="0"/>
              <a:t>w</a:t>
            </a:r>
            <a:r>
              <a:rPr kumimoji="1" lang="en-US" altLang="ja-JP" dirty="0" smtClean="0"/>
              <a:t>rite</a:t>
            </a:r>
            <a:r>
              <a:rPr kumimoji="1" lang="ja-JP" altLang="en-US" dirty="0" smtClean="0"/>
              <a:t>システムコール</a:t>
            </a:r>
            <a:endParaRPr kumimoji="1" lang="ja-JP" altLang="en-US" dirty="0"/>
          </a:p>
        </p:txBody>
      </p:sp>
      <p:sp>
        <p:nvSpPr>
          <p:cNvPr id="5" name="テキスト ボックス 4"/>
          <p:cNvSpPr txBox="1"/>
          <p:nvPr/>
        </p:nvSpPr>
        <p:spPr>
          <a:xfrm>
            <a:off x="714348" y="1571612"/>
            <a:ext cx="8001056" cy="4401205"/>
          </a:xfrm>
          <a:prstGeom prst="rect">
            <a:avLst/>
          </a:prstGeom>
          <a:noFill/>
        </p:spPr>
        <p:txBody>
          <a:bodyPr wrap="square" rtlCol="0">
            <a:spAutoFit/>
          </a:bodyPr>
          <a:lstStyle/>
          <a:p>
            <a:r>
              <a:rPr kumimoji="1" lang="ja-JP" altLang="en-US" sz="2800" dirty="0" smtClean="0"/>
              <a:t>ファイル</a:t>
            </a:r>
            <a:r>
              <a:rPr lang="ja-JP" altLang="en-US" sz="2800" dirty="0" smtClean="0"/>
              <a:t>へ</a:t>
            </a:r>
            <a:r>
              <a:rPr kumimoji="1" lang="ja-JP" altLang="en-US" sz="2800" dirty="0" smtClean="0"/>
              <a:t>データを書き込むためのシステムコールが</a:t>
            </a:r>
            <a:r>
              <a:rPr lang="en-US" altLang="ja-JP" sz="2800" dirty="0" smtClean="0"/>
              <a:t>write</a:t>
            </a:r>
            <a:r>
              <a:rPr kumimoji="1" lang="ja-JP" altLang="en-US" sz="2800" dirty="0" smtClean="0"/>
              <a:t>システムコールである。</a:t>
            </a:r>
            <a:endParaRPr kumimoji="1" lang="en-US" altLang="ja-JP" sz="2800" dirty="0" smtClean="0"/>
          </a:p>
          <a:p>
            <a:r>
              <a:rPr lang="en-US" altLang="ja-JP" sz="2800" dirty="0" err="1" smtClean="0"/>
              <a:t>u</a:t>
            </a:r>
            <a:r>
              <a:rPr kumimoji="1" lang="en-US" altLang="ja-JP" sz="2800" dirty="0" err="1" smtClean="0"/>
              <a:t>nistd.h</a:t>
            </a:r>
            <a:r>
              <a:rPr kumimoji="1" lang="ja-JP" altLang="en-US" sz="2800" dirty="0" smtClean="0"/>
              <a:t>をインクルードする。</a:t>
            </a:r>
            <a:endParaRPr kumimoji="1" lang="en-US" altLang="ja-JP" sz="2800" dirty="0" smtClean="0"/>
          </a:p>
          <a:p>
            <a:endParaRPr lang="en-US" altLang="ja-JP" sz="2800" dirty="0" smtClean="0"/>
          </a:p>
          <a:p>
            <a:r>
              <a:rPr kumimoji="1" lang="ja-JP" altLang="en-US" sz="2800" dirty="0" smtClean="0"/>
              <a:t>ファイル記述子、書き込むデータが格納されている領域へのポインタ、書き込みバイト数を引数に与える。返り値は書きこんだバイト数。</a:t>
            </a:r>
            <a:endParaRPr lang="en-US" altLang="ja-JP" sz="2800" dirty="0" smtClean="0"/>
          </a:p>
          <a:p>
            <a:r>
              <a:rPr lang="en-US" altLang="ja-JP" sz="2800" dirty="0" smtClean="0"/>
              <a:t>write</a:t>
            </a:r>
            <a:r>
              <a:rPr kumimoji="1" lang="ja-JP" altLang="en-US" sz="2800" dirty="0" smtClean="0"/>
              <a:t>システムコールが正常終了しなかった場合は</a:t>
            </a:r>
            <a:r>
              <a:rPr lang="en-US" altLang="ja-JP" sz="2800" dirty="0" smtClean="0"/>
              <a:t>-1</a:t>
            </a:r>
            <a:r>
              <a:rPr lang="ja-JP" altLang="en-US" sz="2800" dirty="0" smtClean="0"/>
              <a:t>が返ってくる。このときは</a:t>
            </a:r>
            <a:r>
              <a:rPr lang="en-US" altLang="ja-JP" sz="2800" dirty="0" err="1" smtClean="0"/>
              <a:t>perror</a:t>
            </a:r>
            <a:r>
              <a:rPr lang="ja-JP" altLang="en-US" sz="2800" dirty="0" smtClean="0"/>
              <a:t>でエラーメッセージを表示する。</a:t>
            </a:r>
            <a:endParaRPr kumimoji="1" lang="ja-JP" altLang="en-US" sz="28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smtClean="0"/>
              <a:t>c</a:t>
            </a:r>
            <a:r>
              <a:rPr kumimoji="1" lang="en-US" altLang="ja-JP" dirty="0" smtClean="0"/>
              <a:t>lose</a:t>
            </a:r>
            <a:r>
              <a:rPr kumimoji="1" lang="ja-JP" altLang="en-US" dirty="0" smtClean="0"/>
              <a:t>システムコール</a:t>
            </a:r>
            <a:endParaRPr kumimoji="1" lang="ja-JP" altLang="en-US" dirty="0"/>
          </a:p>
        </p:txBody>
      </p:sp>
      <p:sp>
        <p:nvSpPr>
          <p:cNvPr id="4" name="テキスト ボックス 3"/>
          <p:cNvSpPr txBox="1"/>
          <p:nvPr/>
        </p:nvSpPr>
        <p:spPr>
          <a:xfrm>
            <a:off x="928662" y="1571612"/>
            <a:ext cx="7572428" cy="3108543"/>
          </a:xfrm>
          <a:prstGeom prst="rect">
            <a:avLst/>
          </a:prstGeom>
          <a:noFill/>
        </p:spPr>
        <p:txBody>
          <a:bodyPr wrap="square" rtlCol="0">
            <a:spAutoFit/>
          </a:bodyPr>
          <a:lstStyle/>
          <a:p>
            <a:r>
              <a:rPr lang="en-US" altLang="ja-JP" sz="2800" dirty="0" smtClean="0"/>
              <a:t>c</a:t>
            </a:r>
            <a:r>
              <a:rPr kumimoji="1" lang="en-US" altLang="ja-JP" sz="2800" dirty="0" smtClean="0"/>
              <a:t>lose</a:t>
            </a:r>
            <a:r>
              <a:rPr kumimoji="1" lang="ja-JP" altLang="en-US" sz="2800" dirty="0" smtClean="0"/>
              <a:t>システムは、ファイル記述子を引数に受け取り、そのファイルをクローズする。</a:t>
            </a:r>
            <a:endParaRPr kumimoji="1" lang="en-US" altLang="ja-JP" sz="2800" dirty="0" smtClean="0"/>
          </a:p>
          <a:p>
            <a:r>
              <a:rPr lang="ja-JP" altLang="en-US" sz="2800" dirty="0" smtClean="0"/>
              <a:t>クローズするとは、入出力用バッファを解放し、利用者記述子表内の構造体を解放することをいう。</a:t>
            </a:r>
            <a:endParaRPr lang="en-US" altLang="ja-JP" sz="2800" dirty="0" smtClean="0"/>
          </a:p>
          <a:p>
            <a:r>
              <a:rPr lang="ja-JP" altLang="en-US" sz="2800" dirty="0" smtClean="0"/>
              <a:t>（同時に開けるファイル数に制限があるので、閉じるのがよい。閉じなければプロセス終了時に閉じられる。）</a:t>
            </a:r>
            <a:endParaRPr kumimoji="1" lang="ja-JP" altLang="en-US" sz="28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401080" cy="582594"/>
          </a:xfrm>
        </p:spPr>
        <p:txBody>
          <a:bodyPr>
            <a:noAutofit/>
          </a:bodyPr>
          <a:lstStyle/>
          <a:p>
            <a:r>
              <a:rPr kumimoji="1" lang="ja-JP" altLang="en-US" sz="3600" dirty="0" smtClean="0"/>
              <a:t>例</a:t>
            </a:r>
            <a:r>
              <a:rPr lang="en-US" altLang="ja-JP" sz="3600" dirty="0" smtClean="0"/>
              <a:t>1</a:t>
            </a:r>
            <a:r>
              <a:rPr kumimoji="1" lang="ja-JP" altLang="en-US" sz="3600" dirty="0" smtClean="0"/>
              <a:t>：</a:t>
            </a:r>
            <a:r>
              <a:rPr lang="ja-JP" altLang="en-US" sz="3600" dirty="0" smtClean="0"/>
              <a:t>テキストファイルの先頭に</a:t>
            </a:r>
            <a:r>
              <a:rPr lang="en-US" altLang="ja-JP" sz="3600" dirty="0" smtClean="0"/>
              <a:t>a</a:t>
            </a:r>
            <a:r>
              <a:rPr lang="ja-JP" altLang="en-US" sz="3600" dirty="0" smtClean="0"/>
              <a:t>を書き込む</a:t>
            </a:r>
            <a:endParaRPr kumimoji="1" lang="ja-JP" altLang="en-US" sz="3600" dirty="0"/>
          </a:p>
        </p:txBody>
      </p:sp>
      <p:sp>
        <p:nvSpPr>
          <p:cNvPr id="6" name="正方形/長方形 5"/>
          <p:cNvSpPr/>
          <p:nvPr/>
        </p:nvSpPr>
        <p:spPr>
          <a:xfrm>
            <a:off x="214282" y="1071546"/>
            <a:ext cx="4572032" cy="4893647"/>
          </a:xfrm>
          <a:prstGeom prst="rect">
            <a:avLst/>
          </a:prstGeom>
          <a:ln>
            <a:solidFill>
              <a:schemeClr val="tx1"/>
            </a:solidFill>
          </a:ln>
        </p:spPr>
        <p:txBody>
          <a:bodyPr wrap="square">
            <a:spAutoFit/>
          </a:bodyPr>
          <a:lstStyle/>
          <a:p>
            <a:r>
              <a:rPr lang="en-US" altLang="ja-JP" sz="2400" dirty="0" smtClean="0"/>
              <a:t>#include &lt;</a:t>
            </a:r>
            <a:r>
              <a:rPr lang="en-US" altLang="ja-JP" sz="2400" dirty="0" err="1" smtClean="0"/>
              <a:t>stdio.h</a:t>
            </a:r>
            <a:r>
              <a:rPr lang="en-US" altLang="ja-JP" sz="2400" dirty="0" smtClean="0"/>
              <a:t>&gt;</a:t>
            </a:r>
          </a:p>
          <a:p>
            <a:r>
              <a:rPr lang="en-US" altLang="ja-JP" sz="2400" dirty="0" smtClean="0"/>
              <a:t>#include &lt;sys/</a:t>
            </a:r>
            <a:r>
              <a:rPr lang="en-US" altLang="ja-JP" sz="2400" dirty="0" err="1" smtClean="0"/>
              <a:t>types.h</a:t>
            </a:r>
            <a:r>
              <a:rPr lang="en-US" altLang="ja-JP" sz="2400" dirty="0" smtClean="0"/>
              <a:t>&gt;</a:t>
            </a:r>
          </a:p>
          <a:p>
            <a:r>
              <a:rPr lang="en-US" altLang="ja-JP" sz="2400" dirty="0" smtClean="0"/>
              <a:t>#include &lt;sys/</a:t>
            </a:r>
            <a:r>
              <a:rPr lang="en-US" altLang="ja-JP" sz="2400" dirty="0" err="1" smtClean="0"/>
              <a:t>stat.h</a:t>
            </a:r>
            <a:r>
              <a:rPr lang="en-US" altLang="ja-JP" sz="2400" dirty="0" smtClean="0"/>
              <a:t>&gt;</a:t>
            </a:r>
          </a:p>
          <a:p>
            <a:r>
              <a:rPr lang="en-US" altLang="ja-JP" sz="2400" dirty="0" smtClean="0"/>
              <a:t>#include &lt;</a:t>
            </a:r>
            <a:r>
              <a:rPr lang="en-US" altLang="ja-JP" sz="2400" dirty="0" err="1" smtClean="0"/>
              <a:t>fcntl.h</a:t>
            </a:r>
            <a:r>
              <a:rPr lang="en-US" altLang="ja-JP" sz="2400" dirty="0" smtClean="0"/>
              <a:t>&gt;</a:t>
            </a:r>
          </a:p>
          <a:p>
            <a:r>
              <a:rPr lang="en-US" altLang="ja-JP" sz="2400" dirty="0" smtClean="0"/>
              <a:t>#include &lt;</a:t>
            </a:r>
            <a:r>
              <a:rPr lang="en-US" altLang="ja-JP" sz="2400" dirty="0" err="1" smtClean="0"/>
              <a:t>unistd.h</a:t>
            </a:r>
            <a:r>
              <a:rPr lang="en-US" altLang="ja-JP" sz="2400" dirty="0" smtClean="0"/>
              <a:t>&gt;</a:t>
            </a:r>
          </a:p>
          <a:p>
            <a:r>
              <a:rPr lang="en-US" altLang="ja-JP" sz="2400" dirty="0" err="1" smtClean="0"/>
              <a:t>int</a:t>
            </a:r>
            <a:r>
              <a:rPr lang="en-US" altLang="ja-JP" sz="2400" dirty="0" smtClean="0"/>
              <a:t> main (void) {</a:t>
            </a:r>
          </a:p>
          <a:p>
            <a:r>
              <a:rPr lang="en-US" altLang="ja-JP" sz="2400" dirty="0" smtClean="0"/>
              <a:t>  </a:t>
            </a:r>
            <a:r>
              <a:rPr lang="en-US" altLang="ja-JP" sz="2400" dirty="0" err="1" smtClean="0"/>
              <a:t>int</a:t>
            </a:r>
            <a:r>
              <a:rPr lang="en-US" altLang="ja-JP" sz="2400" dirty="0" smtClean="0"/>
              <a:t> </a:t>
            </a:r>
            <a:r>
              <a:rPr lang="en-US" altLang="ja-JP" sz="2400" dirty="0" err="1" smtClean="0"/>
              <a:t>fd</a:t>
            </a:r>
            <a:r>
              <a:rPr lang="en-US" altLang="ja-JP" sz="2400" dirty="0" smtClean="0"/>
              <a:t>, n;</a:t>
            </a:r>
          </a:p>
          <a:p>
            <a:r>
              <a:rPr lang="en-US" altLang="ja-JP" sz="2400" dirty="0" smtClean="0"/>
              <a:t>  char c = 'a';</a:t>
            </a:r>
          </a:p>
          <a:p>
            <a:r>
              <a:rPr lang="en-US" altLang="ja-JP" sz="2400" dirty="0" smtClean="0"/>
              <a:t>  if ((</a:t>
            </a:r>
            <a:r>
              <a:rPr lang="en-US" altLang="ja-JP" sz="2400" dirty="0" err="1" smtClean="0"/>
              <a:t>fd</a:t>
            </a:r>
            <a:r>
              <a:rPr lang="en-US" altLang="ja-JP" sz="2400" dirty="0" smtClean="0"/>
              <a:t> = open ("test", </a:t>
            </a:r>
            <a:r>
              <a:rPr lang="en-US" altLang="ja-JP" sz="2400" dirty="0" smtClean="0">
                <a:solidFill>
                  <a:srgbClr val="FF0000"/>
                </a:solidFill>
              </a:rPr>
              <a:t>O_WRONLY</a:t>
            </a:r>
            <a:r>
              <a:rPr lang="en-US" altLang="ja-JP" sz="2400" dirty="0" smtClean="0"/>
              <a:t>))</a:t>
            </a:r>
          </a:p>
          <a:p>
            <a:r>
              <a:rPr lang="en-US" altLang="ja-JP" sz="2400" dirty="0" smtClean="0"/>
              <a:t>      == -1) {</a:t>
            </a:r>
          </a:p>
          <a:p>
            <a:r>
              <a:rPr lang="en-US" altLang="ja-JP" sz="2400" dirty="0" smtClean="0"/>
              <a:t>    </a:t>
            </a:r>
            <a:r>
              <a:rPr lang="en-US" altLang="ja-JP" sz="2400" dirty="0" err="1" smtClean="0"/>
              <a:t>perror</a:t>
            </a:r>
            <a:r>
              <a:rPr lang="en-US" altLang="ja-JP" sz="2400" dirty="0" smtClean="0"/>
              <a:t> ("open");</a:t>
            </a:r>
          </a:p>
          <a:p>
            <a:r>
              <a:rPr lang="en-US" altLang="ja-JP" sz="2400" dirty="0" smtClean="0"/>
              <a:t>    exit(1);</a:t>
            </a:r>
          </a:p>
          <a:p>
            <a:r>
              <a:rPr lang="en-US" altLang="ja-JP" sz="2400" dirty="0" smtClean="0"/>
              <a:t>  }</a:t>
            </a:r>
          </a:p>
        </p:txBody>
      </p:sp>
      <p:sp>
        <p:nvSpPr>
          <p:cNvPr id="7" name="正方形/長方形 6"/>
          <p:cNvSpPr/>
          <p:nvPr/>
        </p:nvSpPr>
        <p:spPr>
          <a:xfrm>
            <a:off x="4929158" y="1142984"/>
            <a:ext cx="4000560" cy="4154984"/>
          </a:xfrm>
          <a:prstGeom prst="rect">
            <a:avLst/>
          </a:prstGeom>
          <a:ln>
            <a:solidFill>
              <a:schemeClr val="tx1"/>
            </a:solidFill>
          </a:ln>
        </p:spPr>
        <p:txBody>
          <a:bodyPr wrap="square">
            <a:spAutoFit/>
          </a:bodyPr>
          <a:lstStyle/>
          <a:p>
            <a:r>
              <a:rPr lang="en-US" altLang="ja-JP" sz="2400" dirty="0" smtClean="0"/>
              <a:t>/* </a:t>
            </a:r>
            <a:r>
              <a:rPr lang="ja-JP" altLang="en-US" sz="2400" dirty="0" smtClean="0"/>
              <a:t>続き </a:t>
            </a:r>
            <a:r>
              <a:rPr lang="en-US" altLang="ja-JP" sz="2400" dirty="0" smtClean="0"/>
              <a:t>*/</a:t>
            </a:r>
          </a:p>
          <a:p>
            <a:r>
              <a:rPr lang="en-US" altLang="ja-JP" sz="2400" dirty="0" smtClean="0"/>
              <a:t>if (</a:t>
            </a:r>
            <a:r>
              <a:rPr lang="en-US" altLang="ja-JP" sz="2400" dirty="0" smtClean="0">
                <a:solidFill>
                  <a:srgbClr val="FF0000"/>
                </a:solidFill>
              </a:rPr>
              <a:t>write</a:t>
            </a:r>
            <a:r>
              <a:rPr lang="en-US" altLang="ja-JP" sz="2400" dirty="0" smtClean="0"/>
              <a:t> (</a:t>
            </a:r>
            <a:r>
              <a:rPr lang="en-US" altLang="ja-JP" sz="2400" dirty="0" err="1" smtClean="0"/>
              <a:t>fd</a:t>
            </a:r>
            <a:r>
              <a:rPr lang="en-US" altLang="ja-JP" sz="2400" dirty="0" smtClean="0"/>
              <a:t>, &amp;c, 1) != 1){</a:t>
            </a:r>
          </a:p>
          <a:p>
            <a:r>
              <a:rPr lang="en-US" altLang="ja-JP" sz="2400" dirty="0" smtClean="0"/>
              <a:t>    </a:t>
            </a:r>
            <a:r>
              <a:rPr lang="en-US" altLang="ja-JP" sz="2400" dirty="0" err="1" smtClean="0"/>
              <a:t>perror</a:t>
            </a:r>
            <a:r>
              <a:rPr lang="en-US" altLang="ja-JP" sz="2400" dirty="0" smtClean="0"/>
              <a:t> ("write");</a:t>
            </a:r>
          </a:p>
          <a:p>
            <a:r>
              <a:rPr lang="en-US" altLang="ja-JP" sz="2400" dirty="0" smtClean="0"/>
              <a:t>    exit(1);</a:t>
            </a:r>
          </a:p>
          <a:p>
            <a:r>
              <a:rPr lang="en-US" altLang="ja-JP" sz="2400" dirty="0" smtClean="0"/>
              <a:t>  }</a:t>
            </a:r>
          </a:p>
          <a:p>
            <a:r>
              <a:rPr lang="en-US" altLang="ja-JP" sz="2400" dirty="0" smtClean="0"/>
              <a:t>  if (close (</a:t>
            </a:r>
            <a:r>
              <a:rPr lang="en-US" altLang="ja-JP" sz="2400" dirty="0" err="1" smtClean="0"/>
              <a:t>fd</a:t>
            </a:r>
            <a:r>
              <a:rPr lang="en-US" altLang="ja-JP" sz="2400" dirty="0" smtClean="0"/>
              <a:t>) == -1) {</a:t>
            </a:r>
          </a:p>
          <a:p>
            <a:r>
              <a:rPr lang="en-US" altLang="ja-JP" sz="2400" dirty="0" smtClean="0"/>
              <a:t>    </a:t>
            </a:r>
            <a:r>
              <a:rPr lang="en-US" altLang="ja-JP" sz="2400" dirty="0" err="1" smtClean="0"/>
              <a:t>perror</a:t>
            </a:r>
            <a:r>
              <a:rPr lang="en-US" altLang="ja-JP" sz="2400" dirty="0" smtClean="0"/>
              <a:t> ("close");</a:t>
            </a:r>
          </a:p>
          <a:p>
            <a:r>
              <a:rPr lang="en-US" altLang="ja-JP" sz="2400" dirty="0" smtClean="0"/>
              <a:t>    exit(1);</a:t>
            </a:r>
          </a:p>
          <a:p>
            <a:r>
              <a:rPr lang="en-US" altLang="ja-JP" sz="2400" dirty="0" smtClean="0"/>
              <a:t>  }</a:t>
            </a:r>
          </a:p>
          <a:p>
            <a:r>
              <a:rPr lang="en-US" altLang="ja-JP" sz="2400" dirty="0" smtClean="0"/>
              <a:t>  return 0;</a:t>
            </a:r>
          </a:p>
          <a:p>
            <a:r>
              <a:rPr lang="en-US" altLang="ja-JP" sz="2400" dirty="0" smtClean="0"/>
              <a:t>}</a:t>
            </a:r>
            <a:endParaRPr lang="ja-JP" altLang="en-US" sz="2400" dirty="0"/>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演習課題２</a:t>
            </a:r>
            <a:endParaRPr kumimoji="1" lang="ja-JP" altLang="en-US" dirty="0"/>
          </a:p>
        </p:txBody>
      </p:sp>
      <p:sp>
        <p:nvSpPr>
          <p:cNvPr id="3" name="コンテンツ プレースホルダ 2"/>
          <p:cNvSpPr>
            <a:spLocks noGrp="1"/>
          </p:cNvSpPr>
          <p:nvPr>
            <p:ph idx="1"/>
          </p:nvPr>
        </p:nvSpPr>
        <p:spPr>
          <a:xfrm>
            <a:off x="457200" y="1600201"/>
            <a:ext cx="8229600" cy="2114552"/>
          </a:xfrm>
        </p:spPr>
        <p:txBody>
          <a:bodyPr>
            <a:normAutofit/>
          </a:bodyPr>
          <a:lstStyle/>
          <a:p>
            <a:r>
              <a:rPr lang="ja-JP" altLang="en-US" dirty="0" smtClean="0"/>
              <a:t>テキストファイル（ファイル名は</a:t>
            </a:r>
            <a:r>
              <a:rPr lang="en-US" altLang="ja-JP" dirty="0" smtClean="0"/>
              <a:t>test</a:t>
            </a:r>
            <a:r>
              <a:rPr lang="ja-JP" altLang="en-US" dirty="0" smtClean="0"/>
              <a:t>など）の先頭文字を読み取り、その文字を２文字目に書きこむ。</a:t>
            </a:r>
            <a:r>
              <a:rPr lang="en-US" altLang="ja-JP" dirty="0" smtClean="0"/>
              <a:t>Open</a:t>
            </a:r>
            <a:r>
              <a:rPr lang="ja-JP" altLang="en-US" dirty="0" smtClean="0"/>
              <a:t>システムコールの第２引数（フラグ）は</a:t>
            </a:r>
            <a:r>
              <a:rPr lang="en-US" altLang="ja-JP" dirty="0" smtClean="0"/>
              <a:t>O_RDWR</a:t>
            </a:r>
            <a:r>
              <a:rPr lang="ja-JP" altLang="en-US" dirty="0" smtClean="0"/>
              <a:t>にする。</a:t>
            </a:r>
            <a:endParaRPr lang="en-US" altLang="ja-JP" dirty="0" smtClean="0"/>
          </a:p>
        </p:txBody>
      </p:sp>
      <p:sp>
        <p:nvSpPr>
          <p:cNvPr id="4" name="正方形/長方形 3"/>
          <p:cNvSpPr/>
          <p:nvPr/>
        </p:nvSpPr>
        <p:spPr>
          <a:xfrm>
            <a:off x="1071538" y="4071942"/>
            <a:ext cx="6929486" cy="2246769"/>
          </a:xfrm>
          <a:prstGeom prst="rect">
            <a:avLst/>
          </a:prstGeom>
        </p:spPr>
        <p:txBody>
          <a:bodyPr wrap="square">
            <a:spAutoFit/>
          </a:bodyPr>
          <a:lstStyle/>
          <a:p>
            <a:pPr>
              <a:buNone/>
            </a:pPr>
            <a:r>
              <a:rPr lang="en-US" altLang="ja-JP" sz="2800" dirty="0" smtClean="0"/>
              <a:t>read, write</a:t>
            </a:r>
            <a:r>
              <a:rPr lang="ja-JP" altLang="en-US" sz="2800" dirty="0" smtClean="0"/>
              <a:t>システムコールを呼ぶたびに、読み書きのためのポインタ</a:t>
            </a:r>
            <a:r>
              <a:rPr lang="en-US" altLang="ja-JP" sz="2800" dirty="0" smtClean="0"/>
              <a:t>(</a:t>
            </a:r>
            <a:r>
              <a:rPr lang="ja-JP" altLang="en-US" sz="2800" dirty="0" smtClean="0"/>
              <a:t>システムコール内部のポインタ</a:t>
            </a:r>
            <a:r>
              <a:rPr lang="en-US" altLang="ja-JP" sz="2800" dirty="0" smtClean="0"/>
              <a:t>)</a:t>
            </a:r>
            <a:r>
              <a:rPr lang="ja-JP" altLang="en-US" sz="2800" dirty="0" smtClean="0"/>
              <a:t>が１つ進むので、</a:t>
            </a:r>
            <a:r>
              <a:rPr lang="en-US" altLang="ja-JP" sz="2800" dirty="0" smtClean="0"/>
              <a:t>read</a:t>
            </a:r>
            <a:r>
              <a:rPr lang="ja-JP" altLang="en-US" sz="2800" dirty="0" smtClean="0"/>
              <a:t>で読み取ったあとに</a:t>
            </a:r>
            <a:r>
              <a:rPr lang="en-US" altLang="ja-JP" sz="2800" dirty="0" smtClean="0"/>
              <a:t>write</a:t>
            </a:r>
            <a:r>
              <a:rPr lang="ja-JP" altLang="en-US" sz="2800" dirty="0" smtClean="0"/>
              <a:t>で書き込めば、</a:t>
            </a:r>
            <a:r>
              <a:rPr lang="en-US" altLang="ja-JP" sz="2800" dirty="0" smtClean="0"/>
              <a:t>2</a:t>
            </a:r>
            <a:r>
              <a:rPr lang="ja-JP" altLang="en-US" sz="2800" dirty="0" smtClean="0"/>
              <a:t>文字目に書きこまれることになる。</a:t>
            </a:r>
            <a:endParaRPr lang="ja-JP" altLang="en-US" sz="2800" dirty="0"/>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0" y="0"/>
            <a:ext cx="1285884" cy="582594"/>
          </a:xfrm>
        </p:spPr>
        <p:txBody>
          <a:bodyPr>
            <a:noAutofit/>
          </a:bodyPr>
          <a:lstStyle/>
          <a:p>
            <a:r>
              <a:rPr kumimoji="1" lang="ja-JP" altLang="en-US" sz="3600" dirty="0" smtClean="0"/>
              <a:t>例</a:t>
            </a:r>
            <a:r>
              <a:rPr lang="en-US" altLang="ja-JP" sz="3600" dirty="0" smtClean="0"/>
              <a:t>2</a:t>
            </a:r>
            <a:endParaRPr kumimoji="1" lang="ja-JP" altLang="en-US" sz="3600" dirty="0"/>
          </a:p>
        </p:txBody>
      </p:sp>
      <p:sp>
        <p:nvSpPr>
          <p:cNvPr id="6" name="正方形/長方形 5"/>
          <p:cNvSpPr/>
          <p:nvPr/>
        </p:nvSpPr>
        <p:spPr>
          <a:xfrm>
            <a:off x="71406" y="642918"/>
            <a:ext cx="4357718" cy="5632311"/>
          </a:xfrm>
          <a:prstGeom prst="rect">
            <a:avLst/>
          </a:prstGeom>
          <a:ln>
            <a:solidFill>
              <a:schemeClr val="tx1"/>
            </a:solidFill>
          </a:ln>
        </p:spPr>
        <p:txBody>
          <a:bodyPr wrap="square">
            <a:spAutoFit/>
          </a:bodyPr>
          <a:lstStyle/>
          <a:p>
            <a:r>
              <a:rPr lang="en-US" altLang="ja-JP" sz="2400" dirty="0" smtClean="0"/>
              <a:t>/* </a:t>
            </a:r>
            <a:r>
              <a:rPr lang="ja-JP" altLang="en-US" sz="2400" dirty="0" smtClean="0"/>
              <a:t>テキストファイル全部表示 </a:t>
            </a:r>
            <a:r>
              <a:rPr lang="en-US" altLang="ja-JP" sz="2400" dirty="0" smtClean="0"/>
              <a:t>*/</a:t>
            </a:r>
          </a:p>
          <a:p>
            <a:r>
              <a:rPr lang="en-US" altLang="ja-JP" sz="2400" dirty="0" smtClean="0"/>
              <a:t>#include &lt;</a:t>
            </a:r>
            <a:r>
              <a:rPr lang="en-US" altLang="ja-JP" sz="2400" dirty="0" err="1" smtClean="0"/>
              <a:t>stdio.h</a:t>
            </a:r>
            <a:r>
              <a:rPr lang="en-US" altLang="ja-JP" sz="2400" dirty="0" smtClean="0"/>
              <a:t>&gt;</a:t>
            </a:r>
          </a:p>
          <a:p>
            <a:r>
              <a:rPr lang="en-US" altLang="ja-JP" sz="2400" dirty="0" smtClean="0"/>
              <a:t>#include &lt;sys/</a:t>
            </a:r>
            <a:r>
              <a:rPr lang="en-US" altLang="ja-JP" sz="2400" dirty="0" err="1" smtClean="0"/>
              <a:t>types.h</a:t>
            </a:r>
            <a:r>
              <a:rPr lang="en-US" altLang="ja-JP" sz="2400" dirty="0" smtClean="0"/>
              <a:t>&gt;</a:t>
            </a:r>
          </a:p>
          <a:p>
            <a:r>
              <a:rPr lang="en-US" altLang="ja-JP" sz="2400" dirty="0" smtClean="0"/>
              <a:t>#include &lt;sys/</a:t>
            </a:r>
            <a:r>
              <a:rPr lang="en-US" altLang="ja-JP" sz="2400" dirty="0" err="1" smtClean="0"/>
              <a:t>stat.h</a:t>
            </a:r>
            <a:r>
              <a:rPr lang="en-US" altLang="ja-JP" sz="2400" dirty="0" smtClean="0"/>
              <a:t>&gt;</a:t>
            </a:r>
          </a:p>
          <a:p>
            <a:r>
              <a:rPr lang="en-US" altLang="ja-JP" sz="2400" dirty="0" smtClean="0"/>
              <a:t>#include &lt;</a:t>
            </a:r>
            <a:r>
              <a:rPr lang="en-US" altLang="ja-JP" sz="2400" dirty="0" err="1" smtClean="0"/>
              <a:t>fcntl.h</a:t>
            </a:r>
            <a:r>
              <a:rPr lang="en-US" altLang="ja-JP" sz="2400" dirty="0" smtClean="0"/>
              <a:t>&gt;</a:t>
            </a:r>
          </a:p>
          <a:p>
            <a:r>
              <a:rPr lang="en-US" altLang="ja-JP" sz="2400" dirty="0" smtClean="0"/>
              <a:t>#include &lt;</a:t>
            </a:r>
            <a:r>
              <a:rPr lang="en-US" altLang="ja-JP" sz="2400" dirty="0" err="1" smtClean="0"/>
              <a:t>unistd.h</a:t>
            </a:r>
            <a:r>
              <a:rPr lang="en-US" altLang="ja-JP" sz="2400" dirty="0" smtClean="0"/>
              <a:t>&gt;</a:t>
            </a:r>
          </a:p>
          <a:p>
            <a:r>
              <a:rPr lang="en-US" altLang="ja-JP" sz="2400" dirty="0" err="1" smtClean="0"/>
              <a:t>int</a:t>
            </a:r>
            <a:r>
              <a:rPr lang="en-US" altLang="ja-JP" sz="2400" dirty="0" smtClean="0"/>
              <a:t> main (</a:t>
            </a:r>
            <a:r>
              <a:rPr lang="en-US" altLang="ja-JP" sz="2400" dirty="0" err="1" smtClean="0"/>
              <a:t>int</a:t>
            </a:r>
            <a:r>
              <a:rPr lang="en-US" altLang="ja-JP" sz="2400" dirty="0" smtClean="0"/>
              <a:t> </a:t>
            </a:r>
            <a:r>
              <a:rPr lang="en-US" altLang="ja-JP" sz="2400" dirty="0" err="1" smtClean="0"/>
              <a:t>argc</a:t>
            </a:r>
            <a:r>
              <a:rPr lang="en-US" altLang="ja-JP" sz="2400" dirty="0" smtClean="0"/>
              <a:t>, char * </a:t>
            </a:r>
            <a:r>
              <a:rPr lang="en-US" altLang="ja-JP" sz="2400" dirty="0" err="1" smtClean="0"/>
              <a:t>argv</a:t>
            </a:r>
            <a:r>
              <a:rPr lang="en-US" altLang="ja-JP" sz="2400" smtClean="0"/>
              <a:t> []) </a:t>
            </a:r>
            <a:r>
              <a:rPr lang="en-US" altLang="ja-JP" sz="2400" dirty="0" smtClean="0"/>
              <a:t>{</a:t>
            </a:r>
          </a:p>
          <a:p>
            <a:r>
              <a:rPr lang="en-US" altLang="ja-JP" sz="2400" dirty="0" smtClean="0"/>
              <a:t>  </a:t>
            </a:r>
            <a:r>
              <a:rPr lang="en-US" altLang="ja-JP" sz="2400" dirty="0" err="1" smtClean="0"/>
              <a:t>int</a:t>
            </a:r>
            <a:r>
              <a:rPr lang="en-US" altLang="ja-JP" sz="2400" dirty="0" smtClean="0"/>
              <a:t> </a:t>
            </a:r>
            <a:r>
              <a:rPr lang="en-US" altLang="ja-JP" sz="2400" dirty="0" err="1" smtClean="0"/>
              <a:t>fd</a:t>
            </a:r>
            <a:r>
              <a:rPr lang="en-US" altLang="ja-JP" sz="2400" dirty="0" smtClean="0"/>
              <a:t>, n;</a:t>
            </a:r>
          </a:p>
          <a:p>
            <a:r>
              <a:rPr lang="en-US" altLang="ja-JP" sz="2400" dirty="0" smtClean="0"/>
              <a:t>  char c;</a:t>
            </a:r>
          </a:p>
          <a:p>
            <a:r>
              <a:rPr lang="en-US" altLang="ja-JP" sz="2400" dirty="0" smtClean="0"/>
              <a:t>  if (</a:t>
            </a:r>
            <a:r>
              <a:rPr lang="en-US" altLang="ja-JP" sz="2400" dirty="0" err="1" smtClean="0"/>
              <a:t>argc</a:t>
            </a:r>
            <a:r>
              <a:rPr lang="en-US" altLang="ja-JP" sz="2400" dirty="0" smtClean="0"/>
              <a:t>!=2) {</a:t>
            </a:r>
          </a:p>
          <a:p>
            <a:r>
              <a:rPr lang="en-US" altLang="ja-JP" sz="2400" dirty="0" smtClean="0"/>
              <a:t>    </a:t>
            </a:r>
            <a:r>
              <a:rPr lang="en-US" altLang="ja-JP" sz="2400" dirty="0" err="1" smtClean="0"/>
              <a:t>fprintf</a:t>
            </a:r>
            <a:r>
              <a:rPr lang="en-US" altLang="ja-JP" sz="2400" dirty="0" smtClean="0"/>
              <a:t> (</a:t>
            </a:r>
            <a:r>
              <a:rPr lang="en-US" altLang="ja-JP" sz="2400" dirty="0" err="1" smtClean="0"/>
              <a:t>stderr</a:t>
            </a:r>
            <a:r>
              <a:rPr lang="en-US" altLang="ja-JP" sz="2400" dirty="0" smtClean="0"/>
              <a:t>,</a:t>
            </a:r>
          </a:p>
          <a:p>
            <a:r>
              <a:rPr lang="en-US" altLang="ja-JP" sz="2400" dirty="0" smtClean="0"/>
              <a:t>             "Usage: %s filename\n",</a:t>
            </a:r>
          </a:p>
          <a:p>
            <a:r>
              <a:rPr lang="en-US" altLang="ja-JP" sz="2400" dirty="0" smtClean="0"/>
              <a:t>             </a:t>
            </a:r>
            <a:r>
              <a:rPr lang="en-US" altLang="ja-JP" sz="2400" dirty="0" err="1" smtClean="0"/>
              <a:t>argv</a:t>
            </a:r>
            <a:r>
              <a:rPr lang="en-US" altLang="ja-JP" sz="2400" dirty="0" smtClean="0"/>
              <a:t>[0]);</a:t>
            </a:r>
          </a:p>
          <a:p>
            <a:r>
              <a:rPr lang="en-US" altLang="ja-JP" sz="2400" dirty="0" smtClean="0"/>
              <a:t>    exit(1);</a:t>
            </a:r>
          </a:p>
          <a:p>
            <a:r>
              <a:rPr lang="en-US" altLang="ja-JP" sz="2400" dirty="0" smtClean="0"/>
              <a:t>  }</a:t>
            </a:r>
          </a:p>
        </p:txBody>
      </p:sp>
      <p:sp>
        <p:nvSpPr>
          <p:cNvPr id="7" name="正方形/長方形 6"/>
          <p:cNvSpPr/>
          <p:nvPr/>
        </p:nvSpPr>
        <p:spPr>
          <a:xfrm>
            <a:off x="4500594" y="71414"/>
            <a:ext cx="4643438" cy="6740307"/>
          </a:xfrm>
          <a:prstGeom prst="rect">
            <a:avLst/>
          </a:prstGeom>
          <a:ln>
            <a:solidFill>
              <a:schemeClr val="tx1"/>
            </a:solidFill>
          </a:ln>
        </p:spPr>
        <p:txBody>
          <a:bodyPr wrap="square">
            <a:spAutoFit/>
          </a:bodyPr>
          <a:lstStyle/>
          <a:p>
            <a:r>
              <a:rPr lang="en-US" altLang="ja-JP" sz="2400" dirty="0" smtClean="0"/>
              <a:t>/* </a:t>
            </a:r>
            <a:r>
              <a:rPr lang="ja-JP" altLang="en-US" sz="2400" dirty="0" smtClean="0"/>
              <a:t>続き </a:t>
            </a:r>
            <a:r>
              <a:rPr lang="en-US" altLang="ja-JP" sz="2400" dirty="0" smtClean="0"/>
              <a:t>*/</a:t>
            </a:r>
          </a:p>
          <a:p>
            <a:r>
              <a:rPr lang="en-US" altLang="ja-JP" sz="2400" dirty="0" smtClean="0"/>
              <a:t>  if ((</a:t>
            </a:r>
            <a:r>
              <a:rPr lang="en-US" altLang="ja-JP" sz="2400" dirty="0" err="1" smtClean="0"/>
              <a:t>fd</a:t>
            </a:r>
            <a:r>
              <a:rPr lang="en-US" altLang="ja-JP" sz="2400" dirty="0" smtClean="0"/>
              <a:t> = open (</a:t>
            </a:r>
            <a:r>
              <a:rPr lang="en-US" altLang="ja-JP" sz="2400" dirty="0" err="1" smtClean="0"/>
              <a:t>argv</a:t>
            </a:r>
            <a:r>
              <a:rPr lang="en-US" altLang="ja-JP" sz="2400" dirty="0" smtClean="0"/>
              <a:t>[1], O_RDONLY))</a:t>
            </a:r>
          </a:p>
          <a:p>
            <a:r>
              <a:rPr lang="en-US" altLang="ja-JP" sz="2400" dirty="0" smtClean="0"/>
              <a:t>      == -1) {</a:t>
            </a:r>
          </a:p>
          <a:p>
            <a:r>
              <a:rPr lang="en-US" altLang="ja-JP" sz="2400" dirty="0" smtClean="0"/>
              <a:t>    </a:t>
            </a:r>
            <a:r>
              <a:rPr lang="en-US" altLang="ja-JP" sz="2400" dirty="0" err="1" smtClean="0"/>
              <a:t>perror</a:t>
            </a:r>
            <a:r>
              <a:rPr lang="en-US" altLang="ja-JP" sz="2400" dirty="0" smtClean="0"/>
              <a:t> ("open");</a:t>
            </a:r>
          </a:p>
          <a:p>
            <a:r>
              <a:rPr lang="en-US" altLang="ja-JP" sz="2400" dirty="0" smtClean="0"/>
              <a:t>    exit(1);</a:t>
            </a:r>
          </a:p>
          <a:p>
            <a:r>
              <a:rPr lang="en-US" altLang="ja-JP" sz="2400" dirty="0" smtClean="0"/>
              <a:t>  }</a:t>
            </a:r>
          </a:p>
          <a:p>
            <a:r>
              <a:rPr lang="en-US" altLang="ja-JP" sz="2400" dirty="0" smtClean="0"/>
              <a:t>  while ((n = read (</a:t>
            </a:r>
            <a:r>
              <a:rPr lang="en-US" altLang="ja-JP" sz="2400" dirty="0" err="1" smtClean="0"/>
              <a:t>fd</a:t>
            </a:r>
            <a:r>
              <a:rPr lang="en-US" altLang="ja-JP" sz="2400" dirty="0" smtClean="0"/>
              <a:t>, &amp;c, 1) ) &gt; 0)</a:t>
            </a:r>
          </a:p>
          <a:p>
            <a:r>
              <a:rPr lang="en-US" altLang="ja-JP" sz="2400" dirty="0" smtClean="0"/>
              <a:t>     </a:t>
            </a:r>
            <a:r>
              <a:rPr lang="en-US" altLang="ja-JP" sz="2400" dirty="0" err="1" smtClean="0"/>
              <a:t>printf</a:t>
            </a:r>
            <a:r>
              <a:rPr lang="en-US" altLang="ja-JP" sz="2400" dirty="0" smtClean="0"/>
              <a:t> ("%c", c);</a:t>
            </a:r>
          </a:p>
          <a:p>
            <a:r>
              <a:rPr lang="en-US" altLang="ja-JP" sz="2400" dirty="0" smtClean="0"/>
              <a:t>  if (n==-1) {</a:t>
            </a:r>
          </a:p>
          <a:p>
            <a:r>
              <a:rPr lang="en-US" altLang="ja-JP" sz="2400" dirty="0" smtClean="0"/>
              <a:t>    </a:t>
            </a:r>
            <a:r>
              <a:rPr lang="en-US" altLang="ja-JP" sz="2400" dirty="0" err="1" smtClean="0"/>
              <a:t>perror</a:t>
            </a:r>
            <a:r>
              <a:rPr lang="en-US" altLang="ja-JP" sz="2400" dirty="0" smtClean="0"/>
              <a:t> ("read");</a:t>
            </a:r>
          </a:p>
          <a:p>
            <a:r>
              <a:rPr lang="en-US" altLang="ja-JP" sz="2400" dirty="0" smtClean="0"/>
              <a:t>    exit(1);</a:t>
            </a:r>
          </a:p>
          <a:p>
            <a:r>
              <a:rPr lang="en-US" altLang="ja-JP" sz="2400" dirty="0" smtClean="0"/>
              <a:t>  }</a:t>
            </a:r>
          </a:p>
          <a:p>
            <a:r>
              <a:rPr lang="en-US" altLang="ja-JP" sz="2400" dirty="0" smtClean="0"/>
              <a:t>  if (close (</a:t>
            </a:r>
            <a:r>
              <a:rPr lang="en-US" altLang="ja-JP" sz="2400" dirty="0" err="1" smtClean="0"/>
              <a:t>fd</a:t>
            </a:r>
            <a:r>
              <a:rPr lang="en-US" altLang="ja-JP" sz="2400" dirty="0" smtClean="0"/>
              <a:t>) == -1) {</a:t>
            </a:r>
          </a:p>
          <a:p>
            <a:r>
              <a:rPr lang="en-US" altLang="ja-JP" sz="2400" dirty="0" smtClean="0"/>
              <a:t>    </a:t>
            </a:r>
            <a:r>
              <a:rPr lang="en-US" altLang="ja-JP" sz="2400" dirty="0" err="1" smtClean="0"/>
              <a:t>perror</a:t>
            </a:r>
            <a:r>
              <a:rPr lang="en-US" altLang="ja-JP" sz="2400" dirty="0" smtClean="0"/>
              <a:t> ("close");</a:t>
            </a:r>
          </a:p>
          <a:p>
            <a:r>
              <a:rPr lang="en-US" altLang="ja-JP" sz="2400" dirty="0" smtClean="0"/>
              <a:t>    exit(1);</a:t>
            </a:r>
          </a:p>
          <a:p>
            <a:r>
              <a:rPr lang="en-US" altLang="ja-JP" sz="2400" dirty="0" smtClean="0"/>
              <a:t>  }</a:t>
            </a:r>
          </a:p>
          <a:p>
            <a:r>
              <a:rPr lang="en-US" altLang="ja-JP" sz="2400" dirty="0" smtClean="0"/>
              <a:t>  return 0;</a:t>
            </a:r>
          </a:p>
          <a:p>
            <a:r>
              <a:rPr lang="en-US" altLang="ja-JP" sz="2400" dirty="0" smtClean="0"/>
              <a:t>}</a:t>
            </a:r>
            <a:endParaRPr lang="ja-JP" altLang="en-US" sz="24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582594"/>
          </a:xfrm>
        </p:spPr>
        <p:txBody>
          <a:bodyPr>
            <a:normAutofit fontScale="90000"/>
          </a:bodyPr>
          <a:lstStyle/>
          <a:p>
            <a:r>
              <a:rPr lang="ja-JP" altLang="en-US" dirty="0" smtClean="0"/>
              <a:t>複数バイトずつ読み込む</a:t>
            </a:r>
            <a:endParaRPr kumimoji="1" lang="ja-JP" altLang="en-US" dirty="0"/>
          </a:p>
        </p:txBody>
      </p:sp>
      <p:sp>
        <p:nvSpPr>
          <p:cNvPr id="4" name="テキスト ボックス 3"/>
          <p:cNvSpPr txBox="1"/>
          <p:nvPr/>
        </p:nvSpPr>
        <p:spPr>
          <a:xfrm>
            <a:off x="642910" y="928670"/>
            <a:ext cx="7929618" cy="5693866"/>
          </a:xfrm>
          <a:prstGeom prst="rect">
            <a:avLst/>
          </a:prstGeom>
          <a:noFill/>
        </p:spPr>
        <p:txBody>
          <a:bodyPr wrap="square" rtlCol="0">
            <a:spAutoFit/>
          </a:bodyPr>
          <a:lstStyle/>
          <a:p>
            <a:r>
              <a:rPr kumimoji="1" lang="en-US" altLang="ja-JP" sz="2800" dirty="0" smtClean="0"/>
              <a:t> read</a:t>
            </a:r>
            <a:r>
              <a:rPr kumimoji="1" lang="ja-JP" altLang="en-US" sz="2800" dirty="0" smtClean="0"/>
              <a:t>システムコールで、複数バイト単位で読み込むこともできる。</a:t>
            </a:r>
            <a:endParaRPr kumimoji="1" lang="en-US" altLang="ja-JP" sz="2800" dirty="0" smtClean="0"/>
          </a:p>
          <a:p>
            <a:r>
              <a:rPr lang="en-US" altLang="ja-JP" sz="2800" dirty="0" smtClean="0"/>
              <a:t>read</a:t>
            </a:r>
            <a:r>
              <a:rPr lang="ja-JP" altLang="en-US" sz="2800" dirty="0" smtClean="0"/>
              <a:t>システムコールの返り値は、</a:t>
            </a:r>
            <a:endParaRPr lang="en-US" altLang="ja-JP" sz="2800" dirty="0" smtClean="0"/>
          </a:p>
          <a:p>
            <a:r>
              <a:rPr kumimoji="1" lang="en-US" altLang="ja-JP" sz="2800" dirty="0" smtClean="0"/>
              <a:t> </a:t>
            </a:r>
            <a:r>
              <a:rPr lang="ja-JP" altLang="en-US" sz="2800" dirty="0" smtClean="0"/>
              <a:t>  </a:t>
            </a:r>
            <a:r>
              <a:rPr lang="en-US" altLang="ja-JP" sz="2800" dirty="0" smtClean="0"/>
              <a:t>(1) </a:t>
            </a:r>
            <a:r>
              <a:rPr lang="ja-JP" altLang="en-US" sz="2800" dirty="0" smtClean="0"/>
              <a:t>正の場合、読み込んだバイト数を表す。</a:t>
            </a:r>
            <a:endParaRPr lang="en-US" altLang="ja-JP" sz="2800" dirty="0" smtClean="0"/>
          </a:p>
          <a:p>
            <a:r>
              <a:rPr kumimoji="1" lang="en-US" altLang="ja-JP" sz="2800" dirty="0" smtClean="0"/>
              <a:t>   (2) 0 </a:t>
            </a:r>
            <a:r>
              <a:rPr kumimoji="1" lang="ja-JP" altLang="en-US" sz="2800" dirty="0" smtClean="0"/>
              <a:t>の場合、ファイルの内容を既に全部読み終わっていたことを表す。</a:t>
            </a:r>
            <a:endParaRPr kumimoji="1" lang="en-US" altLang="ja-JP" sz="2800" dirty="0" smtClean="0"/>
          </a:p>
          <a:p>
            <a:r>
              <a:rPr lang="en-US" altLang="ja-JP" sz="2800" dirty="0" smtClean="0"/>
              <a:t>   (3) -1</a:t>
            </a:r>
            <a:r>
              <a:rPr lang="ja-JP" altLang="en-US" sz="2800" dirty="0" smtClean="0"/>
              <a:t>の場合、システムコールが何らかの理由で正常終了しなかったことを表す。この場合はライブラリ関数</a:t>
            </a:r>
            <a:r>
              <a:rPr lang="en-US" altLang="ja-JP" sz="2800" dirty="0" err="1" smtClean="0"/>
              <a:t>perror</a:t>
            </a:r>
            <a:r>
              <a:rPr lang="ja-JP" altLang="en-US" sz="2800" dirty="0" smtClean="0"/>
              <a:t>でエラー内容を表示するべき。</a:t>
            </a:r>
            <a:endParaRPr lang="en-US" altLang="ja-JP" sz="2800" dirty="0" smtClean="0"/>
          </a:p>
          <a:p>
            <a:endParaRPr kumimoji="1" lang="en-US" altLang="ja-JP" sz="2800" dirty="0" smtClean="0"/>
          </a:p>
          <a:p>
            <a:r>
              <a:rPr lang="ja-JP" altLang="en-US" sz="2800" dirty="0" smtClean="0"/>
              <a:t>例えば、ファイルサイズ</a:t>
            </a:r>
            <a:r>
              <a:rPr lang="en-US" altLang="ja-JP" sz="2800" dirty="0" smtClean="0"/>
              <a:t>260</a:t>
            </a:r>
            <a:r>
              <a:rPr lang="ja-JP" altLang="en-US" sz="2800" dirty="0" smtClean="0"/>
              <a:t>バイトのファイルを</a:t>
            </a:r>
            <a:r>
              <a:rPr lang="en-US" altLang="ja-JP" sz="2800" dirty="0" smtClean="0"/>
              <a:t>100</a:t>
            </a:r>
            <a:r>
              <a:rPr lang="ja-JP" altLang="en-US" sz="2800" dirty="0" smtClean="0"/>
              <a:t>バイト単位で読み込むと、最後の回は</a:t>
            </a:r>
            <a:r>
              <a:rPr lang="en-US" altLang="ja-JP" sz="2800" dirty="0" smtClean="0"/>
              <a:t>60</a:t>
            </a:r>
            <a:r>
              <a:rPr lang="ja-JP" altLang="en-US" sz="2800" dirty="0" smtClean="0"/>
              <a:t>バイト（返り値も</a:t>
            </a:r>
            <a:r>
              <a:rPr lang="en-US" altLang="ja-JP" sz="2800" dirty="0" smtClean="0"/>
              <a:t>60</a:t>
            </a:r>
            <a:r>
              <a:rPr lang="ja-JP" altLang="en-US" sz="2800" dirty="0" smtClean="0"/>
              <a:t>）になり、その後は返り値は</a:t>
            </a:r>
            <a:r>
              <a:rPr lang="en-US" altLang="ja-JP" sz="2800" dirty="0" smtClean="0"/>
              <a:t>0</a:t>
            </a:r>
            <a:r>
              <a:rPr lang="ja-JP" altLang="en-US" sz="2800" dirty="0" smtClean="0"/>
              <a:t>となる。</a:t>
            </a:r>
            <a:endParaRPr kumimoji="1" lang="ja-JP" altLang="en-US" sz="28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0" y="0"/>
            <a:ext cx="1285884" cy="582594"/>
          </a:xfrm>
        </p:spPr>
        <p:txBody>
          <a:bodyPr>
            <a:noAutofit/>
          </a:bodyPr>
          <a:lstStyle/>
          <a:p>
            <a:r>
              <a:rPr kumimoji="1" lang="ja-JP" altLang="en-US" sz="3600" dirty="0" smtClean="0"/>
              <a:t>例</a:t>
            </a:r>
            <a:r>
              <a:rPr kumimoji="1" lang="en-US" altLang="ja-JP" sz="3600" dirty="0" smtClean="0"/>
              <a:t>3</a:t>
            </a:r>
            <a:endParaRPr kumimoji="1" lang="ja-JP" altLang="en-US" sz="3600" dirty="0"/>
          </a:p>
        </p:txBody>
      </p:sp>
      <p:sp>
        <p:nvSpPr>
          <p:cNvPr id="6" name="正方形/長方形 5"/>
          <p:cNvSpPr/>
          <p:nvPr/>
        </p:nvSpPr>
        <p:spPr>
          <a:xfrm>
            <a:off x="71406" y="642918"/>
            <a:ext cx="4357718" cy="5632311"/>
          </a:xfrm>
          <a:prstGeom prst="rect">
            <a:avLst/>
          </a:prstGeom>
          <a:ln>
            <a:solidFill>
              <a:schemeClr val="tx1"/>
            </a:solidFill>
          </a:ln>
        </p:spPr>
        <p:txBody>
          <a:bodyPr wrap="square">
            <a:spAutoFit/>
          </a:bodyPr>
          <a:lstStyle/>
          <a:p>
            <a:r>
              <a:rPr lang="en-US" altLang="ja-JP" sz="2400" dirty="0" smtClean="0"/>
              <a:t>/* </a:t>
            </a:r>
            <a:r>
              <a:rPr lang="ja-JP" altLang="en-US" sz="2400" dirty="0" smtClean="0"/>
              <a:t>テキストファイル全部表示 </a:t>
            </a:r>
            <a:r>
              <a:rPr lang="en-US" altLang="ja-JP" sz="2400" dirty="0" smtClean="0"/>
              <a:t>*/</a:t>
            </a:r>
          </a:p>
          <a:p>
            <a:r>
              <a:rPr lang="en-US" altLang="ja-JP" sz="2400" dirty="0" smtClean="0"/>
              <a:t>#include &lt;</a:t>
            </a:r>
            <a:r>
              <a:rPr lang="en-US" altLang="ja-JP" sz="2400" dirty="0" err="1" smtClean="0"/>
              <a:t>stdio.h</a:t>
            </a:r>
            <a:r>
              <a:rPr lang="en-US" altLang="ja-JP" sz="2400" dirty="0" smtClean="0"/>
              <a:t>&gt;</a:t>
            </a:r>
          </a:p>
          <a:p>
            <a:r>
              <a:rPr lang="en-US" altLang="ja-JP" sz="2400" dirty="0" smtClean="0"/>
              <a:t>#include &lt;sys/</a:t>
            </a:r>
            <a:r>
              <a:rPr lang="en-US" altLang="ja-JP" sz="2400" dirty="0" err="1" smtClean="0"/>
              <a:t>types.h</a:t>
            </a:r>
            <a:r>
              <a:rPr lang="en-US" altLang="ja-JP" sz="2400" dirty="0" smtClean="0"/>
              <a:t>&gt;</a:t>
            </a:r>
          </a:p>
          <a:p>
            <a:r>
              <a:rPr lang="en-US" altLang="ja-JP" sz="2400" dirty="0" smtClean="0"/>
              <a:t>#include &lt;sys/</a:t>
            </a:r>
            <a:r>
              <a:rPr lang="en-US" altLang="ja-JP" sz="2400" dirty="0" err="1" smtClean="0"/>
              <a:t>stat.h</a:t>
            </a:r>
            <a:r>
              <a:rPr lang="en-US" altLang="ja-JP" sz="2400" dirty="0" smtClean="0"/>
              <a:t>&gt;</a:t>
            </a:r>
          </a:p>
          <a:p>
            <a:r>
              <a:rPr lang="en-US" altLang="ja-JP" sz="2400" dirty="0" smtClean="0"/>
              <a:t>#include &lt;</a:t>
            </a:r>
            <a:r>
              <a:rPr lang="en-US" altLang="ja-JP" sz="2400" dirty="0" err="1" smtClean="0"/>
              <a:t>fcntl.h</a:t>
            </a:r>
            <a:r>
              <a:rPr lang="en-US" altLang="ja-JP" sz="2400" dirty="0" smtClean="0"/>
              <a:t>&gt;</a:t>
            </a:r>
          </a:p>
          <a:p>
            <a:r>
              <a:rPr lang="en-US" altLang="ja-JP" sz="2400" dirty="0" smtClean="0"/>
              <a:t>#include &lt;</a:t>
            </a:r>
            <a:r>
              <a:rPr lang="en-US" altLang="ja-JP" sz="2400" dirty="0" err="1" smtClean="0"/>
              <a:t>unistd.h</a:t>
            </a:r>
            <a:r>
              <a:rPr lang="en-US" altLang="ja-JP" sz="2400" dirty="0" smtClean="0"/>
              <a:t>&gt;</a:t>
            </a:r>
          </a:p>
          <a:p>
            <a:r>
              <a:rPr lang="en-US" altLang="ja-JP" sz="2400" dirty="0" err="1" smtClean="0"/>
              <a:t>int</a:t>
            </a:r>
            <a:r>
              <a:rPr lang="en-US" altLang="ja-JP" sz="2400" dirty="0" smtClean="0"/>
              <a:t> main (</a:t>
            </a:r>
            <a:r>
              <a:rPr lang="en-US" altLang="ja-JP" sz="2400" dirty="0" err="1" smtClean="0"/>
              <a:t>int</a:t>
            </a:r>
            <a:r>
              <a:rPr lang="en-US" altLang="ja-JP" sz="2400" dirty="0" smtClean="0"/>
              <a:t> </a:t>
            </a:r>
            <a:r>
              <a:rPr lang="en-US" altLang="ja-JP" sz="2400" dirty="0" err="1" smtClean="0"/>
              <a:t>argc</a:t>
            </a:r>
            <a:r>
              <a:rPr lang="en-US" altLang="ja-JP" sz="2400" dirty="0" smtClean="0"/>
              <a:t>, char * </a:t>
            </a:r>
            <a:r>
              <a:rPr lang="en-US" altLang="ja-JP" sz="2400" dirty="0" err="1" smtClean="0"/>
              <a:t>argv</a:t>
            </a:r>
            <a:r>
              <a:rPr lang="en-US" altLang="ja-JP" sz="2400" dirty="0" smtClean="0"/>
              <a:t> []) {</a:t>
            </a:r>
          </a:p>
          <a:p>
            <a:r>
              <a:rPr lang="en-US" altLang="ja-JP" sz="2400" dirty="0" smtClean="0"/>
              <a:t>  </a:t>
            </a:r>
            <a:r>
              <a:rPr lang="en-US" altLang="ja-JP" sz="2400" dirty="0" err="1" smtClean="0"/>
              <a:t>int</a:t>
            </a:r>
            <a:r>
              <a:rPr lang="en-US" altLang="ja-JP" sz="2400" dirty="0" smtClean="0"/>
              <a:t> </a:t>
            </a:r>
            <a:r>
              <a:rPr lang="en-US" altLang="ja-JP" sz="2400" dirty="0" err="1" smtClean="0"/>
              <a:t>fd</a:t>
            </a:r>
            <a:r>
              <a:rPr lang="en-US" altLang="ja-JP" sz="2400" dirty="0" smtClean="0"/>
              <a:t>, n;</a:t>
            </a:r>
          </a:p>
          <a:p>
            <a:r>
              <a:rPr lang="en-US" altLang="ja-JP" sz="2400" dirty="0" smtClean="0"/>
              <a:t>  char c[100];</a:t>
            </a:r>
          </a:p>
          <a:p>
            <a:r>
              <a:rPr lang="en-US" altLang="ja-JP" sz="2400" dirty="0" smtClean="0"/>
              <a:t>  if (</a:t>
            </a:r>
            <a:r>
              <a:rPr lang="en-US" altLang="ja-JP" sz="2400" dirty="0" err="1" smtClean="0"/>
              <a:t>argc</a:t>
            </a:r>
            <a:r>
              <a:rPr lang="en-US" altLang="ja-JP" sz="2400" dirty="0" smtClean="0"/>
              <a:t>!=2) {</a:t>
            </a:r>
          </a:p>
          <a:p>
            <a:r>
              <a:rPr lang="en-US" altLang="ja-JP" sz="2400" dirty="0" smtClean="0"/>
              <a:t>    </a:t>
            </a:r>
            <a:r>
              <a:rPr lang="en-US" altLang="ja-JP" sz="2400" dirty="0" err="1" smtClean="0"/>
              <a:t>fprintf</a:t>
            </a:r>
            <a:r>
              <a:rPr lang="en-US" altLang="ja-JP" sz="2400" dirty="0" smtClean="0"/>
              <a:t> (</a:t>
            </a:r>
            <a:r>
              <a:rPr lang="en-US" altLang="ja-JP" sz="2400" dirty="0" err="1" smtClean="0"/>
              <a:t>stderr</a:t>
            </a:r>
            <a:r>
              <a:rPr lang="en-US" altLang="ja-JP" sz="2400" dirty="0" smtClean="0"/>
              <a:t>,</a:t>
            </a:r>
          </a:p>
          <a:p>
            <a:r>
              <a:rPr lang="en-US" altLang="ja-JP" sz="2400" dirty="0" smtClean="0"/>
              <a:t>             "Usage: %s filename\n",</a:t>
            </a:r>
          </a:p>
          <a:p>
            <a:r>
              <a:rPr lang="en-US" altLang="ja-JP" sz="2400" dirty="0" smtClean="0"/>
              <a:t>             </a:t>
            </a:r>
            <a:r>
              <a:rPr lang="en-US" altLang="ja-JP" sz="2400" dirty="0" err="1" smtClean="0"/>
              <a:t>argv</a:t>
            </a:r>
            <a:r>
              <a:rPr lang="en-US" altLang="ja-JP" sz="2400" dirty="0" smtClean="0"/>
              <a:t>[0]);</a:t>
            </a:r>
          </a:p>
          <a:p>
            <a:r>
              <a:rPr lang="en-US" altLang="ja-JP" sz="2400" dirty="0" smtClean="0"/>
              <a:t>    exit(1);</a:t>
            </a:r>
          </a:p>
          <a:p>
            <a:r>
              <a:rPr lang="en-US" altLang="ja-JP" sz="2400" dirty="0" smtClean="0"/>
              <a:t>  }</a:t>
            </a:r>
          </a:p>
        </p:txBody>
      </p:sp>
      <p:sp>
        <p:nvSpPr>
          <p:cNvPr id="7" name="正方形/長方形 6"/>
          <p:cNvSpPr/>
          <p:nvPr/>
        </p:nvSpPr>
        <p:spPr>
          <a:xfrm>
            <a:off x="4500562" y="272735"/>
            <a:ext cx="4572032" cy="6370975"/>
          </a:xfrm>
          <a:prstGeom prst="rect">
            <a:avLst/>
          </a:prstGeom>
          <a:ln>
            <a:solidFill>
              <a:schemeClr val="tx1"/>
            </a:solidFill>
          </a:ln>
        </p:spPr>
        <p:txBody>
          <a:bodyPr wrap="square">
            <a:spAutoFit/>
          </a:bodyPr>
          <a:lstStyle/>
          <a:p>
            <a:r>
              <a:rPr lang="en-US" altLang="ja-JP" sz="2400" dirty="0" smtClean="0"/>
              <a:t>/* </a:t>
            </a:r>
            <a:r>
              <a:rPr lang="ja-JP" altLang="en-US" sz="2400" dirty="0" smtClean="0"/>
              <a:t>続き </a:t>
            </a:r>
            <a:r>
              <a:rPr lang="en-US" altLang="ja-JP" sz="2400" dirty="0" smtClean="0"/>
              <a:t>*/</a:t>
            </a:r>
          </a:p>
          <a:p>
            <a:r>
              <a:rPr lang="en-US" altLang="ja-JP" sz="2400" dirty="0" smtClean="0"/>
              <a:t>if ((</a:t>
            </a:r>
            <a:r>
              <a:rPr lang="en-US" altLang="ja-JP" sz="2400" dirty="0" err="1" smtClean="0"/>
              <a:t>fd</a:t>
            </a:r>
            <a:r>
              <a:rPr lang="en-US" altLang="ja-JP" sz="2400" dirty="0" smtClean="0"/>
              <a:t> = open (</a:t>
            </a:r>
            <a:r>
              <a:rPr lang="en-US" altLang="ja-JP" sz="2400" dirty="0" err="1" smtClean="0"/>
              <a:t>argv</a:t>
            </a:r>
            <a:r>
              <a:rPr lang="en-US" altLang="ja-JP" sz="2400" dirty="0" smtClean="0"/>
              <a:t>[1], O_RDONLY))</a:t>
            </a:r>
          </a:p>
          <a:p>
            <a:r>
              <a:rPr lang="en-US" altLang="ja-JP" sz="2400" dirty="0" smtClean="0"/>
              <a:t>      == -1) {</a:t>
            </a:r>
          </a:p>
          <a:p>
            <a:r>
              <a:rPr lang="en-US" altLang="ja-JP" sz="2400" dirty="0" smtClean="0"/>
              <a:t>    </a:t>
            </a:r>
            <a:r>
              <a:rPr lang="en-US" altLang="ja-JP" sz="2400" dirty="0" err="1" smtClean="0"/>
              <a:t>perror</a:t>
            </a:r>
            <a:r>
              <a:rPr lang="en-US" altLang="ja-JP" sz="2400" dirty="0" smtClean="0"/>
              <a:t> ("open");</a:t>
            </a:r>
          </a:p>
          <a:p>
            <a:r>
              <a:rPr lang="en-US" altLang="ja-JP" sz="2400" dirty="0" smtClean="0"/>
              <a:t>    exit(1);  }</a:t>
            </a:r>
          </a:p>
          <a:p>
            <a:r>
              <a:rPr lang="en-US" altLang="ja-JP" sz="2400" dirty="0" smtClean="0"/>
              <a:t>  while ((n = read (</a:t>
            </a:r>
            <a:r>
              <a:rPr lang="en-US" altLang="ja-JP" sz="2400" dirty="0" err="1" smtClean="0"/>
              <a:t>fd</a:t>
            </a:r>
            <a:r>
              <a:rPr lang="en-US" altLang="ja-JP" sz="2400" dirty="0" smtClean="0"/>
              <a:t>, c, 100) ) &gt; 0)</a:t>
            </a:r>
          </a:p>
          <a:p>
            <a:r>
              <a:rPr lang="en-US" altLang="ja-JP" sz="2400" dirty="0" smtClean="0"/>
              <a:t>    if (write (</a:t>
            </a:r>
            <a:r>
              <a:rPr lang="en-US" altLang="ja-JP" sz="2400" dirty="0" smtClean="0">
                <a:solidFill>
                  <a:srgbClr val="FF0000"/>
                </a:solidFill>
              </a:rPr>
              <a:t>1</a:t>
            </a:r>
            <a:r>
              <a:rPr lang="en-US" altLang="ja-JP" sz="2400" dirty="0" smtClean="0"/>
              <a:t>, c, n) != n) {</a:t>
            </a:r>
          </a:p>
          <a:p>
            <a:r>
              <a:rPr lang="en-US" altLang="ja-JP" sz="2400" dirty="0" smtClean="0"/>
              <a:t>      </a:t>
            </a:r>
            <a:r>
              <a:rPr lang="en-US" altLang="ja-JP" sz="2400" dirty="0" err="1" smtClean="0"/>
              <a:t>perror</a:t>
            </a:r>
            <a:r>
              <a:rPr lang="en-US" altLang="ja-JP" sz="2400" dirty="0" smtClean="0"/>
              <a:t> ("write");</a:t>
            </a:r>
          </a:p>
          <a:p>
            <a:r>
              <a:rPr lang="en-US" altLang="ja-JP" sz="2400" dirty="0" smtClean="0"/>
              <a:t>      exit(1);   };</a:t>
            </a:r>
          </a:p>
          <a:p>
            <a:r>
              <a:rPr lang="en-US" altLang="ja-JP" sz="2400" dirty="0" smtClean="0"/>
              <a:t>  if (n == -1) {</a:t>
            </a:r>
          </a:p>
          <a:p>
            <a:r>
              <a:rPr lang="en-US" altLang="ja-JP" sz="2400" dirty="0" smtClean="0"/>
              <a:t>    </a:t>
            </a:r>
            <a:r>
              <a:rPr lang="en-US" altLang="ja-JP" sz="2400" dirty="0" err="1" smtClean="0"/>
              <a:t>perror</a:t>
            </a:r>
            <a:r>
              <a:rPr lang="en-US" altLang="ja-JP" sz="2400" dirty="0" smtClean="0"/>
              <a:t> ("read");</a:t>
            </a:r>
          </a:p>
          <a:p>
            <a:r>
              <a:rPr lang="en-US" altLang="ja-JP" sz="2400" dirty="0" smtClean="0"/>
              <a:t>    exit(1);  }</a:t>
            </a:r>
          </a:p>
          <a:p>
            <a:r>
              <a:rPr lang="en-US" altLang="ja-JP" sz="2400" dirty="0" smtClean="0"/>
              <a:t>  if (close (</a:t>
            </a:r>
            <a:r>
              <a:rPr lang="en-US" altLang="ja-JP" sz="2400" dirty="0" err="1" smtClean="0"/>
              <a:t>fd</a:t>
            </a:r>
            <a:r>
              <a:rPr lang="en-US" altLang="ja-JP" sz="2400" dirty="0" smtClean="0"/>
              <a:t>) == -1) {</a:t>
            </a:r>
          </a:p>
          <a:p>
            <a:r>
              <a:rPr lang="en-US" altLang="ja-JP" sz="2400" dirty="0" smtClean="0"/>
              <a:t>    </a:t>
            </a:r>
            <a:r>
              <a:rPr lang="en-US" altLang="ja-JP" sz="2400" dirty="0" err="1" smtClean="0"/>
              <a:t>perror</a:t>
            </a:r>
            <a:r>
              <a:rPr lang="en-US" altLang="ja-JP" sz="2400" dirty="0" smtClean="0"/>
              <a:t> ("close");</a:t>
            </a:r>
          </a:p>
          <a:p>
            <a:r>
              <a:rPr lang="en-US" altLang="ja-JP" sz="2400" dirty="0" smtClean="0"/>
              <a:t>    exit(1);  }</a:t>
            </a:r>
          </a:p>
          <a:p>
            <a:r>
              <a:rPr lang="en-US" altLang="ja-JP" sz="2400" dirty="0" smtClean="0"/>
              <a:t>  return 0;</a:t>
            </a:r>
          </a:p>
          <a:p>
            <a:r>
              <a:rPr lang="en-US" altLang="ja-JP" sz="2400" dirty="0" smtClean="0"/>
              <a:t>}</a:t>
            </a:r>
            <a:endParaRPr lang="ja-JP" altLang="en-US" sz="2400" dirty="0"/>
          </a:p>
        </p:txBody>
      </p:sp>
      <p:sp>
        <p:nvSpPr>
          <p:cNvPr id="5" name="テキスト ボックス 4"/>
          <p:cNvSpPr txBox="1"/>
          <p:nvPr/>
        </p:nvSpPr>
        <p:spPr>
          <a:xfrm>
            <a:off x="7122115" y="2967335"/>
            <a:ext cx="1879041" cy="461665"/>
          </a:xfrm>
          <a:prstGeom prst="rect">
            <a:avLst/>
          </a:prstGeom>
          <a:noFill/>
          <a:ln>
            <a:solidFill>
              <a:schemeClr val="tx1"/>
            </a:solidFill>
          </a:ln>
        </p:spPr>
        <p:txBody>
          <a:bodyPr wrap="none" rtlCol="0">
            <a:spAutoFit/>
          </a:bodyPr>
          <a:lstStyle/>
          <a:p>
            <a:r>
              <a:rPr kumimoji="1" lang="en-US" altLang="ja-JP" sz="2400" dirty="0" smtClean="0"/>
              <a:t>1</a:t>
            </a:r>
            <a:r>
              <a:rPr kumimoji="1" lang="ja-JP" altLang="en-US" sz="2400" dirty="0" smtClean="0"/>
              <a:t>は標準出力</a:t>
            </a:r>
            <a:endParaRPr kumimoji="1" lang="ja-JP" altLang="en-US" sz="24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0" y="0"/>
            <a:ext cx="1285884" cy="582594"/>
          </a:xfrm>
        </p:spPr>
        <p:txBody>
          <a:bodyPr>
            <a:noAutofit/>
          </a:bodyPr>
          <a:lstStyle/>
          <a:p>
            <a:r>
              <a:rPr kumimoji="1" lang="ja-JP" altLang="en-US" sz="3600" dirty="0" smtClean="0"/>
              <a:t>例</a:t>
            </a:r>
            <a:r>
              <a:rPr lang="en-US" altLang="ja-JP" sz="3600" dirty="0" smtClean="0"/>
              <a:t>4</a:t>
            </a:r>
            <a:endParaRPr kumimoji="1" lang="ja-JP" altLang="en-US" sz="3600" dirty="0"/>
          </a:p>
        </p:txBody>
      </p:sp>
      <p:sp>
        <p:nvSpPr>
          <p:cNvPr id="6" name="正方形/長方形 5"/>
          <p:cNvSpPr/>
          <p:nvPr/>
        </p:nvSpPr>
        <p:spPr>
          <a:xfrm>
            <a:off x="71406" y="642918"/>
            <a:ext cx="4429156" cy="5632311"/>
          </a:xfrm>
          <a:prstGeom prst="rect">
            <a:avLst/>
          </a:prstGeom>
          <a:ln>
            <a:solidFill>
              <a:schemeClr val="tx1"/>
            </a:solidFill>
          </a:ln>
        </p:spPr>
        <p:txBody>
          <a:bodyPr wrap="square">
            <a:spAutoFit/>
          </a:bodyPr>
          <a:lstStyle/>
          <a:p>
            <a:r>
              <a:rPr lang="en-US" altLang="ja-JP" sz="2400" dirty="0" smtClean="0"/>
              <a:t>/* </a:t>
            </a:r>
            <a:r>
              <a:rPr lang="ja-JP" altLang="en-US" sz="2400" dirty="0" smtClean="0"/>
              <a:t>標準入力を標準出力へ書きだす</a:t>
            </a:r>
            <a:r>
              <a:rPr lang="en-US" altLang="ja-JP" sz="2400" dirty="0" smtClean="0"/>
              <a:t>*/</a:t>
            </a:r>
          </a:p>
          <a:p>
            <a:r>
              <a:rPr lang="en-US" altLang="ja-JP" sz="2400" dirty="0" smtClean="0"/>
              <a:t>#include &lt;</a:t>
            </a:r>
            <a:r>
              <a:rPr lang="en-US" altLang="ja-JP" sz="2400" dirty="0" err="1" smtClean="0"/>
              <a:t>stdio.h</a:t>
            </a:r>
            <a:r>
              <a:rPr lang="en-US" altLang="ja-JP" sz="2400" dirty="0" smtClean="0"/>
              <a:t>&gt;</a:t>
            </a:r>
          </a:p>
          <a:p>
            <a:r>
              <a:rPr lang="en-US" altLang="ja-JP" sz="2400" dirty="0" smtClean="0"/>
              <a:t>#include &lt;sys/</a:t>
            </a:r>
            <a:r>
              <a:rPr lang="en-US" altLang="ja-JP" sz="2400" dirty="0" err="1" smtClean="0"/>
              <a:t>types.h</a:t>
            </a:r>
            <a:r>
              <a:rPr lang="en-US" altLang="ja-JP" sz="2400" dirty="0" smtClean="0"/>
              <a:t>&gt;</a:t>
            </a:r>
          </a:p>
          <a:p>
            <a:r>
              <a:rPr lang="en-US" altLang="ja-JP" sz="2400" dirty="0" smtClean="0"/>
              <a:t>#include &lt;sys/</a:t>
            </a:r>
            <a:r>
              <a:rPr lang="en-US" altLang="ja-JP" sz="2400" dirty="0" err="1" smtClean="0"/>
              <a:t>stat.h</a:t>
            </a:r>
            <a:r>
              <a:rPr lang="en-US" altLang="ja-JP" sz="2400" dirty="0" smtClean="0"/>
              <a:t>&gt;</a:t>
            </a:r>
          </a:p>
          <a:p>
            <a:r>
              <a:rPr lang="en-US" altLang="ja-JP" sz="2400" dirty="0" smtClean="0"/>
              <a:t>#include &lt;</a:t>
            </a:r>
            <a:r>
              <a:rPr lang="en-US" altLang="ja-JP" sz="2400" dirty="0" err="1" smtClean="0"/>
              <a:t>fcntl.h</a:t>
            </a:r>
            <a:r>
              <a:rPr lang="en-US" altLang="ja-JP" sz="2400" dirty="0" smtClean="0"/>
              <a:t>&gt;</a:t>
            </a:r>
          </a:p>
          <a:p>
            <a:r>
              <a:rPr lang="en-US" altLang="ja-JP" sz="2400" dirty="0" smtClean="0"/>
              <a:t>#include &lt;</a:t>
            </a:r>
            <a:r>
              <a:rPr lang="en-US" altLang="ja-JP" sz="2400" dirty="0" err="1" smtClean="0"/>
              <a:t>unistd.h</a:t>
            </a:r>
            <a:r>
              <a:rPr lang="en-US" altLang="ja-JP" sz="2400" dirty="0" smtClean="0"/>
              <a:t>&gt;</a:t>
            </a:r>
          </a:p>
          <a:p>
            <a:r>
              <a:rPr lang="en-US" altLang="ja-JP" sz="2400" dirty="0" err="1" smtClean="0"/>
              <a:t>int</a:t>
            </a:r>
            <a:r>
              <a:rPr lang="en-US" altLang="ja-JP" sz="2400" dirty="0" smtClean="0"/>
              <a:t> main (</a:t>
            </a:r>
            <a:r>
              <a:rPr lang="en-US" altLang="ja-JP" sz="2400" dirty="0" err="1" smtClean="0"/>
              <a:t>int</a:t>
            </a:r>
            <a:r>
              <a:rPr lang="en-US" altLang="ja-JP" sz="2400" dirty="0" smtClean="0"/>
              <a:t> </a:t>
            </a:r>
            <a:r>
              <a:rPr lang="en-US" altLang="ja-JP" sz="2400" dirty="0" err="1" smtClean="0"/>
              <a:t>argc</a:t>
            </a:r>
            <a:r>
              <a:rPr lang="en-US" altLang="ja-JP" sz="2400" dirty="0" smtClean="0"/>
              <a:t>, char * </a:t>
            </a:r>
            <a:r>
              <a:rPr lang="en-US" altLang="ja-JP" sz="2400" dirty="0" err="1" smtClean="0"/>
              <a:t>argv</a:t>
            </a:r>
            <a:r>
              <a:rPr lang="en-US" altLang="ja-JP" sz="2400" dirty="0" smtClean="0"/>
              <a:t> []) {</a:t>
            </a:r>
          </a:p>
          <a:p>
            <a:r>
              <a:rPr lang="en-US" altLang="ja-JP" sz="2400" dirty="0" smtClean="0"/>
              <a:t>  </a:t>
            </a:r>
            <a:r>
              <a:rPr lang="en-US" altLang="ja-JP" sz="2400" dirty="0" err="1" smtClean="0"/>
              <a:t>int</a:t>
            </a:r>
            <a:r>
              <a:rPr lang="en-US" altLang="ja-JP" sz="2400" dirty="0" smtClean="0"/>
              <a:t> </a:t>
            </a:r>
            <a:r>
              <a:rPr lang="en-US" altLang="ja-JP" sz="2400" dirty="0" err="1" smtClean="0"/>
              <a:t>fd</a:t>
            </a:r>
            <a:r>
              <a:rPr lang="en-US" altLang="ja-JP" sz="2400" dirty="0" smtClean="0"/>
              <a:t>, n;</a:t>
            </a:r>
          </a:p>
          <a:p>
            <a:r>
              <a:rPr lang="en-US" altLang="ja-JP" sz="2400" dirty="0" smtClean="0"/>
              <a:t>  char c[100];</a:t>
            </a:r>
          </a:p>
          <a:p>
            <a:r>
              <a:rPr lang="en-US" altLang="ja-JP" sz="2400" dirty="0" smtClean="0"/>
              <a:t>  while ((n = read (</a:t>
            </a:r>
            <a:r>
              <a:rPr lang="en-US" altLang="ja-JP" sz="2400" dirty="0" smtClean="0">
                <a:solidFill>
                  <a:srgbClr val="FF0000"/>
                </a:solidFill>
              </a:rPr>
              <a:t>0</a:t>
            </a:r>
            <a:r>
              <a:rPr lang="en-US" altLang="ja-JP" sz="2400" dirty="0" smtClean="0"/>
              <a:t>, c, 100) ) &gt; 0)</a:t>
            </a:r>
          </a:p>
          <a:p>
            <a:r>
              <a:rPr lang="en-US" altLang="ja-JP" sz="2400" dirty="0" smtClean="0"/>
              <a:t>    if (write (</a:t>
            </a:r>
            <a:r>
              <a:rPr lang="en-US" altLang="ja-JP" sz="2400" dirty="0" smtClean="0">
                <a:solidFill>
                  <a:srgbClr val="FF0000"/>
                </a:solidFill>
              </a:rPr>
              <a:t>1</a:t>
            </a:r>
            <a:r>
              <a:rPr lang="en-US" altLang="ja-JP" sz="2400" dirty="0" smtClean="0"/>
              <a:t>, c, n) != n) {</a:t>
            </a:r>
          </a:p>
          <a:p>
            <a:r>
              <a:rPr lang="en-US" altLang="ja-JP" sz="2400" dirty="0" smtClean="0"/>
              <a:t>      </a:t>
            </a:r>
            <a:r>
              <a:rPr lang="en-US" altLang="ja-JP" sz="2400" dirty="0" err="1" smtClean="0"/>
              <a:t>perror</a:t>
            </a:r>
            <a:r>
              <a:rPr lang="en-US" altLang="ja-JP" sz="2400" dirty="0" smtClean="0"/>
              <a:t> ("write");</a:t>
            </a:r>
          </a:p>
          <a:p>
            <a:r>
              <a:rPr lang="en-US" altLang="ja-JP" sz="2400" dirty="0" smtClean="0"/>
              <a:t>      exit(1);</a:t>
            </a:r>
          </a:p>
          <a:p>
            <a:r>
              <a:rPr lang="en-US" altLang="ja-JP" sz="2400" dirty="0" smtClean="0"/>
              <a:t>    };</a:t>
            </a:r>
          </a:p>
        </p:txBody>
      </p:sp>
      <p:sp>
        <p:nvSpPr>
          <p:cNvPr id="7" name="正方形/長方形 6"/>
          <p:cNvSpPr/>
          <p:nvPr/>
        </p:nvSpPr>
        <p:spPr>
          <a:xfrm>
            <a:off x="5072066" y="642918"/>
            <a:ext cx="3357618" cy="2677656"/>
          </a:xfrm>
          <a:prstGeom prst="rect">
            <a:avLst/>
          </a:prstGeom>
          <a:ln>
            <a:solidFill>
              <a:schemeClr val="tx1"/>
            </a:solidFill>
          </a:ln>
        </p:spPr>
        <p:txBody>
          <a:bodyPr wrap="square">
            <a:spAutoFit/>
          </a:bodyPr>
          <a:lstStyle/>
          <a:p>
            <a:r>
              <a:rPr lang="en-US" altLang="ja-JP" sz="2400" dirty="0" smtClean="0"/>
              <a:t>/* </a:t>
            </a:r>
            <a:r>
              <a:rPr lang="ja-JP" altLang="en-US" sz="2400" dirty="0" smtClean="0"/>
              <a:t>続き </a:t>
            </a:r>
            <a:r>
              <a:rPr lang="en-US" altLang="ja-JP" sz="2400" dirty="0" smtClean="0"/>
              <a:t>*/</a:t>
            </a:r>
          </a:p>
          <a:p>
            <a:r>
              <a:rPr lang="en-US" altLang="ja-JP" sz="2400" dirty="0" smtClean="0"/>
              <a:t> if (n == -1) {</a:t>
            </a:r>
          </a:p>
          <a:p>
            <a:r>
              <a:rPr lang="en-US" altLang="ja-JP" sz="2400" dirty="0" smtClean="0"/>
              <a:t>    </a:t>
            </a:r>
            <a:r>
              <a:rPr lang="en-US" altLang="ja-JP" sz="2400" dirty="0" err="1" smtClean="0"/>
              <a:t>perror</a:t>
            </a:r>
            <a:r>
              <a:rPr lang="en-US" altLang="ja-JP" sz="2400" dirty="0" smtClean="0"/>
              <a:t> ("read");</a:t>
            </a:r>
          </a:p>
          <a:p>
            <a:r>
              <a:rPr lang="en-US" altLang="ja-JP" sz="2400" dirty="0" smtClean="0"/>
              <a:t>    exit(1);</a:t>
            </a:r>
          </a:p>
          <a:p>
            <a:r>
              <a:rPr lang="en-US" altLang="ja-JP" sz="2400" dirty="0" smtClean="0"/>
              <a:t>  }</a:t>
            </a:r>
          </a:p>
          <a:p>
            <a:r>
              <a:rPr lang="en-US" altLang="ja-JP" sz="2400" dirty="0" smtClean="0"/>
              <a:t>  return 0;</a:t>
            </a:r>
          </a:p>
          <a:p>
            <a:r>
              <a:rPr lang="en-US" altLang="ja-JP" sz="2400" dirty="0" smtClean="0"/>
              <a:t>}</a:t>
            </a:r>
            <a:endParaRPr lang="ja-JP" altLang="en-US" sz="2400" dirty="0"/>
          </a:p>
        </p:txBody>
      </p:sp>
      <p:sp>
        <p:nvSpPr>
          <p:cNvPr id="8" name="テキスト ボックス 7"/>
          <p:cNvSpPr txBox="1"/>
          <p:nvPr/>
        </p:nvSpPr>
        <p:spPr>
          <a:xfrm>
            <a:off x="4643438" y="4643446"/>
            <a:ext cx="1879041" cy="461665"/>
          </a:xfrm>
          <a:prstGeom prst="rect">
            <a:avLst/>
          </a:prstGeom>
          <a:noFill/>
          <a:ln>
            <a:solidFill>
              <a:schemeClr val="tx1"/>
            </a:solidFill>
          </a:ln>
        </p:spPr>
        <p:txBody>
          <a:bodyPr wrap="none" rtlCol="0">
            <a:spAutoFit/>
          </a:bodyPr>
          <a:lstStyle/>
          <a:p>
            <a:r>
              <a:rPr kumimoji="1" lang="en-US" altLang="ja-JP" sz="2400" dirty="0" smtClean="0"/>
              <a:t>1</a:t>
            </a:r>
            <a:r>
              <a:rPr kumimoji="1" lang="ja-JP" altLang="en-US" sz="2400" dirty="0" smtClean="0"/>
              <a:t>は標準出力</a:t>
            </a:r>
            <a:endParaRPr kumimoji="1" lang="ja-JP" altLang="en-US" sz="2400" dirty="0"/>
          </a:p>
        </p:txBody>
      </p:sp>
      <p:sp>
        <p:nvSpPr>
          <p:cNvPr id="9" name="テキスト ボックス 8"/>
          <p:cNvSpPr txBox="1"/>
          <p:nvPr/>
        </p:nvSpPr>
        <p:spPr>
          <a:xfrm>
            <a:off x="4643438" y="4110343"/>
            <a:ext cx="1879041" cy="461665"/>
          </a:xfrm>
          <a:prstGeom prst="rect">
            <a:avLst/>
          </a:prstGeom>
          <a:noFill/>
          <a:ln>
            <a:solidFill>
              <a:schemeClr val="tx1"/>
            </a:solidFill>
          </a:ln>
        </p:spPr>
        <p:txBody>
          <a:bodyPr wrap="none" rtlCol="0">
            <a:spAutoFit/>
          </a:bodyPr>
          <a:lstStyle/>
          <a:p>
            <a:r>
              <a:rPr lang="en-US" altLang="ja-JP" sz="2400" dirty="0" smtClean="0"/>
              <a:t>0</a:t>
            </a:r>
            <a:r>
              <a:rPr kumimoji="1" lang="ja-JP" altLang="en-US" sz="2400" dirty="0" smtClean="0"/>
              <a:t>は標準</a:t>
            </a:r>
            <a:r>
              <a:rPr lang="ja-JP" altLang="en-US" sz="2400" dirty="0" smtClean="0"/>
              <a:t>入力</a:t>
            </a:r>
            <a:endParaRPr kumimoji="1" lang="ja-JP" altLang="en-US" sz="24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511156"/>
          </a:xfrm>
        </p:spPr>
        <p:txBody>
          <a:bodyPr>
            <a:normAutofit fontScale="90000"/>
          </a:bodyPr>
          <a:lstStyle/>
          <a:p>
            <a:r>
              <a:rPr kumimoji="1" lang="ja-JP" altLang="en-US" dirty="0" smtClean="0"/>
              <a:t>新しいファイルの作成</a:t>
            </a:r>
            <a:endParaRPr kumimoji="1" lang="ja-JP" altLang="en-US" dirty="0"/>
          </a:p>
        </p:txBody>
      </p:sp>
      <p:sp>
        <p:nvSpPr>
          <p:cNvPr id="4" name="テキスト ボックス 3"/>
          <p:cNvSpPr txBox="1"/>
          <p:nvPr/>
        </p:nvSpPr>
        <p:spPr>
          <a:xfrm>
            <a:off x="785786" y="1000108"/>
            <a:ext cx="7500990" cy="5693866"/>
          </a:xfrm>
          <a:prstGeom prst="rect">
            <a:avLst/>
          </a:prstGeom>
          <a:noFill/>
        </p:spPr>
        <p:txBody>
          <a:bodyPr wrap="square" rtlCol="0">
            <a:spAutoFit/>
          </a:bodyPr>
          <a:lstStyle/>
          <a:p>
            <a:r>
              <a:rPr lang="ja-JP" altLang="en-US" sz="2800" dirty="0" smtClean="0"/>
              <a:t>新しいファイルの作成は、</a:t>
            </a:r>
            <a:r>
              <a:rPr lang="en-US" altLang="ja-JP" sz="2800" dirty="0" smtClean="0"/>
              <a:t>open</a:t>
            </a:r>
            <a:r>
              <a:rPr lang="ja-JP" altLang="en-US" sz="2800" dirty="0" smtClean="0"/>
              <a:t>システムコールの第２引数のフラグに</a:t>
            </a:r>
            <a:r>
              <a:rPr lang="en-US" altLang="ja-JP" sz="2800" dirty="0" smtClean="0"/>
              <a:t>O_CREAT</a:t>
            </a:r>
            <a:r>
              <a:rPr lang="ja-JP" altLang="en-US" sz="2800" dirty="0" smtClean="0"/>
              <a:t>を指定する。（ファイルが存在していたらそのファイルを使う。存在しなければファイルを新しく作る。）</a:t>
            </a:r>
            <a:endParaRPr lang="en-US" altLang="ja-JP" sz="2800" dirty="0" smtClean="0"/>
          </a:p>
          <a:p>
            <a:endParaRPr lang="en-US" altLang="ja-JP" sz="2800" dirty="0" smtClean="0"/>
          </a:p>
          <a:p>
            <a:r>
              <a:rPr lang="ja-JP" altLang="en-US" sz="2800" dirty="0" smtClean="0"/>
              <a:t>他のフラグと組み合わせて指定できる。組み合わせるときはビットの</a:t>
            </a:r>
            <a:r>
              <a:rPr lang="en-US" altLang="ja-JP" sz="2800" dirty="0" smtClean="0"/>
              <a:t>or</a:t>
            </a:r>
            <a:r>
              <a:rPr lang="ja-JP" altLang="en-US" sz="2800" dirty="0" smtClean="0"/>
              <a:t>演算子</a:t>
            </a:r>
            <a:r>
              <a:rPr lang="en-US" altLang="ja-JP" sz="2800" dirty="0" smtClean="0"/>
              <a:t>|</a:t>
            </a:r>
            <a:r>
              <a:rPr lang="ja-JP" altLang="en-US" sz="2800" dirty="0" smtClean="0"/>
              <a:t>を用いる。</a:t>
            </a:r>
            <a:endParaRPr lang="en-US" altLang="ja-JP" sz="2800" dirty="0" smtClean="0"/>
          </a:p>
          <a:p>
            <a:endParaRPr lang="en-US" altLang="ja-JP" sz="2800" dirty="0" smtClean="0"/>
          </a:p>
          <a:p>
            <a:r>
              <a:rPr lang="ja-JP" altLang="en-US" sz="2800" dirty="0" smtClean="0"/>
              <a:t>例えば、</a:t>
            </a:r>
            <a:r>
              <a:rPr lang="en-US" altLang="ja-JP" sz="2800" dirty="0" smtClean="0"/>
              <a:t>write only</a:t>
            </a:r>
            <a:r>
              <a:rPr lang="ja-JP" altLang="en-US" sz="2800" dirty="0" smtClean="0"/>
              <a:t>で開きたい場合は、</a:t>
            </a:r>
            <a:r>
              <a:rPr lang="en-US" altLang="ja-JP" sz="2800" dirty="0" smtClean="0"/>
              <a:t>open</a:t>
            </a:r>
            <a:r>
              <a:rPr lang="ja-JP" altLang="en-US" sz="2800" dirty="0" smtClean="0"/>
              <a:t>システムコールの第２引数に </a:t>
            </a:r>
            <a:endParaRPr lang="en-US" altLang="ja-JP" sz="2800" dirty="0" smtClean="0"/>
          </a:p>
          <a:p>
            <a:r>
              <a:rPr lang="en-US" altLang="ja-JP" sz="2800" dirty="0" smtClean="0"/>
              <a:t>    O_WRONLY | O_CREAT</a:t>
            </a:r>
          </a:p>
          <a:p>
            <a:r>
              <a:rPr lang="ja-JP" altLang="en-US" sz="2800" dirty="0" smtClean="0"/>
              <a:t>を指定する。さらに、存在しているときに内容を消したいときは </a:t>
            </a:r>
            <a:r>
              <a:rPr lang="en-US" altLang="ja-JP" sz="2800" dirty="0" smtClean="0"/>
              <a:t>O_TRUNC</a:t>
            </a:r>
            <a:r>
              <a:rPr lang="ja-JP" altLang="en-US" sz="2800" dirty="0" smtClean="0"/>
              <a:t>をさらに追加で指定する。</a:t>
            </a:r>
            <a:endParaRPr lang="en-US" altLang="ja-JP" sz="2800" dirty="0" smtClean="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0" y="0"/>
            <a:ext cx="1285884" cy="582594"/>
          </a:xfrm>
        </p:spPr>
        <p:txBody>
          <a:bodyPr>
            <a:noAutofit/>
          </a:bodyPr>
          <a:lstStyle/>
          <a:p>
            <a:r>
              <a:rPr kumimoji="1" lang="ja-JP" altLang="en-US" sz="3600" dirty="0" smtClean="0"/>
              <a:t>例</a:t>
            </a:r>
            <a:r>
              <a:rPr lang="en-US" altLang="ja-JP" sz="3600" dirty="0" smtClean="0"/>
              <a:t>5</a:t>
            </a:r>
            <a:endParaRPr kumimoji="1" lang="ja-JP" altLang="en-US" sz="3600" dirty="0"/>
          </a:p>
        </p:txBody>
      </p:sp>
      <p:sp>
        <p:nvSpPr>
          <p:cNvPr id="6" name="正方形/長方形 5"/>
          <p:cNvSpPr/>
          <p:nvPr/>
        </p:nvSpPr>
        <p:spPr>
          <a:xfrm>
            <a:off x="71406" y="642918"/>
            <a:ext cx="4357718" cy="5632311"/>
          </a:xfrm>
          <a:prstGeom prst="rect">
            <a:avLst/>
          </a:prstGeom>
          <a:ln>
            <a:solidFill>
              <a:schemeClr val="tx1"/>
            </a:solidFill>
          </a:ln>
        </p:spPr>
        <p:txBody>
          <a:bodyPr wrap="square">
            <a:spAutoFit/>
          </a:bodyPr>
          <a:lstStyle/>
          <a:p>
            <a:r>
              <a:rPr lang="en-US" altLang="ja-JP" sz="2400" dirty="0" smtClean="0"/>
              <a:t>/* </a:t>
            </a:r>
            <a:r>
              <a:rPr lang="ja-JP" altLang="en-US" sz="2400" dirty="0" smtClean="0"/>
              <a:t>入力をファイルへ書きだす</a:t>
            </a:r>
            <a:r>
              <a:rPr lang="en-US" altLang="ja-JP" sz="2400" dirty="0" smtClean="0"/>
              <a:t>*/</a:t>
            </a:r>
          </a:p>
          <a:p>
            <a:r>
              <a:rPr lang="en-US" altLang="ja-JP" sz="2400" dirty="0" smtClean="0"/>
              <a:t>#include &lt;</a:t>
            </a:r>
            <a:r>
              <a:rPr lang="en-US" altLang="ja-JP" sz="2400" dirty="0" err="1" smtClean="0"/>
              <a:t>stdio.h</a:t>
            </a:r>
            <a:r>
              <a:rPr lang="en-US" altLang="ja-JP" sz="2400" dirty="0" smtClean="0"/>
              <a:t>&gt;</a:t>
            </a:r>
          </a:p>
          <a:p>
            <a:r>
              <a:rPr lang="en-US" altLang="ja-JP" sz="2400" dirty="0" smtClean="0"/>
              <a:t>#include &lt;sys/</a:t>
            </a:r>
            <a:r>
              <a:rPr lang="en-US" altLang="ja-JP" sz="2400" dirty="0" err="1" smtClean="0"/>
              <a:t>types.h</a:t>
            </a:r>
            <a:r>
              <a:rPr lang="en-US" altLang="ja-JP" sz="2400" dirty="0" smtClean="0"/>
              <a:t>&gt;</a:t>
            </a:r>
          </a:p>
          <a:p>
            <a:r>
              <a:rPr lang="en-US" altLang="ja-JP" sz="2400" dirty="0" smtClean="0"/>
              <a:t>#include &lt;sys/</a:t>
            </a:r>
            <a:r>
              <a:rPr lang="en-US" altLang="ja-JP" sz="2400" dirty="0" err="1" smtClean="0"/>
              <a:t>stat.h</a:t>
            </a:r>
            <a:r>
              <a:rPr lang="en-US" altLang="ja-JP" sz="2400" dirty="0" smtClean="0"/>
              <a:t>&gt;</a:t>
            </a:r>
          </a:p>
          <a:p>
            <a:r>
              <a:rPr lang="en-US" altLang="ja-JP" sz="2400" dirty="0" smtClean="0"/>
              <a:t>#include &lt;</a:t>
            </a:r>
            <a:r>
              <a:rPr lang="en-US" altLang="ja-JP" sz="2400" dirty="0" err="1" smtClean="0"/>
              <a:t>fcntl.h</a:t>
            </a:r>
            <a:r>
              <a:rPr lang="en-US" altLang="ja-JP" sz="2400" dirty="0" smtClean="0"/>
              <a:t>&gt;</a:t>
            </a:r>
          </a:p>
          <a:p>
            <a:r>
              <a:rPr lang="en-US" altLang="ja-JP" sz="2400" dirty="0" smtClean="0"/>
              <a:t>#include &lt;</a:t>
            </a:r>
            <a:r>
              <a:rPr lang="en-US" altLang="ja-JP" sz="2400" dirty="0" err="1" smtClean="0"/>
              <a:t>unistd.h</a:t>
            </a:r>
            <a:r>
              <a:rPr lang="en-US" altLang="ja-JP" sz="2400" dirty="0" smtClean="0"/>
              <a:t>&gt;</a:t>
            </a:r>
          </a:p>
          <a:p>
            <a:r>
              <a:rPr lang="en-US" altLang="ja-JP" sz="2400" dirty="0" err="1" smtClean="0"/>
              <a:t>int</a:t>
            </a:r>
            <a:r>
              <a:rPr lang="en-US" altLang="ja-JP" sz="2400" dirty="0" smtClean="0"/>
              <a:t> main (</a:t>
            </a:r>
            <a:r>
              <a:rPr lang="en-US" altLang="ja-JP" sz="2400" dirty="0" err="1" smtClean="0"/>
              <a:t>int</a:t>
            </a:r>
            <a:r>
              <a:rPr lang="en-US" altLang="ja-JP" sz="2400" dirty="0" smtClean="0"/>
              <a:t> </a:t>
            </a:r>
            <a:r>
              <a:rPr lang="en-US" altLang="ja-JP" sz="2400" dirty="0" err="1" smtClean="0"/>
              <a:t>argc</a:t>
            </a:r>
            <a:r>
              <a:rPr lang="en-US" altLang="ja-JP" sz="2400" dirty="0" smtClean="0"/>
              <a:t>, char * </a:t>
            </a:r>
            <a:r>
              <a:rPr lang="en-US" altLang="ja-JP" sz="2400" dirty="0" err="1" smtClean="0"/>
              <a:t>argv</a:t>
            </a:r>
            <a:r>
              <a:rPr lang="en-US" altLang="ja-JP" sz="2400" dirty="0" smtClean="0"/>
              <a:t> []) {</a:t>
            </a:r>
          </a:p>
          <a:p>
            <a:r>
              <a:rPr lang="en-US" altLang="ja-JP" sz="2400" dirty="0" smtClean="0"/>
              <a:t>  </a:t>
            </a:r>
            <a:r>
              <a:rPr lang="en-US" altLang="ja-JP" sz="2400" dirty="0" err="1" smtClean="0"/>
              <a:t>int</a:t>
            </a:r>
            <a:r>
              <a:rPr lang="en-US" altLang="ja-JP" sz="2400" dirty="0" smtClean="0"/>
              <a:t> </a:t>
            </a:r>
            <a:r>
              <a:rPr lang="en-US" altLang="ja-JP" sz="2400" dirty="0" err="1" smtClean="0"/>
              <a:t>fd</a:t>
            </a:r>
            <a:r>
              <a:rPr lang="en-US" altLang="ja-JP" sz="2400" dirty="0" smtClean="0"/>
              <a:t>, n;</a:t>
            </a:r>
          </a:p>
          <a:p>
            <a:r>
              <a:rPr lang="en-US" altLang="ja-JP" sz="2400" dirty="0" smtClean="0"/>
              <a:t>  char c[100];</a:t>
            </a:r>
          </a:p>
          <a:p>
            <a:r>
              <a:rPr lang="en-US" altLang="ja-JP" sz="2400" dirty="0" smtClean="0"/>
              <a:t>  if (</a:t>
            </a:r>
            <a:r>
              <a:rPr lang="en-US" altLang="ja-JP" sz="2400" dirty="0" err="1" smtClean="0"/>
              <a:t>argc</a:t>
            </a:r>
            <a:r>
              <a:rPr lang="en-US" altLang="ja-JP" sz="2400" dirty="0" smtClean="0"/>
              <a:t>!=2) {</a:t>
            </a:r>
          </a:p>
          <a:p>
            <a:r>
              <a:rPr lang="en-US" altLang="ja-JP" sz="2400" dirty="0" smtClean="0"/>
              <a:t>    </a:t>
            </a:r>
            <a:r>
              <a:rPr lang="en-US" altLang="ja-JP" sz="2400" dirty="0" err="1" smtClean="0"/>
              <a:t>fprintf</a:t>
            </a:r>
            <a:r>
              <a:rPr lang="en-US" altLang="ja-JP" sz="2400" dirty="0" smtClean="0"/>
              <a:t> (</a:t>
            </a:r>
            <a:r>
              <a:rPr lang="en-US" altLang="ja-JP" sz="2400" dirty="0" err="1" smtClean="0"/>
              <a:t>stderr</a:t>
            </a:r>
            <a:r>
              <a:rPr lang="en-US" altLang="ja-JP" sz="2400" dirty="0" smtClean="0"/>
              <a:t>,</a:t>
            </a:r>
          </a:p>
          <a:p>
            <a:r>
              <a:rPr lang="en-US" altLang="ja-JP" sz="2400" dirty="0" smtClean="0"/>
              <a:t>             "Usage: %s filename\n",</a:t>
            </a:r>
          </a:p>
          <a:p>
            <a:r>
              <a:rPr lang="en-US" altLang="ja-JP" sz="2400" dirty="0" smtClean="0"/>
              <a:t>             </a:t>
            </a:r>
            <a:r>
              <a:rPr lang="en-US" altLang="ja-JP" sz="2400" dirty="0" err="1" smtClean="0"/>
              <a:t>argv</a:t>
            </a:r>
            <a:r>
              <a:rPr lang="en-US" altLang="ja-JP" sz="2400" dirty="0" smtClean="0"/>
              <a:t>[0]);</a:t>
            </a:r>
          </a:p>
          <a:p>
            <a:r>
              <a:rPr lang="en-US" altLang="ja-JP" sz="2400" dirty="0" smtClean="0"/>
              <a:t>    exit(1);</a:t>
            </a:r>
          </a:p>
          <a:p>
            <a:r>
              <a:rPr lang="en-US" altLang="ja-JP" sz="2400" dirty="0" smtClean="0"/>
              <a:t>  }</a:t>
            </a:r>
          </a:p>
        </p:txBody>
      </p:sp>
      <p:sp>
        <p:nvSpPr>
          <p:cNvPr id="7" name="正方形/長方形 6"/>
          <p:cNvSpPr/>
          <p:nvPr/>
        </p:nvSpPr>
        <p:spPr>
          <a:xfrm>
            <a:off x="4500562" y="117717"/>
            <a:ext cx="4572032" cy="6740307"/>
          </a:xfrm>
          <a:prstGeom prst="rect">
            <a:avLst/>
          </a:prstGeom>
          <a:ln>
            <a:solidFill>
              <a:schemeClr val="tx1"/>
            </a:solidFill>
          </a:ln>
        </p:spPr>
        <p:txBody>
          <a:bodyPr wrap="square">
            <a:spAutoFit/>
          </a:bodyPr>
          <a:lstStyle/>
          <a:p>
            <a:r>
              <a:rPr lang="en-US" altLang="ja-JP" sz="2400" dirty="0" smtClean="0"/>
              <a:t>/* </a:t>
            </a:r>
            <a:r>
              <a:rPr lang="ja-JP" altLang="en-US" sz="2400" dirty="0" smtClean="0"/>
              <a:t>続き </a:t>
            </a:r>
            <a:r>
              <a:rPr lang="en-US" altLang="ja-JP" sz="2400" dirty="0" smtClean="0"/>
              <a:t>*/</a:t>
            </a:r>
          </a:p>
          <a:p>
            <a:r>
              <a:rPr lang="en-US" altLang="ja-JP" sz="2400" dirty="0" smtClean="0"/>
              <a:t>if ((</a:t>
            </a:r>
            <a:r>
              <a:rPr lang="en-US" altLang="ja-JP" sz="2400" dirty="0" err="1" smtClean="0"/>
              <a:t>fd</a:t>
            </a:r>
            <a:r>
              <a:rPr lang="en-US" altLang="ja-JP" sz="2400" dirty="0" smtClean="0"/>
              <a:t> = open (</a:t>
            </a:r>
            <a:r>
              <a:rPr lang="en-US" altLang="ja-JP" sz="2400" dirty="0" err="1" smtClean="0"/>
              <a:t>argv</a:t>
            </a:r>
            <a:r>
              <a:rPr lang="en-US" altLang="ja-JP" sz="2400" dirty="0" smtClean="0"/>
              <a:t>[1],</a:t>
            </a:r>
          </a:p>
          <a:p>
            <a:r>
              <a:rPr lang="en-US" altLang="ja-JP" sz="2400" dirty="0" smtClean="0"/>
              <a:t>                 O_WRONLY | O_CREAT |</a:t>
            </a:r>
          </a:p>
          <a:p>
            <a:r>
              <a:rPr lang="en-US" altLang="ja-JP" sz="2400" dirty="0" smtClean="0"/>
              <a:t>                 O_TRUNC,  0644)) == -1) {</a:t>
            </a:r>
          </a:p>
          <a:p>
            <a:r>
              <a:rPr lang="en-US" altLang="ja-JP" sz="2400" dirty="0" smtClean="0"/>
              <a:t>    </a:t>
            </a:r>
            <a:r>
              <a:rPr lang="en-US" altLang="ja-JP" sz="2400" dirty="0" err="1" smtClean="0"/>
              <a:t>perror</a:t>
            </a:r>
            <a:r>
              <a:rPr lang="en-US" altLang="ja-JP" sz="2400" dirty="0" smtClean="0"/>
              <a:t> ("open");</a:t>
            </a:r>
          </a:p>
          <a:p>
            <a:r>
              <a:rPr lang="en-US" altLang="ja-JP" sz="2400" dirty="0" smtClean="0"/>
              <a:t>    exit(1); }</a:t>
            </a:r>
          </a:p>
          <a:p>
            <a:r>
              <a:rPr lang="en-US" altLang="ja-JP" sz="2400" dirty="0" smtClean="0"/>
              <a:t>  while ((n = read (</a:t>
            </a:r>
            <a:r>
              <a:rPr lang="en-US" altLang="ja-JP" sz="2400" dirty="0" smtClean="0">
                <a:solidFill>
                  <a:srgbClr val="FF0000"/>
                </a:solidFill>
              </a:rPr>
              <a:t>0</a:t>
            </a:r>
            <a:r>
              <a:rPr lang="en-US" altLang="ja-JP" sz="2400" dirty="0" smtClean="0"/>
              <a:t>, c, 100) ) &gt; 0)</a:t>
            </a:r>
          </a:p>
          <a:p>
            <a:r>
              <a:rPr lang="en-US" altLang="ja-JP" sz="2400" dirty="0" smtClean="0"/>
              <a:t>    if (write (</a:t>
            </a:r>
            <a:r>
              <a:rPr lang="en-US" altLang="ja-JP" sz="2400" dirty="0" err="1" smtClean="0"/>
              <a:t>fd</a:t>
            </a:r>
            <a:r>
              <a:rPr lang="en-US" altLang="ja-JP" sz="2400" dirty="0" smtClean="0"/>
              <a:t>, c, n) != n) {</a:t>
            </a:r>
          </a:p>
          <a:p>
            <a:r>
              <a:rPr lang="en-US" altLang="ja-JP" sz="2400" dirty="0" smtClean="0"/>
              <a:t>      </a:t>
            </a:r>
            <a:r>
              <a:rPr lang="en-US" altLang="ja-JP" sz="2400" dirty="0" err="1" smtClean="0"/>
              <a:t>perror</a:t>
            </a:r>
            <a:r>
              <a:rPr lang="en-US" altLang="ja-JP" sz="2400" dirty="0" smtClean="0"/>
              <a:t> ("write");</a:t>
            </a:r>
          </a:p>
          <a:p>
            <a:r>
              <a:rPr lang="en-US" altLang="ja-JP" sz="2400" dirty="0" smtClean="0"/>
              <a:t>      exit(1);   };</a:t>
            </a:r>
          </a:p>
          <a:p>
            <a:r>
              <a:rPr lang="en-US" altLang="ja-JP" sz="2400" dirty="0" smtClean="0"/>
              <a:t>  if (n == -1) {</a:t>
            </a:r>
          </a:p>
          <a:p>
            <a:r>
              <a:rPr lang="en-US" altLang="ja-JP" sz="2400" dirty="0" smtClean="0"/>
              <a:t>    </a:t>
            </a:r>
            <a:r>
              <a:rPr lang="en-US" altLang="ja-JP" sz="2400" dirty="0" err="1" smtClean="0"/>
              <a:t>perror</a:t>
            </a:r>
            <a:r>
              <a:rPr lang="en-US" altLang="ja-JP" sz="2400" dirty="0" smtClean="0"/>
              <a:t> ("read");</a:t>
            </a:r>
          </a:p>
          <a:p>
            <a:r>
              <a:rPr lang="en-US" altLang="ja-JP" sz="2400" dirty="0" smtClean="0"/>
              <a:t>    exit(1); } </a:t>
            </a:r>
          </a:p>
          <a:p>
            <a:r>
              <a:rPr lang="ja-JP" altLang="en-US" sz="2400" dirty="0" smtClean="0"/>
              <a:t>  </a:t>
            </a:r>
            <a:r>
              <a:rPr lang="en-US" altLang="ja-JP" sz="2400" dirty="0" smtClean="0"/>
              <a:t>if (close (</a:t>
            </a:r>
            <a:r>
              <a:rPr lang="en-US" altLang="ja-JP" sz="2400" dirty="0" err="1" smtClean="0"/>
              <a:t>fd</a:t>
            </a:r>
            <a:r>
              <a:rPr lang="en-US" altLang="ja-JP" sz="2400" dirty="0" smtClean="0"/>
              <a:t>) == -1) {</a:t>
            </a:r>
          </a:p>
          <a:p>
            <a:r>
              <a:rPr lang="en-US" altLang="ja-JP" sz="2400" dirty="0" smtClean="0"/>
              <a:t>    </a:t>
            </a:r>
            <a:r>
              <a:rPr lang="en-US" altLang="ja-JP" sz="2400" dirty="0" err="1" smtClean="0"/>
              <a:t>perror</a:t>
            </a:r>
            <a:r>
              <a:rPr lang="en-US" altLang="ja-JP" sz="2400" dirty="0" smtClean="0"/>
              <a:t> ("close");</a:t>
            </a:r>
          </a:p>
          <a:p>
            <a:r>
              <a:rPr lang="en-US" altLang="ja-JP" sz="2400" dirty="0" smtClean="0"/>
              <a:t>    exit(1); }</a:t>
            </a:r>
          </a:p>
          <a:p>
            <a:r>
              <a:rPr lang="en-US" altLang="ja-JP" sz="2400" dirty="0" smtClean="0"/>
              <a:t>  return 0;</a:t>
            </a:r>
          </a:p>
          <a:p>
            <a:r>
              <a:rPr lang="en-US" altLang="ja-JP" sz="2400" dirty="0" smtClean="0"/>
              <a:t>}</a:t>
            </a:r>
            <a:endParaRPr lang="ja-JP" altLang="en-US" sz="2400" dirty="0"/>
          </a:p>
        </p:txBody>
      </p:sp>
      <p:sp>
        <p:nvSpPr>
          <p:cNvPr id="5" name="テキスト ボックス 4"/>
          <p:cNvSpPr txBox="1"/>
          <p:nvPr/>
        </p:nvSpPr>
        <p:spPr>
          <a:xfrm>
            <a:off x="6979239" y="1857364"/>
            <a:ext cx="1879041" cy="461665"/>
          </a:xfrm>
          <a:prstGeom prst="rect">
            <a:avLst/>
          </a:prstGeom>
          <a:noFill/>
          <a:ln>
            <a:solidFill>
              <a:schemeClr val="tx1"/>
            </a:solidFill>
          </a:ln>
        </p:spPr>
        <p:txBody>
          <a:bodyPr wrap="none" rtlCol="0">
            <a:spAutoFit/>
          </a:bodyPr>
          <a:lstStyle/>
          <a:p>
            <a:r>
              <a:rPr lang="en-US" altLang="ja-JP" sz="2400" dirty="0" smtClean="0"/>
              <a:t>0</a:t>
            </a:r>
            <a:r>
              <a:rPr kumimoji="1" lang="ja-JP" altLang="en-US" sz="2400" dirty="0" smtClean="0"/>
              <a:t>は標準入力</a:t>
            </a:r>
            <a:endParaRPr kumimoji="1" lang="ja-JP" altLang="en-US" sz="24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演習課題３</a:t>
            </a:r>
            <a:endParaRPr kumimoji="1" lang="ja-JP" altLang="en-US" dirty="0"/>
          </a:p>
        </p:txBody>
      </p:sp>
      <p:sp>
        <p:nvSpPr>
          <p:cNvPr id="4" name="テキスト ボックス 3"/>
          <p:cNvSpPr txBox="1"/>
          <p:nvPr/>
        </p:nvSpPr>
        <p:spPr>
          <a:xfrm>
            <a:off x="785786" y="1428736"/>
            <a:ext cx="7929617" cy="4401205"/>
          </a:xfrm>
          <a:prstGeom prst="rect">
            <a:avLst/>
          </a:prstGeom>
          <a:noFill/>
        </p:spPr>
        <p:txBody>
          <a:bodyPr wrap="square" rtlCol="0">
            <a:spAutoFit/>
          </a:bodyPr>
          <a:lstStyle/>
          <a:p>
            <a:r>
              <a:rPr kumimoji="1" lang="ja-JP" altLang="en-US" sz="2800" dirty="0" smtClean="0"/>
              <a:t>実行ファイルの引数に２つのファイル名を受けとり、１つ目のファイル（存在するファイル）の</a:t>
            </a:r>
            <a:r>
              <a:rPr lang="ja-JP" altLang="en-US" sz="2800" dirty="0" smtClean="0"/>
              <a:t>コピーを２つ目のファイルに作成するプログラムを作成せよ。（コピーコマンド）</a:t>
            </a:r>
            <a:r>
              <a:rPr lang="en-US" altLang="ja-JP" sz="2800" dirty="0" smtClean="0"/>
              <a:t> </a:t>
            </a:r>
          </a:p>
          <a:p>
            <a:endParaRPr lang="en-US" altLang="ja-JP" sz="2800" dirty="0" smtClean="0"/>
          </a:p>
          <a:p>
            <a:r>
              <a:rPr lang="ja-JP" altLang="en-US" sz="2800" dirty="0" smtClean="0"/>
              <a:t>コピー先ファイルの</a:t>
            </a:r>
            <a:r>
              <a:rPr lang="en-US" altLang="ja-JP" sz="2800" dirty="0" smtClean="0"/>
              <a:t>open</a:t>
            </a:r>
            <a:r>
              <a:rPr lang="ja-JP" altLang="en-US" sz="2800" dirty="0" smtClean="0"/>
              <a:t>時の引数</a:t>
            </a:r>
            <a:endParaRPr lang="en-US" altLang="ja-JP" sz="2800" dirty="0" smtClean="0"/>
          </a:p>
          <a:p>
            <a:r>
              <a:rPr lang="en-US" altLang="ja-JP" sz="2800" dirty="0" smtClean="0"/>
              <a:t>    </a:t>
            </a:r>
            <a:r>
              <a:rPr lang="ja-JP" altLang="en-US" sz="2800" dirty="0" smtClean="0"/>
              <a:t>第２引数 </a:t>
            </a:r>
            <a:r>
              <a:rPr lang="en-US" altLang="ja-JP" sz="2800" dirty="0" smtClean="0"/>
              <a:t>--- O_WRONLY | O_CREAT | O_TRUNC</a:t>
            </a:r>
          </a:p>
          <a:p>
            <a:r>
              <a:rPr lang="en-US" altLang="ja-JP" sz="2800" dirty="0" smtClean="0"/>
              <a:t>    </a:t>
            </a:r>
            <a:r>
              <a:rPr lang="ja-JP" altLang="en-US" sz="2800" dirty="0" smtClean="0"/>
              <a:t>第３引数 </a:t>
            </a:r>
            <a:r>
              <a:rPr lang="en-US" altLang="ja-JP" sz="2800" dirty="0" smtClean="0"/>
              <a:t>--- 0644(8</a:t>
            </a:r>
            <a:r>
              <a:rPr lang="ja-JP" altLang="en-US" sz="2800" dirty="0" smtClean="0"/>
              <a:t>進表記</a:t>
            </a:r>
            <a:r>
              <a:rPr lang="en-US" altLang="ja-JP" sz="2800" dirty="0" smtClean="0"/>
              <a:t>)</a:t>
            </a:r>
          </a:p>
          <a:p>
            <a:r>
              <a:rPr lang="ja-JP" altLang="en-US" sz="2800" dirty="0" smtClean="0"/>
              <a:t>とせよ。これにより、コピー先のファイル名が存在していたら、内容が消去されてから</a:t>
            </a:r>
            <a:r>
              <a:rPr lang="ja-JP" altLang="en-US" sz="2800" smtClean="0"/>
              <a:t>書き込まれる。</a:t>
            </a:r>
            <a:endParaRPr lang="en-US" altLang="ja-JP" sz="2800" dirty="0" smtClean="0"/>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725470"/>
          </a:xfrm>
        </p:spPr>
        <p:txBody>
          <a:bodyPr>
            <a:normAutofit fontScale="90000"/>
          </a:bodyPr>
          <a:lstStyle/>
          <a:p>
            <a:r>
              <a:rPr lang="ja-JP" altLang="en-US" dirty="0" smtClean="0"/>
              <a:t>レポート課題３</a:t>
            </a:r>
            <a:endParaRPr kumimoji="1" lang="ja-JP" altLang="en-US" dirty="0"/>
          </a:p>
        </p:txBody>
      </p:sp>
      <p:sp>
        <p:nvSpPr>
          <p:cNvPr id="4" name="正方形/長方形 3"/>
          <p:cNvSpPr/>
          <p:nvPr/>
        </p:nvSpPr>
        <p:spPr>
          <a:xfrm>
            <a:off x="642910" y="1142984"/>
            <a:ext cx="7858180" cy="4315027"/>
          </a:xfrm>
          <a:prstGeom prst="rect">
            <a:avLst/>
          </a:prstGeom>
        </p:spPr>
        <p:txBody>
          <a:bodyPr wrap="square">
            <a:spAutoFit/>
          </a:bodyPr>
          <a:lstStyle/>
          <a:p>
            <a:pPr marL="342900" lvl="0" indent="-342900">
              <a:spcBef>
                <a:spcPct val="20000"/>
              </a:spcBef>
            </a:pPr>
            <a:r>
              <a:rPr lang="en-US" altLang="ja-JP" sz="2800" dirty="0" smtClean="0">
                <a:solidFill>
                  <a:prstClr val="black"/>
                </a:solidFill>
              </a:rPr>
              <a:t>cat</a:t>
            </a:r>
            <a:r>
              <a:rPr lang="ja-JP" altLang="en-US" sz="2800" dirty="0" smtClean="0">
                <a:solidFill>
                  <a:prstClr val="black"/>
                </a:solidFill>
              </a:rPr>
              <a:t>コマンドの以下の機能を、システムコール</a:t>
            </a:r>
            <a:r>
              <a:rPr lang="en-US" altLang="ja-JP" sz="2800" dirty="0" smtClean="0">
                <a:solidFill>
                  <a:prstClr val="black"/>
                </a:solidFill>
              </a:rPr>
              <a:t>(open, close, read, write)</a:t>
            </a:r>
            <a:r>
              <a:rPr lang="ja-JP" altLang="en-US" sz="2800" dirty="0" smtClean="0">
                <a:solidFill>
                  <a:prstClr val="black"/>
                </a:solidFill>
              </a:rPr>
              <a:t>を使って実装せよ。</a:t>
            </a:r>
            <a:endParaRPr lang="en-US" altLang="ja-JP" sz="2800" dirty="0" smtClean="0">
              <a:solidFill>
                <a:prstClr val="black"/>
              </a:solidFill>
            </a:endParaRPr>
          </a:p>
          <a:p>
            <a:pPr marL="342900" lvl="0" indent="-342900">
              <a:spcBef>
                <a:spcPct val="20000"/>
              </a:spcBef>
            </a:pPr>
            <a:endParaRPr lang="en-US" altLang="ja-JP" sz="2800" dirty="0" smtClean="0">
              <a:solidFill>
                <a:prstClr val="black"/>
              </a:solidFill>
            </a:endParaRPr>
          </a:p>
          <a:p>
            <a:pPr marL="342900" lvl="0" indent="-342900">
              <a:spcBef>
                <a:spcPct val="20000"/>
              </a:spcBef>
            </a:pPr>
            <a:r>
              <a:rPr lang="ja-JP" altLang="en-US" sz="2800" dirty="0" smtClean="0">
                <a:solidFill>
                  <a:prstClr val="black"/>
                </a:solidFill>
              </a:rPr>
              <a:t>引数無しの場合 </a:t>
            </a:r>
            <a:r>
              <a:rPr lang="en-US" altLang="ja-JP" sz="2800" dirty="0" smtClean="0">
                <a:solidFill>
                  <a:prstClr val="black"/>
                </a:solidFill>
              </a:rPr>
              <a:t>--- </a:t>
            </a:r>
            <a:r>
              <a:rPr lang="ja-JP" altLang="en-US" sz="2800" dirty="0" smtClean="0">
                <a:solidFill>
                  <a:prstClr val="black"/>
                </a:solidFill>
              </a:rPr>
              <a:t>標準入力を標準出力へコピー</a:t>
            </a:r>
            <a:endParaRPr lang="en-US" altLang="ja-JP" sz="2800" dirty="0" smtClean="0">
              <a:solidFill>
                <a:prstClr val="black"/>
              </a:solidFill>
            </a:endParaRPr>
          </a:p>
          <a:p>
            <a:pPr marL="342900" lvl="0" indent="-342900">
              <a:spcBef>
                <a:spcPct val="20000"/>
              </a:spcBef>
            </a:pPr>
            <a:r>
              <a:rPr lang="ja-JP" altLang="en-US" sz="2800" dirty="0" smtClean="0">
                <a:solidFill>
                  <a:prstClr val="black"/>
                </a:solidFill>
              </a:rPr>
              <a:t>引数がある場合</a:t>
            </a:r>
            <a:r>
              <a:rPr lang="en-US" altLang="ja-JP" sz="2800" dirty="0" smtClean="0">
                <a:solidFill>
                  <a:prstClr val="black"/>
                </a:solidFill>
              </a:rPr>
              <a:t>(1</a:t>
            </a:r>
            <a:r>
              <a:rPr lang="ja-JP" altLang="en-US" sz="2800" dirty="0" smtClean="0">
                <a:solidFill>
                  <a:prstClr val="black"/>
                </a:solidFill>
              </a:rPr>
              <a:t>個以上のファイル名を引数にとる</a:t>
            </a:r>
            <a:r>
              <a:rPr lang="en-US" altLang="ja-JP" sz="2800" dirty="0" smtClean="0">
                <a:solidFill>
                  <a:prstClr val="black"/>
                </a:solidFill>
              </a:rPr>
              <a:t>)</a:t>
            </a:r>
            <a:r>
              <a:rPr lang="ja-JP" altLang="en-US" sz="2800" dirty="0" smtClean="0">
                <a:solidFill>
                  <a:prstClr val="black"/>
                </a:solidFill>
              </a:rPr>
              <a:t> </a:t>
            </a:r>
            <a:r>
              <a:rPr lang="en-US" altLang="ja-JP" sz="2800" dirty="0" smtClean="0">
                <a:solidFill>
                  <a:prstClr val="black"/>
                </a:solidFill>
              </a:rPr>
              <a:t>--- </a:t>
            </a:r>
            <a:r>
              <a:rPr lang="ja-JP" altLang="en-US" sz="2800" dirty="0" smtClean="0">
                <a:solidFill>
                  <a:prstClr val="black"/>
                </a:solidFill>
              </a:rPr>
              <a:t>それらのファイルの内容を結合したものを標準出力に書き出す。</a:t>
            </a:r>
            <a:endParaRPr lang="en-US" altLang="ja-JP" sz="2800" dirty="0" smtClean="0">
              <a:solidFill>
                <a:prstClr val="black"/>
              </a:solidFill>
            </a:endParaRPr>
          </a:p>
          <a:p>
            <a:pPr marL="342900" lvl="0" indent="-342900">
              <a:spcBef>
                <a:spcPct val="20000"/>
              </a:spcBef>
            </a:pPr>
            <a:r>
              <a:rPr lang="en-US" altLang="ja-JP" sz="2800" dirty="0" smtClean="0">
                <a:solidFill>
                  <a:prstClr val="black"/>
                </a:solidFill>
              </a:rPr>
              <a:t>cat</a:t>
            </a:r>
            <a:r>
              <a:rPr lang="ja-JP" altLang="en-US" sz="2800" dirty="0" smtClean="0">
                <a:solidFill>
                  <a:prstClr val="black"/>
                </a:solidFill>
              </a:rPr>
              <a:t>コマンドを使った場合と挙動を比較し、同じであることを確認したのち提出すること。</a:t>
            </a:r>
            <a:endParaRPr lang="en-US" altLang="ja-JP" sz="2800" dirty="0" smtClean="0">
              <a:solidFill>
                <a:prstClr val="black"/>
              </a:solidFill>
            </a:endParaRPr>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ctrTitle"/>
          </p:nvPr>
        </p:nvSpPr>
        <p:spPr>
          <a:xfrm>
            <a:off x="642938" y="214313"/>
            <a:ext cx="7772400" cy="785812"/>
          </a:xfrm>
        </p:spPr>
        <p:txBody>
          <a:bodyPr/>
          <a:lstStyle/>
          <a:p>
            <a:r>
              <a:rPr lang="ja-JP" altLang="en-US" sz="4000" smtClean="0"/>
              <a:t>レポートの提出方法</a:t>
            </a:r>
          </a:p>
        </p:txBody>
      </p:sp>
      <p:sp>
        <p:nvSpPr>
          <p:cNvPr id="16387" name="Rectangle 3"/>
          <p:cNvSpPr>
            <a:spLocks noGrp="1" noChangeArrowheads="1"/>
          </p:cNvSpPr>
          <p:nvPr>
            <p:ph type="subTitle" idx="1"/>
          </p:nvPr>
        </p:nvSpPr>
        <p:spPr>
          <a:xfrm>
            <a:off x="571500" y="1285875"/>
            <a:ext cx="8072438" cy="4643438"/>
          </a:xfrm>
        </p:spPr>
        <p:txBody>
          <a:bodyPr/>
          <a:lstStyle/>
          <a:p>
            <a:pPr algn="l">
              <a:defRPr/>
            </a:pPr>
            <a:r>
              <a:rPr lang="en-US" altLang="ja-JP" sz="2400" dirty="0" smtClean="0">
                <a:solidFill>
                  <a:schemeClr val="tx1"/>
                </a:solidFill>
                <a:ea typeface="+mj-ea"/>
              </a:rPr>
              <a:t>□ </a:t>
            </a:r>
            <a:r>
              <a:rPr lang="ja-JP" altLang="en-US" sz="2400" dirty="0" smtClean="0">
                <a:solidFill>
                  <a:schemeClr val="tx1"/>
                </a:solidFill>
                <a:ea typeface="+mj-ea"/>
              </a:rPr>
              <a:t>下記のファイルを作成し、提出</a:t>
            </a:r>
            <a:endParaRPr lang="en-US" altLang="ja-JP" sz="2400" dirty="0" smtClean="0">
              <a:solidFill>
                <a:schemeClr val="tx1"/>
              </a:solidFill>
              <a:ea typeface="+mj-ea"/>
            </a:endParaRPr>
          </a:p>
          <a:p>
            <a:pPr lvl="1" algn="l">
              <a:buFont typeface="Arial" charset="0"/>
              <a:buChar char="•"/>
              <a:defRPr/>
            </a:pPr>
            <a:r>
              <a:rPr lang="ja-JP" altLang="en-US" sz="2400" dirty="0" smtClean="0">
                <a:solidFill>
                  <a:schemeClr val="tx1"/>
                </a:solidFill>
                <a:ea typeface="+mj-ea"/>
              </a:rPr>
              <a:t> </a:t>
            </a:r>
            <a:r>
              <a:rPr lang="en-US" altLang="ja-JP" sz="2400" dirty="0" smtClean="0">
                <a:solidFill>
                  <a:schemeClr val="tx1"/>
                </a:solidFill>
                <a:ea typeface="+mj-ea"/>
              </a:rPr>
              <a:t>kadai3.c, kadai3.txt</a:t>
            </a:r>
          </a:p>
          <a:p>
            <a:pPr algn="l">
              <a:defRPr/>
            </a:pPr>
            <a:r>
              <a:rPr lang="en-US" altLang="ja-JP" sz="2400" dirty="0" smtClean="0">
                <a:solidFill>
                  <a:schemeClr val="tx1"/>
                </a:solidFill>
                <a:ea typeface="+mj-ea"/>
              </a:rPr>
              <a:t>□ </a:t>
            </a:r>
            <a:r>
              <a:rPr lang="ja-JP" altLang="en-US" sz="2400" dirty="0" smtClean="0">
                <a:solidFill>
                  <a:schemeClr val="tx1"/>
                </a:solidFill>
                <a:ea typeface="+mj-ea"/>
              </a:rPr>
              <a:t>提出方法</a:t>
            </a:r>
            <a:endParaRPr lang="en-US" altLang="ja-JP" sz="2400" dirty="0" smtClean="0">
              <a:solidFill>
                <a:schemeClr val="tx1"/>
              </a:solidFill>
              <a:ea typeface="+mj-ea"/>
            </a:endParaRPr>
          </a:p>
          <a:p>
            <a:pPr lvl="1" algn="l">
              <a:defRPr/>
            </a:pPr>
            <a:r>
              <a:rPr lang="ja-JP" altLang="en-US" sz="2400" dirty="0" smtClean="0">
                <a:solidFill>
                  <a:schemeClr val="tx1"/>
                </a:solidFill>
                <a:ea typeface="+mj-ea"/>
              </a:rPr>
              <a:t>システムプログラミング講義用の課題提出用フォルダ内にある</a:t>
            </a:r>
            <a:r>
              <a:rPr lang="en-US" altLang="ja-JP" sz="2400" dirty="0" smtClean="0">
                <a:solidFill>
                  <a:schemeClr val="tx1"/>
                </a:solidFill>
                <a:ea typeface="+mj-ea"/>
              </a:rPr>
              <a:t>kadai3</a:t>
            </a:r>
            <a:r>
              <a:rPr lang="ja-JP" altLang="en-US" sz="2400" dirty="0" smtClean="0">
                <a:solidFill>
                  <a:schemeClr val="tx1"/>
                </a:solidFill>
                <a:ea typeface="+mj-ea"/>
              </a:rPr>
              <a:t>というフォルダの中に自分の学籍番号を名前とするフォルダを作成し、その中に上記ファイルを置く。</a:t>
            </a:r>
            <a:r>
              <a:rPr lang="en-US" altLang="ja-JP" sz="2400" dirty="0" smtClean="0">
                <a:solidFill>
                  <a:schemeClr val="tx1"/>
                </a:solidFill>
                <a:ea typeface="+mj-ea"/>
              </a:rPr>
              <a:t>kadai3.txt</a:t>
            </a:r>
            <a:r>
              <a:rPr lang="ja-JP" altLang="en-US" sz="2400" dirty="0" smtClean="0">
                <a:solidFill>
                  <a:schemeClr val="tx1"/>
                </a:solidFill>
                <a:ea typeface="+mj-ea"/>
              </a:rPr>
              <a:t>内に学籍番号、氏名、日付、および作成したプログラムの簡単な説明を記載する。</a:t>
            </a:r>
            <a:endParaRPr lang="en-US" altLang="ja-JP" sz="2400" dirty="0" smtClean="0">
              <a:solidFill>
                <a:schemeClr val="tx1"/>
              </a:solidFill>
              <a:ea typeface="+mj-ea"/>
            </a:endParaRPr>
          </a:p>
          <a:p>
            <a:pPr algn="l">
              <a:defRPr/>
            </a:pPr>
            <a:r>
              <a:rPr lang="en-US" altLang="ja-JP" sz="2400" dirty="0" smtClean="0">
                <a:solidFill>
                  <a:schemeClr val="tx1"/>
                </a:solidFill>
                <a:ea typeface="+mj-ea"/>
              </a:rPr>
              <a:t>□ </a:t>
            </a:r>
            <a:r>
              <a:rPr lang="ja-JP" altLang="en-US" sz="2400" dirty="0" smtClean="0">
                <a:solidFill>
                  <a:schemeClr val="tx1"/>
                </a:solidFill>
                <a:ea typeface="+mj-ea"/>
              </a:rPr>
              <a:t>提出期限</a:t>
            </a:r>
            <a:endParaRPr lang="en-US" altLang="ja-JP" sz="2400" dirty="0" smtClean="0">
              <a:solidFill>
                <a:schemeClr val="tx1"/>
              </a:solidFill>
              <a:ea typeface="+mj-ea"/>
            </a:endParaRPr>
          </a:p>
          <a:p>
            <a:pPr algn="l">
              <a:defRPr/>
            </a:pPr>
            <a:r>
              <a:rPr lang="ja-JP" altLang="en-US" sz="2400" dirty="0" smtClean="0">
                <a:solidFill>
                  <a:schemeClr val="tx1"/>
                </a:solidFill>
                <a:ea typeface="+mj-ea"/>
              </a:rPr>
              <a:t>　  </a:t>
            </a:r>
            <a:r>
              <a:rPr lang="en-US" altLang="ja-JP" sz="2400" dirty="0" smtClean="0">
                <a:solidFill>
                  <a:schemeClr val="tx1"/>
                </a:solidFill>
                <a:ea typeface="+mj-ea"/>
              </a:rPr>
              <a:t>12</a:t>
            </a:r>
            <a:r>
              <a:rPr lang="ja-JP" altLang="en-US" sz="2400" dirty="0" smtClean="0">
                <a:solidFill>
                  <a:schemeClr val="tx1"/>
                </a:solidFill>
                <a:ea typeface="+mj-ea"/>
              </a:rPr>
              <a:t>月</a:t>
            </a:r>
            <a:r>
              <a:rPr lang="en-US" altLang="ja-JP" sz="2400" dirty="0" smtClean="0">
                <a:solidFill>
                  <a:schemeClr val="tx1"/>
                </a:solidFill>
                <a:ea typeface="+mj-ea"/>
              </a:rPr>
              <a:t>8</a:t>
            </a:r>
            <a:r>
              <a:rPr lang="ja-JP" altLang="en-US" sz="2400" dirty="0" smtClean="0">
                <a:solidFill>
                  <a:schemeClr val="tx1"/>
                </a:solidFill>
                <a:ea typeface="+mj-ea"/>
              </a:rPr>
              <a:t>日の講義開始時間まで。締め切り後に提出した場合、成績への反映を保証しない。</a:t>
            </a:r>
            <a:endParaRPr lang="en-US" altLang="ja-JP" sz="2400" dirty="0" smtClean="0">
              <a:solidFill>
                <a:schemeClr val="tx1"/>
              </a:solidFill>
              <a:ea typeface="+mj-ea"/>
            </a:endParaRPr>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439718"/>
          </a:xfrm>
        </p:spPr>
        <p:txBody>
          <a:bodyPr>
            <a:noAutofit/>
          </a:bodyPr>
          <a:lstStyle/>
          <a:p>
            <a:r>
              <a:rPr lang="ja-JP" altLang="en-US" sz="3600" dirty="0" smtClean="0"/>
              <a:t>参考</a:t>
            </a:r>
            <a:r>
              <a:rPr lang="en-US" altLang="ja-JP" sz="3600" dirty="0" smtClean="0"/>
              <a:t>: </a:t>
            </a:r>
            <a:r>
              <a:rPr lang="ja-JP" altLang="en-US" sz="3600" dirty="0" smtClean="0"/>
              <a:t>ライブラリ関数を使った場合</a:t>
            </a:r>
            <a:endParaRPr kumimoji="1" lang="ja-JP" altLang="en-US" sz="3600" dirty="0"/>
          </a:p>
        </p:txBody>
      </p:sp>
      <p:sp>
        <p:nvSpPr>
          <p:cNvPr id="4" name="正方形/長方形 3"/>
          <p:cNvSpPr/>
          <p:nvPr/>
        </p:nvSpPr>
        <p:spPr>
          <a:xfrm>
            <a:off x="71438" y="857794"/>
            <a:ext cx="3500430" cy="3785652"/>
          </a:xfrm>
          <a:prstGeom prst="rect">
            <a:avLst/>
          </a:prstGeom>
          <a:ln>
            <a:solidFill>
              <a:schemeClr val="tx1"/>
            </a:solidFill>
          </a:ln>
        </p:spPr>
        <p:txBody>
          <a:bodyPr wrap="square">
            <a:spAutoFit/>
          </a:bodyPr>
          <a:lstStyle/>
          <a:p>
            <a:r>
              <a:rPr lang="en-US" altLang="ja-JP" sz="2400" dirty="0" smtClean="0"/>
              <a:t>#include &lt;</a:t>
            </a:r>
            <a:r>
              <a:rPr lang="en-US" altLang="ja-JP" sz="2400" dirty="0" err="1" smtClean="0"/>
              <a:t>stdio.h</a:t>
            </a:r>
            <a:r>
              <a:rPr lang="en-US" altLang="ja-JP" sz="2400" dirty="0" smtClean="0"/>
              <a:t>&gt;</a:t>
            </a:r>
          </a:p>
          <a:p>
            <a:endParaRPr lang="en-US" altLang="ja-JP" sz="2400" dirty="0" smtClean="0"/>
          </a:p>
          <a:p>
            <a:r>
              <a:rPr lang="en-US" altLang="ja-JP" sz="2400" dirty="0" smtClean="0"/>
              <a:t>void </a:t>
            </a:r>
            <a:r>
              <a:rPr lang="en-US" altLang="ja-JP" sz="2400" dirty="0" err="1" smtClean="0"/>
              <a:t>filecopy</a:t>
            </a:r>
            <a:r>
              <a:rPr lang="en-US" altLang="ja-JP" sz="2400" dirty="0" smtClean="0"/>
              <a:t> (FILE *</a:t>
            </a:r>
            <a:r>
              <a:rPr lang="en-US" altLang="ja-JP" sz="2400" dirty="0" err="1" smtClean="0"/>
              <a:t>fpin</a:t>
            </a:r>
            <a:r>
              <a:rPr lang="en-US" altLang="ja-JP" sz="2400" dirty="0" smtClean="0"/>
              <a:t>,</a:t>
            </a:r>
          </a:p>
          <a:p>
            <a:r>
              <a:rPr lang="en-US" altLang="ja-JP" sz="2400" dirty="0" smtClean="0"/>
              <a:t>                         FILE *</a:t>
            </a:r>
            <a:r>
              <a:rPr lang="en-US" altLang="ja-JP" sz="2400" dirty="0" err="1" smtClean="0"/>
              <a:t>fpout</a:t>
            </a:r>
            <a:r>
              <a:rPr lang="en-US" altLang="ja-JP" sz="2400" dirty="0" smtClean="0"/>
              <a:t>)</a:t>
            </a:r>
          </a:p>
          <a:p>
            <a:r>
              <a:rPr lang="en-US" altLang="ja-JP" sz="2400" dirty="0" smtClean="0"/>
              <a:t> {</a:t>
            </a:r>
          </a:p>
          <a:p>
            <a:r>
              <a:rPr lang="en-US" altLang="ja-JP" sz="2400" dirty="0" smtClean="0"/>
              <a:t>  </a:t>
            </a:r>
            <a:r>
              <a:rPr lang="en-US" altLang="ja-JP" sz="2400" dirty="0" err="1" smtClean="0"/>
              <a:t>int</a:t>
            </a:r>
            <a:r>
              <a:rPr lang="en-US" altLang="ja-JP" sz="2400" dirty="0" smtClean="0"/>
              <a:t> c;</a:t>
            </a:r>
          </a:p>
          <a:p>
            <a:r>
              <a:rPr lang="en-US" altLang="ja-JP" sz="2400" dirty="0" smtClean="0"/>
              <a:t>  while ((c = </a:t>
            </a:r>
            <a:r>
              <a:rPr lang="en-US" altLang="ja-JP" sz="2400" dirty="0" err="1" smtClean="0"/>
              <a:t>getc</a:t>
            </a:r>
            <a:r>
              <a:rPr lang="en-US" altLang="ja-JP" sz="2400" dirty="0" smtClean="0"/>
              <a:t>(</a:t>
            </a:r>
            <a:r>
              <a:rPr lang="en-US" altLang="ja-JP" sz="2400" dirty="0" err="1" smtClean="0"/>
              <a:t>fpin</a:t>
            </a:r>
            <a:r>
              <a:rPr lang="en-US" altLang="ja-JP" sz="2400" dirty="0" smtClean="0"/>
              <a:t>)) </a:t>
            </a:r>
          </a:p>
          <a:p>
            <a:r>
              <a:rPr lang="en-US" altLang="ja-JP" sz="2400" dirty="0" smtClean="0"/>
              <a:t>              != EOF)</a:t>
            </a:r>
          </a:p>
          <a:p>
            <a:r>
              <a:rPr lang="en-US" altLang="ja-JP" sz="2400" dirty="0" smtClean="0"/>
              <a:t>         </a:t>
            </a:r>
            <a:r>
              <a:rPr lang="en-US" altLang="ja-JP" sz="2400" dirty="0" err="1" smtClean="0"/>
              <a:t>putc</a:t>
            </a:r>
            <a:r>
              <a:rPr lang="en-US" altLang="ja-JP" sz="2400" dirty="0" smtClean="0"/>
              <a:t> (c, </a:t>
            </a:r>
            <a:r>
              <a:rPr lang="en-US" altLang="ja-JP" sz="2400" dirty="0" err="1" smtClean="0"/>
              <a:t>fpout</a:t>
            </a:r>
            <a:r>
              <a:rPr lang="en-US" altLang="ja-JP" sz="2400" dirty="0" smtClean="0"/>
              <a:t>);</a:t>
            </a:r>
          </a:p>
          <a:p>
            <a:r>
              <a:rPr lang="en-US" altLang="ja-JP" sz="2400" dirty="0" smtClean="0"/>
              <a:t>}</a:t>
            </a:r>
            <a:endParaRPr lang="ja-JP" altLang="en-US" sz="2400" dirty="0"/>
          </a:p>
        </p:txBody>
      </p:sp>
      <p:sp>
        <p:nvSpPr>
          <p:cNvPr id="5" name="正方形/長方形 4"/>
          <p:cNvSpPr/>
          <p:nvPr/>
        </p:nvSpPr>
        <p:spPr>
          <a:xfrm>
            <a:off x="3643306" y="784943"/>
            <a:ext cx="5429288" cy="6001643"/>
          </a:xfrm>
          <a:prstGeom prst="rect">
            <a:avLst/>
          </a:prstGeom>
          <a:ln>
            <a:solidFill>
              <a:schemeClr val="tx1"/>
            </a:solidFill>
          </a:ln>
        </p:spPr>
        <p:txBody>
          <a:bodyPr wrap="square">
            <a:spAutoFit/>
          </a:bodyPr>
          <a:lstStyle/>
          <a:p>
            <a:r>
              <a:rPr lang="en-US" altLang="ja-JP" sz="2400" dirty="0" err="1" smtClean="0"/>
              <a:t>int</a:t>
            </a:r>
            <a:r>
              <a:rPr lang="en-US" altLang="ja-JP" sz="2400" dirty="0" smtClean="0"/>
              <a:t> main (</a:t>
            </a:r>
            <a:r>
              <a:rPr lang="en-US" altLang="ja-JP" sz="2400" dirty="0" err="1" smtClean="0"/>
              <a:t>int</a:t>
            </a:r>
            <a:r>
              <a:rPr lang="en-US" altLang="ja-JP" sz="2400" dirty="0" smtClean="0"/>
              <a:t> </a:t>
            </a:r>
            <a:r>
              <a:rPr lang="en-US" altLang="ja-JP" sz="2400" dirty="0" err="1" smtClean="0"/>
              <a:t>argc</a:t>
            </a:r>
            <a:r>
              <a:rPr lang="en-US" altLang="ja-JP" sz="2400" dirty="0" smtClean="0"/>
              <a:t>, char * </a:t>
            </a:r>
            <a:r>
              <a:rPr lang="en-US" altLang="ja-JP" sz="2400" dirty="0" err="1" smtClean="0"/>
              <a:t>argv</a:t>
            </a:r>
            <a:r>
              <a:rPr lang="en-US" altLang="ja-JP" sz="2400" dirty="0" smtClean="0"/>
              <a:t> []) {</a:t>
            </a:r>
          </a:p>
          <a:p>
            <a:r>
              <a:rPr lang="en-US" altLang="ja-JP" sz="2400" dirty="0" smtClean="0"/>
              <a:t>  FILE *</a:t>
            </a:r>
            <a:r>
              <a:rPr lang="en-US" altLang="ja-JP" sz="2400" dirty="0" err="1" smtClean="0"/>
              <a:t>fp</a:t>
            </a:r>
            <a:r>
              <a:rPr lang="en-US" altLang="ja-JP" sz="2400" dirty="0" smtClean="0"/>
              <a:t>;</a:t>
            </a:r>
          </a:p>
          <a:p>
            <a:r>
              <a:rPr lang="en-US" altLang="ja-JP" sz="2400" dirty="0" smtClean="0"/>
              <a:t>  if (</a:t>
            </a:r>
            <a:r>
              <a:rPr lang="en-US" altLang="ja-JP" sz="2400" dirty="0" err="1" smtClean="0"/>
              <a:t>argc</a:t>
            </a:r>
            <a:r>
              <a:rPr lang="en-US" altLang="ja-JP" sz="2400" dirty="0" smtClean="0"/>
              <a:t>==1)</a:t>
            </a:r>
          </a:p>
          <a:p>
            <a:r>
              <a:rPr lang="en-US" altLang="ja-JP" sz="2400" dirty="0" smtClean="0"/>
              <a:t>    </a:t>
            </a:r>
            <a:r>
              <a:rPr lang="en-US" altLang="ja-JP" sz="2400" dirty="0" err="1" smtClean="0"/>
              <a:t>filecopy</a:t>
            </a:r>
            <a:r>
              <a:rPr lang="en-US" altLang="ja-JP" sz="2400" dirty="0" smtClean="0"/>
              <a:t> (</a:t>
            </a:r>
            <a:r>
              <a:rPr lang="en-US" altLang="ja-JP" sz="2400" dirty="0" err="1" smtClean="0"/>
              <a:t>stdin</a:t>
            </a:r>
            <a:r>
              <a:rPr lang="en-US" altLang="ja-JP" sz="2400" dirty="0" smtClean="0"/>
              <a:t>, </a:t>
            </a:r>
            <a:r>
              <a:rPr lang="en-US" altLang="ja-JP" sz="2400" dirty="0" err="1" smtClean="0"/>
              <a:t>stdout</a:t>
            </a:r>
            <a:r>
              <a:rPr lang="en-US" altLang="ja-JP" sz="2400" dirty="0" smtClean="0"/>
              <a:t>);</a:t>
            </a:r>
          </a:p>
          <a:p>
            <a:r>
              <a:rPr lang="en-US" altLang="ja-JP" sz="2400" dirty="0" smtClean="0"/>
              <a:t>  else</a:t>
            </a:r>
          </a:p>
          <a:p>
            <a:r>
              <a:rPr lang="en-US" altLang="ja-JP" sz="2400" dirty="0" smtClean="0"/>
              <a:t>    while (--</a:t>
            </a:r>
            <a:r>
              <a:rPr lang="en-US" altLang="ja-JP" sz="2400" dirty="0" err="1" smtClean="0"/>
              <a:t>argc</a:t>
            </a:r>
            <a:r>
              <a:rPr lang="en-US" altLang="ja-JP" sz="2400" dirty="0" smtClean="0"/>
              <a:t> &gt; 0)</a:t>
            </a:r>
          </a:p>
          <a:p>
            <a:r>
              <a:rPr lang="en-US" altLang="ja-JP" sz="2400" dirty="0" smtClean="0"/>
              <a:t>      if ((</a:t>
            </a:r>
            <a:r>
              <a:rPr lang="en-US" altLang="ja-JP" sz="2400" dirty="0" err="1" smtClean="0"/>
              <a:t>fp</a:t>
            </a:r>
            <a:r>
              <a:rPr lang="en-US" altLang="ja-JP" sz="2400" dirty="0" smtClean="0"/>
              <a:t> = </a:t>
            </a:r>
            <a:r>
              <a:rPr lang="en-US" altLang="ja-JP" sz="2400" dirty="0" err="1" smtClean="0"/>
              <a:t>fopen</a:t>
            </a:r>
            <a:r>
              <a:rPr lang="en-US" altLang="ja-JP" sz="2400" dirty="0" smtClean="0"/>
              <a:t> (*++</a:t>
            </a:r>
            <a:r>
              <a:rPr lang="en-US" altLang="ja-JP" sz="2400" dirty="0" err="1" smtClean="0"/>
              <a:t>argv</a:t>
            </a:r>
            <a:r>
              <a:rPr lang="en-US" altLang="ja-JP" sz="2400" dirty="0" smtClean="0"/>
              <a:t>, "r")) </a:t>
            </a:r>
          </a:p>
          <a:p>
            <a:r>
              <a:rPr lang="ja-JP" altLang="en-US" sz="2400" dirty="0" smtClean="0"/>
              <a:t>           </a:t>
            </a:r>
            <a:r>
              <a:rPr lang="en-US" altLang="ja-JP" sz="2400" dirty="0" smtClean="0"/>
              <a:t>== NULL) {</a:t>
            </a:r>
          </a:p>
          <a:p>
            <a:r>
              <a:rPr lang="en-US" altLang="ja-JP" sz="2400" dirty="0" smtClean="0"/>
              <a:t>        </a:t>
            </a:r>
            <a:r>
              <a:rPr lang="en-US" altLang="ja-JP" sz="2400" dirty="0" err="1" smtClean="0"/>
              <a:t>printf</a:t>
            </a:r>
            <a:r>
              <a:rPr lang="en-US" altLang="ja-JP" sz="2400" dirty="0" smtClean="0"/>
              <a:t> ("cat: can't open %s\n", *</a:t>
            </a:r>
            <a:r>
              <a:rPr lang="en-US" altLang="ja-JP" sz="2400" dirty="0" err="1" smtClean="0"/>
              <a:t>argv</a:t>
            </a:r>
            <a:r>
              <a:rPr lang="en-US" altLang="ja-JP" sz="2400" dirty="0" smtClean="0"/>
              <a:t>);</a:t>
            </a:r>
          </a:p>
          <a:p>
            <a:r>
              <a:rPr lang="en-US" altLang="ja-JP" sz="2400" dirty="0" smtClean="0"/>
              <a:t>        return 1;</a:t>
            </a:r>
          </a:p>
          <a:p>
            <a:r>
              <a:rPr lang="en-US" altLang="ja-JP" sz="2400" dirty="0" smtClean="0"/>
              <a:t>      } else {</a:t>
            </a:r>
          </a:p>
          <a:p>
            <a:r>
              <a:rPr lang="en-US" altLang="ja-JP" sz="2400" dirty="0" smtClean="0"/>
              <a:t>        </a:t>
            </a:r>
            <a:r>
              <a:rPr lang="en-US" altLang="ja-JP" sz="2400" dirty="0" err="1" smtClean="0"/>
              <a:t>filecopy</a:t>
            </a:r>
            <a:r>
              <a:rPr lang="en-US" altLang="ja-JP" sz="2400" dirty="0" smtClean="0"/>
              <a:t> (</a:t>
            </a:r>
            <a:r>
              <a:rPr lang="en-US" altLang="ja-JP" sz="2400" dirty="0" err="1" smtClean="0"/>
              <a:t>fp</a:t>
            </a:r>
            <a:r>
              <a:rPr lang="en-US" altLang="ja-JP" sz="2400" dirty="0" smtClean="0"/>
              <a:t>, </a:t>
            </a:r>
            <a:r>
              <a:rPr lang="en-US" altLang="ja-JP" sz="2400" dirty="0" err="1" smtClean="0"/>
              <a:t>stdout</a:t>
            </a:r>
            <a:r>
              <a:rPr lang="en-US" altLang="ja-JP" sz="2400" dirty="0" smtClean="0"/>
              <a:t>);</a:t>
            </a:r>
          </a:p>
          <a:p>
            <a:r>
              <a:rPr lang="en-US" altLang="ja-JP" sz="2400" dirty="0" smtClean="0"/>
              <a:t>        </a:t>
            </a:r>
            <a:r>
              <a:rPr lang="en-US" altLang="ja-JP" sz="2400" dirty="0" err="1" smtClean="0"/>
              <a:t>fclose</a:t>
            </a:r>
            <a:r>
              <a:rPr lang="en-US" altLang="ja-JP" sz="2400" dirty="0" smtClean="0"/>
              <a:t> (</a:t>
            </a:r>
            <a:r>
              <a:rPr lang="en-US" altLang="ja-JP" sz="2400" dirty="0" err="1" smtClean="0"/>
              <a:t>fp</a:t>
            </a:r>
            <a:r>
              <a:rPr lang="en-US" altLang="ja-JP" sz="2400" dirty="0" smtClean="0"/>
              <a:t>);</a:t>
            </a:r>
          </a:p>
          <a:p>
            <a:r>
              <a:rPr lang="en-US" altLang="ja-JP" sz="2400" dirty="0" smtClean="0"/>
              <a:t>      }</a:t>
            </a:r>
          </a:p>
          <a:p>
            <a:r>
              <a:rPr lang="en-US" altLang="ja-JP" sz="2400" dirty="0" smtClean="0"/>
              <a:t>  return 0;</a:t>
            </a:r>
          </a:p>
          <a:p>
            <a:r>
              <a:rPr lang="en-US" altLang="ja-JP" sz="2400" dirty="0" smtClean="0"/>
              <a:t>}</a:t>
            </a:r>
            <a:endParaRPr lang="ja-JP" altLang="en-US" sz="2400" dirty="0"/>
          </a:p>
        </p:txBody>
      </p:sp>
      <p:sp>
        <p:nvSpPr>
          <p:cNvPr id="6" name="テキスト ボックス 5"/>
          <p:cNvSpPr txBox="1"/>
          <p:nvPr/>
        </p:nvSpPr>
        <p:spPr>
          <a:xfrm>
            <a:off x="214314" y="4859736"/>
            <a:ext cx="3428992" cy="1569660"/>
          </a:xfrm>
          <a:prstGeom prst="rect">
            <a:avLst/>
          </a:prstGeom>
          <a:noFill/>
        </p:spPr>
        <p:txBody>
          <a:bodyPr wrap="square" rtlCol="0">
            <a:spAutoFit/>
          </a:bodyPr>
          <a:lstStyle/>
          <a:p>
            <a:r>
              <a:rPr lang="ja-JP" altLang="en-US" sz="2400" dirty="0" smtClean="0"/>
              <a:t>この実装</a:t>
            </a:r>
            <a:r>
              <a:rPr kumimoji="1" lang="ja-JP" altLang="en-US" sz="2400" dirty="0" smtClean="0"/>
              <a:t>では１バイトずつコピーしている。</a:t>
            </a:r>
            <a:r>
              <a:rPr lang="ja-JP" altLang="en-US" sz="2400" dirty="0" smtClean="0"/>
              <a:t>複数バイトまとめて読み込んで書き込んだ方が速い。</a:t>
            </a:r>
            <a:endParaRPr kumimoji="1" lang="ja-JP" altLang="en-US" sz="2400"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テーマ">
  <a:themeElements>
    <a:clrScheme name="Office">
      <a:dk1>
        <a:sysClr val="windowText" lastClr="000000"/>
      </a:dk1>
      <a:lt1>
        <a:sysClr val="window" lastClr="C0C0C0"/>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1217</TotalTime>
  <Words>4475</Words>
  <Application>Microsoft Office PowerPoint</Application>
  <PresentationFormat>画面に合わせる (4:3)</PresentationFormat>
  <Paragraphs>470</Paragraphs>
  <Slides>48</Slides>
  <Notes>0</Notes>
  <HiddenSlides>0</HiddenSlides>
  <MMClips>0</MMClips>
  <ScaleCrop>false</ScaleCrop>
  <HeadingPairs>
    <vt:vector size="4" baseType="variant">
      <vt:variant>
        <vt:lpstr>テーマ</vt:lpstr>
      </vt:variant>
      <vt:variant>
        <vt:i4>1</vt:i4>
      </vt:variant>
      <vt:variant>
        <vt:lpstr>スライド タイトル</vt:lpstr>
      </vt:variant>
      <vt:variant>
        <vt:i4>48</vt:i4>
      </vt:variant>
    </vt:vector>
  </HeadingPairs>
  <TitlesOfParts>
    <vt:vector size="49" baseType="lpstr">
      <vt:lpstr>Office テーマ</vt:lpstr>
      <vt:lpstr>システムプログラミング 第６回、７回、８回</vt:lpstr>
      <vt:lpstr>今日からの内容</vt:lpstr>
      <vt:lpstr>Cのmain関数の引数について</vt:lpstr>
      <vt:lpstr>main関数の第３引数</vt:lpstr>
      <vt:lpstr>スタートアップルーチン</vt:lpstr>
      <vt:lpstr>コマンドのオプションについて</vt:lpstr>
      <vt:lpstr>Usage メッセージ</vt:lpstr>
      <vt:lpstr>例（打ち込んで確認）</vt:lpstr>
      <vt:lpstr>システムコールについて</vt:lpstr>
      <vt:lpstr>システムコールの実装</vt:lpstr>
      <vt:lpstr>システムコールの番号</vt:lpstr>
      <vt:lpstr>システムコールのマニュアル</vt:lpstr>
      <vt:lpstr>システムコールのエラーメッセージ</vt:lpstr>
      <vt:lpstr>ライブラリ関数perror</vt:lpstr>
      <vt:lpstr>ファイルの１文字目を表示する例 （入力して実行、後で詳述）</vt:lpstr>
      <vt:lpstr>演習課題</vt:lpstr>
      <vt:lpstr>ファイル、プロセス</vt:lpstr>
      <vt:lpstr>ファイル操作のシステムコール</vt:lpstr>
      <vt:lpstr>ファイルとは</vt:lpstr>
      <vt:lpstr>デバイスファイル</vt:lpstr>
      <vt:lpstr>ファイル名、パス名</vt:lpstr>
      <vt:lpstr>絶対パス、相対パス</vt:lpstr>
      <vt:lpstr>ピリオドの役割</vt:lpstr>
      <vt:lpstr>ホームディレクトリ</vt:lpstr>
      <vt:lpstr>ファイルの保護</vt:lpstr>
      <vt:lpstr>Permissionの変更</vt:lpstr>
      <vt:lpstr>ファイルの所有者</vt:lpstr>
      <vt:lpstr>ディレクトリファイル</vt:lpstr>
      <vt:lpstr>ファイルシステムの実装</vt:lpstr>
      <vt:lpstr>openシステムコール</vt:lpstr>
      <vt:lpstr>openシステムコールの引数</vt:lpstr>
      <vt:lpstr>openシステムコールの代表的なフラグ</vt:lpstr>
      <vt:lpstr>モード</vt:lpstr>
      <vt:lpstr>readシステムコール</vt:lpstr>
      <vt:lpstr>writeシステムコール</vt:lpstr>
      <vt:lpstr>closeシステムコール</vt:lpstr>
      <vt:lpstr>例1：テキストファイルの先頭にaを書き込む</vt:lpstr>
      <vt:lpstr>演習課題２</vt:lpstr>
      <vt:lpstr>例2</vt:lpstr>
      <vt:lpstr>複数バイトずつ読み込む</vt:lpstr>
      <vt:lpstr>例3</vt:lpstr>
      <vt:lpstr>例4</vt:lpstr>
      <vt:lpstr>新しいファイルの作成</vt:lpstr>
      <vt:lpstr>例5</vt:lpstr>
      <vt:lpstr>演習課題３</vt:lpstr>
      <vt:lpstr>レポート課題３</vt:lpstr>
      <vt:lpstr>レポートの提出方法</vt:lpstr>
      <vt:lpstr>参考: ライブラリ関数を使った場合</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システムプログラミング 第６回</dc:title>
  <dc:creator>sasano</dc:creator>
  <cp:lastModifiedBy>sasano</cp:lastModifiedBy>
  <cp:revision>413</cp:revision>
  <dcterms:created xsi:type="dcterms:W3CDTF">2009-10-25T07:27:48Z</dcterms:created>
  <dcterms:modified xsi:type="dcterms:W3CDTF">2009-11-24T01:17:19Z</dcterms:modified>
</cp:coreProperties>
</file>