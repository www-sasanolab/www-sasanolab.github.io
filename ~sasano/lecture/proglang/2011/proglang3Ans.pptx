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81" r:id="rId20"/>
    <p:sldId id="274" r:id="rId21"/>
    <p:sldId id="282" r:id="rId22"/>
    <p:sldId id="275" r:id="rId23"/>
    <p:sldId id="283" r:id="rId24"/>
    <p:sldId id="276" r:id="rId25"/>
    <p:sldId id="284" r:id="rId26"/>
    <p:sldId id="278" r:id="rId27"/>
    <p:sldId id="285" r:id="rId28"/>
    <p:sldId id="279" r:id="rId29"/>
    <p:sldId id="286" r:id="rId30"/>
    <p:sldId id="280" r:id="rId31"/>
    <p:sldId id="287"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B51E2A-E8B8-43DF-A077-E5FE9C052AB3}" type="datetimeFigureOut">
              <a:rPr kumimoji="1" lang="ja-JP" altLang="en-US" smtClean="0"/>
              <a:pPr/>
              <a:t>2011/10/10</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B1F3A6-52A2-4923-809C-B5FE92C2BC81}"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38B1F3A6-52A2-4923-809C-B5FE92C2BC81}" type="slidenum">
              <a:rPr kumimoji="1" lang="ja-JP" altLang="en-US" smtClean="0"/>
              <a:pPr/>
              <a:t>29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第３回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1037844" y="4583307"/>
            <a:ext cx="7000924"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a:t>
            </a:r>
            <a:r>
              <a:rPr lang="en-US" altLang="ja-JP" sz="2800" dirty="0" smtClean="0"/>
              <a:t>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416257" y="1725389"/>
            <a:ext cx="3295934" cy="1815882"/>
          </a:xfrm>
          <a:prstGeom prst="rect">
            <a:avLst/>
          </a:prstGeom>
        </p:spPr>
        <p:txBody>
          <a:bodyPr wrap="square">
            <a:spAutoFit/>
          </a:bodyPr>
          <a:lstStyle/>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p>
          <a:p>
            <a:r>
              <a:rPr lang="ja-JP" altLang="en-US" sz="2800" b="1" dirty="0" smtClean="0"/>
              <a:t>                </a:t>
            </a:r>
            <a:r>
              <a:rPr lang="en-US" altLang="ja-JP" sz="2800" dirty="0" smtClean="0"/>
              <a:t>y := y – 1</a:t>
            </a:r>
          </a:p>
          <a:p>
            <a:r>
              <a:rPr lang="en-US" altLang="ja-JP" sz="2800" b="1" dirty="0" smtClean="0"/>
              <a:t>        else </a:t>
            </a:r>
            <a:r>
              <a:rPr lang="en-US" altLang="ja-JP" sz="2800" dirty="0" smtClean="0"/>
              <a:t>y := y + 1</a:t>
            </a:r>
            <a:endParaRPr lang="ja-JP" altLang="en-US" sz="2800" dirty="0"/>
          </a:p>
        </p:txBody>
      </p:sp>
      <p:sp>
        <p:nvSpPr>
          <p:cNvPr id="7" name="ひし形 6"/>
          <p:cNvSpPr/>
          <p:nvPr/>
        </p:nvSpPr>
        <p:spPr>
          <a:xfrm>
            <a:off x="4943475"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514847" y="242545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6680557" y="275000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4528495" y="195908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246206"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825004" y="3107635"/>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6387145"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flipV="1">
            <a:off x="5854884" y="5227091"/>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5387164" y="179757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5200938" y="4092549"/>
            <a:ext cx="1404552" cy="523220"/>
          </a:xfrm>
          <a:prstGeom prst="rect">
            <a:avLst/>
          </a:prstGeom>
          <a:noFill/>
        </p:spPr>
        <p:txBody>
          <a:bodyPr wrap="none" rtlCol="0">
            <a:spAutoFit/>
          </a:bodyPr>
          <a:lstStyle/>
          <a:p>
            <a:r>
              <a:rPr lang="en-US" altLang="ja-JP" sz="2800" dirty="0" smtClean="0"/>
              <a:t>  y := y-1</a:t>
            </a:r>
          </a:p>
        </p:txBody>
      </p:sp>
      <p:sp>
        <p:nvSpPr>
          <p:cNvPr id="33" name="ひし形 32"/>
          <p:cNvSpPr/>
          <p:nvPr/>
        </p:nvSpPr>
        <p:spPr>
          <a:xfrm>
            <a:off x="6295848" y="3066827"/>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y&gt;0</a:t>
            </a:r>
            <a:endParaRPr kumimoji="1" lang="ja-JP" altLang="en-US" sz="2800" dirty="0">
              <a:solidFill>
                <a:schemeClr val="tx1"/>
              </a:solidFill>
            </a:endParaRPr>
          </a:p>
        </p:txBody>
      </p:sp>
      <p:cxnSp>
        <p:nvCxnSpPr>
          <p:cNvPr id="35" name="直線矢印コネクタ 34"/>
          <p:cNvCxnSpPr/>
          <p:nvPr/>
        </p:nvCxnSpPr>
        <p:spPr>
          <a:xfrm rot="5400000">
            <a:off x="8033961" y="3748569"/>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テキスト ボックス 35"/>
          <p:cNvSpPr txBox="1"/>
          <p:nvPr/>
        </p:nvSpPr>
        <p:spPr>
          <a:xfrm>
            <a:off x="7599610" y="2984940"/>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7" name="直線コネクタ 36"/>
          <p:cNvCxnSpPr/>
          <p:nvPr/>
        </p:nvCxnSpPr>
        <p:spPr>
          <a:xfrm rot="10800000">
            <a:off x="7740549" y="3427854"/>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図形 37"/>
          <p:cNvCxnSpPr/>
          <p:nvPr/>
        </p:nvCxnSpPr>
        <p:spPr>
          <a:xfrm rot="10800000" flipV="1">
            <a:off x="5854606" y="3424015"/>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5868254" y="295764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40" name="テキスト ボックス 39"/>
          <p:cNvSpPr txBox="1"/>
          <p:nvPr/>
        </p:nvSpPr>
        <p:spPr>
          <a:xfrm>
            <a:off x="7315672" y="4122120"/>
            <a:ext cx="1473480" cy="523220"/>
          </a:xfrm>
          <a:prstGeom prst="rect">
            <a:avLst/>
          </a:prstGeom>
          <a:noFill/>
        </p:spPr>
        <p:txBody>
          <a:bodyPr wrap="none" rtlCol="0">
            <a:spAutoFit/>
          </a:bodyPr>
          <a:lstStyle/>
          <a:p>
            <a:r>
              <a:rPr lang="en-US" altLang="ja-JP" sz="2800" dirty="0" smtClean="0"/>
              <a:t>  y := y+1</a:t>
            </a:r>
          </a:p>
        </p:txBody>
      </p:sp>
      <p:cxnSp>
        <p:nvCxnSpPr>
          <p:cNvPr id="46" name="直線矢印コネクタ 45"/>
          <p:cNvCxnSpPr/>
          <p:nvPr/>
        </p:nvCxnSpPr>
        <p:spPr>
          <a:xfrm rot="5400000">
            <a:off x="8008940" y="4924551"/>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矢印コネクタ 46"/>
          <p:cNvCxnSpPr/>
          <p:nvPr/>
        </p:nvCxnSpPr>
        <p:spPr>
          <a:xfrm rot="5400000">
            <a:off x="5525047" y="491090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5400000">
            <a:off x="6646438" y="5554622"/>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p:nvPr/>
        </p:nvCxnSpPr>
        <p:spPr>
          <a:xfrm rot="5400000">
            <a:off x="3377810" y="4749413"/>
            <a:ext cx="2217776" cy="2047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直線コネクタ 51"/>
          <p:cNvCxnSpPr/>
          <p:nvPr/>
        </p:nvCxnSpPr>
        <p:spPr>
          <a:xfrm flipV="1">
            <a:off x="4478734" y="5857164"/>
            <a:ext cx="2470244"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5338527" y="6171045"/>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6199091" y="206826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16200000" flipH="1">
            <a:off x="6298454" y="4387748"/>
            <a:ext cx="3916923"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702211" y="189084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7501822" y="198637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756803" y="518209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642761" y="242929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578346" y="173314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4096619" y="4874506"/>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8229600"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878774" y="30827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x=3</a:t>
            </a:r>
            <a:endParaRPr kumimoji="1" lang="ja-JP" altLang="en-US" sz="2800" dirty="0">
              <a:solidFill>
                <a:schemeClr val="tx1"/>
              </a:solidFill>
            </a:endParaRPr>
          </a:p>
        </p:txBody>
      </p:sp>
      <p:sp>
        <p:nvSpPr>
          <p:cNvPr id="30" name="テキスト ボックス 29"/>
          <p:cNvSpPr txBox="1"/>
          <p:nvPr/>
        </p:nvSpPr>
        <p:spPr>
          <a:xfrm>
            <a:off x="4421975" y="2878033"/>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34" name="図形 33"/>
          <p:cNvCxnSpPr/>
          <p:nvPr/>
        </p:nvCxnSpPr>
        <p:spPr>
          <a:xfrm rot="10800000" flipV="1">
            <a:off x="4437532" y="3439938"/>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6198094" y="2864383"/>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5268034" y="277048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rot="10800000">
            <a:off x="6323489" y="3430134"/>
            <a:ext cx="1947076" cy="9102"/>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3769571" y="4056154"/>
            <a:ext cx="1473480" cy="523220"/>
          </a:xfrm>
          <a:prstGeom prst="rect">
            <a:avLst/>
          </a:prstGeom>
          <a:noFill/>
        </p:spPr>
        <p:txBody>
          <a:bodyPr wrap="none" rtlCol="0">
            <a:spAutoFit/>
          </a:bodyPr>
          <a:lstStyle/>
          <a:p>
            <a:r>
              <a:rPr lang="en-US" altLang="ja-JP" sz="2800" dirty="0" smtClean="0"/>
              <a:t>  y := y+1</a:t>
            </a:r>
          </a:p>
        </p:txBody>
      </p:sp>
      <p:cxnSp>
        <p:nvCxnSpPr>
          <p:cNvPr id="90" name="直線コネクタ 89"/>
          <p:cNvCxnSpPr/>
          <p:nvPr/>
        </p:nvCxnSpPr>
        <p:spPr>
          <a:xfrm rot="10800000">
            <a:off x="5584224" y="243156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798394" y="2208622"/>
            <a:ext cx="2340591" cy="2677656"/>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break;</a:t>
            </a:r>
            <a:endParaRPr lang="en-US" altLang="ja-JP" sz="2400" b="1" dirty="0" smtClean="0"/>
          </a:p>
          <a:p>
            <a:r>
              <a:rPr lang="en-US" altLang="ja-JP" sz="2400" dirty="0" smtClean="0"/>
              <a:t>        y := y + 1;</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4" name="直線矢印コネクタ 93"/>
          <p:cNvCxnSpPr/>
          <p:nvPr/>
        </p:nvCxnSpPr>
        <p:spPr>
          <a:xfrm rot="16200000" flipH="1">
            <a:off x="4133007" y="5920863"/>
            <a:ext cx="520907" cy="22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5" name="直線コネクタ 94"/>
          <p:cNvCxnSpPr/>
          <p:nvPr/>
        </p:nvCxnSpPr>
        <p:spPr>
          <a:xfrm rot="10800000">
            <a:off x="3784994" y="618697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1569499" y="3957863"/>
            <a:ext cx="4435505" cy="1364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794074" y="174691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0" name="テキスト ボックス 69"/>
          <p:cNvSpPr txBox="1"/>
          <p:nvPr/>
        </p:nvSpPr>
        <p:spPr>
          <a:xfrm>
            <a:off x="6935844" y="3892360"/>
            <a:ext cx="1431802" cy="523220"/>
          </a:xfrm>
          <a:prstGeom prst="rect">
            <a:avLst/>
          </a:prstGeom>
          <a:noFill/>
        </p:spPr>
        <p:txBody>
          <a:bodyPr wrap="none" rtlCol="0">
            <a:spAutoFit/>
          </a:bodyPr>
          <a:lstStyle/>
          <a:p>
            <a:r>
              <a:rPr lang="en-US" altLang="ja-JP" sz="2800" dirty="0" smtClean="0"/>
              <a:t>  z := z+1</a:t>
            </a:r>
          </a:p>
        </p:txBody>
      </p: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154984"/>
          </a:xfrm>
          <a:prstGeom prst="rect">
            <a:avLst/>
          </a:prstGeom>
        </p:spPr>
        <p:txBody>
          <a:bodyPr wrap="square">
            <a:spAutoFit/>
          </a:bodyPr>
          <a:lstStyle/>
          <a:p>
            <a:r>
              <a:rPr lang="en-US" altLang="ja-JP" sz="2400" b="1" dirty="0" smtClean="0"/>
              <a:t>while</a:t>
            </a:r>
            <a:r>
              <a:rPr lang="en-US" altLang="ja-JP" sz="2400" dirty="0" smtClean="0"/>
              <a:t> x&gt;0 </a:t>
            </a:r>
            <a:r>
              <a:rPr lang="en-US" altLang="ja-JP" sz="2400" b="1" dirty="0" smtClean="0"/>
              <a:t>do</a:t>
            </a:r>
          </a:p>
          <a:p>
            <a:r>
              <a:rPr lang="en-US" altLang="ja-JP" sz="2400" b="1" dirty="0" smtClean="0"/>
              <a:t>    begin</a:t>
            </a:r>
          </a:p>
          <a:p>
            <a:r>
              <a:rPr lang="en-US" altLang="ja-JP" sz="2400" b="1" dirty="0" smtClean="0"/>
              <a:t>        while </a:t>
            </a:r>
            <a:r>
              <a:rPr lang="en-US" altLang="ja-JP" sz="2400" dirty="0" smtClean="0"/>
              <a:t>y&gt;0</a:t>
            </a:r>
            <a:r>
              <a:rPr lang="en-US" altLang="ja-JP" sz="2400" b="1" dirty="0" smtClean="0"/>
              <a:t> do</a:t>
            </a:r>
          </a:p>
          <a:p>
            <a:r>
              <a:rPr lang="en-US" altLang="ja-JP" sz="2400" dirty="0" smtClean="0"/>
              <a:t>            </a:t>
            </a:r>
            <a:r>
              <a:rPr lang="en-US" altLang="ja-JP" sz="2400" b="1" dirty="0" smtClean="0"/>
              <a:t>begin</a:t>
            </a:r>
          </a:p>
          <a:p>
            <a:r>
              <a:rPr lang="en-US" altLang="ja-JP" sz="2400" dirty="0" smtClean="0"/>
              <a:t>                </a:t>
            </a:r>
            <a:r>
              <a:rPr lang="en-US" altLang="ja-JP" sz="2400" b="1" dirty="0" smtClean="0"/>
              <a:t>if</a:t>
            </a:r>
            <a:r>
              <a:rPr lang="en-US" altLang="ja-JP" sz="2400" dirty="0" smtClean="0"/>
              <a:t> x=3 </a:t>
            </a:r>
            <a:r>
              <a:rPr lang="en-US" altLang="ja-JP" sz="2400" b="1" dirty="0" smtClean="0"/>
              <a:t>then</a:t>
            </a:r>
          </a:p>
          <a:p>
            <a:r>
              <a:rPr lang="en-US" altLang="ja-JP" sz="2400" dirty="0" smtClean="0"/>
              <a:t>                    </a:t>
            </a:r>
            <a:r>
              <a:rPr lang="en-US" altLang="ja-JP" sz="2400" b="1" dirty="0" smtClean="0"/>
              <a:t>break</a:t>
            </a:r>
            <a:r>
              <a:rPr lang="en-US" altLang="ja-JP" sz="2400" dirty="0" smtClean="0"/>
              <a:t>;</a:t>
            </a:r>
          </a:p>
          <a:p>
            <a:r>
              <a:rPr lang="en-US" altLang="ja-JP" sz="2400" b="1" dirty="0" smtClean="0"/>
              <a:t>                </a:t>
            </a:r>
            <a:r>
              <a:rPr lang="en-US" altLang="ja-JP" sz="2400" dirty="0" smtClean="0"/>
              <a:t>z := z + 1;</a:t>
            </a:r>
          </a:p>
          <a:p>
            <a:r>
              <a:rPr lang="en-US" altLang="ja-JP" sz="2400" dirty="0" smtClean="0"/>
              <a:t>                y := y - 1</a:t>
            </a:r>
          </a:p>
          <a:p>
            <a:r>
              <a:rPr lang="en-US" altLang="ja-JP" sz="2400" dirty="0" smtClean="0"/>
              <a:t>            </a:t>
            </a:r>
            <a:r>
              <a:rPr lang="en-US" altLang="ja-JP" sz="2400" b="1" dirty="0" smtClean="0"/>
              <a:t>end</a:t>
            </a:r>
            <a:r>
              <a:rPr lang="en-US" altLang="ja-JP" sz="2400" dirty="0" smtClean="0"/>
              <a:t>;</a:t>
            </a:r>
          </a:p>
          <a:p>
            <a:r>
              <a:rPr lang="en-US" altLang="ja-JP" sz="2400" dirty="0" smtClean="0"/>
              <a:t>        x := x – 1</a:t>
            </a:r>
          </a:p>
          <a:p>
            <a:r>
              <a:rPr lang="en-US" altLang="ja-JP" sz="2400" dirty="0" smtClean="0"/>
              <a:t>   </a:t>
            </a:r>
            <a:r>
              <a:rPr lang="en-US" altLang="ja-JP" sz="2400" b="1" dirty="0" smtClean="0"/>
              <a:t> end</a:t>
            </a:r>
            <a:endParaRPr lang="ja-JP" altLang="en-US" sz="2400" b="1" dirty="0"/>
          </a:p>
        </p:txBody>
      </p:sp>
      <p:cxnSp>
        <p:nvCxnSpPr>
          <p:cNvPr id="95" name="直線コネクタ 94"/>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線矢印コネクタ 95"/>
          <p:cNvCxnSpPr/>
          <p:nvPr/>
        </p:nvCxnSpPr>
        <p:spPr>
          <a:xfrm rot="5400000">
            <a:off x="627789" y="3207231"/>
            <a:ext cx="5254393" cy="1363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32" name="テキスト ボックス 31"/>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6992710" y="4754440"/>
            <a:ext cx="1404552" cy="523220"/>
          </a:xfrm>
          <a:prstGeom prst="rect">
            <a:avLst/>
          </a:prstGeom>
          <a:noFill/>
        </p:spPr>
        <p:txBody>
          <a:bodyPr wrap="none" rtlCol="0">
            <a:spAutoFit/>
          </a:bodyPr>
          <a:lstStyle/>
          <a:p>
            <a:r>
              <a:rPr lang="en-US" altLang="ja-JP" sz="2800" dirty="0" smtClean="0"/>
              <a:t>  y := y-1</a:t>
            </a:r>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616053"/>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09" name="直線矢印コネクタ 108"/>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0" name="直線コネクタ 109"/>
          <p:cNvCxnSpPr/>
          <p:nvPr/>
        </p:nvCxnSpPr>
        <p:spPr>
          <a:xfrm rot="10800000">
            <a:off x="3248167" y="5841243"/>
            <a:ext cx="1749192" cy="22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ひし形 6"/>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9" name="直線矢印コネクタ 8"/>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2" name="テキスト ボックス 11"/>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3" name="テキスト ボックス 12"/>
          <p:cNvSpPr txBox="1"/>
          <p:nvPr/>
        </p:nvSpPr>
        <p:spPr>
          <a:xfrm>
            <a:off x="3169939" y="5324843"/>
            <a:ext cx="1391728" cy="523220"/>
          </a:xfrm>
          <a:prstGeom prst="rect">
            <a:avLst/>
          </a:prstGeom>
          <a:noFill/>
        </p:spPr>
        <p:txBody>
          <a:bodyPr wrap="none" rtlCol="0">
            <a:spAutoFit/>
          </a:bodyPr>
          <a:lstStyle/>
          <a:p>
            <a:r>
              <a:rPr lang="en-US" altLang="ja-JP" sz="2800" dirty="0" smtClean="0"/>
              <a:t>  x := x-1</a:t>
            </a:r>
          </a:p>
        </p:txBody>
      </p:sp>
      <p:cxnSp>
        <p:nvCxnSpPr>
          <p:cNvPr id="17" name="直線コネクタ 16"/>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28" name="ひし形 27"/>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30" name="テキスト ボックス 29"/>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41" name="テキスト ボックス 40"/>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5" name="直線矢印コネクタ 64"/>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直線コネクタ 89"/>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正方形/長方形 92"/>
          <p:cNvSpPr/>
          <p:nvPr/>
        </p:nvSpPr>
        <p:spPr>
          <a:xfrm>
            <a:off x="416258" y="1608120"/>
            <a:ext cx="2668137" cy="4401205"/>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a:t>
            </a:r>
            <a:r>
              <a:rPr lang="en-US" altLang="ja-JP" sz="2000" dirty="0" smtClean="0">
                <a:sym typeface="Symbol"/>
              </a:rPr>
              <a:t></a:t>
            </a:r>
            <a:r>
              <a:rPr lang="en-US" altLang="ja-JP" sz="2000" dirty="0" smtClean="0"/>
              <a:t>3 </a:t>
            </a:r>
            <a:r>
              <a:rPr lang="en-US" altLang="ja-JP" sz="2000" b="1" dirty="0" smtClean="0"/>
              <a:t>then</a:t>
            </a:r>
          </a:p>
          <a:p>
            <a:r>
              <a:rPr lang="en-US" altLang="ja-JP" sz="2000" b="1" dirty="0" smtClean="0"/>
              <a:t>                    begin</a:t>
            </a:r>
          </a:p>
          <a:p>
            <a:r>
              <a:rPr lang="en-US" altLang="ja-JP" sz="2000" b="1" dirty="0" smtClean="0"/>
              <a:t>                        </a:t>
            </a:r>
            <a:r>
              <a:rPr lang="en-US" altLang="ja-JP" sz="2000" dirty="0" smtClean="0"/>
              <a:t>y := y – 1;</a:t>
            </a:r>
          </a:p>
          <a:p>
            <a:r>
              <a:rPr lang="en-US" altLang="ja-JP" sz="2000" dirty="0" smtClean="0"/>
              <a:t>                        </a:t>
            </a:r>
            <a:r>
              <a:rPr lang="en-US" altLang="ja-JP" sz="2000" b="1" dirty="0" smtClean="0"/>
              <a:t>continue</a:t>
            </a:r>
          </a:p>
          <a:p>
            <a:r>
              <a:rPr lang="en-US" altLang="ja-JP" sz="2000" b="1" dirty="0" smtClean="0"/>
              <a:t>                    end</a:t>
            </a:r>
            <a:endParaRPr lang="en-US" altLang="ja-JP" sz="2000" dirty="0" smtClean="0"/>
          </a:p>
          <a:p>
            <a:r>
              <a:rPr lang="en-US" altLang="ja-JP" sz="2000" b="1" dirty="0" smtClean="0"/>
              <a:t>                </a:t>
            </a:r>
            <a:r>
              <a:rPr lang="en-US" altLang="ja-JP" sz="2000" dirty="0" smtClean="0"/>
              <a:t>z := z + 1;  </a:t>
            </a:r>
          </a:p>
          <a:p>
            <a:r>
              <a:rPr lang="en-US" altLang="ja-JP" sz="2000" dirty="0" smtClean="0"/>
              <a:t>                y :=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 end</a:t>
            </a:r>
            <a:endParaRPr lang="ja-JP" altLang="en-US" sz="2000" b="1" dirty="0"/>
          </a:p>
        </p:txBody>
      </p:sp>
      <p:cxnSp>
        <p:nvCxnSpPr>
          <p:cNvPr id="96" name="直線矢印コネクタ 95"/>
          <p:cNvCxnSpPr/>
          <p:nvPr/>
        </p:nvCxnSpPr>
        <p:spPr>
          <a:xfrm rot="5400000">
            <a:off x="232009" y="3411947"/>
            <a:ext cx="5691127" cy="1364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V="1">
            <a:off x="3084394" y="573185"/>
            <a:ext cx="3289101" cy="21"/>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矢印コネクタ 28"/>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ひし形 30"/>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r>
              <a:rPr kumimoji="1" lang="en-US" altLang="ja-JP" sz="2800" dirty="0" smtClean="0">
                <a:solidFill>
                  <a:schemeClr val="tx1"/>
                </a:solidFill>
                <a:sym typeface="Symbol"/>
              </a:rPr>
              <a:t></a:t>
            </a:r>
            <a:r>
              <a:rPr kumimoji="1" lang="en-US" altLang="ja-JP" sz="2800" dirty="0" smtClean="0">
                <a:solidFill>
                  <a:schemeClr val="tx1"/>
                </a:solidFill>
              </a:rPr>
              <a:t>3</a:t>
            </a:r>
            <a:endParaRPr kumimoji="1" lang="ja-JP" altLang="en-US" sz="2800" dirty="0">
              <a:solidFill>
                <a:schemeClr val="tx1"/>
              </a:solidFill>
            </a:endParaRPr>
          </a:p>
        </p:txBody>
      </p:sp>
      <p:sp>
        <p:nvSpPr>
          <p:cNvPr id="32" name="テキスト ボックス 31"/>
          <p:cNvSpPr txBox="1"/>
          <p:nvPr/>
        </p:nvSpPr>
        <p:spPr>
          <a:xfrm>
            <a:off x="5243105" y="27847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6978282" y="2812045"/>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36" name="直線コネクタ 35"/>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9" name="テキスト ボックス 38"/>
          <p:cNvSpPr txBox="1"/>
          <p:nvPr/>
        </p:nvSpPr>
        <p:spPr>
          <a:xfrm>
            <a:off x="7006358" y="3908279"/>
            <a:ext cx="1404552" cy="523220"/>
          </a:xfrm>
          <a:prstGeom prst="rect">
            <a:avLst/>
          </a:prstGeom>
          <a:noFill/>
        </p:spPr>
        <p:txBody>
          <a:bodyPr wrap="none" rtlCol="0">
            <a:spAutoFit/>
          </a:bodyPr>
          <a:lstStyle/>
          <a:p>
            <a:r>
              <a:rPr lang="en-US" altLang="ja-JP" sz="2800" dirty="0" smtClean="0"/>
              <a:t>  y := y-1</a:t>
            </a:r>
          </a:p>
        </p:txBody>
      </p:sp>
      <p:cxnSp>
        <p:nvCxnSpPr>
          <p:cNvPr id="40" name="直線矢印コネクタ 39"/>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7210563" y="4919986"/>
            <a:ext cx="957655" cy="1139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4783529" y="516567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直線矢印コネクタ 65"/>
          <p:cNvCxnSpPr/>
          <p:nvPr/>
        </p:nvCxnSpPr>
        <p:spPr>
          <a:xfrm rot="5400000">
            <a:off x="2113114" y="3848646"/>
            <a:ext cx="3154945" cy="113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rot="10800000">
            <a:off x="5018050" y="5385656"/>
            <a:ext cx="3457211"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直線矢印コネクタ 76"/>
          <p:cNvCxnSpPr/>
          <p:nvPr/>
        </p:nvCxnSpPr>
        <p:spPr>
          <a:xfrm rot="16200000" flipH="1">
            <a:off x="6642783" y="3558388"/>
            <a:ext cx="3659703" cy="5252"/>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0800000">
            <a:off x="5045128" y="3284532"/>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矢印コネクタ 44"/>
          <p:cNvCxnSpPr/>
          <p:nvPr/>
        </p:nvCxnSpPr>
        <p:spPr>
          <a:xfrm rot="16200000" flipH="1">
            <a:off x="4829021" y="3518846"/>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テキスト ボックス 46"/>
          <p:cNvSpPr txBox="1"/>
          <p:nvPr/>
        </p:nvSpPr>
        <p:spPr>
          <a:xfrm>
            <a:off x="4359570" y="3689385"/>
            <a:ext cx="1431802" cy="523220"/>
          </a:xfrm>
          <a:prstGeom prst="rect">
            <a:avLst/>
          </a:prstGeom>
          <a:noFill/>
        </p:spPr>
        <p:txBody>
          <a:bodyPr wrap="none" rtlCol="0">
            <a:spAutoFit/>
          </a:bodyPr>
          <a:lstStyle/>
          <a:p>
            <a:r>
              <a:rPr lang="en-US" altLang="ja-JP" sz="2800" dirty="0" smtClean="0"/>
              <a:t>  z := z+1</a:t>
            </a:r>
          </a:p>
        </p:txBody>
      </p:sp>
      <p:cxnSp>
        <p:nvCxnSpPr>
          <p:cNvPr id="48" name="直線矢印コネクタ 47"/>
          <p:cNvCxnSpPr/>
          <p:nvPr/>
        </p:nvCxnSpPr>
        <p:spPr>
          <a:xfrm rot="16200000" flipH="1">
            <a:off x="4790352" y="4312691"/>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9" name="テキスト ボックス 48"/>
          <p:cNvSpPr txBox="1"/>
          <p:nvPr/>
        </p:nvSpPr>
        <p:spPr>
          <a:xfrm>
            <a:off x="4333671" y="4429167"/>
            <a:ext cx="1404552" cy="523220"/>
          </a:xfrm>
          <a:prstGeom prst="rect">
            <a:avLst/>
          </a:prstGeom>
          <a:noFill/>
        </p:spPr>
        <p:txBody>
          <a:bodyPr wrap="none" rtlCol="0">
            <a:spAutoFit/>
          </a:bodyPr>
          <a:lstStyle/>
          <a:p>
            <a:r>
              <a:rPr lang="en-US" altLang="ja-JP" sz="2800" dirty="0" smtClean="0"/>
              <a:t>  y := y-1</a:t>
            </a:r>
          </a:p>
        </p:txBody>
      </p:sp>
      <p:cxnSp>
        <p:nvCxnSpPr>
          <p:cNvPr id="57" name="直線矢印コネクタ 56"/>
          <p:cNvCxnSpPr/>
          <p:nvPr/>
        </p:nvCxnSpPr>
        <p:spPr>
          <a:xfrm rot="16200000" flipH="1">
            <a:off x="3459696" y="6052782"/>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直線コネクタ 57"/>
          <p:cNvCxnSpPr/>
          <p:nvPr/>
        </p:nvCxnSpPr>
        <p:spPr>
          <a:xfrm rot="10800000">
            <a:off x="3075311" y="628250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dirty="0" smtClean="0"/>
              <a:t> 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2490717" cy="2308324"/>
          </a:xfrm>
          <a:prstGeom prst="rect">
            <a:avLst/>
          </a:prstGeom>
        </p:spPr>
        <p:txBody>
          <a:bodyPr wrap="square">
            <a:spAutoFit/>
          </a:bodyPr>
          <a:lstStyle/>
          <a:p>
            <a:r>
              <a:rPr lang="en-US" altLang="ja-JP" sz="2400" dirty="0" smtClean="0"/>
              <a:t>x := 10;</a:t>
            </a:r>
          </a:p>
          <a:p>
            <a:r>
              <a:rPr lang="en-US" altLang="ja-JP" sz="2400" dirty="0" smtClean="0"/>
              <a:t>sum := 0;</a:t>
            </a:r>
          </a:p>
          <a:p>
            <a:r>
              <a:rPr lang="en-US" altLang="ja-JP" sz="2400" dirty="0" smtClean="0"/>
              <a:t>L:  sum := sum + x;</a:t>
            </a:r>
          </a:p>
          <a:p>
            <a:r>
              <a:rPr lang="en-US" altLang="ja-JP" sz="2400" dirty="0" smtClean="0"/>
              <a:t>x := x – 1;</a:t>
            </a:r>
          </a:p>
          <a:p>
            <a:r>
              <a:rPr lang="en-US" altLang="ja-JP" sz="2400" dirty="0" smtClean="0"/>
              <a:t>if x &gt; 0 then</a:t>
            </a:r>
          </a:p>
          <a:p>
            <a:r>
              <a:rPr lang="en-US" altLang="ja-JP" sz="2400" dirty="0" smtClean="0"/>
              <a:t>    </a:t>
            </a:r>
            <a:r>
              <a:rPr lang="en-US" altLang="ja-JP" sz="2400" dirty="0" err="1" smtClean="0"/>
              <a:t>goto</a:t>
            </a:r>
            <a:r>
              <a:rPr lang="en-US" altLang="ja-JP" sz="2400" dirty="0" smtClean="0"/>
              <a:t> L</a:t>
            </a:r>
          </a:p>
        </p:txBody>
      </p:sp>
      <p:sp>
        <p:nvSpPr>
          <p:cNvPr id="5" name="テキスト ボックス 4"/>
          <p:cNvSpPr txBox="1"/>
          <p:nvPr/>
        </p:nvSpPr>
        <p:spPr>
          <a:xfrm>
            <a:off x="4503761" y="1883391"/>
            <a:ext cx="1226618" cy="523220"/>
          </a:xfrm>
          <a:prstGeom prst="rect">
            <a:avLst/>
          </a:prstGeom>
          <a:noFill/>
        </p:spPr>
        <p:txBody>
          <a:bodyPr wrap="none" rtlCol="0">
            <a:spAutoFit/>
          </a:bodyPr>
          <a:lstStyle/>
          <a:p>
            <a:r>
              <a:rPr kumimoji="1" lang="en-US" altLang="ja-JP" sz="2800" dirty="0" smtClean="0"/>
              <a:t> x := 10</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4326337" y="2702254"/>
            <a:ext cx="1505540" cy="523220"/>
          </a:xfrm>
          <a:prstGeom prst="rect">
            <a:avLst/>
          </a:prstGeom>
          <a:noFill/>
        </p:spPr>
        <p:txBody>
          <a:bodyPr wrap="none" rtlCol="0">
            <a:spAutoFit/>
          </a:bodyPr>
          <a:lstStyle/>
          <a:p>
            <a:r>
              <a:rPr lang="en-US" altLang="ja-JP" sz="2800" dirty="0" smtClean="0"/>
              <a:t> sum := 0</a:t>
            </a:r>
            <a:endParaRPr kumimoji="1" lang="ja-JP" altLang="en-US" sz="2800" dirty="0"/>
          </a:p>
        </p:txBody>
      </p:sp>
      <p:cxnSp>
        <p:nvCxnSpPr>
          <p:cNvPr id="8" name="直線矢印コネクタ 7"/>
          <p:cNvCxnSpPr/>
          <p:nvPr/>
        </p:nvCxnSpPr>
        <p:spPr>
          <a:xfrm rot="16200000" flipH="1">
            <a:off x="4833571" y="341418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3958974" y="3571879"/>
            <a:ext cx="2356735" cy="523220"/>
          </a:xfrm>
          <a:prstGeom prst="rect">
            <a:avLst/>
          </a:prstGeom>
        </p:spPr>
        <p:txBody>
          <a:bodyPr wrap="none">
            <a:spAutoFit/>
          </a:bodyPr>
          <a:lstStyle/>
          <a:p>
            <a:r>
              <a:rPr lang="en-US" altLang="ja-JP" sz="2800" dirty="0" smtClean="0"/>
              <a:t>sum := sum + x</a:t>
            </a:r>
            <a:endParaRPr lang="ja-JP" altLang="en-US" sz="2800" dirty="0"/>
          </a:p>
        </p:txBody>
      </p:sp>
      <p:sp>
        <p:nvSpPr>
          <p:cNvPr id="10" name="正方形/長方形 9"/>
          <p:cNvSpPr/>
          <p:nvPr/>
        </p:nvSpPr>
        <p:spPr>
          <a:xfrm>
            <a:off x="4355897" y="4418043"/>
            <a:ext cx="1460656" cy="523220"/>
          </a:xfrm>
          <a:prstGeom prst="rect">
            <a:avLst/>
          </a:prstGeom>
        </p:spPr>
        <p:txBody>
          <a:bodyPr wrap="none">
            <a:spAutoFit/>
          </a:bodyPr>
          <a:lstStyle/>
          <a:p>
            <a:r>
              <a:rPr lang="en-US" altLang="ja-JP" sz="2800" dirty="0" smtClean="0"/>
              <a:t>x := x – 1</a:t>
            </a:r>
            <a:endParaRPr lang="ja-JP" altLang="en-US" sz="2800" dirty="0"/>
          </a:p>
        </p:txBody>
      </p:sp>
      <p:cxnSp>
        <p:nvCxnSpPr>
          <p:cNvPr id="11" name="直線矢印コネクタ 10"/>
          <p:cNvCxnSpPr/>
          <p:nvPr/>
        </p:nvCxnSpPr>
        <p:spPr>
          <a:xfrm rot="16200000" flipH="1">
            <a:off x="4835843" y="4262633"/>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4838115" y="515202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4362424" y="539147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x&gt;0</a:t>
            </a:r>
            <a:endParaRPr kumimoji="1" lang="ja-JP" altLang="en-US" sz="2800" dirty="0">
              <a:solidFill>
                <a:schemeClr val="tx1"/>
              </a:solidFill>
            </a:endParaRPr>
          </a:p>
        </p:txBody>
      </p:sp>
      <p:cxnSp>
        <p:nvCxnSpPr>
          <p:cNvPr id="16" name="直線コネクタ 15"/>
          <p:cNvCxnSpPr/>
          <p:nvPr/>
        </p:nvCxnSpPr>
        <p:spPr>
          <a:xfrm rot="10800000">
            <a:off x="3734943" y="5741128"/>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3325494" y="6150580"/>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0800000" flipV="1">
            <a:off x="5775273" y="5745706"/>
            <a:ext cx="1021313" cy="2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p:nvPr/>
        </p:nvCxnSpPr>
        <p:spPr>
          <a:xfrm rot="5400000">
            <a:off x="5629698" y="4592472"/>
            <a:ext cx="2333768" cy="6"/>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077597" y="3409421"/>
            <a:ext cx="1718988" cy="2519"/>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解答例</a:t>
            </a:r>
            <a:endParaRPr kumimoji="1" lang="ja-JP" altLang="en-US" dirty="0"/>
          </a:p>
        </p:txBody>
      </p:sp>
      <p:sp>
        <p:nvSpPr>
          <p:cNvPr id="4" name="正方形/長方形 3"/>
          <p:cNvSpPr/>
          <p:nvPr/>
        </p:nvSpPr>
        <p:spPr>
          <a:xfrm>
            <a:off x="484494" y="1896745"/>
            <a:ext cx="3009333" cy="3416320"/>
          </a:xfrm>
          <a:prstGeom prst="rect">
            <a:avLst/>
          </a:prstGeom>
        </p:spPr>
        <p:txBody>
          <a:bodyPr wrap="square">
            <a:spAutoFit/>
          </a:bodyPr>
          <a:lstStyle/>
          <a:p>
            <a:r>
              <a:rPr lang="en-US" altLang="ja-JP" sz="2400" dirty="0" smtClean="0"/>
              <a:t>y := 3;</a:t>
            </a:r>
          </a:p>
          <a:p>
            <a:r>
              <a:rPr lang="en-US" altLang="ja-JP" sz="2400" b="1" dirty="0" smtClean="0"/>
              <a:t>case</a:t>
            </a:r>
            <a:r>
              <a:rPr lang="en-US" altLang="ja-JP" sz="2400" dirty="0" smtClean="0"/>
              <a:t> x </a:t>
            </a:r>
            <a:r>
              <a:rPr lang="en-US" altLang="ja-JP" sz="2400" b="1" dirty="0" smtClean="0"/>
              <a:t>of</a:t>
            </a:r>
          </a:p>
          <a:p>
            <a:r>
              <a:rPr lang="en-US" altLang="ja-JP" sz="2400" dirty="0" smtClean="0"/>
              <a:t>    1 : y := 1;</a:t>
            </a:r>
          </a:p>
          <a:p>
            <a:r>
              <a:rPr lang="en-US" altLang="ja-JP" sz="2400" dirty="0" smtClean="0"/>
              <a:t>    2 : y := x * 2;</a:t>
            </a:r>
          </a:p>
          <a:p>
            <a:r>
              <a:rPr lang="en-US" altLang="ja-JP" sz="2400" dirty="0" smtClean="0"/>
              <a:t>    3 : </a:t>
            </a:r>
            <a:r>
              <a:rPr lang="en-US" altLang="ja-JP" sz="2400" b="1" dirty="0" smtClean="0"/>
              <a:t>if</a:t>
            </a:r>
            <a:r>
              <a:rPr lang="en-US" altLang="ja-JP" sz="2400" dirty="0" smtClean="0"/>
              <a:t> z = 0 </a:t>
            </a:r>
            <a:r>
              <a:rPr lang="en-US" altLang="ja-JP" sz="2400" b="1" dirty="0" smtClean="0"/>
              <a:t>then</a:t>
            </a:r>
          </a:p>
          <a:p>
            <a:r>
              <a:rPr lang="en-US" altLang="ja-JP" sz="2400" dirty="0" smtClean="0"/>
              <a:t>              y := y * y</a:t>
            </a:r>
          </a:p>
          <a:p>
            <a:r>
              <a:rPr lang="en-US" altLang="ja-JP" sz="2400" dirty="0" smtClean="0"/>
              <a:t>         </a:t>
            </a:r>
            <a:r>
              <a:rPr lang="en-US" altLang="ja-JP" sz="2400" b="1" dirty="0" smtClean="0"/>
              <a:t>else</a:t>
            </a:r>
            <a:r>
              <a:rPr lang="en-US" altLang="ja-JP" sz="2400" dirty="0" smtClean="0"/>
              <a:t> </a:t>
            </a:r>
          </a:p>
          <a:p>
            <a:r>
              <a:rPr lang="en-US" altLang="ja-JP" sz="2400" dirty="0" smtClean="0"/>
              <a:t>              y := y * y * y</a:t>
            </a:r>
          </a:p>
          <a:p>
            <a:r>
              <a:rPr lang="en-US" altLang="ja-JP" sz="2400" b="1" dirty="0" smtClean="0"/>
              <a:t>end</a:t>
            </a:r>
          </a:p>
        </p:txBody>
      </p:sp>
      <p:sp>
        <p:nvSpPr>
          <p:cNvPr id="5" name="テキスト ボックス 4"/>
          <p:cNvSpPr txBox="1"/>
          <p:nvPr/>
        </p:nvSpPr>
        <p:spPr>
          <a:xfrm>
            <a:off x="4503761" y="1883391"/>
            <a:ext cx="1050288" cy="523220"/>
          </a:xfrm>
          <a:prstGeom prst="rect">
            <a:avLst/>
          </a:prstGeom>
          <a:noFill/>
        </p:spPr>
        <p:txBody>
          <a:bodyPr wrap="none" rtlCol="0">
            <a:spAutoFit/>
          </a:bodyPr>
          <a:lstStyle/>
          <a:p>
            <a:r>
              <a:rPr kumimoji="1" lang="en-US" altLang="ja-JP" sz="2800" dirty="0" smtClean="0"/>
              <a:t> y := 3</a:t>
            </a:r>
            <a:endParaRPr kumimoji="1" lang="ja-JP" altLang="en-US" sz="2800" dirty="0"/>
          </a:p>
        </p:txBody>
      </p:sp>
      <p:cxnSp>
        <p:nvCxnSpPr>
          <p:cNvPr id="6" name="直線矢印コネクタ 5"/>
          <p:cNvCxnSpPr/>
          <p:nvPr/>
        </p:nvCxnSpPr>
        <p:spPr>
          <a:xfrm rot="16200000" flipH="1">
            <a:off x="4831296" y="2565747"/>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p:cNvCxnSpPr/>
          <p:nvPr/>
        </p:nvCxnSpPr>
        <p:spPr>
          <a:xfrm rot="16200000" flipH="1">
            <a:off x="4833568" y="1680899"/>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p:cNvCxnSpPr/>
          <p:nvPr/>
        </p:nvCxnSpPr>
        <p:spPr>
          <a:xfrm rot="16200000" flipH="1">
            <a:off x="3132162" y="5097440"/>
            <a:ext cx="159678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ひし形 13"/>
          <p:cNvSpPr/>
          <p:nvPr/>
        </p:nvSpPr>
        <p:spPr>
          <a:xfrm>
            <a:off x="6505119" y="374692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z=0</a:t>
            </a:r>
            <a:endParaRPr kumimoji="1" lang="ja-JP" altLang="en-US" sz="2800" dirty="0">
              <a:solidFill>
                <a:schemeClr val="tx1"/>
              </a:solidFill>
            </a:endParaRPr>
          </a:p>
        </p:txBody>
      </p:sp>
      <p:cxnSp>
        <p:nvCxnSpPr>
          <p:cNvPr id="16" name="直線コネクタ 15"/>
          <p:cNvCxnSpPr/>
          <p:nvPr/>
        </p:nvCxnSpPr>
        <p:spPr>
          <a:xfrm rot="10800000">
            <a:off x="5877638" y="4110221"/>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直線矢印コネクタ 16"/>
          <p:cNvCxnSpPr/>
          <p:nvPr/>
        </p:nvCxnSpPr>
        <p:spPr>
          <a:xfrm rot="16200000" flipH="1">
            <a:off x="5481837" y="4506024"/>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3503994" y="3723492"/>
            <a:ext cx="968535" cy="523220"/>
          </a:xfrm>
          <a:prstGeom prst="rect">
            <a:avLst/>
          </a:prstGeom>
          <a:noFill/>
          <a:ln>
            <a:noFill/>
          </a:ln>
        </p:spPr>
        <p:txBody>
          <a:bodyPr wrap="none" rtlCol="0">
            <a:spAutoFit/>
          </a:bodyPr>
          <a:lstStyle/>
          <a:p>
            <a:r>
              <a:rPr lang="en-US" altLang="ja-JP" sz="2800" dirty="0" smtClean="0"/>
              <a:t>y := 1</a:t>
            </a:r>
          </a:p>
        </p:txBody>
      </p:sp>
      <p:sp>
        <p:nvSpPr>
          <p:cNvPr id="20" name="テキスト ボックス 19"/>
          <p:cNvSpPr txBox="1"/>
          <p:nvPr/>
        </p:nvSpPr>
        <p:spPr>
          <a:xfrm>
            <a:off x="5448813" y="4869903"/>
            <a:ext cx="1370888" cy="523220"/>
          </a:xfrm>
          <a:prstGeom prst="rect">
            <a:avLst/>
          </a:prstGeom>
          <a:noFill/>
          <a:ln>
            <a:noFill/>
          </a:ln>
        </p:spPr>
        <p:txBody>
          <a:bodyPr wrap="none" rtlCol="0">
            <a:spAutoFit/>
          </a:bodyPr>
          <a:lstStyle/>
          <a:p>
            <a:r>
              <a:rPr lang="en-US" altLang="ja-JP" sz="2800" dirty="0" smtClean="0"/>
              <a:t> y := y*y</a:t>
            </a:r>
          </a:p>
        </p:txBody>
      </p:sp>
      <p:sp>
        <p:nvSpPr>
          <p:cNvPr id="24" name="テキスト ボックス 23"/>
          <p:cNvSpPr txBox="1"/>
          <p:nvPr/>
        </p:nvSpPr>
        <p:spPr>
          <a:xfrm>
            <a:off x="4256223" y="2750656"/>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25" name="テキスト ボックス 24"/>
          <p:cNvSpPr txBox="1"/>
          <p:nvPr/>
        </p:nvSpPr>
        <p:spPr>
          <a:xfrm>
            <a:off x="5564493" y="2737008"/>
            <a:ext cx="367408" cy="523220"/>
          </a:xfrm>
          <a:prstGeom prst="rect">
            <a:avLst/>
          </a:prstGeom>
          <a:noFill/>
        </p:spPr>
        <p:txBody>
          <a:bodyPr wrap="none" rtlCol="0">
            <a:spAutoFit/>
          </a:bodyPr>
          <a:lstStyle/>
          <a:p>
            <a:r>
              <a:rPr lang="en-US" altLang="ja-JP" sz="2800" dirty="0" smtClean="0"/>
              <a:t>3</a:t>
            </a:r>
            <a:endParaRPr kumimoji="1" lang="ja-JP" altLang="en-US" sz="2800" dirty="0"/>
          </a:p>
        </p:txBody>
      </p:sp>
      <p:sp>
        <p:nvSpPr>
          <p:cNvPr id="28" name="円/楕円 27"/>
          <p:cNvSpPr/>
          <p:nvPr/>
        </p:nvSpPr>
        <p:spPr>
          <a:xfrm>
            <a:off x="4559023" y="2811434"/>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9" name="直線矢印コネクタ 28"/>
          <p:cNvCxnSpPr>
            <a:stCxn id="28" idx="4"/>
          </p:cNvCxnSpPr>
          <p:nvPr/>
        </p:nvCxnSpPr>
        <p:spPr>
          <a:xfrm rot="16200000" flipH="1">
            <a:off x="4756917" y="3869133"/>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a:stCxn id="28" idx="2"/>
          </p:cNvCxnSpPr>
          <p:nvPr/>
        </p:nvCxnSpPr>
        <p:spPr>
          <a:xfrm rot="10800000" flipV="1">
            <a:off x="3944203" y="3186746"/>
            <a:ext cx="61482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4749814" y="3462612"/>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3" name="テキスト ボックス 32"/>
          <p:cNvSpPr txBox="1"/>
          <p:nvPr/>
        </p:nvSpPr>
        <p:spPr>
          <a:xfrm>
            <a:off x="4305627" y="4133497"/>
            <a:ext cx="1548822" cy="523220"/>
          </a:xfrm>
          <a:prstGeom prst="rect">
            <a:avLst/>
          </a:prstGeom>
          <a:noFill/>
        </p:spPr>
        <p:txBody>
          <a:bodyPr wrap="none" rtlCol="0">
            <a:spAutoFit/>
          </a:bodyPr>
          <a:lstStyle/>
          <a:p>
            <a:r>
              <a:rPr lang="en-US" altLang="ja-JP" sz="2800" dirty="0" smtClean="0"/>
              <a:t>  y := x*2 </a:t>
            </a:r>
          </a:p>
        </p:txBody>
      </p:sp>
      <p:cxnSp>
        <p:nvCxnSpPr>
          <p:cNvPr id="34" name="直線コネクタ 33"/>
          <p:cNvCxnSpPr/>
          <p:nvPr/>
        </p:nvCxnSpPr>
        <p:spPr>
          <a:xfrm rot="5400000">
            <a:off x="4435855" y="5267701"/>
            <a:ext cx="1255601" cy="666"/>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a:stCxn id="28" idx="6"/>
          </p:cNvCxnSpPr>
          <p:nvPr/>
        </p:nvCxnSpPr>
        <p:spPr>
          <a:xfrm>
            <a:off x="5568958" y="3186747"/>
            <a:ext cx="1637060" cy="68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p:nvPr/>
        </p:nvCxnSpPr>
        <p:spPr>
          <a:xfrm rot="16200000" flipH="1">
            <a:off x="6931419" y="3468839"/>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0800000">
            <a:off x="7927077" y="411249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p:nvPr/>
        </p:nvCxnSpPr>
        <p:spPr>
          <a:xfrm rot="16200000" flipH="1">
            <a:off x="8159072" y="4508299"/>
            <a:ext cx="816632" cy="1135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4" name="テキスト ボックス 43"/>
          <p:cNvSpPr txBox="1"/>
          <p:nvPr/>
        </p:nvSpPr>
        <p:spPr>
          <a:xfrm>
            <a:off x="7402715" y="4858528"/>
            <a:ext cx="1712328" cy="523220"/>
          </a:xfrm>
          <a:prstGeom prst="rect">
            <a:avLst/>
          </a:prstGeom>
          <a:noFill/>
          <a:ln>
            <a:noFill/>
          </a:ln>
        </p:spPr>
        <p:txBody>
          <a:bodyPr wrap="none" rtlCol="0">
            <a:spAutoFit/>
          </a:bodyPr>
          <a:lstStyle/>
          <a:p>
            <a:r>
              <a:rPr lang="en-US" altLang="ja-JP" sz="2800" dirty="0" smtClean="0"/>
              <a:t> y := y*y*y</a:t>
            </a:r>
          </a:p>
        </p:txBody>
      </p:sp>
      <p:cxnSp>
        <p:nvCxnSpPr>
          <p:cNvPr id="45" name="直線矢印コネクタ 44"/>
          <p:cNvCxnSpPr/>
          <p:nvPr/>
        </p:nvCxnSpPr>
        <p:spPr>
          <a:xfrm rot="5400000">
            <a:off x="5651079" y="5643629"/>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rot="5400000">
            <a:off x="8287372" y="565955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線コネクタ 46"/>
          <p:cNvCxnSpPr/>
          <p:nvPr/>
        </p:nvCxnSpPr>
        <p:spPr>
          <a:xfrm>
            <a:off x="3944203" y="5895833"/>
            <a:ext cx="4615218"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線矢印コネクタ 52"/>
          <p:cNvCxnSpPr/>
          <p:nvPr/>
        </p:nvCxnSpPr>
        <p:spPr>
          <a:xfrm rot="16200000" flipH="1">
            <a:off x="5168624" y="6205175"/>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直線矢印コネクタ 62"/>
          <p:cNvCxnSpPr/>
          <p:nvPr/>
        </p:nvCxnSpPr>
        <p:spPr>
          <a:xfrm rot="16200000" flipH="1">
            <a:off x="3640076" y="3502918"/>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059606" y="3657601"/>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65" name="テキスト ボックス 64"/>
          <p:cNvSpPr txBox="1"/>
          <p:nvPr/>
        </p:nvSpPr>
        <p:spPr>
          <a:xfrm>
            <a:off x="7795146" y="364622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タイトル 1"/>
          <p:cNvSpPr>
            <a:spLocks noGrp="1"/>
          </p:cNvSpPr>
          <p:nvPr>
            <p:ph type="title"/>
          </p:nvPr>
        </p:nvSpPr>
        <p:spPr>
          <a:xfrm>
            <a:off x="457200" y="274638"/>
            <a:ext cx="2395182" cy="1143000"/>
          </a:xfrm>
        </p:spPr>
        <p:txBody>
          <a:bodyPr>
            <a:normAutofit/>
          </a:bodyPr>
          <a:lstStyle/>
          <a:p>
            <a:r>
              <a:rPr lang="ja-JP" altLang="en-US" dirty="0" smtClean="0"/>
              <a:t>解答例</a:t>
            </a:r>
            <a:endParaRPr kumimoji="1" lang="ja-JP" altLang="en-US" dirty="0"/>
          </a:p>
        </p:txBody>
      </p:sp>
      <p:sp>
        <p:nvSpPr>
          <p:cNvPr id="93" name="正方形/長方形 92"/>
          <p:cNvSpPr/>
          <p:nvPr/>
        </p:nvSpPr>
        <p:spPr>
          <a:xfrm>
            <a:off x="416258" y="1608120"/>
            <a:ext cx="2668137" cy="3785652"/>
          </a:xfrm>
          <a:prstGeom prst="rect">
            <a:avLst/>
          </a:prstGeom>
        </p:spPr>
        <p:txBody>
          <a:bodyPr wrap="square">
            <a:spAutoFit/>
          </a:bodyPr>
          <a:lstStyle/>
          <a:p>
            <a:r>
              <a:rPr lang="en-US" altLang="ja-JP" sz="2000" b="1" dirty="0" smtClean="0"/>
              <a:t>while</a:t>
            </a:r>
            <a:r>
              <a:rPr lang="en-US" altLang="ja-JP" sz="2000" dirty="0" smtClean="0"/>
              <a:t> x&gt;0 </a:t>
            </a:r>
            <a:r>
              <a:rPr lang="en-US" altLang="ja-JP" sz="2000" b="1" dirty="0" smtClean="0"/>
              <a:t>do</a:t>
            </a:r>
          </a:p>
          <a:p>
            <a:r>
              <a:rPr lang="en-US" altLang="ja-JP" sz="2000" b="1" dirty="0" smtClean="0"/>
              <a:t>    begin</a:t>
            </a:r>
          </a:p>
          <a:p>
            <a:r>
              <a:rPr lang="en-US" altLang="ja-JP" sz="2000" b="1" dirty="0" smtClean="0"/>
              <a:t>        while </a:t>
            </a:r>
            <a:r>
              <a:rPr lang="en-US" altLang="ja-JP" sz="2000" dirty="0" smtClean="0"/>
              <a:t>y&gt;0</a:t>
            </a:r>
            <a:r>
              <a:rPr lang="en-US" altLang="ja-JP" sz="2000" b="1" dirty="0" smtClean="0"/>
              <a:t> do</a:t>
            </a:r>
          </a:p>
          <a:p>
            <a:r>
              <a:rPr lang="en-US" altLang="ja-JP" sz="2000" dirty="0" smtClean="0"/>
              <a:t>            </a:t>
            </a:r>
            <a:r>
              <a:rPr lang="en-US" altLang="ja-JP" sz="2000" b="1" dirty="0" smtClean="0"/>
              <a:t>begin</a:t>
            </a:r>
          </a:p>
          <a:p>
            <a:r>
              <a:rPr lang="en-US" altLang="ja-JP" sz="2000" dirty="0" smtClean="0"/>
              <a:t>                </a:t>
            </a:r>
            <a:r>
              <a:rPr lang="en-US" altLang="ja-JP" sz="2000" b="1" dirty="0" smtClean="0"/>
              <a:t>if</a:t>
            </a:r>
            <a:r>
              <a:rPr lang="en-US" altLang="ja-JP" sz="2000" dirty="0" smtClean="0"/>
              <a:t> x=3 </a:t>
            </a:r>
            <a:r>
              <a:rPr lang="en-US" altLang="ja-JP" sz="2000" b="1" dirty="0" smtClean="0"/>
              <a:t>then</a:t>
            </a:r>
          </a:p>
          <a:p>
            <a:r>
              <a:rPr lang="en-US" altLang="ja-JP" sz="2000" dirty="0" smtClean="0"/>
              <a:t>                    </a:t>
            </a:r>
            <a:r>
              <a:rPr lang="en-US" altLang="ja-JP" sz="2000" b="1" dirty="0" smtClean="0"/>
              <a:t>break</a:t>
            </a:r>
            <a:r>
              <a:rPr lang="en-US" altLang="ja-JP" sz="2000" dirty="0" smtClean="0"/>
              <a:t>;</a:t>
            </a:r>
          </a:p>
          <a:p>
            <a:r>
              <a:rPr lang="en-US" altLang="ja-JP" sz="2000" b="1" dirty="0" smtClean="0"/>
              <a:t>                </a:t>
            </a:r>
            <a:r>
              <a:rPr lang="en-US" altLang="ja-JP" sz="2000" dirty="0" smtClean="0"/>
              <a:t>L:</a:t>
            </a:r>
            <a:r>
              <a:rPr lang="en-US" altLang="ja-JP" sz="2000" b="1" dirty="0" smtClean="0"/>
              <a:t>  </a:t>
            </a:r>
            <a:r>
              <a:rPr lang="en-US" altLang="ja-JP" sz="2000" dirty="0" smtClean="0"/>
              <a:t>z := z + 1;</a:t>
            </a:r>
          </a:p>
          <a:p>
            <a:r>
              <a:rPr lang="en-US" altLang="ja-JP" sz="2000" dirty="0" smtClean="0"/>
              <a:t>                y := y - 1</a:t>
            </a:r>
          </a:p>
          <a:p>
            <a:r>
              <a:rPr lang="en-US" altLang="ja-JP" sz="2000" dirty="0" smtClean="0"/>
              <a:t>            </a:t>
            </a:r>
            <a:r>
              <a:rPr lang="en-US" altLang="ja-JP" sz="2000" b="1" dirty="0" smtClean="0"/>
              <a:t>end</a:t>
            </a:r>
            <a:r>
              <a:rPr lang="en-US" altLang="ja-JP" sz="2000" dirty="0" smtClean="0"/>
              <a:t>;</a:t>
            </a:r>
          </a:p>
          <a:p>
            <a:r>
              <a:rPr lang="en-US" altLang="ja-JP" sz="2000" dirty="0" smtClean="0"/>
              <a:t>        x := x – 1;</a:t>
            </a:r>
          </a:p>
          <a:p>
            <a:r>
              <a:rPr lang="en-US" altLang="ja-JP" sz="2000" dirty="0" smtClean="0"/>
              <a:t>        </a:t>
            </a:r>
            <a:r>
              <a:rPr lang="en-US" altLang="ja-JP" sz="2000" b="1" dirty="0" smtClean="0"/>
              <a:t>if</a:t>
            </a:r>
            <a:r>
              <a:rPr lang="en-US" altLang="ja-JP" sz="2000" dirty="0" smtClean="0"/>
              <a:t> x = 2 </a:t>
            </a:r>
            <a:r>
              <a:rPr lang="en-US" altLang="ja-JP" sz="2000" b="1" dirty="0" smtClean="0"/>
              <a:t>then</a:t>
            </a:r>
            <a:r>
              <a:rPr lang="en-US" altLang="ja-JP" sz="2000" dirty="0" smtClean="0"/>
              <a:t> </a:t>
            </a:r>
            <a:r>
              <a:rPr lang="en-US" altLang="ja-JP" sz="2000" dirty="0" err="1" smtClean="0"/>
              <a:t>goto</a:t>
            </a:r>
            <a:r>
              <a:rPr lang="en-US" altLang="ja-JP" sz="2000" dirty="0" smtClean="0"/>
              <a:t> L</a:t>
            </a:r>
          </a:p>
          <a:p>
            <a:r>
              <a:rPr lang="en-US" altLang="ja-JP" sz="2000" dirty="0" smtClean="0"/>
              <a:t>   </a:t>
            </a:r>
            <a:r>
              <a:rPr lang="en-US" altLang="ja-JP" sz="2000" b="1" dirty="0" smtClean="0"/>
              <a:t> end</a:t>
            </a:r>
            <a:endParaRPr lang="ja-JP" altLang="en-US" sz="2000" b="1" dirty="0"/>
          </a:p>
        </p:txBody>
      </p:sp>
      <p:sp>
        <p:nvSpPr>
          <p:cNvPr id="42" name="ひし形 41"/>
          <p:cNvSpPr/>
          <p:nvPr/>
        </p:nvSpPr>
        <p:spPr>
          <a:xfrm>
            <a:off x="5666819" y="9081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44" name="直線矢印コネクタ 43"/>
          <p:cNvCxnSpPr/>
          <p:nvPr/>
        </p:nvCxnSpPr>
        <p:spPr>
          <a:xfrm rot="5400000">
            <a:off x="6114192" y="3957820"/>
            <a:ext cx="5377255" cy="3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テキスト ボックス 49"/>
          <p:cNvSpPr txBox="1"/>
          <p:nvPr/>
        </p:nvSpPr>
        <p:spPr>
          <a:xfrm>
            <a:off x="5224531" y="82629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51" name="テキスト ボックス 50"/>
          <p:cNvSpPr txBox="1"/>
          <p:nvPr/>
        </p:nvSpPr>
        <p:spPr>
          <a:xfrm>
            <a:off x="6969550" y="82629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52" name="テキスト ボックス 51"/>
          <p:cNvSpPr txBox="1"/>
          <p:nvPr/>
        </p:nvSpPr>
        <p:spPr>
          <a:xfrm>
            <a:off x="4302704" y="4901764"/>
            <a:ext cx="1391728" cy="523220"/>
          </a:xfrm>
          <a:prstGeom prst="rect">
            <a:avLst/>
          </a:prstGeom>
          <a:noFill/>
        </p:spPr>
        <p:txBody>
          <a:bodyPr wrap="none" rtlCol="0">
            <a:spAutoFit/>
          </a:bodyPr>
          <a:lstStyle/>
          <a:p>
            <a:r>
              <a:rPr lang="en-US" altLang="ja-JP" sz="2800" dirty="0" smtClean="0"/>
              <a:t>  x := x-1</a:t>
            </a:r>
          </a:p>
        </p:txBody>
      </p:sp>
      <p:cxnSp>
        <p:nvCxnSpPr>
          <p:cNvPr id="54" name="直線コネクタ 53"/>
          <p:cNvCxnSpPr/>
          <p:nvPr/>
        </p:nvCxnSpPr>
        <p:spPr>
          <a:xfrm rot="10800000">
            <a:off x="7110490" y="1269214"/>
            <a:ext cx="1692316" cy="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p:cNvCxnSpPr>
            <a:endCxn id="42" idx="0"/>
          </p:cNvCxnSpPr>
          <p:nvPr/>
        </p:nvCxnSpPr>
        <p:spPr>
          <a:xfrm rot="16200000" flipH="1">
            <a:off x="6046074" y="573060"/>
            <a:ext cx="662547" cy="770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p:nvPr/>
        </p:nvCxnSpPr>
        <p:spPr>
          <a:xfrm rot="16200000" flipH="1">
            <a:off x="7453943" y="4560626"/>
            <a:ext cx="482257" cy="45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0" name="ひし形 59"/>
          <p:cNvSpPr/>
          <p:nvPr/>
        </p:nvSpPr>
        <p:spPr>
          <a:xfrm>
            <a:off x="4346502" y="192267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y&gt;0</a:t>
            </a:r>
            <a:endParaRPr kumimoji="1" lang="ja-JP" altLang="en-US" sz="2800" dirty="0">
              <a:solidFill>
                <a:schemeClr val="tx1"/>
              </a:solidFill>
            </a:endParaRPr>
          </a:p>
        </p:txBody>
      </p:sp>
      <p:sp>
        <p:nvSpPr>
          <p:cNvPr id="61" name="テキスト ボックス 60"/>
          <p:cNvSpPr txBox="1"/>
          <p:nvPr/>
        </p:nvSpPr>
        <p:spPr>
          <a:xfrm>
            <a:off x="3930647" y="181348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62" name="テキスト ボックス 61"/>
          <p:cNvSpPr txBox="1"/>
          <p:nvPr/>
        </p:nvSpPr>
        <p:spPr>
          <a:xfrm>
            <a:off x="5652174" y="179983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63" name="直線矢印コネクタ 62"/>
          <p:cNvCxnSpPr/>
          <p:nvPr/>
        </p:nvCxnSpPr>
        <p:spPr>
          <a:xfrm rot="5400000">
            <a:off x="4735762" y="1610400"/>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テキスト ボックス 63"/>
          <p:cNvSpPr txBox="1"/>
          <p:nvPr/>
        </p:nvSpPr>
        <p:spPr>
          <a:xfrm>
            <a:off x="6935844" y="3892360"/>
            <a:ext cx="1431802" cy="523220"/>
          </a:xfrm>
          <a:prstGeom prst="rect">
            <a:avLst/>
          </a:prstGeom>
          <a:noFill/>
        </p:spPr>
        <p:txBody>
          <a:bodyPr wrap="none" rtlCol="0">
            <a:spAutoFit/>
          </a:bodyPr>
          <a:lstStyle/>
          <a:p>
            <a:r>
              <a:rPr lang="en-US" altLang="ja-JP" sz="2800" dirty="0" smtClean="0"/>
              <a:t>  z := z+1</a:t>
            </a:r>
          </a:p>
        </p:txBody>
      </p:sp>
      <p:cxnSp>
        <p:nvCxnSpPr>
          <p:cNvPr id="68" name="直線コネクタ 67"/>
          <p:cNvCxnSpPr/>
          <p:nvPr/>
        </p:nvCxnSpPr>
        <p:spPr>
          <a:xfrm rot="10800000">
            <a:off x="5051952" y="127148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コネクタ 68"/>
          <p:cNvCxnSpPr/>
          <p:nvPr/>
        </p:nvCxnSpPr>
        <p:spPr>
          <a:xfrm rot="10800000" flipV="1">
            <a:off x="3712185" y="4435521"/>
            <a:ext cx="1282897"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矢印コネクタ 69"/>
          <p:cNvCxnSpPr/>
          <p:nvPr/>
        </p:nvCxnSpPr>
        <p:spPr>
          <a:xfrm rot="5400000">
            <a:off x="470842" y="3364178"/>
            <a:ext cx="5568288" cy="1363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p:cNvCxnSpPr/>
          <p:nvPr/>
        </p:nvCxnSpPr>
        <p:spPr>
          <a:xfrm flipV="1">
            <a:off x="3261802" y="586833"/>
            <a:ext cx="3111693" cy="18"/>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直線コネクタ 71"/>
          <p:cNvCxnSpPr/>
          <p:nvPr/>
        </p:nvCxnSpPr>
        <p:spPr>
          <a:xfrm rot="10800000">
            <a:off x="5763910" y="2283696"/>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線矢印コネクタ 72"/>
          <p:cNvCxnSpPr/>
          <p:nvPr/>
        </p:nvCxnSpPr>
        <p:spPr>
          <a:xfrm rot="5400000">
            <a:off x="6048222" y="2595314"/>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ひし形 73"/>
          <p:cNvSpPr/>
          <p:nvPr/>
        </p:nvSpPr>
        <p:spPr>
          <a:xfrm>
            <a:off x="5672609" y="2934879"/>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x=3</a:t>
            </a:r>
            <a:endParaRPr kumimoji="1" lang="ja-JP" altLang="en-US" sz="2800" dirty="0">
              <a:solidFill>
                <a:schemeClr val="tx1"/>
              </a:solidFill>
            </a:endParaRPr>
          </a:p>
        </p:txBody>
      </p:sp>
      <p:sp>
        <p:nvSpPr>
          <p:cNvPr id="76" name="テキスト ボックス 75"/>
          <p:cNvSpPr txBox="1"/>
          <p:nvPr/>
        </p:nvSpPr>
        <p:spPr>
          <a:xfrm>
            <a:off x="6976370" y="281204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78" name="テキスト ボックス 77"/>
          <p:cNvSpPr txBox="1"/>
          <p:nvPr/>
        </p:nvSpPr>
        <p:spPr>
          <a:xfrm>
            <a:off x="5231369" y="283934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80" name="直線コネクタ 79"/>
          <p:cNvCxnSpPr/>
          <p:nvPr/>
        </p:nvCxnSpPr>
        <p:spPr>
          <a:xfrm rot="10800000">
            <a:off x="7090017" y="3295905"/>
            <a:ext cx="614149"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1" name="テキスト ボックス 80"/>
          <p:cNvSpPr txBox="1"/>
          <p:nvPr/>
        </p:nvSpPr>
        <p:spPr>
          <a:xfrm>
            <a:off x="6992710" y="4754440"/>
            <a:ext cx="1404552" cy="523220"/>
          </a:xfrm>
          <a:prstGeom prst="rect">
            <a:avLst/>
          </a:prstGeom>
          <a:noFill/>
        </p:spPr>
        <p:txBody>
          <a:bodyPr wrap="none" rtlCol="0">
            <a:spAutoFit/>
          </a:bodyPr>
          <a:lstStyle/>
          <a:p>
            <a:r>
              <a:rPr lang="en-US" altLang="ja-JP" sz="2800" dirty="0" smtClean="0"/>
              <a:t>  y := y-1</a:t>
            </a:r>
          </a:p>
        </p:txBody>
      </p:sp>
      <p:cxnSp>
        <p:nvCxnSpPr>
          <p:cNvPr id="82" name="直線矢印コネクタ 81"/>
          <p:cNvCxnSpPr/>
          <p:nvPr/>
        </p:nvCxnSpPr>
        <p:spPr>
          <a:xfrm rot="5400000">
            <a:off x="7385703" y="3605248"/>
            <a:ext cx="641459" cy="2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直線コネクタ 82"/>
          <p:cNvCxnSpPr/>
          <p:nvPr/>
        </p:nvCxnSpPr>
        <p:spPr>
          <a:xfrm rot="10800000" flipV="1">
            <a:off x="3698544" y="3293634"/>
            <a:ext cx="1983507" cy="912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線矢印コネクタ 83"/>
          <p:cNvCxnSpPr/>
          <p:nvPr/>
        </p:nvCxnSpPr>
        <p:spPr>
          <a:xfrm rot="16200000" flipH="1">
            <a:off x="7469865" y="5504596"/>
            <a:ext cx="452687" cy="2239"/>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矢印コネクタ 85"/>
          <p:cNvCxnSpPr/>
          <p:nvPr/>
        </p:nvCxnSpPr>
        <p:spPr>
          <a:xfrm rot="16200000" flipH="1">
            <a:off x="2618081" y="3355059"/>
            <a:ext cx="2158657" cy="226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p:cNvCxnSpPr/>
          <p:nvPr/>
        </p:nvCxnSpPr>
        <p:spPr>
          <a:xfrm rot="10800000">
            <a:off x="3705373" y="2285971"/>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線コネクタ 87"/>
          <p:cNvCxnSpPr/>
          <p:nvPr/>
        </p:nvCxnSpPr>
        <p:spPr>
          <a:xfrm rot="10800000">
            <a:off x="7693009" y="5726850"/>
            <a:ext cx="795899" cy="521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89" name="直線矢印コネクタ 88"/>
          <p:cNvCxnSpPr/>
          <p:nvPr/>
        </p:nvCxnSpPr>
        <p:spPr>
          <a:xfrm rot="16200000" flipH="1">
            <a:off x="6479010" y="3722162"/>
            <a:ext cx="3987248" cy="5251"/>
          </a:xfrm>
          <a:prstGeom prst="straightConnector1">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1" name="直線コネクタ 90"/>
          <p:cNvCxnSpPr/>
          <p:nvPr/>
        </p:nvCxnSpPr>
        <p:spPr>
          <a:xfrm>
            <a:off x="5050302" y="1730746"/>
            <a:ext cx="3418449" cy="0"/>
          </a:xfrm>
          <a:prstGeom prst="line">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92" name="直線矢印コネクタ 91"/>
          <p:cNvCxnSpPr/>
          <p:nvPr/>
        </p:nvCxnSpPr>
        <p:spPr>
          <a:xfrm rot="16200000" flipH="1">
            <a:off x="4785803" y="4649335"/>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5" name="ひし形 94"/>
          <p:cNvSpPr/>
          <p:nvPr/>
        </p:nvSpPr>
        <p:spPr>
          <a:xfrm>
            <a:off x="4296460" y="5803182"/>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x=2</a:t>
            </a:r>
            <a:endParaRPr kumimoji="1" lang="ja-JP" altLang="en-US" sz="2800" dirty="0">
              <a:solidFill>
                <a:schemeClr val="tx1"/>
              </a:solidFill>
            </a:endParaRPr>
          </a:p>
        </p:txBody>
      </p:sp>
      <p:cxnSp>
        <p:nvCxnSpPr>
          <p:cNvPr id="98" name="直線矢印コネクタ 97"/>
          <p:cNvCxnSpPr/>
          <p:nvPr/>
        </p:nvCxnSpPr>
        <p:spPr>
          <a:xfrm rot="16200000" flipH="1">
            <a:off x="4774430" y="5566010"/>
            <a:ext cx="452687" cy="223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直線コネクタ 98"/>
          <p:cNvCxnSpPr/>
          <p:nvPr/>
        </p:nvCxnSpPr>
        <p:spPr>
          <a:xfrm rot="10800000" flipV="1">
            <a:off x="5720688" y="6155140"/>
            <a:ext cx="693760" cy="22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線コネクタ 100"/>
          <p:cNvCxnSpPr/>
          <p:nvPr/>
        </p:nvCxnSpPr>
        <p:spPr>
          <a:xfrm flipV="1">
            <a:off x="6416726" y="4189861"/>
            <a:ext cx="693760"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直線矢印コネクタ 102"/>
          <p:cNvCxnSpPr/>
          <p:nvPr/>
        </p:nvCxnSpPr>
        <p:spPr>
          <a:xfrm rot="5400000">
            <a:off x="5431795" y="5172480"/>
            <a:ext cx="1965314" cy="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6" name="直線コネクタ 105"/>
          <p:cNvCxnSpPr/>
          <p:nvPr/>
        </p:nvCxnSpPr>
        <p:spPr>
          <a:xfrm rot="10800000">
            <a:off x="3248168" y="6155141"/>
            <a:ext cx="1025857" cy="2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テキスト ボックス 108"/>
          <p:cNvSpPr txBox="1"/>
          <p:nvPr/>
        </p:nvSpPr>
        <p:spPr>
          <a:xfrm>
            <a:off x="5602132" y="569399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10" name="テキスト ボックス 109"/>
          <p:cNvSpPr txBox="1"/>
          <p:nvPr/>
        </p:nvSpPr>
        <p:spPr>
          <a:xfrm>
            <a:off x="3891979" y="5719026"/>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760</TotalTime>
  <Words>2182</Words>
  <Application>Microsoft Office PowerPoint</Application>
  <PresentationFormat>画面に合わせる (4:3)</PresentationFormat>
  <Paragraphs>423</Paragraphs>
  <Slides>31</Slides>
  <Notes>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プログラミング言語論 第３回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解答例</vt:lpstr>
      <vt:lpstr>練習問題２</vt:lpstr>
      <vt:lpstr>解答例</vt:lpstr>
      <vt:lpstr>練習問題３</vt:lpstr>
      <vt:lpstr>解答例</vt:lpstr>
      <vt:lpstr>練習問題４</vt:lpstr>
      <vt:lpstr>解答例</vt:lpstr>
      <vt:lpstr>練習問題５</vt:lpstr>
      <vt:lpstr>解答例</vt:lpstr>
      <vt:lpstr>練習問題６</vt:lpstr>
      <vt:lpstr>解答例</vt:lpstr>
      <vt:lpstr>練習問題７</vt:lpstr>
      <vt:lpstr>解答例</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658</cp:revision>
  <dcterms:created xsi:type="dcterms:W3CDTF">2009-10-16T09:27:11Z</dcterms:created>
  <dcterms:modified xsi:type="dcterms:W3CDTF">2011-10-10T04:35:16Z</dcterms:modified>
</cp:coreProperties>
</file>