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1" r:id="rId5"/>
    <p:sldId id="262" r:id="rId6"/>
    <p:sldId id="281" r:id="rId7"/>
    <p:sldId id="272" r:id="rId8"/>
    <p:sldId id="282" r:id="rId9"/>
    <p:sldId id="260" r:id="rId10"/>
    <p:sldId id="264" r:id="rId11"/>
    <p:sldId id="275" r:id="rId12"/>
    <p:sldId id="283" r:id="rId13"/>
    <p:sldId id="265" r:id="rId14"/>
    <p:sldId id="266" r:id="rId15"/>
    <p:sldId id="284" r:id="rId16"/>
    <p:sldId id="267" r:id="rId17"/>
    <p:sldId id="268" r:id="rId18"/>
    <p:sldId id="269" r:id="rId19"/>
    <p:sldId id="270" r:id="rId20"/>
    <p:sldId id="271" r:id="rId21"/>
    <p:sldId id="277" r:id="rId22"/>
    <p:sldId id="279" r:id="rId23"/>
    <p:sldId id="280" r:id="rId24"/>
    <p:sldId id="285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EF6FE92-6A11-4998-B58A-9E24FCD41B22}" type="slidenum">
              <a:rPr lang="en-US" altLang="ja-JP" sz="1200"/>
              <a:pPr algn="r"/>
              <a:t>2</a:t>
            </a:fld>
            <a:endParaRPr lang="en-US" altLang="ja-JP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327AFAB-6811-4C1E-A463-BB33D4BE0932}" type="slidenum">
              <a:rPr lang="en-US" altLang="ja-JP" sz="1200"/>
              <a:pPr algn="r"/>
              <a:t>3</a:t>
            </a:fld>
            <a:endParaRPr lang="en-US" altLang="ja-JP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972E6C-2470-413B-AAA8-FE0D3A519500}" type="slidenum">
              <a:rPr lang="en-US" altLang="ja-JP" sz="1200"/>
              <a:pPr algn="r"/>
              <a:t>4</a:t>
            </a:fld>
            <a:endParaRPr lang="en-US" altLang="ja-JP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B2D888-47C9-4383-8384-B11ECA039ECC}" type="slidenum">
              <a:rPr lang="en-US" altLang="ja-JP" sz="1200"/>
              <a:pPr algn="r"/>
              <a:t>5</a:t>
            </a:fld>
            <a:endParaRPr lang="en-US" altLang="ja-JP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AE4B59-6805-45A3-A2F2-C5EEE23C941E}" type="slidenum">
              <a:rPr lang="en-US" altLang="ja-JP" sz="1200"/>
              <a:pPr algn="r"/>
              <a:t>6</a:t>
            </a:fld>
            <a:endParaRPr lang="en-US" altLang="ja-JP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7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EE7A391-1DFF-4194-A666-A82459C959FB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2197263-B11F-44AE-B71A-1E7E5BC31C90}" type="slidenum">
              <a:rPr lang="en-US" altLang="ja-JP" sz="1200"/>
              <a:pPr algn="r"/>
              <a:t>13</a:t>
            </a:fld>
            <a:endParaRPr lang="en-US" altLang="ja-JP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14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15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6D86E9D-8226-4337-9FD9-44A2F6DCF472}" type="slidenum">
              <a:rPr lang="en-US" altLang="ja-JP" sz="1200"/>
              <a:pPr algn="r"/>
              <a:t>16</a:t>
            </a:fld>
            <a:endParaRPr lang="en-US" altLang="ja-JP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817DC13-52BF-4671-9CC2-88BD77BC42F4}" type="slidenum">
              <a:rPr lang="en-US" altLang="ja-JP" sz="1200"/>
              <a:pPr algn="r"/>
              <a:t>17</a:t>
            </a:fld>
            <a:endParaRPr lang="en-US" altLang="ja-JP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18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19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20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21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2010/12/4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643306" y="3857628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第１１回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86050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今日のトピック：ラムダ計算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642910" y="1857364"/>
            <a:ext cx="694453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/>
              <a:t>ラムダ計算とは：</a:t>
            </a:r>
          </a:p>
          <a:p>
            <a:r>
              <a:rPr lang="ja-JP" altLang="en-US" sz="2800" dirty="0" smtClean="0"/>
              <a:t>関数型言語</a:t>
            </a:r>
            <a:r>
              <a:rPr lang="ja-JP" altLang="en-US" sz="2800" dirty="0"/>
              <a:t>の核となる部分を取り出した言語</a:t>
            </a:r>
          </a:p>
          <a:p>
            <a:endParaRPr lang="ja-JP" altLang="en-US" sz="2800" dirty="0"/>
          </a:p>
          <a:p>
            <a:r>
              <a:rPr lang="ja-JP" altLang="en-US" sz="2800" dirty="0"/>
              <a:t>計算可能な関数をすべて表現可能。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b="0" dirty="0"/>
              <a:t>ラムダ式の定義</a:t>
            </a:r>
          </a:p>
          <a:p>
            <a:endParaRPr lang="ja-JP" altLang="en-US" sz="2800" b="0" dirty="0"/>
          </a:p>
          <a:p>
            <a:r>
              <a:rPr lang="en-US" altLang="ja-JP" sz="2800" b="0" dirty="0"/>
              <a:t> </a:t>
            </a:r>
            <a:r>
              <a:rPr lang="en-US" altLang="ja-JP" sz="2800" b="0" i="1" dirty="0"/>
              <a:t>&lt;</a:t>
            </a:r>
            <a:r>
              <a:rPr lang="ja-JP" altLang="en-US" sz="2800" b="0" dirty="0"/>
              <a:t>ラムダ式</a:t>
            </a:r>
            <a:r>
              <a:rPr lang="en-US" altLang="ja-JP" sz="2800" b="0" i="1" dirty="0"/>
              <a:t>&gt;</a:t>
            </a:r>
            <a:r>
              <a:rPr lang="en-US" altLang="ja-JP" sz="2800" b="0" dirty="0"/>
              <a:t> ::= 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</a:t>
            </a:r>
            <a:endParaRPr lang="ja-JP" altLang="en-US" sz="2800" b="0" dirty="0"/>
          </a:p>
          <a:p>
            <a:r>
              <a:rPr lang="en-US" altLang="ja-JP" sz="2800" b="0" dirty="0"/>
              <a:t>                       |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  </a:t>
            </a:r>
          </a:p>
          <a:p>
            <a:r>
              <a:rPr lang="en-US" altLang="ja-JP" sz="2800" b="0" dirty="0"/>
              <a:t>                       |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.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  <a:endParaRPr lang="ja-JP" altLang="en-US" sz="2800" b="0" dirty="0"/>
          </a:p>
          <a:p>
            <a:r>
              <a:rPr lang="en-US" altLang="ja-JP" sz="2800" b="0" i="1" dirty="0"/>
              <a:t>                       </a:t>
            </a:r>
            <a:r>
              <a:rPr lang="en-US" altLang="ja-JP" sz="2800" b="0" dirty="0"/>
              <a:t>|</a:t>
            </a:r>
            <a:r>
              <a:rPr lang="en-US" altLang="ja-JP" sz="2800" b="0" i="1" dirty="0"/>
              <a:t> </a:t>
            </a:r>
            <a:r>
              <a:rPr lang="en-US" altLang="ja-JP" sz="2800" b="0" dirty="0"/>
              <a:t>(&lt;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 ::= 0 | 1 | 2 | 3 | …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z | w | …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ラムダ式を表記する場合の約束事項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関数適用は左結合する。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ラムダ抽象</a:t>
            </a:r>
            <a:r>
              <a:rPr lang="ja-JP" altLang="en-US" sz="2800" b="0">
                <a:sym typeface="Symbol" pitchFamily="18" charset="2"/>
              </a:rPr>
              <a:t></a:t>
            </a:r>
            <a:r>
              <a:rPr lang="en-US" altLang="ja-JP" sz="2800" b="0" i="1"/>
              <a:t>x .M</a:t>
            </a:r>
            <a:r>
              <a:rPr lang="ja-JP" altLang="en-US" sz="2800" b="0"/>
              <a:t>における</a:t>
            </a:r>
            <a:r>
              <a:rPr lang="en-US" altLang="ja-JP" sz="2800" b="0" i="1"/>
              <a:t>M</a:t>
            </a:r>
            <a:r>
              <a:rPr lang="ja-JP" altLang="en-US" sz="2800" b="0"/>
              <a:t>はできるだけ大きくとる。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括弧を省略した場合、</a:t>
            </a:r>
            <a:r>
              <a:rPr lang="en-US" altLang="ja-JP" sz="2800" b="0"/>
              <a:t>1, 2</a:t>
            </a:r>
            <a:r>
              <a:rPr lang="ja-JP" altLang="en-US" sz="2800" b="0"/>
              <a:t>の約束に従う。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642910" y="4643446"/>
            <a:ext cx="83671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（例）  </a:t>
            </a:r>
            <a:r>
              <a:rPr lang="en-US" altLang="ja-JP" sz="2800" b="0" dirty="0" smtClean="0"/>
              <a:t>x y z </a:t>
            </a:r>
            <a:r>
              <a:rPr lang="ja-JP" altLang="en-US" sz="2800" b="0" dirty="0" smtClean="0"/>
              <a:t>は、</a:t>
            </a:r>
            <a:r>
              <a:rPr lang="en-US" altLang="ja-JP" sz="2800" b="0" dirty="0" smtClean="0"/>
              <a:t>(x y) z</a:t>
            </a:r>
            <a:r>
              <a:rPr lang="ja-JP" altLang="en-US" sz="2800" b="0" dirty="0" smtClean="0"/>
              <a:t>を表す。</a:t>
            </a:r>
          </a:p>
          <a:p>
            <a:r>
              <a:rPr lang="ja-JP" altLang="en-US" sz="2800" dirty="0" smtClean="0"/>
              <a:t>（例） 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x y z </a:t>
            </a:r>
            <a:r>
              <a:rPr lang="ja-JP" altLang="en-US" sz="2800" b="0" dirty="0"/>
              <a:t>は、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((x y) z)))</a:t>
            </a:r>
            <a:r>
              <a:rPr lang="en-US" altLang="ja-JP" sz="2800" dirty="0"/>
              <a:t> </a:t>
            </a:r>
            <a:r>
              <a:rPr lang="ja-JP" altLang="en-US" sz="2800" dirty="0"/>
              <a:t>を表す。</a:t>
            </a:r>
            <a:endParaRPr lang="en-US" altLang="ja-JP" sz="28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9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計算の本質を追究する過程で考えられた言語</a:t>
            </a:r>
          </a:p>
          <a:p>
            <a:pPr marL="457200" indent="-457200"/>
            <a:endParaRPr lang="ja-JP" altLang="en-US" sz="2800" b="0" dirty="0"/>
          </a:p>
          <a:p>
            <a:pPr marL="457200" indent="-457200"/>
            <a:r>
              <a:rPr lang="ja-JP" altLang="en-US" sz="2800" b="0" dirty="0"/>
              <a:t>ラムダ記法は直感的には関数の表記法。</a:t>
            </a:r>
          </a:p>
          <a:p>
            <a:pPr marL="457200" indent="-457200"/>
            <a:r>
              <a:rPr lang="en-US" altLang="ja-JP" sz="2800" b="0" dirty="0"/>
              <a:t> g ( x ) = x + 1</a:t>
            </a:r>
          </a:p>
          <a:p>
            <a:pPr marL="457200" indent="-457200"/>
            <a:r>
              <a:rPr lang="ja-JP" altLang="en-US" sz="2800" b="0" dirty="0"/>
              <a:t>で定義される関数</a:t>
            </a:r>
            <a:r>
              <a:rPr lang="en-US" altLang="ja-JP" sz="2800" b="0" dirty="0"/>
              <a:t>g :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b="0" dirty="0"/>
              <a:t>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を、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  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表記する。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ja-JP" altLang="en-US" sz="2800" b="0" dirty="0">
                <a:sym typeface="Symbol" pitchFamily="18" charset="2"/>
              </a:rPr>
              <a:t>が明らかな場合省略して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書く。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ラムダ計算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 smtClean="0"/>
              <a:t>ラムダ式に対し、形式的</a:t>
            </a:r>
            <a:r>
              <a:rPr lang="ja-JP" altLang="en-US" sz="2800" b="0" dirty="0"/>
              <a:t>な式変形（</a:t>
            </a:r>
            <a:r>
              <a:rPr lang="ja-JP" altLang="en-US" sz="2800" b="0" dirty="0">
                <a:sym typeface="Symbol" pitchFamily="18" charset="2"/>
              </a:rPr>
              <a:t>変換、次</a:t>
            </a:r>
            <a:r>
              <a:rPr lang="ja-JP" altLang="en-US" sz="2800" b="0" dirty="0" smtClean="0">
                <a:sym typeface="Symbol" pitchFamily="18" charset="2"/>
              </a:rPr>
              <a:t>ページ以降で</a:t>
            </a:r>
            <a:r>
              <a:rPr lang="ja-JP" altLang="en-US" sz="2800" b="0" dirty="0">
                <a:sym typeface="Symbol" pitchFamily="18" charset="2"/>
              </a:rPr>
              <a:t>説明</a:t>
            </a:r>
            <a:r>
              <a:rPr lang="ja-JP" altLang="en-US" sz="2800" b="0" dirty="0"/>
              <a:t>）を</a:t>
            </a:r>
            <a:r>
              <a:rPr lang="ja-JP" altLang="en-US" sz="2800" b="0" dirty="0" smtClean="0"/>
              <a:t>行う</a:t>
            </a:r>
            <a:r>
              <a:rPr lang="ja-JP" altLang="en-US" sz="2800" dirty="0" smtClean="0"/>
              <a:t>ことが計算であるという考えに従った計算体系がラムダ計算。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(y. y)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ja-JP" altLang="en-US" sz="2800" dirty="0" smtClean="0">
                <a:sym typeface="Symbol" pitchFamily="18" charset="2"/>
              </a:rPr>
              <a:t>直感的には、</a:t>
            </a:r>
            <a:r>
              <a:rPr lang="en-US" altLang="ja-JP" sz="2800" dirty="0" smtClean="0">
                <a:sym typeface="Symbol" pitchFamily="18" charset="2"/>
              </a:rPr>
              <a:t>x. x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を返す関数であり、この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に変えても意味は同じである。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28662" y="3929066"/>
            <a:ext cx="75632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g ( x ) = x  </a:t>
            </a:r>
            <a:r>
              <a:rPr lang="ja-JP" altLang="en-US" sz="2800" dirty="0" smtClean="0"/>
              <a:t>と </a:t>
            </a:r>
            <a:r>
              <a:rPr lang="en-US" altLang="ja-JP" sz="2800" dirty="0" smtClean="0"/>
              <a:t>g ( y ) = y</a:t>
            </a:r>
            <a:r>
              <a:rPr lang="ja-JP" altLang="en-US" sz="2800" dirty="0" smtClean="0"/>
              <a:t>は同じ意味であるのと同じ。</a:t>
            </a:r>
            <a:r>
              <a:rPr lang="en-US" altLang="ja-JP" sz="2800" dirty="0" smtClean="0"/>
              <a:t>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変換の例２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 (z. z) y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</a:t>
            </a:r>
            <a:r>
              <a:rPr lang="ja-JP" altLang="en-US" sz="2800" dirty="0" smtClean="0">
                <a:sym typeface="Symbol" pitchFamily="18" charset="2"/>
              </a:rPr>
              <a:t>は、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に適用する関数である。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を受け取った場合は、それを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に適用する関数適用式になる。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これをさらに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になる</a:t>
            </a:r>
            <a:r>
              <a:rPr lang="en-US" altLang="ja-JP" sz="2800" dirty="0" smtClean="0">
                <a:sym typeface="Symbol" pitchFamily="18" charset="2"/>
              </a:rPr>
              <a:t>)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(y. y)  (y. y) 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x)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</a:t>
            </a:r>
            <a:r>
              <a:rPr lang="en-US" altLang="ja-JP" sz="2800" dirty="0" smtClean="0">
                <a:sym typeface="Symbol" pitchFamily="18" charset="2"/>
              </a:rPr>
              <a:t> (y. y) </a:t>
            </a:r>
            <a:r>
              <a:rPr lang="ja-JP" altLang="en-US" sz="2800" dirty="0" smtClean="0">
                <a:sym typeface="Symbol" pitchFamily="18" charset="2"/>
              </a:rPr>
              <a:t>を受けとった場合、</a:t>
            </a:r>
            <a:r>
              <a:rPr lang="en-US" altLang="ja-JP" sz="2800" dirty="0" smtClean="0">
                <a:sym typeface="Symbol" pitchFamily="18" charset="2"/>
              </a:rPr>
              <a:t> (y. y)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メタ変数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dirty="0" smtClean="0"/>
              <a:t>以下でラムダ式の変換を定義する。その際に、ラムダ式、定数、変数を表すための変数（メタ変数）として以下のものを用いる。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</a:p>
          <a:p>
            <a:r>
              <a:rPr lang="en-US" altLang="ja-JP" sz="2800" i="1" dirty="0" smtClean="0"/>
              <a:t>M, N, P, M</a:t>
            </a:r>
            <a:r>
              <a:rPr lang="en-US" altLang="ja-JP" sz="2800" baseline="-25000" dirty="0" smtClean="0"/>
              <a:t>1</a:t>
            </a:r>
            <a:r>
              <a:rPr lang="en-US" altLang="ja-JP" sz="2800" i="1" dirty="0" smtClean="0"/>
              <a:t>, M</a:t>
            </a:r>
            <a:r>
              <a:rPr lang="en-US" altLang="ja-JP" sz="2800" baseline="-25000" dirty="0" smtClean="0"/>
              <a:t>2</a:t>
            </a:r>
            <a:r>
              <a:rPr lang="en-US" altLang="ja-JP" sz="2800" i="1" dirty="0" smtClean="0"/>
              <a:t> </a:t>
            </a:r>
            <a:r>
              <a:rPr lang="ja-JP" altLang="en-US" sz="2800" dirty="0" smtClean="0"/>
              <a:t>等</a:t>
            </a:r>
            <a:r>
              <a:rPr lang="en-US" altLang="ja-JP" sz="2800" dirty="0" smtClean="0"/>
              <a:t>:  </a:t>
            </a:r>
            <a:r>
              <a:rPr lang="ja-JP" altLang="en-US" sz="2800" dirty="0" smtClean="0"/>
              <a:t>ラムダ式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: </a:t>
            </a:r>
            <a:r>
              <a:rPr lang="ja-JP" altLang="en-US" sz="2800" dirty="0" smtClean="0"/>
              <a:t>定数</a:t>
            </a:r>
            <a:endParaRPr lang="ja-JP" altLang="en-US" sz="2800" b="0" dirty="0"/>
          </a:p>
          <a:p>
            <a:r>
              <a:rPr lang="en-US" altLang="ja-JP" sz="2800" b="0" dirty="0" smtClean="0"/>
              <a:t> </a:t>
            </a:r>
            <a:r>
              <a:rPr lang="en-US" altLang="ja-JP" sz="2800" b="0" i="1" dirty="0" smtClean="0"/>
              <a:t>x, y, z </a:t>
            </a:r>
            <a:r>
              <a:rPr lang="en-US" altLang="ja-JP" sz="2800" dirty="0" smtClean="0"/>
              <a:t>: </a:t>
            </a:r>
            <a:r>
              <a:rPr lang="ja-JP" altLang="en-US" sz="2800" b="0" dirty="0" smtClean="0"/>
              <a:t>変数</a:t>
            </a:r>
            <a:r>
              <a:rPr lang="ja-JP" altLang="en-US" sz="2800" b="0" dirty="0"/>
              <a:t>（</a:t>
            </a:r>
            <a:r>
              <a:rPr lang="en-US" altLang="ja-JP" sz="2800" b="0" dirty="0"/>
              <a:t>x, y, z, </a:t>
            </a:r>
            <a:r>
              <a:rPr lang="en-US" altLang="ja-JP" sz="2800" b="0" dirty="0" smtClean="0"/>
              <a:t>w</a:t>
            </a:r>
            <a:r>
              <a:rPr lang="ja-JP" altLang="en-US" sz="2800" b="0" dirty="0" smtClean="0"/>
              <a:t>等。このスライドでは、立体か</a:t>
            </a:r>
            <a:r>
              <a:rPr lang="ja-JP" altLang="en-US" sz="2800" dirty="0" smtClean="0"/>
              <a:t>斜体かで区別している。</a:t>
            </a:r>
            <a:r>
              <a:rPr lang="ja-JP" altLang="en-US" sz="2800" b="0" dirty="0" smtClean="0"/>
              <a:t>）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変換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78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i="1" dirty="0"/>
              <a:t>M, N</a:t>
            </a:r>
            <a:r>
              <a:rPr lang="en-US" altLang="ja-JP" sz="2800" b="0" dirty="0"/>
              <a:t>, </a:t>
            </a:r>
            <a:r>
              <a:rPr lang="en-US" altLang="ja-JP" sz="2800" b="0" i="1" dirty="0"/>
              <a:t>P, </a:t>
            </a:r>
            <a:r>
              <a:rPr lang="ja-JP" altLang="en-US" sz="2800" b="0" dirty="0"/>
              <a:t>変数</a:t>
            </a:r>
            <a:r>
              <a:rPr lang="en-US" altLang="ja-JP" sz="2800" b="0" i="1" dirty="0"/>
              <a:t>x</a:t>
            </a:r>
            <a:r>
              <a:rPr lang="ja-JP" altLang="en-US" sz="2800" b="0" dirty="0"/>
              <a:t>について</a:t>
            </a:r>
            <a:r>
              <a:rPr lang="ja-JP" altLang="en-US" sz="2800" b="0" i="1" dirty="0"/>
              <a:t>、 </a:t>
            </a:r>
            <a:r>
              <a:rPr lang="ja-JP" altLang="en-US" sz="2800" b="0" dirty="0">
                <a:sym typeface="Symbol" pitchFamily="18" charset="2"/>
              </a:rPr>
              <a:t>変換を以下のように再帰的に定義する。</a:t>
            </a:r>
            <a:endParaRPr lang="ja-JP" altLang="en-US" sz="2800" b="0" i="1" dirty="0"/>
          </a:p>
          <a:p>
            <a:pPr marL="457200" indent="-457200">
              <a:buFontTx/>
              <a:buChar char="•"/>
            </a:pPr>
            <a:r>
              <a:rPr lang="en-US" altLang="ja-JP" sz="2800" b="0" dirty="0"/>
              <a:t>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/>
              <a:t>) </a:t>
            </a:r>
            <a:r>
              <a:rPr lang="en-US" altLang="ja-JP" sz="2800" b="0" i="1" dirty="0"/>
              <a:t>N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 / x</a:t>
            </a:r>
            <a:r>
              <a:rPr lang="en-US" altLang="ja-JP" sz="2800" b="0" dirty="0">
                <a:sym typeface="Symbol" pitchFamily="18" charset="2"/>
              </a:rPr>
              <a:t>]</a:t>
            </a:r>
          </a:p>
          <a:p>
            <a:pPr marL="457200" indent="-457200">
              <a:buFontTx/>
              <a:buChar char="•"/>
            </a:pP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ならば、 </a:t>
            </a:r>
          </a:p>
          <a:p>
            <a:pPr marL="457200" indent="-457200"/>
            <a:r>
              <a:rPr lang="en-US" altLang="ja-JP" sz="2800" b="0" dirty="0"/>
              <a:t>         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M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N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</a:p>
          <a:p>
            <a:pPr marL="457200" indent="-457200"/>
            <a:r>
              <a:rPr lang="ja-JP" altLang="en-US" sz="2800" dirty="0"/>
              <a:t>         </a:t>
            </a:r>
            <a:r>
              <a:rPr lang="ja-JP" altLang="en-US" sz="2800" dirty="0" smtClean="0"/>
              <a:t> </a:t>
            </a:r>
            <a:r>
              <a:rPr lang="en-US" altLang="ja-JP" sz="2800" b="0" i="1" dirty="0" smtClean="0"/>
              <a:t>MP</a:t>
            </a:r>
            <a:r>
              <a:rPr lang="en-US" altLang="ja-JP" sz="2800" dirty="0" smtClean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NP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        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PM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PN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ja-JP" altLang="en-US" sz="2800" b="0" dirty="0">
                <a:sym typeface="Symbol" pitchFamily="18" charset="2"/>
              </a:rPr>
              <a:t>はラムダ式</a:t>
            </a:r>
            <a:r>
              <a:rPr lang="en-US" altLang="ja-JP" sz="2800" b="0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を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で置き換えたラムダ式を表す。ただし、束縛変数が自由変数とかぶらないように、束縛変数の名前の付け替えを行う。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置換の例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3" y="1357298"/>
            <a:ext cx="7500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さきほどの例 </a:t>
            </a:r>
            <a:r>
              <a:rPr lang="en-US" altLang="ja-JP" sz="2800" dirty="0" smtClean="0">
                <a:sym typeface="Symbol" pitchFamily="18" charset="2"/>
              </a:rPr>
              <a:t>(x. x)  z</a:t>
            </a:r>
            <a:r>
              <a:rPr lang="ja-JP" altLang="en-US" sz="2800" dirty="0" smtClean="0">
                <a:sym typeface="Symbol" pitchFamily="18" charset="2"/>
              </a:rPr>
              <a:t> は、定義に従って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r>
              <a:rPr lang="en-US" altLang="ja-JP" sz="2800" dirty="0" smtClean="0">
                <a:sym typeface="Symbol" pitchFamily="18" charset="2"/>
              </a:rPr>
              <a:t>x [ z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x [ z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</a:t>
            </a:r>
            <a:r>
              <a:rPr lang="ja-JP" altLang="en-US" sz="2800" dirty="0" smtClean="0">
                <a:sym typeface="Symbol" pitchFamily="18" charset="2"/>
              </a:rPr>
              <a:t>の例では、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(x y) [ (z. z)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 (x y) [ (z. z)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(x y)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置換で名前がかぶる例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2" y="1285860"/>
            <a:ext cx="75009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例えば、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[x / y]</a:t>
            </a:r>
            <a:r>
              <a:rPr lang="ja-JP" altLang="en-US" sz="2800" dirty="0" err="1" smtClean="0">
                <a:sym typeface="Symbol" pitchFamily="18" charset="2"/>
              </a:rPr>
              <a:t>のような</a:t>
            </a:r>
            <a:r>
              <a:rPr lang="ja-JP" altLang="en-US" sz="2800" dirty="0" smtClean="0">
                <a:sym typeface="Symbol" pitchFamily="18" charset="2"/>
              </a:rPr>
              <a:t>置換は、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になるべきではない。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は仮の名前であり、</a:t>
            </a:r>
            <a:r>
              <a:rPr lang="en-US" altLang="ja-JP" sz="2800" dirty="0" smtClean="0">
                <a:sym typeface="Symbol" pitchFamily="18" charset="2"/>
              </a:rPr>
              <a:t> [x / y]</a:t>
            </a:r>
            <a:r>
              <a:rPr lang="ja-JP" altLang="en-US" sz="2800" dirty="0" smtClean="0">
                <a:sym typeface="Symbol" pitchFamily="18" charset="2"/>
              </a:rPr>
              <a:t> 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と同じではない。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よって、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</a:t>
            </a:r>
            <a:r>
              <a:rPr lang="ja-JP" altLang="en-US" sz="2800" dirty="0" smtClean="0">
                <a:sym typeface="Symbol" pitchFamily="18" charset="2"/>
              </a:rPr>
              <a:t>中の仮の名前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をまず何らかの未使用の名前に付け替える。例えば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y)</a:t>
            </a:r>
            <a:r>
              <a:rPr lang="ja-JP" altLang="en-US" sz="2800" dirty="0" smtClean="0">
                <a:sym typeface="Symbol" pitchFamily="18" charset="2"/>
              </a:rPr>
              <a:t>としてから、</a:t>
            </a:r>
            <a:r>
              <a:rPr lang="en-US" altLang="ja-JP" sz="2800" dirty="0" smtClean="0">
                <a:sym typeface="Symbol" pitchFamily="18" charset="2"/>
              </a:rPr>
              <a:t>[ x / y ]</a:t>
            </a:r>
            <a:r>
              <a:rPr lang="ja-JP" altLang="en-US" sz="2800" dirty="0" smtClean="0">
                <a:sym typeface="Symbol" pitchFamily="18" charset="2"/>
              </a:rPr>
              <a:t>の置き換えを行う。すると、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となる。このようになるように置換を次ページで定義する。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142852"/>
            <a:ext cx="7772400" cy="928694"/>
          </a:xfrm>
        </p:spPr>
        <p:txBody>
          <a:bodyPr/>
          <a:lstStyle/>
          <a:p>
            <a:r>
              <a:rPr lang="ja-JP" altLang="en-US" dirty="0" smtClean="0"/>
              <a:t>置換</a:t>
            </a:r>
            <a:r>
              <a:rPr lang="en-US" altLang="ja-JP" i="1" dirty="0" smtClean="0"/>
              <a:t>M</a:t>
            </a:r>
            <a:r>
              <a:rPr lang="en-US" altLang="ja-JP" dirty="0" smtClean="0"/>
              <a:t> [ </a:t>
            </a:r>
            <a:r>
              <a:rPr lang="en-US" altLang="ja-JP" i="1" dirty="0" smtClean="0"/>
              <a:t>N</a:t>
            </a:r>
            <a:r>
              <a:rPr lang="en-US" altLang="ja-JP" dirty="0" smtClean="0"/>
              <a:t> / </a:t>
            </a:r>
            <a:r>
              <a:rPr lang="en-US" altLang="ja-JP" i="1" dirty="0" smtClean="0"/>
              <a:t>x</a:t>
            </a:r>
            <a:r>
              <a:rPr lang="en-US" altLang="ja-JP" dirty="0" smtClean="0"/>
              <a:t> ]</a:t>
            </a:r>
            <a:r>
              <a:rPr lang="ja-JP" altLang="en-US" dirty="0" smtClean="0"/>
              <a:t>の定義</a:t>
            </a:r>
          </a:p>
        </p:txBody>
      </p:sp>
      <p:sp>
        <p:nvSpPr>
          <p:cNvPr id="131075" name="テキスト ボックス 13"/>
          <p:cNvSpPr txBox="1">
            <a:spLocks noChangeArrowheads="1"/>
          </p:cNvSpPr>
          <p:nvPr/>
        </p:nvSpPr>
        <p:spPr bwMode="auto">
          <a:xfrm>
            <a:off x="528638" y="1000108"/>
            <a:ext cx="840108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が定数の場合</a:t>
            </a:r>
          </a:p>
          <a:p>
            <a:r>
              <a:rPr lang="ja-JP" altLang="en-US" sz="2800" b="0" i="1" dirty="0">
                <a:sym typeface="Symbol" pitchFamily="18" charset="2"/>
              </a:rPr>
              <a:t>  </a:t>
            </a:r>
            <a:r>
              <a:rPr lang="ja-JP" altLang="en-US" sz="2800" b="0" i="1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c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 N </a:t>
            </a:r>
            <a:r>
              <a:rPr lang="en-US" altLang="ja-JP" sz="2800" b="0" dirty="0">
                <a:sym typeface="Symbol" pitchFamily="18" charset="2"/>
              </a:rPr>
              <a:t>/</a:t>
            </a:r>
            <a:r>
              <a:rPr lang="en-US" altLang="ja-JP" sz="2800" b="0" i="1" dirty="0">
                <a:sym typeface="Symbol" pitchFamily="18" charset="2"/>
              </a:rPr>
              <a:t> x </a:t>
            </a:r>
            <a:r>
              <a:rPr lang="en-US" altLang="ja-JP" sz="2800" b="0" dirty="0">
                <a:sym typeface="Symbol" pitchFamily="18" charset="2"/>
              </a:rPr>
              <a:t>] =</a:t>
            </a:r>
            <a:r>
              <a:rPr lang="en-US" altLang="ja-JP" sz="2800" b="0" i="1" dirty="0">
                <a:sym typeface="Symbol" pitchFamily="18" charset="2"/>
              </a:rPr>
              <a:t> c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が変数の場合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N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 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i="1" dirty="0"/>
              <a:t>M</a:t>
            </a:r>
            <a:r>
              <a:rPr lang="ja-JP" altLang="en-US" sz="2800" b="0" dirty="0"/>
              <a:t>がラムダ抽象の場合</a:t>
            </a:r>
          </a:p>
          <a:p>
            <a:r>
              <a:rPr lang="ja-JP" altLang="en-US" sz="2800" dirty="0" smtClean="0"/>
              <a:t> </a:t>
            </a:r>
            <a:r>
              <a:rPr lang="ja-JP" altLang="en-US" sz="2800" b="0" dirty="0" smtClean="0"/>
              <a:t>   </a:t>
            </a:r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 ] =  </a:t>
            </a:r>
          </a:p>
          <a:p>
            <a:r>
              <a:rPr lang="en-US" altLang="ja-JP" sz="2800" b="0" dirty="0">
                <a:sym typeface="Symbol" pitchFamily="18" charset="2"/>
              </a:rPr>
              <a:t>    </a:t>
            </a:r>
            <a:r>
              <a:rPr lang="en-US" altLang="ja-JP" sz="2800" b="0" dirty="0" smtClean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dirty="0">
                <a:sym typeface="Symbol" pitchFamily="18" charset="2"/>
              </a:rPr>
              <a:t>      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])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))</a:t>
            </a:r>
          </a:p>
          <a:p>
            <a:r>
              <a:rPr lang="en-US" altLang="ja-JP" sz="2800" b="0" dirty="0">
                <a:sym typeface="Symbol" pitchFamily="18" charset="2"/>
              </a:rPr>
              <a:t>        </a:t>
            </a:r>
            <a:r>
              <a:rPr lang="en-US" altLang="ja-JP" sz="2800" b="0" dirty="0" smtClean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. ((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 z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])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 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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 </a:t>
            </a:r>
            <a:r>
              <a:rPr lang="en-US" altLang="ja-JP" sz="2800" b="0" dirty="0" smtClean="0">
                <a:sym typeface="Symbol" pitchFamily="18" charset="2"/>
              </a:rPr>
              <a:t>FV </a:t>
            </a:r>
            <a:r>
              <a:rPr lang="en-US" altLang="ja-JP" sz="2800" b="0" dirty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), </a:t>
            </a:r>
          </a:p>
          <a:p>
            <a:r>
              <a:rPr lang="ja-JP" altLang="en-US" sz="2800" b="0" dirty="0">
                <a:sym typeface="Symbol" pitchFamily="18" charset="2"/>
              </a:rPr>
              <a:t>          </a:t>
            </a:r>
            <a:r>
              <a:rPr lang="ja-JP" altLang="en-US" sz="2800" b="0" dirty="0" smtClean="0">
                <a:sym typeface="Symbol" pitchFamily="18" charset="2"/>
              </a:rPr>
              <a:t>                                                  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FV(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  )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が関数適用の場合</a:t>
            </a:r>
          </a:p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=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)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</a:t>
            </a:r>
          </a:p>
        </p:txBody>
      </p:sp>
      <p:sp>
        <p:nvSpPr>
          <p:cNvPr id="131076" name="AutoShape 4"/>
          <p:cNvSpPr>
            <a:spLocks/>
          </p:cNvSpPr>
          <p:nvPr/>
        </p:nvSpPr>
        <p:spPr bwMode="auto">
          <a:xfrm>
            <a:off x="1204891" y="4143380"/>
            <a:ext cx="366713" cy="1042988"/>
          </a:xfrm>
          <a:prstGeom prst="leftBrace">
            <a:avLst>
              <a:gd name="adj1" fmla="val 237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自由変数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 </a:t>
            </a:r>
            <a:r>
              <a:rPr lang="en-US" altLang="ja-JP" sz="2800" b="0" i="1"/>
              <a:t>M</a:t>
            </a:r>
            <a:r>
              <a:rPr lang="ja-JP" altLang="en-US" sz="2800" b="0"/>
              <a:t>の自由変数の集合</a:t>
            </a:r>
            <a:r>
              <a:rPr lang="en-US" altLang="ja-JP" sz="2800" b="0"/>
              <a:t>FV(</a:t>
            </a:r>
            <a:r>
              <a:rPr lang="en-US" altLang="ja-JP" sz="2800" b="0" i="1"/>
              <a:t>M</a:t>
            </a:r>
            <a:r>
              <a:rPr lang="en-US" altLang="ja-JP" sz="2800" b="0"/>
              <a:t>)</a:t>
            </a:r>
            <a:r>
              <a:rPr lang="ja-JP" altLang="en-US" sz="2800" b="0"/>
              <a:t>を以下のように定義する。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r>
              <a:rPr lang="en-US" altLang="ja-JP" sz="2800" b="0"/>
              <a:t>FV( </a:t>
            </a:r>
            <a:r>
              <a:rPr lang="en-US" altLang="ja-JP" sz="2800" b="0" i="1"/>
              <a:t>c</a:t>
            </a:r>
            <a:r>
              <a:rPr lang="en-US" altLang="ja-JP" sz="2800" b="0"/>
              <a:t> ) = {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 i="1"/>
              <a:t>x</a:t>
            </a:r>
            <a:r>
              <a:rPr lang="en-US" altLang="ja-JP" sz="2800" b="0"/>
              <a:t> ) = { </a:t>
            </a:r>
            <a:r>
              <a:rPr lang="en-US" altLang="ja-JP" sz="2800" b="0" i="1"/>
              <a:t>x</a:t>
            </a:r>
            <a:r>
              <a:rPr lang="en-US" altLang="ja-JP" sz="2800" b="0"/>
              <a:t>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>
                <a:sym typeface="Symbol" pitchFamily="18" charset="2"/>
              </a:rPr>
              <a:t>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. </a:t>
            </a:r>
            <a:r>
              <a:rPr lang="en-US" altLang="ja-JP" sz="2800" b="0" i="1">
                <a:sym typeface="Symbol" pitchFamily="18" charset="2"/>
              </a:rPr>
              <a:t>M 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>
                <a:sym typeface="Symbol" pitchFamily="18" charset="2"/>
              </a:rPr>
              <a:t>) \ { 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 } </a:t>
            </a:r>
            <a:r>
              <a:rPr lang="ja-JP" altLang="en-US" sz="2800" b="0">
                <a:sym typeface="Symbol" pitchFamily="18" charset="2"/>
              </a:rPr>
              <a:t>（</a:t>
            </a:r>
            <a:r>
              <a:rPr lang="en-US" altLang="ja-JP" sz="2800" b="0">
                <a:sym typeface="Symbol" pitchFamily="18" charset="2"/>
              </a:rPr>
              <a:t>\ </a:t>
            </a:r>
            <a:r>
              <a:rPr lang="ja-JP" altLang="en-US" sz="2800" b="0">
                <a:sym typeface="Symbol" pitchFamily="18" charset="2"/>
              </a:rPr>
              <a:t>は集合の差をとる演算を表すものとする。）</a:t>
            </a:r>
          </a:p>
          <a:p>
            <a:pPr marL="457200" indent="-457200"/>
            <a:r>
              <a:rPr lang="en-US" altLang="ja-JP" sz="2800" b="0">
                <a:sym typeface="Symbol" pitchFamily="18" charset="2"/>
              </a:rPr>
              <a:t>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 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) 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endParaRPr lang="en-US" altLang="ja-JP" sz="2800" b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例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857224" y="1357298"/>
            <a:ext cx="781052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b="0" dirty="0" smtClean="0"/>
              <a:t>（例１）ラムダ式 </a:t>
            </a:r>
            <a:r>
              <a:rPr lang="en-US" altLang="ja-JP" sz="2800" b="0" dirty="0" smtClean="0"/>
              <a:t>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 . x)</a:t>
            </a:r>
            <a:r>
              <a:rPr lang="ja-JP" altLang="en-US" sz="2800" dirty="0" smtClean="0"/>
              <a:t>の自由変数を計算してみる。</a:t>
            </a:r>
            <a:r>
              <a:rPr lang="en-US" altLang="ja-JP" sz="2800" dirty="0" smtClean="0"/>
              <a:t>FV</a:t>
            </a:r>
            <a:r>
              <a:rPr lang="ja-JP" altLang="en-US" sz="2800" dirty="0" smtClean="0"/>
              <a:t>の定義により、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  FV 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x) = FV (x) \ {x} = {x} \ {x} = { }</a:t>
            </a:r>
          </a:p>
          <a:p>
            <a:pPr marL="457200" indent="-457200"/>
            <a:r>
              <a:rPr lang="ja-JP" altLang="en-US" sz="2800" dirty="0" smtClean="0"/>
              <a:t>である。（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ラムダ式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 . x)</a:t>
            </a:r>
            <a:r>
              <a:rPr lang="ja-JP" altLang="en-US" sz="2800" dirty="0" err="1" smtClean="0"/>
              <a:t>には</a:t>
            </a:r>
            <a:r>
              <a:rPr lang="ja-JP" altLang="en-US" sz="2800" dirty="0" smtClean="0"/>
              <a:t>自由変数はない。）</a:t>
            </a:r>
            <a:endParaRPr lang="en-US" altLang="ja-JP" sz="2800" dirty="0" smtClean="0"/>
          </a:p>
          <a:p>
            <a:pPr marL="457200" indent="-457200"/>
            <a:endParaRPr lang="en-US" altLang="ja-JP" sz="2800" b="0" dirty="0" smtClean="0"/>
          </a:p>
          <a:p>
            <a:pPr marL="457200" indent="-457200"/>
            <a:r>
              <a:rPr lang="ja-JP" altLang="en-US" sz="2800" dirty="0" smtClean="0"/>
              <a:t>（例２）ラムダ式 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 y)</a:t>
            </a:r>
            <a:r>
              <a:rPr lang="ja-JP" altLang="en-US" sz="2800" dirty="0" smtClean="0"/>
              <a:t>の自由変数は、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b="0" dirty="0" smtClean="0"/>
              <a:t>  FV 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. </a:t>
            </a:r>
            <a:r>
              <a:rPr lang="en-US" altLang="ja-JP" sz="2800" dirty="0" smtClean="0"/>
              <a:t>x y) = FV (x y) \ {x} = (FV (x) U FV(y)) \ {x}</a:t>
            </a:r>
          </a:p>
          <a:p>
            <a:pPr marL="457200" indent="-457200"/>
            <a:r>
              <a:rPr lang="en-US" altLang="ja-JP" sz="2800" b="0" dirty="0" smtClean="0"/>
              <a:t>                      = ({x} U {y}) \ {x} = {x, y} \ {x} = {y}</a:t>
            </a:r>
          </a:p>
          <a:p>
            <a:pPr marL="457200" indent="-457200"/>
            <a:r>
              <a:rPr lang="ja-JP" altLang="en-US" sz="2800" dirty="0" smtClean="0"/>
              <a:t>となり、</a:t>
            </a:r>
            <a:r>
              <a:rPr lang="en-US" altLang="ja-JP" sz="2800" dirty="0" smtClean="0"/>
              <a:t>y</a:t>
            </a:r>
            <a:r>
              <a:rPr lang="ja-JP" altLang="en-US" sz="2800" dirty="0" smtClean="0"/>
              <a:t>１つである。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変換列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に</a:t>
            </a:r>
            <a:r>
              <a:rPr lang="ja-JP" altLang="en-US" sz="2800" b="0" dirty="0">
                <a:sym typeface="Symbol" pitchFamily="18" charset="2"/>
              </a:rPr>
              <a:t>変換を有限回（</a:t>
            </a:r>
            <a:r>
              <a:rPr lang="en-US" altLang="ja-JP" sz="2800" b="0" dirty="0">
                <a:sym typeface="Symbol" pitchFamily="18" charset="2"/>
              </a:rPr>
              <a:t>0</a:t>
            </a:r>
            <a:r>
              <a:rPr lang="ja-JP" altLang="en-US" sz="2800" b="0" dirty="0">
                <a:sym typeface="Symbol" pitchFamily="18" charset="2"/>
              </a:rPr>
              <a:t>回以上）繰り返してラムダ式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が得られるとき、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 … 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endParaRPr lang="en-US" altLang="ja-JP" sz="2800" b="0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を変換列という。これは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* 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i="1" baseline="-25000" dirty="0" err="1">
                <a:sym typeface="Symbol" pitchFamily="18" charset="2"/>
              </a:rPr>
              <a:t>n</a:t>
            </a:r>
            <a:endParaRPr lang="en-US" altLang="ja-JP" sz="2800" b="0" i="1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と表せる。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また、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b="0" dirty="0">
                <a:sym typeface="Symbol" pitchFamily="18" charset="2"/>
              </a:rPr>
              <a:t></a:t>
            </a:r>
            <a:r>
              <a:rPr lang="en-US" altLang="ja-JP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 </a:t>
            </a:r>
            <a:r>
              <a:rPr lang="en-US" altLang="ja-JP" sz="2800" b="0" i="1" dirty="0">
                <a:sym typeface="Symbol" pitchFamily="18" charset="2"/>
              </a:rPr>
              <a:t>N </a:t>
            </a:r>
            <a:r>
              <a:rPr lang="ja-JP" altLang="en-US" sz="2800" b="0" dirty="0">
                <a:sym typeface="Symbol" pitchFamily="18" charset="2"/>
              </a:rPr>
              <a:t>と書く。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例</a:t>
            </a: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976313" y="1785926"/>
            <a:ext cx="70913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z w </a:t>
            </a:r>
            <a:r>
              <a:rPr lang="ja-JP" altLang="en-US" sz="2800" b="0" dirty="0">
                <a:sym typeface="Symbol" pitchFamily="18" charset="2"/>
              </a:rPr>
              <a:t>に対して</a:t>
            </a:r>
            <a:r>
              <a:rPr lang="ja-JP" altLang="en-US" sz="2800" b="0" dirty="0" smtClean="0">
                <a:sym typeface="Symbol" pitchFamily="18" charset="2"/>
              </a:rPr>
              <a:t>、以下</a:t>
            </a:r>
            <a:r>
              <a:rPr lang="ja-JP" altLang="en-US" sz="2800" b="0" dirty="0">
                <a:sym typeface="Symbol" pitchFamily="18" charset="2"/>
              </a:rPr>
              <a:t>の変換列が存在する。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(x. y. x y)  z w 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(y. z y)  w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z 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w 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は、何度か変換を行うことによって</a:t>
            </a:r>
            <a:r>
              <a:rPr lang="en-US" altLang="ja-JP" sz="2800" b="0" dirty="0">
                <a:sym typeface="Symbol" pitchFamily="18" charset="2"/>
              </a:rPr>
              <a:t>w</a:t>
            </a:r>
            <a:r>
              <a:rPr lang="ja-JP" altLang="en-US" sz="2800" b="0" dirty="0">
                <a:sym typeface="Symbol" pitchFamily="18" charset="2"/>
              </a:rPr>
              <a:t>に変換できるが、その過程を示せ。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571876"/>
            <a:ext cx="3208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dirty="0" smtClean="0"/>
              <a:t>または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en-US" altLang="ja-JP" smtClean="0"/>
              <a:t>Church-Rosser</a:t>
            </a:r>
            <a:r>
              <a:rPr lang="ja-JP" altLang="en-US" smtClean="0"/>
              <a:t>の定理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071538" y="1857364"/>
            <a:ext cx="74350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 </a:t>
            </a:r>
            <a:r>
              <a:rPr lang="ja-JP" altLang="en-US" sz="2800" b="0" dirty="0">
                <a:sym typeface="Symbol" pitchFamily="18" charset="2"/>
              </a:rPr>
              <a:t>ならばあるラムダ式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</a:t>
            </a:r>
          </a:p>
          <a:p>
            <a:r>
              <a:rPr lang="ja-JP" altLang="en-US" sz="2800" b="0" dirty="0">
                <a:sym typeface="Symbol" pitchFamily="18" charset="2"/>
              </a:rPr>
              <a:t>存在して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i="1" baseline="-25000" dirty="0"/>
              <a:t>2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ja-JP" altLang="en-US" dirty="0" smtClean="0"/>
              <a:t>例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00100" y="1428736"/>
            <a:ext cx="709136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</a:t>
            </a:r>
            <a:r>
              <a:rPr lang="ja-JP" altLang="en-US" sz="2800" b="0" dirty="0" smtClean="0">
                <a:sym typeface="Symbol" pitchFamily="18" charset="2"/>
              </a:rPr>
              <a:t>、</a:t>
            </a:r>
            <a:r>
              <a:rPr lang="en-US" altLang="ja-JP" sz="2800" dirty="0" smtClean="0"/>
              <a:t> </a:t>
            </a: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ja-JP" altLang="en-US" sz="2800" dirty="0" err="1" smtClean="0">
                <a:sym typeface="Symbol"/>
              </a:rPr>
              <a:t>のように</a:t>
            </a:r>
            <a:r>
              <a:rPr lang="ja-JP" altLang="en-US" sz="2800" dirty="0" smtClean="0">
                <a:sym typeface="Symbol"/>
              </a:rPr>
              <a:t>まず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変換される。この</a:t>
            </a:r>
            <a:r>
              <a:rPr lang="en-US" altLang="ja-JP" sz="2800" dirty="0" smtClean="0">
                <a:sym typeface="Symbol"/>
              </a:rPr>
              <a:t>λ</a:t>
            </a:r>
            <a:r>
              <a:rPr lang="ja-JP" altLang="en-US" sz="2800" dirty="0" smtClean="0">
                <a:sym typeface="Symbol"/>
              </a:rPr>
              <a:t>式に対し、２通りの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変換の適用が可能である。</a:t>
            </a:r>
            <a:endParaRPr lang="en-US" altLang="ja-JP" sz="2800" dirty="0" smtClean="0">
              <a:sym typeface="Symbol"/>
            </a:endParaRPr>
          </a:p>
          <a:p>
            <a:pPr marL="514350" indent="-514350"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514350" indent="-514350"/>
            <a:r>
              <a:rPr lang="en-US" altLang="ja-JP" sz="2800" dirty="0" smtClean="0">
                <a:sym typeface="Symbol"/>
              </a:rPr>
              <a:t>(1), (2)</a:t>
            </a:r>
            <a:r>
              <a:rPr lang="ja-JP" altLang="en-US" sz="2800" dirty="0" smtClean="0">
                <a:sym typeface="Symbol"/>
              </a:rPr>
              <a:t>に対して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変換を一度適用すると、どちらも</a:t>
            </a:r>
            <a:r>
              <a:rPr lang="en-US" altLang="ja-JP" sz="2800" dirty="0" smtClean="0">
                <a:sym typeface="Symbol"/>
              </a:rPr>
              <a:t>w</a:t>
            </a:r>
            <a:r>
              <a:rPr lang="ja-JP" altLang="en-US" sz="2800" dirty="0" smtClean="0">
                <a:sym typeface="Symbol"/>
              </a:rPr>
              <a:t>になる。</a:t>
            </a:r>
            <a:endParaRPr lang="en-US" altLang="ja-JP" sz="2800" dirty="0" smtClean="0">
              <a:sym typeface="Symbol"/>
            </a:endParaRPr>
          </a:p>
          <a:p>
            <a:pPr marL="514350" indent="-514350"/>
            <a:r>
              <a:rPr lang="ja-JP" altLang="en-US" sz="2800" dirty="0" smtClean="0">
                <a:sym typeface="Symbol"/>
              </a:rPr>
              <a:t>このように、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変換で一度枝分かれした後、必ず合流するルートがあるというのが</a:t>
            </a:r>
            <a:r>
              <a:rPr lang="en-US" altLang="ja-JP" sz="2800" dirty="0" smtClean="0">
                <a:sym typeface="Symbol"/>
              </a:rPr>
              <a:t>Church-Rosser</a:t>
            </a:r>
            <a:r>
              <a:rPr lang="ja-JP" altLang="en-US" sz="2800" dirty="0" smtClean="0">
                <a:sym typeface="Symbol"/>
              </a:rPr>
              <a:t>定理である。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  <a:r>
              <a:rPr lang="ja-JP" altLang="en-US" sz="2800" dirty="0" smtClean="0">
                <a:sym typeface="Symbol" pitchFamily="18" charset="2"/>
              </a:rPr>
              <a:t>に対して、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変換を適用する箇所のないラムダ式になるまで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変換を適用せよ。また、この例では途中で、２通りの適用可能性のあるラムダ式が出てくる。２通りの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変換列を示せ。</a:t>
            </a:r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/>
              </a:rPr>
              <a:t> (</a:t>
            </a:r>
            <a:r>
              <a:rPr lang="en-US" altLang="ja-JP" sz="2800" b="0" dirty="0" err="1" smtClean="0">
                <a:sym typeface="Symbol"/>
              </a:rPr>
              <a:t>λz</a:t>
            </a:r>
            <a:r>
              <a:rPr lang="en-US" altLang="ja-JP" sz="2800" b="0" dirty="0" smtClean="0">
                <a:sym typeface="Symbol"/>
              </a:rPr>
              <a:t>. (</a:t>
            </a:r>
            <a:r>
              <a:rPr lang="en-US" altLang="ja-JP" sz="2800" b="0" dirty="0" err="1" smtClean="0">
                <a:sym typeface="Symbol"/>
              </a:rPr>
              <a:t>λx</a:t>
            </a:r>
            <a:r>
              <a:rPr lang="en-US" altLang="ja-JP" sz="2800" b="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</a:p>
          <a:p>
            <a:pPr marL="457200" indent="-457200"/>
            <a:r>
              <a:rPr lang="ja-JP" altLang="en-US" sz="2800" dirty="0" smtClean="0">
                <a:sym typeface="Symbol"/>
              </a:rPr>
              <a:t>または、</a:t>
            </a:r>
            <a:endParaRPr lang="en-US" altLang="ja-JP" sz="2800" dirty="0" smtClean="0">
              <a:sym typeface="Symbol"/>
            </a:endParaRP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400" dirty="0" smtClean="0">
                <a:latin typeface="+mj-lt"/>
                <a:ea typeface="+mj-ea"/>
                <a:cs typeface="+mj-cs"/>
                <a:sym typeface="Symbol" pitchFamily="18" charset="2"/>
              </a:rPr>
              <a:t>参考文献</a:t>
            </a:r>
            <a:endParaRPr kumimoji="1" lang="ja-JP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95536" y="1700808"/>
            <a:ext cx="85689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Alonzo Church, </a:t>
            </a:r>
          </a:p>
          <a:p>
            <a:pPr>
              <a:buNone/>
            </a:pPr>
            <a:r>
              <a:rPr lang="en-US" altLang="ja-JP" sz="2800" dirty="0" smtClean="0"/>
              <a:t>“An </a:t>
            </a:r>
            <a:r>
              <a:rPr lang="en-US" altLang="ja-JP" sz="2800" dirty="0" smtClean="0"/>
              <a:t>unsolvable problem of elementary number </a:t>
            </a:r>
            <a:r>
              <a:rPr lang="en-US" altLang="ja-JP" sz="2800" dirty="0" smtClean="0"/>
              <a:t>theory”,  </a:t>
            </a:r>
            <a:endParaRPr lang="en-US" altLang="ja-JP" sz="2800" dirty="0" smtClean="0"/>
          </a:p>
          <a:p>
            <a:pPr>
              <a:buNone/>
            </a:pPr>
            <a:r>
              <a:rPr lang="en-US" altLang="ja-JP" sz="2800" i="1" dirty="0" smtClean="0"/>
              <a:t>American </a:t>
            </a:r>
            <a:r>
              <a:rPr lang="en-US" altLang="ja-JP" sz="2800" i="1" dirty="0" smtClean="0"/>
              <a:t>Journal of Mathematics</a:t>
            </a:r>
            <a:r>
              <a:rPr lang="en-US" altLang="ja-JP" sz="2800" dirty="0" smtClean="0"/>
              <a:t>, </a:t>
            </a:r>
            <a:endParaRPr lang="en-US" altLang="ja-JP" sz="2800" dirty="0" smtClean="0"/>
          </a:p>
          <a:p>
            <a:pPr>
              <a:buNone/>
            </a:pPr>
            <a:r>
              <a:rPr lang="en-US" altLang="ja-JP" sz="2800" dirty="0" smtClean="0"/>
              <a:t>vol</a:t>
            </a:r>
            <a:r>
              <a:rPr lang="en-US" altLang="ja-JP" sz="2800" dirty="0" smtClean="0"/>
              <a:t>. 58 , pp. 345-363, 1936.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2045</Words>
  <Application>Microsoft Office PowerPoint</Application>
  <PresentationFormat>画面に合わせる (4:3)</PresentationFormat>
  <Paragraphs>175</Paragraphs>
  <Slides>24</Slides>
  <Notes>22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今日のトピック：ラムダ計算</vt:lpstr>
      <vt:lpstr>ラムダ式</vt:lpstr>
      <vt:lpstr>ラムダ式</vt:lpstr>
      <vt:lpstr>ラムダ式</vt:lpstr>
      <vt:lpstr>ラムダ計算</vt:lpstr>
      <vt:lpstr>変換の例</vt:lpstr>
      <vt:lpstr>変換の例２</vt:lpstr>
      <vt:lpstr>メタ変数</vt:lpstr>
      <vt:lpstr>変換</vt:lpstr>
      <vt:lpstr>置換の例</vt:lpstr>
      <vt:lpstr>置換で名前がかぶる例</vt:lpstr>
      <vt:lpstr>置換M [ N / x ]の定義</vt:lpstr>
      <vt:lpstr>自由変数</vt:lpstr>
      <vt:lpstr>例</vt:lpstr>
      <vt:lpstr>変換列</vt:lpstr>
      <vt:lpstr>例</vt:lpstr>
      <vt:lpstr>練習問題</vt:lpstr>
      <vt:lpstr>解答</vt:lpstr>
      <vt:lpstr>Church-Rosserの定理</vt:lpstr>
      <vt:lpstr>例</vt:lpstr>
      <vt:lpstr>練習問題</vt:lpstr>
      <vt:lpstr>解答</vt:lpstr>
      <vt:lpstr>スライド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68</cp:revision>
  <dcterms:created xsi:type="dcterms:W3CDTF">2009-12-20T09:26:10Z</dcterms:created>
  <dcterms:modified xsi:type="dcterms:W3CDTF">2010-12-04T05:48:54Z</dcterms:modified>
</cp:coreProperties>
</file>