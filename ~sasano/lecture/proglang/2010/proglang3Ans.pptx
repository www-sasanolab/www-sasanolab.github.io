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3" r:id="rId7"/>
    <p:sldId id="261" r:id="rId8"/>
    <p:sldId id="262" r:id="rId9"/>
    <p:sldId id="264" r:id="rId10"/>
    <p:sldId id="272" r:id="rId11"/>
    <p:sldId id="265" r:id="rId12"/>
    <p:sldId id="266" r:id="rId13"/>
    <p:sldId id="268" r:id="rId14"/>
    <p:sldId id="269" r:id="rId15"/>
    <p:sldId id="270" r:id="rId16"/>
    <p:sldId id="271" r:id="rId17"/>
    <p:sldId id="273" r:id="rId18"/>
    <p:sldId id="277" r:id="rId19"/>
    <p:sldId id="281" r:id="rId20"/>
    <p:sldId id="274" r:id="rId21"/>
    <p:sldId id="282" r:id="rId22"/>
    <p:sldId id="275" r:id="rId23"/>
    <p:sldId id="283" r:id="rId24"/>
    <p:sldId id="276" r:id="rId25"/>
    <p:sldId id="284" r:id="rId26"/>
    <p:sldId id="278" r:id="rId27"/>
    <p:sldId id="285" r:id="rId28"/>
    <p:sldId id="279" r:id="rId29"/>
    <p:sldId id="286" r:id="rId30"/>
    <p:sldId id="280" r:id="rId31"/>
    <p:sldId id="287"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642"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B51E2A-E8B8-43DF-A077-E5FE9C052AB3}" type="datetimeFigureOut">
              <a:rPr kumimoji="1" lang="ja-JP" altLang="en-US" smtClean="0"/>
              <a:pPr/>
              <a:t>2010/10/4</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B1F3A6-52A2-4923-809C-B5FE92C2BC81}"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8B1F3A6-52A2-4923-809C-B5FE92C2BC81}" type="slidenum">
              <a:rPr kumimoji="1" lang="ja-JP" altLang="en-US" smtClean="0"/>
              <a:pPr/>
              <a:t>29</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2010/10/4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第３回</a:t>
            </a:r>
            <a:r>
              <a:rPr lang="en-US" altLang="ja-JP" dirty="0" smtClean="0"/>
              <a:t/>
            </a:r>
            <a:br>
              <a:rPr lang="en-US" altLang="ja-JP" dirty="0" smtClean="0"/>
            </a:br>
            <a:r>
              <a:rPr lang="ja-JP" altLang="en-US" dirty="0" smtClean="0"/>
              <a:t>命令型言語</a:t>
            </a:r>
            <a:r>
              <a:rPr lang="en-US" altLang="ja-JP" dirty="0" smtClean="0"/>
              <a:t/>
            </a:r>
            <a:br>
              <a:rPr lang="en-US" altLang="ja-JP" dirty="0" smtClean="0"/>
            </a:br>
            <a:r>
              <a:rPr lang="ja-JP" altLang="en-US" dirty="0" smtClean="0"/>
              <a:t>（</a:t>
            </a:r>
            <a:r>
              <a:rPr lang="ja-JP" altLang="en-US" sz="3100" dirty="0" smtClean="0"/>
              <a:t>構造化プログラミング、制御フロー）</a:t>
            </a:r>
            <a:endParaRPr kumimoji="1" lang="ja-JP" altLang="en-US" dirty="0"/>
          </a:p>
        </p:txBody>
      </p:sp>
      <p:sp>
        <p:nvSpPr>
          <p:cNvPr id="4" name="テキスト ボックス 3"/>
          <p:cNvSpPr txBox="1"/>
          <p:nvPr/>
        </p:nvSpPr>
        <p:spPr>
          <a:xfrm>
            <a:off x="2725060" y="5107071"/>
            <a:ext cx="3541354" cy="523220"/>
          </a:xfrm>
          <a:prstGeom prst="rect">
            <a:avLst/>
          </a:prstGeom>
          <a:noFill/>
        </p:spPr>
        <p:txBody>
          <a:bodyPr wrap="squar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命令型言語について</a:t>
            </a:r>
            <a:endParaRPr kumimoji="1" lang="ja-JP" altLang="en-US" dirty="0"/>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smtClean="0"/>
              <a:t>命令型言語では、計算とは</a:t>
            </a:r>
            <a:r>
              <a:rPr lang="ja-JP" altLang="en-US" sz="2800" dirty="0" smtClean="0"/>
              <a:t>アクションの列であると見られる。</a:t>
            </a:r>
            <a:endParaRPr lang="en-US" altLang="ja-JP" sz="2800" dirty="0" smtClean="0"/>
          </a:p>
          <a:p>
            <a:r>
              <a:rPr kumimoji="1" lang="ja-JP" altLang="en-US" sz="2800" dirty="0" smtClean="0"/>
              <a:t>命令型言語の例：</a:t>
            </a:r>
            <a:endParaRPr kumimoji="1" lang="en-US" altLang="ja-JP" sz="2800" dirty="0" smtClean="0"/>
          </a:p>
          <a:p>
            <a:r>
              <a:rPr lang="ja-JP" altLang="en-US" sz="2800" dirty="0" smtClean="0"/>
              <a:t>    </a:t>
            </a:r>
            <a:r>
              <a:rPr kumimoji="1" lang="en-US" altLang="ja-JP" sz="2800" dirty="0" smtClean="0"/>
              <a:t>Fortran</a:t>
            </a:r>
            <a:r>
              <a:rPr lang="ja-JP" altLang="en-US" sz="2800" dirty="0" smtClean="0"/>
              <a:t> </a:t>
            </a:r>
            <a:r>
              <a:rPr kumimoji="1" lang="en-US" altLang="ja-JP" sz="2800" dirty="0" smtClean="0"/>
              <a:t>(1957, John Backus, </a:t>
            </a:r>
            <a:r>
              <a:rPr kumimoji="1" lang="ja-JP" altLang="en-US" sz="2800" dirty="0" smtClean="0"/>
              <a:t>アメリカ人、</a:t>
            </a:r>
            <a:r>
              <a:rPr kumimoji="1" lang="en-US" altLang="ja-JP" sz="2800" dirty="0" smtClean="0"/>
              <a:t>1977 Turing</a:t>
            </a:r>
            <a:r>
              <a:rPr kumimoji="1" lang="ja-JP" altLang="en-US" sz="2800" dirty="0" smtClean="0"/>
              <a:t>賞</a:t>
            </a:r>
            <a:r>
              <a:rPr kumimoji="1" lang="en-US" altLang="ja-JP" sz="2800" dirty="0" smtClean="0"/>
              <a:t>), </a:t>
            </a:r>
          </a:p>
          <a:p>
            <a:r>
              <a:rPr kumimoji="1" lang="en-US" altLang="ja-JP" sz="2800" dirty="0" smtClean="0"/>
              <a:t>  </a:t>
            </a:r>
            <a:r>
              <a:rPr lang="ja-JP" altLang="en-US" sz="2800" dirty="0" smtClean="0"/>
              <a:t>  </a:t>
            </a:r>
            <a:r>
              <a:rPr kumimoji="1" lang="en-US" altLang="ja-JP" sz="2800" dirty="0" err="1" smtClean="0"/>
              <a:t>Algol</a:t>
            </a:r>
            <a:r>
              <a:rPr kumimoji="1" lang="en-US" altLang="ja-JP" sz="2800" dirty="0" smtClean="0"/>
              <a:t> 60 (1960, </a:t>
            </a:r>
            <a:r>
              <a:rPr kumimoji="1" lang="ja-JP" altLang="en-US" sz="2800" dirty="0" smtClean="0"/>
              <a:t>国際委員会で作成</a:t>
            </a:r>
            <a:r>
              <a:rPr kumimoji="1" lang="en-US" altLang="ja-JP" sz="2800" dirty="0" smtClean="0"/>
              <a:t>)</a:t>
            </a:r>
          </a:p>
          <a:p>
            <a:r>
              <a:rPr lang="en-US" altLang="ja-JP" sz="2800" dirty="0" smtClean="0"/>
              <a:t>    </a:t>
            </a:r>
            <a:r>
              <a:rPr kumimoji="1" lang="en-US" altLang="ja-JP" sz="2800" dirty="0" smtClean="0"/>
              <a:t>Pascal (1970</a:t>
            </a:r>
            <a:r>
              <a:rPr lang="en-US" altLang="ja-JP" sz="2800" dirty="0" smtClean="0"/>
              <a:t>, </a:t>
            </a:r>
            <a:r>
              <a:rPr lang="en-US" altLang="ja-JP" sz="2800" dirty="0" err="1" smtClean="0"/>
              <a:t>Niklaus</a:t>
            </a:r>
            <a:r>
              <a:rPr lang="en-US" altLang="ja-JP" sz="2800" dirty="0" smtClean="0"/>
              <a:t> Wirth, </a:t>
            </a:r>
            <a:r>
              <a:rPr lang="ja-JP" altLang="en-US" sz="2800" dirty="0" smtClean="0"/>
              <a:t>スイス人</a:t>
            </a:r>
            <a:r>
              <a:rPr lang="en-US" altLang="ja-JP" sz="2800" dirty="0" smtClean="0"/>
              <a:t>, 1984 Turing</a:t>
            </a:r>
            <a:r>
              <a:rPr lang="ja-JP" altLang="en-US" sz="2800" dirty="0" smtClean="0"/>
              <a:t>賞</a:t>
            </a:r>
            <a:r>
              <a:rPr lang="en-US" altLang="ja-JP" sz="2800" dirty="0" smtClean="0"/>
              <a:t>), </a:t>
            </a:r>
          </a:p>
          <a:p>
            <a:r>
              <a:rPr lang="en-US" altLang="ja-JP" sz="2800" dirty="0" smtClean="0"/>
              <a:t>    C (1972, Dennis Ritchie, </a:t>
            </a:r>
            <a:r>
              <a:rPr lang="ja-JP" altLang="en-US" sz="2800" dirty="0" smtClean="0"/>
              <a:t>アメリカ人</a:t>
            </a:r>
            <a:r>
              <a:rPr lang="en-US" altLang="ja-JP" sz="2800" dirty="0" smtClean="0"/>
              <a:t>, 1983 Turing</a:t>
            </a:r>
            <a:r>
              <a:rPr lang="ja-JP" altLang="en-US" sz="2800" dirty="0" smtClean="0"/>
              <a:t>賞</a:t>
            </a:r>
            <a:r>
              <a:rPr lang="en-US" altLang="ja-JP" sz="2800" dirty="0" smtClean="0"/>
              <a:t>)</a:t>
            </a:r>
          </a:p>
          <a:p>
            <a:r>
              <a:rPr kumimoji="1" lang="en-US" altLang="ja-JP" sz="2800" dirty="0" smtClean="0"/>
              <a:t>Fortran</a:t>
            </a:r>
            <a:r>
              <a:rPr kumimoji="1" lang="ja-JP" altLang="en-US" sz="2800" dirty="0" smtClean="0"/>
              <a:t>では</a:t>
            </a:r>
            <a:r>
              <a:rPr kumimoji="1" lang="en-US" altLang="ja-JP" sz="2800" dirty="0" smtClean="0"/>
              <a:t>while</a:t>
            </a:r>
            <a:r>
              <a:rPr kumimoji="1" lang="ja-JP" altLang="en-US" sz="2800" dirty="0" smtClean="0"/>
              <a:t>文などがなく、</a:t>
            </a:r>
            <a:r>
              <a:rPr kumimoji="1" lang="en-US" altLang="ja-JP" sz="2800" dirty="0" err="1" smtClean="0"/>
              <a:t>goto</a:t>
            </a:r>
            <a:r>
              <a:rPr lang="ja-JP" altLang="en-US" sz="2800" dirty="0" smtClean="0"/>
              <a:t>文が多用され、制御フローがつかみにくい。（</a:t>
            </a:r>
            <a:r>
              <a:rPr lang="en-US" altLang="ja-JP" sz="2800" dirty="0" smtClean="0"/>
              <a:t>Fortran 90 (1991)</a:t>
            </a:r>
            <a:r>
              <a:rPr lang="ja-JP" altLang="en-US" sz="2800" dirty="0" smtClean="0"/>
              <a:t>では対応）</a:t>
            </a:r>
            <a:endParaRPr lang="en-US" altLang="ja-JP" sz="2800" dirty="0" smtClean="0"/>
          </a:p>
          <a:p>
            <a:r>
              <a:rPr lang="en-US" altLang="ja-JP" sz="2800" dirty="0" err="1" smtClean="0"/>
              <a:t>Algol</a:t>
            </a:r>
            <a:r>
              <a:rPr lang="en-US" altLang="ja-JP" sz="2800" dirty="0" smtClean="0"/>
              <a:t>, Pascal</a:t>
            </a:r>
            <a:r>
              <a:rPr lang="ja-JP" altLang="en-US" sz="2800" dirty="0" smtClean="0"/>
              <a:t>などの言語では、プログラムの構造が明確になるような構成要素</a:t>
            </a:r>
            <a:r>
              <a:rPr lang="en-US" altLang="ja-JP" sz="2800" dirty="0" smtClean="0"/>
              <a:t>(while, begin end</a:t>
            </a:r>
            <a:r>
              <a:rPr lang="ja-JP" altLang="en-US" sz="2800" dirty="0" smtClean="0"/>
              <a:t>など</a:t>
            </a:r>
            <a:r>
              <a:rPr lang="en-US" altLang="ja-JP" sz="2800" dirty="0" smtClean="0"/>
              <a:t>)</a:t>
            </a:r>
            <a:r>
              <a:rPr lang="ja-JP" altLang="en-US" sz="2800" dirty="0" smtClean="0"/>
              <a:t>が取り入れられた。</a:t>
            </a:r>
            <a:endParaRPr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a:t>
            </a:r>
            <a:endParaRPr kumimoji="1" lang="ja-JP" altLang="en-US" dirty="0"/>
          </a:p>
        </p:txBody>
      </p:sp>
      <p:sp>
        <p:nvSpPr>
          <p:cNvPr id="6" name="テキスト ボックス 5"/>
          <p:cNvSpPr txBox="1"/>
          <p:nvPr/>
        </p:nvSpPr>
        <p:spPr>
          <a:xfrm>
            <a:off x="581069" y="1414237"/>
            <a:ext cx="8194441" cy="4832092"/>
          </a:xfrm>
          <a:prstGeom prst="rect">
            <a:avLst/>
          </a:prstGeom>
          <a:noFill/>
        </p:spPr>
        <p:txBody>
          <a:bodyPr wrap="square" rtlCol="0">
            <a:spAutoFit/>
          </a:bodyPr>
          <a:lstStyle/>
          <a:p>
            <a:r>
              <a:rPr kumimoji="1" lang="ja-JP" altLang="en-US" sz="2800" dirty="0" smtClean="0"/>
              <a:t>命令型言語では、変数の値を変える操作が基本</a:t>
            </a:r>
            <a:r>
              <a:rPr lang="ja-JP" altLang="en-US" sz="2800" dirty="0" smtClean="0"/>
              <a:t>。</a:t>
            </a:r>
            <a:endParaRPr lang="en-US" altLang="ja-JP" sz="2800" dirty="0" smtClean="0"/>
          </a:p>
          <a:p>
            <a:r>
              <a:rPr lang="ja-JP" altLang="en-US" sz="2800" dirty="0" smtClean="0"/>
              <a:t>代入</a:t>
            </a:r>
            <a:r>
              <a:rPr lang="en-US" altLang="ja-JP" sz="2800" dirty="0" smtClean="0"/>
              <a:t>(assignment)</a:t>
            </a:r>
            <a:r>
              <a:rPr lang="ja-JP" altLang="en-US" sz="2800" dirty="0" smtClean="0"/>
              <a:t>によって変数の値を変える。</a:t>
            </a:r>
            <a:endParaRPr lang="en-US" altLang="ja-JP" sz="2800" dirty="0" smtClean="0"/>
          </a:p>
          <a:p>
            <a:r>
              <a:rPr lang="ja-JP" altLang="en-US" sz="2800" dirty="0" smtClean="0"/>
              <a:t>（代入の例）</a:t>
            </a:r>
            <a:endParaRPr lang="en-US" altLang="ja-JP" sz="2800" dirty="0" smtClean="0"/>
          </a:p>
          <a:p>
            <a:r>
              <a:rPr kumimoji="1" lang="en-US" altLang="ja-JP" sz="2800" dirty="0" smtClean="0"/>
              <a:t>   x := 2+3</a:t>
            </a:r>
          </a:p>
          <a:p>
            <a:r>
              <a:rPr lang="en-US" altLang="ja-JP" sz="2800" dirty="0" smtClean="0"/>
              <a:t>   x := a[</a:t>
            </a:r>
            <a:r>
              <a:rPr lang="en-US" altLang="ja-JP" sz="2800" dirty="0" err="1" smtClean="0"/>
              <a:t>i</a:t>
            </a:r>
            <a:r>
              <a:rPr lang="en-US" altLang="ja-JP" sz="2800" dirty="0" smtClean="0"/>
              <a:t>]</a:t>
            </a:r>
          </a:p>
          <a:p>
            <a:r>
              <a:rPr kumimoji="1" lang="en-US" altLang="ja-JP" sz="2800" dirty="0" smtClean="0"/>
              <a:t>   a</a:t>
            </a:r>
            <a:r>
              <a:rPr lang="en-US" altLang="ja-JP" sz="2800" dirty="0" smtClean="0"/>
              <a:t>[</a:t>
            </a:r>
            <a:r>
              <a:rPr lang="en-US" altLang="ja-JP" sz="2800" dirty="0" err="1" smtClean="0"/>
              <a:t>i</a:t>
            </a:r>
            <a:r>
              <a:rPr lang="en-US" altLang="ja-JP" sz="2800" dirty="0" smtClean="0"/>
              <a:t>] := x</a:t>
            </a:r>
          </a:p>
          <a:p>
            <a:r>
              <a:rPr lang="ja-JP" altLang="en-US" sz="2800" dirty="0" smtClean="0"/>
              <a:t>手続き呼び出しによって変数を値を変えることもできる。</a:t>
            </a:r>
            <a:endParaRPr lang="en-US" altLang="ja-JP" sz="2800" dirty="0" smtClean="0"/>
          </a:p>
          <a:p>
            <a:r>
              <a:rPr lang="en-US" altLang="ja-JP" sz="2800" dirty="0" smtClean="0"/>
              <a:t>(</a:t>
            </a:r>
            <a:r>
              <a:rPr lang="ja-JP" altLang="en-US" sz="2800" dirty="0" smtClean="0"/>
              <a:t>手続き呼び出しの例</a:t>
            </a:r>
            <a:r>
              <a:rPr lang="en-US" altLang="ja-JP" sz="2800" dirty="0" smtClean="0"/>
              <a:t>)</a:t>
            </a:r>
          </a:p>
          <a:p>
            <a:r>
              <a:rPr lang="ja-JP" altLang="en-US" sz="2800" dirty="0" smtClean="0"/>
              <a:t>   </a:t>
            </a:r>
            <a:r>
              <a:rPr lang="en-US" altLang="ja-JP" sz="2800" dirty="0" smtClean="0"/>
              <a:t>read(x)</a:t>
            </a:r>
          </a:p>
          <a:p>
            <a:r>
              <a:rPr lang="en-US" altLang="ja-JP" sz="2800" dirty="0" smtClean="0"/>
              <a:t>   write(x)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構造化プログラミング</a:t>
            </a:r>
            <a:r>
              <a:rPr kumimoji="1" lang="en-US" altLang="ja-JP" dirty="0" smtClean="0"/>
              <a:t/>
            </a:r>
            <a:br>
              <a:rPr kumimoji="1" lang="en-US" altLang="ja-JP" dirty="0" smtClean="0"/>
            </a:br>
            <a:r>
              <a:rPr lang="ja-JP" altLang="en-US" dirty="0" smtClean="0"/>
              <a:t>（</a:t>
            </a:r>
            <a:r>
              <a:rPr lang="en-US" altLang="ja-JP" dirty="0" smtClean="0"/>
              <a:t>structured programming</a:t>
            </a:r>
            <a:r>
              <a:rPr lang="ja-JP" altLang="en-US" dirty="0" smtClean="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smtClean="0"/>
              <a:t>プログラムを見て、行われる計算が容易に分かるように言語を設計するべき。</a:t>
            </a:r>
            <a:r>
              <a:rPr lang="en-US" altLang="ja-JP" sz="2800" dirty="0" err="1" smtClean="0"/>
              <a:t>g</a:t>
            </a:r>
            <a:r>
              <a:rPr kumimoji="1" lang="en-US" altLang="ja-JP" sz="2800" dirty="0" err="1" smtClean="0"/>
              <a:t>oto</a:t>
            </a:r>
            <a:r>
              <a:rPr kumimoji="1" lang="ja-JP" altLang="en-US" sz="2800" dirty="0" smtClean="0"/>
              <a:t>文を多用したプログラムではどのような計算が行われるのかわかりにくくなる。</a:t>
            </a:r>
            <a:endParaRPr kumimoji="1" lang="en-US" altLang="ja-JP" sz="2800" dirty="0" smtClean="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smtClean="0"/>
              <a:t>構造化プログラミング：プログラムの構造が、どのような計算が行われるかの理解の助けになる。</a:t>
            </a:r>
            <a:endParaRPr lang="ja-JP" altLang="en-US" sz="2800" dirty="0"/>
          </a:p>
        </p:txBody>
      </p:sp>
      <p:sp>
        <p:nvSpPr>
          <p:cNvPr id="6" name="テキスト ボックス 5"/>
          <p:cNvSpPr txBox="1"/>
          <p:nvPr/>
        </p:nvSpPr>
        <p:spPr>
          <a:xfrm>
            <a:off x="1037844" y="4583307"/>
            <a:ext cx="7000924" cy="954107"/>
          </a:xfrm>
          <a:prstGeom prst="rect">
            <a:avLst/>
          </a:prstGeom>
          <a:noFill/>
        </p:spPr>
        <p:txBody>
          <a:bodyPr wrap="square" rtlCol="0">
            <a:spAutoFit/>
          </a:bodyPr>
          <a:lstStyle/>
          <a:p>
            <a:r>
              <a:rPr kumimoji="1" lang="ja-JP" altLang="en-US" sz="2800" dirty="0" smtClean="0"/>
              <a:t>構造化されたプログラムでも構造化されていないプログラムと同等の効率のものは書ける。</a:t>
            </a:r>
            <a:endParaRPr kumimoji="1" lang="ja-JP" altLang="en-US" sz="2800" dirty="0"/>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smtClean="0"/>
              <a:t>[</a:t>
            </a:r>
            <a:r>
              <a:rPr lang="ja-JP" altLang="en-US" sz="2400" dirty="0" smtClean="0"/>
              <a:t>参考文献</a:t>
            </a:r>
            <a:r>
              <a:rPr lang="en-US" altLang="ja-JP" sz="2400" dirty="0" smtClean="0"/>
              <a:t>] </a:t>
            </a:r>
            <a:r>
              <a:rPr lang="en-US" altLang="ja-JP" sz="2400" dirty="0" err="1" smtClean="0"/>
              <a:t>Edsger</a:t>
            </a:r>
            <a:r>
              <a:rPr lang="en-US" altLang="ja-JP" sz="2400" dirty="0" smtClean="0"/>
              <a:t> </a:t>
            </a:r>
            <a:r>
              <a:rPr lang="en-US" altLang="ja-JP" sz="2400" dirty="0" err="1" smtClean="0"/>
              <a:t>Dijkstra</a:t>
            </a:r>
            <a:r>
              <a:rPr lang="en-US" altLang="ja-JP" sz="2400" dirty="0" smtClean="0"/>
              <a:t>, “Go to statement considered harmful”, </a:t>
            </a:r>
            <a:r>
              <a:rPr lang="en-US" altLang="ja-JP" sz="2400" i="1" dirty="0" smtClean="0"/>
              <a:t>Communication of the ACM</a:t>
            </a:r>
            <a:r>
              <a:rPr lang="en-US" altLang="ja-JP" sz="2400" dirty="0" smtClean="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smtClean="0"/>
              <a:t>プログラムが構造化されている</a:t>
            </a:r>
            <a:endParaRPr kumimoji="1" lang="ja-JP" altLang="en-US" sz="2800" dirty="0"/>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smtClean="0"/>
              <a:t>プログラムの制御フローが</a:t>
            </a:r>
            <a:r>
              <a:rPr kumimoji="1" lang="ja-JP" altLang="en-US" sz="2800" b="1" dirty="0" smtClean="0"/>
              <a:t>プログラムテキストの構文構造</a:t>
            </a:r>
            <a:r>
              <a:rPr kumimoji="1" lang="ja-JP" altLang="en-US" sz="2800" dirty="0" smtClean="0"/>
              <a:t>から明らか</a:t>
            </a:r>
            <a:endParaRPr kumimoji="1" lang="ja-JP" altLang="en-US" sz="2800" dirty="0"/>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smtClean="0"/>
              <a:t>明らかというのは、ここでは</a:t>
            </a:r>
            <a:r>
              <a:rPr kumimoji="1" lang="en-US" altLang="ja-JP" sz="2800" dirty="0" smtClean="0"/>
              <a:t>single entry, single exit</a:t>
            </a:r>
            <a:r>
              <a:rPr kumimoji="1" lang="ja-JP" altLang="en-US" sz="2800" dirty="0" smtClean="0"/>
              <a:t>と定義する</a:t>
            </a:r>
            <a:r>
              <a:rPr lang="ja-JP" altLang="en-US" sz="2800" dirty="0" smtClean="0"/>
              <a:t>（入口１つ、出口１つ）</a:t>
            </a:r>
            <a:endParaRPr kumimoji="1" lang="en-US" altLang="ja-JP" sz="2800" dirty="0" smtClean="0"/>
          </a:p>
        </p:txBody>
      </p:sp>
      <p:sp>
        <p:nvSpPr>
          <p:cNvPr id="9" name="テキスト ボックス 8"/>
          <p:cNvSpPr txBox="1"/>
          <p:nvPr/>
        </p:nvSpPr>
        <p:spPr>
          <a:xfrm>
            <a:off x="1643042" y="4714884"/>
            <a:ext cx="1805302" cy="1815882"/>
          </a:xfrm>
          <a:prstGeom prst="rect">
            <a:avLst/>
          </a:prstGeom>
          <a:noFill/>
        </p:spPr>
        <p:txBody>
          <a:bodyPr wrap="none" rtlCol="0">
            <a:spAutoFit/>
          </a:bodyPr>
          <a:lstStyle/>
          <a:p>
            <a:r>
              <a:rPr lang="ja-JP" altLang="en-US" sz="2800" dirty="0" smtClean="0"/>
              <a:t>逐次文</a:t>
            </a:r>
            <a:endParaRPr lang="en-US" altLang="ja-JP" sz="2800" dirty="0" smtClean="0"/>
          </a:p>
          <a:p>
            <a:r>
              <a:rPr lang="ja-JP" altLang="en-US" sz="2800" dirty="0" smtClean="0"/>
              <a:t>条件文</a:t>
            </a:r>
            <a:endParaRPr lang="en-US" altLang="ja-JP" sz="2800" dirty="0" smtClean="0"/>
          </a:p>
          <a:p>
            <a:r>
              <a:rPr kumimoji="1" lang="ja-JP" altLang="en-US" sz="2800" dirty="0" smtClean="0"/>
              <a:t>繰り返し文</a:t>
            </a:r>
            <a:endParaRPr kumimoji="1" lang="en-US" altLang="ja-JP" sz="2800" dirty="0" smtClean="0"/>
          </a:p>
          <a:p>
            <a:r>
              <a:rPr lang="en-US" altLang="ja-JP" sz="2800" dirty="0" smtClean="0"/>
              <a:t>case</a:t>
            </a:r>
            <a:r>
              <a:rPr lang="ja-JP" altLang="en-US" sz="2800" dirty="0" smtClean="0"/>
              <a:t>文</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基本ケース</a:t>
            </a:r>
            <a:endParaRPr kumimoji="1" lang="ja-JP" altLang="en-US" dirty="0"/>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smtClean="0"/>
              <a:t>代入文は</a:t>
            </a:r>
            <a:r>
              <a:rPr kumimoji="1" lang="en-US" altLang="ja-JP" sz="2800" dirty="0" smtClean="0"/>
              <a:t>single entry, single exit</a:t>
            </a:r>
            <a:r>
              <a:rPr kumimoji="1" lang="ja-JP" altLang="en-US" sz="2800" dirty="0" smtClean="0"/>
              <a:t>である。</a:t>
            </a:r>
            <a:endParaRPr kumimoji="1" lang="en-US" altLang="ja-JP" sz="2800" dirty="0" smtClean="0"/>
          </a:p>
          <a:p>
            <a:r>
              <a:rPr lang="ja-JP" altLang="en-US" sz="2800" dirty="0" smtClean="0"/>
              <a:t>たとえば、</a:t>
            </a:r>
            <a:endParaRPr lang="en-US" altLang="ja-JP" sz="2800" dirty="0" smtClean="0"/>
          </a:p>
          <a:p>
            <a:r>
              <a:rPr lang="en-US" altLang="ja-JP" sz="2800" dirty="0" smtClean="0"/>
              <a:t>    x := 3</a:t>
            </a:r>
          </a:p>
          <a:p>
            <a:r>
              <a:rPr lang="ja-JP" altLang="en-US" sz="2800" dirty="0" err="1" smtClean="0"/>
              <a:t>のような</a:t>
            </a:r>
            <a:r>
              <a:rPr lang="ja-JP" altLang="en-US" sz="2800" dirty="0" smtClean="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smtClean="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smtClean="0"/>
              <a:t>入口</a:t>
            </a:r>
            <a:r>
              <a:rPr lang="en-US" altLang="ja-JP" sz="2800" dirty="0" smtClean="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smtClean="0"/>
              <a:t>出口</a:t>
            </a:r>
            <a:r>
              <a:rPr lang="en-US" altLang="ja-JP" sz="2800" dirty="0" smtClean="0"/>
              <a:t>(exit point)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文の列（逐次文）</a:t>
            </a:r>
            <a:endParaRPr kumimoji="1" lang="ja-JP" altLang="en-US" dirty="0"/>
          </a:p>
        </p:txBody>
      </p:sp>
      <p:sp>
        <p:nvSpPr>
          <p:cNvPr id="4" name="テキスト ボックス 3"/>
          <p:cNvSpPr txBox="1"/>
          <p:nvPr/>
        </p:nvSpPr>
        <p:spPr>
          <a:xfrm>
            <a:off x="642910" y="1571612"/>
            <a:ext cx="5500726" cy="3539430"/>
          </a:xfrm>
          <a:prstGeom prst="rect">
            <a:avLst/>
          </a:prstGeom>
          <a:noFill/>
        </p:spPr>
        <p:txBody>
          <a:bodyPr wrap="square" rtlCol="0">
            <a:spAutoFit/>
          </a:bodyPr>
          <a:lstStyle/>
          <a:p>
            <a:r>
              <a:rPr lang="en-US" altLang="ja-JP" sz="2800" dirty="0" smtClean="0"/>
              <a:t>Pascal</a:t>
            </a:r>
            <a:r>
              <a:rPr lang="ja-JP" altLang="en-US" sz="2800" dirty="0" smtClean="0"/>
              <a:t>などでは、文の列（逐次文）は文</a:t>
            </a:r>
            <a:r>
              <a:rPr lang="en-US" altLang="ja-JP" sz="2800" dirty="0" smtClean="0"/>
              <a:t>s1, s2, …, </a:t>
            </a:r>
            <a:r>
              <a:rPr lang="en-US" altLang="ja-JP" sz="2800" dirty="0" err="1" smtClean="0"/>
              <a:t>sn</a:t>
            </a:r>
            <a:r>
              <a:rPr lang="ja-JP" altLang="en-US" sz="2800" dirty="0" smtClean="0"/>
              <a:t>をセミコロンで区切って表す。</a:t>
            </a:r>
            <a:endParaRPr lang="en-US" altLang="ja-JP" sz="2800" dirty="0" smtClean="0"/>
          </a:p>
          <a:p>
            <a:r>
              <a:rPr lang="en-US" altLang="ja-JP" sz="2800" dirty="0" smtClean="0"/>
              <a:t>    s1; s2; …; </a:t>
            </a:r>
            <a:r>
              <a:rPr lang="en-US" altLang="ja-JP" sz="2800" dirty="0" err="1" smtClean="0"/>
              <a:t>sn</a:t>
            </a:r>
            <a:endParaRPr lang="en-US" altLang="ja-JP" sz="2800" dirty="0" smtClean="0"/>
          </a:p>
          <a:p>
            <a:r>
              <a:rPr lang="ja-JP" altLang="en-US" sz="2800" dirty="0" smtClean="0"/>
              <a:t>（</a:t>
            </a:r>
            <a:r>
              <a:rPr lang="en-US" altLang="ja-JP" sz="2800" dirty="0" smtClean="0"/>
              <a:t>C</a:t>
            </a:r>
            <a:r>
              <a:rPr lang="ja-JP" altLang="en-US" sz="2800" dirty="0" smtClean="0"/>
              <a:t>では文を並べるだけでよい。）</a:t>
            </a:r>
            <a:endParaRPr lang="en-US" altLang="ja-JP" sz="2800" dirty="0" smtClean="0"/>
          </a:p>
          <a:p>
            <a:r>
              <a:rPr lang="ja-JP" altLang="en-US" sz="2800" dirty="0" smtClean="0"/>
              <a:t>逐次文は、それぞれの文が</a:t>
            </a:r>
            <a:r>
              <a:rPr lang="en-US" altLang="ja-JP" sz="2800" dirty="0" smtClean="0"/>
              <a:t>single entry, single exit</a:t>
            </a:r>
            <a:r>
              <a:rPr lang="ja-JP" altLang="en-US" sz="2800" dirty="0" smtClean="0"/>
              <a:t>であれば</a:t>
            </a:r>
            <a:r>
              <a:rPr lang="en-US" altLang="ja-JP" sz="2800" dirty="0" smtClean="0"/>
              <a:t>single entry, single exit</a:t>
            </a:r>
            <a:r>
              <a:rPr lang="ja-JP" altLang="en-US" sz="2800" dirty="0" smtClean="0"/>
              <a:t>である。</a:t>
            </a:r>
            <a:endParaRPr lang="en-US" altLang="ja-JP" sz="2800" dirty="0" smtClean="0"/>
          </a:p>
        </p:txBody>
      </p:sp>
      <p:sp>
        <p:nvSpPr>
          <p:cNvPr id="6" name="テキスト ボックス 5"/>
          <p:cNvSpPr txBox="1"/>
          <p:nvPr/>
        </p:nvSpPr>
        <p:spPr>
          <a:xfrm>
            <a:off x="6500826" y="3139194"/>
            <a:ext cx="1558312" cy="461665"/>
          </a:xfrm>
          <a:prstGeom prst="rect">
            <a:avLst/>
          </a:prstGeom>
          <a:noFill/>
        </p:spPr>
        <p:txBody>
          <a:bodyPr wrap="none" rtlCol="0">
            <a:spAutoFit/>
          </a:bodyPr>
          <a:lstStyle/>
          <a:p>
            <a:r>
              <a:rPr lang="en-US" altLang="ja-JP" sz="2400" dirty="0" smtClean="0"/>
              <a:t>  temp := x </a:t>
            </a:r>
          </a:p>
        </p:txBody>
      </p:sp>
      <p:cxnSp>
        <p:nvCxnSpPr>
          <p:cNvPr id="7" name="直線矢印コネクタ 6"/>
          <p:cNvCxnSpPr/>
          <p:nvPr/>
        </p:nvCxnSpPr>
        <p:spPr>
          <a:xfrm rot="5400000">
            <a:off x="6894132" y="388889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6894529" y="2889161"/>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262548" y="2370223"/>
            <a:ext cx="902811" cy="523220"/>
          </a:xfrm>
          <a:prstGeom prst="rect">
            <a:avLst/>
          </a:prstGeom>
          <a:noFill/>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7268946" y="5853839"/>
            <a:ext cx="902811" cy="523220"/>
          </a:xfrm>
          <a:prstGeom prst="rect">
            <a:avLst/>
          </a:prstGeom>
          <a:noFill/>
        </p:spPr>
        <p:txBody>
          <a:bodyPr wrap="none" rtlCol="0">
            <a:spAutoFit/>
          </a:bodyPr>
          <a:lstStyle/>
          <a:p>
            <a:r>
              <a:rPr lang="ja-JP" altLang="en-US" sz="2800" dirty="0" smtClean="0"/>
              <a:t>出口</a:t>
            </a:r>
            <a:endParaRPr lang="en-US" altLang="ja-JP" sz="2800" dirty="0" smtClean="0"/>
          </a:p>
        </p:txBody>
      </p:sp>
      <p:sp>
        <p:nvSpPr>
          <p:cNvPr id="13" name="テキスト ボックス 12"/>
          <p:cNvSpPr txBox="1"/>
          <p:nvPr/>
        </p:nvSpPr>
        <p:spPr>
          <a:xfrm>
            <a:off x="6643702" y="4210764"/>
            <a:ext cx="1031051" cy="461665"/>
          </a:xfrm>
          <a:prstGeom prst="rect">
            <a:avLst/>
          </a:prstGeom>
          <a:noFill/>
        </p:spPr>
        <p:txBody>
          <a:bodyPr wrap="none" rtlCol="0">
            <a:spAutoFit/>
          </a:bodyPr>
          <a:lstStyle/>
          <a:p>
            <a:r>
              <a:rPr lang="en-US" altLang="ja-JP" sz="2400" dirty="0" smtClean="0"/>
              <a:t>  x := y </a:t>
            </a:r>
          </a:p>
        </p:txBody>
      </p:sp>
      <p:cxnSp>
        <p:nvCxnSpPr>
          <p:cNvPr id="14" name="直線矢印コネクタ 13"/>
          <p:cNvCxnSpPr/>
          <p:nvPr/>
        </p:nvCxnSpPr>
        <p:spPr>
          <a:xfrm rot="5400000">
            <a:off x="6894132" y="496046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72264" y="5210896"/>
            <a:ext cx="1564724" cy="461665"/>
          </a:xfrm>
          <a:prstGeom prst="rect">
            <a:avLst/>
          </a:prstGeom>
          <a:noFill/>
        </p:spPr>
        <p:txBody>
          <a:bodyPr wrap="none" rtlCol="0">
            <a:spAutoFit/>
          </a:bodyPr>
          <a:lstStyle/>
          <a:p>
            <a:r>
              <a:rPr lang="en-US" altLang="ja-JP" sz="2400" dirty="0" smtClean="0"/>
              <a:t>  y := temp </a:t>
            </a:r>
          </a:p>
        </p:txBody>
      </p:sp>
      <p:cxnSp>
        <p:nvCxnSpPr>
          <p:cNvPr id="16" name="直線矢印コネクタ 15"/>
          <p:cNvCxnSpPr/>
          <p:nvPr/>
        </p:nvCxnSpPr>
        <p:spPr>
          <a:xfrm rot="5400000">
            <a:off x="6894132" y="588916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788781" y="5190206"/>
            <a:ext cx="2609369" cy="1384995"/>
          </a:xfrm>
          <a:prstGeom prst="rect">
            <a:avLst/>
          </a:prstGeom>
        </p:spPr>
        <p:txBody>
          <a:bodyPr wrap="none">
            <a:spAutoFit/>
          </a:bodyPr>
          <a:lstStyle/>
          <a:p>
            <a:r>
              <a:rPr lang="ja-JP" altLang="en-US" sz="2800" dirty="0" smtClean="0"/>
              <a:t>（例）</a:t>
            </a:r>
            <a:r>
              <a:rPr lang="en-US" altLang="ja-JP" sz="2800" dirty="0" smtClean="0"/>
              <a:t> temp := x;  </a:t>
            </a:r>
          </a:p>
          <a:p>
            <a:r>
              <a:rPr lang="en-US" altLang="ja-JP" sz="2800" dirty="0" smtClean="0"/>
              <a:t>          x := y;  </a:t>
            </a:r>
          </a:p>
          <a:p>
            <a:r>
              <a:rPr lang="en-US" altLang="ja-JP" sz="2800" dirty="0" smtClean="0"/>
              <a:t>          y := temp</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smtClean="0"/>
              <a:t>逐次文のグループ化（複合文、ブロック）</a:t>
            </a:r>
            <a:endParaRPr kumimoji="1" lang="ja-JP" altLang="en-US" dirty="0"/>
          </a:p>
        </p:txBody>
      </p:sp>
      <p:sp>
        <p:nvSpPr>
          <p:cNvPr id="4" name="正方形/長方形 3"/>
          <p:cNvSpPr/>
          <p:nvPr/>
        </p:nvSpPr>
        <p:spPr>
          <a:xfrm>
            <a:off x="341195" y="1451977"/>
            <a:ext cx="6578221" cy="4832092"/>
          </a:xfrm>
          <a:prstGeom prst="rect">
            <a:avLst/>
          </a:prstGeom>
        </p:spPr>
        <p:txBody>
          <a:bodyPr wrap="square">
            <a:spAutoFit/>
          </a:bodyPr>
          <a:lstStyle/>
          <a:p>
            <a:r>
              <a:rPr lang="ja-JP" altLang="en-US" sz="2800" dirty="0" smtClean="0"/>
              <a:t>逐次文は、</a:t>
            </a:r>
            <a:r>
              <a:rPr lang="en-US" altLang="ja-JP" sz="2800" dirty="0" smtClean="0"/>
              <a:t>ALGOL</a:t>
            </a:r>
            <a:r>
              <a:rPr lang="ja-JP" altLang="en-US" sz="2800" dirty="0" smtClean="0"/>
              <a:t>等では</a:t>
            </a:r>
            <a:r>
              <a:rPr lang="en-US" altLang="ja-JP" sz="2800" b="1" dirty="0" smtClean="0"/>
              <a:t>begin</a:t>
            </a:r>
            <a:r>
              <a:rPr lang="en-US" altLang="ja-JP" sz="2800" dirty="0" smtClean="0"/>
              <a:t>, </a:t>
            </a:r>
            <a:r>
              <a:rPr lang="en-US" altLang="ja-JP" sz="2800" b="1" dirty="0" smtClean="0"/>
              <a:t>end </a:t>
            </a:r>
            <a:r>
              <a:rPr lang="en-US" altLang="ja-JP" sz="2800" dirty="0" smtClean="0"/>
              <a:t>(C</a:t>
            </a:r>
            <a:r>
              <a:rPr lang="ja-JP" altLang="en-US" sz="2800" dirty="0" smtClean="0"/>
              <a:t>言語では </a:t>
            </a:r>
            <a:r>
              <a:rPr lang="en-US" altLang="ja-JP" sz="2800" dirty="0" smtClean="0"/>
              <a:t>{ </a:t>
            </a:r>
            <a:r>
              <a:rPr lang="ja-JP" altLang="en-US" sz="2800" dirty="0" smtClean="0"/>
              <a:t>と </a:t>
            </a:r>
            <a:r>
              <a:rPr lang="en-US" altLang="ja-JP" sz="2800" dirty="0" smtClean="0"/>
              <a:t>} ) </a:t>
            </a:r>
            <a:r>
              <a:rPr lang="ja-JP" altLang="en-US" sz="2800" dirty="0" smtClean="0"/>
              <a:t>で囲むことにより、</a:t>
            </a:r>
            <a:r>
              <a:rPr lang="en-US" altLang="ja-JP" sz="2800" dirty="0" smtClean="0"/>
              <a:t>1</a:t>
            </a:r>
            <a:r>
              <a:rPr lang="ja-JP" altLang="en-US" sz="2800" dirty="0" err="1" smtClean="0"/>
              <a:t>つの</a:t>
            </a:r>
            <a:r>
              <a:rPr lang="ja-JP" altLang="en-US" sz="2800" dirty="0" smtClean="0"/>
              <a:t>複合文にまとめることができる。</a:t>
            </a:r>
            <a:endParaRPr lang="en-US" altLang="ja-JP" sz="2800" dirty="0" smtClean="0"/>
          </a:p>
          <a:p>
            <a:r>
              <a:rPr lang="ja-JP" altLang="en-US" sz="2800" dirty="0" smtClean="0"/>
              <a:t>（例）</a:t>
            </a:r>
            <a:r>
              <a:rPr lang="en-US" altLang="ja-JP" sz="2800" dirty="0" smtClean="0"/>
              <a:t> </a:t>
            </a:r>
            <a:r>
              <a:rPr lang="en-US" altLang="ja-JP" sz="2800" b="1" dirty="0" smtClean="0"/>
              <a:t>begin</a:t>
            </a:r>
            <a:r>
              <a:rPr lang="en-US" altLang="ja-JP" sz="2800" dirty="0" smtClean="0"/>
              <a:t> temp := x;  x := y;  y := temp </a:t>
            </a:r>
            <a:r>
              <a:rPr lang="en-US" altLang="ja-JP" sz="2800" b="1" dirty="0" smtClean="0"/>
              <a:t>end</a:t>
            </a:r>
            <a:endParaRPr lang="en-US" altLang="ja-JP" sz="2800" dirty="0" smtClean="0"/>
          </a:p>
          <a:p>
            <a:r>
              <a:rPr lang="ja-JP" altLang="en-US" sz="2800" dirty="0" smtClean="0"/>
              <a:t>複合文は、文が書けるところならどこにでも書くことができる。</a:t>
            </a:r>
            <a:r>
              <a:rPr lang="en-US" altLang="ja-JP" sz="2800" b="1" dirty="0" smtClean="0"/>
              <a:t>begin</a:t>
            </a:r>
            <a:r>
              <a:rPr lang="en-US" altLang="ja-JP" sz="2800" dirty="0" smtClean="0"/>
              <a:t>, </a:t>
            </a:r>
            <a:r>
              <a:rPr lang="en-US" altLang="ja-JP" sz="2800" b="1" dirty="0" smtClean="0"/>
              <a:t>end</a:t>
            </a:r>
            <a:r>
              <a:rPr lang="ja-JP" altLang="en-US" sz="2800" dirty="0" smtClean="0"/>
              <a:t>で囲む文は０個でもよく、</a:t>
            </a:r>
            <a:endParaRPr lang="en-US" altLang="ja-JP" sz="2800" dirty="0" smtClean="0"/>
          </a:p>
          <a:p>
            <a:r>
              <a:rPr lang="en-US" altLang="ja-JP" sz="2800" dirty="0" smtClean="0"/>
              <a:t>    </a:t>
            </a:r>
            <a:r>
              <a:rPr lang="en-US" altLang="ja-JP" sz="2800" b="1" dirty="0" smtClean="0"/>
              <a:t>begin end</a:t>
            </a:r>
          </a:p>
          <a:p>
            <a:r>
              <a:rPr lang="ja-JP" altLang="en-US" sz="2800" dirty="0" smtClean="0"/>
              <a:t>も複合文である。複合文は、それを構成する各文が</a:t>
            </a:r>
            <a:r>
              <a:rPr lang="en-US" altLang="ja-JP" sz="2800" dirty="0" smtClean="0"/>
              <a:t>single entry, single exit</a:t>
            </a:r>
            <a:r>
              <a:rPr lang="ja-JP" altLang="en-US" sz="2800" dirty="0" smtClean="0"/>
              <a:t>なら</a:t>
            </a:r>
            <a:r>
              <a:rPr lang="en-US" altLang="ja-JP" sz="2800" dirty="0" smtClean="0"/>
              <a:t>single entry, single exit</a:t>
            </a:r>
            <a:r>
              <a:rPr lang="ja-JP" altLang="en-US" sz="2800" dirty="0" smtClean="0"/>
              <a:t>である。</a:t>
            </a:r>
            <a:endParaRPr lang="en-US" altLang="ja-JP" sz="2800" dirty="0" smtClean="0"/>
          </a:p>
        </p:txBody>
      </p:sp>
      <p:sp>
        <p:nvSpPr>
          <p:cNvPr id="23" name="テキスト ボックス 22"/>
          <p:cNvSpPr txBox="1"/>
          <p:nvPr/>
        </p:nvSpPr>
        <p:spPr>
          <a:xfrm>
            <a:off x="6974452" y="2714620"/>
            <a:ext cx="1558312" cy="461665"/>
          </a:xfrm>
          <a:prstGeom prst="rect">
            <a:avLst/>
          </a:prstGeom>
          <a:noFill/>
        </p:spPr>
        <p:txBody>
          <a:bodyPr wrap="none" rtlCol="0">
            <a:spAutoFit/>
          </a:bodyPr>
          <a:lstStyle/>
          <a:p>
            <a:r>
              <a:rPr lang="en-US" altLang="ja-JP" sz="2400" dirty="0" smtClean="0"/>
              <a:t>  temp := x </a:t>
            </a:r>
          </a:p>
        </p:txBody>
      </p:sp>
      <p:cxnSp>
        <p:nvCxnSpPr>
          <p:cNvPr id="24" name="直線矢印コネクタ 23"/>
          <p:cNvCxnSpPr/>
          <p:nvPr/>
        </p:nvCxnSpPr>
        <p:spPr>
          <a:xfrm rot="5400000">
            <a:off x="7367758"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rot="5400000">
            <a:off x="7368155" y="2464587"/>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7831708" y="2000240"/>
            <a:ext cx="800219" cy="461665"/>
          </a:xfrm>
          <a:prstGeom prst="rect">
            <a:avLst/>
          </a:prstGeom>
          <a:noFill/>
        </p:spPr>
        <p:txBody>
          <a:bodyPr wrap="none" rtlCol="0">
            <a:spAutoFit/>
          </a:bodyPr>
          <a:lstStyle/>
          <a:p>
            <a:r>
              <a:rPr lang="ja-JP" altLang="en-US" sz="2400" dirty="0" smtClean="0"/>
              <a:t>入口</a:t>
            </a:r>
            <a:endParaRPr lang="en-US" altLang="ja-JP" sz="2400" dirty="0" smtClean="0"/>
          </a:p>
        </p:txBody>
      </p:sp>
      <p:sp>
        <p:nvSpPr>
          <p:cNvPr id="27" name="テキスト ボックス 26"/>
          <p:cNvSpPr txBox="1"/>
          <p:nvPr/>
        </p:nvSpPr>
        <p:spPr>
          <a:xfrm>
            <a:off x="7974584" y="5429264"/>
            <a:ext cx="800219" cy="461665"/>
          </a:xfrm>
          <a:prstGeom prst="rect">
            <a:avLst/>
          </a:prstGeom>
          <a:noFill/>
        </p:spPr>
        <p:txBody>
          <a:bodyPr wrap="none" rtlCol="0">
            <a:spAutoFit/>
          </a:bodyPr>
          <a:lstStyle/>
          <a:p>
            <a:r>
              <a:rPr lang="ja-JP" altLang="en-US" sz="2400" dirty="0" smtClean="0"/>
              <a:t>出口</a:t>
            </a:r>
            <a:endParaRPr lang="en-US" altLang="ja-JP" sz="2400" dirty="0" smtClean="0"/>
          </a:p>
        </p:txBody>
      </p:sp>
      <p:sp>
        <p:nvSpPr>
          <p:cNvPr id="28" name="テキスト ボックス 27"/>
          <p:cNvSpPr txBox="1"/>
          <p:nvPr/>
        </p:nvSpPr>
        <p:spPr>
          <a:xfrm>
            <a:off x="7117328" y="3786190"/>
            <a:ext cx="1031051" cy="461665"/>
          </a:xfrm>
          <a:prstGeom prst="rect">
            <a:avLst/>
          </a:prstGeom>
          <a:noFill/>
        </p:spPr>
        <p:txBody>
          <a:bodyPr wrap="none" rtlCol="0">
            <a:spAutoFit/>
          </a:bodyPr>
          <a:lstStyle/>
          <a:p>
            <a:r>
              <a:rPr lang="en-US" altLang="ja-JP" sz="2400" dirty="0" smtClean="0"/>
              <a:t>  x := y </a:t>
            </a:r>
          </a:p>
        </p:txBody>
      </p:sp>
      <p:cxnSp>
        <p:nvCxnSpPr>
          <p:cNvPr id="29" name="直線矢印コネクタ 28"/>
          <p:cNvCxnSpPr/>
          <p:nvPr/>
        </p:nvCxnSpPr>
        <p:spPr>
          <a:xfrm rot="5400000">
            <a:off x="7367758"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7045890" y="4786322"/>
            <a:ext cx="1564724" cy="461665"/>
          </a:xfrm>
          <a:prstGeom prst="rect">
            <a:avLst/>
          </a:prstGeom>
          <a:noFill/>
        </p:spPr>
        <p:txBody>
          <a:bodyPr wrap="none" rtlCol="0">
            <a:spAutoFit/>
          </a:bodyPr>
          <a:lstStyle/>
          <a:p>
            <a:r>
              <a:rPr lang="en-US" altLang="ja-JP" sz="2400" dirty="0" smtClean="0"/>
              <a:t>  y := temp </a:t>
            </a:r>
          </a:p>
        </p:txBody>
      </p:sp>
      <p:cxnSp>
        <p:nvCxnSpPr>
          <p:cNvPr id="31" name="直線矢印コネクタ 30"/>
          <p:cNvCxnSpPr/>
          <p:nvPr/>
        </p:nvCxnSpPr>
        <p:spPr>
          <a:xfrm rot="5400000">
            <a:off x="7367758" y="546458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条件文（</a:t>
            </a:r>
            <a:r>
              <a:rPr kumimoji="1" lang="en-US" altLang="ja-JP" dirty="0" smtClean="0"/>
              <a:t>conditional statements</a:t>
            </a:r>
            <a:r>
              <a:rPr kumimoji="1" lang="ja-JP" altLang="en-US" dirty="0" smtClean="0"/>
              <a:t>）</a:t>
            </a:r>
            <a:endParaRPr kumimoji="1" lang="ja-JP" altLang="en-US" dirty="0"/>
          </a:p>
        </p:txBody>
      </p:sp>
      <p:sp>
        <p:nvSpPr>
          <p:cNvPr id="4" name="テキスト ボックス 3"/>
          <p:cNvSpPr txBox="1"/>
          <p:nvPr/>
        </p:nvSpPr>
        <p:spPr>
          <a:xfrm>
            <a:off x="792182" y="1527470"/>
            <a:ext cx="6941900" cy="1384995"/>
          </a:xfrm>
          <a:prstGeom prst="rect">
            <a:avLst/>
          </a:prstGeom>
          <a:noFill/>
        </p:spPr>
        <p:txBody>
          <a:bodyPr wrap="none" rtlCol="0">
            <a:spAutoFit/>
          </a:bodyPr>
          <a:lstStyle/>
          <a:p>
            <a:r>
              <a:rPr lang="ja-JP" altLang="en-US" sz="2800" dirty="0" smtClean="0"/>
              <a:t>条件</a:t>
            </a:r>
            <a:r>
              <a:rPr kumimoji="1" lang="ja-JP" altLang="en-US" sz="2800" dirty="0" smtClean="0"/>
              <a:t>文は</a:t>
            </a:r>
            <a:r>
              <a:rPr kumimoji="1" lang="en-US" altLang="ja-JP" sz="2800" dirty="0" smtClean="0"/>
              <a:t>Pascal</a:t>
            </a:r>
            <a:r>
              <a:rPr kumimoji="1" lang="ja-JP" altLang="en-US" sz="2800" dirty="0" smtClean="0"/>
              <a:t>等では以下の形で書かれる。</a:t>
            </a:r>
            <a:endParaRPr kumimoji="1" lang="en-US" altLang="ja-JP" sz="2800" dirty="0" smtClean="0"/>
          </a:p>
          <a:p>
            <a:r>
              <a:rPr lang="ja-JP" altLang="en-US" sz="2800" b="1" dirty="0" smtClean="0"/>
              <a:t>   </a:t>
            </a:r>
            <a:r>
              <a:rPr kumimoji="1" lang="en-US" altLang="ja-JP" sz="2800" b="1" dirty="0" smtClean="0"/>
              <a:t> if </a:t>
            </a:r>
            <a:r>
              <a:rPr kumimoji="1" lang="ja-JP" altLang="en-US" sz="2800" dirty="0" smtClean="0"/>
              <a:t>式</a:t>
            </a:r>
            <a:r>
              <a:rPr kumimoji="1" lang="ja-JP" altLang="en-US" sz="2800" b="1" dirty="0" smtClean="0"/>
              <a:t>  </a:t>
            </a:r>
            <a:r>
              <a:rPr kumimoji="1" lang="en-US" altLang="ja-JP" sz="2800" b="1" dirty="0" smtClean="0"/>
              <a:t>then</a:t>
            </a:r>
            <a:r>
              <a:rPr kumimoji="1" lang="en-US" altLang="ja-JP" sz="2800" dirty="0" smtClean="0"/>
              <a:t> </a:t>
            </a:r>
            <a:r>
              <a:rPr kumimoji="1" lang="ja-JP" altLang="en-US" sz="2800" dirty="0" smtClean="0"/>
              <a:t>文 </a:t>
            </a:r>
            <a:r>
              <a:rPr kumimoji="1" lang="en-US" altLang="ja-JP" sz="2800" b="1" dirty="0" smtClean="0"/>
              <a:t>else</a:t>
            </a:r>
            <a:r>
              <a:rPr kumimoji="1" lang="en-US" altLang="ja-JP" sz="2800" dirty="0" smtClean="0"/>
              <a:t> </a:t>
            </a:r>
            <a:r>
              <a:rPr kumimoji="1" lang="ja-JP" altLang="en-US" sz="2800" dirty="0" smtClean="0"/>
              <a:t>文</a:t>
            </a:r>
            <a:endParaRPr kumimoji="1" lang="en-US" altLang="ja-JP" sz="2800" dirty="0" smtClean="0"/>
          </a:p>
          <a:p>
            <a:r>
              <a:rPr lang="en-US" altLang="ja-JP" sz="2800" dirty="0" smtClean="0"/>
              <a:t>    </a:t>
            </a:r>
            <a:r>
              <a:rPr lang="en-US" altLang="ja-JP" sz="2800" b="1" dirty="0" smtClean="0"/>
              <a:t>if</a:t>
            </a:r>
            <a:r>
              <a:rPr lang="en-US" altLang="ja-JP" sz="2800" dirty="0" smtClean="0"/>
              <a:t> </a:t>
            </a:r>
            <a:r>
              <a:rPr lang="ja-JP" altLang="en-US" sz="2800" dirty="0" smtClean="0"/>
              <a:t>式  </a:t>
            </a:r>
            <a:r>
              <a:rPr lang="en-US" altLang="ja-JP" sz="2800" b="1" dirty="0" smtClean="0"/>
              <a:t>then</a:t>
            </a:r>
            <a:r>
              <a:rPr lang="en-US" altLang="ja-JP" sz="2800" dirty="0" smtClean="0"/>
              <a:t> </a:t>
            </a:r>
            <a:r>
              <a:rPr lang="ja-JP" altLang="en-US" sz="2800" dirty="0" smtClean="0"/>
              <a:t>文</a:t>
            </a:r>
            <a:endParaRPr kumimoji="1" lang="en-US" altLang="ja-JP" sz="2800" dirty="0" smtClean="0"/>
          </a:p>
        </p:txBody>
      </p:sp>
      <p:cxnSp>
        <p:nvCxnSpPr>
          <p:cNvPr id="5" name="直線矢印コネクタ 4"/>
          <p:cNvCxnSpPr/>
          <p:nvPr/>
        </p:nvCxnSpPr>
        <p:spPr>
          <a:xfrm rot="5400000">
            <a:off x="6286909" y="292853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643702" y="2356636"/>
            <a:ext cx="800219" cy="461665"/>
          </a:xfrm>
          <a:prstGeom prst="rect">
            <a:avLst/>
          </a:prstGeom>
          <a:noFill/>
          <a:ln>
            <a:noFill/>
          </a:ln>
        </p:spPr>
        <p:txBody>
          <a:bodyPr wrap="none" rtlCol="0">
            <a:spAutoFit/>
          </a:bodyPr>
          <a:lstStyle/>
          <a:p>
            <a:r>
              <a:rPr lang="ja-JP" altLang="en-US" sz="2400" dirty="0" smtClean="0"/>
              <a:t>入口</a:t>
            </a:r>
            <a:endParaRPr lang="en-US" altLang="ja-JP" sz="2400" dirty="0" smtClean="0"/>
          </a:p>
        </p:txBody>
      </p:sp>
      <p:sp>
        <p:nvSpPr>
          <p:cNvPr id="7" name="テキスト ボックス 6"/>
          <p:cNvSpPr txBox="1"/>
          <p:nvPr/>
        </p:nvSpPr>
        <p:spPr>
          <a:xfrm>
            <a:off x="743986" y="2919336"/>
            <a:ext cx="4294765" cy="1384995"/>
          </a:xfrm>
          <a:prstGeom prst="rect">
            <a:avLst/>
          </a:prstGeom>
          <a:noFill/>
        </p:spPr>
        <p:txBody>
          <a:bodyPr wrap="none" rtlCol="0">
            <a:spAutoFit/>
          </a:bodyPr>
          <a:lstStyle/>
          <a:p>
            <a:r>
              <a:rPr kumimoji="1" lang="ja-JP" altLang="en-US" sz="2800" dirty="0" smtClean="0"/>
              <a:t>（例） </a:t>
            </a:r>
            <a:r>
              <a:rPr kumimoji="1" lang="en-US" altLang="ja-JP" sz="2800" b="1" dirty="0" smtClean="0"/>
              <a:t>if</a:t>
            </a:r>
            <a:r>
              <a:rPr kumimoji="1" lang="en-US" altLang="ja-JP" sz="2800" dirty="0" smtClean="0"/>
              <a:t> x=0 </a:t>
            </a:r>
            <a:r>
              <a:rPr kumimoji="1" lang="en-US" altLang="ja-JP" sz="2800" b="1" dirty="0" smtClean="0"/>
              <a:t>then</a:t>
            </a:r>
            <a:r>
              <a:rPr kumimoji="1" lang="en-US" altLang="ja-JP" sz="2800" dirty="0" smtClean="0"/>
              <a:t> </a:t>
            </a:r>
          </a:p>
          <a:p>
            <a:r>
              <a:rPr lang="en-US" altLang="ja-JP" sz="2800" dirty="0" smtClean="0"/>
              <a:t>              </a:t>
            </a:r>
            <a:r>
              <a:rPr lang="en-US" altLang="ja-JP" sz="2800" b="1" dirty="0" smtClean="0"/>
              <a:t>begin</a:t>
            </a:r>
            <a:r>
              <a:rPr lang="en-US" altLang="ja-JP" sz="2800" dirty="0" smtClean="0"/>
              <a:t> </a:t>
            </a:r>
            <a:r>
              <a:rPr kumimoji="1" lang="en-US" altLang="ja-JP" sz="2800" dirty="0" smtClean="0"/>
              <a:t>x:=1; y:=3 </a:t>
            </a:r>
            <a:r>
              <a:rPr kumimoji="1" lang="en-US" altLang="ja-JP" sz="2800" b="1" dirty="0" smtClean="0"/>
              <a:t>end</a:t>
            </a:r>
          </a:p>
          <a:p>
            <a:r>
              <a:rPr lang="en-US" altLang="ja-JP" sz="2800" b="1" dirty="0" smtClean="0"/>
              <a:t>          </a:t>
            </a:r>
            <a:r>
              <a:rPr kumimoji="1" lang="en-US" altLang="ja-JP" sz="2800" b="1" dirty="0" smtClean="0"/>
              <a:t>else</a:t>
            </a:r>
            <a:r>
              <a:rPr kumimoji="1" lang="en-US" altLang="ja-JP" sz="2800" dirty="0" smtClean="0"/>
              <a:t> x:=2</a:t>
            </a:r>
            <a:endParaRPr kumimoji="1" lang="ja-JP" altLang="en-US" sz="2800" dirty="0"/>
          </a:p>
        </p:txBody>
      </p:sp>
      <p:sp>
        <p:nvSpPr>
          <p:cNvPr id="8" name="ひし形 7"/>
          <p:cNvSpPr/>
          <p:nvPr/>
        </p:nvSpPr>
        <p:spPr>
          <a:xfrm>
            <a:off x="5857884" y="32146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11" name="図形 10"/>
          <p:cNvCxnSpPr>
            <a:stCxn id="8" idx="1"/>
          </p:cNvCxnSpPr>
          <p:nvPr/>
        </p:nvCxnSpPr>
        <p:spPr>
          <a:xfrm rot="10800000" flipV="1">
            <a:off x="5429256"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図形 12"/>
          <p:cNvCxnSpPr>
            <a:stCxn id="8" idx="3"/>
          </p:cNvCxnSpPr>
          <p:nvPr/>
        </p:nvCxnSpPr>
        <p:spPr>
          <a:xfrm>
            <a:off x="7286644"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5004581" y="4201171"/>
            <a:ext cx="880369" cy="523220"/>
          </a:xfrm>
          <a:prstGeom prst="rect">
            <a:avLst/>
          </a:prstGeom>
          <a:noFill/>
          <a:ln>
            <a:noFill/>
          </a:ln>
        </p:spPr>
        <p:txBody>
          <a:bodyPr wrap="none" rtlCol="0">
            <a:spAutoFit/>
          </a:bodyPr>
          <a:lstStyle/>
          <a:p>
            <a:r>
              <a:rPr lang="en-US" altLang="ja-JP" sz="2800" dirty="0" smtClean="0"/>
              <a:t> x:=1</a:t>
            </a:r>
          </a:p>
        </p:txBody>
      </p:sp>
      <p:sp>
        <p:nvSpPr>
          <p:cNvPr id="15" name="テキスト ボックス 14"/>
          <p:cNvSpPr txBox="1"/>
          <p:nvPr/>
        </p:nvSpPr>
        <p:spPr>
          <a:xfrm>
            <a:off x="7276947" y="4228466"/>
            <a:ext cx="880369" cy="523220"/>
          </a:xfrm>
          <a:prstGeom prst="rect">
            <a:avLst/>
          </a:prstGeom>
          <a:noFill/>
          <a:ln>
            <a:noFill/>
          </a:ln>
        </p:spPr>
        <p:txBody>
          <a:bodyPr wrap="none" rtlCol="0">
            <a:spAutoFit/>
          </a:bodyPr>
          <a:lstStyle/>
          <a:p>
            <a:r>
              <a:rPr lang="en-US" altLang="ja-JP" sz="2800" dirty="0" smtClean="0"/>
              <a:t> x:=2</a:t>
            </a:r>
          </a:p>
        </p:txBody>
      </p:sp>
      <p:cxnSp>
        <p:nvCxnSpPr>
          <p:cNvPr id="17" name="図形 16"/>
          <p:cNvCxnSpPr/>
          <p:nvPr/>
        </p:nvCxnSpPr>
        <p:spPr>
          <a:xfrm rot="16200000" flipH="1">
            <a:off x="5751396" y="525511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p:nvPr/>
        </p:nvCxnSpPr>
        <p:spPr>
          <a:xfrm rot="5400000">
            <a:off x="6254825" y="633002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610360" y="6314447"/>
            <a:ext cx="960519" cy="461665"/>
          </a:xfrm>
          <a:prstGeom prst="rect">
            <a:avLst/>
          </a:prstGeom>
          <a:noFill/>
          <a:ln>
            <a:noFill/>
          </a:ln>
        </p:spPr>
        <p:txBody>
          <a:bodyPr wrap="none" rtlCol="0">
            <a:spAutoFit/>
          </a:bodyPr>
          <a:lstStyle/>
          <a:p>
            <a:r>
              <a:rPr lang="ja-JP" altLang="en-US" sz="2400" dirty="0" smtClean="0"/>
              <a:t>出口</a:t>
            </a:r>
            <a:r>
              <a:rPr lang="en-US" altLang="ja-JP" sz="2400" dirty="0" smtClean="0"/>
              <a:t>X</a:t>
            </a:r>
          </a:p>
        </p:txBody>
      </p:sp>
      <p:sp>
        <p:nvSpPr>
          <p:cNvPr id="24" name="テキスト ボックス 23"/>
          <p:cNvSpPr txBox="1"/>
          <p:nvPr/>
        </p:nvSpPr>
        <p:spPr>
          <a:xfrm>
            <a:off x="743991" y="4373045"/>
            <a:ext cx="3286148" cy="2246769"/>
          </a:xfrm>
          <a:prstGeom prst="rect">
            <a:avLst/>
          </a:prstGeom>
          <a:noFill/>
        </p:spPr>
        <p:txBody>
          <a:bodyPr wrap="square" rtlCol="0">
            <a:spAutoFit/>
          </a:bodyPr>
          <a:lstStyle/>
          <a:p>
            <a:r>
              <a:rPr kumimoji="1" lang="en-US" altLang="ja-JP" sz="2800" dirty="0" smtClean="0"/>
              <a:t>if</a:t>
            </a:r>
            <a:r>
              <a:rPr kumimoji="1" lang="ja-JP" altLang="en-US" sz="2800" dirty="0" smtClean="0"/>
              <a:t>文も、</a:t>
            </a:r>
            <a:r>
              <a:rPr kumimoji="1" lang="en-US" altLang="ja-JP" sz="2800" dirty="0" smtClean="0"/>
              <a:t>then</a:t>
            </a:r>
            <a:r>
              <a:rPr kumimoji="1" lang="ja-JP" altLang="en-US" sz="2800" dirty="0" smtClean="0"/>
              <a:t>パートの文と</a:t>
            </a:r>
            <a:r>
              <a:rPr kumimoji="1" lang="en-US" altLang="ja-JP" sz="2800" dirty="0" smtClean="0"/>
              <a:t>else</a:t>
            </a:r>
            <a:r>
              <a:rPr kumimoji="1" lang="ja-JP" altLang="en-US" sz="2800" dirty="0" smtClean="0"/>
              <a:t>パートの文が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en-US" altLang="ja-JP" sz="2800" dirty="0" smtClean="0"/>
          </a:p>
        </p:txBody>
      </p:sp>
      <p:sp>
        <p:nvSpPr>
          <p:cNvPr id="28" name="テキスト ボックス 27"/>
          <p:cNvSpPr txBox="1"/>
          <p:nvPr/>
        </p:nvSpPr>
        <p:spPr>
          <a:xfrm>
            <a:off x="5442904" y="318739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9" name="テキスト ボックス 28"/>
          <p:cNvSpPr txBox="1"/>
          <p:nvPr/>
        </p:nvSpPr>
        <p:spPr>
          <a:xfrm>
            <a:off x="7187910" y="3187390"/>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20" name="直線矢印コネクタ 19"/>
          <p:cNvCxnSpPr/>
          <p:nvPr/>
        </p:nvCxnSpPr>
        <p:spPr>
          <a:xfrm rot="5400000">
            <a:off x="5197759" y="489073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4848595" y="5100220"/>
            <a:ext cx="1213794" cy="523220"/>
          </a:xfrm>
          <a:prstGeom prst="rect">
            <a:avLst/>
          </a:prstGeom>
          <a:noFill/>
        </p:spPr>
        <p:txBody>
          <a:bodyPr wrap="none" rtlCol="0">
            <a:spAutoFit/>
          </a:bodyPr>
          <a:lstStyle/>
          <a:p>
            <a:r>
              <a:rPr lang="en-US" altLang="ja-JP" sz="2800" dirty="0" smtClean="0"/>
              <a:t>  y := 3 </a:t>
            </a:r>
          </a:p>
        </p:txBody>
      </p:sp>
      <p:cxnSp>
        <p:nvCxnSpPr>
          <p:cNvPr id="26" name="直線コネクタ 25"/>
          <p:cNvCxnSpPr/>
          <p:nvPr/>
        </p:nvCxnSpPr>
        <p:spPr>
          <a:xfrm rot="16200000" flipH="1">
            <a:off x="7101042" y="538142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0800000" flipV="1">
            <a:off x="6537284" y="6045957"/>
            <a:ext cx="1228292"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e</a:t>
            </a:r>
            <a:r>
              <a:rPr kumimoji="1" lang="en-US" altLang="ja-JP" dirty="0" smtClean="0"/>
              <a:t>lse</a:t>
            </a:r>
            <a:r>
              <a:rPr kumimoji="1" lang="ja-JP" altLang="en-US" dirty="0" smtClean="0"/>
              <a:t>パート無しの</a:t>
            </a:r>
            <a:r>
              <a:rPr lang="ja-JP" altLang="en-US" dirty="0" smtClean="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smtClean="0"/>
              <a:t>（例） </a:t>
            </a:r>
            <a:r>
              <a:rPr lang="en-US" altLang="ja-JP" sz="2800" b="1" dirty="0" smtClean="0"/>
              <a:t>if</a:t>
            </a:r>
            <a:r>
              <a:rPr lang="en-US" altLang="ja-JP" sz="2800" dirty="0" smtClean="0"/>
              <a:t> x=0 </a:t>
            </a:r>
            <a:r>
              <a:rPr lang="en-US" altLang="ja-JP" sz="2800" b="1" dirty="0" smtClean="0"/>
              <a:t>then</a:t>
            </a:r>
            <a:r>
              <a:rPr lang="en-US" altLang="ja-JP" sz="2800" dirty="0" smtClean="0"/>
              <a:t> </a:t>
            </a:r>
          </a:p>
          <a:p>
            <a:r>
              <a:rPr lang="en-US" altLang="ja-JP" sz="2800" dirty="0" smtClean="0"/>
              <a:t>              </a:t>
            </a:r>
            <a:r>
              <a:rPr lang="en-US" altLang="ja-JP" sz="2800" b="1" dirty="0" smtClean="0"/>
              <a:t>begin</a:t>
            </a:r>
            <a:r>
              <a:rPr lang="en-US" altLang="ja-JP" sz="2800" dirty="0" smtClean="0"/>
              <a:t> </a:t>
            </a:r>
          </a:p>
          <a:p>
            <a:r>
              <a:rPr lang="en-US" altLang="ja-JP" sz="2800" dirty="0" smtClean="0"/>
              <a:t>                 x:=1;</a:t>
            </a:r>
          </a:p>
          <a:p>
            <a:r>
              <a:rPr lang="en-US" altLang="ja-JP" sz="2800" dirty="0" smtClean="0"/>
              <a:t>                 y:=3</a:t>
            </a:r>
          </a:p>
          <a:p>
            <a:r>
              <a:rPr lang="en-US" altLang="ja-JP" sz="2800" dirty="0" smtClean="0"/>
              <a:t>              </a:t>
            </a:r>
            <a:r>
              <a:rPr lang="en-US" altLang="ja-JP" sz="2800" b="1" dirty="0" smtClean="0"/>
              <a:t>end</a:t>
            </a:r>
          </a:p>
        </p:txBody>
      </p:sp>
      <p:cxnSp>
        <p:nvCxnSpPr>
          <p:cNvPr id="5" name="直線矢印コネクタ 4"/>
          <p:cNvCxnSpPr/>
          <p:nvPr/>
        </p:nvCxnSpPr>
        <p:spPr>
          <a:xfrm rot="5400000">
            <a:off x="6082192"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438985" y="1769783"/>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653167"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8" name="図形 7"/>
          <p:cNvCxnSpPr>
            <a:stCxn id="7" idx="1"/>
          </p:cNvCxnSpPr>
          <p:nvPr/>
        </p:nvCxnSpPr>
        <p:spPr>
          <a:xfrm rot="10800000" flipV="1">
            <a:off x="5224539"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27158" y="3559725"/>
            <a:ext cx="880369" cy="523220"/>
          </a:xfrm>
          <a:prstGeom prst="rect">
            <a:avLst/>
          </a:prstGeom>
          <a:noFill/>
          <a:ln>
            <a:noFill/>
          </a:ln>
        </p:spPr>
        <p:txBody>
          <a:bodyPr wrap="none" rtlCol="0">
            <a:spAutoFit/>
          </a:bodyPr>
          <a:lstStyle/>
          <a:p>
            <a:r>
              <a:rPr lang="en-US" altLang="ja-JP" sz="2800" dirty="0" smtClean="0"/>
              <a:t> x:=1</a:t>
            </a:r>
          </a:p>
        </p:txBody>
      </p:sp>
      <p:cxnSp>
        <p:nvCxnSpPr>
          <p:cNvPr id="12" name="図形 11"/>
          <p:cNvCxnSpPr/>
          <p:nvPr/>
        </p:nvCxnSpPr>
        <p:spPr>
          <a:xfrm rot="16200000" flipH="1">
            <a:off x="5546679"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050108"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364699" y="578652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238187" y="2600537"/>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17" name="テキスト ボックス 16"/>
          <p:cNvSpPr txBox="1"/>
          <p:nvPr/>
        </p:nvSpPr>
        <p:spPr>
          <a:xfrm>
            <a:off x="6996841" y="2600537"/>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18" name="直線矢印コネクタ 17"/>
          <p:cNvCxnSpPr/>
          <p:nvPr/>
        </p:nvCxnSpPr>
        <p:spPr>
          <a:xfrm rot="5400000">
            <a:off x="4993042"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643878" y="4486070"/>
            <a:ext cx="1213794" cy="523220"/>
          </a:xfrm>
          <a:prstGeom prst="rect">
            <a:avLst/>
          </a:prstGeom>
          <a:noFill/>
        </p:spPr>
        <p:txBody>
          <a:bodyPr wrap="none" rtlCol="0">
            <a:spAutoFit/>
          </a:bodyPr>
          <a:lstStyle/>
          <a:p>
            <a:r>
              <a:rPr lang="en-US" altLang="ja-JP" sz="2800" dirty="0" smtClean="0"/>
              <a:t>  y := 3 </a:t>
            </a:r>
          </a:p>
        </p:txBody>
      </p:sp>
      <p:cxnSp>
        <p:nvCxnSpPr>
          <p:cNvPr id="22" name="直線コネクタ 21"/>
          <p:cNvCxnSpPr/>
          <p:nvPr/>
        </p:nvCxnSpPr>
        <p:spPr>
          <a:xfrm>
            <a:off x="6332561"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rot="16200000" flipV="1">
            <a:off x="6400802"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3"/>
          </p:cNvCxnSpPr>
          <p:nvPr/>
        </p:nvCxnSpPr>
        <p:spPr>
          <a:xfrm rot="10800000">
            <a:off x="7081927"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繰り返し文（</a:t>
            </a:r>
            <a:r>
              <a:rPr lang="en-US" altLang="ja-JP" dirty="0" smtClean="0"/>
              <a:t>loop</a:t>
            </a:r>
            <a:r>
              <a:rPr lang="ja-JP" altLang="en-US" dirty="0" smtClean="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smtClean="0"/>
              <a:t> </a:t>
            </a:r>
            <a:r>
              <a:rPr lang="ja-JP" altLang="en-US" sz="2800" dirty="0" smtClean="0"/>
              <a:t>繰り返し文は</a:t>
            </a:r>
            <a:r>
              <a:rPr lang="en-US" altLang="ja-JP" sz="2800" dirty="0" smtClean="0"/>
              <a:t>Pascal</a:t>
            </a:r>
            <a:r>
              <a:rPr lang="ja-JP" altLang="en-US" sz="2800" dirty="0" smtClean="0"/>
              <a:t>等では以下の形で書かれる。</a:t>
            </a:r>
            <a:endParaRPr lang="en-US" altLang="ja-JP" sz="2800" dirty="0" smtClean="0"/>
          </a:p>
          <a:p>
            <a:r>
              <a:rPr kumimoji="1" lang="en-US" altLang="ja-JP" sz="2800" dirty="0" smtClean="0"/>
              <a:t>    </a:t>
            </a:r>
            <a:r>
              <a:rPr kumimoji="1" lang="en-US" altLang="ja-JP" sz="2800" b="1" dirty="0" smtClean="0"/>
              <a:t>while</a:t>
            </a:r>
            <a:r>
              <a:rPr kumimoji="1" lang="en-US" altLang="ja-JP" sz="2800" dirty="0" smtClean="0"/>
              <a:t> </a:t>
            </a:r>
            <a:r>
              <a:rPr kumimoji="1" lang="ja-JP" altLang="en-US" sz="2800" dirty="0" smtClean="0"/>
              <a:t>式 </a:t>
            </a:r>
            <a:r>
              <a:rPr kumimoji="1" lang="en-US" altLang="ja-JP" sz="2800" b="1" dirty="0" smtClean="0"/>
              <a:t>do</a:t>
            </a:r>
            <a:r>
              <a:rPr kumimoji="1" lang="en-US" altLang="ja-JP" sz="2800" dirty="0" smtClean="0"/>
              <a:t> </a:t>
            </a:r>
            <a:r>
              <a:rPr kumimoji="1" lang="ja-JP" altLang="en-US" sz="2800" dirty="0" smtClean="0"/>
              <a:t>文</a:t>
            </a:r>
            <a:endParaRPr kumimoji="1" lang="ja-JP" altLang="en-US" sz="2800" dirty="0"/>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smtClean="0"/>
              <a:t>（例） </a:t>
            </a:r>
            <a:r>
              <a:rPr kumimoji="1" lang="en-US" altLang="ja-JP" sz="2800" dirty="0" smtClean="0"/>
              <a:t>while x &gt; 0 do x := x-1</a:t>
            </a:r>
            <a:endParaRPr kumimoji="1" lang="ja-JP" altLang="en-US" sz="2800" dirty="0"/>
          </a:p>
        </p:txBody>
      </p:sp>
      <p:cxnSp>
        <p:nvCxnSpPr>
          <p:cNvPr id="6" name="直線矢印コネクタ 5"/>
          <p:cNvCxnSpPr/>
          <p:nvPr/>
        </p:nvCxnSpPr>
        <p:spPr>
          <a:xfrm rot="5400000">
            <a:off x="6405987" y="2647317"/>
            <a:ext cx="690507" cy="880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6763685" y="197515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8" name="ひし形 7"/>
          <p:cNvSpPr/>
          <p:nvPr/>
        </p:nvSpPr>
        <p:spPr>
          <a:xfrm>
            <a:off x="600076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10" name="図形 9"/>
          <p:cNvCxnSpPr>
            <a:stCxn id="8" idx="3"/>
          </p:cNvCxnSpPr>
          <p:nvPr/>
        </p:nvCxnSpPr>
        <p:spPr>
          <a:xfrm>
            <a:off x="7461218" y="3354163"/>
            <a:ext cx="454483" cy="243248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p:nvPr/>
        </p:nvCxnSpPr>
        <p:spPr>
          <a:xfrm rot="5400000">
            <a:off x="639446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064946" y="4319092"/>
            <a:ext cx="1309974" cy="523220"/>
          </a:xfrm>
          <a:prstGeom prst="rect">
            <a:avLst/>
          </a:prstGeom>
          <a:noFill/>
        </p:spPr>
        <p:txBody>
          <a:bodyPr wrap="none" rtlCol="0">
            <a:spAutoFit/>
          </a:bodyPr>
          <a:lstStyle/>
          <a:p>
            <a:r>
              <a:rPr kumimoji="1" lang="en-US" altLang="ja-JP" sz="2800" dirty="0" smtClean="0"/>
              <a:t> x := x-1</a:t>
            </a:r>
            <a:endParaRPr kumimoji="1" lang="ja-JP" altLang="en-US" sz="2800" dirty="0"/>
          </a:p>
        </p:txBody>
      </p:sp>
      <p:cxnSp>
        <p:nvCxnSpPr>
          <p:cNvPr id="41" name="図形 40"/>
          <p:cNvCxnSpPr/>
          <p:nvPr/>
        </p:nvCxnSpPr>
        <p:spPr>
          <a:xfrm rot="5400000">
            <a:off x="589427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5400000" flipH="1" flipV="1">
            <a:off x="4227601" y="4002642"/>
            <a:ext cx="2613784" cy="13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a:off x="5540991" y="267495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rot="10800000">
            <a:off x="6728347" y="5786646"/>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rot="5400000">
            <a:off x="6448568" y="603912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テキスト ボックス 61"/>
          <p:cNvSpPr txBox="1"/>
          <p:nvPr/>
        </p:nvSpPr>
        <p:spPr>
          <a:xfrm>
            <a:off x="6289065" y="3665056"/>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63" name="テキスト ボックス 62"/>
          <p:cNvSpPr txBox="1"/>
          <p:nvPr/>
        </p:nvSpPr>
        <p:spPr>
          <a:xfrm>
            <a:off x="7378979" y="2982668"/>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64" name="テキスト ボックス 63"/>
          <p:cNvSpPr txBox="1"/>
          <p:nvPr/>
        </p:nvSpPr>
        <p:spPr>
          <a:xfrm>
            <a:off x="5818791" y="604581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65" name="テキスト ボックス 64"/>
          <p:cNvSpPr txBox="1"/>
          <p:nvPr/>
        </p:nvSpPr>
        <p:spPr>
          <a:xfrm>
            <a:off x="777922" y="4476465"/>
            <a:ext cx="3835021" cy="1815882"/>
          </a:xfrm>
          <a:prstGeom prst="rect">
            <a:avLst/>
          </a:prstGeom>
          <a:noFill/>
        </p:spPr>
        <p:txBody>
          <a:bodyPr wrap="square" rtlCol="0">
            <a:spAutoFit/>
          </a:bodyPr>
          <a:lstStyle/>
          <a:p>
            <a:r>
              <a:rPr kumimoji="1" lang="en-US" altLang="ja-JP" sz="2800" dirty="0" smtClean="0"/>
              <a:t>while</a:t>
            </a:r>
            <a:r>
              <a:rPr kumimoji="1" lang="ja-JP" altLang="en-US" sz="2800" dirty="0" smtClean="0"/>
              <a:t>文も、本体の文が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smtClean="0"/>
              <a:t>選択文</a:t>
            </a:r>
            <a:endParaRPr kumimoji="1" lang="ja-JP" altLang="en-US" sz="4000" dirty="0"/>
          </a:p>
        </p:txBody>
      </p:sp>
      <p:sp>
        <p:nvSpPr>
          <p:cNvPr id="3" name="テキスト ボックス 2"/>
          <p:cNvSpPr txBox="1"/>
          <p:nvPr/>
        </p:nvSpPr>
        <p:spPr>
          <a:xfrm>
            <a:off x="586833" y="1009933"/>
            <a:ext cx="5892960" cy="3539430"/>
          </a:xfrm>
          <a:prstGeom prst="rect">
            <a:avLst/>
          </a:prstGeom>
          <a:noFill/>
        </p:spPr>
        <p:txBody>
          <a:bodyPr wrap="none" rtlCol="0">
            <a:spAutoFit/>
          </a:bodyPr>
          <a:lstStyle/>
          <a:p>
            <a:r>
              <a:rPr kumimoji="1" lang="ja-JP" altLang="en-US" sz="2800" dirty="0" smtClean="0"/>
              <a:t>選択文は以下のような形で書かれる。</a:t>
            </a:r>
            <a:endParaRPr kumimoji="1" lang="en-US" altLang="ja-JP" sz="2800" dirty="0" smtClean="0"/>
          </a:p>
          <a:p>
            <a:r>
              <a:rPr lang="en-US" altLang="ja-JP" sz="2800" dirty="0" smtClean="0"/>
              <a:t>    </a:t>
            </a:r>
            <a:r>
              <a:rPr lang="en-US" altLang="ja-JP" sz="2800" b="1" dirty="0" smtClean="0"/>
              <a:t>case</a:t>
            </a:r>
            <a:r>
              <a:rPr lang="en-US" altLang="ja-JP" sz="2800" dirty="0" smtClean="0"/>
              <a:t> </a:t>
            </a:r>
            <a:r>
              <a:rPr lang="ja-JP" altLang="en-US" sz="2800" dirty="0" smtClean="0"/>
              <a:t>式 </a:t>
            </a:r>
            <a:r>
              <a:rPr lang="en-US" altLang="ja-JP" sz="2800" b="1" dirty="0" smtClean="0"/>
              <a:t>of</a:t>
            </a:r>
          </a:p>
          <a:p>
            <a:r>
              <a:rPr kumimoji="1" lang="en-US" altLang="ja-JP" sz="2800" dirty="0" smtClean="0"/>
              <a:t>        constant1 : </a:t>
            </a:r>
            <a:r>
              <a:rPr kumimoji="1" lang="ja-JP" altLang="en-US" sz="2800" dirty="0" smtClean="0"/>
              <a:t>文</a:t>
            </a:r>
            <a:r>
              <a:rPr kumimoji="1" lang="en-US" altLang="ja-JP" sz="2800" dirty="0" smtClean="0"/>
              <a:t>1</a:t>
            </a:r>
          </a:p>
          <a:p>
            <a:r>
              <a:rPr lang="en-US" altLang="ja-JP" sz="2800" dirty="0" smtClean="0"/>
              <a:t>        constant2 : </a:t>
            </a:r>
            <a:r>
              <a:rPr lang="ja-JP" altLang="en-US" sz="2800" dirty="0" smtClean="0"/>
              <a:t>文</a:t>
            </a:r>
            <a:r>
              <a:rPr lang="en-US" altLang="ja-JP" sz="2800" dirty="0" smtClean="0"/>
              <a:t>2</a:t>
            </a:r>
          </a:p>
          <a:p>
            <a:r>
              <a:rPr kumimoji="1" lang="en-US" altLang="ja-JP" sz="2800" dirty="0" smtClean="0"/>
              <a:t>        …</a:t>
            </a:r>
          </a:p>
          <a:p>
            <a:r>
              <a:rPr lang="en-US" altLang="ja-JP" sz="2800" dirty="0" smtClean="0"/>
              <a:t>        </a:t>
            </a:r>
            <a:r>
              <a:rPr lang="en-US" altLang="ja-JP" sz="2800" dirty="0" err="1" smtClean="0"/>
              <a:t>constantn</a:t>
            </a:r>
            <a:r>
              <a:rPr lang="en-US" altLang="ja-JP" sz="2800" dirty="0" smtClean="0"/>
              <a:t> : </a:t>
            </a:r>
            <a:r>
              <a:rPr lang="ja-JP" altLang="en-US" sz="2800" dirty="0" smtClean="0"/>
              <a:t>文</a:t>
            </a:r>
            <a:r>
              <a:rPr lang="en-US" altLang="ja-JP" sz="2800" dirty="0" smtClean="0"/>
              <a:t>n</a:t>
            </a:r>
          </a:p>
          <a:p>
            <a:r>
              <a:rPr kumimoji="1" lang="en-US" altLang="ja-JP" sz="2800" dirty="0" smtClean="0"/>
              <a:t>    </a:t>
            </a:r>
            <a:r>
              <a:rPr kumimoji="1" lang="en-US" altLang="ja-JP" sz="2800" b="1" dirty="0" smtClean="0"/>
              <a:t>end</a:t>
            </a:r>
          </a:p>
          <a:p>
            <a:r>
              <a:rPr lang="ja-JP" altLang="en-US" sz="2800" dirty="0" smtClean="0"/>
              <a:t>（</a:t>
            </a:r>
            <a:r>
              <a:rPr lang="en-US" altLang="ja-JP" sz="2800" dirty="0" smtClean="0"/>
              <a:t>C</a:t>
            </a:r>
            <a:r>
              <a:rPr lang="ja-JP" altLang="en-US" sz="2800" dirty="0" smtClean="0"/>
              <a:t>では選択文は</a:t>
            </a:r>
            <a:r>
              <a:rPr lang="en-US" altLang="ja-JP" sz="2800" dirty="0" smtClean="0"/>
              <a:t>switch</a:t>
            </a:r>
            <a:r>
              <a:rPr lang="ja-JP" altLang="en-US" sz="2800" dirty="0" smtClean="0"/>
              <a:t>文）</a:t>
            </a:r>
            <a:endParaRPr lang="en-US" altLang="ja-JP" sz="2800" dirty="0" smtClean="0"/>
          </a:p>
        </p:txBody>
      </p:sp>
      <p:sp>
        <p:nvSpPr>
          <p:cNvPr id="4" name="テキスト ボックス 3"/>
          <p:cNvSpPr txBox="1"/>
          <p:nvPr/>
        </p:nvSpPr>
        <p:spPr>
          <a:xfrm>
            <a:off x="573207" y="4542991"/>
            <a:ext cx="3156633" cy="2246769"/>
          </a:xfrm>
          <a:prstGeom prst="rect">
            <a:avLst/>
          </a:prstGeom>
          <a:noFill/>
        </p:spPr>
        <p:txBody>
          <a:bodyPr wrap="none" rtlCol="0">
            <a:spAutoFit/>
          </a:bodyPr>
          <a:lstStyle/>
          <a:p>
            <a:r>
              <a:rPr lang="ja-JP" altLang="en-US" sz="2800" dirty="0" smtClean="0"/>
              <a:t>（例） </a:t>
            </a:r>
            <a:r>
              <a:rPr lang="en-US" altLang="ja-JP" sz="2800" b="1" dirty="0" smtClean="0"/>
              <a:t>case</a:t>
            </a:r>
            <a:r>
              <a:rPr lang="en-US" altLang="ja-JP" sz="2800" dirty="0" smtClean="0"/>
              <a:t> x </a:t>
            </a:r>
            <a:r>
              <a:rPr lang="en-US" altLang="ja-JP" sz="2800" b="1" dirty="0" smtClean="0"/>
              <a:t>of</a:t>
            </a:r>
          </a:p>
          <a:p>
            <a:r>
              <a:rPr kumimoji="1" lang="en-US" altLang="ja-JP" sz="2800" dirty="0" smtClean="0"/>
              <a:t>              1 : y:=x; x:=0</a:t>
            </a:r>
          </a:p>
          <a:p>
            <a:r>
              <a:rPr lang="en-US" altLang="ja-JP" sz="2800" dirty="0" smtClean="0"/>
              <a:t>              2:  y:=x+1</a:t>
            </a:r>
          </a:p>
          <a:p>
            <a:r>
              <a:rPr lang="en-US" altLang="ja-JP" sz="2800" dirty="0" smtClean="0"/>
              <a:t>              4:  y:=x+2</a:t>
            </a:r>
          </a:p>
          <a:p>
            <a:r>
              <a:rPr kumimoji="1" lang="en-US" altLang="ja-JP" sz="2800" dirty="0" smtClean="0"/>
              <a:t>          </a:t>
            </a:r>
            <a:r>
              <a:rPr kumimoji="1" lang="en-US" altLang="ja-JP" sz="2800" b="1" dirty="0" smtClean="0"/>
              <a:t>end</a:t>
            </a:r>
          </a:p>
        </p:txBody>
      </p:sp>
      <p:cxnSp>
        <p:nvCxnSpPr>
          <p:cNvPr id="5" name="直線矢印コネクタ 4"/>
          <p:cNvCxnSpPr/>
          <p:nvPr/>
        </p:nvCxnSpPr>
        <p:spPr>
          <a:xfrm rot="5400000">
            <a:off x="6232318" y="2560041"/>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575463" y="198814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4977283" y="3832674"/>
            <a:ext cx="941283" cy="523220"/>
          </a:xfrm>
          <a:prstGeom prst="rect">
            <a:avLst/>
          </a:prstGeom>
          <a:noFill/>
          <a:ln>
            <a:noFill/>
          </a:ln>
        </p:spPr>
        <p:txBody>
          <a:bodyPr wrap="none" rtlCol="0">
            <a:spAutoFit/>
          </a:bodyPr>
          <a:lstStyle/>
          <a:p>
            <a:r>
              <a:rPr lang="en-US" altLang="ja-JP" sz="2800" dirty="0" smtClean="0"/>
              <a:t>y := x</a:t>
            </a:r>
          </a:p>
        </p:txBody>
      </p:sp>
      <p:sp>
        <p:nvSpPr>
          <p:cNvPr id="11" name="テキスト ボックス 10"/>
          <p:cNvSpPr txBox="1"/>
          <p:nvPr/>
        </p:nvSpPr>
        <p:spPr>
          <a:xfrm>
            <a:off x="7044931" y="3846322"/>
            <a:ext cx="1385316" cy="523220"/>
          </a:xfrm>
          <a:prstGeom prst="rect">
            <a:avLst/>
          </a:prstGeom>
          <a:noFill/>
          <a:ln>
            <a:noFill/>
          </a:ln>
        </p:spPr>
        <p:txBody>
          <a:bodyPr wrap="none" rtlCol="0">
            <a:spAutoFit/>
          </a:bodyPr>
          <a:lstStyle/>
          <a:p>
            <a:r>
              <a:rPr lang="en-US" altLang="ja-JP" sz="2800" dirty="0" smtClean="0"/>
              <a:t> y := x+2</a:t>
            </a:r>
          </a:p>
        </p:txBody>
      </p:sp>
      <p:cxnSp>
        <p:nvCxnSpPr>
          <p:cNvPr id="12" name="図形 11"/>
          <p:cNvCxnSpPr/>
          <p:nvPr/>
        </p:nvCxnSpPr>
        <p:spPr>
          <a:xfrm rot="16200000" flipH="1">
            <a:off x="5751396" y="4886614"/>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図形 18"/>
          <p:cNvCxnSpPr>
            <a:stCxn id="11" idx="2"/>
          </p:cNvCxnSpPr>
          <p:nvPr/>
        </p:nvCxnSpPr>
        <p:spPr>
          <a:xfrm rot="5400000">
            <a:off x="6322187" y="4260380"/>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254825" y="5961524"/>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5702216" y="283254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16" name="テキスト ボックス 15"/>
          <p:cNvSpPr txBox="1"/>
          <p:nvPr/>
        </p:nvSpPr>
        <p:spPr>
          <a:xfrm>
            <a:off x="7010486" y="281889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cxnSp>
        <p:nvCxnSpPr>
          <p:cNvPr id="17" name="直線矢印コネクタ 16"/>
          <p:cNvCxnSpPr/>
          <p:nvPr/>
        </p:nvCxnSpPr>
        <p:spPr>
          <a:xfrm rot="5400000">
            <a:off x="5197759" y="4522237"/>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4848595" y="4718075"/>
            <a:ext cx="1207382" cy="523220"/>
          </a:xfrm>
          <a:prstGeom prst="rect">
            <a:avLst/>
          </a:prstGeom>
          <a:noFill/>
        </p:spPr>
        <p:txBody>
          <a:bodyPr wrap="none" rtlCol="0">
            <a:spAutoFit/>
          </a:bodyPr>
          <a:lstStyle/>
          <a:p>
            <a:r>
              <a:rPr lang="en-US" altLang="ja-JP" sz="2800" dirty="0" smtClean="0"/>
              <a:t>  x := 0 </a:t>
            </a:r>
          </a:p>
        </p:txBody>
      </p:sp>
      <p:sp>
        <p:nvSpPr>
          <p:cNvPr id="19" name="円/楕円 18"/>
          <p:cNvSpPr/>
          <p:nvPr/>
        </p:nvSpPr>
        <p:spPr>
          <a:xfrm>
            <a:off x="6005016" y="2893320"/>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1" name="直線矢印コネクタ 20"/>
          <p:cNvCxnSpPr>
            <a:stCxn id="19" idx="4"/>
          </p:cNvCxnSpPr>
          <p:nvPr/>
        </p:nvCxnSpPr>
        <p:spPr>
          <a:xfrm rot="16200000" flipH="1">
            <a:off x="6202910" y="3951019"/>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9" idx="2"/>
          </p:cNvCxnSpPr>
          <p:nvPr/>
        </p:nvCxnSpPr>
        <p:spPr>
          <a:xfrm rot="10800000" flipV="1">
            <a:off x="5445458" y="3268632"/>
            <a:ext cx="559559" cy="6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rot="5400000">
            <a:off x="5147259" y="357541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6195807" y="354449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6" name="テキスト ボックス 35"/>
          <p:cNvSpPr txBox="1"/>
          <p:nvPr/>
        </p:nvSpPr>
        <p:spPr>
          <a:xfrm>
            <a:off x="5751620" y="4269975"/>
            <a:ext cx="1542410" cy="523220"/>
          </a:xfrm>
          <a:prstGeom prst="rect">
            <a:avLst/>
          </a:prstGeom>
          <a:noFill/>
        </p:spPr>
        <p:txBody>
          <a:bodyPr wrap="none" rtlCol="0">
            <a:spAutoFit/>
          </a:bodyPr>
          <a:lstStyle/>
          <a:p>
            <a:r>
              <a:rPr lang="en-US" altLang="ja-JP" sz="2800" dirty="0" smtClean="0"/>
              <a:t>  x := x+1 </a:t>
            </a:r>
          </a:p>
        </p:txBody>
      </p:sp>
      <p:cxnSp>
        <p:nvCxnSpPr>
          <p:cNvPr id="38" name="直線コネクタ 37"/>
          <p:cNvCxnSpPr/>
          <p:nvPr/>
        </p:nvCxnSpPr>
        <p:spPr>
          <a:xfrm rot="16200000" flipH="1">
            <a:off x="6114198" y="5268031"/>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19" idx="6"/>
          </p:cNvCxnSpPr>
          <p:nvPr/>
        </p:nvCxnSpPr>
        <p:spPr>
          <a:xfrm flipV="1">
            <a:off x="7014951" y="3261808"/>
            <a:ext cx="723330" cy="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16200000" flipH="1">
            <a:off x="7449363" y="3550725"/>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6583066" y="6059460"/>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繰り返し文における特殊ケースの扱い</a:t>
            </a:r>
            <a:endParaRPr kumimoji="1" lang="ja-JP" altLang="en-US" sz="3600" dirty="0"/>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a:t>
            </a:r>
            <a:r>
              <a:rPr kumimoji="1" lang="en-US" altLang="ja-JP" sz="2800" dirty="0" smtClean="0"/>
              <a:t>continue</a:t>
            </a:r>
            <a:r>
              <a:rPr kumimoji="1" lang="ja-JP" altLang="en-US" sz="2800" dirty="0" smtClean="0"/>
              <a:t>文</a:t>
            </a:r>
            <a:r>
              <a:rPr kumimoji="1" lang="en-US" altLang="ja-JP" sz="2800" dirty="0" smtClean="0"/>
              <a:t>(C</a:t>
            </a:r>
            <a:r>
              <a:rPr lang="ja-JP" altLang="en-US" sz="2800" dirty="0" smtClean="0"/>
              <a:t>言語</a:t>
            </a:r>
            <a:r>
              <a:rPr kumimoji="1" lang="ja-JP" altLang="en-US" sz="2800" dirty="0" smtClean="0"/>
              <a:t>等</a:t>
            </a:r>
            <a:r>
              <a:rPr kumimoji="1" lang="en-US" altLang="ja-JP" sz="2800" dirty="0" smtClean="0"/>
              <a:t>)</a:t>
            </a:r>
          </a:p>
          <a:p>
            <a:r>
              <a:rPr lang="en-US" altLang="ja-JP" sz="2800" dirty="0" smtClean="0"/>
              <a:t>b</a:t>
            </a:r>
            <a:r>
              <a:rPr kumimoji="1" lang="en-US" altLang="ja-JP" sz="2800" dirty="0" smtClean="0"/>
              <a:t>reak</a:t>
            </a:r>
            <a:r>
              <a:rPr kumimoji="1" lang="ja-JP" altLang="en-US" sz="2800" dirty="0" smtClean="0"/>
              <a:t>文が実行されると、それが属する最も内側の繰り返し文を脱出する。（繰り返し文の次の文へ制御が移る。）</a:t>
            </a:r>
            <a:endParaRPr kumimoji="1" lang="en-US" altLang="ja-JP" sz="2800" dirty="0" smtClean="0"/>
          </a:p>
          <a:p>
            <a:r>
              <a:rPr lang="en-US" altLang="ja-JP" sz="2800" dirty="0" smtClean="0"/>
              <a:t>continue</a:t>
            </a:r>
            <a:r>
              <a:rPr lang="ja-JP" altLang="en-US" sz="2800" dirty="0" smtClean="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break</a:t>
            </a:r>
            <a:r>
              <a:rPr lang="ja-JP" altLang="en-US" dirty="0" smtClean="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x=5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x := x-1</a:t>
            </a:r>
          </a:p>
          <a:p>
            <a:r>
              <a:rPr lang="en-US" altLang="ja-JP" sz="2800" dirty="0" smtClean="0"/>
              <a:t>   </a:t>
            </a:r>
            <a:r>
              <a:rPr lang="en-US" altLang="ja-JP" sz="2800" b="1" dirty="0" smtClean="0"/>
              <a:t> end</a:t>
            </a:r>
            <a:endParaRPr kumimoji="1" lang="ja-JP" altLang="en-US" sz="2800" b="1" dirty="0"/>
          </a:p>
        </p:txBody>
      </p:sp>
      <p:cxnSp>
        <p:nvCxnSpPr>
          <p:cNvPr id="5" name="直線矢印コネクタ 4"/>
          <p:cNvCxnSpPr/>
          <p:nvPr/>
        </p:nvCxnSpPr>
        <p:spPr>
          <a:xfrm rot="5400000">
            <a:off x="5643464"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220621"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7"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978879"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16200000" flipH="1">
            <a:off x="5691116" y="4653886"/>
            <a:ext cx="3548421"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511110" y="597759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033471" y="240946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6723885" y="2423117"/>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4316331" y="4813616"/>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4277018"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x=5</a:t>
            </a:r>
            <a:endParaRPr kumimoji="1" lang="ja-JP" altLang="en-US" sz="2800" dirty="0">
              <a:solidFill>
                <a:schemeClr val="tx1"/>
              </a:solidFill>
            </a:endParaRPr>
          </a:p>
        </p:txBody>
      </p:sp>
      <p:cxnSp>
        <p:nvCxnSpPr>
          <p:cNvPr id="23" name="直線コネクタ 22"/>
          <p:cNvCxnSpPr>
            <a:stCxn id="20" idx="3"/>
          </p:cNvCxnSpPr>
          <p:nvPr/>
        </p:nvCxnSpPr>
        <p:spPr>
          <a:xfrm>
            <a:off x="5705778" y="388805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59530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6851177"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4700206"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1742364"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4702480" y="5575936"/>
            <a:ext cx="586067" cy="36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3630304" y="588218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3633593"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91322" y="4071160"/>
            <a:ext cx="2634018" cy="2677656"/>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135273" y="328910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4938302" y="413135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smtClean="0"/>
              <a:t>continue</a:t>
            </a:r>
            <a:r>
              <a:rPr lang="ja-JP" altLang="en-US" dirty="0" smtClean="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ja-JP" altLang="en-US" sz="2800" dirty="0" smtClean="0"/>
              <a:t>    </a:t>
            </a:r>
            <a:r>
              <a:rPr lang="en-US" altLang="ja-JP" sz="2800" dirty="0" smtClean="0"/>
              <a:t>    </a:t>
            </a:r>
            <a:r>
              <a:rPr lang="en-US" altLang="ja-JP" sz="2800" b="1" dirty="0" smtClean="0"/>
              <a:t>if</a:t>
            </a:r>
            <a:r>
              <a:rPr lang="en-US" altLang="ja-JP" sz="2800" dirty="0" smtClean="0"/>
              <a:t> x </a:t>
            </a:r>
            <a:r>
              <a:rPr lang="en-US" altLang="ja-JP" sz="2800" dirty="0" smtClean="0">
                <a:sym typeface="Symbol"/>
              </a:rPr>
              <a:t> </a:t>
            </a:r>
            <a:r>
              <a:rPr lang="en-US" altLang="ja-JP" sz="2800" dirty="0" smtClean="0"/>
              <a:t>8 </a:t>
            </a:r>
            <a:r>
              <a:rPr lang="en-US" altLang="ja-JP" sz="2800" b="1" dirty="0" smtClean="0"/>
              <a:t>then</a:t>
            </a:r>
          </a:p>
          <a:p>
            <a:r>
              <a:rPr lang="en-US" altLang="ja-JP" sz="2800" b="1" dirty="0" smtClean="0"/>
              <a:t>            begin</a:t>
            </a:r>
          </a:p>
          <a:p>
            <a:r>
              <a:rPr kumimoji="1" lang="en-US" altLang="ja-JP" sz="2800" dirty="0" smtClean="0"/>
              <a:t>                x := x-1;</a:t>
            </a:r>
          </a:p>
          <a:p>
            <a:r>
              <a:rPr lang="en-US" altLang="ja-JP" sz="2800" dirty="0" smtClean="0"/>
              <a:t>                continue</a:t>
            </a:r>
          </a:p>
          <a:p>
            <a:r>
              <a:rPr kumimoji="1" lang="en-US" altLang="ja-JP" sz="2800" dirty="0" smtClean="0"/>
              <a:t>            </a:t>
            </a:r>
            <a:r>
              <a:rPr kumimoji="1" lang="en-US" altLang="ja-JP" sz="2800" b="1" dirty="0" smtClean="0"/>
              <a:t>end;</a:t>
            </a:r>
            <a:endParaRPr lang="en-US" altLang="ja-JP" sz="2800" b="1" dirty="0" smtClean="0"/>
          </a:p>
          <a:p>
            <a:r>
              <a:rPr kumimoji="1" lang="en-US" altLang="ja-JP" sz="2800" dirty="0" smtClean="0"/>
              <a:t>        x := x-5</a:t>
            </a:r>
            <a:endParaRPr lang="en-US" altLang="ja-JP" sz="2800" dirty="0" smtClean="0"/>
          </a:p>
          <a:p>
            <a:r>
              <a:rPr kumimoji="1" lang="en-US" altLang="ja-JP" sz="2800" dirty="0" smtClean="0"/>
              <a:t>   </a:t>
            </a:r>
            <a:r>
              <a:rPr kumimoji="1" lang="en-US" altLang="ja-JP" sz="2800" b="1" dirty="0" smtClean="0"/>
              <a:t> end</a:t>
            </a:r>
          </a:p>
        </p:txBody>
      </p:sp>
      <p:cxnSp>
        <p:nvCxnSpPr>
          <p:cNvPr id="5" name="直線矢印コネクタ 4"/>
          <p:cNvCxnSpPr/>
          <p:nvPr/>
        </p:nvCxnSpPr>
        <p:spPr>
          <a:xfrm rot="5400000">
            <a:off x="6489640"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984909"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6253683"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5825055"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407631" y="478353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374651" y="615067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838703" y="242311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7624653" y="2436762"/>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5203451" y="4799968"/>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5123194"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a:t>
            </a:r>
            <a:r>
              <a:rPr lang="en-US" altLang="ja-JP" sz="2800" dirty="0" smtClean="0">
                <a:solidFill>
                  <a:schemeClr val="tx1"/>
                </a:solidFill>
                <a:sym typeface="Symbol"/>
              </a:rPr>
              <a:t></a:t>
            </a:r>
            <a:r>
              <a:rPr lang="en-US" altLang="ja-JP" sz="2800" dirty="0" smtClean="0">
                <a:solidFill>
                  <a:schemeClr val="tx1"/>
                </a:solidFill>
              </a:rPr>
              <a:t>8</a:t>
            </a:r>
            <a:endParaRPr kumimoji="1" lang="ja-JP" altLang="en-US" sz="2800" dirty="0">
              <a:solidFill>
                <a:schemeClr val="tx1"/>
              </a:solidFill>
            </a:endParaRPr>
          </a:p>
        </p:txBody>
      </p:sp>
      <p:cxnSp>
        <p:nvCxnSpPr>
          <p:cNvPr id="23" name="直線コネクタ 22"/>
          <p:cNvCxnSpPr>
            <a:stCxn id="20" idx="3"/>
          </p:cNvCxnSpPr>
          <p:nvPr/>
        </p:nvCxnSpPr>
        <p:spPr>
          <a:xfrm>
            <a:off x="6551954" y="388805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772735" y="413136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7697353"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5546382"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2588540"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5548656" y="557593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4476480" y="588218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4479769"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smtClean="0"/>
              <a:t>continue</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981449" y="328910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3" name="テキスト ボックス 42"/>
          <p:cNvSpPr txBox="1"/>
          <p:nvPr/>
        </p:nvSpPr>
        <p:spPr>
          <a:xfrm>
            <a:off x="6439571" y="346261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29" name="直線コネクタ 28"/>
          <p:cNvCxnSpPr/>
          <p:nvPr/>
        </p:nvCxnSpPr>
        <p:spPr>
          <a:xfrm rot="5400000">
            <a:off x="7260624" y="421715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正方形/長方形 29"/>
          <p:cNvSpPr/>
          <p:nvPr/>
        </p:nvSpPr>
        <p:spPr>
          <a:xfrm>
            <a:off x="6997036" y="4472631"/>
            <a:ext cx="1228221" cy="523220"/>
          </a:xfrm>
          <a:prstGeom prst="rect">
            <a:avLst/>
          </a:prstGeom>
          <a:ln>
            <a:noFill/>
          </a:ln>
        </p:spPr>
        <p:txBody>
          <a:bodyPr wrap="none">
            <a:spAutoFit/>
          </a:bodyPr>
          <a:lstStyle/>
          <a:p>
            <a:r>
              <a:rPr lang="en-US" altLang="ja-JP" sz="2800" dirty="0" smtClean="0"/>
              <a:t>x := x-5</a:t>
            </a:r>
            <a:endParaRPr lang="ja-JP" altLang="en-US" sz="2800" dirty="0"/>
          </a:p>
        </p:txBody>
      </p:sp>
      <p:cxnSp>
        <p:nvCxnSpPr>
          <p:cNvPr id="33" name="直線コネクタ 32"/>
          <p:cNvCxnSpPr/>
          <p:nvPr/>
        </p:nvCxnSpPr>
        <p:spPr>
          <a:xfrm rot="5400000">
            <a:off x="7107715" y="538745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smtClean="0"/>
              <a:t>g</a:t>
            </a:r>
            <a:r>
              <a:rPr kumimoji="1" lang="en-US" altLang="ja-JP" dirty="0" err="1" smtClean="0"/>
              <a:t>oto</a:t>
            </a:r>
            <a:r>
              <a:rPr kumimoji="1" lang="ja-JP" altLang="en-US" dirty="0" smtClean="0"/>
              <a:t>文</a:t>
            </a:r>
            <a:endParaRPr kumimoji="1" lang="ja-JP" altLang="en-US" dirty="0"/>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smtClean="0"/>
              <a:t>g</a:t>
            </a:r>
            <a:r>
              <a:rPr kumimoji="1" lang="en-US" altLang="ja-JP" sz="2800" dirty="0" err="1" smtClean="0"/>
              <a:t>oto</a:t>
            </a:r>
            <a:r>
              <a:rPr kumimoji="1" lang="ja-JP" altLang="en-US" sz="2800" dirty="0" smtClean="0"/>
              <a:t>文は、以下の形式で書かれる。</a:t>
            </a:r>
            <a:endParaRPr kumimoji="1" lang="en-US" altLang="ja-JP" sz="2800" dirty="0" smtClean="0"/>
          </a:p>
          <a:p>
            <a:r>
              <a:rPr lang="en-US" altLang="ja-JP" sz="2800" b="1" dirty="0" smtClean="0"/>
              <a:t>    </a:t>
            </a:r>
            <a:r>
              <a:rPr lang="en-US" altLang="ja-JP" sz="2800" b="1" dirty="0" err="1" smtClean="0"/>
              <a:t>goto</a:t>
            </a:r>
            <a:r>
              <a:rPr lang="en-US" altLang="ja-JP" sz="2800" b="1" dirty="0" smtClean="0"/>
              <a:t> </a:t>
            </a:r>
            <a:r>
              <a:rPr lang="ja-JP" altLang="en-US" sz="2800" dirty="0" smtClean="0"/>
              <a:t>ラベル</a:t>
            </a:r>
            <a:endParaRPr lang="en-US" altLang="ja-JP" sz="2800" dirty="0" smtClean="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smtClean="0"/>
              <a:t>goto</a:t>
            </a:r>
            <a:r>
              <a:rPr lang="ja-JP" altLang="en-US" sz="2800" dirty="0" smtClean="0"/>
              <a:t>文により、</a:t>
            </a:r>
            <a:r>
              <a:rPr lang="en-US" altLang="ja-JP" sz="2800" dirty="0" smtClean="0"/>
              <a:t>if</a:t>
            </a:r>
            <a:r>
              <a:rPr lang="ja-JP" altLang="en-US" sz="2800" dirty="0" smtClean="0"/>
              <a:t>文だけでなく、</a:t>
            </a:r>
            <a:r>
              <a:rPr lang="en-US" altLang="ja-JP" sz="2800" dirty="0" smtClean="0"/>
              <a:t>while</a:t>
            </a:r>
            <a:r>
              <a:rPr lang="ja-JP" altLang="en-US" sz="2800" dirty="0" smtClean="0"/>
              <a:t>文の出口も２つになっている。</a:t>
            </a:r>
            <a:endParaRPr kumimoji="1" lang="ja-JP" altLang="en-US" sz="2800" dirty="0"/>
          </a:p>
        </p:txBody>
      </p:sp>
      <p:cxnSp>
        <p:nvCxnSpPr>
          <p:cNvPr id="27" name="直線矢印コネクタ 26"/>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27"/>
          <p:cNvSpPr txBox="1"/>
          <p:nvPr/>
        </p:nvSpPr>
        <p:spPr>
          <a:xfrm>
            <a:off x="7230574" y="364054"/>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29" name="ひし形 28"/>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30" name="図形 29"/>
          <p:cNvCxnSpPr>
            <a:stCxn id="29"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7593018" y="5932303"/>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33" name="テキスト ボックス 32"/>
          <p:cNvSpPr txBox="1"/>
          <p:nvPr/>
        </p:nvSpPr>
        <p:spPr>
          <a:xfrm>
            <a:off x="6043423" y="202732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34" name="テキスト ボックス 33"/>
          <p:cNvSpPr txBox="1"/>
          <p:nvPr/>
        </p:nvSpPr>
        <p:spPr>
          <a:xfrm>
            <a:off x="7761134" y="205461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380875" y="4294992"/>
            <a:ext cx="1391728" cy="523220"/>
          </a:xfrm>
          <a:prstGeom prst="rect">
            <a:avLst/>
          </a:prstGeom>
          <a:noFill/>
        </p:spPr>
        <p:txBody>
          <a:bodyPr wrap="none" rtlCol="0">
            <a:spAutoFit/>
          </a:bodyPr>
          <a:lstStyle/>
          <a:p>
            <a:r>
              <a:rPr lang="en-US" altLang="ja-JP" sz="2800" dirty="0" smtClean="0"/>
              <a:t>  x := x-1</a:t>
            </a:r>
          </a:p>
        </p:txBody>
      </p:sp>
      <p:sp>
        <p:nvSpPr>
          <p:cNvPr id="36" name="ひし形 35"/>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x=8</a:t>
            </a:r>
            <a:endParaRPr kumimoji="1" lang="ja-JP" altLang="en-US" sz="2800" dirty="0">
              <a:solidFill>
                <a:schemeClr val="tx1"/>
              </a:solidFill>
            </a:endParaRPr>
          </a:p>
        </p:txBody>
      </p:sp>
      <p:cxnSp>
        <p:nvCxnSpPr>
          <p:cNvPr id="37" name="直線コネクタ 36"/>
          <p:cNvCxnSpPr>
            <a:stCxn id="36"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5963807" y="3776512"/>
            <a:ext cx="543739" cy="523220"/>
          </a:xfrm>
          <a:prstGeom prst="rect">
            <a:avLst/>
          </a:prstGeom>
          <a:noFill/>
        </p:spPr>
        <p:txBody>
          <a:bodyPr wrap="none" rtlCol="0">
            <a:spAutoFit/>
          </a:bodyPr>
          <a:lstStyle/>
          <a:p>
            <a:r>
              <a:rPr lang="ja-JP" altLang="en-US" sz="2800" dirty="0" smtClean="0"/>
              <a:t>偽</a:t>
            </a:r>
            <a:endParaRPr kumimoji="1" lang="ja-JP" altLang="en-US" sz="2800" dirty="0"/>
          </a:p>
        </p:txBody>
      </p:sp>
      <p:cxnSp>
        <p:nvCxnSpPr>
          <p:cNvPr id="39" name="直線コネクタ 38"/>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36"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rot="16200000" flipH="1">
            <a:off x="3186754" y="3473358"/>
            <a:ext cx="3193577" cy="1364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6657939" y="305317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49" name="直線コネクタ 4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6474485" y="1074337"/>
            <a:ext cx="1391728" cy="523220"/>
          </a:xfrm>
          <a:prstGeom prst="rect">
            <a:avLst/>
          </a:prstGeom>
        </p:spPr>
        <p:txBody>
          <a:bodyPr wrap="none">
            <a:spAutoFit/>
          </a:bodyPr>
          <a:lstStyle/>
          <a:p>
            <a:r>
              <a:rPr lang="en-US" altLang="ja-JP" sz="2800" dirty="0" smtClean="0"/>
              <a:t>x := x - 4</a:t>
            </a:r>
            <a:endParaRPr lang="ja-JP" altLang="en-US" sz="2800" dirty="0"/>
          </a:p>
        </p:txBody>
      </p:sp>
      <p:cxnSp>
        <p:nvCxnSpPr>
          <p:cNvPr id="53" name="直線コネクタ 52"/>
          <p:cNvCxnSpPr>
            <a:stCxn id="52" idx="2"/>
            <a:endCxn id="29"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4776716" y="1883394"/>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矢印コネクタ 74"/>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4" name="角丸四角形 93"/>
          <p:cNvSpPr/>
          <p:nvPr/>
        </p:nvSpPr>
        <p:spPr>
          <a:xfrm>
            <a:off x="4339987" y="1719621"/>
            <a:ext cx="3957851" cy="357798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L:  x := x - 4;</a:t>
            </a:r>
          </a:p>
          <a:p>
            <a:r>
              <a:rPr lang="en-US" altLang="ja-JP" sz="2800" dirty="0" smtClean="0"/>
              <a:t>   </a:t>
            </a:r>
            <a:r>
              <a:rPr lang="en-US" altLang="ja-JP" sz="2800" b="1" dirty="0" smtClean="0"/>
              <a:t>while</a:t>
            </a:r>
            <a:r>
              <a:rPr lang="en-US" altLang="ja-JP" sz="2800" dirty="0" smtClean="0"/>
              <a:t> x&gt;0 </a:t>
            </a:r>
            <a:r>
              <a:rPr lang="en-US" altLang="ja-JP" sz="2800" b="1" dirty="0" smtClean="0"/>
              <a:t>do</a:t>
            </a:r>
          </a:p>
          <a:p>
            <a:r>
              <a:rPr lang="en-US" altLang="ja-JP" sz="2800" dirty="0" smtClean="0"/>
              <a:t>       </a:t>
            </a:r>
            <a:r>
              <a:rPr lang="en-US" altLang="ja-JP" sz="2800" b="1" dirty="0" smtClean="0"/>
              <a:t>if</a:t>
            </a:r>
            <a:r>
              <a:rPr lang="en-US" altLang="ja-JP" sz="2800" dirty="0" smtClean="0"/>
              <a:t> x=8 </a:t>
            </a:r>
            <a:r>
              <a:rPr lang="en-US" altLang="ja-JP" sz="2800" b="1" dirty="0" smtClean="0"/>
              <a:t>then</a:t>
            </a:r>
          </a:p>
          <a:p>
            <a:r>
              <a:rPr lang="en-US" altLang="ja-JP" sz="2800" dirty="0" smtClean="0"/>
              <a:t>           </a:t>
            </a:r>
            <a:r>
              <a:rPr lang="en-US" altLang="ja-JP" sz="2800" b="1" dirty="0" err="1" smtClean="0"/>
              <a:t>goto</a:t>
            </a:r>
            <a:r>
              <a:rPr lang="en-US" altLang="ja-JP" sz="2800" dirty="0" smtClean="0"/>
              <a:t> L</a:t>
            </a:r>
          </a:p>
          <a:p>
            <a:r>
              <a:rPr lang="en-US" altLang="ja-JP" sz="2800" b="1" dirty="0" smtClean="0"/>
              <a:t>       else</a:t>
            </a:r>
          </a:p>
          <a:p>
            <a:r>
              <a:rPr lang="en-US" altLang="ja-JP" sz="2800" dirty="0" smtClean="0"/>
              <a:t>           x := x-1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return</a:t>
            </a:r>
            <a:r>
              <a:rPr kumimoji="1" lang="ja-JP" altLang="en-US" dirty="0" smtClean="0"/>
              <a:t>文</a:t>
            </a:r>
            <a:endParaRPr kumimoji="1" lang="ja-JP" altLang="en-US" dirty="0"/>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smtClean="0"/>
              <a:t>r</a:t>
            </a:r>
            <a:r>
              <a:rPr kumimoji="1" lang="en-US" altLang="ja-JP" sz="2800" dirty="0" smtClean="0"/>
              <a:t>eturn</a:t>
            </a:r>
            <a:r>
              <a:rPr kumimoji="1" lang="ja-JP" altLang="en-US" sz="2800" dirty="0" smtClean="0"/>
              <a:t>文は</a:t>
            </a:r>
            <a:r>
              <a:rPr kumimoji="1" lang="en-US" altLang="ja-JP" sz="2800" dirty="0" smtClean="0"/>
              <a:t>Modula-2</a:t>
            </a:r>
            <a:r>
              <a:rPr kumimoji="1" lang="ja-JP" altLang="en-US" sz="2800" dirty="0" smtClean="0"/>
              <a:t>などでは</a:t>
            </a:r>
            <a:endParaRPr kumimoji="1" lang="en-US" altLang="ja-JP" sz="2800" dirty="0" smtClean="0"/>
          </a:p>
          <a:p>
            <a:r>
              <a:rPr lang="en-US" altLang="ja-JP" sz="2800" dirty="0" smtClean="0"/>
              <a:t>    return </a:t>
            </a:r>
            <a:r>
              <a:rPr lang="ja-JP" altLang="en-US" sz="2800" dirty="0" smtClean="0"/>
              <a:t>あるいは </a:t>
            </a:r>
            <a:r>
              <a:rPr lang="en-US" altLang="ja-JP" sz="2800" dirty="0" smtClean="0"/>
              <a:t>return </a:t>
            </a:r>
            <a:r>
              <a:rPr lang="ja-JP" altLang="en-US" sz="2800" dirty="0" smtClean="0"/>
              <a:t>式</a:t>
            </a:r>
            <a:endParaRPr lang="en-US" altLang="ja-JP" sz="2800" dirty="0" smtClean="0"/>
          </a:p>
          <a:p>
            <a:r>
              <a:rPr kumimoji="1" lang="ja-JP" altLang="en-US" sz="2800" dirty="0" smtClean="0"/>
              <a:t>の形で書かれる</a:t>
            </a:r>
            <a:r>
              <a:rPr lang="ja-JP" altLang="en-US" sz="2800" dirty="0" smtClean="0"/>
              <a:t>（</a:t>
            </a:r>
            <a:r>
              <a:rPr lang="en-US" altLang="ja-JP" sz="2800" dirty="0" smtClean="0"/>
              <a:t>C</a:t>
            </a:r>
            <a:r>
              <a:rPr lang="ja-JP" altLang="en-US" sz="2800" dirty="0" smtClean="0"/>
              <a:t>ではセミコロンをつけて</a:t>
            </a:r>
            <a:r>
              <a:rPr lang="en-US" altLang="ja-JP" sz="2800" dirty="0" smtClean="0"/>
              <a:t>return; </a:t>
            </a:r>
            <a:r>
              <a:rPr lang="ja-JP" altLang="en-US" sz="2800" dirty="0" smtClean="0"/>
              <a:t>あるいは</a:t>
            </a:r>
            <a:r>
              <a:rPr lang="en-US" altLang="ja-JP" sz="2800" dirty="0" smtClean="0"/>
              <a:t>return </a:t>
            </a:r>
            <a:r>
              <a:rPr lang="ja-JP" altLang="en-US" sz="2800" dirty="0" smtClean="0"/>
              <a:t>式</a:t>
            </a:r>
            <a:r>
              <a:rPr lang="en-US" altLang="ja-JP" sz="2800" dirty="0" smtClean="0"/>
              <a:t>; </a:t>
            </a:r>
            <a:r>
              <a:rPr lang="ja-JP" altLang="en-US" sz="2800" dirty="0" smtClean="0"/>
              <a:t>と書く）</a:t>
            </a:r>
            <a:r>
              <a:rPr kumimoji="1" lang="ja-JP" altLang="en-US" sz="2800" dirty="0" smtClean="0"/>
              <a:t>。</a:t>
            </a:r>
            <a:endParaRPr kumimoji="1" lang="en-US" altLang="ja-JP" sz="2800" dirty="0" smtClean="0"/>
          </a:p>
          <a:p>
            <a:r>
              <a:rPr lang="en-US" altLang="ja-JP" sz="2800" dirty="0" smtClean="0"/>
              <a:t>return</a:t>
            </a:r>
            <a:r>
              <a:rPr lang="ja-JP" altLang="en-US" sz="2800" dirty="0" smtClean="0"/>
              <a:t>文が実行されると、その手続き（関数）を呼び出した部分に制御が戻る。</a:t>
            </a:r>
            <a:endParaRPr lang="en-US" altLang="ja-JP" sz="2800" dirty="0" smtClean="0"/>
          </a:p>
          <a:p>
            <a:endParaRPr lang="en-US" altLang="ja-JP" sz="2800" dirty="0" smtClean="0"/>
          </a:p>
          <a:p>
            <a:r>
              <a:rPr lang="en-US" altLang="ja-JP" sz="2800" dirty="0" smtClean="0"/>
              <a:t>Return</a:t>
            </a:r>
            <a:r>
              <a:rPr lang="ja-JP" altLang="en-US" sz="2800" dirty="0" smtClean="0"/>
              <a:t>文も、</a:t>
            </a:r>
            <a:r>
              <a:rPr lang="en-US" altLang="ja-JP" sz="2800" dirty="0" err="1" smtClean="0"/>
              <a:t>goto</a:t>
            </a:r>
            <a:r>
              <a:rPr lang="ja-JP" altLang="en-US" sz="2800" dirty="0" smtClean="0"/>
              <a:t>文、</a:t>
            </a:r>
            <a:r>
              <a:rPr lang="en-US" altLang="ja-JP" sz="2800" dirty="0" smtClean="0"/>
              <a:t>break</a:t>
            </a:r>
            <a:r>
              <a:rPr lang="ja-JP" altLang="en-US" sz="2800" dirty="0" smtClean="0"/>
              <a:t>文、</a:t>
            </a:r>
            <a:r>
              <a:rPr lang="en-US" altLang="ja-JP" sz="2800" dirty="0" smtClean="0"/>
              <a:t>continue</a:t>
            </a:r>
            <a:r>
              <a:rPr lang="ja-JP" altLang="en-US" sz="2800" dirty="0" smtClean="0"/>
              <a:t>文と同様、実行されると制御が移る。</a:t>
            </a:r>
            <a:endParaRPr lang="en-US" altLang="ja-JP" sz="2800" dirty="0" smtClean="0"/>
          </a:p>
          <a:p>
            <a:endParaRPr lang="en-US" altLang="ja-JP" sz="2800" dirty="0" smtClean="0"/>
          </a:p>
          <a:p>
            <a:r>
              <a:rPr lang="en-US" altLang="ja-JP" sz="2800" dirty="0" smtClean="0"/>
              <a:t>break</a:t>
            </a:r>
            <a:r>
              <a:rPr lang="ja-JP" altLang="en-US" sz="2800" dirty="0" smtClean="0"/>
              <a:t>文は繰り返しを脱出するのに対し、</a:t>
            </a:r>
            <a:r>
              <a:rPr lang="en-US" altLang="ja-JP" sz="2800" dirty="0" smtClean="0"/>
              <a:t>return</a:t>
            </a:r>
            <a:r>
              <a:rPr lang="ja-JP" altLang="en-US" sz="2800" dirty="0" smtClean="0"/>
              <a:t>文は手続き（関数）を脱出する。</a:t>
            </a:r>
            <a:endParaRPr lang="en-US" altLang="ja-JP" sz="2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練習問題</a:t>
            </a:r>
            <a:r>
              <a:rPr lang="ja-JP" altLang="en-US" dirty="0" smtClean="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r>
              <a:rPr lang="en-US" altLang="ja-JP" sz="2800" dirty="0" smtClean="0"/>
              <a:t>y := y – 1</a:t>
            </a:r>
          </a:p>
          <a:p>
            <a:r>
              <a:rPr kumimoji="1" lang="en-US" altLang="ja-JP" sz="2800" b="1" dirty="0" smtClean="0"/>
              <a:t>        else </a:t>
            </a:r>
            <a:r>
              <a:rPr kumimoji="1" lang="en-US" altLang="ja-JP" sz="2800" dirty="0" smtClean="0"/>
              <a:t>y := y + 1</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416257" y="1725389"/>
            <a:ext cx="3295934" cy="1815882"/>
          </a:xfrm>
          <a:prstGeom prst="rect">
            <a:avLst/>
          </a:prstGeom>
        </p:spPr>
        <p:txBody>
          <a:bodyPr wrap="square">
            <a:spAutoFit/>
          </a:bodyPr>
          <a:lstStyle/>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p>
          <a:p>
            <a:r>
              <a:rPr lang="ja-JP" altLang="en-US" sz="2800" b="1" dirty="0" smtClean="0"/>
              <a:t>                </a:t>
            </a:r>
            <a:r>
              <a:rPr lang="en-US" altLang="ja-JP" sz="2800" dirty="0" smtClean="0"/>
              <a:t>y := y – 1</a:t>
            </a:r>
          </a:p>
          <a:p>
            <a:r>
              <a:rPr lang="en-US" altLang="ja-JP" sz="2800" b="1" dirty="0" smtClean="0"/>
              <a:t>        else </a:t>
            </a:r>
            <a:r>
              <a:rPr lang="en-US" altLang="ja-JP" sz="2800" dirty="0" smtClean="0"/>
              <a:t>y := y + 1</a:t>
            </a:r>
            <a:endParaRPr lang="ja-JP" altLang="en-US" sz="2800" dirty="0"/>
          </a:p>
        </p:txBody>
      </p:sp>
      <p:sp>
        <p:nvSpPr>
          <p:cNvPr id="7" name="ひし形 6"/>
          <p:cNvSpPr/>
          <p:nvPr/>
        </p:nvSpPr>
        <p:spPr>
          <a:xfrm>
            <a:off x="4943475" y="206826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514847" y="242545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6680557" y="275000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4528495" y="195908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246206" y="198637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825004" y="3107635"/>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6387145" y="242929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flipV="1">
            <a:off x="5854884" y="5227091"/>
            <a:ext cx="247024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5387164" y="179757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5200938" y="4092549"/>
            <a:ext cx="1404552" cy="523220"/>
          </a:xfrm>
          <a:prstGeom prst="rect">
            <a:avLst/>
          </a:prstGeom>
          <a:noFill/>
        </p:spPr>
        <p:txBody>
          <a:bodyPr wrap="none" rtlCol="0">
            <a:spAutoFit/>
          </a:bodyPr>
          <a:lstStyle/>
          <a:p>
            <a:r>
              <a:rPr lang="en-US" altLang="ja-JP" sz="2800" dirty="0" smtClean="0"/>
              <a:t>  y := y-1</a:t>
            </a:r>
          </a:p>
        </p:txBody>
      </p:sp>
      <p:sp>
        <p:nvSpPr>
          <p:cNvPr id="33" name="ひし形 32"/>
          <p:cNvSpPr/>
          <p:nvPr/>
        </p:nvSpPr>
        <p:spPr>
          <a:xfrm>
            <a:off x="6295848" y="3066827"/>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y&gt;0</a:t>
            </a:r>
            <a:endParaRPr kumimoji="1" lang="ja-JP" altLang="en-US" sz="2800" dirty="0">
              <a:solidFill>
                <a:schemeClr val="tx1"/>
              </a:solidFill>
            </a:endParaRPr>
          </a:p>
        </p:txBody>
      </p:sp>
      <p:cxnSp>
        <p:nvCxnSpPr>
          <p:cNvPr id="35" name="直線矢印コネクタ 34"/>
          <p:cNvCxnSpPr/>
          <p:nvPr/>
        </p:nvCxnSpPr>
        <p:spPr>
          <a:xfrm rot="5400000">
            <a:off x="8033961" y="3748569"/>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テキスト ボックス 35"/>
          <p:cNvSpPr txBox="1"/>
          <p:nvPr/>
        </p:nvSpPr>
        <p:spPr>
          <a:xfrm>
            <a:off x="7599610" y="2984940"/>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37" name="直線コネクタ 36"/>
          <p:cNvCxnSpPr/>
          <p:nvPr/>
        </p:nvCxnSpPr>
        <p:spPr>
          <a:xfrm rot="10800000">
            <a:off x="7740549" y="3427854"/>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図形 37"/>
          <p:cNvCxnSpPr/>
          <p:nvPr/>
        </p:nvCxnSpPr>
        <p:spPr>
          <a:xfrm rot="10800000" flipV="1">
            <a:off x="5854606" y="3424015"/>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5868254" y="2957641"/>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40" name="テキスト ボックス 39"/>
          <p:cNvSpPr txBox="1"/>
          <p:nvPr/>
        </p:nvSpPr>
        <p:spPr>
          <a:xfrm>
            <a:off x="7315672" y="4122120"/>
            <a:ext cx="1473480" cy="523220"/>
          </a:xfrm>
          <a:prstGeom prst="rect">
            <a:avLst/>
          </a:prstGeom>
          <a:noFill/>
        </p:spPr>
        <p:txBody>
          <a:bodyPr wrap="none" rtlCol="0">
            <a:spAutoFit/>
          </a:bodyPr>
          <a:lstStyle/>
          <a:p>
            <a:r>
              <a:rPr lang="en-US" altLang="ja-JP" sz="2800" dirty="0" smtClean="0"/>
              <a:t>  y := y+1</a:t>
            </a:r>
          </a:p>
        </p:txBody>
      </p:sp>
      <p:cxnSp>
        <p:nvCxnSpPr>
          <p:cNvPr id="46" name="直線矢印コネクタ 45"/>
          <p:cNvCxnSpPr/>
          <p:nvPr/>
        </p:nvCxnSpPr>
        <p:spPr>
          <a:xfrm rot="5400000">
            <a:off x="8008940" y="4924551"/>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線矢印コネクタ 46"/>
          <p:cNvCxnSpPr/>
          <p:nvPr/>
        </p:nvCxnSpPr>
        <p:spPr>
          <a:xfrm rot="5400000">
            <a:off x="5525047" y="491090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5400000">
            <a:off x="6646438" y="5554622"/>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線矢印コネクタ 49"/>
          <p:cNvCxnSpPr/>
          <p:nvPr/>
        </p:nvCxnSpPr>
        <p:spPr>
          <a:xfrm rot="5400000">
            <a:off x="3377810" y="4749413"/>
            <a:ext cx="2217776" cy="2047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flipV="1">
            <a:off x="4478734" y="5857164"/>
            <a:ext cx="247024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5338527" y="6171045"/>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8229600" cy="1143000"/>
          </a:xfrm>
        </p:spPr>
        <p:txBody>
          <a:bodyPr>
            <a:normAutofit/>
          </a:bodyPr>
          <a:lstStyle/>
          <a:p>
            <a:r>
              <a:rPr lang="ja-JP" altLang="en-US" dirty="0" smtClean="0"/>
              <a:t>解答例</a:t>
            </a:r>
            <a:endParaRPr kumimoji="1" lang="ja-JP"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練習問題２</a:t>
            </a:r>
            <a:endParaRPr kumimoji="1" lang="ja-JP" altLang="en-US" dirty="0"/>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y := y + 1;</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6199091" y="206826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16200000" flipH="1">
            <a:off x="6298454" y="4387748"/>
            <a:ext cx="3916923"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702211" y="1890843"/>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7501822" y="198637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756803" y="5182093"/>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642761" y="242929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578346" y="173314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4096619" y="4874506"/>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8229600"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878774" y="30827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x=3</a:t>
            </a:r>
            <a:endParaRPr kumimoji="1" lang="ja-JP" altLang="en-US" sz="2800" dirty="0">
              <a:solidFill>
                <a:schemeClr val="tx1"/>
              </a:solidFill>
            </a:endParaRPr>
          </a:p>
        </p:txBody>
      </p:sp>
      <p:sp>
        <p:nvSpPr>
          <p:cNvPr id="30" name="テキスト ボックス 29"/>
          <p:cNvSpPr txBox="1"/>
          <p:nvPr/>
        </p:nvSpPr>
        <p:spPr>
          <a:xfrm>
            <a:off x="4421975" y="2878033"/>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34" name="図形 33"/>
          <p:cNvCxnSpPr/>
          <p:nvPr/>
        </p:nvCxnSpPr>
        <p:spPr>
          <a:xfrm rot="10800000" flipV="1">
            <a:off x="4437532" y="3439938"/>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6198094" y="2864383"/>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5268034" y="277048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p:nvPr/>
        </p:nvCxnSpPr>
        <p:spPr>
          <a:xfrm rot="10800000">
            <a:off x="6323489" y="3430134"/>
            <a:ext cx="1947076" cy="9102"/>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769571" y="4056154"/>
            <a:ext cx="1473480" cy="523220"/>
          </a:xfrm>
          <a:prstGeom prst="rect">
            <a:avLst/>
          </a:prstGeom>
          <a:noFill/>
        </p:spPr>
        <p:txBody>
          <a:bodyPr wrap="none" rtlCol="0">
            <a:spAutoFit/>
          </a:bodyPr>
          <a:lstStyle/>
          <a:p>
            <a:r>
              <a:rPr lang="en-US" altLang="ja-JP" sz="2800" dirty="0" smtClean="0"/>
              <a:t>  y := y+1</a:t>
            </a:r>
          </a:p>
        </p:txBody>
      </p:sp>
      <p:cxnSp>
        <p:nvCxnSpPr>
          <p:cNvPr id="90" name="直線コネクタ 89"/>
          <p:cNvCxnSpPr/>
          <p:nvPr/>
        </p:nvCxnSpPr>
        <p:spPr>
          <a:xfrm rot="10800000">
            <a:off x="5584224" y="243156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798394" y="2208622"/>
            <a:ext cx="2340591" cy="2677656"/>
          </a:xfrm>
          <a:prstGeom prst="rect">
            <a:avLst/>
          </a:prstGeom>
        </p:spPr>
        <p:txBody>
          <a:bodyPr wrap="square">
            <a:spAutoFit/>
          </a:bodyPr>
          <a:lstStyle/>
          <a:p>
            <a:r>
              <a:rPr lang="en-US" altLang="ja-JP" sz="2400" b="1" dirty="0" smtClean="0"/>
              <a:t>while</a:t>
            </a:r>
            <a:r>
              <a:rPr lang="en-US" altLang="ja-JP" sz="2400" dirty="0" smtClean="0"/>
              <a:t> x&gt;0  </a:t>
            </a:r>
            <a:r>
              <a:rPr lang="en-US" altLang="ja-JP" sz="2400" b="1" dirty="0" smtClean="0"/>
              <a:t>do</a:t>
            </a:r>
          </a:p>
          <a:p>
            <a:r>
              <a:rPr lang="en-US" altLang="ja-JP" sz="2400" b="1" dirty="0" smtClean="0"/>
              <a:t>    begin</a:t>
            </a:r>
          </a:p>
          <a:p>
            <a:r>
              <a:rPr lang="en-US" altLang="ja-JP" sz="2400" dirty="0" smtClean="0"/>
              <a:t>        </a:t>
            </a:r>
            <a:r>
              <a:rPr lang="en-US" altLang="ja-JP" sz="2400" b="1" dirty="0" smtClean="0"/>
              <a:t>if</a:t>
            </a:r>
            <a:r>
              <a:rPr lang="en-US" altLang="ja-JP" sz="2400" dirty="0" smtClean="0"/>
              <a:t> x=3 </a:t>
            </a:r>
            <a:r>
              <a:rPr lang="en-US" altLang="ja-JP" sz="2400" b="1" dirty="0" smtClean="0"/>
              <a:t>then</a:t>
            </a:r>
          </a:p>
          <a:p>
            <a:r>
              <a:rPr lang="en-US" altLang="ja-JP" sz="2400" dirty="0" smtClean="0"/>
              <a:t>            break;</a:t>
            </a:r>
            <a:endParaRPr lang="en-US" altLang="ja-JP" sz="2400" b="1" dirty="0" smtClean="0"/>
          </a:p>
          <a:p>
            <a:r>
              <a:rPr lang="en-US" altLang="ja-JP" sz="2400" dirty="0" smtClean="0"/>
              <a:t>        y := y + 1;</a:t>
            </a:r>
          </a:p>
          <a:p>
            <a:r>
              <a:rPr lang="en-US" altLang="ja-JP" sz="2400" dirty="0" smtClean="0"/>
              <a:t>        x := x - 1</a:t>
            </a:r>
          </a:p>
          <a:p>
            <a:r>
              <a:rPr lang="en-US" altLang="ja-JP" sz="2400" dirty="0" smtClean="0"/>
              <a:t>   </a:t>
            </a:r>
            <a:r>
              <a:rPr lang="en-US" altLang="ja-JP" sz="2400" b="1" dirty="0" smtClean="0"/>
              <a:t> end</a:t>
            </a:r>
            <a:endParaRPr lang="ja-JP" altLang="en-US" sz="2400" b="1" dirty="0"/>
          </a:p>
        </p:txBody>
      </p:sp>
      <p:cxnSp>
        <p:nvCxnSpPr>
          <p:cNvPr id="94" name="直線矢印コネクタ 93"/>
          <p:cNvCxnSpPr/>
          <p:nvPr/>
        </p:nvCxnSpPr>
        <p:spPr>
          <a:xfrm rot="16200000" flipH="1">
            <a:off x="4133007" y="5920863"/>
            <a:ext cx="520907" cy="223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rot="10800000">
            <a:off x="3784994" y="6186972"/>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矢印コネクタ 95"/>
          <p:cNvCxnSpPr/>
          <p:nvPr/>
        </p:nvCxnSpPr>
        <p:spPr>
          <a:xfrm rot="5400000">
            <a:off x="1569499" y="3957863"/>
            <a:ext cx="4435505" cy="1364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794074" y="174691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練習問題３</a:t>
            </a:r>
            <a:endParaRPr kumimoji="1" lang="ja-JP" altLang="en-US" dirty="0"/>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4302704" y="4901764"/>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16200000" flipH="1">
            <a:off x="7453943" y="4560626"/>
            <a:ext cx="482257" cy="45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30" name="テキスト ボックス 29"/>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41" name="テキスト ボックス 40"/>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6935844" y="3892360"/>
            <a:ext cx="1431802" cy="523220"/>
          </a:xfrm>
          <a:prstGeom prst="rect">
            <a:avLst/>
          </a:prstGeom>
          <a:noFill/>
        </p:spPr>
        <p:txBody>
          <a:bodyPr wrap="none" rtlCol="0">
            <a:spAutoFit/>
          </a:bodyPr>
          <a:lstStyle/>
          <a:p>
            <a:r>
              <a:rPr lang="en-US" altLang="ja-JP" sz="2800" dirty="0" smtClean="0"/>
              <a:t>  z := z+1</a:t>
            </a:r>
          </a:p>
        </p:txBody>
      </p:sp>
      <p:cxnSp>
        <p:nvCxnSpPr>
          <p:cNvPr id="90" name="直線コネクタ 89"/>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416258" y="1608120"/>
            <a:ext cx="2668137" cy="4154984"/>
          </a:xfrm>
          <a:prstGeom prst="rect">
            <a:avLst/>
          </a:prstGeom>
        </p:spPr>
        <p:txBody>
          <a:bodyPr wrap="square">
            <a:spAutoFit/>
          </a:bodyPr>
          <a:lstStyle/>
          <a:p>
            <a:r>
              <a:rPr lang="en-US" altLang="ja-JP" sz="2400" b="1" dirty="0" smtClean="0"/>
              <a:t>while</a:t>
            </a:r>
            <a:r>
              <a:rPr lang="en-US" altLang="ja-JP" sz="2400" dirty="0" smtClean="0"/>
              <a:t> x&gt;0 </a:t>
            </a:r>
            <a:r>
              <a:rPr lang="en-US" altLang="ja-JP" sz="2400" b="1" dirty="0" smtClean="0"/>
              <a:t>do</a:t>
            </a:r>
          </a:p>
          <a:p>
            <a:r>
              <a:rPr lang="en-US" altLang="ja-JP" sz="2400" b="1" dirty="0" smtClean="0"/>
              <a:t>    begin</a:t>
            </a:r>
          </a:p>
          <a:p>
            <a:r>
              <a:rPr lang="en-US" altLang="ja-JP" sz="2400" b="1" dirty="0" smtClean="0"/>
              <a:t>        while </a:t>
            </a:r>
            <a:r>
              <a:rPr lang="en-US" altLang="ja-JP" sz="2400" dirty="0" smtClean="0"/>
              <a:t>y&gt;0</a:t>
            </a:r>
            <a:r>
              <a:rPr lang="en-US" altLang="ja-JP" sz="2400" b="1" dirty="0" smtClean="0"/>
              <a:t> do</a:t>
            </a:r>
          </a:p>
          <a:p>
            <a:r>
              <a:rPr lang="en-US" altLang="ja-JP" sz="2400" dirty="0" smtClean="0"/>
              <a:t>            </a:t>
            </a:r>
            <a:r>
              <a:rPr lang="en-US" altLang="ja-JP" sz="2400" b="1" dirty="0" smtClean="0"/>
              <a:t>begin</a:t>
            </a:r>
          </a:p>
          <a:p>
            <a:r>
              <a:rPr lang="en-US" altLang="ja-JP" sz="2400" dirty="0" smtClean="0"/>
              <a:t>                </a:t>
            </a:r>
            <a:r>
              <a:rPr lang="en-US" altLang="ja-JP" sz="2400" b="1" dirty="0" smtClean="0"/>
              <a:t>if</a:t>
            </a:r>
            <a:r>
              <a:rPr lang="en-US" altLang="ja-JP" sz="2400" dirty="0" smtClean="0"/>
              <a:t> x=3 </a:t>
            </a:r>
            <a:r>
              <a:rPr lang="en-US" altLang="ja-JP" sz="2400" b="1" dirty="0" smtClean="0"/>
              <a:t>then</a:t>
            </a:r>
          </a:p>
          <a:p>
            <a:r>
              <a:rPr lang="en-US" altLang="ja-JP" sz="2400" dirty="0" smtClean="0"/>
              <a:t>                    </a:t>
            </a:r>
            <a:r>
              <a:rPr lang="en-US" altLang="ja-JP" sz="2400" b="1" dirty="0" smtClean="0"/>
              <a:t>break</a:t>
            </a:r>
            <a:r>
              <a:rPr lang="en-US" altLang="ja-JP" sz="2400" dirty="0" smtClean="0"/>
              <a:t>;</a:t>
            </a:r>
          </a:p>
          <a:p>
            <a:r>
              <a:rPr lang="en-US" altLang="ja-JP" sz="2400" b="1" dirty="0" smtClean="0"/>
              <a:t>                </a:t>
            </a:r>
            <a:r>
              <a:rPr lang="en-US" altLang="ja-JP" sz="2400" dirty="0" smtClean="0"/>
              <a:t>z := z + 1;</a:t>
            </a:r>
          </a:p>
          <a:p>
            <a:r>
              <a:rPr lang="en-US" altLang="ja-JP" sz="2400" dirty="0" smtClean="0"/>
              <a:t>                y := y - 1</a:t>
            </a:r>
          </a:p>
          <a:p>
            <a:r>
              <a:rPr lang="en-US" altLang="ja-JP" sz="2400" dirty="0" smtClean="0"/>
              <a:t>            </a:t>
            </a:r>
            <a:r>
              <a:rPr lang="en-US" altLang="ja-JP" sz="2400" b="1" dirty="0" smtClean="0"/>
              <a:t>end</a:t>
            </a:r>
            <a:r>
              <a:rPr lang="en-US" altLang="ja-JP" sz="2400" dirty="0" smtClean="0"/>
              <a:t>;</a:t>
            </a:r>
          </a:p>
          <a:p>
            <a:r>
              <a:rPr lang="en-US" altLang="ja-JP" sz="2400" dirty="0" smtClean="0"/>
              <a:t>        x := x – 1</a:t>
            </a:r>
          </a:p>
          <a:p>
            <a:r>
              <a:rPr lang="en-US" altLang="ja-JP" sz="2400" dirty="0" smtClean="0"/>
              <a:t>   </a:t>
            </a:r>
            <a:r>
              <a:rPr lang="en-US" altLang="ja-JP" sz="2400" b="1" dirty="0" smtClean="0"/>
              <a:t> end</a:t>
            </a:r>
            <a:endParaRPr lang="ja-JP" altLang="en-US" sz="2400" b="1" dirty="0"/>
          </a:p>
        </p:txBody>
      </p:sp>
      <p:cxnSp>
        <p:nvCxnSpPr>
          <p:cNvPr id="95" name="直線コネクタ 94"/>
          <p:cNvCxnSpPr/>
          <p:nvPr/>
        </p:nvCxnSpPr>
        <p:spPr>
          <a:xfrm rot="10800000" flipV="1">
            <a:off x="3712185" y="4435521"/>
            <a:ext cx="1282897"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矢印コネクタ 95"/>
          <p:cNvCxnSpPr/>
          <p:nvPr/>
        </p:nvCxnSpPr>
        <p:spPr>
          <a:xfrm rot="5400000">
            <a:off x="627789" y="3207231"/>
            <a:ext cx="5254393" cy="1363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261802" y="58683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矢印コネクタ 28"/>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ひし形 30"/>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x=3</a:t>
            </a:r>
            <a:endParaRPr kumimoji="1" lang="ja-JP" altLang="en-US" sz="2800" dirty="0">
              <a:solidFill>
                <a:schemeClr val="tx1"/>
              </a:solidFill>
            </a:endParaRPr>
          </a:p>
        </p:txBody>
      </p:sp>
      <p:sp>
        <p:nvSpPr>
          <p:cNvPr id="32" name="テキスト ボックス 31"/>
          <p:cNvSpPr txBox="1"/>
          <p:nvPr/>
        </p:nvSpPr>
        <p:spPr>
          <a:xfrm>
            <a:off x="6976370" y="281204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231369" y="283934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36" name="直線コネクタ 35"/>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6992710" y="4754440"/>
            <a:ext cx="1404552" cy="523220"/>
          </a:xfrm>
          <a:prstGeom prst="rect">
            <a:avLst/>
          </a:prstGeom>
          <a:noFill/>
        </p:spPr>
        <p:txBody>
          <a:bodyPr wrap="none" rtlCol="0">
            <a:spAutoFit/>
          </a:bodyPr>
          <a:lstStyle/>
          <a:p>
            <a:r>
              <a:rPr lang="en-US" altLang="ja-JP" sz="2800" dirty="0" smtClean="0"/>
              <a:t>  y := y-1</a:t>
            </a:r>
          </a:p>
        </p:txBody>
      </p:sp>
      <p:cxnSp>
        <p:nvCxnSpPr>
          <p:cNvPr id="40" name="直線矢印コネクタ 39"/>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rot="10800000" flipV="1">
            <a:off x="3698544" y="3293634"/>
            <a:ext cx="1983507" cy="912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16200000" flipH="1">
            <a:off x="7469865" y="5504596"/>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4783529" y="5616053"/>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6" name="直線矢印コネクタ 65"/>
          <p:cNvCxnSpPr/>
          <p:nvPr/>
        </p:nvCxnSpPr>
        <p:spPr>
          <a:xfrm rot="16200000" flipH="1">
            <a:off x="2618081" y="3355059"/>
            <a:ext cx="2158657" cy="226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rot="10800000">
            <a:off x="7693009" y="5726850"/>
            <a:ext cx="795899"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直線矢印コネクタ 76"/>
          <p:cNvCxnSpPr/>
          <p:nvPr/>
        </p:nvCxnSpPr>
        <p:spPr>
          <a:xfrm rot="16200000" flipH="1">
            <a:off x="6479010" y="3722162"/>
            <a:ext cx="3987248" cy="525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09" name="直線矢印コネクタ 108"/>
          <p:cNvCxnSpPr/>
          <p:nvPr/>
        </p:nvCxnSpPr>
        <p:spPr>
          <a:xfrm rot="16200000" flipH="1">
            <a:off x="4785803" y="464933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直線コネクタ 109"/>
          <p:cNvCxnSpPr/>
          <p:nvPr/>
        </p:nvCxnSpPr>
        <p:spPr>
          <a:xfrm rot="10800000">
            <a:off x="3248167" y="5841243"/>
            <a:ext cx="1749192" cy="22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smtClean="0"/>
              <a:t>練習問題４</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a:t>
            </a:r>
            <a:r>
              <a:rPr lang="en-US" altLang="ja-JP" sz="2800" dirty="0" smtClean="0">
                <a:sym typeface="Symbol"/>
              </a:rPr>
              <a:t></a:t>
            </a:r>
            <a:r>
              <a:rPr lang="en-US" altLang="ja-JP" sz="2800" dirty="0" smtClean="0"/>
              <a:t>3 </a:t>
            </a:r>
            <a:r>
              <a:rPr lang="en-US" altLang="ja-JP" sz="2800" b="1" dirty="0" smtClean="0"/>
              <a:t>then</a:t>
            </a:r>
          </a:p>
          <a:p>
            <a:r>
              <a:rPr lang="en-US" altLang="ja-JP" sz="2800" b="1" dirty="0" smtClean="0"/>
              <a:t>                    begin</a:t>
            </a:r>
          </a:p>
          <a:p>
            <a:r>
              <a:rPr lang="en-US" altLang="ja-JP" sz="2800" b="1" dirty="0" smtClean="0"/>
              <a:t>                        </a:t>
            </a:r>
            <a:r>
              <a:rPr lang="en-US" altLang="ja-JP" sz="2800" dirty="0" smtClean="0"/>
              <a:t>y := y – 1;</a:t>
            </a:r>
          </a:p>
          <a:p>
            <a:r>
              <a:rPr kumimoji="1" lang="en-US" altLang="ja-JP" sz="2800" dirty="0" smtClean="0"/>
              <a:t>                        </a:t>
            </a:r>
            <a:r>
              <a:rPr kumimoji="1" lang="en-US" altLang="ja-JP" sz="2800" b="1" dirty="0" smtClean="0"/>
              <a:t>continue</a:t>
            </a:r>
          </a:p>
          <a:p>
            <a:r>
              <a:rPr lang="en-US" altLang="ja-JP" sz="2800" b="1" dirty="0" smtClean="0"/>
              <a:t>                    end</a:t>
            </a:r>
            <a:endParaRPr kumimoji="1" lang="en-US" altLang="ja-JP" sz="2800" dirty="0" smtClean="0"/>
          </a:p>
          <a:p>
            <a:r>
              <a:rPr lang="en-US" altLang="ja-JP" sz="2800" b="1" dirty="0" smtClean="0"/>
              <a:t>                </a:t>
            </a:r>
            <a:r>
              <a:rPr lang="en-US" altLang="ja-JP" sz="2800" dirty="0" smtClean="0"/>
              <a:t>z := z + 1;</a:t>
            </a:r>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169939" y="5324843"/>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30" name="テキスト ボックス 29"/>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41" name="テキスト ボックス 40"/>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416258" y="1608120"/>
            <a:ext cx="2668137" cy="4401205"/>
          </a:xfrm>
          <a:prstGeom prst="rect">
            <a:avLst/>
          </a:prstGeom>
        </p:spPr>
        <p:txBody>
          <a:bodyPr wrap="square">
            <a:spAutoFit/>
          </a:bodyPr>
          <a:lstStyle/>
          <a:p>
            <a:r>
              <a:rPr lang="en-US" altLang="ja-JP" sz="2000" b="1" dirty="0" smtClean="0"/>
              <a:t>while</a:t>
            </a:r>
            <a:r>
              <a:rPr lang="en-US" altLang="ja-JP" sz="2000" dirty="0" smtClean="0"/>
              <a:t> x&gt;0 </a:t>
            </a:r>
            <a:r>
              <a:rPr lang="en-US" altLang="ja-JP" sz="2000" b="1" dirty="0" smtClean="0"/>
              <a:t>do</a:t>
            </a:r>
          </a:p>
          <a:p>
            <a:r>
              <a:rPr lang="en-US" altLang="ja-JP" sz="2000" b="1" dirty="0" smtClean="0"/>
              <a:t>    begin</a:t>
            </a:r>
          </a:p>
          <a:p>
            <a:r>
              <a:rPr lang="en-US" altLang="ja-JP" sz="2000" b="1" dirty="0" smtClean="0"/>
              <a:t>        while </a:t>
            </a:r>
            <a:r>
              <a:rPr lang="en-US" altLang="ja-JP" sz="2000" dirty="0" smtClean="0"/>
              <a:t>y&gt;0</a:t>
            </a:r>
            <a:r>
              <a:rPr lang="en-US" altLang="ja-JP" sz="2000" b="1" dirty="0" smtClean="0"/>
              <a:t> do</a:t>
            </a:r>
          </a:p>
          <a:p>
            <a:r>
              <a:rPr lang="en-US" altLang="ja-JP" sz="2000" dirty="0" smtClean="0"/>
              <a:t>            </a:t>
            </a:r>
            <a:r>
              <a:rPr lang="en-US" altLang="ja-JP" sz="2000" b="1" dirty="0" smtClean="0"/>
              <a:t>begin</a:t>
            </a:r>
          </a:p>
          <a:p>
            <a:r>
              <a:rPr lang="en-US" altLang="ja-JP" sz="2000" dirty="0" smtClean="0"/>
              <a:t>                </a:t>
            </a:r>
            <a:r>
              <a:rPr lang="en-US" altLang="ja-JP" sz="2000" b="1" dirty="0" smtClean="0"/>
              <a:t>if</a:t>
            </a:r>
            <a:r>
              <a:rPr lang="en-US" altLang="ja-JP" sz="2000" dirty="0" smtClean="0"/>
              <a:t> x</a:t>
            </a:r>
            <a:r>
              <a:rPr lang="en-US" altLang="ja-JP" sz="2000" dirty="0" smtClean="0">
                <a:sym typeface="Symbol"/>
              </a:rPr>
              <a:t></a:t>
            </a:r>
            <a:r>
              <a:rPr lang="en-US" altLang="ja-JP" sz="2000" dirty="0" smtClean="0"/>
              <a:t>3 </a:t>
            </a:r>
            <a:r>
              <a:rPr lang="en-US" altLang="ja-JP" sz="2000" b="1" dirty="0" smtClean="0"/>
              <a:t>then</a:t>
            </a:r>
          </a:p>
          <a:p>
            <a:r>
              <a:rPr lang="en-US" altLang="ja-JP" sz="2000" b="1" dirty="0" smtClean="0"/>
              <a:t>                    begin</a:t>
            </a:r>
          </a:p>
          <a:p>
            <a:r>
              <a:rPr lang="en-US" altLang="ja-JP" sz="2000" b="1" dirty="0" smtClean="0"/>
              <a:t>                        </a:t>
            </a:r>
            <a:r>
              <a:rPr lang="en-US" altLang="ja-JP" sz="2000" dirty="0" smtClean="0"/>
              <a:t>y := y – 1;</a:t>
            </a:r>
          </a:p>
          <a:p>
            <a:r>
              <a:rPr lang="en-US" altLang="ja-JP" sz="2000" dirty="0" smtClean="0"/>
              <a:t>                        </a:t>
            </a:r>
            <a:r>
              <a:rPr lang="en-US" altLang="ja-JP" sz="2000" b="1" dirty="0" smtClean="0"/>
              <a:t>continue</a:t>
            </a:r>
          </a:p>
          <a:p>
            <a:r>
              <a:rPr lang="en-US" altLang="ja-JP" sz="2000" b="1" dirty="0" smtClean="0"/>
              <a:t>                    end</a:t>
            </a:r>
            <a:endParaRPr lang="en-US" altLang="ja-JP" sz="2000" dirty="0" smtClean="0"/>
          </a:p>
          <a:p>
            <a:r>
              <a:rPr lang="en-US" altLang="ja-JP" sz="2000" b="1" dirty="0" smtClean="0"/>
              <a:t>                </a:t>
            </a:r>
            <a:r>
              <a:rPr lang="en-US" altLang="ja-JP" sz="2000" dirty="0" smtClean="0"/>
              <a:t>z := z + 1;  </a:t>
            </a:r>
          </a:p>
          <a:p>
            <a:r>
              <a:rPr lang="en-US" altLang="ja-JP" sz="2000" dirty="0" smtClean="0"/>
              <a:t>                y := y - 1</a:t>
            </a:r>
          </a:p>
          <a:p>
            <a:r>
              <a:rPr lang="en-US" altLang="ja-JP" sz="2000" dirty="0" smtClean="0"/>
              <a:t>            </a:t>
            </a:r>
            <a:r>
              <a:rPr lang="en-US" altLang="ja-JP" sz="2000" b="1" dirty="0" smtClean="0"/>
              <a:t>end</a:t>
            </a:r>
            <a:r>
              <a:rPr lang="en-US" altLang="ja-JP" sz="2000" dirty="0" smtClean="0"/>
              <a:t>;</a:t>
            </a:r>
          </a:p>
          <a:p>
            <a:r>
              <a:rPr lang="en-US" altLang="ja-JP" sz="2000" dirty="0" smtClean="0"/>
              <a:t>        x := x – 1</a:t>
            </a:r>
          </a:p>
          <a:p>
            <a:r>
              <a:rPr lang="en-US" altLang="ja-JP" sz="2000" dirty="0" smtClean="0"/>
              <a:t>   </a:t>
            </a:r>
            <a:r>
              <a:rPr lang="en-US" altLang="ja-JP" sz="2000" b="1" dirty="0" smtClean="0"/>
              <a:t> end</a:t>
            </a:r>
            <a:endParaRPr lang="ja-JP" altLang="en-US" sz="2000" b="1" dirty="0"/>
          </a:p>
        </p:txBody>
      </p:sp>
      <p:cxnSp>
        <p:nvCxnSpPr>
          <p:cNvPr id="96" name="直線矢印コネクタ 95"/>
          <p:cNvCxnSpPr/>
          <p:nvPr/>
        </p:nvCxnSpPr>
        <p:spPr>
          <a:xfrm rot="5400000">
            <a:off x="232009" y="3411947"/>
            <a:ext cx="5691127" cy="1364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084394" y="573185"/>
            <a:ext cx="3289101" cy="21"/>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矢印コネクタ 28"/>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ひし形 30"/>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r>
              <a:rPr kumimoji="1" lang="en-US" altLang="ja-JP" sz="2800" dirty="0" smtClean="0">
                <a:solidFill>
                  <a:schemeClr val="tx1"/>
                </a:solidFill>
                <a:sym typeface="Symbol"/>
              </a:rPr>
              <a:t></a:t>
            </a:r>
            <a:r>
              <a:rPr kumimoji="1" lang="en-US" altLang="ja-JP" sz="2800" dirty="0" smtClean="0">
                <a:solidFill>
                  <a:schemeClr val="tx1"/>
                </a:solidFill>
              </a:rPr>
              <a:t>3</a:t>
            </a:r>
            <a:endParaRPr kumimoji="1" lang="ja-JP" altLang="en-US" sz="2800" dirty="0">
              <a:solidFill>
                <a:schemeClr val="tx1"/>
              </a:solidFill>
            </a:endParaRPr>
          </a:p>
        </p:txBody>
      </p:sp>
      <p:sp>
        <p:nvSpPr>
          <p:cNvPr id="32" name="テキスト ボックス 31"/>
          <p:cNvSpPr txBox="1"/>
          <p:nvPr/>
        </p:nvSpPr>
        <p:spPr>
          <a:xfrm>
            <a:off x="5243105" y="27847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6978282" y="2812045"/>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36" name="直線コネクタ 35"/>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7006358" y="3908279"/>
            <a:ext cx="1404552" cy="523220"/>
          </a:xfrm>
          <a:prstGeom prst="rect">
            <a:avLst/>
          </a:prstGeom>
          <a:noFill/>
        </p:spPr>
        <p:txBody>
          <a:bodyPr wrap="none" rtlCol="0">
            <a:spAutoFit/>
          </a:bodyPr>
          <a:lstStyle/>
          <a:p>
            <a:r>
              <a:rPr lang="en-US" altLang="ja-JP" sz="2800" dirty="0" smtClean="0"/>
              <a:t>  y := y-1</a:t>
            </a:r>
          </a:p>
        </p:txBody>
      </p:sp>
      <p:cxnSp>
        <p:nvCxnSpPr>
          <p:cNvPr id="40" name="直線矢印コネクタ 39"/>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5400000">
            <a:off x="7210563" y="4919986"/>
            <a:ext cx="957655" cy="1139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4783529" y="516567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直線矢印コネクタ 65"/>
          <p:cNvCxnSpPr/>
          <p:nvPr/>
        </p:nvCxnSpPr>
        <p:spPr>
          <a:xfrm rot="5400000">
            <a:off x="2113114" y="3848646"/>
            <a:ext cx="3154945" cy="113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rot="10800000">
            <a:off x="5018050" y="5385656"/>
            <a:ext cx="3457211"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直線矢印コネクタ 76"/>
          <p:cNvCxnSpPr/>
          <p:nvPr/>
        </p:nvCxnSpPr>
        <p:spPr>
          <a:xfrm rot="16200000" flipH="1">
            <a:off x="6642783" y="3558388"/>
            <a:ext cx="3659703" cy="5252"/>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0800000">
            <a:off x="5045128" y="3284532"/>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矢印コネクタ 44"/>
          <p:cNvCxnSpPr/>
          <p:nvPr/>
        </p:nvCxnSpPr>
        <p:spPr>
          <a:xfrm rot="16200000" flipH="1">
            <a:off x="4829021" y="3518846"/>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テキスト ボックス 46"/>
          <p:cNvSpPr txBox="1"/>
          <p:nvPr/>
        </p:nvSpPr>
        <p:spPr>
          <a:xfrm>
            <a:off x="4359570" y="3689385"/>
            <a:ext cx="1431802" cy="523220"/>
          </a:xfrm>
          <a:prstGeom prst="rect">
            <a:avLst/>
          </a:prstGeom>
          <a:noFill/>
        </p:spPr>
        <p:txBody>
          <a:bodyPr wrap="none" rtlCol="0">
            <a:spAutoFit/>
          </a:bodyPr>
          <a:lstStyle/>
          <a:p>
            <a:r>
              <a:rPr lang="en-US" altLang="ja-JP" sz="2800" dirty="0" smtClean="0"/>
              <a:t>  z := z+1</a:t>
            </a:r>
          </a:p>
        </p:txBody>
      </p:sp>
      <p:cxnSp>
        <p:nvCxnSpPr>
          <p:cNvPr id="48" name="直線矢印コネクタ 47"/>
          <p:cNvCxnSpPr/>
          <p:nvPr/>
        </p:nvCxnSpPr>
        <p:spPr>
          <a:xfrm rot="16200000" flipH="1">
            <a:off x="4790352" y="4312691"/>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テキスト ボックス 48"/>
          <p:cNvSpPr txBox="1"/>
          <p:nvPr/>
        </p:nvSpPr>
        <p:spPr>
          <a:xfrm>
            <a:off x="4333671" y="4429167"/>
            <a:ext cx="1404552" cy="523220"/>
          </a:xfrm>
          <a:prstGeom prst="rect">
            <a:avLst/>
          </a:prstGeom>
          <a:noFill/>
        </p:spPr>
        <p:txBody>
          <a:bodyPr wrap="none" rtlCol="0">
            <a:spAutoFit/>
          </a:bodyPr>
          <a:lstStyle/>
          <a:p>
            <a:r>
              <a:rPr lang="en-US" altLang="ja-JP" sz="2800" dirty="0" smtClean="0"/>
              <a:t>  y := y-1</a:t>
            </a:r>
          </a:p>
        </p:txBody>
      </p:sp>
      <p:cxnSp>
        <p:nvCxnSpPr>
          <p:cNvPr id="57" name="直線矢印コネクタ 56"/>
          <p:cNvCxnSpPr/>
          <p:nvPr/>
        </p:nvCxnSpPr>
        <p:spPr>
          <a:xfrm rot="16200000" flipH="1">
            <a:off x="3459696" y="6052782"/>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rot="10800000">
            <a:off x="3075311" y="628250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練習問題５</a:t>
            </a:r>
            <a:endParaRPr kumimoji="1" lang="ja-JP" altLang="en-US" dirty="0"/>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x := 10;</a:t>
            </a:r>
          </a:p>
          <a:p>
            <a:r>
              <a:rPr lang="en-US" altLang="ja-JP" sz="2800" dirty="0" smtClean="0"/>
              <a:t>sum := 0;</a:t>
            </a:r>
          </a:p>
          <a:p>
            <a:r>
              <a:rPr lang="en-US" altLang="ja-JP" sz="2800" dirty="0" smtClean="0"/>
              <a:t>L:  sum := sum + x;</a:t>
            </a:r>
          </a:p>
          <a:p>
            <a:r>
              <a:rPr lang="en-US" altLang="ja-JP" sz="2800" dirty="0" smtClean="0"/>
              <a:t>x := x – 1;</a:t>
            </a:r>
          </a:p>
          <a:p>
            <a:r>
              <a:rPr lang="en-US" altLang="ja-JP" sz="2800" dirty="0" smtClean="0"/>
              <a:t>if x &gt; 0 then</a:t>
            </a:r>
          </a:p>
          <a:p>
            <a:r>
              <a:rPr lang="en-US" altLang="ja-JP" sz="2800" dirty="0" smtClean="0"/>
              <a:t>    </a:t>
            </a:r>
            <a:r>
              <a:rPr lang="en-US" altLang="ja-JP" sz="2800" dirty="0" err="1" smtClean="0"/>
              <a:t>goto</a:t>
            </a:r>
            <a:r>
              <a:rPr lang="en-US" altLang="ja-JP" sz="2800" dirty="0" smtClean="0"/>
              <a:t> 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正方形/長方形 3"/>
          <p:cNvSpPr/>
          <p:nvPr/>
        </p:nvSpPr>
        <p:spPr>
          <a:xfrm>
            <a:off x="484494" y="1896745"/>
            <a:ext cx="2490717" cy="2308324"/>
          </a:xfrm>
          <a:prstGeom prst="rect">
            <a:avLst/>
          </a:prstGeom>
        </p:spPr>
        <p:txBody>
          <a:bodyPr wrap="square">
            <a:spAutoFit/>
          </a:bodyPr>
          <a:lstStyle/>
          <a:p>
            <a:r>
              <a:rPr lang="en-US" altLang="ja-JP" sz="2400" dirty="0" smtClean="0"/>
              <a:t>x := 10;</a:t>
            </a:r>
          </a:p>
          <a:p>
            <a:r>
              <a:rPr lang="en-US" altLang="ja-JP" sz="2400" dirty="0" smtClean="0"/>
              <a:t>sum := 0;</a:t>
            </a:r>
          </a:p>
          <a:p>
            <a:r>
              <a:rPr lang="en-US" altLang="ja-JP" sz="2400" dirty="0" smtClean="0"/>
              <a:t>L:  sum := sum + x;</a:t>
            </a:r>
          </a:p>
          <a:p>
            <a:r>
              <a:rPr lang="en-US" altLang="ja-JP" sz="2400" dirty="0" smtClean="0"/>
              <a:t>x := x – 1;</a:t>
            </a:r>
          </a:p>
          <a:p>
            <a:r>
              <a:rPr lang="en-US" altLang="ja-JP" sz="2400" dirty="0" smtClean="0"/>
              <a:t>if x &gt; 0 then</a:t>
            </a:r>
          </a:p>
          <a:p>
            <a:r>
              <a:rPr lang="en-US" altLang="ja-JP" sz="2400" dirty="0" smtClean="0"/>
              <a:t>    </a:t>
            </a:r>
            <a:r>
              <a:rPr lang="en-US" altLang="ja-JP" sz="2400" dirty="0" err="1" smtClean="0"/>
              <a:t>goto</a:t>
            </a:r>
            <a:r>
              <a:rPr lang="en-US" altLang="ja-JP" sz="2400" dirty="0" smtClean="0"/>
              <a:t> L</a:t>
            </a:r>
          </a:p>
        </p:txBody>
      </p:sp>
      <p:sp>
        <p:nvSpPr>
          <p:cNvPr id="5" name="テキスト ボックス 4"/>
          <p:cNvSpPr txBox="1"/>
          <p:nvPr/>
        </p:nvSpPr>
        <p:spPr>
          <a:xfrm>
            <a:off x="4503761" y="1883391"/>
            <a:ext cx="1226618" cy="523220"/>
          </a:xfrm>
          <a:prstGeom prst="rect">
            <a:avLst/>
          </a:prstGeom>
          <a:noFill/>
        </p:spPr>
        <p:txBody>
          <a:bodyPr wrap="none" rtlCol="0">
            <a:spAutoFit/>
          </a:bodyPr>
          <a:lstStyle/>
          <a:p>
            <a:r>
              <a:rPr kumimoji="1" lang="en-US" altLang="ja-JP" sz="2800" dirty="0" smtClean="0"/>
              <a:t> x := 10</a:t>
            </a:r>
            <a:endParaRPr kumimoji="1" lang="ja-JP" altLang="en-US" sz="2800" dirty="0"/>
          </a:p>
        </p:txBody>
      </p:sp>
      <p:cxnSp>
        <p:nvCxnSpPr>
          <p:cNvPr id="6" name="直線矢印コネクタ 5"/>
          <p:cNvCxnSpPr/>
          <p:nvPr/>
        </p:nvCxnSpPr>
        <p:spPr>
          <a:xfrm rot="16200000" flipH="1">
            <a:off x="4831296" y="256574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4326337" y="2702254"/>
            <a:ext cx="1505540" cy="523220"/>
          </a:xfrm>
          <a:prstGeom prst="rect">
            <a:avLst/>
          </a:prstGeom>
          <a:noFill/>
        </p:spPr>
        <p:txBody>
          <a:bodyPr wrap="none" rtlCol="0">
            <a:spAutoFit/>
          </a:bodyPr>
          <a:lstStyle/>
          <a:p>
            <a:r>
              <a:rPr lang="en-US" altLang="ja-JP" sz="2800" dirty="0" smtClean="0"/>
              <a:t> sum := 0</a:t>
            </a:r>
            <a:endParaRPr kumimoji="1" lang="ja-JP" altLang="en-US" sz="2800" dirty="0"/>
          </a:p>
        </p:txBody>
      </p:sp>
      <p:cxnSp>
        <p:nvCxnSpPr>
          <p:cNvPr id="8" name="直線矢印コネクタ 7"/>
          <p:cNvCxnSpPr/>
          <p:nvPr/>
        </p:nvCxnSpPr>
        <p:spPr>
          <a:xfrm rot="16200000" flipH="1">
            <a:off x="4833571" y="341418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3958974" y="3571879"/>
            <a:ext cx="2356735" cy="523220"/>
          </a:xfrm>
          <a:prstGeom prst="rect">
            <a:avLst/>
          </a:prstGeom>
        </p:spPr>
        <p:txBody>
          <a:bodyPr wrap="none">
            <a:spAutoFit/>
          </a:bodyPr>
          <a:lstStyle/>
          <a:p>
            <a:r>
              <a:rPr lang="en-US" altLang="ja-JP" sz="2800" dirty="0" smtClean="0"/>
              <a:t>sum := sum + x</a:t>
            </a:r>
            <a:endParaRPr lang="ja-JP" altLang="en-US" sz="2800" dirty="0"/>
          </a:p>
        </p:txBody>
      </p:sp>
      <p:sp>
        <p:nvSpPr>
          <p:cNvPr id="10" name="正方形/長方形 9"/>
          <p:cNvSpPr/>
          <p:nvPr/>
        </p:nvSpPr>
        <p:spPr>
          <a:xfrm>
            <a:off x="4355897" y="4418043"/>
            <a:ext cx="1460656" cy="523220"/>
          </a:xfrm>
          <a:prstGeom prst="rect">
            <a:avLst/>
          </a:prstGeom>
        </p:spPr>
        <p:txBody>
          <a:bodyPr wrap="none">
            <a:spAutoFit/>
          </a:bodyPr>
          <a:lstStyle/>
          <a:p>
            <a:r>
              <a:rPr lang="en-US" altLang="ja-JP" sz="2800" dirty="0" smtClean="0"/>
              <a:t>x := x – 1</a:t>
            </a:r>
            <a:endParaRPr lang="ja-JP" altLang="en-US" sz="2800" dirty="0"/>
          </a:p>
        </p:txBody>
      </p:sp>
      <p:cxnSp>
        <p:nvCxnSpPr>
          <p:cNvPr id="11" name="直線矢印コネクタ 10"/>
          <p:cNvCxnSpPr/>
          <p:nvPr/>
        </p:nvCxnSpPr>
        <p:spPr>
          <a:xfrm rot="16200000" flipH="1">
            <a:off x="4835843" y="4262633"/>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16200000" flipH="1">
            <a:off x="4833568" y="1680899"/>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p:nvPr/>
        </p:nvCxnSpPr>
        <p:spPr>
          <a:xfrm rot="16200000" flipH="1">
            <a:off x="4838115" y="515202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ひし形 13"/>
          <p:cNvSpPr/>
          <p:nvPr/>
        </p:nvSpPr>
        <p:spPr>
          <a:xfrm>
            <a:off x="4362424" y="539147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x&gt;0</a:t>
            </a:r>
            <a:endParaRPr kumimoji="1" lang="ja-JP" altLang="en-US" sz="2800" dirty="0">
              <a:solidFill>
                <a:schemeClr val="tx1"/>
              </a:solidFill>
            </a:endParaRPr>
          </a:p>
        </p:txBody>
      </p:sp>
      <p:cxnSp>
        <p:nvCxnSpPr>
          <p:cNvPr id="16" name="直線コネクタ 15"/>
          <p:cNvCxnSpPr/>
          <p:nvPr/>
        </p:nvCxnSpPr>
        <p:spPr>
          <a:xfrm rot="10800000">
            <a:off x="3734943" y="5741128"/>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直線矢印コネクタ 16"/>
          <p:cNvCxnSpPr/>
          <p:nvPr/>
        </p:nvCxnSpPr>
        <p:spPr>
          <a:xfrm rot="16200000" flipH="1">
            <a:off x="3325494" y="6150580"/>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0800000" flipV="1">
            <a:off x="5775273" y="5745706"/>
            <a:ext cx="1021313" cy="2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矢印コネクタ 36"/>
          <p:cNvCxnSpPr/>
          <p:nvPr/>
        </p:nvCxnSpPr>
        <p:spPr>
          <a:xfrm rot="5400000">
            <a:off x="5629698" y="4592472"/>
            <a:ext cx="2333768" cy="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077597" y="3409421"/>
            <a:ext cx="1718988" cy="2519"/>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練習問題６</a:t>
            </a:r>
            <a:endParaRPr kumimoji="1" lang="ja-JP" altLang="en-US" dirty="0"/>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y := 3;</a:t>
            </a:r>
          </a:p>
          <a:p>
            <a:r>
              <a:rPr lang="en-US" altLang="ja-JP" sz="2800" b="1" dirty="0" smtClean="0"/>
              <a:t>case</a:t>
            </a:r>
            <a:r>
              <a:rPr lang="en-US" altLang="ja-JP" sz="2800" dirty="0" smtClean="0"/>
              <a:t> x </a:t>
            </a:r>
            <a:r>
              <a:rPr lang="en-US" altLang="ja-JP" sz="2800" b="1" dirty="0" smtClean="0"/>
              <a:t>of</a:t>
            </a:r>
          </a:p>
          <a:p>
            <a:r>
              <a:rPr lang="en-US" altLang="ja-JP" sz="2800" dirty="0" smtClean="0"/>
              <a:t>    1 : y := 1;</a:t>
            </a:r>
          </a:p>
          <a:p>
            <a:r>
              <a:rPr lang="en-US" altLang="ja-JP" sz="2800" dirty="0" smtClean="0"/>
              <a:t>    2 : y := x * 2;</a:t>
            </a:r>
          </a:p>
          <a:p>
            <a:r>
              <a:rPr lang="en-US" altLang="ja-JP" sz="2800" dirty="0" smtClean="0"/>
              <a:t>    3 : </a:t>
            </a:r>
            <a:r>
              <a:rPr lang="en-US" altLang="ja-JP" sz="2800" b="1" dirty="0" smtClean="0"/>
              <a:t>if</a:t>
            </a:r>
            <a:r>
              <a:rPr lang="en-US" altLang="ja-JP" sz="2800" dirty="0" smtClean="0"/>
              <a:t> z = 0 </a:t>
            </a:r>
            <a:r>
              <a:rPr lang="en-US" altLang="ja-JP" sz="2800" b="1" dirty="0" smtClean="0"/>
              <a:t>then</a:t>
            </a:r>
          </a:p>
          <a:p>
            <a:r>
              <a:rPr lang="en-US" altLang="ja-JP" sz="2800" dirty="0" smtClean="0"/>
              <a:t>              y := y * y</a:t>
            </a:r>
          </a:p>
          <a:p>
            <a:r>
              <a:rPr lang="en-US" altLang="ja-JP" sz="2800" dirty="0" smtClean="0"/>
              <a:t>         </a:t>
            </a:r>
            <a:r>
              <a:rPr lang="en-US" altLang="ja-JP" sz="2800" b="1" dirty="0" smtClean="0"/>
              <a:t>else</a:t>
            </a:r>
            <a:r>
              <a:rPr lang="en-US" altLang="ja-JP" sz="2800" dirty="0" smtClean="0"/>
              <a:t> </a:t>
            </a:r>
          </a:p>
          <a:p>
            <a:r>
              <a:rPr lang="en-US" altLang="ja-JP" sz="2800" dirty="0" smtClean="0"/>
              <a:t>              y := y * y * y</a:t>
            </a:r>
          </a:p>
          <a:p>
            <a:r>
              <a:rPr lang="en-US" altLang="ja-JP" sz="2800" b="1" dirty="0" smtClean="0"/>
              <a:t>end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正方形/長方形 3"/>
          <p:cNvSpPr/>
          <p:nvPr/>
        </p:nvSpPr>
        <p:spPr>
          <a:xfrm>
            <a:off x="484494" y="1896745"/>
            <a:ext cx="3009333" cy="3416320"/>
          </a:xfrm>
          <a:prstGeom prst="rect">
            <a:avLst/>
          </a:prstGeom>
        </p:spPr>
        <p:txBody>
          <a:bodyPr wrap="square">
            <a:spAutoFit/>
          </a:bodyPr>
          <a:lstStyle/>
          <a:p>
            <a:r>
              <a:rPr lang="en-US" altLang="ja-JP" sz="2400" dirty="0" smtClean="0"/>
              <a:t>y := 3;</a:t>
            </a:r>
          </a:p>
          <a:p>
            <a:r>
              <a:rPr lang="en-US" altLang="ja-JP" sz="2400" b="1" dirty="0" smtClean="0"/>
              <a:t>case</a:t>
            </a:r>
            <a:r>
              <a:rPr lang="en-US" altLang="ja-JP" sz="2400" dirty="0" smtClean="0"/>
              <a:t> x </a:t>
            </a:r>
            <a:r>
              <a:rPr lang="en-US" altLang="ja-JP" sz="2400" b="1" dirty="0" smtClean="0"/>
              <a:t>of</a:t>
            </a:r>
          </a:p>
          <a:p>
            <a:r>
              <a:rPr lang="en-US" altLang="ja-JP" sz="2400" dirty="0" smtClean="0"/>
              <a:t>    1 : y := 1;</a:t>
            </a:r>
          </a:p>
          <a:p>
            <a:r>
              <a:rPr lang="en-US" altLang="ja-JP" sz="2400" dirty="0" smtClean="0"/>
              <a:t>    2 : y := x * 2;</a:t>
            </a:r>
          </a:p>
          <a:p>
            <a:r>
              <a:rPr lang="en-US" altLang="ja-JP" sz="2400" dirty="0" smtClean="0"/>
              <a:t>    3 : </a:t>
            </a:r>
            <a:r>
              <a:rPr lang="en-US" altLang="ja-JP" sz="2400" b="1" dirty="0" smtClean="0"/>
              <a:t>if</a:t>
            </a:r>
            <a:r>
              <a:rPr lang="en-US" altLang="ja-JP" sz="2400" dirty="0" smtClean="0"/>
              <a:t> z = 0 </a:t>
            </a:r>
            <a:r>
              <a:rPr lang="en-US" altLang="ja-JP" sz="2400" b="1" dirty="0" smtClean="0"/>
              <a:t>then</a:t>
            </a:r>
          </a:p>
          <a:p>
            <a:r>
              <a:rPr lang="en-US" altLang="ja-JP" sz="2400" dirty="0" smtClean="0"/>
              <a:t>              y := y * y</a:t>
            </a:r>
          </a:p>
          <a:p>
            <a:r>
              <a:rPr lang="en-US" altLang="ja-JP" sz="2400" dirty="0" smtClean="0"/>
              <a:t>         </a:t>
            </a:r>
            <a:r>
              <a:rPr lang="en-US" altLang="ja-JP" sz="2400" b="1" dirty="0" smtClean="0"/>
              <a:t>else</a:t>
            </a:r>
            <a:r>
              <a:rPr lang="en-US" altLang="ja-JP" sz="2400" dirty="0" smtClean="0"/>
              <a:t> </a:t>
            </a:r>
          </a:p>
          <a:p>
            <a:r>
              <a:rPr lang="en-US" altLang="ja-JP" sz="2400" dirty="0" smtClean="0"/>
              <a:t>              y := y * y * y</a:t>
            </a:r>
          </a:p>
          <a:p>
            <a:r>
              <a:rPr lang="en-US" altLang="ja-JP" sz="2400" b="1" dirty="0" smtClean="0"/>
              <a:t>end</a:t>
            </a:r>
          </a:p>
        </p:txBody>
      </p:sp>
      <p:sp>
        <p:nvSpPr>
          <p:cNvPr id="5" name="テキスト ボックス 4"/>
          <p:cNvSpPr txBox="1"/>
          <p:nvPr/>
        </p:nvSpPr>
        <p:spPr>
          <a:xfrm>
            <a:off x="4503761" y="1883391"/>
            <a:ext cx="1050288" cy="523220"/>
          </a:xfrm>
          <a:prstGeom prst="rect">
            <a:avLst/>
          </a:prstGeom>
          <a:noFill/>
        </p:spPr>
        <p:txBody>
          <a:bodyPr wrap="none" rtlCol="0">
            <a:spAutoFit/>
          </a:bodyPr>
          <a:lstStyle/>
          <a:p>
            <a:r>
              <a:rPr kumimoji="1" lang="en-US" altLang="ja-JP" sz="2800" dirty="0" smtClean="0"/>
              <a:t> y := 3</a:t>
            </a:r>
            <a:endParaRPr kumimoji="1" lang="ja-JP" altLang="en-US" sz="2800" dirty="0"/>
          </a:p>
        </p:txBody>
      </p:sp>
      <p:cxnSp>
        <p:nvCxnSpPr>
          <p:cNvPr id="6" name="直線矢印コネクタ 5"/>
          <p:cNvCxnSpPr/>
          <p:nvPr/>
        </p:nvCxnSpPr>
        <p:spPr>
          <a:xfrm rot="16200000" flipH="1">
            <a:off x="4831296" y="256574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16200000" flipH="1">
            <a:off x="4833568" y="1680899"/>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p:nvPr/>
        </p:nvCxnSpPr>
        <p:spPr>
          <a:xfrm rot="16200000" flipH="1">
            <a:off x="3132162" y="5097440"/>
            <a:ext cx="1596789"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ひし形 13"/>
          <p:cNvSpPr/>
          <p:nvPr/>
        </p:nvSpPr>
        <p:spPr>
          <a:xfrm>
            <a:off x="6505119" y="374692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z=0</a:t>
            </a:r>
            <a:endParaRPr kumimoji="1" lang="ja-JP" altLang="en-US" sz="2800" dirty="0">
              <a:solidFill>
                <a:schemeClr val="tx1"/>
              </a:solidFill>
            </a:endParaRPr>
          </a:p>
        </p:txBody>
      </p:sp>
      <p:cxnSp>
        <p:nvCxnSpPr>
          <p:cNvPr id="16" name="直線コネクタ 15"/>
          <p:cNvCxnSpPr/>
          <p:nvPr/>
        </p:nvCxnSpPr>
        <p:spPr>
          <a:xfrm rot="10800000">
            <a:off x="5877638" y="4110221"/>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直線矢印コネクタ 16"/>
          <p:cNvCxnSpPr/>
          <p:nvPr/>
        </p:nvCxnSpPr>
        <p:spPr>
          <a:xfrm rot="16200000" flipH="1">
            <a:off x="5481837" y="4506024"/>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3503994" y="3723492"/>
            <a:ext cx="968535" cy="523220"/>
          </a:xfrm>
          <a:prstGeom prst="rect">
            <a:avLst/>
          </a:prstGeom>
          <a:noFill/>
          <a:ln>
            <a:noFill/>
          </a:ln>
        </p:spPr>
        <p:txBody>
          <a:bodyPr wrap="none" rtlCol="0">
            <a:spAutoFit/>
          </a:bodyPr>
          <a:lstStyle/>
          <a:p>
            <a:r>
              <a:rPr lang="en-US" altLang="ja-JP" sz="2800" dirty="0" smtClean="0"/>
              <a:t>y := 1</a:t>
            </a:r>
          </a:p>
        </p:txBody>
      </p:sp>
      <p:sp>
        <p:nvSpPr>
          <p:cNvPr id="20" name="テキスト ボックス 19"/>
          <p:cNvSpPr txBox="1"/>
          <p:nvPr/>
        </p:nvSpPr>
        <p:spPr>
          <a:xfrm>
            <a:off x="5448813" y="4869903"/>
            <a:ext cx="1370888" cy="523220"/>
          </a:xfrm>
          <a:prstGeom prst="rect">
            <a:avLst/>
          </a:prstGeom>
          <a:noFill/>
          <a:ln>
            <a:noFill/>
          </a:ln>
        </p:spPr>
        <p:txBody>
          <a:bodyPr wrap="none" rtlCol="0">
            <a:spAutoFit/>
          </a:bodyPr>
          <a:lstStyle/>
          <a:p>
            <a:r>
              <a:rPr lang="en-US" altLang="ja-JP" sz="2800" dirty="0" smtClean="0"/>
              <a:t> y := y*y</a:t>
            </a:r>
          </a:p>
        </p:txBody>
      </p:sp>
      <p:sp>
        <p:nvSpPr>
          <p:cNvPr id="24" name="テキスト ボックス 23"/>
          <p:cNvSpPr txBox="1"/>
          <p:nvPr/>
        </p:nvSpPr>
        <p:spPr>
          <a:xfrm>
            <a:off x="4256223" y="2750656"/>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25" name="テキスト ボックス 24"/>
          <p:cNvSpPr txBox="1"/>
          <p:nvPr/>
        </p:nvSpPr>
        <p:spPr>
          <a:xfrm>
            <a:off x="5564493" y="2737008"/>
            <a:ext cx="367408" cy="523220"/>
          </a:xfrm>
          <a:prstGeom prst="rect">
            <a:avLst/>
          </a:prstGeom>
          <a:noFill/>
        </p:spPr>
        <p:txBody>
          <a:bodyPr wrap="none" rtlCol="0">
            <a:spAutoFit/>
          </a:bodyPr>
          <a:lstStyle/>
          <a:p>
            <a:r>
              <a:rPr lang="en-US" altLang="ja-JP" sz="2800" dirty="0" smtClean="0"/>
              <a:t>3</a:t>
            </a:r>
            <a:endParaRPr kumimoji="1" lang="ja-JP" altLang="en-US" sz="2800" dirty="0"/>
          </a:p>
        </p:txBody>
      </p:sp>
      <p:sp>
        <p:nvSpPr>
          <p:cNvPr id="28" name="円/楕円 27"/>
          <p:cNvSpPr/>
          <p:nvPr/>
        </p:nvSpPr>
        <p:spPr>
          <a:xfrm>
            <a:off x="4559023" y="2811434"/>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9" name="直線矢印コネクタ 28"/>
          <p:cNvCxnSpPr>
            <a:stCxn id="28" idx="4"/>
          </p:cNvCxnSpPr>
          <p:nvPr/>
        </p:nvCxnSpPr>
        <p:spPr>
          <a:xfrm rot="16200000" flipH="1">
            <a:off x="4756917" y="3869133"/>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a:stCxn id="28" idx="2"/>
          </p:cNvCxnSpPr>
          <p:nvPr/>
        </p:nvCxnSpPr>
        <p:spPr>
          <a:xfrm rot="10800000" flipV="1">
            <a:off x="3944203" y="3186746"/>
            <a:ext cx="614820" cy="68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4749814" y="3462612"/>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3" name="テキスト ボックス 32"/>
          <p:cNvSpPr txBox="1"/>
          <p:nvPr/>
        </p:nvSpPr>
        <p:spPr>
          <a:xfrm>
            <a:off x="4305627" y="4133497"/>
            <a:ext cx="1548822" cy="523220"/>
          </a:xfrm>
          <a:prstGeom prst="rect">
            <a:avLst/>
          </a:prstGeom>
          <a:noFill/>
        </p:spPr>
        <p:txBody>
          <a:bodyPr wrap="none" rtlCol="0">
            <a:spAutoFit/>
          </a:bodyPr>
          <a:lstStyle/>
          <a:p>
            <a:r>
              <a:rPr lang="en-US" altLang="ja-JP" sz="2800" dirty="0" smtClean="0"/>
              <a:t>  y := x*2 </a:t>
            </a:r>
          </a:p>
        </p:txBody>
      </p:sp>
      <p:cxnSp>
        <p:nvCxnSpPr>
          <p:cNvPr id="34" name="直線コネクタ 33"/>
          <p:cNvCxnSpPr/>
          <p:nvPr/>
        </p:nvCxnSpPr>
        <p:spPr>
          <a:xfrm rot="5400000">
            <a:off x="4435855" y="5267701"/>
            <a:ext cx="1255601" cy="666"/>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a:stCxn id="28" idx="6"/>
          </p:cNvCxnSpPr>
          <p:nvPr/>
        </p:nvCxnSpPr>
        <p:spPr>
          <a:xfrm>
            <a:off x="5568958" y="3186747"/>
            <a:ext cx="1637060" cy="68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矢印コネクタ 37"/>
          <p:cNvCxnSpPr/>
          <p:nvPr/>
        </p:nvCxnSpPr>
        <p:spPr>
          <a:xfrm rot="16200000" flipH="1">
            <a:off x="6931419" y="3468839"/>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0800000">
            <a:off x="7927077" y="411249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直線矢印コネクタ 42"/>
          <p:cNvCxnSpPr/>
          <p:nvPr/>
        </p:nvCxnSpPr>
        <p:spPr>
          <a:xfrm rot="16200000" flipH="1">
            <a:off x="8159072" y="4508299"/>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テキスト ボックス 43"/>
          <p:cNvSpPr txBox="1"/>
          <p:nvPr/>
        </p:nvSpPr>
        <p:spPr>
          <a:xfrm>
            <a:off x="7402715" y="4858528"/>
            <a:ext cx="1712328" cy="523220"/>
          </a:xfrm>
          <a:prstGeom prst="rect">
            <a:avLst/>
          </a:prstGeom>
          <a:noFill/>
          <a:ln>
            <a:noFill/>
          </a:ln>
        </p:spPr>
        <p:txBody>
          <a:bodyPr wrap="none" rtlCol="0">
            <a:spAutoFit/>
          </a:bodyPr>
          <a:lstStyle/>
          <a:p>
            <a:r>
              <a:rPr lang="en-US" altLang="ja-JP" sz="2800" dirty="0" smtClean="0"/>
              <a:t> y := y*y*y</a:t>
            </a:r>
          </a:p>
        </p:txBody>
      </p:sp>
      <p:cxnSp>
        <p:nvCxnSpPr>
          <p:cNvPr id="45" name="直線矢印コネクタ 44"/>
          <p:cNvCxnSpPr/>
          <p:nvPr/>
        </p:nvCxnSpPr>
        <p:spPr>
          <a:xfrm rot="5400000">
            <a:off x="5651079" y="5643629"/>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5400000">
            <a:off x="8287372" y="565955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a:off x="3944203" y="5895833"/>
            <a:ext cx="4615218"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5168624" y="6205175"/>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直線矢印コネクタ 62"/>
          <p:cNvCxnSpPr/>
          <p:nvPr/>
        </p:nvCxnSpPr>
        <p:spPr>
          <a:xfrm rot="16200000" flipH="1">
            <a:off x="3640076" y="3502918"/>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テキスト ボックス 63"/>
          <p:cNvSpPr txBox="1"/>
          <p:nvPr/>
        </p:nvSpPr>
        <p:spPr>
          <a:xfrm>
            <a:off x="6059606" y="3657601"/>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65" name="テキスト ボックス 64"/>
          <p:cNvSpPr txBox="1"/>
          <p:nvPr/>
        </p:nvSpPr>
        <p:spPr>
          <a:xfrm>
            <a:off x="7795146" y="364622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smtClean="0"/>
              <a:t>練習問題７</a:t>
            </a:r>
            <a:endParaRPr kumimoji="1" lang="ja-JP" altLang="en-US" dirty="0"/>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smtClean="0"/>
              <a:t>以下のプログラム中の２か所の</a:t>
            </a:r>
            <a:r>
              <a:rPr kumimoji="1" lang="en-US" altLang="ja-JP" sz="2800" dirty="0" smtClean="0"/>
              <a:t>if</a:t>
            </a:r>
            <a:r>
              <a:rPr kumimoji="1" lang="ja-JP" altLang="en-US" sz="2800" dirty="0" smtClean="0"/>
              <a:t>文の入口</a:t>
            </a:r>
            <a:r>
              <a:rPr lang="ja-JP" altLang="en-US" sz="2800" dirty="0" smtClean="0"/>
              <a:t>、出口はそれぞれいくつか。</a:t>
            </a:r>
            <a:endParaRPr kumimoji="1" lang="en-US" altLang="ja-JP" sz="2800" dirty="0" smtClean="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L:</a:t>
            </a:r>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if</a:t>
            </a:r>
            <a:r>
              <a:rPr lang="en-US" altLang="ja-JP" sz="2800" dirty="0" smtClean="0"/>
              <a:t> x = 2 </a:t>
            </a:r>
            <a:r>
              <a:rPr lang="en-US" altLang="ja-JP" sz="2800" b="1" dirty="0" smtClean="0"/>
              <a:t>then</a:t>
            </a:r>
            <a:r>
              <a:rPr lang="en-US" altLang="ja-JP" sz="2800" dirty="0" smtClean="0"/>
              <a:t> </a:t>
            </a:r>
            <a:r>
              <a:rPr lang="en-US" altLang="ja-JP" sz="2800" dirty="0" err="1" smtClean="0"/>
              <a:t>goto</a:t>
            </a:r>
            <a:r>
              <a:rPr lang="en-US" altLang="ja-JP" sz="2800" dirty="0" smtClean="0"/>
              <a:t> L</a:t>
            </a:r>
            <a:endParaRPr kumimoji="1" lang="en-US" altLang="ja-JP" sz="2800" dirty="0" smtClean="0"/>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93" name="正方形/長方形 92"/>
          <p:cNvSpPr/>
          <p:nvPr/>
        </p:nvSpPr>
        <p:spPr>
          <a:xfrm>
            <a:off x="416258" y="1608120"/>
            <a:ext cx="2668137" cy="3785652"/>
          </a:xfrm>
          <a:prstGeom prst="rect">
            <a:avLst/>
          </a:prstGeom>
        </p:spPr>
        <p:txBody>
          <a:bodyPr wrap="square">
            <a:spAutoFit/>
          </a:bodyPr>
          <a:lstStyle/>
          <a:p>
            <a:r>
              <a:rPr lang="en-US" altLang="ja-JP" sz="2000" b="1" dirty="0" smtClean="0"/>
              <a:t>while</a:t>
            </a:r>
            <a:r>
              <a:rPr lang="en-US" altLang="ja-JP" sz="2000" dirty="0" smtClean="0"/>
              <a:t> x&gt;0 </a:t>
            </a:r>
            <a:r>
              <a:rPr lang="en-US" altLang="ja-JP" sz="2000" b="1" dirty="0" smtClean="0"/>
              <a:t>do</a:t>
            </a:r>
          </a:p>
          <a:p>
            <a:r>
              <a:rPr lang="en-US" altLang="ja-JP" sz="2000" b="1" dirty="0" smtClean="0"/>
              <a:t>    begin</a:t>
            </a:r>
          </a:p>
          <a:p>
            <a:r>
              <a:rPr lang="en-US" altLang="ja-JP" sz="2000" b="1" dirty="0" smtClean="0"/>
              <a:t>        while </a:t>
            </a:r>
            <a:r>
              <a:rPr lang="en-US" altLang="ja-JP" sz="2000" dirty="0" smtClean="0"/>
              <a:t>y&gt;0</a:t>
            </a:r>
            <a:r>
              <a:rPr lang="en-US" altLang="ja-JP" sz="2000" b="1" dirty="0" smtClean="0"/>
              <a:t> do</a:t>
            </a:r>
          </a:p>
          <a:p>
            <a:r>
              <a:rPr lang="en-US" altLang="ja-JP" sz="2000" dirty="0" smtClean="0"/>
              <a:t>            </a:t>
            </a:r>
            <a:r>
              <a:rPr lang="en-US" altLang="ja-JP" sz="2000" b="1" dirty="0" smtClean="0"/>
              <a:t>begin</a:t>
            </a:r>
          </a:p>
          <a:p>
            <a:r>
              <a:rPr lang="en-US" altLang="ja-JP" sz="2000" dirty="0" smtClean="0"/>
              <a:t>                </a:t>
            </a:r>
            <a:r>
              <a:rPr lang="en-US" altLang="ja-JP" sz="2000" b="1" dirty="0" smtClean="0"/>
              <a:t>if</a:t>
            </a:r>
            <a:r>
              <a:rPr lang="en-US" altLang="ja-JP" sz="2000" dirty="0" smtClean="0"/>
              <a:t> x=3 </a:t>
            </a:r>
            <a:r>
              <a:rPr lang="en-US" altLang="ja-JP" sz="2000" b="1" dirty="0" smtClean="0"/>
              <a:t>then</a:t>
            </a:r>
          </a:p>
          <a:p>
            <a:r>
              <a:rPr lang="en-US" altLang="ja-JP" sz="2000" dirty="0" smtClean="0"/>
              <a:t>                    </a:t>
            </a:r>
            <a:r>
              <a:rPr lang="en-US" altLang="ja-JP" sz="2000" b="1" dirty="0" smtClean="0"/>
              <a:t>break</a:t>
            </a:r>
            <a:r>
              <a:rPr lang="en-US" altLang="ja-JP" sz="2000" dirty="0" smtClean="0"/>
              <a:t>;</a:t>
            </a:r>
          </a:p>
          <a:p>
            <a:r>
              <a:rPr lang="en-US" altLang="ja-JP" sz="2000" b="1" dirty="0" smtClean="0"/>
              <a:t>                </a:t>
            </a:r>
            <a:r>
              <a:rPr lang="en-US" altLang="ja-JP" sz="2000" dirty="0" smtClean="0"/>
              <a:t>L:</a:t>
            </a:r>
            <a:r>
              <a:rPr lang="en-US" altLang="ja-JP" sz="2000" b="1" dirty="0" smtClean="0"/>
              <a:t>  </a:t>
            </a:r>
            <a:r>
              <a:rPr lang="en-US" altLang="ja-JP" sz="2000" dirty="0" smtClean="0"/>
              <a:t>z := z + 1;</a:t>
            </a:r>
          </a:p>
          <a:p>
            <a:r>
              <a:rPr lang="en-US" altLang="ja-JP" sz="2000" dirty="0" smtClean="0"/>
              <a:t>                y := y - 1</a:t>
            </a:r>
          </a:p>
          <a:p>
            <a:r>
              <a:rPr lang="en-US" altLang="ja-JP" sz="2000" dirty="0" smtClean="0"/>
              <a:t>            </a:t>
            </a:r>
            <a:r>
              <a:rPr lang="en-US" altLang="ja-JP" sz="2000" b="1" dirty="0" smtClean="0"/>
              <a:t>end</a:t>
            </a:r>
            <a:r>
              <a:rPr lang="en-US" altLang="ja-JP" sz="2000" dirty="0" smtClean="0"/>
              <a:t>;</a:t>
            </a:r>
          </a:p>
          <a:p>
            <a:r>
              <a:rPr lang="en-US" altLang="ja-JP" sz="2000" dirty="0" smtClean="0"/>
              <a:t>        x := x – 1;</a:t>
            </a:r>
          </a:p>
          <a:p>
            <a:r>
              <a:rPr lang="en-US" altLang="ja-JP" sz="2000" dirty="0" smtClean="0"/>
              <a:t>        </a:t>
            </a:r>
            <a:r>
              <a:rPr lang="en-US" altLang="ja-JP" sz="2000" b="1" dirty="0" smtClean="0"/>
              <a:t>if</a:t>
            </a:r>
            <a:r>
              <a:rPr lang="en-US" altLang="ja-JP" sz="2000" dirty="0" smtClean="0"/>
              <a:t> x = 2 </a:t>
            </a:r>
            <a:r>
              <a:rPr lang="en-US" altLang="ja-JP" sz="2000" b="1" dirty="0" smtClean="0"/>
              <a:t>then</a:t>
            </a:r>
            <a:r>
              <a:rPr lang="en-US" altLang="ja-JP" sz="2000" dirty="0" smtClean="0"/>
              <a:t> </a:t>
            </a:r>
            <a:r>
              <a:rPr lang="en-US" altLang="ja-JP" sz="2000" dirty="0" err="1" smtClean="0"/>
              <a:t>goto</a:t>
            </a:r>
            <a:r>
              <a:rPr lang="en-US" altLang="ja-JP" sz="2000" dirty="0" smtClean="0"/>
              <a:t> L</a:t>
            </a:r>
          </a:p>
          <a:p>
            <a:r>
              <a:rPr lang="en-US" altLang="ja-JP" sz="2000" dirty="0" smtClean="0"/>
              <a:t>   </a:t>
            </a:r>
            <a:r>
              <a:rPr lang="en-US" altLang="ja-JP" sz="2000" b="1" dirty="0" smtClean="0"/>
              <a:t> end</a:t>
            </a:r>
            <a:endParaRPr lang="ja-JP" altLang="en-US" sz="2000" b="1" dirty="0"/>
          </a:p>
        </p:txBody>
      </p:sp>
      <p:sp>
        <p:nvSpPr>
          <p:cNvPr id="42" name="ひし形 41"/>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44" name="直線矢印コネクタ 43"/>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テキスト ボックス 49"/>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51" name="テキスト ボックス 50"/>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52" name="テキスト ボックス 51"/>
          <p:cNvSpPr txBox="1"/>
          <p:nvPr/>
        </p:nvSpPr>
        <p:spPr>
          <a:xfrm>
            <a:off x="4302704" y="4901764"/>
            <a:ext cx="1391728" cy="523220"/>
          </a:xfrm>
          <a:prstGeom prst="rect">
            <a:avLst/>
          </a:prstGeom>
          <a:noFill/>
        </p:spPr>
        <p:txBody>
          <a:bodyPr wrap="none" rtlCol="0">
            <a:spAutoFit/>
          </a:bodyPr>
          <a:lstStyle/>
          <a:p>
            <a:r>
              <a:rPr lang="en-US" altLang="ja-JP" sz="2800" dirty="0" smtClean="0"/>
              <a:t>  x := x-1</a:t>
            </a:r>
          </a:p>
        </p:txBody>
      </p:sp>
      <p:cxnSp>
        <p:nvCxnSpPr>
          <p:cNvPr id="54" name="直線コネクタ 53"/>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a:endCxn id="42"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矢印コネクタ 58"/>
          <p:cNvCxnSpPr/>
          <p:nvPr/>
        </p:nvCxnSpPr>
        <p:spPr>
          <a:xfrm rot="16200000" flipH="1">
            <a:off x="7453943" y="4560626"/>
            <a:ext cx="482257" cy="45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0" name="ひし形 59"/>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61" name="テキスト ボックス 60"/>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62" name="テキスト ボックス 61"/>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3" name="直線矢印コネクタ 62"/>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テキスト ボックス 63"/>
          <p:cNvSpPr txBox="1"/>
          <p:nvPr/>
        </p:nvSpPr>
        <p:spPr>
          <a:xfrm>
            <a:off x="6935844" y="3892360"/>
            <a:ext cx="1431802" cy="523220"/>
          </a:xfrm>
          <a:prstGeom prst="rect">
            <a:avLst/>
          </a:prstGeom>
          <a:noFill/>
        </p:spPr>
        <p:txBody>
          <a:bodyPr wrap="none" rtlCol="0">
            <a:spAutoFit/>
          </a:bodyPr>
          <a:lstStyle/>
          <a:p>
            <a:r>
              <a:rPr lang="en-US" altLang="ja-JP" sz="2800" dirty="0" smtClean="0"/>
              <a:t>  z := z+1</a:t>
            </a:r>
          </a:p>
        </p:txBody>
      </p:sp>
      <p:cxnSp>
        <p:nvCxnSpPr>
          <p:cNvPr id="68" name="直線コネクタ 67"/>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線コネクタ 68"/>
          <p:cNvCxnSpPr/>
          <p:nvPr/>
        </p:nvCxnSpPr>
        <p:spPr>
          <a:xfrm rot="10800000" flipV="1">
            <a:off x="3712185" y="4435521"/>
            <a:ext cx="1282897"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線矢印コネクタ 69"/>
          <p:cNvCxnSpPr/>
          <p:nvPr/>
        </p:nvCxnSpPr>
        <p:spPr>
          <a:xfrm rot="5400000">
            <a:off x="470842" y="3364178"/>
            <a:ext cx="5568288" cy="1363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flipV="1">
            <a:off x="3261802" y="58683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線矢印コネクタ 72"/>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ひし形 73"/>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x=3</a:t>
            </a:r>
            <a:endParaRPr kumimoji="1" lang="ja-JP" altLang="en-US" sz="2800" dirty="0">
              <a:solidFill>
                <a:schemeClr val="tx1"/>
              </a:solidFill>
            </a:endParaRPr>
          </a:p>
        </p:txBody>
      </p:sp>
      <p:sp>
        <p:nvSpPr>
          <p:cNvPr id="76" name="テキスト ボックス 75"/>
          <p:cNvSpPr txBox="1"/>
          <p:nvPr/>
        </p:nvSpPr>
        <p:spPr>
          <a:xfrm>
            <a:off x="6976370" y="281204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78" name="テキスト ボックス 77"/>
          <p:cNvSpPr txBox="1"/>
          <p:nvPr/>
        </p:nvSpPr>
        <p:spPr>
          <a:xfrm>
            <a:off x="5231369" y="283934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80" name="直線コネクタ 79"/>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1" name="テキスト ボックス 80"/>
          <p:cNvSpPr txBox="1"/>
          <p:nvPr/>
        </p:nvSpPr>
        <p:spPr>
          <a:xfrm>
            <a:off x="6992710" y="4754440"/>
            <a:ext cx="1404552" cy="523220"/>
          </a:xfrm>
          <a:prstGeom prst="rect">
            <a:avLst/>
          </a:prstGeom>
          <a:noFill/>
        </p:spPr>
        <p:txBody>
          <a:bodyPr wrap="none" rtlCol="0">
            <a:spAutoFit/>
          </a:bodyPr>
          <a:lstStyle/>
          <a:p>
            <a:r>
              <a:rPr lang="en-US" altLang="ja-JP" sz="2800" dirty="0" smtClean="0"/>
              <a:t>  y := y-1</a:t>
            </a:r>
          </a:p>
        </p:txBody>
      </p:sp>
      <p:cxnSp>
        <p:nvCxnSpPr>
          <p:cNvPr id="82" name="直線矢印コネクタ 81"/>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直線コネクタ 82"/>
          <p:cNvCxnSpPr/>
          <p:nvPr/>
        </p:nvCxnSpPr>
        <p:spPr>
          <a:xfrm rot="10800000" flipV="1">
            <a:off x="3698544" y="3293634"/>
            <a:ext cx="1983507" cy="912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直線矢印コネクタ 83"/>
          <p:cNvCxnSpPr/>
          <p:nvPr/>
        </p:nvCxnSpPr>
        <p:spPr>
          <a:xfrm rot="16200000" flipH="1">
            <a:off x="7469865" y="5504596"/>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p:nvPr/>
        </p:nvCxnSpPr>
        <p:spPr>
          <a:xfrm rot="16200000" flipH="1">
            <a:off x="2618081" y="3355059"/>
            <a:ext cx="2158657" cy="226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rot="10800000">
            <a:off x="7693009" y="5726850"/>
            <a:ext cx="795899"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p:nvPr/>
        </p:nvCxnSpPr>
        <p:spPr>
          <a:xfrm rot="16200000" flipH="1">
            <a:off x="6479010" y="3722162"/>
            <a:ext cx="3987248" cy="525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92" name="直線矢印コネクタ 91"/>
          <p:cNvCxnSpPr/>
          <p:nvPr/>
        </p:nvCxnSpPr>
        <p:spPr>
          <a:xfrm rot="16200000" flipH="1">
            <a:off x="4785803" y="464933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5" name="ひし形 94"/>
          <p:cNvSpPr/>
          <p:nvPr/>
        </p:nvSpPr>
        <p:spPr>
          <a:xfrm>
            <a:off x="4296460" y="5803182"/>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x=2</a:t>
            </a:r>
            <a:endParaRPr kumimoji="1" lang="ja-JP" altLang="en-US" sz="2800" dirty="0">
              <a:solidFill>
                <a:schemeClr val="tx1"/>
              </a:solidFill>
            </a:endParaRPr>
          </a:p>
        </p:txBody>
      </p:sp>
      <p:cxnSp>
        <p:nvCxnSpPr>
          <p:cNvPr id="98" name="直線矢印コネクタ 97"/>
          <p:cNvCxnSpPr/>
          <p:nvPr/>
        </p:nvCxnSpPr>
        <p:spPr>
          <a:xfrm rot="16200000" flipH="1">
            <a:off x="4774430" y="5566010"/>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rot="10800000" flipV="1">
            <a:off x="5720688" y="6155140"/>
            <a:ext cx="693760" cy="22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p:cNvCxnSpPr/>
          <p:nvPr/>
        </p:nvCxnSpPr>
        <p:spPr>
          <a:xfrm flipV="1">
            <a:off x="6416726" y="4189861"/>
            <a:ext cx="693760"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直線矢印コネクタ 102"/>
          <p:cNvCxnSpPr/>
          <p:nvPr/>
        </p:nvCxnSpPr>
        <p:spPr>
          <a:xfrm rot="5400000">
            <a:off x="5431795" y="5172480"/>
            <a:ext cx="1965314" cy="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rot="10800000">
            <a:off x="3248168" y="6155141"/>
            <a:ext cx="1025857" cy="22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テキスト ボックス 108"/>
          <p:cNvSpPr txBox="1"/>
          <p:nvPr/>
        </p:nvSpPr>
        <p:spPr>
          <a:xfrm>
            <a:off x="5602132" y="569399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10" name="テキスト ボックス 109"/>
          <p:cNvSpPr txBox="1"/>
          <p:nvPr/>
        </p:nvSpPr>
        <p:spPr>
          <a:xfrm>
            <a:off x="3891979" y="5719026"/>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760</TotalTime>
  <Words>2184</Words>
  <Application>Microsoft Office PowerPoint</Application>
  <PresentationFormat>画面に合わせる (4:3)</PresentationFormat>
  <Paragraphs>423</Paragraphs>
  <Slides>31</Slides>
  <Notes>1</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プログラミング言語論 第３回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繰り返し文（loop）</vt:lpstr>
      <vt:lpstr>選択文</vt:lpstr>
      <vt:lpstr>繰り返し文における特殊ケースの扱い</vt:lpstr>
      <vt:lpstr>break文の使用例</vt:lpstr>
      <vt:lpstr>continue文の使用例</vt:lpstr>
      <vt:lpstr>goto文</vt:lpstr>
      <vt:lpstr>return文</vt:lpstr>
      <vt:lpstr>練習問題１</vt:lpstr>
      <vt:lpstr>解答例</vt:lpstr>
      <vt:lpstr>練習問題２</vt:lpstr>
      <vt:lpstr>解答例</vt:lpstr>
      <vt:lpstr>練習問題３</vt:lpstr>
      <vt:lpstr>解答例</vt:lpstr>
      <vt:lpstr>練習問題４</vt:lpstr>
      <vt:lpstr>解答例</vt:lpstr>
      <vt:lpstr>練習問題５</vt:lpstr>
      <vt:lpstr>解答例</vt:lpstr>
      <vt:lpstr>練習問題６</vt:lpstr>
      <vt:lpstr>解答例</vt:lpstr>
      <vt:lpstr>練習問題７</vt:lpstr>
      <vt:lpstr>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sasano</cp:lastModifiedBy>
  <cp:revision>657</cp:revision>
  <dcterms:created xsi:type="dcterms:W3CDTF">2009-10-16T09:27:11Z</dcterms:created>
  <dcterms:modified xsi:type="dcterms:W3CDTF">2010-10-04T01:40:40Z</dcterms:modified>
</cp:coreProperties>
</file>