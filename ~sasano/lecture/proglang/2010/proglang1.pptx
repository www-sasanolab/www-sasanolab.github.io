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59" r:id="rId4"/>
    <p:sldId id="260" r:id="rId5"/>
    <p:sldId id="262" r:id="rId6"/>
    <p:sldId id="263" r:id="rId7"/>
    <p:sldId id="264" r:id="rId8"/>
    <p:sldId id="265" r:id="rId9"/>
    <p:sldId id="266" r:id="rId10"/>
    <p:sldId id="267" r:id="rId11"/>
    <p:sldId id="270" r:id="rId12"/>
    <p:sldId id="268" r:id="rId13"/>
    <p:sldId id="269" r:id="rId14"/>
    <p:sldId id="271" r:id="rId15"/>
    <p:sldId id="273" r:id="rId16"/>
    <p:sldId id="282" r:id="rId17"/>
    <p:sldId id="261" r:id="rId18"/>
    <p:sldId id="276" r:id="rId19"/>
    <p:sldId id="277" r:id="rId20"/>
    <p:sldId id="278" r:id="rId21"/>
    <p:sldId id="279" r:id="rId22"/>
    <p:sldId id="280" r:id="rId23"/>
    <p:sldId id="281" r:id="rId24"/>
    <p:sldId id="272"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1" d="100"/>
          <a:sy n="61" d="100"/>
        </p:scale>
        <p:origin x="-624"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32B08F7-1551-43C6-B19E-C0D3182BB1B3}" type="datetimeFigureOut">
              <a:rPr kumimoji="1" lang="ja-JP" altLang="en-US" smtClean="0"/>
              <a:pPr/>
              <a:t>2010/9/19</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F4AEEF-5D4D-4AB8-AC59-36DE90DA0CB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p>
            <a:pPr defTabSz="927100"/>
            <a:fld id="{5B0D3EE4-4EA4-468A-B6AC-6A8C69A4B4B2}" type="slidenum">
              <a:rPr lang="en-US" altLang="ja-JP" smtClean="0">
                <a:ea typeface="ＭＳ Ｐゴシック" charset="-128"/>
              </a:rPr>
              <a:pPr defTabSz="927100"/>
              <a:t>5</a:t>
            </a:fld>
            <a:endParaRPr lang="en-US" altLang="ja-JP" smtClean="0">
              <a:ea typeface="ＭＳ Ｐゴシック" charset="-128"/>
            </a:endParaRPr>
          </a:p>
        </p:txBody>
      </p:sp>
      <p:sp>
        <p:nvSpPr>
          <p:cNvPr id="21507" name="Rectangle 2"/>
          <p:cNvSpPr>
            <a:spLocks noGrp="1" noRot="1" noChangeAspect="1" noChangeArrowheads="1" noTextEdit="1"/>
          </p:cNvSpPr>
          <p:nvPr>
            <p:ph type="sldImg"/>
          </p:nvPr>
        </p:nvSpPr>
        <p:spPr>
          <a:xfrm>
            <a:off x="1143000" y="684213"/>
            <a:ext cx="4572000" cy="3429000"/>
          </a:xfrm>
          <a:ln/>
        </p:spPr>
      </p:sp>
      <p:sp>
        <p:nvSpPr>
          <p:cNvPr id="21508" name="Rectangle 3"/>
          <p:cNvSpPr>
            <a:spLocks noGrp="1" noChangeArrowheads="1"/>
          </p:cNvSpPr>
          <p:nvPr>
            <p:ph type="body" idx="1"/>
          </p:nvPr>
        </p:nvSpPr>
        <p:spPr>
          <a:xfrm>
            <a:off x="913332" y="4343693"/>
            <a:ext cx="5031336" cy="4115385"/>
          </a:xfrm>
          <a:noFill/>
          <a:ln/>
        </p:spPr>
        <p:txBody>
          <a:bodyPr lIns="95493" tIns="47746" rIns="95493" bIns="47746"/>
          <a:lstStyle/>
          <a:p>
            <a:pPr eaLnBrk="1" hangingPunct="1"/>
            <a:endParaRPr lang="ja-JP" altLang="ja-JP" smtClean="0">
              <a:ea typeface="ＭＳ Ｐ明朝"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p>
            <a:pPr defTabSz="927100"/>
            <a:fld id="{2A51BDF2-D9E9-42FE-ABD4-9F3460456A1E}" type="slidenum">
              <a:rPr lang="en-US" altLang="ja-JP" smtClean="0">
                <a:ea typeface="ＭＳ Ｐゴシック" charset="-128"/>
              </a:rPr>
              <a:pPr defTabSz="927100"/>
              <a:t>6</a:t>
            </a:fld>
            <a:endParaRPr lang="en-US" altLang="ja-JP" smtClean="0">
              <a:ea typeface="ＭＳ Ｐゴシック" charset="-128"/>
            </a:endParaRPr>
          </a:p>
        </p:txBody>
      </p:sp>
      <p:sp>
        <p:nvSpPr>
          <p:cNvPr id="22531" name="Rectangle 2"/>
          <p:cNvSpPr>
            <a:spLocks noGrp="1" noRot="1" noChangeAspect="1" noChangeArrowheads="1" noTextEdit="1"/>
          </p:cNvSpPr>
          <p:nvPr>
            <p:ph type="sldImg"/>
          </p:nvPr>
        </p:nvSpPr>
        <p:spPr>
          <a:xfrm>
            <a:off x="1143000" y="684213"/>
            <a:ext cx="4572000" cy="3429000"/>
          </a:xfrm>
          <a:ln/>
        </p:spPr>
      </p:sp>
      <p:sp>
        <p:nvSpPr>
          <p:cNvPr id="22532" name="Rectangle 3"/>
          <p:cNvSpPr>
            <a:spLocks noGrp="1" noChangeArrowheads="1"/>
          </p:cNvSpPr>
          <p:nvPr>
            <p:ph type="body" idx="1"/>
          </p:nvPr>
        </p:nvSpPr>
        <p:spPr>
          <a:xfrm>
            <a:off x="913332" y="4343693"/>
            <a:ext cx="5031336" cy="4115385"/>
          </a:xfrm>
          <a:noFill/>
          <a:ln/>
        </p:spPr>
        <p:txBody>
          <a:bodyPr lIns="95493" tIns="47746" rIns="95493" bIns="47746"/>
          <a:lstStyle/>
          <a:p>
            <a:pPr eaLnBrk="1" hangingPunct="1"/>
            <a:endParaRPr lang="ja-JP" altLang="ja-JP" smtClean="0">
              <a:ea typeface="ＭＳ Ｐ明朝"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pPr defTabSz="927100"/>
            <a:fld id="{71C5F35E-F020-4820-B052-A543944DDADA}" type="slidenum">
              <a:rPr lang="en-US" altLang="ja-JP" smtClean="0">
                <a:ea typeface="ＭＳ Ｐゴシック" charset="-128"/>
              </a:rPr>
              <a:pPr defTabSz="927100"/>
              <a:t>7</a:t>
            </a:fld>
            <a:endParaRPr lang="en-US" altLang="ja-JP" smtClean="0">
              <a:ea typeface="ＭＳ Ｐゴシック" charset="-128"/>
            </a:endParaRPr>
          </a:p>
        </p:txBody>
      </p:sp>
      <p:sp>
        <p:nvSpPr>
          <p:cNvPr id="23555" name="Rectangle 2"/>
          <p:cNvSpPr>
            <a:spLocks noGrp="1" noRot="1" noChangeAspect="1" noChangeArrowheads="1" noTextEdit="1"/>
          </p:cNvSpPr>
          <p:nvPr>
            <p:ph type="sldImg"/>
          </p:nvPr>
        </p:nvSpPr>
        <p:spPr>
          <a:xfrm>
            <a:off x="1143000" y="684213"/>
            <a:ext cx="4572000" cy="3429000"/>
          </a:xfrm>
          <a:ln/>
        </p:spPr>
      </p:sp>
      <p:sp>
        <p:nvSpPr>
          <p:cNvPr id="23556" name="Rectangle 3"/>
          <p:cNvSpPr>
            <a:spLocks noGrp="1" noChangeArrowheads="1"/>
          </p:cNvSpPr>
          <p:nvPr>
            <p:ph type="body" idx="1"/>
          </p:nvPr>
        </p:nvSpPr>
        <p:spPr>
          <a:xfrm>
            <a:off x="913332" y="4343693"/>
            <a:ext cx="5031336" cy="4115385"/>
          </a:xfrm>
          <a:noFill/>
          <a:ln/>
        </p:spPr>
        <p:txBody>
          <a:bodyPr lIns="95493" tIns="47746" rIns="95493" bIns="47746"/>
          <a:lstStyle/>
          <a:p>
            <a:pPr eaLnBrk="1" hangingPunct="1"/>
            <a:endParaRPr lang="ja-JP" altLang="ja-JP" smtClean="0">
              <a:ea typeface="ＭＳ Ｐ明朝"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p>
            <a:pPr defTabSz="927100"/>
            <a:fld id="{396B50D5-B121-41BC-9784-944134968A7C}" type="slidenum">
              <a:rPr lang="en-US" altLang="ja-JP" smtClean="0">
                <a:ea typeface="ＭＳ Ｐゴシック" charset="-128"/>
              </a:rPr>
              <a:pPr defTabSz="927100"/>
              <a:t>8</a:t>
            </a:fld>
            <a:endParaRPr lang="en-US" altLang="ja-JP" smtClean="0">
              <a:ea typeface="ＭＳ Ｐゴシック" charset="-128"/>
            </a:endParaRPr>
          </a:p>
        </p:txBody>
      </p:sp>
      <p:sp>
        <p:nvSpPr>
          <p:cNvPr id="24579" name="Rectangle 2"/>
          <p:cNvSpPr>
            <a:spLocks noGrp="1" noRot="1" noChangeAspect="1" noChangeArrowheads="1" noTextEdit="1"/>
          </p:cNvSpPr>
          <p:nvPr>
            <p:ph type="sldImg"/>
          </p:nvPr>
        </p:nvSpPr>
        <p:spPr>
          <a:xfrm>
            <a:off x="1143000" y="684213"/>
            <a:ext cx="4572000" cy="3429000"/>
          </a:xfrm>
          <a:ln/>
        </p:spPr>
      </p:sp>
      <p:sp>
        <p:nvSpPr>
          <p:cNvPr id="24580" name="Rectangle 3"/>
          <p:cNvSpPr>
            <a:spLocks noGrp="1" noChangeArrowheads="1"/>
          </p:cNvSpPr>
          <p:nvPr>
            <p:ph type="body" idx="1"/>
          </p:nvPr>
        </p:nvSpPr>
        <p:spPr>
          <a:xfrm>
            <a:off x="913332" y="4343693"/>
            <a:ext cx="5031336" cy="4115385"/>
          </a:xfrm>
          <a:noFill/>
          <a:ln/>
        </p:spPr>
        <p:txBody>
          <a:bodyPr lIns="95493" tIns="47746" rIns="95493" bIns="47746"/>
          <a:lstStyle/>
          <a:p>
            <a:pPr eaLnBrk="1" hangingPunct="1"/>
            <a:endParaRPr lang="ja-JP" altLang="ja-JP" smtClean="0">
              <a:ea typeface="ＭＳ Ｐ明朝"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p:spPr>
        <p:txBody>
          <a:bodyPr/>
          <a:lstStyle/>
          <a:p>
            <a:pPr defTabSz="927100"/>
            <a:fld id="{11489CB7-2788-4C23-82F3-D47A7411A876}" type="slidenum">
              <a:rPr lang="en-US" altLang="ja-JP" smtClean="0">
                <a:ea typeface="ＭＳ Ｐゴシック" charset="-128"/>
              </a:rPr>
              <a:pPr defTabSz="927100"/>
              <a:t>9</a:t>
            </a:fld>
            <a:endParaRPr lang="en-US" altLang="ja-JP" smtClean="0">
              <a:ea typeface="ＭＳ Ｐゴシック" charset="-128"/>
            </a:endParaRPr>
          </a:p>
        </p:txBody>
      </p:sp>
      <p:sp>
        <p:nvSpPr>
          <p:cNvPr id="25603" name="Rectangle 2"/>
          <p:cNvSpPr>
            <a:spLocks noGrp="1" noRot="1" noChangeAspect="1" noChangeArrowheads="1" noTextEdit="1"/>
          </p:cNvSpPr>
          <p:nvPr>
            <p:ph type="sldImg"/>
          </p:nvPr>
        </p:nvSpPr>
        <p:spPr>
          <a:xfrm>
            <a:off x="1143000" y="684213"/>
            <a:ext cx="4572000" cy="3429000"/>
          </a:xfrm>
          <a:ln/>
        </p:spPr>
      </p:sp>
      <p:sp>
        <p:nvSpPr>
          <p:cNvPr id="25604" name="Rectangle 3"/>
          <p:cNvSpPr>
            <a:spLocks noGrp="1" noChangeArrowheads="1"/>
          </p:cNvSpPr>
          <p:nvPr>
            <p:ph type="body" idx="1"/>
          </p:nvPr>
        </p:nvSpPr>
        <p:spPr>
          <a:xfrm>
            <a:off x="913332" y="4343693"/>
            <a:ext cx="5031336" cy="4115385"/>
          </a:xfrm>
          <a:noFill/>
          <a:ln/>
        </p:spPr>
        <p:txBody>
          <a:bodyPr lIns="95493" tIns="47746" rIns="95493" bIns="47746"/>
          <a:lstStyle/>
          <a:p>
            <a:pPr eaLnBrk="1" hangingPunct="1"/>
            <a:endParaRPr lang="ja-JP" altLang="ja-JP" smtClean="0">
              <a:ea typeface="ＭＳ Ｐ明朝"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p:spPr>
        <p:txBody>
          <a:bodyPr/>
          <a:lstStyle/>
          <a:p>
            <a:pPr defTabSz="927100"/>
            <a:fld id="{2070233E-345A-42F1-9865-1E391EE15612}" type="slidenum">
              <a:rPr lang="en-US" altLang="ja-JP" smtClean="0">
                <a:ea typeface="ＭＳ Ｐゴシック" charset="-128"/>
              </a:rPr>
              <a:pPr defTabSz="927100"/>
              <a:t>10</a:t>
            </a:fld>
            <a:endParaRPr lang="en-US" altLang="ja-JP" smtClean="0">
              <a:ea typeface="ＭＳ Ｐゴシック" charset="-128"/>
            </a:endParaRPr>
          </a:p>
        </p:txBody>
      </p:sp>
      <p:sp>
        <p:nvSpPr>
          <p:cNvPr id="26627" name="Rectangle 2"/>
          <p:cNvSpPr>
            <a:spLocks noGrp="1" noRot="1" noChangeAspect="1" noChangeArrowheads="1" noTextEdit="1"/>
          </p:cNvSpPr>
          <p:nvPr>
            <p:ph type="sldImg"/>
          </p:nvPr>
        </p:nvSpPr>
        <p:spPr>
          <a:xfrm>
            <a:off x="1143000" y="684213"/>
            <a:ext cx="4572000" cy="3429000"/>
          </a:xfrm>
          <a:ln/>
        </p:spPr>
      </p:sp>
      <p:sp>
        <p:nvSpPr>
          <p:cNvPr id="26628" name="Rectangle 3"/>
          <p:cNvSpPr>
            <a:spLocks noGrp="1" noChangeArrowheads="1"/>
          </p:cNvSpPr>
          <p:nvPr>
            <p:ph type="body" idx="1"/>
          </p:nvPr>
        </p:nvSpPr>
        <p:spPr>
          <a:xfrm>
            <a:off x="913332" y="4343693"/>
            <a:ext cx="5031336" cy="4115385"/>
          </a:xfrm>
          <a:noFill/>
          <a:ln/>
        </p:spPr>
        <p:txBody>
          <a:bodyPr lIns="95493" tIns="47746" rIns="95493" bIns="47746"/>
          <a:lstStyle/>
          <a:p>
            <a:pPr eaLnBrk="1" hangingPunct="1"/>
            <a:endParaRPr lang="ja-JP" altLang="ja-JP" smtClean="0">
              <a:ea typeface="ＭＳ Ｐ明朝"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p>
            <a:pPr defTabSz="927100"/>
            <a:fld id="{E01D3D26-DD74-4BD7-A52A-3DBEB0B2F603}" type="slidenum">
              <a:rPr lang="en-US" altLang="ja-JP" smtClean="0">
                <a:ea typeface="ＭＳ Ｐゴシック" charset="-128"/>
              </a:rPr>
              <a:pPr defTabSz="927100"/>
              <a:t>11</a:t>
            </a:fld>
            <a:endParaRPr lang="en-US" altLang="ja-JP" smtClean="0">
              <a:ea typeface="ＭＳ Ｐゴシック" charset="-128"/>
            </a:endParaRPr>
          </a:p>
        </p:txBody>
      </p:sp>
      <p:sp>
        <p:nvSpPr>
          <p:cNvPr id="29699" name="Rectangle 2"/>
          <p:cNvSpPr>
            <a:spLocks noGrp="1" noRot="1" noChangeAspect="1" noChangeArrowheads="1" noTextEdit="1"/>
          </p:cNvSpPr>
          <p:nvPr>
            <p:ph type="sldImg"/>
          </p:nvPr>
        </p:nvSpPr>
        <p:spPr>
          <a:xfrm>
            <a:off x="1143000" y="684213"/>
            <a:ext cx="4572000" cy="3429000"/>
          </a:xfrm>
          <a:ln/>
        </p:spPr>
      </p:sp>
      <p:sp>
        <p:nvSpPr>
          <p:cNvPr id="29700" name="Rectangle 3"/>
          <p:cNvSpPr>
            <a:spLocks noGrp="1" noChangeArrowheads="1"/>
          </p:cNvSpPr>
          <p:nvPr>
            <p:ph type="body" idx="1"/>
          </p:nvPr>
        </p:nvSpPr>
        <p:spPr>
          <a:xfrm>
            <a:off x="913332" y="4343693"/>
            <a:ext cx="5031336" cy="4115385"/>
          </a:xfrm>
          <a:noFill/>
          <a:ln/>
        </p:spPr>
        <p:txBody>
          <a:bodyPr lIns="95493" tIns="47746" rIns="95493" bIns="47746"/>
          <a:lstStyle/>
          <a:p>
            <a:pPr eaLnBrk="1" hangingPunct="1"/>
            <a:endParaRPr lang="ja-JP" altLang="ja-JP" smtClean="0">
              <a:ea typeface="ＭＳ Ｐ明朝"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p:spPr>
        <p:txBody>
          <a:bodyPr/>
          <a:lstStyle/>
          <a:p>
            <a:pPr defTabSz="927100"/>
            <a:fld id="{D13D43AE-73BD-4689-BDA9-C729FFB6444E}" type="slidenum">
              <a:rPr lang="en-US" altLang="ja-JP" smtClean="0">
                <a:ea typeface="ＭＳ Ｐゴシック" charset="-128"/>
              </a:rPr>
              <a:pPr defTabSz="927100"/>
              <a:t>12</a:t>
            </a:fld>
            <a:endParaRPr lang="en-US" altLang="ja-JP" smtClean="0">
              <a:ea typeface="ＭＳ Ｐゴシック" charset="-128"/>
            </a:endParaRPr>
          </a:p>
        </p:txBody>
      </p:sp>
      <p:sp>
        <p:nvSpPr>
          <p:cNvPr id="27651" name="Rectangle 2"/>
          <p:cNvSpPr>
            <a:spLocks noGrp="1" noRot="1" noChangeAspect="1" noChangeArrowheads="1" noTextEdit="1"/>
          </p:cNvSpPr>
          <p:nvPr>
            <p:ph type="sldImg"/>
          </p:nvPr>
        </p:nvSpPr>
        <p:spPr>
          <a:xfrm>
            <a:off x="1143000" y="684213"/>
            <a:ext cx="4572000" cy="3429000"/>
          </a:xfrm>
          <a:ln/>
        </p:spPr>
      </p:sp>
      <p:sp>
        <p:nvSpPr>
          <p:cNvPr id="27652" name="Rectangle 3"/>
          <p:cNvSpPr>
            <a:spLocks noGrp="1" noChangeArrowheads="1"/>
          </p:cNvSpPr>
          <p:nvPr>
            <p:ph type="body" idx="1"/>
          </p:nvPr>
        </p:nvSpPr>
        <p:spPr>
          <a:xfrm>
            <a:off x="913332" y="4343693"/>
            <a:ext cx="5031336" cy="4115385"/>
          </a:xfrm>
          <a:noFill/>
          <a:ln/>
        </p:spPr>
        <p:txBody>
          <a:bodyPr lIns="95493" tIns="47746" rIns="95493" bIns="47746"/>
          <a:lstStyle/>
          <a:p>
            <a:pPr eaLnBrk="1" hangingPunct="1"/>
            <a:endParaRPr lang="ja-JP" altLang="ja-JP" smtClean="0">
              <a:ea typeface="ＭＳ Ｐ明朝"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p:spPr>
        <p:txBody>
          <a:bodyPr/>
          <a:lstStyle/>
          <a:p>
            <a:pPr defTabSz="927100"/>
            <a:fld id="{C9DFCD12-276C-4F56-9D7D-B9515BB91F34}" type="slidenum">
              <a:rPr lang="en-US" altLang="ja-JP" smtClean="0">
                <a:ea typeface="ＭＳ Ｐゴシック" charset="-128"/>
              </a:rPr>
              <a:pPr defTabSz="927100"/>
              <a:t>13</a:t>
            </a:fld>
            <a:endParaRPr lang="en-US" altLang="ja-JP" smtClean="0">
              <a:ea typeface="ＭＳ Ｐゴシック" charset="-128"/>
            </a:endParaRPr>
          </a:p>
        </p:txBody>
      </p:sp>
      <p:sp>
        <p:nvSpPr>
          <p:cNvPr id="28675" name="Rectangle 2"/>
          <p:cNvSpPr>
            <a:spLocks noGrp="1" noRot="1" noChangeAspect="1" noChangeArrowheads="1" noTextEdit="1"/>
          </p:cNvSpPr>
          <p:nvPr>
            <p:ph type="sldImg"/>
          </p:nvPr>
        </p:nvSpPr>
        <p:spPr>
          <a:xfrm>
            <a:off x="1143000" y="684213"/>
            <a:ext cx="4572000" cy="3429000"/>
          </a:xfrm>
          <a:ln/>
        </p:spPr>
      </p:sp>
      <p:sp>
        <p:nvSpPr>
          <p:cNvPr id="28676" name="Rectangle 3"/>
          <p:cNvSpPr>
            <a:spLocks noGrp="1" noChangeArrowheads="1"/>
          </p:cNvSpPr>
          <p:nvPr>
            <p:ph type="body" idx="1"/>
          </p:nvPr>
        </p:nvSpPr>
        <p:spPr>
          <a:xfrm>
            <a:off x="913332" y="4343693"/>
            <a:ext cx="5031336" cy="4115385"/>
          </a:xfrm>
          <a:noFill/>
          <a:ln/>
        </p:spPr>
        <p:txBody>
          <a:bodyPr lIns="95493" tIns="47746" rIns="95493" bIns="47746"/>
          <a:lstStyle/>
          <a:p>
            <a:pPr eaLnBrk="1" hangingPunct="1"/>
            <a:endParaRPr lang="ja-JP" altLang="ja-JP" smtClean="0">
              <a:ea typeface="ＭＳ Ｐ明朝"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p>
            <a:pPr defTabSz="927100"/>
            <a:fld id="{2110D743-CF0B-4034-9454-7EC378E96C41}" type="slidenum">
              <a:rPr lang="en-US" altLang="ja-JP" smtClean="0">
                <a:ea typeface="ＭＳ Ｐゴシック" charset="-128"/>
              </a:rPr>
              <a:pPr defTabSz="927100"/>
              <a:t>14</a:t>
            </a:fld>
            <a:endParaRPr lang="en-US" altLang="ja-JP" smtClean="0">
              <a:ea typeface="ＭＳ Ｐゴシック" charset="-128"/>
            </a:endParaRPr>
          </a:p>
        </p:txBody>
      </p:sp>
      <p:sp>
        <p:nvSpPr>
          <p:cNvPr id="30723" name="Rectangle 2"/>
          <p:cNvSpPr>
            <a:spLocks noGrp="1" noRot="1" noChangeAspect="1" noChangeArrowheads="1" noTextEdit="1"/>
          </p:cNvSpPr>
          <p:nvPr>
            <p:ph type="sldImg"/>
          </p:nvPr>
        </p:nvSpPr>
        <p:spPr>
          <a:xfrm>
            <a:off x="1143000" y="684213"/>
            <a:ext cx="4572000" cy="3429000"/>
          </a:xfrm>
          <a:ln/>
        </p:spPr>
      </p:sp>
      <p:sp>
        <p:nvSpPr>
          <p:cNvPr id="30724" name="Rectangle 3"/>
          <p:cNvSpPr>
            <a:spLocks noGrp="1" noChangeArrowheads="1"/>
          </p:cNvSpPr>
          <p:nvPr>
            <p:ph type="body" idx="1"/>
          </p:nvPr>
        </p:nvSpPr>
        <p:spPr>
          <a:xfrm>
            <a:off x="913332" y="4343693"/>
            <a:ext cx="5031336" cy="4115385"/>
          </a:xfrm>
          <a:noFill/>
          <a:ln/>
        </p:spPr>
        <p:txBody>
          <a:bodyPr lIns="95493" tIns="47746" rIns="95493" bIns="47746"/>
          <a:lstStyle/>
          <a:p>
            <a:pPr eaLnBrk="1" hangingPunct="1"/>
            <a:endParaRPr lang="ja-JP" altLang="ja-JP" smtClean="0">
              <a:ea typeface="ＭＳ Ｐ明朝"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p:spPr>
        <p:txBody>
          <a:bodyPr/>
          <a:lstStyle/>
          <a:p>
            <a:pPr defTabSz="927100"/>
            <a:fld id="{E26A8B2C-CCDD-4A77-A3B7-F38CDF385963}" type="slidenum">
              <a:rPr lang="en-US" altLang="ja-JP" smtClean="0"/>
              <a:pPr defTabSz="927100"/>
              <a:t>18</a:t>
            </a:fld>
            <a:endParaRPr lang="en-US" altLang="ja-JP" smtClean="0"/>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p:spPr>
        <p:txBody>
          <a:bodyPr/>
          <a:lstStyle/>
          <a:p>
            <a:pPr eaLnBrk="1" hangingPunct="1"/>
            <a:endParaRPr lang="ja-JP" altLang="ja-JP"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p:spPr>
        <p:txBody>
          <a:bodyPr/>
          <a:lstStyle/>
          <a:p>
            <a:pPr defTabSz="927100"/>
            <a:fld id="{7DEF0834-7A8E-4A71-9CA5-93216CED4E1C}" type="slidenum">
              <a:rPr lang="en-US" altLang="ja-JP" smtClean="0"/>
              <a:pPr defTabSz="927100"/>
              <a:t>19</a:t>
            </a:fld>
            <a:endParaRPr lang="en-US" altLang="ja-JP" smtClean="0"/>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p:spPr>
        <p:txBody>
          <a:bodyPr/>
          <a:lstStyle/>
          <a:p>
            <a:pPr eaLnBrk="1" hangingPunct="1"/>
            <a:endParaRPr lang="ja-JP" altLang="ja-JP"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p:spPr>
        <p:txBody>
          <a:bodyPr/>
          <a:lstStyle/>
          <a:p>
            <a:pPr defTabSz="927100"/>
            <a:fld id="{537EA090-1E52-49C0-B868-94B11B6FFD49}" type="slidenum">
              <a:rPr lang="en-US" altLang="ja-JP" smtClean="0"/>
              <a:pPr defTabSz="927100"/>
              <a:t>20</a:t>
            </a:fld>
            <a:endParaRPr lang="en-US" altLang="ja-JP" smtClean="0"/>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p:spPr>
        <p:txBody>
          <a:bodyPr/>
          <a:lstStyle/>
          <a:p>
            <a:pPr eaLnBrk="1" hangingPunct="1"/>
            <a:endParaRPr lang="ja-JP" altLang="ja-JP"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p:spPr>
        <p:txBody>
          <a:bodyPr/>
          <a:lstStyle/>
          <a:p>
            <a:pPr defTabSz="927100"/>
            <a:fld id="{E2786871-6D9C-433B-B019-4AE86452B7E0}" type="slidenum">
              <a:rPr lang="en-US" altLang="ja-JP" smtClean="0"/>
              <a:pPr defTabSz="927100"/>
              <a:t>21</a:t>
            </a:fld>
            <a:endParaRPr lang="en-US" altLang="ja-JP" smtClean="0"/>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p:spPr>
        <p:txBody>
          <a:bodyPr/>
          <a:lstStyle/>
          <a:p>
            <a:pPr eaLnBrk="1" hangingPunct="1"/>
            <a:endParaRPr lang="ja-JP" altLang="ja-JP"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p>
            <a:pPr defTabSz="927100"/>
            <a:fld id="{59F6E0C7-F64C-4A50-B581-8FBE38CE08BD}" type="slidenum">
              <a:rPr lang="en-US" altLang="ja-JP" smtClean="0"/>
              <a:pPr defTabSz="927100"/>
              <a:t>22</a:t>
            </a:fld>
            <a:endParaRPr lang="en-US" altLang="ja-JP" smtClean="0"/>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p:spPr>
        <p:txBody>
          <a:bodyPr/>
          <a:lstStyle/>
          <a:p>
            <a:pPr eaLnBrk="1" hangingPunct="1"/>
            <a:endParaRPr lang="ja-JP" altLang="ja-JP"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p>
            <a:pPr defTabSz="927100"/>
            <a:fld id="{DCFB8605-1735-4DAF-983B-DEF023DD0618}" type="slidenum">
              <a:rPr lang="en-US" altLang="ja-JP" smtClean="0"/>
              <a:pPr defTabSz="927100"/>
              <a:t>23</a:t>
            </a:fld>
            <a:endParaRPr lang="en-US" altLang="ja-JP" smtClean="0"/>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p:spPr>
        <p:txBody>
          <a:bodyPr/>
          <a:lstStyle/>
          <a:p>
            <a:pPr eaLnBrk="1" hangingPunct="1"/>
            <a:endParaRPr lang="ja-JP" altLang="ja-JP"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2010/9/19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2010/9/19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2010/9/19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2010/9/19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2010/9/19</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2010/9/19</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2010/9/19</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2010/9/19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2010/9/19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2010/9/19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2010/9/19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2010/9/19</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www.sic.shibaura-it.ac.jp/~sasano/index-j.html" TargetMode="External"/><Relationship Id="rId2" Type="http://schemas.openxmlformats.org/officeDocument/2006/relationships/hyperlink" Target="mailto:sasano@sic.shibaura-it.ac.jp"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1285861"/>
            <a:ext cx="7772400" cy="2314590"/>
          </a:xfrm>
        </p:spPr>
        <p:txBody>
          <a:bodyPr>
            <a:noAutofit/>
          </a:bodyPr>
          <a:lstStyle/>
          <a:p>
            <a:r>
              <a:rPr lang="ja-JP" altLang="en-US" dirty="0" smtClean="0"/>
              <a:t>プログラミング言語論</a:t>
            </a:r>
            <a:r>
              <a:rPr lang="en-US" altLang="ja-JP" dirty="0" smtClean="0"/>
              <a:t/>
            </a:r>
            <a:br>
              <a:rPr lang="en-US" altLang="ja-JP" dirty="0" smtClean="0"/>
            </a:br>
            <a:r>
              <a:rPr lang="ja-JP" altLang="en-US" dirty="0" smtClean="0"/>
              <a:t>第１回  導入</a:t>
            </a:r>
            <a:endParaRPr kumimoji="1" lang="ja-JP" altLang="en-US" dirty="0"/>
          </a:p>
        </p:txBody>
      </p:sp>
      <p:sp>
        <p:nvSpPr>
          <p:cNvPr id="3" name="サブタイトル 2"/>
          <p:cNvSpPr>
            <a:spLocks noGrp="1"/>
          </p:cNvSpPr>
          <p:nvPr>
            <p:ph type="subTitle" idx="1"/>
          </p:nvPr>
        </p:nvSpPr>
        <p:spPr>
          <a:xfrm>
            <a:off x="1331640" y="5119456"/>
            <a:ext cx="6400800" cy="685808"/>
          </a:xfrm>
        </p:spPr>
        <p:txBody>
          <a:bodyPr>
            <a:normAutofit/>
          </a:bodyPr>
          <a:lstStyle/>
          <a:p>
            <a:r>
              <a:rPr kumimoji="1" lang="ja-JP" altLang="en-US" dirty="0" smtClean="0">
                <a:solidFill>
                  <a:schemeClr val="tx1"/>
                </a:solidFill>
              </a:rPr>
              <a:t>篠埜　功</a:t>
            </a:r>
            <a:endParaRPr kumimoji="1" lang="ja-JP" altLang="en-US" dirty="0">
              <a:solidFill>
                <a:schemeClr val="tx1"/>
              </a:solidFill>
            </a:endParaRPr>
          </a:p>
        </p:txBody>
      </p:sp>
      <p:sp>
        <p:nvSpPr>
          <p:cNvPr id="4" name="テキスト ボックス 3"/>
          <p:cNvSpPr txBox="1"/>
          <p:nvPr/>
        </p:nvSpPr>
        <p:spPr>
          <a:xfrm>
            <a:off x="3347864" y="4356393"/>
            <a:ext cx="2236510" cy="584775"/>
          </a:xfrm>
          <a:prstGeom prst="rect">
            <a:avLst/>
          </a:prstGeom>
          <a:noFill/>
        </p:spPr>
        <p:txBody>
          <a:bodyPr wrap="none" rtlCol="0">
            <a:spAutoFit/>
          </a:bodyPr>
          <a:lstStyle/>
          <a:p>
            <a:r>
              <a:rPr kumimoji="1" lang="ja-JP" altLang="en-US" sz="3200" dirty="0" smtClean="0"/>
              <a:t>情報工学科</a:t>
            </a:r>
            <a:endParaRPr kumimoji="1" lang="ja-JP" altLang="en-US" sz="3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講義のスケジュール</a:t>
            </a:r>
            <a:endParaRPr kumimoji="1" lang="ja-JP" altLang="en-US" dirty="0"/>
          </a:p>
        </p:txBody>
      </p:sp>
      <p:sp>
        <p:nvSpPr>
          <p:cNvPr id="3" name="コンテンツ プレースホルダ 2"/>
          <p:cNvSpPr>
            <a:spLocks noGrp="1"/>
          </p:cNvSpPr>
          <p:nvPr>
            <p:ph idx="1"/>
          </p:nvPr>
        </p:nvSpPr>
        <p:spPr>
          <a:xfrm>
            <a:off x="285720" y="1500174"/>
            <a:ext cx="8858280" cy="4525963"/>
          </a:xfrm>
        </p:spPr>
        <p:txBody>
          <a:bodyPr>
            <a:normAutofit/>
          </a:bodyPr>
          <a:lstStyle/>
          <a:p>
            <a:r>
              <a:rPr kumimoji="1" lang="ja-JP" altLang="en-US" dirty="0" smtClean="0"/>
              <a:t>講義１</a:t>
            </a:r>
            <a:r>
              <a:rPr kumimoji="1" lang="en-US" altLang="ja-JP" dirty="0" smtClean="0"/>
              <a:t>3</a:t>
            </a:r>
            <a:r>
              <a:rPr kumimoji="1" lang="ja-JP" altLang="en-US" dirty="0" smtClean="0"/>
              <a:t>回、中間試験、期末試験</a:t>
            </a:r>
            <a:endParaRPr kumimoji="1" lang="en-US" altLang="ja-JP" dirty="0" smtClean="0"/>
          </a:p>
          <a:p>
            <a:r>
              <a:rPr lang="ja-JP" altLang="en-US" dirty="0" smtClean="0"/>
              <a:t>成績評価</a:t>
            </a:r>
            <a:endParaRPr lang="en-US" altLang="ja-JP" dirty="0" smtClean="0"/>
          </a:p>
          <a:p>
            <a:pPr lvl="1"/>
            <a:r>
              <a:rPr kumimoji="1" lang="ja-JP" altLang="en-US" dirty="0" smtClean="0"/>
              <a:t>中間試験 </a:t>
            </a:r>
            <a:r>
              <a:rPr kumimoji="1" lang="en-US" altLang="ja-JP" dirty="0" smtClean="0"/>
              <a:t>40%</a:t>
            </a:r>
          </a:p>
          <a:p>
            <a:pPr lvl="1"/>
            <a:r>
              <a:rPr lang="ja-JP" altLang="en-US" dirty="0" smtClean="0"/>
              <a:t>期末試験 </a:t>
            </a:r>
            <a:r>
              <a:rPr lang="en-US" altLang="ja-JP" dirty="0" smtClean="0"/>
              <a:t>50%</a:t>
            </a:r>
          </a:p>
          <a:p>
            <a:pPr lvl="1"/>
            <a:r>
              <a:rPr lang="ja-JP" altLang="en-US" dirty="0" smtClean="0"/>
              <a:t>小テスト</a:t>
            </a:r>
            <a:r>
              <a:rPr kumimoji="1" lang="ja-JP" altLang="en-US" dirty="0" smtClean="0"/>
              <a:t>等 </a:t>
            </a:r>
            <a:r>
              <a:rPr kumimoji="1" lang="en-US" altLang="ja-JP" dirty="0" smtClean="0"/>
              <a:t>10%</a:t>
            </a:r>
            <a:endParaRPr lang="en-US" altLang="ja-JP" dirty="0" smtClean="0"/>
          </a:p>
          <a:p>
            <a:pPr>
              <a:buNone/>
            </a:pPr>
            <a:endParaRPr kumimoji="1" lang="ja-JP"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参考書</a:t>
            </a:r>
            <a:endParaRPr kumimoji="1" lang="ja-JP" altLang="en-US" dirty="0"/>
          </a:p>
        </p:txBody>
      </p:sp>
      <p:sp>
        <p:nvSpPr>
          <p:cNvPr id="3" name="コンテンツ プレースホルダ 2"/>
          <p:cNvSpPr>
            <a:spLocks noGrp="1"/>
          </p:cNvSpPr>
          <p:nvPr>
            <p:ph idx="1"/>
          </p:nvPr>
        </p:nvSpPr>
        <p:spPr>
          <a:xfrm>
            <a:off x="500034" y="1571612"/>
            <a:ext cx="8258204" cy="4786346"/>
          </a:xfrm>
        </p:spPr>
        <p:txBody>
          <a:bodyPr>
            <a:normAutofit/>
          </a:bodyPr>
          <a:lstStyle/>
          <a:p>
            <a:pPr>
              <a:buNone/>
            </a:pPr>
            <a:r>
              <a:rPr kumimoji="1" lang="ja-JP" altLang="en-US" dirty="0" smtClean="0"/>
              <a:t>プログラミング言語の概念と構造</a:t>
            </a:r>
            <a:endParaRPr kumimoji="1" lang="en-US" altLang="ja-JP" dirty="0" smtClean="0"/>
          </a:p>
          <a:p>
            <a:pPr>
              <a:buNone/>
            </a:pPr>
            <a:r>
              <a:rPr lang="ja-JP" altLang="en-US" dirty="0" smtClean="0"/>
              <a:t>ラビ・セシィ 著、神林 泰 訳</a:t>
            </a:r>
            <a:endParaRPr lang="en-US" altLang="ja-JP" dirty="0" smtClean="0"/>
          </a:p>
          <a:p>
            <a:pPr>
              <a:buNone/>
            </a:pPr>
            <a:r>
              <a:rPr kumimoji="1" lang="ja-JP" altLang="en-US" dirty="0" smtClean="0"/>
              <a:t>ピアソン・エデュケーション</a:t>
            </a:r>
            <a:r>
              <a:rPr kumimoji="1" lang="en-US" altLang="ja-JP" dirty="0" smtClean="0"/>
              <a:t>(5600</a:t>
            </a:r>
            <a:r>
              <a:rPr kumimoji="1" lang="ja-JP" altLang="en-US" dirty="0" smtClean="0"/>
              <a:t>円</a:t>
            </a:r>
            <a:r>
              <a:rPr kumimoji="1" lang="en-US" altLang="ja-JP" dirty="0" smtClean="0"/>
              <a:t>+</a:t>
            </a:r>
            <a:r>
              <a:rPr kumimoji="1" lang="ja-JP" altLang="en-US" dirty="0" smtClean="0"/>
              <a:t>消費税</a:t>
            </a:r>
            <a:r>
              <a:rPr kumimoji="1" lang="en-US" altLang="ja-JP" dirty="0" smtClean="0"/>
              <a:t>)</a:t>
            </a:r>
          </a:p>
          <a:p>
            <a:pPr>
              <a:buNone/>
            </a:pPr>
            <a:endParaRPr lang="en-US" altLang="ja-JP" dirty="0" smtClean="0"/>
          </a:p>
          <a:p>
            <a:pPr>
              <a:buNone/>
            </a:pPr>
            <a:r>
              <a:rPr kumimoji="1" lang="en-US" altLang="ja-JP" dirty="0" smtClean="0"/>
              <a:t>Programming Languages Concepts &amp; Constructs</a:t>
            </a:r>
          </a:p>
          <a:p>
            <a:pPr>
              <a:buNone/>
            </a:pPr>
            <a:r>
              <a:rPr lang="en-US" altLang="ja-JP" dirty="0" smtClean="0"/>
              <a:t>2</a:t>
            </a:r>
            <a:r>
              <a:rPr lang="en-US" altLang="ja-JP" baseline="30000" dirty="0" smtClean="0"/>
              <a:t>nd</a:t>
            </a:r>
            <a:r>
              <a:rPr lang="en-US" altLang="ja-JP" dirty="0" smtClean="0"/>
              <a:t> edition, </a:t>
            </a:r>
          </a:p>
          <a:p>
            <a:pPr>
              <a:buNone/>
            </a:pPr>
            <a:r>
              <a:rPr lang="en-US" altLang="ja-JP" dirty="0" smtClean="0"/>
              <a:t>Ravi </a:t>
            </a:r>
            <a:r>
              <a:rPr lang="en-US" altLang="ja-JP" dirty="0" err="1" smtClean="0"/>
              <a:t>Sethi</a:t>
            </a:r>
            <a:r>
              <a:rPr lang="ja-JP" altLang="en-US" dirty="0" smtClean="0"/>
              <a:t> 著</a:t>
            </a:r>
            <a:r>
              <a:rPr lang="en-US" altLang="ja-JP" dirty="0" smtClean="0"/>
              <a:t>, </a:t>
            </a:r>
            <a:r>
              <a:rPr kumimoji="1" lang="en-US" altLang="ja-JP" dirty="0" smtClean="0"/>
              <a:t>Addison-Wesley</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連絡先</a:t>
            </a:r>
            <a:endParaRPr kumimoji="1" lang="ja-JP" altLang="en-US" dirty="0"/>
          </a:p>
        </p:txBody>
      </p:sp>
      <p:sp>
        <p:nvSpPr>
          <p:cNvPr id="3" name="コンテンツ プレースホルダ 2"/>
          <p:cNvSpPr>
            <a:spLocks noGrp="1"/>
          </p:cNvSpPr>
          <p:nvPr>
            <p:ph idx="1"/>
          </p:nvPr>
        </p:nvSpPr>
        <p:spPr>
          <a:xfrm>
            <a:off x="428596" y="1643050"/>
            <a:ext cx="8501122" cy="4525963"/>
          </a:xfrm>
        </p:spPr>
        <p:txBody>
          <a:bodyPr>
            <a:normAutofit/>
          </a:bodyPr>
          <a:lstStyle/>
          <a:p>
            <a:r>
              <a:rPr lang="ja-JP" altLang="en-US" sz="2800" dirty="0" smtClean="0"/>
              <a:t>篠埜　功</a:t>
            </a:r>
            <a:endParaRPr lang="en-US" altLang="ja-JP" sz="2800" dirty="0" smtClean="0"/>
          </a:p>
          <a:p>
            <a:pPr>
              <a:buNone/>
            </a:pPr>
            <a:r>
              <a:rPr lang="ja-JP" altLang="en-US" sz="2800" dirty="0" smtClean="0"/>
              <a:t>       居室</a:t>
            </a:r>
            <a:r>
              <a:rPr lang="en-US" altLang="ja-JP" sz="2800" dirty="0" smtClean="0"/>
              <a:t>:</a:t>
            </a:r>
            <a:r>
              <a:rPr lang="ja-JP" altLang="en-US" sz="2800" dirty="0" smtClean="0"/>
              <a:t> 豊洲校舎 </a:t>
            </a:r>
            <a:r>
              <a:rPr lang="en-US" altLang="ja-JP" sz="2800" dirty="0" smtClean="0"/>
              <a:t>14</a:t>
            </a:r>
            <a:r>
              <a:rPr lang="ja-JP" altLang="en-US" sz="2800" dirty="0" smtClean="0"/>
              <a:t>階 </a:t>
            </a:r>
            <a:r>
              <a:rPr lang="en-US" altLang="ja-JP" sz="2800" dirty="0" smtClean="0"/>
              <a:t>14K32</a:t>
            </a:r>
          </a:p>
          <a:p>
            <a:pPr>
              <a:buNone/>
            </a:pPr>
            <a:r>
              <a:rPr lang="en-US" altLang="ja-JP" sz="2800" dirty="0" smtClean="0"/>
              <a:t>       E-mail:  </a:t>
            </a:r>
            <a:r>
              <a:rPr lang="en-US" altLang="ja-JP" sz="2800" dirty="0" smtClean="0">
                <a:hlinkClick r:id="rId2"/>
              </a:rPr>
              <a:t>sasano@sic.shibaura-it.ac.jp</a:t>
            </a:r>
            <a:endParaRPr lang="en-US" altLang="ja-JP" sz="2800" dirty="0" smtClean="0"/>
          </a:p>
          <a:p>
            <a:pPr>
              <a:buNone/>
            </a:pPr>
            <a:r>
              <a:rPr lang="en-US" altLang="ja-JP" sz="2800" dirty="0" smtClean="0"/>
              <a:t>       web: </a:t>
            </a:r>
            <a:r>
              <a:rPr lang="en-US" altLang="ja-JP" sz="2800" dirty="0" smtClean="0">
                <a:hlinkClick r:id="rId3"/>
              </a:rPr>
              <a:t>http://www.sic.shibaura-it.ac.jp/~sasano/index-j.html</a:t>
            </a:r>
            <a:endParaRPr lang="en-US" altLang="ja-JP" sz="2800" dirty="0" smtClean="0"/>
          </a:p>
          <a:p>
            <a:pPr>
              <a:buNone/>
            </a:pPr>
            <a:r>
              <a:rPr lang="en-US" altLang="ja-JP" sz="2800" dirty="0" smtClean="0"/>
              <a:t>       </a:t>
            </a:r>
            <a:r>
              <a:rPr lang="ja-JP" altLang="en-US" sz="2800" dirty="0" smtClean="0"/>
              <a:t>講義用ページ</a:t>
            </a:r>
            <a:r>
              <a:rPr lang="en-US" altLang="ja-JP" sz="2800" dirty="0" smtClean="0"/>
              <a:t>:  </a:t>
            </a:r>
            <a:r>
              <a:rPr lang="ja-JP" altLang="en-US" sz="2800" dirty="0" smtClean="0"/>
              <a:t>上記</a:t>
            </a:r>
            <a:r>
              <a:rPr lang="en-US" altLang="ja-JP" sz="2800" dirty="0" smtClean="0"/>
              <a:t>web</a:t>
            </a:r>
            <a:r>
              <a:rPr lang="ja-JP" altLang="en-US" sz="2800" dirty="0" smtClean="0"/>
              <a:t>ページから講義情報ページへリンクを張っている。</a:t>
            </a:r>
            <a:endParaRPr lang="en-US" altLang="ja-JP" sz="2800" dirty="0" smtClean="0"/>
          </a:p>
          <a:p>
            <a:r>
              <a:rPr lang="en-US" altLang="ja-JP" sz="2800" dirty="0" smtClean="0"/>
              <a:t>TA </a:t>
            </a:r>
            <a:r>
              <a:rPr lang="ja-JP" altLang="en-US" sz="2800" dirty="0" smtClean="0"/>
              <a:t>後藤拓実</a:t>
            </a:r>
            <a:endParaRPr lang="en-US" altLang="ja-JP" sz="2800"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685800" y="457200"/>
            <a:ext cx="8001000" cy="1143000"/>
          </a:xfrm>
          <a:noFill/>
        </p:spPr>
        <p:txBody>
          <a:bodyPr/>
          <a:lstStyle/>
          <a:p>
            <a:pPr eaLnBrk="1" hangingPunct="1"/>
            <a:r>
              <a:rPr lang="ja-JP" altLang="en-US" dirty="0" smtClean="0"/>
              <a:t>計算機科学の誕生の経緯</a:t>
            </a:r>
          </a:p>
        </p:txBody>
      </p:sp>
      <p:sp>
        <p:nvSpPr>
          <p:cNvPr id="3075" name="テキスト ボックス 8"/>
          <p:cNvSpPr txBox="1">
            <a:spLocks noChangeArrowheads="1"/>
          </p:cNvSpPr>
          <p:nvPr/>
        </p:nvSpPr>
        <p:spPr bwMode="auto">
          <a:xfrm>
            <a:off x="1327150" y="5373688"/>
            <a:ext cx="6424613" cy="1200150"/>
          </a:xfrm>
          <a:prstGeom prst="rect">
            <a:avLst/>
          </a:prstGeom>
          <a:noFill/>
          <a:ln w="9525">
            <a:solidFill>
              <a:schemeClr val="tx1"/>
            </a:solidFill>
            <a:miter lim="800000"/>
            <a:headEnd/>
            <a:tailEnd/>
          </a:ln>
        </p:spPr>
        <p:txBody>
          <a:bodyPr>
            <a:spAutoFit/>
          </a:bodyPr>
          <a:lstStyle/>
          <a:p>
            <a:r>
              <a:rPr lang="en-US" altLang="ja-JP" sz="2400"/>
              <a:t>Kurt Gödel</a:t>
            </a:r>
            <a:r>
              <a:rPr lang="ja-JP" altLang="en-US" sz="2400"/>
              <a:t> </a:t>
            </a:r>
            <a:r>
              <a:rPr lang="en-US" altLang="ja-JP" sz="2400"/>
              <a:t>: 1906-1978</a:t>
            </a:r>
            <a:r>
              <a:rPr lang="ja-JP" altLang="en-US" sz="2400"/>
              <a:t>、チェコの論理学者</a:t>
            </a:r>
            <a:endParaRPr lang="en-US" altLang="ja-JP" sz="2400"/>
          </a:p>
          <a:p>
            <a:r>
              <a:rPr lang="en-US" altLang="ja-JP" sz="2400"/>
              <a:t>Alonzo Church : 1903-1995</a:t>
            </a:r>
            <a:r>
              <a:rPr lang="ja-JP" altLang="en-US" sz="2400"/>
              <a:t>、アメリカの論理学者</a:t>
            </a:r>
            <a:endParaRPr lang="en-US" altLang="ja-JP" sz="2400"/>
          </a:p>
          <a:p>
            <a:r>
              <a:rPr lang="en-US" altLang="ja-JP" sz="2400"/>
              <a:t>Alan Turing : 1912-1954</a:t>
            </a:r>
            <a:r>
              <a:rPr lang="ja-JP" altLang="en-US" sz="2400"/>
              <a:t>、イギリスの数学者</a:t>
            </a:r>
            <a:endParaRPr lang="en-US" altLang="ja-JP" sz="2400"/>
          </a:p>
        </p:txBody>
      </p:sp>
      <p:sp>
        <p:nvSpPr>
          <p:cNvPr id="3076" name="正方形/長方形 5"/>
          <p:cNvSpPr>
            <a:spLocks noChangeArrowheads="1"/>
          </p:cNvSpPr>
          <p:nvPr/>
        </p:nvSpPr>
        <p:spPr bwMode="auto">
          <a:xfrm>
            <a:off x="357158" y="1643050"/>
            <a:ext cx="8151590" cy="954107"/>
          </a:xfrm>
          <a:prstGeom prst="rect">
            <a:avLst/>
          </a:prstGeom>
          <a:noFill/>
          <a:ln w="9525">
            <a:noFill/>
            <a:miter lim="800000"/>
            <a:headEnd/>
            <a:tailEnd/>
          </a:ln>
        </p:spPr>
        <p:txBody>
          <a:bodyPr wrap="none">
            <a:spAutoFit/>
          </a:bodyPr>
          <a:lstStyle/>
          <a:p>
            <a:r>
              <a:rPr lang="ja-JP" altLang="en-US" sz="2800" dirty="0"/>
              <a:t>「計算できる関数とは何か」 が、</a:t>
            </a:r>
            <a:r>
              <a:rPr lang="en-US" altLang="ja-JP" sz="2800" dirty="0"/>
              <a:t>1930</a:t>
            </a:r>
            <a:r>
              <a:rPr lang="ja-JP" altLang="en-US" sz="2800" dirty="0"/>
              <a:t>年代頃に問題に</a:t>
            </a:r>
            <a:endParaRPr lang="en-US" altLang="ja-JP" sz="2800" dirty="0"/>
          </a:p>
          <a:p>
            <a:r>
              <a:rPr lang="ja-JP" altLang="en-US" sz="2800" dirty="0"/>
              <a:t>なっていた</a:t>
            </a:r>
          </a:p>
        </p:txBody>
      </p:sp>
      <p:sp>
        <p:nvSpPr>
          <p:cNvPr id="3077" name="テキスト ボックス 5"/>
          <p:cNvSpPr txBox="1">
            <a:spLocks noChangeArrowheads="1"/>
          </p:cNvSpPr>
          <p:nvPr/>
        </p:nvSpPr>
        <p:spPr bwMode="auto">
          <a:xfrm>
            <a:off x="530225" y="2728913"/>
            <a:ext cx="7974042" cy="1815882"/>
          </a:xfrm>
          <a:prstGeom prst="rect">
            <a:avLst/>
          </a:prstGeom>
          <a:noFill/>
          <a:ln w="9525">
            <a:noFill/>
            <a:miter lim="800000"/>
            <a:headEnd/>
            <a:tailEnd/>
          </a:ln>
        </p:spPr>
        <p:txBody>
          <a:bodyPr wrap="none">
            <a:spAutoFit/>
          </a:bodyPr>
          <a:lstStyle/>
          <a:p>
            <a:r>
              <a:rPr lang="en-US" altLang="ja-JP" sz="2800" dirty="0"/>
              <a:t>(1) </a:t>
            </a:r>
            <a:r>
              <a:rPr lang="ja-JP" altLang="en-US" sz="2800" dirty="0"/>
              <a:t>帰納的関数（</a:t>
            </a:r>
            <a:r>
              <a:rPr lang="en-US" altLang="ja-JP" sz="2800" dirty="0"/>
              <a:t>recursive function</a:t>
            </a:r>
            <a:r>
              <a:rPr lang="ja-JP" altLang="en-US" sz="2800" dirty="0" err="1"/>
              <a:t>、</a:t>
            </a:r>
            <a:r>
              <a:rPr lang="en-US" altLang="ja-JP" sz="2800" dirty="0"/>
              <a:t>Kurt Gödel</a:t>
            </a:r>
            <a:r>
              <a:rPr lang="ja-JP" altLang="en-US" sz="2800" dirty="0"/>
              <a:t>）</a:t>
            </a:r>
            <a:endParaRPr lang="en-US" altLang="ja-JP" sz="2800" dirty="0"/>
          </a:p>
          <a:p>
            <a:r>
              <a:rPr lang="en-US" altLang="ja-JP" sz="2800" dirty="0"/>
              <a:t>(2) </a:t>
            </a:r>
            <a:r>
              <a:rPr lang="ja-JP" altLang="en-US" sz="2800" dirty="0"/>
              <a:t>ラムダ計算（</a:t>
            </a:r>
            <a:r>
              <a:rPr lang="en-US" altLang="ja-JP" sz="2800" dirty="0"/>
              <a:t>lambda calculus</a:t>
            </a:r>
            <a:r>
              <a:rPr lang="ja-JP" altLang="en-US" sz="2800" dirty="0" err="1"/>
              <a:t>、</a:t>
            </a:r>
            <a:r>
              <a:rPr lang="en-US" altLang="ja-JP" sz="2800" dirty="0"/>
              <a:t>Alonzo Church</a:t>
            </a:r>
            <a:r>
              <a:rPr lang="ja-JP" altLang="en-US" sz="2800" dirty="0"/>
              <a:t>）</a:t>
            </a:r>
            <a:endParaRPr lang="en-US" altLang="ja-JP" sz="2800" dirty="0"/>
          </a:p>
          <a:p>
            <a:r>
              <a:rPr lang="en-US" altLang="ja-JP" sz="2800" dirty="0"/>
              <a:t>(3) </a:t>
            </a:r>
            <a:r>
              <a:rPr lang="ja-JP" altLang="en-US" sz="2800" dirty="0"/>
              <a:t>チューリングマシン（</a:t>
            </a:r>
            <a:r>
              <a:rPr lang="en-US" altLang="ja-JP" sz="2800" dirty="0"/>
              <a:t>Turing machine</a:t>
            </a:r>
            <a:r>
              <a:rPr lang="ja-JP" altLang="en-US" sz="2800" dirty="0" err="1"/>
              <a:t>、</a:t>
            </a:r>
            <a:r>
              <a:rPr lang="en-US" altLang="ja-JP" sz="2800" dirty="0"/>
              <a:t>Alan Turing</a:t>
            </a:r>
            <a:r>
              <a:rPr lang="ja-JP" altLang="en-US" sz="2800" dirty="0"/>
              <a:t>）</a:t>
            </a:r>
            <a:endParaRPr lang="en-US" altLang="ja-JP" sz="2800" dirty="0"/>
          </a:p>
          <a:p>
            <a:r>
              <a:rPr lang="ja-JP" altLang="en-US" sz="2800" dirty="0"/>
              <a:t>これら３つは等価であることが証明された。</a:t>
            </a:r>
            <a:endParaRPr lang="en-US" altLang="ja-JP" sz="2800" dirty="0"/>
          </a:p>
        </p:txBody>
      </p:sp>
      <p:sp>
        <p:nvSpPr>
          <p:cNvPr id="3078" name="テキスト ボックス 10"/>
          <p:cNvSpPr txBox="1">
            <a:spLocks noChangeArrowheads="1"/>
          </p:cNvSpPr>
          <p:nvPr/>
        </p:nvSpPr>
        <p:spPr bwMode="auto">
          <a:xfrm>
            <a:off x="2027238" y="4572000"/>
            <a:ext cx="6357831" cy="523220"/>
          </a:xfrm>
          <a:prstGeom prst="rect">
            <a:avLst/>
          </a:prstGeom>
          <a:noFill/>
          <a:ln w="9525">
            <a:noFill/>
            <a:miter lim="800000"/>
            <a:headEnd/>
            <a:tailEnd/>
          </a:ln>
        </p:spPr>
        <p:txBody>
          <a:bodyPr wrap="none">
            <a:spAutoFit/>
          </a:bodyPr>
          <a:lstStyle/>
          <a:p>
            <a:r>
              <a:rPr lang="ja-JP" altLang="en-US" sz="2800" dirty="0"/>
              <a:t>これらを「計算できる関数」の定義とした。</a:t>
            </a:r>
          </a:p>
        </p:txBody>
      </p:sp>
      <p:sp>
        <p:nvSpPr>
          <p:cNvPr id="3079" name="右矢印 8"/>
          <p:cNvSpPr>
            <a:spLocks noChangeArrowheads="1"/>
          </p:cNvSpPr>
          <p:nvPr/>
        </p:nvSpPr>
        <p:spPr bwMode="auto">
          <a:xfrm>
            <a:off x="835025" y="4638675"/>
            <a:ext cx="977900" cy="484188"/>
          </a:xfrm>
          <a:prstGeom prst="rightArrow">
            <a:avLst>
              <a:gd name="adj1" fmla="val 50000"/>
              <a:gd name="adj2" fmla="val 50024"/>
            </a:avLst>
          </a:prstGeom>
          <a:solidFill>
            <a:schemeClr val="accent1"/>
          </a:solidFill>
          <a:ln w="9525" algn="ctr">
            <a:solidFill>
              <a:schemeClr val="tx1"/>
            </a:solidFill>
            <a:round/>
            <a:headEnd/>
            <a:tailEnd/>
          </a:ln>
        </p:spPr>
        <p:txBody>
          <a:bodyPr/>
          <a:lstStyle/>
          <a:p>
            <a:endParaRPr lang="ja-JP" alt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658813" y="523875"/>
            <a:ext cx="8001000" cy="1143000"/>
          </a:xfrm>
          <a:noFill/>
        </p:spPr>
        <p:txBody>
          <a:bodyPr/>
          <a:lstStyle/>
          <a:p>
            <a:pPr eaLnBrk="1" hangingPunct="1"/>
            <a:r>
              <a:rPr lang="ja-JP" altLang="en-US" smtClean="0"/>
              <a:t>チューリングマシン</a:t>
            </a:r>
          </a:p>
        </p:txBody>
      </p:sp>
      <p:cxnSp>
        <p:nvCxnSpPr>
          <p:cNvPr id="4099" name="直線コネクタ 7"/>
          <p:cNvCxnSpPr>
            <a:cxnSpLocks noChangeShapeType="1"/>
          </p:cNvCxnSpPr>
          <p:nvPr/>
        </p:nvCxnSpPr>
        <p:spPr bwMode="auto">
          <a:xfrm>
            <a:off x="954088" y="2411413"/>
            <a:ext cx="7037387" cy="1587"/>
          </a:xfrm>
          <a:prstGeom prst="line">
            <a:avLst/>
          </a:prstGeom>
          <a:noFill/>
          <a:ln w="9525" algn="ctr">
            <a:solidFill>
              <a:schemeClr val="tx1"/>
            </a:solidFill>
            <a:round/>
            <a:headEnd/>
            <a:tailEnd/>
          </a:ln>
        </p:spPr>
      </p:cxnSp>
      <p:cxnSp>
        <p:nvCxnSpPr>
          <p:cNvPr id="4100" name="直線コネクタ 8"/>
          <p:cNvCxnSpPr>
            <a:cxnSpLocks noChangeShapeType="1"/>
          </p:cNvCxnSpPr>
          <p:nvPr/>
        </p:nvCxnSpPr>
        <p:spPr bwMode="auto">
          <a:xfrm>
            <a:off x="960438" y="2854325"/>
            <a:ext cx="7037387" cy="1588"/>
          </a:xfrm>
          <a:prstGeom prst="line">
            <a:avLst/>
          </a:prstGeom>
          <a:noFill/>
          <a:ln w="9525" algn="ctr">
            <a:solidFill>
              <a:schemeClr val="tx1"/>
            </a:solidFill>
            <a:round/>
            <a:headEnd/>
            <a:tailEnd/>
          </a:ln>
        </p:spPr>
      </p:cxnSp>
      <p:cxnSp>
        <p:nvCxnSpPr>
          <p:cNvPr id="4101" name="直線コネクタ 12"/>
          <p:cNvCxnSpPr>
            <a:cxnSpLocks noChangeShapeType="1"/>
          </p:cNvCxnSpPr>
          <p:nvPr/>
        </p:nvCxnSpPr>
        <p:spPr bwMode="auto">
          <a:xfrm rot="5400000">
            <a:off x="941388" y="2622550"/>
            <a:ext cx="423862" cy="1588"/>
          </a:xfrm>
          <a:prstGeom prst="line">
            <a:avLst/>
          </a:prstGeom>
          <a:noFill/>
          <a:ln w="9525" algn="ctr">
            <a:solidFill>
              <a:schemeClr val="tx1"/>
            </a:solidFill>
            <a:round/>
            <a:headEnd/>
            <a:tailEnd/>
          </a:ln>
        </p:spPr>
      </p:cxnSp>
      <p:cxnSp>
        <p:nvCxnSpPr>
          <p:cNvPr id="4102" name="直線コネクタ 13"/>
          <p:cNvCxnSpPr>
            <a:cxnSpLocks noChangeShapeType="1"/>
          </p:cNvCxnSpPr>
          <p:nvPr/>
        </p:nvCxnSpPr>
        <p:spPr bwMode="auto">
          <a:xfrm rot="5400000">
            <a:off x="1384300" y="2630488"/>
            <a:ext cx="423863" cy="1587"/>
          </a:xfrm>
          <a:prstGeom prst="line">
            <a:avLst/>
          </a:prstGeom>
          <a:noFill/>
          <a:ln w="9525" algn="ctr">
            <a:solidFill>
              <a:schemeClr val="tx1"/>
            </a:solidFill>
            <a:round/>
            <a:headEnd/>
            <a:tailEnd/>
          </a:ln>
        </p:spPr>
      </p:cxnSp>
      <p:cxnSp>
        <p:nvCxnSpPr>
          <p:cNvPr id="4103" name="直線コネクタ 14"/>
          <p:cNvCxnSpPr>
            <a:cxnSpLocks noChangeShapeType="1"/>
          </p:cNvCxnSpPr>
          <p:nvPr/>
        </p:nvCxnSpPr>
        <p:spPr bwMode="auto">
          <a:xfrm rot="5400000">
            <a:off x="1835151" y="2616200"/>
            <a:ext cx="423862" cy="1587"/>
          </a:xfrm>
          <a:prstGeom prst="line">
            <a:avLst/>
          </a:prstGeom>
          <a:noFill/>
          <a:ln w="9525" algn="ctr">
            <a:solidFill>
              <a:schemeClr val="tx1"/>
            </a:solidFill>
            <a:round/>
            <a:headEnd/>
            <a:tailEnd/>
          </a:ln>
        </p:spPr>
      </p:cxnSp>
      <p:cxnSp>
        <p:nvCxnSpPr>
          <p:cNvPr id="4104" name="直線コネクタ 15"/>
          <p:cNvCxnSpPr>
            <a:cxnSpLocks noChangeShapeType="1"/>
          </p:cNvCxnSpPr>
          <p:nvPr/>
        </p:nvCxnSpPr>
        <p:spPr bwMode="auto">
          <a:xfrm rot="5400000">
            <a:off x="2279651" y="2622550"/>
            <a:ext cx="423862" cy="1587"/>
          </a:xfrm>
          <a:prstGeom prst="line">
            <a:avLst/>
          </a:prstGeom>
          <a:noFill/>
          <a:ln w="9525" algn="ctr">
            <a:solidFill>
              <a:schemeClr val="tx1"/>
            </a:solidFill>
            <a:round/>
            <a:headEnd/>
            <a:tailEnd/>
          </a:ln>
        </p:spPr>
      </p:cxnSp>
      <p:cxnSp>
        <p:nvCxnSpPr>
          <p:cNvPr id="4105" name="直線コネクタ 16"/>
          <p:cNvCxnSpPr>
            <a:cxnSpLocks noChangeShapeType="1"/>
          </p:cNvCxnSpPr>
          <p:nvPr/>
        </p:nvCxnSpPr>
        <p:spPr bwMode="auto">
          <a:xfrm rot="5400000">
            <a:off x="2724150" y="2630488"/>
            <a:ext cx="423863" cy="1587"/>
          </a:xfrm>
          <a:prstGeom prst="line">
            <a:avLst/>
          </a:prstGeom>
          <a:noFill/>
          <a:ln w="9525" algn="ctr">
            <a:solidFill>
              <a:schemeClr val="tx1"/>
            </a:solidFill>
            <a:round/>
            <a:headEnd/>
            <a:tailEnd/>
          </a:ln>
        </p:spPr>
      </p:cxnSp>
      <p:cxnSp>
        <p:nvCxnSpPr>
          <p:cNvPr id="4106" name="直線コネクタ 17"/>
          <p:cNvCxnSpPr>
            <a:cxnSpLocks noChangeShapeType="1"/>
          </p:cNvCxnSpPr>
          <p:nvPr/>
        </p:nvCxnSpPr>
        <p:spPr bwMode="auto">
          <a:xfrm rot="5400000">
            <a:off x="3167062" y="2636838"/>
            <a:ext cx="423863" cy="1588"/>
          </a:xfrm>
          <a:prstGeom prst="line">
            <a:avLst/>
          </a:prstGeom>
          <a:noFill/>
          <a:ln w="9525" algn="ctr">
            <a:solidFill>
              <a:schemeClr val="tx1"/>
            </a:solidFill>
            <a:round/>
            <a:headEnd/>
            <a:tailEnd/>
          </a:ln>
        </p:spPr>
      </p:cxnSp>
      <p:cxnSp>
        <p:nvCxnSpPr>
          <p:cNvPr id="4107" name="直線コネクタ 18"/>
          <p:cNvCxnSpPr>
            <a:cxnSpLocks noChangeShapeType="1"/>
          </p:cNvCxnSpPr>
          <p:nvPr/>
        </p:nvCxnSpPr>
        <p:spPr bwMode="auto">
          <a:xfrm rot="5400000">
            <a:off x="3617912" y="2636838"/>
            <a:ext cx="423863" cy="1588"/>
          </a:xfrm>
          <a:prstGeom prst="line">
            <a:avLst/>
          </a:prstGeom>
          <a:noFill/>
          <a:ln w="9525" algn="ctr">
            <a:solidFill>
              <a:schemeClr val="tx1"/>
            </a:solidFill>
            <a:round/>
            <a:headEnd/>
            <a:tailEnd/>
          </a:ln>
        </p:spPr>
      </p:cxnSp>
      <p:cxnSp>
        <p:nvCxnSpPr>
          <p:cNvPr id="4108" name="直線コネクタ 19"/>
          <p:cNvCxnSpPr>
            <a:cxnSpLocks noChangeShapeType="1"/>
          </p:cNvCxnSpPr>
          <p:nvPr/>
        </p:nvCxnSpPr>
        <p:spPr bwMode="auto">
          <a:xfrm rot="5400000">
            <a:off x="4062412" y="2630488"/>
            <a:ext cx="423863" cy="1588"/>
          </a:xfrm>
          <a:prstGeom prst="line">
            <a:avLst/>
          </a:prstGeom>
          <a:noFill/>
          <a:ln w="9525" algn="ctr">
            <a:solidFill>
              <a:schemeClr val="tx1"/>
            </a:solidFill>
            <a:round/>
            <a:headEnd/>
            <a:tailEnd/>
          </a:ln>
        </p:spPr>
      </p:cxnSp>
      <p:cxnSp>
        <p:nvCxnSpPr>
          <p:cNvPr id="4109" name="直線コネクタ 20"/>
          <p:cNvCxnSpPr>
            <a:cxnSpLocks noChangeShapeType="1"/>
          </p:cNvCxnSpPr>
          <p:nvPr/>
        </p:nvCxnSpPr>
        <p:spPr bwMode="auto">
          <a:xfrm rot="5400000">
            <a:off x="4498975" y="2630488"/>
            <a:ext cx="423863" cy="1587"/>
          </a:xfrm>
          <a:prstGeom prst="line">
            <a:avLst/>
          </a:prstGeom>
          <a:noFill/>
          <a:ln w="9525" algn="ctr">
            <a:solidFill>
              <a:schemeClr val="tx1"/>
            </a:solidFill>
            <a:round/>
            <a:headEnd/>
            <a:tailEnd/>
          </a:ln>
        </p:spPr>
      </p:cxnSp>
      <p:cxnSp>
        <p:nvCxnSpPr>
          <p:cNvPr id="4110" name="直線コネクタ 21"/>
          <p:cNvCxnSpPr>
            <a:cxnSpLocks noChangeShapeType="1"/>
          </p:cNvCxnSpPr>
          <p:nvPr/>
        </p:nvCxnSpPr>
        <p:spPr bwMode="auto">
          <a:xfrm rot="5400000">
            <a:off x="4943475" y="2636838"/>
            <a:ext cx="423863" cy="1587"/>
          </a:xfrm>
          <a:prstGeom prst="line">
            <a:avLst/>
          </a:prstGeom>
          <a:noFill/>
          <a:ln w="9525" algn="ctr">
            <a:solidFill>
              <a:schemeClr val="tx1"/>
            </a:solidFill>
            <a:round/>
            <a:headEnd/>
            <a:tailEnd/>
          </a:ln>
        </p:spPr>
      </p:cxnSp>
      <p:cxnSp>
        <p:nvCxnSpPr>
          <p:cNvPr id="4111" name="直線コネクタ 22"/>
          <p:cNvCxnSpPr>
            <a:cxnSpLocks noChangeShapeType="1"/>
          </p:cNvCxnSpPr>
          <p:nvPr/>
        </p:nvCxnSpPr>
        <p:spPr bwMode="auto">
          <a:xfrm rot="5400000">
            <a:off x="5394325" y="2636838"/>
            <a:ext cx="423863" cy="1587"/>
          </a:xfrm>
          <a:prstGeom prst="line">
            <a:avLst/>
          </a:prstGeom>
          <a:noFill/>
          <a:ln w="9525" algn="ctr">
            <a:solidFill>
              <a:schemeClr val="tx1"/>
            </a:solidFill>
            <a:round/>
            <a:headEnd/>
            <a:tailEnd/>
          </a:ln>
        </p:spPr>
      </p:cxnSp>
      <p:cxnSp>
        <p:nvCxnSpPr>
          <p:cNvPr id="4112" name="直線コネクタ 23"/>
          <p:cNvCxnSpPr>
            <a:cxnSpLocks noChangeShapeType="1"/>
          </p:cNvCxnSpPr>
          <p:nvPr/>
        </p:nvCxnSpPr>
        <p:spPr bwMode="auto">
          <a:xfrm rot="5400000">
            <a:off x="5837237" y="2630488"/>
            <a:ext cx="423863" cy="1588"/>
          </a:xfrm>
          <a:prstGeom prst="line">
            <a:avLst/>
          </a:prstGeom>
          <a:noFill/>
          <a:ln w="9525" algn="ctr">
            <a:solidFill>
              <a:schemeClr val="tx1"/>
            </a:solidFill>
            <a:round/>
            <a:headEnd/>
            <a:tailEnd/>
          </a:ln>
        </p:spPr>
      </p:cxnSp>
      <p:cxnSp>
        <p:nvCxnSpPr>
          <p:cNvPr id="4113" name="直線コネクタ 24"/>
          <p:cNvCxnSpPr>
            <a:cxnSpLocks noChangeShapeType="1"/>
          </p:cNvCxnSpPr>
          <p:nvPr/>
        </p:nvCxnSpPr>
        <p:spPr bwMode="auto">
          <a:xfrm rot="5400000">
            <a:off x="6281737" y="2636838"/>
            <a:ext cx="423863" cy="1588"/>
          </a:xfrm>
          <a:prstGeom prst="line">
            <a:avLst/>
          </a:prstGeom>
          <a:noFill/>
          <a:ln w="9525" algn="ctr">
            <a:solidFill>
              <a:schemeClr val="tx1"/>
            </a:solidFill>
            <a:round/>
            <a:headEnd/>
            <a:tailEnd/>
          </a:ln>
        </p:spPr>
      </p:cxnSp>
      <p:cxnSp>
        <p:nvCxnSpPr>
          <p:cNvPr id="4114" name="直線コネクタ 25"/>
          <p:cNvCxnSpPr>
            <a:cxnSpLocks noChangeShapeType="1"/>
          </p:cNvCxnSpPr>
          <p:nvPr/>
        </p:nvCxnSpPr>
        <p:spPr bwMode="auto">
          <a:xfrm rot="5400000">
            <a:off x="6726237" y="2630488"/>
            <a:ext cx="423863" cy="1588"/>
          </a:xfrm>
          <a:prstGeom prst="line">
            <a:avLst/>
          </a:prstGeom>
          <a:noFill/>
          <a:ln w="9525" algn="ctr">
            <a:solidFill>
              <a:schemeClr val="tx1"/>
            </a:solidFill>
            <a:round/>
            <a:headEnd/>
            <a:tailEnd/>
          </a:ln>
        </p:spPr>
      </p:cxnSp>
      <p:cxnSp>
        <p:nvCxnSpPr>
          <p:cNvPr id="4115" name="直線コネクタ 26"/>
          <p:cNvCxnSpPr>
            <a:cxnSpLocks noChangeShapeType="1"/>
          </p:cNvCxnSpPr>
          <p:nvPr/>
        </p:nvCxnSpPr>
        <p:spPr bwMode="auto">
          <a:xfrm rot="5400000">
            <a:off x="7175500" y="2630488"/>
            <a:ext cx="423863" cy="1587"/>
          </a:xfrm>
          <a:prstGeom prst="line">
            <a:avLst/>
          </a:prstGeom>
          <a:noFill/>
          <a:ln w="9525" algn="ctr">
            <a:solidFill>
              <a:schemeClr val="tx1"/>
            </a:solidFill>
            <a:round/>
            <a:headEnd/>
            <a:tailEnd/>
          </a:ln>
        </p:spPr>
      </p:cxnSp>
      <p:cxnSp>
        <p:nvCxnSpPr>
          <p:cNvPr id="4116" name="直線コネクタ 27"/>
          <p:cNvCxnSpPr>
            <a:cxnSpLocks noChangeShapeType="1"/>
          </p:cNvCxnSpPr>
          <p:nvPr/>
        </p:nvCxnSpPr>
        <p:spPr bwMode="auto">
          <a:xfrm rot="5400000">
            <a:off x="7620000" y="2636838"/>
            <a:ext cx="423863" cy="1587"/>
          </a:xfrm>
          <a:prstGeom prst="line">
            <a:avLst/>
          </a:prstGeom>
          <a:noFill/>
          <a:ln w="9525" algn="ctr">
            <a:solidFill>
              <a:schemeClr val="tx1"/>
            </a:solidFill>
            <a:round/>
            <a:headEnd/>
            <a:tailEnd/>
          </a:ln>
        </p:spPr>
      </p:cxnSp>
      <p:sp>
        <p:nvSpPr>
          <p:cNvPr id="4117" name="正方形/長方形 28"/>
          <p:cNvSpPr>
            <a:spLocks noChangeArrowheads="1"/>
          </p:cNvSpPr>
          <p:nvPr/>
        </p:nvSpPr>
        <p:spPr bwMode="auto">
          <a:xfrm>
            <a:off x="3841750" y="3590925"/>
            <a:ext cx="1312863" cy="595313"/>
          </a:xfrm>
          <a:prstGeom prst="rect">
            <a:avLst/>
          </a:prstGeom>
          <a:noFill/>
          <a:ln w="9525" algn="ctr">
            <a:solidFill>
              <a:schemeClr val="tx1"/>
            </a:solidFill>
            <a:round/>
            <a:headEnd/>
            <a:tailEnd/>
          </a:ln>
        </p:spPr>
        <p:txBody>
          <a:bodyPr anchor="ctr"/>
          <a:lstStyle/>
          <a:p>
            <a:pPr algn="ctr"/>
            <a:r>
              <a:rPr lang="ja-JP" altLang="en-US"/>
              <a:t>制御部</a:t>
            </a:r>
          </a:p>
        </p:txBody>
      </p:sp>
      <p:sp>
        <p:nvSpPr>
          <p:cNvPr id="4118" name="下矢印 29"/>
          <p:cNvSpPr>
            <a:spLocks noChangeArrowheads="1"/>
          </p:cNvSpPr>
          <p:nvPr/>
        </p:nvSpPr>
        <p:spPr bwMode="auto">
          <a:xfrm rot="10800000">
            <a:off x="4346575" y="2847975"/>
            <a:ext cx="265113" cy="742950"/>
          </a:xfrm>
          <a:prstGeom prst="downArrow">
            <a:avLst>
              <a:gd name="adj1" fmla="val 50000"/>
              <a:gd name="adj2" fmla="val 50041"/>
            </a:avLst>
          </a:prstGeom>
          <a:noFill/>
          <a:ln w="9525" algn="ctr">
            <a:solidFill>
              <a:schemeClr val="tx1"/>
            </a:solidFill>
            <a:round/>
            <a:headEnd/>
            <a:tailEnd/>
          </a:ln>
        </p:spPr>
        <p:txBody>
          <a:bodyPr/>
          <a:lstStyle/>
          <a:p>
            <a:endParaRPr lang="ja-JP" altLang="en-US"/>
          </a:p>
        </p:txBody>
      </p:sp>
      <p:sp>
        <p:nvSpPr>
          <p:cNvPr id="4119" name="テキスト ボックス 30"/>
          <p:cNvSpPr txBox="1">
            <a:spLocks noChangeArrowheads="1"/>
          </p:cNvSpPr>
          <p:nvPr/>
        </p:nvSpPr>
        <p:spPr bwMode="auto">
          <a:xfrm>
            <a:off x="747713" y="4945063"/>
            <a:ext cx="7891462" cy="1570037"/>
          </a:xfrm>
          <a:prstGeom prst="rect">
            <a:avLst/>
          </a:prstGeom>
          <a:noFill/>
          <a:ln w="9525">
            <a:noFill/>
            <a:miter lim="800000"/>
            <a:headEnd/>
            <a:tailEnd/>
          </a:ln>
        </p:spPr>
        <p:txBody>
          <a:bodyPr>
            <a:spAutoFit/>
          </a:bodyPr>
          <a:lstStyle/>
          <a:p>
            <a:r>
              <a:rPr lang="ja-JP" altLang="en-US" sz="2400"/>
              <a:t>制御部は現在のヘッドに書かれている記号を読み取り、現在の制御部の状態とその記号について、それに対応する規則があれば動作（記号を書き変えて、左か右に移動）を行う。なければ終了。</a:t>
            </a:r>
          </a:p>
        </p:txBody>
      </p:sp>
      <p:sp>
        <p:nvSpPr>
          <p:cNvPr id="4120" name="テキスト ボックス 31"/>
          <p:cNvSpPr txBox="1">
            <a:spLocks noChangeArrowheads="1"/>
          </p:cNvSpPr>
          <p:nvPr/>
        </p:nvSpPr>
        <p:spPr bwMode="auto">
          <a:xfrm>
            <a:off x="5497513" y="3232150"/>
            <a:ext cx="3057247" cy="954107"/>
          </a:xfrm>
          <a:prstGeom prst="rect">
            <a:avLst/>
          </a:prstGeom>
          <a:noFill/>
          <a:ln w="9525">
            <a:noFill/>
            <a:miter lim="800000"/>
            <a:headEnd/>
            <a:tailEnd/>
          </a:ln>
        </p:spPr>
        <p:txBody>
          <a:bodyPr wrap="none">
            <a:spAutoFit/>
          </a:bodyPr>
          <a:lstStyle/>
          <a:p>
            <a:r>
              <a:rPr lang="ja-JP" altLang="en-US" sz="2800" dirty="0"/>
              <a:t>制御部は有限個の</a:t>
            </a:r>
            <a:endParaRPr lang="en-US" altLang="ja-JP" sz="2800" dirty="0"/>
          </a:p>
          <a:p>
            <a:r>
              <a:rPr lang="ja-JP" altLang="en-US" sz="2800" dirty="0"/>
              <a:t>状態を取りうる。</a:t>
            </a:r>
          </a:p>
        </p:txBody>
      </p:sp>
      <p:sp>
        <p:nvSpPr>
          <p:cNvPr id="4121" name="テキスト ボックス 24"/>
          <p:cNvSpPr txBox="1">
            <a:spLocks noChangeArrowheads="1"/>
          </p:cNvSpPr>
          <p:nvPr/>
        </p:nvSpPr>
        <p:spPr bwMode="auto">
          <a:xfrm>
            <a:off x="382588" y="3152775"/>
            <a:ext cx="3359150" cy="1200329"/>
          </a:xfrm>
          <a:prstGeom prst="rect">
            <a:avLst/>
          </a:prstGeom>
          <a:noFill/>
          <a:ln w="9525">
            <a:noFill/>
            <a:miter lim="800000"/>
            <a:headEnd/>
            <a:tailEnd/>
          </a:ln>
        </p:spPr>
        <p:txBody>
          <a:bodyPr>
            <a:spAutoFit/>
          </a:bodyPr>
          <a:lstStyle/>
          <a:p>
            <a:r>
              <a:rPr lang="ja-JP" altLang="en-US" sz="2400" dirty="0"/>
              <a:t>有限個の記号をテープ上に記録し、書き換えることによって計算する。</a:t>
            </a:r>
          </a:p>
        </p:txBody>
      </p:sp>
      <p:sp>
        <p:nvSpPr>
          <p:cNvPr id="4122" name="テキスト ボックス 25"/>
          <p:cNvSpPr txBox="1">
            <a:spLocks noChangeArrowheads="1"/>
          </p:cNvSpPr>
          <p:nvPr/>
        </p:nvSpPr>
        <p:spPr bwMode="auto">
          <a:xfrm>
            <a:off x="3816350" y="4254500"/>
            <a:ext cx="3554413" cy="400050"/>
          </a:xfrm>
          <a:prstGeom prst="rect">
            <a:avLst/>
          </a:prstGeom>
          <a:noFill/>
          <a:ln w="9525">
            <a:noFill/>
            <a:miter lim="800000"/>
            <a:headEnd/>
            <a:tailEnd/>
          </a:ln>
        </p:spPr>
        <p:txBody>
          <a:bodyPr wrap="none">
            <a:spAutoFit/>
          </a:bodyPr>
          <a:lstStyle/>
          <a:p>
            <a:r>
              <a:rPr lang="ja-JP" altLang="en-US" sz="2000"/>
              <a:t>（コンピュータではＣＰＵに相当）</a:t>
            </a:r>
          </a:p>
        </p:txBody>
      </p:sp>
      <p:sp>
        <p:nvSpPr>
          <p:cNvPr id="4123" name="テキスト ボックス 26"/>
          <p:cNvSpPr txBox="1">
            <a:spLocks noChangeArrowheads="1"/>
          </p:cNvSpPr>
          <p:nvPr/>
        </p:nvSpPr>
        <p:spPr bwMode="auto">
          <a:xfrm>
            <a:off x="1365250" y="1828800"/>
            <a:ext cx="6548438" cy="461963"/>
          </a:xfrm>
          <a:prstGeom prst="rect">
            <a:avLst/>
          </a:prstGeom>
          <a:noFill/>
          <a:ln w="9525">
            <a:noFill/>
            <a:miter lim="800000"/>
            <a:headEnd/>
            <a:tailEnd/>
          </a:ln>
        </p:spPr>
        <p:txBody>
          <a:bodyPr wrap="none">
            <a:spAutoFit/>
          </a:bodyPr>
          <a:lstStyle/>
          <a:p>
            <a:r>
              <a:rPr lang="ja-JP" altLang="en-US" sz="2400" dirty="0"/>
              <a:t>無限長のテープ （コンピュータではメモリに相当）</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658813" y="523875"/>
            <a:ext cx="8001000" cy="1143000"/>
          </a:xfrm>
          <a:noFill/>
        </p:spPr>
        <p:txBody>
          <a:bodyPr/>
          <a:lstStyle/>
          <a:p>
            <a:pPr eaLnBrk="1" hangingPunct="1"/>
            <a:r>
              <a:rPr lang="ja-JP" altLang="en-US" smtClean="0"/>
              <a:t>コンピュータでの情報処理の原理</a:t>
            </a:r>
          </a:p>
        </p:txBody>
      </p:sp>
      <p:sp>
        <p:nvSpPr>
          <p:cNvPr id="5123" name="テキスト ボックス 25"/>
          <p:cNvSpPr txBox="1">
            <a:spLocks noChangeArrowheads="1"/>
          </p:cNvSpPr>
          <p:nvPr/>
        </p:nvSpPr>
        <p:spPr bwMode="auto">
          <a:xfrm>
            <a:off x="420688" y="1947863"/>
            <a:ext cx="8375650" cy="4832092"/>
          </a:xfrm>
          <a:prstGeom prst="rect">
            <a:avLst/>
          </a:prstGeom>
          <a:noFill/>
          <a:ln w="9525">
            <a:noFill/>
            <a:miter lim="800000"/>
            <a:headEnd/>
            <a:tailEnd/>
          </a:ln>
        </p:spPr>
        <p:txBody>
          <a:bodyPr>
            <a:spAutoFit/>
          </a:bodyPr>
          <a:lstStyle/>
          <a:p>
            <a:r>
              <a:rPr lang="ja-JP" altLang="en-US" sz="2800" dirty="0"/>
              <a:t>（１） 処理したい情報を記号（有限個、</a:t>
            </a:r>
            <a:r>
              <a:rPr lang="en-US" altLang="ja-JP" sz="2800" dirty="0"/>
              <a:t>0</a:t>
            </a:r>
            <a:r>
              <a:rPr lang="ja-JP" altLang="en-US" sz="2800" dirty="0"/>
              <a:t>と</a:t>
            </a:r>
            <a:r>
              <a:rPr lang="en-US" altLang="ja-JP" sz="2800" dirty="0"/>
              <a:t>1</a:t>
            </a:r>
            <a:r>
              <a:rPr lang="ja-JP" altLang="en-US" sz="2800" dirty="0"/>
              <a:t>でなくてもよい）を用いて表現する。</a:t>
            </a:r>
            <a:endParaRPr lang="en-US" altLang="ja-JP" sz="2800" dirty="0"/>
          </a:p>
          <a:p>
            <a:r>
              <a:rPr lang="ja-JP" altLang="en-US" sz="2800" dirty="0"/>
              <a:t>（２） 記号列をプログラムに従って処理する。</a:t>
            </a:r>
            <a:endParaRPr lang="en-US" altLang="ja-JP" sz="2800" dirty="0"/>
          </a:p>
          <a:p>
            <a:endParaRPr lang="en-US" altLang="ja-JP" sz="2800" dirty="0"/>
          </a:p>
          <a:p>
            <a:r>
              <a:rPr lang="ja-JP" altLang="en-US" sz="2800" dirty="0"/>
              <a:t>（参考）ゲーデル数 </a:t>
            </a:r>
            <a:r>
              <a:rPr lang="en-US" altLang="ja-JP" sz="2800" dirty="0"/>
              <a:t>--- </a:t>
            </a:r>
            <a:r>
              <a:rPr lang="ja-JP" altLang="en-US" sz="2800" dirty="0"/>
              <a:t>すべての論理式は自然数に一意対応させることができる。（不完全性定理の証明に使用。）</a:t>
            </a:r>
            <a:endParaRPr lang="en-US" altLang="ja-JP" sz="2800" dirty="0"/>
          </a:p>
          <a:p>
            <a:endParaRPr lang="en-US" altLang="ja-JP" sz="2800" dirty="0"/>
          </a:p>
          <a:p>
            <a:r>
              <a:rPr lang="ja-JP" altLang="en-US" sz="2800" dirty="0"/>
              <a:t>今日ではこの</a:t>
            </a:r>
            <a:r>
              <a:rPr lang="en-US" altLang="ja-JP" sz="2800" dirty="0"/>
              <a:t>idea</a:t>
            </a:r>
            <a:r>
              <a:rPr lang="ja-JP" altLang="en-US" sz="2800" dirty="0"/>
              <a:t>は論理式に限らず適用されている。計算機で処理する際には数で表現しなければならないので、処理対象を数に置き換えることが必要。</a:t>
            </a:r>
            <a:endParaRPr lang="en-US" altLang="ja-JP" sz="2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658813" y="523875"/>
            <a:ext cx="8001000" cy="1143000"/>
          </a:xfrm>
          <a:noFill/>
        </p:spPr>
        <p:txBody>
          <a:bodyPr/>
          <a:lstStyle/>
          <a:p>
            <a:pPr eaLnBrk="1" hangingPunct="1"/>
            <a:r>
              <a:rPr lang="ja-JP" altLang="en-US" smtClean="0"/>
              <a:t>チューリングマシンでできること</a:t>
            </a:r>
          </a:p>
        </p:txBody>
      </p:sp>
      <p:sp>
        <p:nvSpPr>
          <p:cNvPr id="6147" name="テキスト ボックス 32"/>
          <p:cNvSpPr txBox="1">
            <a:spLocks noChangeArrowheads="1"/>
          </p:cNvSpPr>
          <p:nvPr/>
        </p:nvSpPr>
        <p:spPr bwMode="auto">
          <a:xfrm>
            <a:off x="1020763" y="1749425"/>
            <a:ext cx="6928500" cy="954107"/>
          </a:xfrm>
          <a:prstGeom prst="rect">
            <a:avLst/>
          </a:prstGeom>
          <a:noFill/>
          <a:ln w="9525">
            <a:noFill/>
            <a:miter lim="800000"/>
            <a:headEnd/>
            <a:tailEnd/>
          </a:ln>
        </p:spPr>
        <p:txBody>
          <a:bodyPr wrap="none">
            <a:spAutoFit/>
          </a:bodyPr>
          <a:lstStyle/>
          <a:p>
            <a:r>
              <a:rPr lang="ja-JP" altLang="en-US" sz="2800" dirty="0"/>
              <a:t>チューリングマシンの実行により、テープ上に</a:t>
            </a:r>
            <a:endParaRPr lang="en-US" altLang="ja-JP" sz="2800" dirty="0"/>
          </a:p>
          <a:p>
            <a:r>
              <a:rPr lang="ja-JP" altLang="en-US" sz="2800" dirty="0"/>
              <a:t>計算の結果が書き込まれていく。</a:t>
            </a:r>
            <a:endParaRPr lang="en-US" altLang="ja-JP" sz="2800" dirty="0"/>
          </a:p>
        </p:txBody>
      </p:sp>
      <p:sp>
        <p:nvSpPr>
          <p:cNvPr id="6148" name="テキスト ボックス 35"/>
          <p:cNvSpPr txBox="1">
            <a:spLocks noChangeArrowheads="1"/>
          </p:cNvSpPr>
          <p:nvPr/>
        </p:nvSpPr>
        <p:spPr bwMode="auto">
          <a:xfrm>
            <a:off x="715963" y="2862263"/>
            <a:ext cx="7964487" cy="3786187"/>
          </a:xfrm>
          <a:prstGeom prst="rect">
            <a:avLst/>
          </a:prstGeom>
          <a:noFill/>
          <a:ln w="9525">
            <a:noFill/>
            <a:miter lim="800000"/>
            <a:headEnd/>
            <a:tailEnd/>
          </a:ln>
        </p:spPr>
        <p:txBody>
          <a:bodyPr>
            <a:spAutoFit/>
          </a:bodyPr>
          <a:lstStyle/>
          <a:p>
            <a:r>
              <a:rPr lang="ja-JP" altLang="en-US" sz="2400" dirty="0"/>
              <a:t>実数を計算する場合 </a:t>
            </a:r>
            <a:r>
              <a:rPr lang="en-US" altLang="ja-JP" sz="2400" dirty="0"/>
              <a:t>--- </a:t>
            </a:r>
            <a:r>
              <a:rPr lang="ja-JP" altLang="en-US" sz="2400" dirty="0"/>
              <a:t>計算できる実数は可算無限個（制御部および、テープの初期状態が可算無限個の可能性しかとりえないから。（制御部の遷移規則とテープの初期状態を自然数に対応させることが</a:t>
            </a:r>
            <a:r>
              <a:rPr lang="ja-JP" altLang="en-US" sz="2400" dirty="0" smtClean="0"/>
              <a:t>できる）</a:t>
            </a:r>
            <a:r>
              <a:rPr lang="ja-JP" altLang="en-US" sz="2400" dirty="0"/>
              <a:t>。実数全体からみると計算できる実数はごく一部でしかない。</a:t>
            </a:r>
            <a:endParaRPr lang="en-US" altLang="ja-JP" sz="2400" dirty="0"/>
          </a:p>
          <a:p>
            <a:endParaRPr lang="en-US" altLang="ja-JP" sz="2400" dirty="0"/>
          </a:p>
          <a:p>
            <a:r>
              <a:rPr lang="ja-JP" altLang="en-US" sz="2400" dirty="0"/>
              <a:t>計算できる実数の例</a:t>
            </a:r>
            <a:endParaRPr lang="en-US" altLang="ja-JP" sz="2400" dirty="0"/>
          </a:p>
          <a:p>
            <a:r>
              <a:rPr lang="en-US" altLang="ja-JP" sz="2400" dirty="0"/>
              <a:t>     </a:t>
            </a:r>
            <a:r>
              <a:rPr lang="ja-JP" altLang="en-US" sz="2400" dirty="0"/>
              <a:t>円周率 </a:t>
            </a:r>
            <a:r>
              <a:rPr lang="en-US" altLang="ja-JP" sz="2400" dirty="0"/>
              <a:t>3.1415926535….</a:t>
            </a:r>
          </a:p>
          <a:p>
            <a:r>
              <a:rPr lang="en-US" altLang="ja-JP" sz="2400" dirty="0"/>
              <a:t>     </a:t>
            </a:r>
            <a:r>
              <a:rPr lang="ja-JP" altLang="en-US" sz="2400" dirty="0"/>
              <a:t>自然対数の底 </a:t>
            </a:r>
            <a:r>
              <a:rPr lang="en-US" altLang="ja-JP" sz="2400" dirty="0"/>
              <a:t>2.718281828…..</a:t>
            </a:r>
          </a:p>
          <a:p>
            <a:r>
              <a:rPr lang="ja-JP" altLang="en-US" sz="2400" dirty="0"/>
              <a:t>直感的には、計算する手順が定まっている数は計算可能。</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58813" y="523875"/>
            <a:ext cx="8001000" cy="1143000"/>
          </a:xfrm>
          <a:noFill/>
        </p:spPr>
        <p:txBody>
          <a:bodyPr/>
          <a:lstStyle/>
          <a:p>
            <a:pPr eaLnBrk="1" hangingPunct="1"/>
            <a:r>
              <a:rPr lang="ja-JP" altLang="en-US" smtClean="0"/>
              <a:t>万能チューリングマシン（</a:t>
            </a:r>
            <a:r>
              <a:rPr lang="en-US" altLang="ja-JP" smtClean="0"/>
              <a:t>Ⅰ</a:t>
            </a:r>
            <a:r>
              <a:rPr lang="ja-JP" altLang="en-US" smtClean="0"/>
              <a:t>）</a:t>
            </a:r>
          </a:p>
        </p:txBody>
      </p:sp>
      <p:sp>
        <p:nvSpPr>
          <p:cNvPr id="7171" name="テキスト ボックス 4"/>
          <p:cNvSpPr txBox="1">
            <a:spLocks noChangeArrowheads="1"/>
          </p:cNvSpPr>
          <p:nvPr/>
        </p:nvSpPr>
        <p:spPr bwMode="auto">
          <a:xfrm>
            <a:off x="874713" y="1881188"/>
            <a:ext cx="7607300" cy="2677656"/>
          </a:xfrm>
          <a:prstGeom prst="rect">
            <a:avLst/>
          </a:prstGeom>
          <a:noFill/>
          <a:ln w="9525">
            <a:noFill/>
            <a:miter lim="800000"/>
            <a:headEnd/>
            <a:tailEnd/>
          </a:ln>
        </p:spPr>
        <p:txBody>
          <a:bodyPr>
            <a:spAutoFit/>
          </a:bodyPr>
          <a:lstStyle/>
          <a:p>
            <a:r>
              <a:rPr lang="ja-JP" altLang="en-US" sz="2800" dirty="0"/>
              <a:t>各チューリングマシンは何らかの計算をする専用</a:t>
            </a:r>
            <a:endParaRPr lang="en-US" altLang="ja-JP" sz="2800" dirty="0"/>
          </a:p>
          <a:p>
            <a:r>
              <a:rPr lang="ja-JP" altLang="en-US" sz="2800" dirty="0"/>
              <a:t>の計算機</a:t>
            </a:r>
            <a:endParaRPr lang="en-US" altLang="ja-JP" sz="2800" dirty="0"/>
          </a:p>
          <a:p>
            <a:r>
              <a:rPr lang="en-US" altLang="ja-JP" sz="2800" dirty="0"/>
              <a:t>   </a:t>
            </a:r>
            <a:r>
              <a:rPr lang="ja-JP" altLang="en-US" sz="2800" dirty="0"/>
              <a:t>円周率</a:t>
            </a:r>
            <a:r>
              <a:rPr lang="en-US" altLang="ja-JP" sz="2800" dirty="0"/>
              <a:t>π</a:t>
            </a:r>
            <a:r>
              <a:rPr lang="ja-JP" altLang="en-US" sz="2800" dirty="0"/>
              <a:t>を計算するチューリングマシン</a:t>
            </a:r>
            <a:endParaRPr lang="en-US" altLang="ja-JP" sz="2800" dirty="0"/>
          </a:p>
          <a:p>
            <a:r>
              <a:rPr lang="en-US" altLang="ja-JP" sz="2800" dirty="0"/>
              <a:t>   </a:t>
            </a:r>
            <a:r>
              <a:rPr lang="ja-JP" altLang="en-US" sz="2800" dirty="0"/>
              <a:t>自然対数の底</a:t>
            </a:r>
            <a:r>
              <a:rPr lang="en-US" altLang="ja-JP" sz="2800" i="1" dirty="0"/>
              <a:t>e</a:t>
            </a:r>
            <a:r>
              <a:rPr lang="ja-JP" altLang="en-US" sz="2800" dirty="0"/>
              <a:t>を計算するチューリングマシン</a:t>
            </a:r>
            <a:endParaRPr lang="en-US" altLang="ja-JP" sz="2800" dirty="0"/>
          </a:p>
          <a:p>
            <a:r>
              <a:rPr lang="en-US" altLang="ja-JP" sz="2800" dirty="0"/>
              <a:t>    …</a:t>
            </a:r>
          </a:p>
          <a:p>
            <a:r>
              <a:rPr lang="ja-JP" altLang="en-US" sz="2800" dirty="0"/>
              <a:t>これらを一つのチューリングマシンで行いたい。</a:t>
            </a:r>
            <a:endParaRPr lang="en-US" altLang="ja-JP" sz="2800" dirty="0"/>
          </a:p>
        </p:txBody>
      </p:sp>
      <p:sp>
        <p:nvSpPr>
          <p:cNvPr id="7172" name="下矢印 5"/>
          <p:cNvSpPr>
            <a:spLocks noChangeArrowheads="1"/>
          </p:cNvSpPr>
          <p:nvPr/>
        </p:nvSpPr>
        <p:spPr bwMode="auto">
          <a:xfrm>
            <a:off x="4000496" y="4643446"/>
            <a:ext cx="484188" cy="979488"/>
          </a:xfrm>
          <a:prstGeom prst="downArrow">
            <a:avLst>
              <a:gd name="adj1" fmla="val 50000"/>
              <a:gd name="adj2" fmla="val 50105"/>
            </a:avLst>
          </a:prstGeom>
          <a:solidFill>
            <a:schemeClr val="accent1"/>
          </a:solidFill>
          <a:ln w="9525" algn="ctr">
            <a:solidFill>
              <a:schemeClr val="tx1"/>
            </a:solidFill>
            <a:round/>
            <a:headEnd/>
            <a:tailEnd/>
          </a:ln>
        </p:spPr>
        <p:txBody>
          <a:bodyPr/>
          <a:lstStyle/>
          <a:p>
            <a:endParaRPr lang="ja-JP" altLang="en-US"/>
          </a:p>
        </p:txBody>
      </p:sp>
      <p:sp>
        <p:nvSpPr>
          <p:cNvPr id="7173" name="テキスト ボックス 6"/>
          <p:cNvSpPr txBox="1">
            <a:spLocks noChangeArrowheads="1"/>
          </p:cNvSpPr>
          <p:nvPr/>
        </p:nvSpPr>
        <p:spPr bwMode="auto">
          <a:xfrm>
            <a:off x="2451100" y="5778500"/>
            <a:ext cx="3736920" cy="523220"/>
          </a:xfrm>
          <a:prstGeom prst="rect">
            <a:avLst/>
          </a:prstGeom>
          <a:noFill/>
          <a:ln w="9525">
            <a:noFill/>
            <a:miter lim="800000"/>
            <a:headEnd/>
            <a:tailEnd/>
          </a:ln>
        </p:spPr>
        <p:txBody>
          <a:bodyPr wrap="none">
            <a:spAutoFit/>
          </a:bodyPr>
          <a:lstStyle/>
          <a:p>
            <a:r>
              <a:rPr lang="ja-JP" altLang="en-US" sz="2800" dirty="0"/>
              <a:t>万能チューリングマシン</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58813" y="523875"/>
            <a:ext cx="8001000" cy="1143000"/>
          </a:xfrm>
          <a:noFill/>
        </p:spPr>
        <p:txBody>
          <a:bodyPr/>
          <a:lstStyle/>
          <a:p>
            <a:pPr eaLnBrk="1" hangingPunct="1"/>
            <a:r>
              <a:rPr lang="ja-JP" altLang="en-US" smtClean="0"/>
              <a:t>万能チューリングマシン（</a:t>
            </a:r>
            <a:r>
              <a:rPr lang="en-US" altLang="ja-JP" smtClean="0"/>
              <a:t>Ⅱ</a:t>
            </a:r>
            <a:r>
              <a:rPr lang="ja-JP" altLang="en-US" smtClean="0"/>
              <a:t>）</a:t>
            </a:r>
          </a:p>
        </p:txBody>
      </p:sp>
      <p:sp>
        <p:nvSpPr>
          <p:cNvPr id="8195" name="テキスト ボックス 2"/>
          <p:cNvSpPr txBox="1">
            <a:spLocks noChangeArrowheads="1"/>
          </p:cNvSpPr>
          <p:nvPr/>
        </p:nvSpPr>
        <p:spPr bwMode="auto">
          <a:xfrm>
            <a:off x="1014413" y="1825625"/>
            <a:ext cx="6781800" cy="2246769"/>
          </a:xfrm>
          <a:prstGeom prst="rect">
            <a:avLst/>
          </a:prstGeom>
          <a:noFill/>
          <a:ln w="9525">
            <a:noFill/>
            <a:miter lim="800000"/>
            <a:headEnd/>
            <a:tailEnd/>
          </a:ln>
        </p:spPr>
        <p:txBody>
          <a:bodyPr>
            <a:spAutoFit/>
          </a:bodyPr>
          <a:lstStyle/>
          <a:p>
            <a:r>
              <a:rPr lang="ja-JP" altLang="en-US" sz="2800" dirty="0"/>
              <a:t>任意のチューリングマシンを模倣できるチューリングマシン。</a:t>
            </a:r>
            <a:endParaRPr lang="en-US" altLang="ja-JP" sz="2800" dirty="0"/>
          </a:p>
          <a:p>
            <a:r>
              <a:rPr lang="ja-JP" altLang="en-US" sz="2800" dirty="0"/>
              <a:t>入力として、模倣したいチューリングマシンの構成を記号列にし、それを入力テープ上の初期記号列として実行を開始する。</a:t>
            </a:r>
            <a:endParaRPr lang="en-US" altLang="ja-JP" sz="2800" dirty="0"/>
          </a:p>
        </p:txBody>
      </p:sp>
      <p:sp>
        <p:nvSpPr>
          <p:cNvPr id="8196" name="テキスト ボックス 3"/>
          <p:cNvSpPr txBox="1">
            <a:spLocks noChangeArrowheads="1"/>
          </p:cNvSpPr>
          <p:nvPr/>
        </p:nvSpPr>
        <p:spPr bwMode="auto">
          <a:xfrm>
            <a:off x="841375" y="4456113"/>
            <a:ext cx="7763073" cy="2246769"/>
          </a:xfrm>
          <a:prstGeom prst="rect">
            <a:avLst/>
          </a:prstGeom>
          <a:noFill/>
          <a:ln w="9525">
            <a:noFill/>
            <a:miter lim="800000"/>
            <a:headEnd/>
            <a:tailEnd/>
          </a:ln>
        </p:spPr>
        <p:txBody>
          <a:bodyPr wrap="square">
            <a:spAutoFit/>
          </a:bodyPr>
          <a:lstStyle/>
          <a:p>
            <a:r>
              <a:rPr lang="ja-JP" altLang="en-US" sz="2800" dirty="0"/>
              <a:t>コンピュータは万能チューリングマシンと同等の</a:t>
            </a:r>
            <a:endParaRPr lang="en-US" altLang="ja-JP" sz="2800" dirty="0"/>
          </a:p>
          <a:p>
            <a:r>
              <a:rPr lang="ja-JP" altLang="en-US" sz="2800" dirty="0"/>
              <a:t>能力を持ち、適切なプログラムを書くことにより、</a:t>
            </a:r>
            <a:endParaRPr lang="en-US" altLang="ja-JP" sz="2800" dirty="0"/>
          </a:p>
          <a:p>
            <a:r>
              <a:rPr lang="ja-JP" altLang="en-US" sz="2800" dirty="0"/>
              <a:t>他の任意のコンピュータを模倣できる。</a:t>
            </a:r>
            <a:endParaRPr lang="en-US" altLang="ja-JP" sz="2800" dirty="0"/>
          </a:p>
          <a:p>
            <a:r>
              <a:rPr lang="ja-JP" altLang="en-US" sz="2800" dirty="0"/>
              <a:t>（すべて</a:t>
            </a:r>
            <a:r>
              <a:rPr lang="ja-JP" altLang="en-US" sz="2800" dirty="0" smtClean="0"/>
              <a:t>の（通常の）コンピュータ</a:t>
            </a:r>
            <a:r>
              <a:rPr lang="ja-JP" altLang="en-US" sz="2800" dirty="0"/>
              <a:t>の計算能力は等価。）</a:t>
            </a:r>
            <a:endParaRPr lang="en-US" altLang="ja-JP" sz="2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658813" y="523875"/>
            <a:ext cx="8001000" cy="1143000"/>
          </a:xfrm>
          <a:noFill/>
        </p:spPr>
        <p:txBody>
          <a:bodyPr/>
          <a:lstStyle/>
          <a:p>
            <a:pPr eaLnBrk="1" hangingPunct="1"/>
            <a:r>
              <a:rPr lang="ja-JP" altLang="en-US" smtClean="0"/>
              <a:t>チューリングマシンでできないこと</a:t>
            </a:r>
          </a:p>
        </p:txBody>
      </p:sp>
      <p:sp>
        <p:nvSpPr>
          <p:cNvPr id="11267" name="テキスト ボックス 4"/>
          <p:cNvSpPr txBox="1">
            <a:spLocks noChangeArrowheads="1"/>
          </p:cNvSpPr>
          <p:nvPr/>
        </p:nvSpPr>
        <p:spPr bwMode="auto">
          <a:xfrm>
            <a:off x="1073150" y="2106613"/>
            <a:ext cx="7181850" cy="1815882"/>
          </a:xfrm>
          <a:prstGeom prst="rect">
            <a:avLst/>
          </a:prstGeom>
          <a:noFill/>
          <a:ln w="9525">
            <a:noFill/>
            <a:miter lim="800000"/>
            <a:headEnd/>
            <a:tailEnd/>
          </a:ln>
        </p:spPr>
        <p:txBody>
          <a:bodyPr>
            <a:spAutoFit/>
          </a:bodyPr>
          <a:lstStyle/>
          <a:p>
            <a:r>
              <a:rPr lang="ja-JP" altLang="en-US" sz="2800" dirty="0"/>
              <a:t>ある与えられたチューリングマシンが、ある与えられたテープの初期状態から実行を始めたら実行が終了するかどうかを判定するチューリングマシンは存在しない。</a:t>
            </a:r>
          </a:p>
        </p:txBody>
      </p:sp>
      <p:sp>
        <p:nvSpPr>
          <p:cNvPr id="11268" name="テキスト ボックス 5"/>
          <p:cNvSpPr txBox="1">
            <a:spLocks noChangeArrowheads="1"/>
          </p:cNvSpPr>
          <p:nvPr/>
        </p:nvSpPr>
        <p:spPr bwMode="auto">
          <a:xfrm>
            <a:off x="1169988" y="5068888"/>
            <a:ext cx="6834187" cy="1384995"/>
          </a:xfrm>
          <a:prstGeom prst="rect">
            <a:avLst/>
          </a:prstGeom>
          <a:noFill/>
          <a:ln w="9525">
            <a:noFill/>
            <a:miter lim="800000"/>
            <a:headEnd/>
            <a:tailEnd/>
          </a:ln>
        </p:spPr>
        <p:txBody>
          <a:bodyPr>
            <a:spAutoFit/>
          </a:bodyPr>
          <a:lstStyle/>
          <a:p>
            <a:r>
              <a:rPr lang="ja-JP" altLang="en-US" sz="2800"/>
              <a:t>任意の与えられた</a:t>
            </a:r>
            <a:r>
              <a:rPr lang="en-US" altLang="ja-JP" sz="2800"/>
              <a:t>C</a:t>
            </a:r>
            <a:r>
              <a:rPr lang="ja-JP" altLang="en-US" sz="2800"/>
              <a:t>言語のプログラムが停止するかどうかを判定するプログラムは存在しない。</a:t>
            </a:r>
          </a:p>
        </p:txBody>
      </p:sp>
      <p:sp>
        <p:nvSpPr>
          <p:cNvPr id="11269" name="テキスト ボックス 6"/>
          <p:cNvSpPr txBox="1">
            <a:spLocks noChangeArrowheads="1"/>
          </p:cNvSpPr>
          <p:nvPr/>
        </p:nvSpPr>
        <p:spPr bwMode="auto">
          <a:xfrm>
            <a:off x="623888" y="4425950"/>
            <a:ext cx="5974713" cy="523220"/>
          </a:xfrm>
          <a:prstGeom prst="rect">
            <a:avLst/>
          </a:prstGeom>
          <a:noFill/>
          <a:ln w="9525">
            <a:solidFill>
              <a:schemeClr val="tx1"/>
            </a:solidFill>
            <a:miter lim="800000"/>
            <a:headEnd/>
            <a:tailEnd/>
          </a:ln>
        </p:spPr>
        <p:txBody>
          <a:bodyPr wrap="none">
            <a:spAutoFit/>
          </a:bodyPr>
          <a:lstStyle/>
          <a:p>
            <a:r>
              <a:rPr lang="ja-JP" altLang="en-US" sz="2800"/>
              <a:t>実際のコンピュータでできないことの例</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658813" y="523875"/>
            <a:ext cx="8001000" cy="1143000"/>
          </a:xfrm>
          <a:noFill/>
        </p:spPr>
        <p:txBody>
          <a:bodyPr/>
          <a:lstStyle/>
          <a:p>
            <a:pPr eaLnBrk="1" hangingPunct="1"/>
            <a:r>
              <a:rPr lang="ja-JP" altLang="en-US" smtClean="0"/>
              <a:t>プログラムとは</a:t>
            </a:r>
          </a:p>
        </p:txBody>
      </p:sp>
      <p:sp>
        <p:nvSpPr>
          <p:cNvPr id="9219" name="テキスト ボックス 2"/>
          <p:cNvSpPr txBox="1">
            <a:spLocks noChangeArrowheads="1"/>
          </p:cNvSpPr>
          <p:nvPr/>
        </p:nvSpPr>
        <p:spPr bwMode="auto">
          <a:xfrm>
            <a:off x="709613" y="1944688"/>
            <a:ext cx="7718425" cy="1815882"/>
          </a:xfrm>
          <a:prstGeom prst="rect">
            <a:avLst/>
          </a:prstGeom>
          <a:noFill/>
          <a:ln w="9525">
            <a:noFill/>
            <a:miter lim="800000"/>
            <a:headEnd/>
            <a:tailEnd/>
          </a:ln>
        </p:spPr>
        <p:txBody>
          <a:bodyPr>
            <a:spAutoFit/>
          </a:bodyPr>
          <a:lstStyle/>
          <a:p>
            <a:r>
              <a:rPr lang="ja-JP" altLang="en-US" sz="2800" dirty="0"/>
              <a:t>万能</a:t>
            </a:r>
            <a:r>
              <a:rPr lang="en-US" altLang="ja-JP" sz="2800" dirty="0"/>
              <a:t>Turing</a:t>
            </a:r>
            <a:r>
              <a:rPr lang="ja-JP" altLang="en-US" sz="2800" dirty="0"/>
              <a:t>マシンに与える機械記述記号列はコンピュータではプログラムに相当すると考えられる。</a:t>
            </a:r>
            <a:endParaRPr lang="en-US" altLang="ja-JP" sz="2800" dirty="0"/>
          </a:p>
          <a:p>
            <a:r>
              <a:rPr lang="en-US" altLang="ja-JP" sz="2800" dirty="0"/>
              <a:t>---- </a:t>
            </a:r>
            <a:r>
              <a:rPr lang="ja-JP" altLang="en-US" sz="2800" dirty="0"/>
              <a:t>機械記述記号列を入れ替えることにより、任意の（計算可能な）計算を行うことができる。</a:t>
            </a:r>
            <a:endParaRPr lang="en-US" altLang="ja-JP" sz="2800" dirty="0"/>
          </a:p>
        </p:txBody>
      </p:sp>
      <p:sp>
        <p:nvSpPr>
          <p:cNvPr id="9220" name="テキスト ボックス 4"/>
          <p:cNvSpPr txBox="1">
            <a:spLocks noChangeArrowheads="1"/>
          </p:cNvSpPr>
          <p:nvPr/>
        </p:nvSpPr>
        <p:spPr bwMode="auto">
          <a:xfrm>
            <a:off x="674688" y="4335463"/>
            <a:ext cx="7842250" cy="1570037"/>
          </a:xfrm>
          <a:prstGeom prst="rect">
            <a:avLst/>
          </a:prstGeom>
          <a:noFill/>
          <a:ln w="9525">
            <a:noFill/>
            <a:miter lim="800000"/>
            <a:headEnd/>
            <a:tailEnd/>
          </a:ln>
        </p:spPr>
        <p:txBody>
          <a:bodyPr>
            <a:spAutoFit/>
          </a:bodyPr>
          <a:lstStyle/>
          <a:p>
            <a:r>
              <a:rPr lang="ja-JP" altLang="en-US" sz="2400" dirty="0"/>
              <a:t>ノイマンが</a:t>
            </a:r>
            <a:r>
              <a:rPr lang="en-US" altLang="ja-JP" sz="2400" dirty="0"/>
              <a:t>Turing</a:t>
            </a:r>
            <a:r>
              <a:rPr lang="ja-JP" altLang="en-US" sz="2400" dirty="0"/>
              <a:t>の論文の影響を受けて、ノイマン型アーキテクチャを考案したと言われている。（プログラム内蔵方式）</a:t>
            </a:r>
            <a:endParaRPr lang="en-US" altLang="ja-JP" sz="2400" dirty="0"/>
          </a:p>
          <a:p>
            <a:r>
              <a:rPr lang="en-US" altLang="ja-JP" sz="2400" dirty="0"/>
              <a:t>--- </a:t>
            </a:r>
            <a:r>
              <a:rPr lang="ja-JP" altLang="en-US" sz="2400" dirty="0"/>
              <a:t>コンピュータでは、プログラムを入れ替えることにより、任意の（計算可能な）計算を実行することができる。</a:t>
            </a:r>
            <a:endParaRPr lang="en-US" altLang="ja-JP" sz="24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42910" y="357166"/>
            <a:ext cx="8001000" cy="1143000"/>
          </a:xfrm>
          <a:noFill/>
        </p:spPr>
        <p:txBody>
          <a:bodyPr/>
          <a:lstStyle/>
          <a:p>
            <a:pPr eaLnBrk="1" hangingPunct="1"/>
            <a:r>
              <a:rPr lang="ja-JP" altLang="en-US" dirty="0" smtClean="0"/>
              <a:t>プログラミング言語</a:t>
            </a:r>
          </a:p>
        </p:txBody>
      </p:sp>
      <p:sp>
        <p:nvSpPr>
          <p:cNvPr id="10243" name="テキスト ボックス 2"/>
          <p:cNvSpPr txBox="1">
            <a:spLocks noChangeArrowheads="1"/>
          </p:cNvSpPr>
          <p:nvPr/>
        </p:nvSpPr>
        <p:spPr bwMode="auto">
          <a:xfrm>
            <a:off x="611560" y="1484784"/>
            <a:ext cx="8249570" cy="3539430"/>
          </a:xfrm>
          <a:prstGeom prst="rect">
            <a:avLst/>
          </a:prstGeom>
          <a:noFill/>
          <a:ln w="9525">
            <a:noFill/>
            <a:miter lim="800000"/>
            <a:headEnd/>
            <a:tailEnd/>
          </a:ln>
        </p:spPr>
        <p:txBody>
          <a:bodyPr wrap="square">
            <a:spAutoFit/>
          </a:bodyPr>
          <a:lstStyle/>
          <a:p>
            <a:r>
              <a:rPr lang="ja-JP" altLang="en-US" sz="2800" dirty="0" smtClean="0"/>
              <a:t>適切なプログラムを書くことによって、さまざまな計算を行う機械や、人間にとって使いやすい機械を構築できる。（</a:t>
            </a:r>
            <a:r>
              <a:rPr lang="en-US" altLang="ja-JP" sz="2800" dirty="0" smtClean="0"/>
              <a:t>Windows, Linux</a:t>
            </a:r>
            <a:r>
              <a:rPr lang="ja-JP" altLang="en-US" sz="2800" smtClean="0"/>
              <a:t>等）</a:t>
            </a:r>
            <a:endParaRPr lang="en-US" altLang="ja-JP" sz="2800" dirty="0" smtClean="0"/>
          </a:p>
          <a:p>
            <a:r>
              <a:rPr lang="ja-JP" altLang="en-US" sz="2800" dirty="0" smtClean="0"/>
              <a:t>また、適切なプログラムを書くことによって、（別のプログラミング言語によるプログラムを実行する）機械を構築することもできる。</a:t>
            </a:r>
            <a:endParaRPr lang="en-US" altLang="ja-JP" sz="2800" dirty="0" smtClean="0"/>
          </a:p>
          <a:p>
            <a:r>
              <a:rPr lang="ja-JP" altLang="en-US" sz="2800" dirty="0" smtClean="0"/>
              <a:t>（例）</a:t>
            </a:r>
            <a:r>
              <a:rPr lang="en-US" altLang="ja-JP" sz="2800" dirty="0" smtClean="0"/>
              <a:t>Java</a:t>
            </a:r>
            <a:r>
              <a:rPr lang="ja-JP" altLang="en-US" sz="2800" dirty="0" smtClean="0"/>
              <a:t>仮想機械</a:t>
            </a:r>
            <a:r>
              <a:rPr lang="en-US" altLang="ja-JP" sz="2800" dirty="0" smtClean="0"/>
              <a:t>--- Java bite code</a:t>
            </a:r>
            <a:r>
              <a:rPr lang="ja-JP" altLang="en-US" sz="2800" dirty="0" smtClean="0"/>
              <a:t>を実行する機械</a:t>
            </a:r>
            <a:endParaRPr lang="en-US" altLang="ja-JP" sz="2800" dirty="0" smtClean="0"/>
          </a:p>
          <a:p>
            <a:r>
              <a:rPr lang="ja-JP" altLang="en-US" sz="2800" dirty="0" smtClean="0"/>
              <a:t>このようなプログラムを、インタープリタともいう。</a:t>
            </a:r>
            <a:endParaRPr lang="en-US" altLang="ja-JP" sz="2800" dirty="0" smtClean="0"/>
          </a:p>
        </p:txBody>
      </p:sp>
      <p:sp>
        <p:nvSpPr>
          <p:cNvPr id="10244" name="正方形/長方形 3"/>
          <p:cNvSpPr>
            <a:spLocks noChangeArrowheads="1"/>
          </p:cNvSpPr>
          <p:nvPr/>
        </p:nvSpPr>
        <p:spPr bwMode="auto">
          <a:xfrm>
            <a:off x="683568" y="5157192"/>
            <a:ext cx="7785100" cy="1384995"/>
          </a:xfrm>
          <a:prstGeom prst="rect">
            <a:avLst/>
          </a:prstGeom>
          <a:noFill/>
          <a:ln w="9525">
            <a:noFill/>
            <a:miter lim="800000"/>
            <a:headEnd/>
            <a:tailEnd/>
          </a:ln>
        </p:spPr>
        <p:txBody>
          <a:bodyPr>
            <a:spAutoFit/>
          </a:bodyPr>
          <a:lstStyle/>
          <a:p>
            <a:r>
              <a:rPr lang="ja-JP" altLang="en-US" sz="2800" dirty="0"/>
              <a:t>通常のプログラミング言語は、任意のチューリングマシンを記述できる。プログラミング言語</a:t>
            </a:r>
            <a:r>
              <a:rPr lang="ja-JP" altLang="en-US" sz="2800" dirty="0" smtClean="0"/>
              <a:t>は（通常のものは）計算</a:t>
            </a:r>
            <a:r>
              <a:rPr lang="ja-JP" altLang="en-US" sz="2800" dirty="0"/>
              <a:t>記述能力においてすべて等価。</a:t>
            </a:r>
            <a:endParaRPr lang="en-US" altLang="ja-JP" sz="28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658813" y="523875"/>
            <a:ext cx="8001000" cy="1143000"/>
          </a:xfrm>
          <a:noFill/>
        </p:spPr>
        <p:txBody>
          <a:bodyPr/>
          <a:lstStyle/>
          <a:p>
            <a:pPr eaLnBrk="1" hangingPunct="1"/>
            <a:r>
              <a:rPr lang="ja-JP" altLang="en-US" dirty="0" smtClean="0"/>
              <a:t>プログラミング言語の例</a:t>
            </a:r>
          </a:p>
        </p:txBody>
      </p:sp>
      <p:sp>
        <p:nvSpPr>
          <p:cNvPr id="12291" name="テキスト ボックス 2"/>
          <p:cNvSpPr txBox="1">
            <a:spLocks noChangeArrowheads="1"/>
          </p:cNvSpPr>
          <p:nvPr/>
        </p:nvSpPr>
        <p:spPr bwMode="auto">
          <a:xfrm>
            <a:off x="1043608" y="1844824"/>
            <a:ext cx="6781800" cy="2677656"/>
          </a:xfrm>
          <a:prstGeom prst="rect">
            <a:avLst/>
          </a:prstGeom>
          <a:noFill/>
          <a:ln w="9525">
            <a:noFill/>
            <a:miter lim="800000"/>
            <a:headEnd/>
            <a:tailEnd/>
          </a:ln>
        </p:spPr>
        <p:txBody>
          <a:bodyPr>
            <a:spAutoFit/>
          </a:bodyPr>
          <a:lstStyle/>
          <a:p>
            <a:r>
              <a:rPr lang="ja-JP" altLang="en-US" sz="2800" dirty="0" smtClean="0"/>
              <a:t>機械語</a:t>
            </a:r>
            <a:endParaRPr lang="en-US" altLang="ja-JP" sz="2800" dirty="0"/>
          </a:p>
          <a:p>
            <a:r>
              <a:rPr lang="ja-JP" altLang="en-US" sz="2800" dirty="0"/>
              <a:t>アセンブリ言語</a:t>
            </a:r>
            <a:endParaRPr lang="en-US" altLang="ja-JP" sz="2800" dirty="0"/>
          </a:p>
          <a:p>
            <a:r>
              <a:rPr lang="en-US" altLang="ja-JP" sz="2800" dirty="0"/>
              <a:t>C</a:t>
            </a:r>
            <a:r>
              <a:rPr lang="ja-JP" altLang="en-US" sz="2800" dirty="0"/>
              <a:t>言語</a:t>
            </a:r>
            <a:endParaRPr lang="en-US" altLang="ja-JP" sz="2800" dirty="0"/>
          </a:p>
          <a:p>
            <a:r>
              <a:rPr lang="en-US" altLang="ja-JP" sz="2800" dirty="0"/>
              <a:t>ML</a:t>
            </a:r>
          </a:p>
          <a:p>
            <a:r>
              <a:rPr lang="en-US" altLang="ja-JP" sz="2800" dirty="0"/>
              <a:t>Java</a:t>
            </a:r>
          </a:p>
          <a:p>
            <a:r>
              <a:rPr lang="en-US" altLang="ja-JP" sz="2800" dirty="0"/>
              <a:t>….</a:t>
            </a:r>
          </a:p>
        </p:txBody>
      </p:sp>
      <p:sp>
        <p:nvSpPr>
          <p:cNvPr id="12292" name="テキスト ボックス 4"/>
          <p:cNvSpPr txBox="1">
            <a:spLocks noChangeArrowheads="1"/>
          </p:cNvSpPr>
          <p:nvPr/>
        </p:nvSpPr>
        <p:spPr bwMode="auto">
          <a:xfrm>
            <a:off x="2928926" y="3786190"/>
            <a:ext cx="5676900" cy="954107"/>
          </a:xfrm>
          <a:prstGeom prst="rect">
            <a:avLst/>
          </a:prstGeom>
          <a:noFill/>
          <a:ln w="9525">
            <a:noFill/>
            <a:miter lim="800000"/>
            <a:headEnd/>
            <a:tailEnd/>
          </a:ln>
        </p:spPr>
        <p:txBody>
          <a:bodyPr>
            <a:spAutoFit/>
          </a:bodyPr>
          <a:lstStyle/>
          <a:p>
            <a:r>
              <a:rPr lang="ja-JP" altLang="en-US" sz="2800" dirty="0"/>
              <a:t>扱う対象に応じて適した言語があるので、場合に応じて使い分ける</a:t>
            </a:r>
            <a:r>
              <a:rPr lang="ja-JP" altLang="en-US" sz="2800" dirty="0" smtClean="0"/>
              <a:t>。</a:t>
            </a:r>
            <a:endParaRPr lang="en-US" altLang="ja-JP" sz="28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インタープリタとコンパイラ</a:t>
            </a:r>
            <a:endParaRPr kumimoji="1" lang="ja-JP" altLang="en-US" dirty="0"/>
          </a:p>
        </p:txBody>
      </p:sp>
      <p:sp>
        <p:nvSpPr>
          <p:cNvPr id="3" name="コンテンツ プレースホルダ 2"/>
          <p:cNvSpPr>
            <a:spLocks noGrp="1"/>
          </p:cNvSpPr>
          <p:nvPr>
            <p:ph idx="1"/>
          </p:nvPr>
        </p:nvSpPr>
        <p:spPr>
          <a:xfrm>
            <a:off x="467544" y="1412776"/>
            <a:ext cx="8229600" cy="3445843"/>
          </a:xfrm>
        </p:spPr>
        <p:txBody>
          <a:bodyPr>
            <a:normAutofit/>
          </a:bodyPr>
          <a:lstStyle/>
          <a:p>
            <a:r>
              <a:rPr lang="ja-JP" altLang="en-US" sz="2800" dirty="0" smtClean="0"/>
              <a:t>インタープリタ </a:t>
            </a:r>
            <a:r>
              <a:rPr lang="en-US" altLang="ja-JP" sz="2800" dirty="0" smtClean="0"/>
              <a:t>--- </a:t>
            </a:r>
            <a:r>
              <a:rPr lang="ja-JP" altLang="en-US" sz="2800" dirty="0" smtClean="0"/>
              <a:t>プログラムを解釈実行する機械。</a:t>
            </a:r>
            <a:endParaRPr lang="en-US" altLang="ja-JP" sz="2800" dirty="0" smtClean="0"/>
          </a:p>
          <a:p>
            <a:pPr>
              <a:buNone/>
            </a:pPr>
            <a:r>
              <a:rPr lang="ja-JP" altLang="en-US" sz="2800" dirty="0" smtClean="0"/>
              <a:t>    ある言語</a:t>
            </a:r>
            <a:r>
              <a:rPr lang="en-US" altLang="ja-JP" sz="2800" dirty="0" smtClean="0"/>
              <a:t>A</a:t>
            </a:r>
            <a:r>
              <a:rPr lang="ja-JP" altLang="en-US" sz="2800" dirty="0" smtClean="0"/>
              <a:t>で記述されたプログラムは、何らかの言語</a:t>
            </a:r>
            <a:r>
              <a:rPr lang="en-US" altLang="ja-JP" sz="2800" dirty="0" smtClean="0"/>
              <a:t>B</a:t>
            </a:r>
            <a:r>
              <a:rPr lang="ja-JP" altLang="en-US" sz="2800" dirty="0" smtClean="0"/>
              <a:t>（最終的には機械語）で、言語</a:t>
            </a:r>
            <a:r>
              <a:rPr lang="en-US" altLang="ja-JP" sz="2800" dirty="0" smtClean="0"/>
              <a:t>A</a:t>
            </a:r>
            <a:r>
              <a:rPr lang="ja-JP" altLang="en-US" sz="2800" dirty="0" smtClean="0"/>
              <a:t>で記述されたプログラムを解釈実行する機械（インタープリタと呼ぶ）を記述すれば実行できる。</a:t>
            </a:r>
            <a:endParaRPr lang="en-US" altLang="ja-JP" sz="2800" dirty="0" smtClean="0"/>
          </a:p>
          <a:p>
            <a:endParaRPr kumimoji="1" lang="ja-JP" altLang="en-US" sz="2800" dirty="0"/>
          </a:p>
        </p:txBody>
      </p:sp>
      <p:sp>
        <p:nvSpPr>
          <p:cNvPr id="4" name="コンテンツ プレースホルダ 2"/>
          <p:cNvSpPr txBox="1">
            <a:spLocks/>
          </p:cNvSpPr>
          <p:nvPr/>
        </p:nvSpPr>
        <p:spPr>
          <a:xfrm>
            <a:off x="395536" y="4005064"/>
            <a:ext cx="8229600" cy="216024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ja-JP" altLang="en-US" sz="2800" dirty="0" smtClean="0"/>
              <a:t>コンパイラ </a:t>
            </a:r>
            <a:r>
              <a:rPr lang="en-US" altLang="ja-JP" sz="2800" dirty="0" smtClean="0"/>
              <a:t>--- </a:t>
            </a:r>
            <a:r>
              <a:rPr kumimoji="1" lang="ja-JP" altLang="en-US" sz="2800" b="0" i="0" u="none" strike="noStrike" kern="1200" cap="none" spc="0" normalizeH="0" baseline="0" noProof="0" dirty="0" smtClean="0">
                <a:ln>
                  <a:noFill/>
                </a:ln>
                <a:solidFill>
                  <a:schemeClr val="tx1"/>
                </a:solidFill>
                <a:effectLst/>
                <a:uLnTx/>
                <a:uFillTx/>
                <a:latin typeface="+mn-lt"/>
                <a:ea typeface="+mn-ea"/>
                <a:cs typeface="+mn-cs"/>
              </a:rPr>
              <a:t>プログラムを翻訳する機械。</a:t>
            </a:r>
            <a:endParaRPr kumimoji="1" lang="en-US" altLang="ja-JP" sz="2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1" lang="ja-JP" altLang="en-US" sz="2800" b="0" i="0" u="none" strike="noStrike" kern="1200" cap="none" spc="0" normalizeH="0" baseline="0" noProof="0" dirty="0" smtClean="0">
                <a:ln>
                  <a:noFill/>
                </a:ln>
                <a:solidFill>
                  <a:schemeClr val="tx1"/>
                </a:solidFill>
                <a:effectLst/>
                <a:uLnTx/>
                <a:uFillTx/>
                <a:latin typeface="+mn-lt"/>
                <a:ea typeface="+mn-ea"/>
                <a:cs typeface="+mn-cs"/>
              </a:rPr>
              <a:t>    ある言語</a:t>
            </a:r>
            <a:r>
              <a:rPr kumimoji="1" lang="en-US" altLang="ja-JP" sz="2800" b="0" i="0" u="none" strike="noStrike" kern="1200" cap="none" spc="0" normalizeH="0" baseline="0" noProof="0" dirty="0" smtClean="0">
                <a:ln>
                  <a:noFill/>
                </a:ln>
                <a:solidFill>
                  <a:schemeClr val="tx1"/>
                </a:solidFill>
                <a:effectLst/>
                <a:uLnTx/>
                <a:uFillTx/>
                <a:latin typeface="+mn-lt"/>
                <a:ea typeface="+mn-ea"/>
                <a:cs typeface="+mn-cs"/>
              </a:rPr>
              <a:t>A</a:t>
            </a:r>
            <a:r>
              <a:rPr kumimoji="1" lang="ja-JP" altLang="en-US" sz="2800" b="0" i="0" u="none" strike="noStrike" kern="1200" cap="none" spc="0" normalizeH="0" baseline="0" noProof="0" dirty="0" smtClean="0">
                <a:ln>
                  <a:noFill/>
                </a:ln>
                <a:solidFill>
                  <a:schemeClr val="tx1"/>
                </a:solidFill>
                <a:effectLst/>
                <a:uLnTx/>
                <a:uFillTx/>
                <a:latin typeface="+mn-lt"/>
                <a:ea typeface="+mn-ea"/>
                <a:cs typeface="+mn-cs"/>
              </a:rPr>
              <a:t>で記述されたプログラムを、他の言語</a:t>
            </a:r>
            <a:r>
              <a:rPr kumimoji="1" lang="en-US" altLang="ja-JP" sz="2800" b="0" i="0" u="none" strike="noStrike" kern="1200" cap="none" spc="0" normalizeH="0" baseline="0" noProof="0" dirty="0" smtClean="0">
                <a:ln>
                  <a:noFill/>
                </a:ln>
                <a:solidFill>
                  <a:schemeClr val="tx1"/>
                </a:solidFill>
                <a:effectLst/>
                <a:uLnTx/>
                <a:uFillTx/>
                <a:latin typeface="+mn-lt"/>
                <a:ea typeface="+mn-ea"/>
                <a:cs typeface="+mn-cs"/>
              </a:rPr>
              <a:t>B</a:t>
            </a:r>
            <a:r>
              <a:rPr kumimoji="1" lang="ja-JP" altLang="en-US" sz="2800" b="0" i="0" u="none" strike="noStrike" kern="1200" cap="none" spc="0" normalizeH="0" baseline="0" noProof="0" dirty="0" smtClean="0">
                <a:ln>
                  <a:noFill/>
                </a:ln>
                <a:solidFill>
                  <a:schemeClr val="tx1"/>
                </a:solidFill>
                <a:effectLst/>
                <a:uLnTx/>
                <a:uFillTx/>
                <a:latin typeface="+mn-lt"/>
                <a:ea typeface="+mn-ea"/>
                <a:cs typeface="+mn-cs"/>
              </a:rPr>
              <a:t>のプログラムに翻訳する機械。最終的に機械語まで翻訳すれば、それを直接コンピュータで実行できる。</a:t>
            </a:r>
            <a:endParaRPr kumimoji="1" lang="en-US" altLang="ja-JP" sz="2800" b="0" i="0" u="none" strike="noStrike" kern="120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1" lang="ja-JP" altLang="en-US"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プログラミング言語の定義</a:t>
            </a:r>
            <a:endParaRPr kumimoji="1" lang="ja-JP" altLang="en-US" dirty="0"/>
          </a:p>
        </p:txBody>
      </p:sp>
      <p:sp>
        <p:nvSpPr>
          <p:cNvPr id="4" name="テキスト ボックス 3"/>
          <p:cNvSpPr txBox="1">
            <a:spLocks noChangeArrowheads="1"/>
          </p:cNvSpPr>
          <p:nvPr/>
        </p:nvSpPr>
        <p:spPr bwMode="auto">
          <a:xfrm>
            <a:off x="683568" y="1412776"/>
            <a:ext cx="7848872" cy="3539430"/>
          </a:xfrm>
          <a:prstGeom prst="rect">
            <a:avLst/>
          </a:prstGeom>
          <a:noFill/>
          <a:ln w="9525">
            <a:noFill/>
            <a:miter lim="800000"/>
            <a:headEnd/>
            <a:tailEnd/>
          </a:ln>
        </p:spPr>
        <p:txBody>
          <a:bodyPr wrap="square">
            <a:spAutoFit/>
          </a:bodyPr>
          <a:lstStyle/>
          <a:p>
            <a:r>
              <a:rPr lang="ja-JP" altLang="en-US" sz="2800" dirty="0"/>
              <a:t>プログラムは複数の人間が扱うので、意味を明確に定めておかなければならない</a:t>
            </a:r>
            <a:r>
              <a:rPr lang="ja-JP" altLang="en-US" sz="2800" dirty="0" smtClean="0"/>
              <a:t>。（意味が定まっていなければコンパイラも書けない）</a:t>
            </a:r>
            <a:endParaRPr lang="en-US" altLang="ja-JP" sz="2800" dirty="0" smtClean="0"/>
          </a:p>
          <a:p>
            <a:endParaRPr lang="en-US" altLang="ja-JP" sz="2800" dirty="0" smtClean="0"/>
          </a:p>
          <a:p>
            <a:r>
              <a:rPr lang="en-US" altLang="ja-JP" sz="2800" dirty="0" smtClean="0"/>
              <a:t> (</a:t>
            </a:r>
            <a:r>
              <a:rPr lang="ja-JP" altLang="en-US" sz="2800" dirty="0" smtClean="0"/>
              <a:t>参考</a:t>
            </a:r>
            <a:r>
              <a:rPr lang="en-US" altLang="ja-JP" sz="2800" dirty="0" smtClean="0"/>
              <a:t>)  C</a:t>
            </a:r>
            <a:r>
              <a:rPr lang="ja-JP" altLang="en-US" sz="2800" dirty="0" smtClean="0"/>
              <a:t>言語は開発当初、意味が明確に定められておらず、コンパイラによって微妙に動作が異なるという事態となった</a:t>
            </a:r>
            <a:r>
              <a:rPr lang="ja-JP" altLang="en-US" sz="2800" dirty="0" smtClean="0"/>
              <a:t>。</a:t>
            </a:r>
            <a:r>
              <a:rPr lang="en-US" altLang="ja-JP" sz="2800" dirty="0" smtClean="0"/>
              <a:t>1990</a:t>
            </a:r>
            <a:r>
              <a:rPr lang="ja-JP" altLang="en-US" sz="2800" dirty="0" smtClean="0"/>
              <a:t>年</a:t>
            </a:r>
            <a:r>
              <a:rPr lang="ja-JP" altLang="en-US" sz="2800" dirty="0" smtClean="0"/>
              <a:t>に</a:t>
            </a:r>
            <a:r>
              <a:rPr lang="en-US" altLang="ja-JP" sz="2800" dirty="0" smtClean="0"/>
              <a:t>ISO</a:t>
            </a:r>
            <a:r>
              <a:rPr lang="ja-JP" altLang="en-US" sz="2800" dirty="0" smtClean="0"/>
              <a:t>規格</a:t>
            </a:r>
            <a:r>
              <a:rPr lang="ja-JP" altLang="en-US" sz="2800" dirty="0" smtClean="0"/>
              <a:t>が定められた（</a:t>
            </a:r>
            <a:r>
              <a:rPr lang="en-US" altLang="ja-JP" sz="2800" dirty="0" smtClean="0"/>
              <a:t>1999</a:t>
            </a:r>
            <a:r>
              <a:rPr lang="ja-JP" altLang="en-US" sz="2800" dirty="0" smtClean="0"/>
              <a:t>年に改定）。</a:t>
            </a:r>
            <a:endParaRPr lang="ja-JP" alt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プログラミング言語の定義</a:t>
            </a:r>
            <a:endParaRPr kumimoji="1" lang="ja-JP" altLang="en-US" dirty="0"/>
          </a:p>
        </p:txBody>
      </p:sp>
      <p:sp>
        <p:nvSpPr>
          <p:cNvPr id="4" name="テキスト ボックス 3"/>
          <p:cNvSpPr txBox="1">
            <a:spLocks noChangeArrowheads="1"/>
          </p:cNvSpPr>
          <p:nvPr/>
        </p:nvSpPr>
        <p:spPr bwMode="auto">
          <a:xfrm>
            <a:off x="928662" y="1285860"/>
            <a:ext cx="6572250" cy="830997"/>
          </a:xfrm>
          <a:prstGeom prst="rect">
            <a:avLst/>
          </a:prstGeom>
          <a:noFill/>
          <a:ln w="9525">
            <a:noFill/>
            <a:miter lim="800000"/>
            <a:headEnd/>
            <a:tailEnd/>
          </a:ln>
        </p:spPr>
        <p:txBody>
          <a:bodyPr>
            <a:spAutoFit/>
          </a:bodyPr>
          <a:lstStyle/>
          <a:p>
            <a:r>
              <a:rPr lang="ja-JP" altLang="en-US" sz="2400" dirty="0"/>
              <a:t>プログラミング言語の定義は、構文の定義と意味の定義に分けられる。</a:t>
            </a:r>
          </a:p>
        </p:txBody>
      </p:sp>
      <p:sp>
        <p:nvSpPr>
          <p:cNvPr id="5" name="テキスト ボックス 6"/>
          <p:cNvSpPr txBox="1">
            <a:spLocks noChangeArrowheads="1"/>
          </p:cNvSpPr>
          <p:nvPr/>
        </p:nvSpPr>
        <p:spPr bwMode="auto">
          <a:xfrm>
            <a:off x="928662" y="2357430"/>
            <a:ext cx="3996607" cy="461665"/>
          </a:xfrm>
          <a:prstGeom prst="rect">
            <a:avLst/>
          </a:prstGeom>
          <a:noFill/>
          <a:ln w="9525">
            <a:noFill/>
            <a:miter lim="800000"/>
            <a:headEnd/>
            <a:tailEnd/>
          </a:ln>
        </p:spPr>
        <p:txBody>
          <a:bodyPr wrap="none">
            <a:spAutoFit/>
          </a:bodyPr>
          <a:lstStyle/>
          <a:p>
            <a:r>
              <a:rPr lang="ja-JP" altLang="en-US" sz="2400" dirty="0"/>
              <a:t>例として、数の表記を考える。</a:t>
            </a:r>
          </a:p>
        </p:txBody>
      </p:sp>
      <p:sp>
        <p:nvSpPr>
          <p:cNvPr id="6" name="テキスト ボックス 8"/>
          <p:cNvSpPr txBox="1">
            <a:spLocks noChangeArrowheads="1"/>
          </p:cNvSpPr>
          <p:nvPr/>
        </p:nvSpPr>
        <p:spPr bwMode="auto">
          <a:xfrm>
            <a:off x="1695450" y="2960688"/>
            <a:ext cx="698500" cy="461962"/>
          </a:xfrm>
          <a:prstGeom prst="rect">
            <a:avLst/>
          </a:prstGeom>
          <a:noFill/>
          <a:ln w="9525">
            <a:noFill/>
            <a:miter lim="800000"/>
            <a:headEnd/>
            <a:tailEnd/>
          </a:ln>
        </p:spPr>
        <p:txBody>
          <a:bodyPr wrap="none">
            <a:spAutoFit/>
          </a:bodyPr>
          <a:lstStyle/>
          <a:p>
            <a:r>
              <a:rPr lang="en-US" altLang="ja-JP" sz="2400"/>
              <a:t>325</a:t>
            </a:r>
            <a:endParaRPr lang="ja-JP" altLang="en-US" sz="2400"/>
          </a:p>
        </p:txBody>
      </p:sp>
      <p:sp>
        <p:nvSpPr>
          <p:cNvPr id="7" name="テキスト ボックス 9"/>
          <p:cNvSpPr txBox="1">
            <a:spLocks noChangeArrowheads="1"/>
          </p:cNvSpPr>
          <p:nvPr/>
        </p:nvSpPr>
        <p:spPr bwMode="auto">
          <a:xfrm>
            <a:off x="1071563" y="3429000"/>
            <a:ext cx="4772025" cy="830263"/>
          </a:xfrm>
          <a:prstGeom prst="rect">
            <a:avLst/>
          </a:prstGeom>
          <a:noFill/>
          <a:ln w="9525">
            <a:noFill/>
            <a:miter lim="800000"/>
            <a:headEnd/>
            <a:tailEnd/>
          </a:ln>
        </p:spPr>
        <p:txBody>
          <a:bodyPr wrap="none">
            <a:spAutoFit/>
          </a:bodyPr>
          <a:lstStyle/>
          <a:p>
            <a:r>
              <a:rPr lang="en-US" altLang="ja-JP" sz="2400"/>
              <a:t>3,</a:t>
            </a:r>
            <a:r>
              <a:rPr lang="ja-JP" altLang="en-US" sz="2400"/>
              <a:t> </a:t>
            </a:r>
            <a:r>
              <a:rPr lang="en-US" altLang="ja-JP" sz="2400"/>
              <a:t>2, 5 </a:t>
            </a:r>
            <a:r>
              <a:rPr lang="ja-JP" altLang="en-US" sz="2400"/>
              <a:t>を並べて表記すると、</a:t>
            </a:r>
            <a:endParaRPr lang="en-US" altLang="ja-JP" sz="2400"/>
          </a:p>
          <a:p>
            <a:r>
              <a:rPr lang="en-US" altLang="ja-JP" sz="2400" i="1"/>
              <a:t>325 </a:t>
            </a:r>
            <a:r>
              <a:rPr lang="en-US" altLang="ja-JP" sz="2400"/>
              <a:t>(</a:t>
            </a:r>
            <a:r>
              <a:rPr lang="ja-JP" altLang="en-US" sz="2400"/>
              <a:t>三百二十五</a:t>
            </a:r>
            <a:r>
              <a:rPr lang="en-US" altLang="ja-JP" sz="2400"/>
              <a:t>) </a:t>
            </a:r>
            <a:r>
              <a:rPr lang="ja-JP" altLang="en-US" sz="2400"/>
              <a:t>という数を表わす</a:t>
            </a:r>
          </a:p>
        </p:txBody>
      </p:sp>
      <p:sp>
        <p:nvSpPr>
          <p:cNvPr id="8" name="円/楕円 7"/>
          <p:cNvSpPr/>
          <p:nvPr/>
        </p:nvSpPr>
        <p:spPr>
          <a:xfrm>
            <a:off x="728663" y="4865688"/>
            <a:ext cx="1985962" cy="149542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9" name="テキスト ボックス 11"/>
          <p:cNvSpPr txBox="1">
            <a:spLocks noChangeArrowheads="1"/>
          </p:cNvSpPr>
          <p:nvPr/>
        </p:nvSpPr>
        <p:spPr bwMode="auto">
          <a:xfrm>
            <a:off x="1290638" y="4849813"/>
            <a:ext cx="298450" cy="338137"/>
          </a:xfrm>
          <a:prstGeom prst="rect">
            <a:avLst/>
          </a:prstGeom>
          <a:noFill/>
          <a:ln w="9525">
            <a:noFill/>
            <a:miter lim="800000"/>
            <a:headEnd/>
            <a:tailEnd/>
          </a:ln>
        </p:spPr>
        <p:txBody>
          <a:bodyPr wrap="none">
            <a:spAutoFit/>
          </a:bodyPr>
          <a:lstStyle/>
          <a:p>
            <a:r>
              <a:rPr lang="en-US" altLang="ja-JP"/>
              <a:t>0</a:t>
            </a:r>
            <a:endParaRPr lang="ja-JP" altLang="en-US"/>
          </a:p>
        </p:txBody>
      </p:sp>
      <p:sp>
        <p:nvSpPr>
          <p:cNvPr id="10" name="テキスト ボックス 12"/>
          <p:cNvSpPr txBox="1">
            <a:spLocks noChangeArrowheads="1"/>
          </p:cNvSpPr>
          <p:nvPr/>
        </p:nvSpPr>
        <p:spPr bwMode="auto">
          <a:xfrm>
            <a:off x="1719263" y="4849813"/>
            <a:ext cx="298450" cy="338137"/>
          </a:xfrm>
          <a:prstGeom prst="rect">
            <a:avLst/>
          </a:prstGeom>
          <a:noFill/>
          <a:ln w="9525">
            <a:noFill/>
            <a:miter lim="800000"/>
            <a:headEnd/>
            <a:tailEnd/>
          </a:ln>
        </p:spPr>
        <p:txBody>
          <a:bodyPr wrap="none">
            <a:spAutoFit/>
          </a:bodyPr>
          <a:lstStyle/>
          <a:p>
            <a:r>
              <a:rPr lang="en-US" altLang="ja-JP"/>
              <a:t>1</a:t>
            </a:r>
            <a:endParaRPr lang="ja-JP" altLang="en-US"/>
          </a:p>
        </p:txBody>
      </p:sp>
      <p:sp>
        <p:nvSpPr>
          <p:cNvPr id="11" name="テキスト ボックス 13"/>
          <p:cNvSpPr txBox="1">
            <a:spLocks noChangeArrowheads="1"/>
          </p:cNvSpPr>
          <p:nvPr/>
        </p:nvSpPr>
        <p:spPr bwMode="auto">
          <a:xfrm>
            <a:off x="1076325" y="5135563"/>
            <a:ext cx="298450" cy="338137"/>
          </a:xfrm>
          <a:prstGeom prst="rect">
            <a:avLst/>
          </a:prstGeom>
          <a:noFill/>
          <a:ln w="9525">
            <a:noFill/>
            <a:miter lim="800000"/>
            <a:headEnd/>
            <a:tailEnd/>
          </a:ln>
        </p:spPr>
        <p:txBody>
          <a:bodyPr wrap="none">
            <a:spAutoFit/>
          </a:bodyPr>
          <a:lstStyle/>
          <a:p>
            <a:r>
              <a:rPr lang="en-US" altLang="ja-JP"/>
              <a:t>2</a:t>
            </a:r>
            <a:endParaRPr lang="ja-JP" altLang="en-US"/>
          </a:p>
        </p:txBody>
      </p:sp>
      <p:sp>
        <p:nvSpPr>
          <p:cNvPr id="12" name="テキスト ボックス 14"/>
          <p:cNvSpPr txBox="1">
            <a:spLocks noChangeArrowheads="1"/>
          </p:cNvSpPr>
          <p:nvPr/>
        </p:nvSpPr>
        <p:spPr bwMode="auto">
          <a:xfrm>
            <a:off x="1433513" y="5278438"/>
            <a:ext cx="298450" cy="338137"/>
          </a:xfrm>
          <a:prstGeom prst="rect">
            <a:avLst/>
          </a:prstGeom>
          <a:noFill/>
          <a:ln w="9525">
            <a:noFill/>
            <a:miter lim="800000"/>
            <a:headEnd/>
            <a:tailEnd/>
          </a:ln>
        </p:spPr>
        <p:txBody>
          <a:bodyPr wrap="none">
            <a:spAutoFit/>
          </a:bodyPr>
          <a:lstStyle/>
          <a:p>
            <a:r>
              <a:rPr lang="en-US" altLang="ja-JP"/>
              <a:t>3</a:t>
            </a:r>
            <a:endParaRPr lang="ja-JP" altLang="en-US"/>
          </a:p>
        </p:txBody>
      </p:sp>
      <p:sp>
        <p:nvSpPr>
          <p:cNvPr id="13" name="テキスト ボックス 15"/>
          <p:cNvSpPr txBox="1">
            <a:spLocks noChangeArrowheads="1"/>
          </p:cNvSpPr>
          <p:nvPr/>
        </p:nvSpPr>
        <p:spPr bwMode="auto">
          <a:xfrm>
            <a:off x="1076325" y="5564188"/>
            <a:ext cx="298450" cy="338137"/>
          </a:xfrm>
          <a:prstGeom prst="rect">
            <a:avLst/>
          </a:prstGeom>
          <a:noFill/>
          <a:ln w="9525">
            <a:noFill/>
            <a:miter lim="800000"/>
            <a:headEnd/>
            <a:tailEnd/>
          </a:ln>
        </p:spPr>
        <p:txBody>
          <a:bodyPr wrap="none">
            <a:spAutoFit/>
          </a:bodyPr>
          <a:lstStyle/>
          <a:p>
            <a:r>
              <a:rPr lang="en-US" altLang="ja-JP"/>
              <a:t>4</a:t>
            </a:r>
            <a:endParaRPr lang="ja-JP" altLang="en-US"/>
          </a:p>
        </p:txBody>
      </p:sp>
      <p:sp>
        <p:nvSpPr>
          <p:cNvPr id="14" name="テキスト ボックス 16"/>
          <p:cNvSpPr txBox="1">
            <a:spLocks noChangeArrowheads="1"/>
          </p:cNvSpPr>
          <p:nvPr/>
        </p:nvSpPr>
        <p:spPr bwMode="auto">
          <a:xfrm>
            <a:off x="1719263" y="5492750"/>
            <a:ext cx="298450" cy="338138"/>
          </a:xfrm>
          <a:prstGeom prst="rect">
            <a:avLst/>
          </a:prstGeom>
          <a:noFill/>
          <a:ln w="9525">
            <a:noFill/>
            <a:miter lim="800000"/>
            <a:headEnd/>
            <a:tailEnd/>
          </a:ln>
        </p:spPr>
        <p:txBody>
          <a:bodyPr wrap="none">
            <a:spAutoFit/>
          </a:bodyPr>
          <a:lstStyle/>
          <a:p>
            <a:r>
              <a:rPr lang="en-US" altLang="ja-JP"/>
              <a:t>5</a:t>
            </a:r>
            <a:endParaRPr lang="ja-JP" altLang="en-US"/>
          </a:p>
        </p:txBody>
      </p:sp>
      <p:sp>
        <p:nvSpPr>
          <p:cNvPr id="15" name="テキスト ボックス 17"/>
          <p:cNvSpPr txBox="1">
            <a:spLocks noChangeArrowheads="1"/>
          </p:cNvSpPr>
          <p:nvPr/>
        </p:nvSpPr>
        <p:spPr bwMode="auto">
          <a:xfrm>
            <a:off x="1290638" y="5849938"/>
            <a:ext cx="298450" cy="338137"/>
          </a:xfrm>
          <a:prstGeom prst="rect">
            <a:avLst/>
          </a:prstGeom>
          <a:noFill/>
          <a:ln w="9525">
            <a:noFill/>
            <a:miter lim="800000"/>
            <a:headEnd/>
            <a:tailEnd/>
          </a:ln>
        </p:spPr>
        <p:txBody>
          <a:bodyPr wrap="none">
            <a:spAutoFit/>
          </a:bodyPr>
          <a:lstStyle/>
          <a:p>
            <a:r>
              <a:rPr lang="en-US" altLang="ja-JP"/>
              <a:t>6</a:t>
            </a:r>
            <a:endParaRPr lang="ja-JP" altLang="en-US"/>
          </a:p>
        </p:txBody>
      </p:sp>
      <p:sp>
        <p:nvSpPr>
          <p:cNvPr id="16" name="テキスト ボックス 18"/>
          <p:cNvSpPr txBox="1">
            <a:spLocks noChangeArrowheads="1"/>
          </p:cNvSpPr>
          <p:nvPr/>
        </p:nvSpPr>
        <p:spPr bwMode="auto">
          <a:xfrm>
            <a:off x="1862138" y="5849938"/>
            <a:ext cx="298450" cy="338137"/>
          </a:xfrm>
          <a:prstGeom prst="rect">
            <a:avLst/>
          </a:prstGeom>
          <a:noFill/>
          <a:ln w="9525">
            <a:noFill/>
            <a:miter lim="800000"/>
            <a:headEnd/>
            <a:tailEnd/>
          </a:ln>
        </p:spPr>
        <p:txBody>
          <a:bodyPr wrap="none">
            <a:spAutoFit/>
          </a:bodyPr>
          <a:lstStyle/>
          <a:p>
            <a:r>
              <a:rPr lang="en-US" altLang="ja-JP"/>
              <a:t>7</a:t>
            </a:r>
            <a:endParaRPr lang="ja-JP" altLang="en-US"/>
          </a:p>
        </p:txBody>
      </p:sp>
      <p:sp>
        <p:nvSpPr>
          <p:cNvPr id="17" name="テキスト ボックス 19"/>
          <p:cNvSpPr txBox="1">
            <a:spLocks noChangeArrowheads="1"/>
          </p:cNvSpPr>
          <p:nvPr/>
        </p:nvSpPr>
        <p:spPr bwMode="auto">
          <a:xfrm>
            <a:off x="2076450" y="5207000"/>
            <a:ext cx="298450" cy="338138"/>
          </a:xfrm>
          <a:prstGeom prst="rect">
            <a:avLst/>
          </a:prstGeom>
          <a:noFill/>
          <a:ln w="9525">
            <a:noFill/>
            <a:miter lim="800000"/>
            <a:headEnd/>
            <a:tailEnd/>
          </a:ln>
        </p:spPr>
        <p:txBody>
          <a:bodyPr wrap="none">
            <a:spAutoFit/>
          </a:bodyPr>
          <a:lstStyle/>
          <a:p>
            <a:r>
              <a:rPr lang="en-US" altLang="ja-JP"/>
              <a:t>8</a:t>
            </a:r>
            <a:endParaRPr lang="ja-JP" altLang="en-US"/>
          </a:p>
        </p:txBody>
      </p:sp>
      <p:sp>
        <p:nvSpPr>
          <p:cNvPr id="18" name="テキスト ボックス 20"/>
          <p:cNvSpPr txBox="1">
            <a:spLocks noChangeArrowheads="1"/>
          </p:cNvSpPr>
          <p:nvPr/>
        </p:nvSpPr>
        <p:spPr bwMode="auto">
          <a:xfrm>
            <a:off x="2147888" y="5635625"/>
            <a:ext cx="298450" cy="338138"/>
          </a:xfrm>
          <a:prstGeom prst="rect">
            <a:avLst/>
          </a:prstGeom>
          <a:noFill/>
          <a:ln w="9525">
            <a:noFill/>
            <a:miter lim="800000"/>
            <a:headEnd/>
            <a:tailEnd/>
          </a:ln>
        </p:spPr>
        <p:txBody>
          <a:bodyPr wrap="none">
            <a:spAutoFit/>
          </a:bodyPr>
          <a:lstStyle/>
          <a:p>
            <a:r>
              <a:rPr lang="en-US" altLang="ja-JP"/>
              <a:t>9</a:t>
            </a:r>
            <a:endParaRPr lang="ja-JP" altLang="en-US"/>
          </a:p>
        </p:txBody>
      </p:sp>
      <p:sp>
        <p:nvSpPr>
          <p:cNvPr id="19" name="円/楕円 18"/>
          <p:cNvSpPr/>
          <p:nvPr/>
        </p:nvSpPr>
        <p:spPr>
          <a:xfrm>
            <a:off x="3683000" y="4916488"/>
            <a:ext cx="1928813" cy="12858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20" name="テキスト ボックス 22"/>
          <p:cNvSpPr txBox="1">
            <a:spLocks noChangeArrowheads="1"/>
          </p:cNvSpPr>
          <p:nvPr/>
        </p:nvSpPr>
        <p:spPr bwMode="auto">
          <a:xfrm>
            <a:off x="4270375" y="5278438"/>
            <a:ext cx="725488" cy="523875"/>
          </a:xfrm>
          <a:prstGeom prst="rect">
            <a:avLst/>
          </a:prstGeom>
          <a:noFill/>
          <a:ln w="9525">
            <a:noFill/>
            <a:miter lim="800000"/>
            <a:headEnd/>
            <a:tailEnd/>
          </a:ln>
        </p:spPr>
        <p:txBody>
          <a:bodyPr>
            <a:spAutoFit/>
          </a:bodyPr>
          <a:lstStyle/>
          <a:p>
            <a:r>
              <a:rPr lang="en-US" altLang="ja-JP"/>
              <a:t>325</a:t>
            </a:r>
            <a:endParaRPr lang="ja-JP" altLang="en-US"/>
          </a:p>
        </p:txBody>
      </p:sp>
      <p:sp>
        <p:nvSpPr>
          <p:cNvPr id="21" name="円/楕円 20"/>
          <p:cNvSpPr/>
          <p:nvPr/>
        </p:nvSpPr>
        <p:spPr>
          <a:xfrm>
            <a:off x="6718300" y="4714875"/>
            <a:ext cx="1928813" cy="14605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22" name="テキスト ボックス 24"/>
          <p:cNvSpPr txBox="1">
            <a:spLocks noChangeArrowheads="1"/>
          </p:cNvSpPr>
          <p:nvPr/>
        </p:nvSpPr>
        <p:spPr bwMode="auto">
          <a:xfrm>
            <a:off x="7273925" y="5184775"/>
            <a:ext cx="742950" cy="523875"/>
          </a:xfrm>
          <a:prstGeom prst="rect">
            <a:avLst/>
          </a:prstGeom>
          <a:noFill/>
          <a:ln w="9525">
            <a:noFill/>
            <a:miter lim="800000"/>
            <a:headEnd/>
            <a:tailEnd/>
          </a:ln>
        </p:spPr>
        <p:txBody>
          <a:bodyPr>
            <a:spAutoFit/>
          </a:bodyPr>
          <a:lstStyle/>
          <a:p>
            <a:r>
              <a:rPr lang="en-US" altLang="ja-JP" i="1"/>
              <a:t>325</a:t>
            </a:r>
            <a:endParaRPr lang="ja-JP" altLang="en-US" i="1"/>
          </a:p>
        </p:txBody>
      </p:sp>
      <p:sp>
        <p:nvSpPr>
          <p:cNvPr id="23" name="テキスト ボックス 25"/>
          <p:cNvSpPr txBox="1">
            <a:spLocks noChangeArrowheads="1"/>
          </p:cNvSpPr>
          <p:nvPr/>
        </p:nvSpPr>
        <p:spPr bwMode="auto">
          <a:xfrm>
            <a:off x="571500" y="4357688"/>
            <a:ext cx="2189163" cy="461962"/>
          </a:xfrm>
          <a:prstGeom prst="rect">
            <a:avLst/>
          </a:prstGeom>
          <a:noFill/>
          <a:ln w="9525">
            <a:noFill/>
            <a:miter lim="800000"/>
            <a:headEnd/>
            <a:tailEnd/>
          </a:ln>
        </p:spPr>
        <p:txBody>
          <a:bodyPr wrap="none">
            <a:spAutoFit/>
          </a:bodyPr>
          <a:lstStyle/>
          <a:p>
            <a:r>
              <a:rPr lang="ja-JP" altLang="en-US" sz="2400"/>
              <a:t>語彙</a:t>
            </a:r>
            <a:r>
              <a:rPr lang="en-US" altLang="ja-JP" sz="2400"/>
              <a:t>(alphabet)</a:t>
            </a:r>
            <a:endParaRPr lang="ja-JP" altLang="en-US" sz="2400"/>
          </a:p>
        </p:txBody>
      </p:sp>
      <p:sp>
        <p:nvSpPr>
          <p:cNvPr id="24" name="テキスト ボックス 26"/>
          <p:cNvSpPr txBox="1">
            <a:spLocks noChangeArrowheads="1"/>
          </p:cNvSpPr>
          <p:nvPr/>
        </p:nvSpPr>
        <p:spPr bwMode="auto">
          <a:xfrm>
            <a:off x="3468688" y="4410075"/>
            <a:ext cx="2378075" cy="461963"/>
          </a:xfrm>
          <a:prstGeom prst="rect">
            <a:avLst/>
          </a:prstGeom>
          <a:noFill/>
          <a:ln w="9525">
            <a:noFill/>
            <a:miter lim="800000"/>
            <a:headEnd/>
            <a:tailEnd/>
          </a:ln>
        </p:spPr>
        <p:txBody>
          <a:bodyPr wrap="none">
            <a:spAutoFit/>
          </a:bodyPr>
          <a:lstStyle/>
          <a:p>
            <a:r>
              <a:rPr lang="ja-JP" altLang="en-US" sz="2400"/>
              <a:t>言語（</a:t>
            </a:r>
            <a:r>
              <a:rPr lang="en-US" altLang="ja-JP" sz="2400"/>
              <a:t>language</a:t>
            </a:r>
            <a:r>
              <a:rPr lang="ja-JP" altLang="en-US" sz="2400"/>
              <a:t>）</a:t>
            </a:r>
          </a:p>
        </p:txBody>
      </p:sp>
      <p:sp>
        <p:nvSpPr>
          <p:cNvPr id="25" name="テキスト ボックス 27"/>
          <p:cNvSpPr txBox="1">
            <a:spLocks noChangeArrowheads="1"/>
          </p:cNvSpPr>
          <p:nvPr/>
        </p:nvSpPr>
        <p:spPr bwMode="auto">
          <a:xfrm>
            <a:off x="7237413" y="4246563"/>
            <a:ext cx="800100" cy="461962"/>
          </a:xfrm>
          <a:prstGeom prst="rect">
            <a:avLst/>
          </a:prstGeom>
          <a:noFill/>
          <a:ln w="9525">
            <a:noFill/>
            <a:miter lim="800000"/>
            <a:headEnd/>
            <a:tailEnd/>
          </a:ln>
        </p:spPr>
        <p:txBody>
          <a:bodyPr wrap="none">
            <a:spAutoFit/>
          </a:bodyPr>
          <a:lstStyle/>
          <a:p>
            <a:r>
              <a:rPr lang="ja-JP" altLang="en-US" sz="2400"/>
              <a:t>意味</a:t>
            </a:r>
          </a:p>
        </p:txBody>
      </p:sp>
      <p:cxnSp>
        <p:nvCxnSpPr>
          <p:cNvPr id="26" name="曲線コネクタ 25"/>
          <p:cNvCxnSpPr>
            <a:stCxn id="19" idx="6"/>
            <a:endCxn id="21" idx="2"/>
          </p:cNvCxnSpPr>
          <p:nvPr/>
        </p:nvCxnSpPr>
        <p:spPr>
          <a:xfrm flipV="1">
            <a:off x="5611813" y="5445125"/>
            <a:ext cx="1106487" cy="114300"/>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27" name="テキスト ボックス 31"/>
          <p:cNvSpPr txBox="1">
            <a:spLocks noChangeArrowheads="1"/>
          </p:cNvSpPr>
          <p:nvPr/>
        </p:nvSpPr>
        <p:spPr bwMode="auto">
          <a:xfrm>
            <a:off x="5589588" y="5067300"/>
            <a:ext cx="1209675" cy="831850"/>
          </a:xfrm>
          <a:prstGeom prst="rect">
            <a:avLst/>
          </a:prstGeom>
          <a:noFill/>
          <a:ln w="9525">
            <a:noFill/>
            <a:miter lim="800000"/>
            <a:headEnd/>
            <a:tailEnd/>
          </a:ln>
        </p:spPr>
        <p:txBody>
          <a:bodyPr wrap="none">
            <a:spAutoFit/>
          </a:bodyPr>
          <a:lstStyle/>
          <a:p>
            <a:r>
              <a:rPr lang="ja-JP" altLang="en-US" sz="2400"/>
              <a:t>表わす</a:t>
            </a:r>
            <a:endParaRPr lang="en-US" altLang="ja-JP" sz="2400"/>
          </a:p>
          <a:p>
            <a:r>
              <a:rPr lang="en-US" altLang="ja-JP" sz="2400"/>
              <a:t>(denote)</a:t>
            </a:r>
            <a:endParaRPr lang="ja-JP" altLang="en-US" sz="2400"/>
          </a:p>
        </p:txBody>
      </p:sp>
      <p:cxnSp>
        <p:nvCxnSpPr>
          <p:cNvPr id="28" name="曲線コネクタ 27"/>
          <p:cNvCxnSpPr>
            <a:stCxn id="8" idx="6"/>
            <a:endCxn id="19" idx="2"/>
          </p:cNvCxnSpPr>
          <p:nvPr/>
        </p:nvCxnSpPr>
        <p:spPr>
          <a:xfrm flipV="1">
            <a:off x="2714625" y="5559425"/>
            <a:ext cx="968375" cy="53975"/>
          </a:xfrm>
          <a:prstGeom prst="curvedConnector3">
            <a:avLst>
              <a:gd name="adj1" fmla="val 50000"/>
            </a:avLst>
          </a:prstGeom>
          <a:ln>
            <a:prstDash val="dash"/>
            <a:tailEnd type="arrow"/>
          </a:ln>
        </p:spPr>
        <p:style>
          <a:lnRef idx="1">
            <a:schemeClr val="accent1"/>
          </a:lnRef>
          <a:fillRef idx="0">
            <a:schemeClr val="accent1"/>
          </a:fillRef>
          <a:effectRef idx="0">
            <a:schemeClr val="accent1"/>
          </a:effectRef>
          <a:fontRef idx="minor">
            <a:schemeClr val="tx1"/>
          </a:fontRef>
        </p:style>
      </p:cxnSp>
      <p:sp>
        <p:nvSpPr>
          <p:cNvPr id="29" name="テキスト ボックス 35"/>
          <p:cNvSpPr txBox="1">
            <a:spLocks noChangeArrowheads="1"/>
          </p:cNvSpPr>
          <p:nvPr/>
        </p:nvSpPr>
        <p:spPr bwMode="auto">
          <a:xfrm>
            <a:off x="2654300" y="5059363"/>
            <a:ext cx="1065213" cy="460375"/>
          </a:xfrm>
          <a:prstGeom prst="rect">
            <a:avLst/>
          </a:prstGeom>
          <a:noFill/>
          <a:ln w="9525">
            <a:noFill/>
            <a:miter lim="800000"/>
            <a:headEnd/>
            <a:tailEnd/>
          </a:ln>
        </p:spPr>
        <p:txBody>
          <a:bodyPr wrap="none">
            <a:spAutoFit/>
          </a:bodyPr>
          <a:lstStyle/>
          <a:p>
            <a:r>
              <a:rPr lang="ja-JP" altLang="en-US" sz="2400"/>
              <a:t>並べる</a:t>
            </a:r>
          </a:p>
        </p:txBody>
      </p:sp>
      <p:sp>
        <p:nvSpPr>
          <p:cNvPr id="30" name="テキスト ボックス 38"/>
          <p:cNvSpPr txBox="1">
            <a:spLocks noChangeArrowheads="1"/>
          </p:cNvSpPr>
          <p:nvPr/>
        </p:nvSpPr>
        <p:spPr bwMode="auto">
          <a:xfrm>
            <a:off x="1208088" y="6291263"/>
            <a:ext cx="1158875" cy="523875"/>
          </a:xfrm>
          <a:prstGeom prst="rect">
            <a:avLst/>
          </a:prstGeom>
          <a:noFill/>
          <a:ln w="9525">
            <a:noFill/>
            <a:miter lim="800000"/>
            <a:headEnd/>
            <a:tailEnd/>
          </a:ln>
        </p:spPr>
        <p:txBody>
          <a:bodyPr wrap="none">
            <a:spAutoFit/>
          </a:bodyPr>
          <a:lstStyle/>
          <a:p>
            <a:r>
              <a:rPr lang="ja-JP" altLang="en-US"/>
              <a:t>（</a:t>
            </a:r>
            <a:r>
              <a:rPr lang="ja-JP" altLang="en-US" sz="2400"/>
              <a:t>数字</a:t>
            </a:r>
            <a:r>
              <a:rPr lang="ja-JP" altLang="en-US"/>
              <a:t>）</a:t>
            </a:r>
          </a:p>
        </p:txBody>
      </p:sp>
      <p:sp>
        <p:nvSpPr>
          <p:cNvPr id="31" name="テキスト ボックス 39"/>
          <p:cNvSpPr txBox="1">
            <a:spLocks noChangeArrowheads="1"/>
          </p:cNvSpPr>
          <p:nvPr/>
        </p:nvSpPr>
        <p:spPr bwMode="auto">
          <a:xfrm>
            <a:off x="3908425" y="6210300"/>
            <a:ext cx="1724025" cy="461963"/>
          </a:xfrm>
          <a:prstGeom prst="rect">
            <a:avLst/>
          </a:prstGeom>
          <a:noFill/>
          <a:ln w="9525">
            <a:noFill/>
            <a:miter lim="800000"/>
            <a:headEnd/>
            <a:tailEnd/>
          </a:ln>
        </p:spPr>
        <p:txBody>
          <a:bodyPr wrap="none">
            <a:spAutoFit/>
          </a:bodyPr>
          <a:lstStyle/>
          <a:p>
            <a:r>
              <a:rPr lang="ja-JP" altLang="en-US" sz="2400"/>
              <a:t>（数字の列）</a:t>
            </a:r>
          </a:p>
        </p:txBody>
      </p:sp>
      <p:sp>
        <p:nvSpPr>
          <p:cNvPr id="32" name="テキスト ボックス 40"/>
          <p:cNvSpPr txBox="1">
            <a:spLocks noChangeArrowheads="1"/>
          </p:cNvSpPr>
          <p:nvPr/>
        </p:nvSpPr>
        <p:spPr bwMode="auto">
          <a:xfrm>
            <a:off x="7073900" y="6121400"/>
            <a:ext cx="1466850" cy="523875"/>
          </a:xfrm>
          <a:prstGeom prst="rect">
            <a:avLst/>
          </a:prstGeom>
          <a:noFill/>
          <a:ln w="9525">
            <a:noFill/>
            <a:miter lim="800000"/>
            <a:headEnd/>
            <a:tailEnd/>
          </a:ln>
        </p:spPr>
        <p:txBody>
          <a:bodyPr wrap="none">
            <a:spAutoFit/>
          </a:bodyPr>
          <a:lstStyle/>
          <a:p>
            <a:r>
              <a:rPr lang="ja-JP" altLang="en-US"/>
              <a:t>（</a:t>
            </a:r>
            <a:r>
              <a:rPr lang="ja-JP" altLang="en-US" sz="2400"/>
              <a:t>自然数</a:t>
            </a:r>
            <a:r>
              <a:rPr lang="ja-JP" altLang="en-US"/>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685800" y="357188"/>
            <a:ext cx="7772400" cy="1143000"/>
          </a:xfrm>
          <a:noFill/>
        </p:spPr>
        <p:txBody>
          <a:bodyPr/>
          <a:lstStyle/>
          <a:p>
            <a:pPr eaLnBrk="1" hangingPunct="1"/>
            <a:r>
              <a:rPr lang="ja-JP" altLang="en-US" smtClean="0"/>
              <a:t>構文と意味</a:t>
            </a:r>
          </a:p>
        </p:txBody>
      </p:sp>
      <p:sp>
        <p:nvSpPr>
          <p:cNvPr id="5123" name="テキスト ボックス 3"/>
          <p:cNvSpPr txBox="1">
            <a:spLocks noChangeArrowheads="1"/>
          </p:cNvSpPr>
          <p:nvPr/>
        </p:nvSpPr>
        <p:spPr bwMode="auto">
          <a:xfrm>
            <a:off x="857250" y="1714500"/>
            <a:ext cx="7358063" cy="523220"/>
          </a:xfrm>
          <a:prstGeom prst="rect">
            <a:avLst/>
          </a:prstGeom>
          <a:noFill/>
          <a:ln w="9525">
            <a:noFill/>
            <a:miter lim="800000"/>
            <a:headEnd/>
            <a:tailEnd/>
          </a:ln>
        </p:spPr>
        <p:txBody>
          <a:bodyPr>
            <a:spAutoFit/>
          </a:bodyPr>
          <a:lstStyle/>
          <a:p>
            <a:r>
              <a:rPr lang="ja-JP" altLang="en-US" sz="2800" dirty="0"/>
              <a:t>構文の記述（数字の例：数字列の定義）</a:t>
            </a:r>
          </a:p>
        </p:txBody>
      </p:sp>
      <p:sp>
        <p:nvSpPr>
          <p:cNvPr id="5124" name="テキスト ボックス 32"/>
          <p:cNvSpPr txBox="1">
            <a:spLocks noChangeArrowheads="1"/>
          </p:cNvSpPr>
          <p:nvPr/>
        </p:nvSpPr>
        <p:spPr bwMode="auto">
          <a:xfrm>
            <a:off x="1000125" y="2357438"/>
            <a:ext cx="4572000" cy="523220"/>
          </a:xfrm>
          <a:prstGeom prst="rect">
            <a:avLst/>
          </a:prstGeom>
          <a:noFill/>
          <a:ln w="9525">
            <a:solidFill>
              <a:srgbClr val="000000"/>
            </a:solidFill>
            <a:miter lim="800000"/>
            <a:headEnd/>
            <a:tailEnd/>
          </a:ln>
        </p:spPr>
        <p:txBody>
          <a:bodyPr>
            <a:spAutoFit/>
          </a:bodyPr>
          <a:lstStyle/>
          <a:p>
            <a:r>
              <a:rPr lang="ja-JP" altLang="en-US" sz="2800"/>
              <a:t>数字列の集合を定義したい。</a:t>
            </a:r>
          </a:p>
        </p:txBody>
      </p:sp>
      <p:sp>
        <p:nvSpPr>
          <p:cNvPr id="5125" name="テキスト ボックス 34"/>
          <p:cNvSpPr txBox="1">
            <a:spLocks noChangeArrowheads="1"/>
          </p:cNvSpPr>
          <p:nvPr/>
        </p:nvSpPr>
        <p:spPr bwMode="auto">
          <a:xfrm>
            <a:off x="785813" y="3214688"/>
            <a:ext cx="7358062" cy="954107"/>
          </a:xfrm>
          <a:prstGeom prst="rect">
            <a:avLst/>
          </a:prstGeom>
          <a:noFill/>
          <a:ln w="9525">
            <a:noFill/>
            <a:miter lim="800000"/>
            <a:headEnd/>
            <a:tailEnd/>
          </a:ln>
        </p:spPr>
        <p:txBody>
          <a:bodyPr>
            <a:spAutoFit/>
          </a:bodyPr>
          <a:lstStyle/>
          <a:p>
            <a:r>
              <a:rPr lang="ja-JP" altLang="en-US" sz="2800" dirty="0"/>
              <a:t>数字の定義</a:t>
            </a:r>
            <a:endParaRPr lang="en-US" altLang="ja-JP" sz="2800" dirty="0"/>
          </a:p>
          <a:p>
            <a:r>
              <a:rPr lang="en-US" altLang="ja-JP" sz="2800" dirty="0"/>
              <a:t>  &lt;</a:t>
            </a:r>
            <a:r>
              <a:rPr lang="ja-JP" altLang="en-US" sz="2800" dirty="0"/>
              <a:t>数字</a:t>
            </a:r>
            <a:r>
              <a:rPr lang="en-US" altLang="ja-JP" sz="2800" dirty="0"/>
              <a:t>&gt; ::= 0 | 1 | 2 | 3 | 4 | 5 | 6 | 7 | 8 | 9</a:t>
            </a:r>
            <a:endParaRPr lang="ja-JP" altLang="en-US" sz="2800" dirty="0"/>
          </a:p>
        </p:txBody>
      </p:sp>
      <p:sp>
        <p:nvSpPr>
          <p:cNvPr id="5126" name="テキスト ボックス 36"/>
          <p:cNvSpPr txBox="1">
            <a:spLocks noChangeArrowheads="1"/>
          </p:cNvSpPr>
          <p:nvPr/>
        </p:nvSpPr>
        <p:spPr bwMode="auto">
          <a:xfrm>
            <a:off x="785813" y="4429125"/>
            <a:ext cx="7358062" cy="2246769"/>
          </a:xfrm>
          <a:prstGeom prst="rect">
            <a:avLst/>
          </a:prstGeom>
          <a:noFill/>
          <a:ln w="9525">
            <a:noFill/>
            <a:miter lim="800000"/>
            <a:headEnd/>
            <a:tailEnd/>
          </a:ln>
        </p:spPr>
        <p:txBody>
          <a:bodyPr>
            <a:spAutoFit/>
          </a:bodyPr>
          <a:lstStyle/>
          <a:p>
            <a:r>
              <a:rPr lang="ja-JP" altLang="en-US" sz="2800" dirty="0"/>
              <a:t>数字列の定義</a:t>
            </a:r>
            <a:endParaRPr lang="en-US" altLang="ja-JP" sz="2800" dirty="0"/>
          </a:p>
          <a:p>
            <a:r>
              <a:rPr lang="en-US" altLang="ja-JP" sz="2800" dirty="0"/>
              <a:t>   </a:t>
            </a:r>
            <a:r>
              <a:rPr lang="ja-JP" altLang="en-US" sz="2800" dirty="0"/>
              <a:t>数字列の集合を定義すればよいが、</a:t>
            </a:r>
            <a:endParaRPr lang="en-US" altLang="ja-JP" sz="2800" dirty="0"/>
          </a:p>
          <a:p>
            <a:r>
              <a:rPr lang="en-US" altLang="ja-JP" sz="2800" dirty="0"/>
              <a:t>   </a:t>
            </a:r>
            <a:r>
              <a:rPr lang="ja-JP" altLang="en-US" sz="2800" dirty="0"/>
              <a:t>数字列は無限にある。</a:t>
            </a:r>
            <a:endParaRPr lang="en-US" altLang="ja-JP" sz="2800" dirty="0"/>
          </a:p>
          <a:p>
            <a:r>
              <a:rPr lang="en-US" altLang="ja-JP" sz="2800" dirty="0"/>
              <a:t>   </a:t>
            </a:r>
            <a:r>
              <a:rPr lang="ja-JP" altLang="en-US" sz="2800" dirty="0"/>
              <a:t>無限集合を有限の長さで記述したい。 </a:t>
            </a:r>
            <a:endParaRPr lang="en-US" altLang="ja-JP" sz="2800" dirty="0"/>
          </a:p>
          <a:p>
            <a:r>
              <a:rPr lang="en-US" altLang="ja-JP" sz="2800" dirty="0"/>
              <a:t>     --- </a:t>
            </a:r>
            <a:r>
              <a:rPr lang="ja-JP" altLang="en-US" sz="2800" dirty="0"/>
              <a:t>文法の考え方を用いる。</a:t>
            </a:r>
            <a:endParaRPr lang="en-US" altLang="ja-JP" sz="28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712788" y="384175"/>
            <a:ext cx="7772400" cy="1143000"/>
          </a:xfrm>
          <a:noFill/>
        </p:spPr>
        <p:txBody>
          <a:bodyPr/>
          <a:lstStyle/>
          <a:p>
            <a:pPr eaLnBrk="1" hangingPunct="1"/>
            <a:r>
              <a:rPr lang="ja-JP" altLang="en-US" smtClean="0"/>
              <a:t>構文と意味</a:t>
            </a:r>
          </a:p>
        </p:txBody>
      </p:sp>
      <p:sp>
        <p:nvSpPr>
          <p:cNvPr id="6147" name="テキスト ボックス 34"/>
          <p:cNvSpPr txBox="1">
            <a:spLocks noChangeArrowheads="1"/>
          </p:cNvSpPr>
          <p:nvPr/>
        </p:nvSpPr>
        <p:spPr bwMode="auto">
          <a:xfrm>
            <a:off x="785813" y="1785938"/>
            <a:ext cx="7358062" cy="954107"/>
          </a:xfrm>
          <a:prstGeom prst="rect">
            <a:avLst/>
          </a:prstGeom>
          <a:noFill/>
          <a:ln w="9525">
            <a:noFill/>
            <a:miter lim="800000"/>
            <a:headEnd/>
            <a:tailEnd/>
          </a:ln>
        </p:spPr>
        <p:txBody>
          <a:bodyPr>
            <a:spAutoFit/>
          </a:bodyPr>
          <a:lstStyle/>
          <a:p>
            <a:r>
              <a:rPr lang="ja-JP" altLang="en-US" sz="2800"/>
              <a:t>数字の定義</a:t>
            </a:r>
            <a:endParaRPr lang="en-US" altLang="ja-JP" sz="2800"/>
          </a:p>
          <a:p>
            <a:r>
              <a:rPr lang="en-US" altLang="ja-JP" sz="2800"/>
              <a:t>  &lt;</a:t>
            </a:r>
            <a:r>
              <a:rPr lang="ja-JP" altLang="en-US" sz="2800"/>
              <a:t>数字</a:t>
            </a:r>
            <a:r>
              <a:rPr lang="en-US" altLang="ja-JP" sz="2800"/>
              <a:t>&gt; ::= 0 | 1 | 2 | 3 | 4 | 5 | 6 | 7 | 8 | 9</a:t>
            </a:r>
            <a:endParaRPr lang="ja-JP" altLang="en-US" sz="2800"/>
          </a:p>
        </p:txBody>
      </p:sp>
      <p:sp>
        <p:nvSpPr>
          <p:cNvPr id="6148" name="テキスト ボックス 6"/>
          <p:cNvSpPr txBox="1">
            <a:spLocks noChangeArrowheads="1"/>
          </p:cNvSpPr>
          <p:nvPr/>
        </p:nvSpPr>
        <p:spPr bwMode="auto">
          <a:xfrm>
            <a:off x="757238" y="3286125"/>
            <a:ext cx="7358062" cy="954107"/>
          </a:xfrm>
          <a:prstGeom prst="rect">
            <a:avLst/>
          </a:prstGeom>
          <a:noFill/>
          <a:ln w="9525">
            <a:noFill/>
            <a:miter lim="800000"/>
            <a:headEnd/>
            <a:tailEnd/>
          </a:ln>
        </p:spPr>
        <p:txBody>
          <a:bodyPr>
            <a:spAutoFit/>
          </a:bodyPr>
          <a:lstStyle/>
          <a:p>
            <a:r>
              <a:rPr lang="ja-JP" altLang="en-US" sz="2800" dirty="0"/>
              <a:t>数字列の定義</a:t>
            </a:r>
            <a:endParaRPr lang="en-US" altLang="ja-JP" sz="2800" dirty="0"/>
          </a:p>
          <a:p>
            <a:r>
              <a:rPr lang="en-US" altLang="ja-JP" sz="2800" dirty="0"/>
              <a:t>  &lt;</a:t>
            </a:r>
            <a:r>
              <a:rPr lang="ja-JP" altLang="en-US" sz="2800" dirty="0"/>
              <a:t>数字列</a:t>
            </a:r>
            <a:r>
              <a:rPr lang="en-US" altLang="ja-JP" sz="2800" dirty="0"/>
              <a:t>&gt; ::= &lt;</a:t>
            </a:r>
            <a:r>
              <a:rPr lang="ja-JP" altLang="en-US" sz="2800" dirty="0"/>
              <a:t>数字</a:t>
            </a:r>
            <a:r>
              <a:rPr lang="en-US" altLang="ja-JP" sz="2800" dirty="0"/>
              <a:t>&gt; | &lt;</a:t>
            </a:r>
            <a:r>
              <a:rPr lang="ja-JP" altLang="en-US" sz="2800" dirty="0"/>
              <a:t>数字列</a:t>
            </a:r>
            <a:r>
              <a:rPr lang="en-US" altLang="ja-JP" sz="2800" dirty="0"/>
              <a:t>&gt; &lt;</a:t>
            </a:r>
            <a:r>
              <a:rPr lang="ja-JP" altLang="en-US" sz="2800" dirty="0"/>
              <a:t>数字</a:t>
            </a:r>
            <a:r>
              <a:rPr lang="en-US" altLang="ja-JP" sz="2800" dirty="0"/>
              <a:t>&gt;</a:t>
            </a:r>
            <a:endParaRPr lang="ja-JP" altLang="en-US" sz="2800" dirty="0"/>
          </a:p>
        </p:txBody>
      </p:sp>
      <p:sp>
        <p:nvSpPr>
          <p:cNvPr id="6149" name="テキスト ボックス 7"/>
          <p:cNvSpPr txBox="1">
            <a:spLocks noChangeArrowheads="1"/>
          </p:cNvSpPr>
          <p:nvPr/>
        </p:nvSpPr>
        <p:spPr bwMode="auto">
          <a:xfrm>
            <a:off x="2244725" y="5762625"/>
            <a:ext cx="3790950" cy="830263"/>
          </a:xfrm>
          <a:prstGeom prst="rect">
            <a:avLst/>
          </a:prstGeom>
          <a:noFill/>
          <a:ln w="9525">
            <a:noFill/>
            <a:miter lim="800000"/>
            <a:headEnd/>
            <a:tailEnd/>
          </a:ln>
        </p:spPr>
        <p:txBody>
          <a:bodyPr wrap="none">
            <a:spAutoFit/>
          </a:bodyPr>
          <a:lstStyle/>
          <a:p>
            <a:r>
              <a:rPr lang="en-US" altLang="ja-JP" sz="2400" dirty="0"/>
              <a:t>&lt;</a:t>
            </a:r>
            <a:r>
              <a:rPr lang="ja-JP" altLang="en-US" sz="2400" dirty="0"/>
              <a:t>数字</a:t>
            </a:r>
            <a:r>
              <a:rPr lang="en-US" altLang="ja-JP" sz="2400" dirty="0"/>
              <a:t>&gt; --- </a:t>
            </a:r>
            <a:r>
              <a:rPr lang="ja-JP" altLang="en-US" sz="2400" dirty="0"/>
              <a:t>数字の集合</a:t>
            </a:r>
            <a:endParaRPr lang="en-US" altLang="ja-JP" sz="2400" dirty="0"/>
          </a:p>
          <a:p>
            <a:r>
              <a:rPr lang="en-US" altLang="ja-JP" sz="2400" dirty="0"/>
              <a:t>&lt;</a:t>
            </a:r>
            <a:r>
              <a:rPr lang="ja-JP" altLang="en-US" sz="2400" dirty="0"/>
              <a:t>数字列</a:t>
            </a:r>
            <a:r>
              <a:rPr lang="en-US" altLang="ja-JP" sz="2400" dirty="0"/>
              <a:t>&gt; --- </a:t>
            </a:r>
            <a:r>
              <a:rPr lang="ja-JP" altLang="en-US" sz="2400" dirty="0"/>
              <a:t>数字列の集合</a:t>
            </a:r>
          </a:p>
        </p:txBody>
      </p:sp>
      <p:sp>
        <p:nvSpPr>
          <p:cNvPr id="6150" name="テキスト ボックス 8"/>
          <p:cNvSpPr txBox="1">
            <a:spLocks noChangeArrowheads="1"/>
          </p:cNvSpPr>
          <p:nvPr/>
        </p:nvSpPr>
        <p:spPr bwMode="auto">
          <a:xfrm>
            <a:off x="1571625" y="2786063"/>
            <a:ext cx="4307589" cy="369332"/>
          </a:xfrm>
          <a:prstGeom prst="rect">
            <a:avLst/>
          </a:prstGeom>
          <a:noFill/>
          <a:ln w="9525">
            <a:solidFill>
              <a:srgbClr val="000000"/>
            </a:solidFill>
            <a:miter lim="800000"/>
            <a:headEnd/>
            <a:tailEnd/>
          </a:ln>
        </p:spPr>
        <p:txBody>
          <a:bodyPr wrap="none">
            <a:spAutoFit/>
          </a:bodyPr>
          <a:lstStyle/>
          <a:p>
            <a:r>
              <a:rPr lang="ja-JP" altLang="en-US" dirty="0"/>
              <a:t>数字は、</a:t>
            </a:r>
            <a:r>
              <a:rPr lang="en-US" altLang="ja-JP" dirty="0"/>
              <a:t>0</a:t>
            </a:r>
            <a:r>
              <a:rPr lang="ja-JP" altLang="en-US" dirty="0"/>
              <a:t>または</a:t>
            </a:r>
            <a:r>
              <a:rPr lang="en-US" altLang="ja-JP" dirty="0"/>
              <a:t>1</a:t>
            </a:r>
            <a:r>
              <a:rPr lang="ja-JP" altLang="en-US" dirty="0"/>
              <a:t>または</a:t>
            </a:r>
            <a:r>
              <a:rPr lang="en-US" altLang="ja-JP" dirty="0"/>
              <a:t>2</a:t>
            </a:r>
            <a:r>
              <a:rPr lang="ja-JP" altLang="en-US" dirty="0"/>
              <a:t>または</a:t>
            </a:r>
            <a:r>
              <a:rPr lang="en-US" altLang="ja-JP" dirty="0"/>
              <a:t>… </a:t>
            </a:r>
            <a:r>
              <a:rPr lang="ja-JP" altLang="en-US" dirty="0"/>
              <a:t>または</a:t>
            </a:r>
            <a:r>
              <a:rPr lang="en-US" altLang="ja-JP" dirty="0"/>
              <a:t>9</a:t>
            </a:r>
            <a:endParaRPr lang="ja-JP" altLang="en-US" dirty="0"/>
          </a:p>
        </p:txBody>
      </p:sp>
      <p:sp>
        <p:nvSpPr>
          <p:cNvPr id="6151" name="テキスト ボックス 9"/>
          <p:cNvSpPr txBox="1">
            <a:spLocks noChangeArrowheads="1"/>
          </p:cNvSpPr>
          <p:nvPr/>
        </p:nvSpPr>
        <p:spPr bwMode="auto">
          <a:xfrm>
            <a:off x="1471613" y="4286250"/>
            <a:ext cx="5997575" cy="369332"/>
          </a:xfrm>
          <a:prstGeom prst="rect">
            <a:avLst/>
          </a:prstGeom>
          <a:noFill/>
          <a:ln w="9525">
            <a:solidFill>
              <a:srgbClr val="000000"/>
            </a:solidFill>
            <a:miter lim="800000"/>
            <a:headEnd/>
            <a:tailEnd/>
          </a:ln>
        </p:spPr>
        <p:txBody>
          <a:bodyPr>
            <a:spAutoFit/>
          </a:bodyPr>
          <a:lstStyle/>
          <a:p>
            <a:r>
              <a:rPr lang="ja-JP" altLang="en-US"/>
              <a:t>数字列は、数字か、または数字列のあとに数字を並べたもの</a:t>
            </a:r>
          </a:p>
        </p:txBody>
      </p:sp>
      <p:sp>
        <p:nvSpPr>
          <p:cNvPr id="6152" name="テキスト ボックス 8"/>
          <p:cNvSpPr txBox="1">
            <a:spLocks noChangeArrowheads="1"/>
          </p:cNvSpPr>
          <p:nvPr/>
        </p:nvSpPr>
        <p:spPr bwMode="auto">
          <a:xfrm>
            <a:off x="1928794" y="5286388"/>
            <a:ext cx="4160837" cy="368300"/>
          </a:xfrm>
          <a:prstGeom prst="rect">
            <a:avLst/>
          </a:prstGeom>
          <a:noFill/>
          <a:ln w="9525">
            <a:solidFill>
              <a:srgbClr val="000000"/>
            </a:solidFill>
            <a:miter lim="800000"/>
            <a:headEnd/>
            <a:tailEnd/>
          </a:ln>
        </p:spPr>
        <p:txBody>
          <a:bodyPr wrap="none">
            <a:spAutoFit/>
          </a:bodyPr>
          <a:lstStyle/>
          <a:p>
            <a:r>
              <a:rPr lang="ja-JP" altLang="en-US" sz="1800" dirty="0"/>
              <a:t>集合の帰納的定義（</a:t>
            </a:r>
            <a:r>
              <a:rPr lang="en-US" altLang="ja-JP" sz="1800" dirty="0"/>
              <a:t>inductive definition</a:t>
            </a:r>
            <a:r>
              <a:rPr lang="ja-JP" altLang="en-US" sz="1800" dirty="0"/>
              <a:t>）</a:t>
            </a:r>
          </a:p>
        </p:txBody>
      </p:sp>
      <p:sp>
        <p:nvSpPr>
          <p:cNvPr id="6153" name="テキスト ボックス 10"/>
          <p:cNvSpPr txBox="1">
            <a:spLocks noChangeArrowheads="1"/>
          </p:cNvSpPr>
          <p:nvPr/>
        </p:nvSpPr>
        <p:spPr bwMode="auto">
          <a:xfrm>
            <a:off x="1428750" y="4857750"/>
            <a:ext cx="1911101" cy="461665"/>
          </a:xfrm>
          <a:prstGeom prst="rect">
            <a:avLst/>
          </a:prstGeom>
          <a:noFill/>
          <a:ln w="9525">
            <a:noFill/>
            <a:miter lim="800000"/>
            <a:headEnd/>
            <a:tailEnd/>
          </a:ln>
        </p:spPr>
        <p:txBody>
          <a:bodyPr wrap="none">
            <a:spAutoFit/>
          </a:bodyPr>
          <a:lstStyle/>
          <a:p>
            <a:r>
              <a:rPr lang="ja-JP" altLang="en-US" sz="2400" dirty="0"/>
              <a:t>数学的には、</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673100" y="517525"/>
            <a:ext cx="7772400" cy="1143000"/>
          </a:xfrm>
          <a:noFill/>
        </p:spPr>
        <p:txBody>
          <a:bodyPr/>
          <a:lstStyle/>
          <a:p>
            <a:pPr eaLnBrk="1" hangingPunct="1"/>
            <a:r>
              <a:rPr lang="ja-JP" altLang="en-US" smtClean="0"/>
              <a:t>構文と意味</a:t>
            </a:r>
          </a:p>
        </p:txBody>
      </p:sp>
      <p:sp>
        <p:nvSpPr>
          <p:cNvPr id="7171" name="テキスト ボックス 34"/>
          <p:cNvSpPr txBox="1">
            <a:spLocks noChangeArrowheads="1"/>
          </p:cNvSpPr>
          <p:nvPr/>
        </p:nvSpPr>
        <p:spPr bwMode="auto">
          <a:xfrm>
            <a:off x="785813" y="1785938"/>
            <a:ext cx="7358062" cy="523220"/>
          </a:xfrm>
          <a:prstGeom prst="rect">
            <a:avLst/>
          </a:prstGeom>
          <a:noFill/>
          <a:ln w="9525">
            <a:noFill/>
            <a:miter lim="800000"/>
            <a:headEnd/>
            <a:tailEnd/>
          </a:ln>
        </p:spPr>
        <p:txBody>
          <a:bodyPr>
            <a:spAutoFit/>
          </a:bodyPr>
          <a:lstStyle/>
          <a:p>
            <a:r>
              <a:rPr lang="ja-JP" altLang="en-US" sz="2800" dirty="0"/>
              <a:t>数字の意味の定義</a:t>
            </a:r>
          </a:p>
        </p:txBody>
      </p:sp>
      <p:sp>
        <p:nvSpPr>
          <p:cNvPr id="9" name="円/楕円 8"/>
          <p:cNvSpPr/>
          <p:nvPr/>
        </p:nvSpPr>
        <p:spPr>
          <a:xfrm>
            <a:off x="928688" y="2357438"/>
            <a:ext cx="1881187" cy="167163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2400"/>
          </a:p>
        </p:txBody>
      </p:sp>
      <p:sp>
        <p:nvSpPr>
          <p:cNvPr id="7173" name="テキスト ボックス 11"/>
          <p:cNvSpPr txBox="1">
            <a:spLocks noChangeArrowheads="1"/>
          </p:cNvSpPr>
          <p:nvPr/>
        </p:nvSpPr>
        <p:spPr bwMode="auto">
          <a:xfrm>
            <a:off x="1433513" y="2460625"/>
            <a:ext cx="340158" cy="461665"/>
          </a:xfrm>
          <a:prstGeom prst="rect">
            <a:avLst/>
          </a:prstGeom>
          <a:noFill/>
          <a:ln w="9525">
            <a:noFill/>
            <a:miter lim="800000"/>
            <a:headEnd/>
            <a:tailEnd/>
          </a:ln>
        </p:spPr>
        <p:txBody>
          <a:bodyPr wrap="none">
            <a:spAutoFit/>
          </a:bodyPr>
          <a:lstStyle/>
          <a:p>
            <a:r>
              <a:rPr lang="en-US" altLang="ja-JP" sz="2400"/>
              <a:t>0</a:t>
            </a:r>
            <a:endParaRPr lang="ja-JP" altLang="en-US" sz="2400"/>
          </a:p>
        </p:txBody>
      </p:sp>
      <p:sp>
        <p:nvSpPr>
          <p:cNvPr id="7174" name="テキスト ボックス 12"/>
          <p:cNvSpPr txBox="1">
            <a:spLocks noChangeArrowheads="1"/>
          </p:cNvSpPr>
          <p:nvPr/>
        </p:nvSpPr>
        <p:spPr bwMode="auto">
          <a:xfrm>
            <a:off x="1862138" y="2460625"/>
            <a:ext cx="340158" cy="461665"/>
          </a:xfrm>
          <a:prstGeom prst="rect">
            <a:avLst/>
          </a:prstGeom>
          <a:noFill/>
          <a:ln w="9525">
            <a:noFill/>
            <a:miter lim="800000"/>
            <a:headEnd/>
            <a:tailEnd/>
          </a:ln>
        </p:spPr>
        <p:txBody>
          <a:bodyPr wrap="none">
            <a:spAutoFit/>
          </a:bodyPr>
          <a:lstStyle/>
          <a:p>
            <a:r>
              <a:rPr lang="en-US" altLang="ja-JP" sz="2400"/>
              <a:t>1</a:t>
            </a:r>
            <a:endParaRPr lang="ja-JP" altLang="en-US" sz="2400"/>
          </a:p>
        </p:txBody>
      </p:sp>
      <p:sp>
        <p:nvSpPr>
          <p:cNvPr id="7175" name="テキスト ボックス 13"/>
          <p:cNvSpPr txBox="1">
            <a:spLocks noChangeArrowheads="1"/>
          </p:cNvSpPr>
          <p:nvPr/>
        </p:nvSpPr>
        <p:spPr bwMode="auto">
          <a:xfrm>
            <a:off x="1219200" y="2746375"/>
            <a:ext cx="340158" cy="461665"/>
          </a:xfrm>
          <a:prstGeom prst="rect">
            <a:avLst/>
          </a:prstGeom>
          <a:noFill/>
          <a:ln w="9525">
            <a:noFill/>
            <a:miter lim="800000"/>
            <a:headEnd/>
            <a:tailEnd/>
          </a:ln>
        </p:spPr>
        <p:txBody>
          <a:bodyPr wrap="none">
            <a:spAutoFit/>
          </a:bodyPr>
          <a:lstStyle/>
          <a:p>
            <a:r>
              <a:rPr lang="en-US" altLang="ja-JP" sz="2400"/>
              <a:t>2</a:t>
            </a:r>
            <a:endParaRPr lang="ja-JP" altLang="en-US" sz="2400"/>
          </a:p>
        </p:txBody>
      </p:sp>
      <p:sp>
        <p:nvSpPr>
          <p:cNvPr id="7176" name="テキスト ボックス 14"/>
          <p:cNvSpPr txBox="1">
            <a:spLocks noChangeArrowheads="1"/>
          </p:cNvSpPr>
          <p:nvPr/>
        </p:nvSpPr>
        <p:spPr bwMode="auto">
          <a:xfrm>
            <a:off x="1576388" y="2889250"/>
            <a:ext cx="340158" cy="461665"/>
          </a:xfrm>
          <a:prstGeom prst="rect">
            <a:avLst/>
          </a:prstGeom>
          <a:noFill/>
          <a:ln w="9525">
            <a:noFill/>
            <a:miter lim="800000"/>
            <a:headEnd/>
            <a:tailEnd/>
          </a:ln>
        </p:spPr>
        <p:txBody>
          <a:bodyPr wrap="none">
            <a:spAutoFit/>
          </a:bodyPr>
          <a:lstStyle/>
          <a:p>
            <a:r>
              <a:rPr lang="en-US" altLang="ja-JP" sz="2400"/>
              <a:t>3</a:t>
            </a:r>
            <a:endParaRPr lang="ja-JP" altLang="en-US" sz="2400"/>
          </a:p>
        </p:txBody>
      </p:sp>
      <p:sp>
        <p:nvSpPr>
          <p:cNvPr id="7177" name="テキスト ボックス 15"/>
          <p:cNvSpPr txBox="1">
            <a:spLocks noChangeArrowheads="1"/>
          </p:cNvSpPr>
          <p:nvPr/>
        </p:nvSpPr>
        <p:spPr bwMode="auto">
          <a:xfrm>
            <a:off x="1219200" y="3175000"/>
            <a:ext cx="340158" cy="461665"/>
          </a:xfrm>
          <a:prstGeom prst="rect">
            <a:avLst/>
          </a:prstGeom>
          <a:noFill/>
          <a:ln w="9525">
            <a:noFill/>
            <a:miter lim="800000"/>
            <a:headEnd/>
            <a:tailEnd/>
          </a:ln>
        </p:spPr>
        <p:txBody>
          <a:bodyPr wrap="none">
            <a:spAutoFit/>
          </a:bodyPr>
          <a:lstStyle/>
          <a:p>
            <a:r>
              <a:rPr lang="en-US" altLang="ja-JP" sz="2400"/>
              <a:t>4</a:t>
            </a:r>
            <a:endParaRPr lang="ja-JP" altLang="en-US" sz="2400"/>
          </a:p>
        </p:txBody>
      </p:sp>
      <p:sp>
        <p:nvSpPr>
          <p:cNvPr id="7178" name="テキスト ボックス 16"/>
          <p:cNvSpPr txBox="1">
            <a:spLocks noChangeArrowheads="1"/>
          </p:cNvSpPr>
          <p:nvPr/>
        </p:nvSpPr>
        <p:spPr bwMode="auto">
          <a:xfrm>
            <a:off x="1862138" y="3103563"/>
            <a:ext cx="340158" cy="461665"/>
          </a:xfrm>
          <a:prstGeom prst="rect">
            <a:avLst/>
          </a:prstGeom>
          <a:noFill/>
          <a:ln w="9525">
            <a:noFill/>
            <a:miter lim="800000"/>
            <a:headEnd/>
            <a:tailEnd/>
          </a:ln>
        </p:spPr>
        <p:txBody>
          <a:bodyPr wrap="none">
            <a:spAutoFit/>
          </a:bodyPr>
          <a:lstStyle/>
          <a:p>
            <a:r>
              <a:rPr lang="en-US" altLang="ja-JP" sz="2400"/>
              <a:t>5</a:t>
            </a:r>
            <a:endParaRPr lang="ja-JP" altLang="en-US" sz="2400"/>
          </a:p>
        </p:txBody>
      </p:sp>
      <p:sp>
        <p:nvSpPr>
          <p:cNvPr id="7179" name="テキスト ボックス 17"/>
          <p:cNvSpPr txBox="1">
            <a:spLocks noChangeArrowheads="1"/>
          </p:cNvSpPr>
          <p:nvPr/>
        </p:nvSpPr>
        <p:spPr bwMode="auto">
          <a:xfrm>
            <a:off x="1433513" y="3460750"/>
            <a:ext cx="340158" cy="461665"/>
          </a:xfrm>
          <a:prstGeom prst="rect">
            <a:avLst/>
          </a:prstGeom>
          <a:noFill/>
          <a:ln w="9525">
            <a:noFill/>
            <a:miter lim="800000"/>
            <a:headEnd/>
            <a:tailEnd/>
          </a:ln>
        </p:spPr>
        <p:txBody>
          <a:bodyPr wrap="none">
            <a:spAutoFit/>
          </a:bodyPr>
          <a:lstStyle/>
          <a:p>
            <a:r>
              <a:rPr lang="en-US" altLang="ja-JP" sz="2400"/>
              <a:t>6</a:t>
            </a:r>
            <a:endParaRPr lang="ja-JP" altLang="en-US" sz="2400"/>
          </a:p>
        </p:txBody>
      </p:sp>
      <p:sp>
        <p:nvSpPr>
          <p:cNvPr id="7180" name="テキスト ボックス 18"/>
          <p:cNvSpPr txBox="1">
            <a:spLocks noChangeArrowheads="1"/>
          </p:cNvSpPr>
          <p:nvPr/>
        </p:nvSpPr>
        <p:spPr bwMode="auto">
          <a:xfrm>
            <a:off x="2005013" y="3460750"/>
            <a:ext cx="340158" cy="461665"/>
          </a:xfrm>
          <a:prstGeom prst="rect">
            <a:avLst/>
          </a:prstGeom>
          <a:noFill/>
          <a:ln w="9525">
            <a:noFill/>
            <a:miter lim="800000"/>
            <a:headEnd/>
            <a:tailEnd/>
          </a:ln>
        </p:spPr>
        <p:txBody>
          <a:bodyPr wrap="none">
            <a:spAutoFit/>
          </a:bodyPr>
          <a:lstStyle/>
          <a:p>
            <a:r>
              <a:rPr lang="en-US" altLang="ja-JP" sz="2400"/>
              <a:t>7</a:t>
            </a:r>
            <a:endParaRPr lang="ja-JP" altLang="en-US" sz="2400"/>
          </a:p>
        </p:txBody>
      </p:sp>
      <p:sp>
        <p:nvSpPr>
          <p:cNvPr id="7181" name="テキスト ボックス 19"/>
          <p:cNvSpPr txBox="1">
            <a:spLocks noChangeArrowheads="1"/>
          </p:cNvSpPr>
          <p:nvPr/>
        </p:nvSpPr>
        <p:spPr bwMode="auto">
          <a:xfrm>
            <a:off x="2219325" y="2817813"/>
            <a:ext cx="340158" cy="461665"/>
          </a:xfrm>
          <a:prstGeom prst="rect">
            <a:avLst/>
          </a:prstGeom>
          <a:noFill/>
          <a:ln w="9525">
            <a:noFill/>
            <a:miter lim="800000"/>
            <a:headEnd/>
            <a:tailEnd/>
          </a:ln>
        </p:spPr>
        <p:txBody>
          <a:bodyPr wrap="none">
            <a:spAutoFit/>
          </a:bodyPr>
          <a:lstStyle/>
          <a:p>
            <a:r>
              <a:rPr lang="en-US" altLang="ja-JP" sz="2400"/>
              <a:t>8</a:t>
            </a:r>
            <a:endParaRPr lang="ja-JP" altLang="en-US" sz="2400"/>
          </a:p>
        </p:txBody>
      </p:sp>
      <p:sp>
        <p:nvSpPr>
          <p:cNvPr id="7182" name="テキスト ボックス 20"/>
          <p:cNvSpPr txBox="1">
            <a:spLocks noChangeArrowheads="1"/>
          </p:cNvSpPr>
          <p:nvPr/>
        </p:nvSpPr>
        <p:spPr bwMode="auto">
          <a:xfrm>
            <a:off x="2290763" y="3246438"/>
            <a:ext cx="340158" cy="461665"/>
          </a:xfrm>
          <a:prstGeom prst="rect">
            <a:avLst/>
          </a:prstGeom>
          <a:noFill/>
          <a:ln w="9525">
            <a:noFill/>
            <a:miter lim="800000"/>
            <a:headEnd/>
            <a:tailEnd/>
          </a:ln>
        </p:spPr>
        <p:txBody>
          <a:bodyPr wrap="none">
            <a:spAutoFit/>
          </a:bodyPr>
          <a:lstStyle/>
          <a:p>
            <a:r>
              <a:rPr lang="en-US" altLang="ja-JP" sz="2400"/>
              <a:t>9</a:t>
            </a:r>
            <a:endParaRPr lang="ja-JP" altLang="en-US" sz="2400"/>
          </a:p>
        </p:txBody>
      </p:sp>
      <p:sp>
        <p:nvSpPr>
          <p:cNvPr id="7183" name="テキスト ボックス 38"/>
          <p:cNvSpPr txBox="1">
            <a:spLocks noChangeArrowheads="1"/>
          </p:cNvSpPr>
          <p:nvPr/>
        </p:nvSpPr>
        <p:spPr bwMode="auto">
          <a:xfrm>
            <a:off x="1301750" y="4068763"/>
            <a:ext cx="1158875" cy="522287"/>
          </a:xfrm>
          <a:prstGeom prst="rect">
            <a:avLst/>
          </a:prstGeom>
          <a:noFill/>
          <a:ln w="9525">
            <a:noFill/>
            <a:miter lim="800000"/>
            <a:headEnd/>
            <a:tailEnd/>
          </a:ln>
        </p:spPr>
        <p:txBody>
          <a:bodyPr wrap="none">
            <a:spAutoFit/>
          </a:bodyPr>
          <a:lstStyle/>
          <a:p>
            <a:r>
              <a:rPr lang="ja-JP" altLang="en-US"/>
              <a:t>（</a:t>
            </a:r>
            <a:r>
              <a:rPr lang="ja-JP" altLang="en-US" sz="2400"/>
              <a:t>数字</a:t>
            </a:r>
            <a:r>
              <a:rPr lang="ja-JP" altLang="en-US"/>
              <a:t>）</a:t>
            </a:r>
          </a:p>
        </p:txBody>
      </p:sp>
      <p:sp>
        <p:nvSpPr>
          <p:cNvPr id="7184" name="テキスト ボックス 40"/>
          <p:cNvSpPr txBox="1">
            <a:spLocks noChangeArrowheads="1"/>
          </p:cNvSpPr>
          <p:nvPr/>
        </p:nvSpPr>
        <p:spPr bwMode="auto">
          <a:xfrm>
            <a:off x="6410325" y="4171950"/>
            <a:ext cx="1468438" cy="523875"/>
          </a:xfrm>
          <a:prstGeom prst="rect">
            <a:avLst/>
          </a:prstGeom>
          <a:noFill/>
          <a:ln w="9525">
            <a:noFill/>
            <a:miter lim="800000"/>
            <a:headEnd/>
            <a:tailEnd/>
          </a:ln>
        </p:spPr>
        <p:txBody>
          <a:bodyPr wrap="none">
            <a:spAutoFit/>
          </a:bodyPr>
          <a:lstStyle/>
          <a:p>
            <a:r>
              <a:rPr lang="ja-JP" altLang="en-US"/>
              <a:t>（</a:t>
            </a:r>
            <a:r>
              <a:rPr lang="ja-JP" altLang="en-US" sz="2400"/>
              <a:t>自然数</a:t>
            </a:r>
            <a:r>
              <a:rPr lang="ja-JP" altLang="en-US"/>
              <a:t>）</a:t>
            </a:r>
          </a:p>
        </p:txBody>
      </p:sp>
      <p:sp>
        <p:nvSpPr>
          <p:cNvPr id="34" name="円/楕円 33"/>
          <p:cNvSpPr/>
          <p:nvPr/>
        </p:nvSpPr>
        <p:spPr>
          <a:xfrm>
            <a:off x="5605463" y="2239963"/>
            <a:ext cx="2981325" cy="194786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2400"/>
          </a:p>
        </p:txBody>
      </p:sp>
      <p:sp>
        <p:nvSpPr>
          <p:cNvPr id="7186" name="テキスト ボックス 11"/>
          <p:cNvSpPr txBox="1">
            <a:spLocks noChangeArrowheads="1"/>
          </p:cNvSpPr>
          <p:nvPr/>
        </p:nvSpPr>
        <p:spPr bwMode="auto">
          <a:xfrm>
            <a:off x="6310313" y="2465388"/>
            <a:ext cx="340158" cy="461665"/>
          </a:xfrm>
          <a:prstGeom prst="rect">
            <a:avLst/>
          </a:prstGeom>
          <a:noFill/>
          <a:ln w="9525">
            <a:noFill/>
            <a:miter lim="800000"/>
            <a:headEnd/>
            <a:tailEnd/>
          </a:ln>
        </p:spPr>
        <p:txBody>
          <a:bodyPr wrap="none">
            <a:spAutoFit/>
          </a:bodyPr>
          <a:lstStyle/>
          <a:p>
            <a:r>
              <a:rPr lang="en-US" altLang="ja-JP" sz="2400" i="1"/>
              <a:t>0</a:t>
            </a:r>
            <a:endParaRPr lang="ja-JP" altLang="en-US" sz="2400" i="1"/>
          </a:p>
        </p:txBody>
      </p:sp>
      <p:sp>
        <p:nvSpPr>
          <p:cNvPr id="7187" name="テキスト ボックス 12"/>
          <p:cNvSpPr txBox="1">
            <a:spLocks noChangeArrowheads="1"/>
          </p:cNvSpPr>
          <p:nvPr/>
        </p:nvSpPr>
        <p:spPr bwMode="auto">
          <a:xfrm>
            <a:off x="6738938" y="2465388"/>
            <a:ext cx="340158" cy="461665"/>
          </a:xfrm>
          <a:prstGeom prst="rect">
            <a:avLst/>
          </a:prstGeom>
          <a:noFill/>
          <a:ln w="9525">
            <a:noFill/>
            <a:miter lim="800000"/>
            <a:headEnd/>
            <a:tailEnd/>
          </a:ln>
        </p:spPr>
        <p:txBody>
          <a:bodyPr wrap="none">
            <a:spAutoFit/>
          </a:bodyPr>
          <a:lstStyle/>
          <a:p>
            <a:r>
              <a:rPr lang="en-US" altLang="ja-JP" sz="2400" i="1"/>
              <a:t>1</a:t>
            </a:r>
            <a:endParaRPr lang="ja-JP" altLang="en-US" sz="2400" i="1"/>
          </a:p>
        </p:txBody>
      </p:sp>
      <p:sp>
        <p:nvSpPr>
          <p:cNvPr id="7188" name="テキスト ボックス 13"/>
          <p:cNvSpPr txBox="1">
            <a:spLocks noChangeArrowheads="1"/>
          </p:cNvSpPr>
          <p:nvPr/>
        </p:nvSpPr>
        <p:spPr bwMode="auto">
          <a:xfrm>
            <a:off x="6096000" y="2751138"/>
            <a:ext cx="340158" cy="461665"/>
          </a:xfrm>
          <a:prstGeom prst="rect">
            <a:avLst/>
          </a:prstGeom>
          <a:noFill/>
          <a:ln w="9525">
            <a:noFill/>
            <a:miter lim="800000"/>
            <a:headEnd/>
            <a:tailEnd/>
          </a:ln>
        </p:spPr>
        <p:txBody>
          <a:bodyPr wrap="none">
            <a:spAutoFit/>
          </a:bodyPr>
          <a:lstStyle/>
          <a:p>
            <a:r>
              <a:rPr lang="en-US" altLang="ja-JP" sz="2400" i="1"/>
              <a:t>2</a:t>
            </a:r>
            <a:endParaRPr lang="ja-JP" altLang="en-US" sz="2400" i="1"/>
          </a:p>
        </p:txBody>
      </p:sp>
      <p:sp>
        <p:nvSpPr>
          <p:cNvPr id="7189" name="テキスト ボックス 14"/>
          <p:cNvSpPr txBox="1">
            <a:spLocks noChangeArrowheads="1"/>
          </p:cNvSpPr>
          <p:nvPr/>
        </p:nvSpPr>
        <p:spPr bwMode="auto">
          <a:xfrm>
            <a:off x="6453188" y="2894013"/>
            <a:ext cx="340158" cy="461665"/>
          </a:xfrm>
          <a:prstGeom prst="rect">
            <a:avLst/>
          </a:prstGeom>
          <a:noFill/>
          <a:ln w="9525">
            <a:noFill/>
            <a:miter lim="800000"/>
            <a:headEnd/>
            <a:tailEnd/>
          </a:ln>
        </p:spPr>
        <p:txBody>
          <a:bodyPr wrap="none">
            <a:spAutoFit/>
          </a:bodyPr>
          <a:lstStyle/>
          <a:p>
            <a:r>
              <a:rPr lang="en-US" altLang="ja-JP" sz="2400" i="1"/>
              <a:t>3</a:t>
            </a:r>
            <a:endParaRPr lang="ja-JP" altLang="en-US" sz="2400" i="1"/>
          </a:p>
        </p:txBody>
      </p:sp>
      <p:sp>
        <p:nvSpPr>
          <p:cNvPr id="7190" name="テキスト ボックス 15"/>
          <p:cNvSpPr txBox="1">
            <a:spLocks noChangeArrowheads="1"/>
          </p:cNvSpPr>
          <p:nvPr/>
        </p:nvSpPr>
        <p:spPr bwMode="auto">
          <a:xfrm>
            <a:off x="6096000" y="3179763"/>
            <a:ext cx="340158" cy="461665"/>
          </a:xfrm>
          <a:prstGeom prst="rect">
            <a:avLst/>
          </a:prstGeom>
          <a:noFill/>
          <a:ln w="9525">
            <a:noFill/>
            <a:miter lim="800000"/>
            <a:headEnd/>
            <a:tailEnd/>
          </a:ln>
        </p:spPr>
        <p:txBody>
          <a:bodyPr wrap="none">
            <a:spAutoFit/>
          </a:bodyPr>
          <a:lstStyle/>
          <a:p>
            <a:r>
              <a:rPr lang="en-US" altLang="ja-JP" sz="2400" i="1"/>
              <a:t>4</a:t>
            </a:r>
            <a:endParaRPr lang="ja-JP" altLang="en-US" sz="2400" i="1"/>
          </a:p>
        </p:txBody>
      </p:sp>
      <p:sp>
        <p:nvSpPr>
          <p:cNvPr id="7191" name="テキスト ボックス 16"/>
          <p:cNvSpPr txBox="1">
            <a:spLocks noChangeArrowheads="1"/>
          </p:cNvSpPr>
          <p:nvPr/>
        </p:nvSpPr>
        <p:spPr bwMode="auto">
          <a:xfrm>
            <a:off x="6738938" y="3108325"/>
            <a:ext cx="340158" cy="461665"/>
          </a:xfrm>
          <a:prstGeom prst="rect">
            <a:avLst/>
          </a:prstGeom>
          <a:noFill/>
          <a:ln w="9525">
            <a:noFill/>
            <a:miter lim="800000"/>
            <a:headEnd/>
            <a:tailEnd/>
          </a:ln>
        </p:spPr>
        <p:txBody>
          <a:bodyPr wrap="none">
            <a:spAutoFit/>
          </a:bodyPr>
          <a:lstStyle/>
          <a:p>
            <a:r>
              <a:rPr lang="en-US" altLang="ja-JP" sz="2400" i="1"/>
              <a:t>5</a:t>
            </a:r>
            <a:endParaRPr lang="ja-JP" altLang="en-US" sz="2400" i="1"/>
          </a:p>
        </p:txBody>
      </p:sp>
      <p:sp>
        <p:nvSpPr>
          <p:cNvPr id="7192" name="テキスト ボックス 17"/>
          <p:cNvSpPr txBox="1">
            <a:spLocks noChangeArrowheads="1"/>
          </p:cNvSpPr>
          <p:nvPr/>
        </p:nvSpPr>
        <p:spPr bwMode="auto">
          <a:xfrm>
            <a:off x="6310313" y="3465513"/>
            <a:ext cx="340158" cy="461665"/>
          </a:xfrm>
          <a:prstGeom prst="rect">
            <a:avLst/>
          </a:prstGeom>
          <a:noFill/>
          <a:ln w="9525">
            <a:noFill/>
            <a:miter lim="800000"/>
            <a:headEnd/>
            <a:tailEnd/>
          </a:ln>
        </p:spPr>
        <p:txBody>
          <a:bodyPr wrap="none">
            <a:spAutoFit/>
          </a:bodyPr>
          <a:lstStyle/>
          <a:p>
            <a:r>
              <a:rPr lang="en-US" altLang="ja-JP" sz="2400" i="1"/>
              <a:t>6</a:t>
            </a:r>
            <a:endParaRPr lang="ja-JP" altLang="en-US" sz="2400" i="1"/>
          </a:p>
        </p:txBody>
      </p:sp>
      <p:sp>
        <p:nvSpPr>
          <p:cNvPr id="7193" name="テキスト ボックス 18"/>
          <p:cNvSpPr txBox="1">
            <a:spLocks noChangeArrowheads="1"/>
          </p:cNvSpPr>
          <p:nvPr/>
        </p:nvSpPr>
        <p:spPr bwMode="auto">
          <a:xfrm>
            <a:off x="6881813" y="3465513"/>
            <a:ext cx="340158" cy="461665"/>
          </a:xfrm>
          <a:prstGeom prst="rect">
            <a:avLst/>
          </a:prstGeom>
          <a:noFill/>
          <a:ln w="9525">
            <a:noFill/>
            <a:miter lim="800000"/>
            <a:headEnd/>
            <a:tailEnd/>
          </a:ln>
        </p:spPr>
        <p:txBody>
          <a:bodyPr wrap="none">
            <a:spAutoFit/>
          </a:bodyPr>
          <a:lstStyle/>
          <a:p>
            <a:r>
              <a:rPr lang="en-US" altLang="ja-JP" sz="2400" i="1"/>
              <a:t>7</a:t>
            </a:r>
            <a:endParaRPr lang="ja-JP" altLang="en-US" sz="2400" i="1"/>
          </a:p>
        </p:txBody>
      </p:sp>
      <p:sp>
        <p:nvSpPr>
          <p:cNvPr id="7194" name="テキスト ボックス 19"/>
          <p:cNvSpPr txBox="1">
            <a:spLocks noChangeArrowheads="1"/>
          </p:cNvSpPr>
          <p:nvPr/>
        </p:nvSpPr>
        <p:spPr bwMode="auto">
          <a:xfrm>
            <a:off x="7096125" y="2822575"/>
            <a:ext cx="340158" cy="461665"/>
          </a:xfrm>
          <a:prstGeom prst="rect">
            <a:avLst/>
          </a:prstGeom>
          <a:noFill/>
          <a:ln w="9525">
            <a:noFill/>
            <a:miter lim="800000"/>
            <a:headEnd/>
            <a:tailEnd/>
          </a:ln>
        </p:spPr>
        <p:txBody>
          <a:bodyPr wrap="none">
            <a:spAutoFit/>
          </a:bodyPr>
          <a:lstStyle/>
          <a:p>
            <a:r>
              <a:rPr lang="en-US" altLang="ja-JP" sz="2400" i="1"/>
              <a:t>8</a:t>
            </a:r>
            <a:endParaRPr lang="ja-JP" altLang="en-US" sz="2400" i="1"/>
          </a:p>
        </p:txBody>
      </p:sp>
      <p:sp>
        <p:nvSpPr>
          <p:cNvPr id="7195" name="テキスト ボックス 20"/>
          <p:cNvSpPr txBox="1">
            <a:spLocks noChangeArrowheads="1"/>
          </p:cNvSpPr>
          <p:nvPr/>
        </p:nvSpPr>
        <p:spPr bwMode="auto">
          <a:xfrm>
            <a:off x="7167563" y="3251200"/>
            <a:ext cx="340158" cy="461665"/>
          </a:xfrm>
          <a:prstGeom prst="rect">
            <a:avLst/>
          </a:prstGeom>
          <a:noFill/>
          <a:ln w="9525">
            <a:noFill/>
            <a:miter lim="800000"/>
            <a:headEnd/>
            <a:tailEnd/>
          </a:ln>
        </p:spPr>
        <p:txBody>
          <a:bodyPr wrap="none">
            <a:spAutoFit/>
          </a:bodyPr>
          <a:lstStyle/>
          <a:p>
            <a:r>
              <a:rPr lang="en-US" altLang="ja-JP" sz="2400" i="1"/>
              <a:t>9</a:t>
            </a:r>
            <a:endParaRPr lang="ja-JP" altLang="en-US" sz="2400" i="1"/>
          </a:p>
        </p:txBody>
      </p:sp>
      <p:cxnSp>
        <p:nvCxnSpPr>
          <p:cNvPr id="45" name="曲線コネクタ 44"/>
          <p:cNvCxnSpPr>
            <a:stCxn id="9" idx="6"/>
            <a:endCxn id="34" idx="2"/>
          </p:cNvCxnSpPr>
          <p:nvPr/>
        </p:nvCxnSpPr>
        <p:spPr>
          <a:xfrm>
            <a:off x="2809875" y="3194050"/>
            <a:ext cx="2795588" cy="19050"/>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7197" name="テキスト ボックス 56"/>
          <p:cNvSpPr txBox="1">
            <a:spLocks noChangeArrowheads="1"/>
          </p:cNvSpPr>
          <p:nvPr/>
        </p:nvSpPr>
        <p:spPr bwMode="auto">
          <a:xfrm>
            <a:off x="3559175" y="2689225"/>
            <a:ext cx="1033809" cy="523220"/>
          </a:xfrm>
          <a:prstGeom prst="rect">
            <a:avLst/>
          </a:prstGeom>
          <a:noFill/>
          <a:ln w="9525">
            <a:noFill/>
            <a:miter lim="800000"/>
            <a:headEnd/>
            <a:tailEnd/>
          </a:ln>
        </p:spPr>
        <p:txBody>
          <a:bodyPr wrap="none">
            <a:spAutoFit/>
          </a:bodyPr>
          <a:lstStyle/>
          <a:p>
            <a:r>
              <a:rPr lang="en-US" altLang="ja-JP" sz="2800" dirty="0" err="1"/>
              <a:t>digval</a:t>
            </a:r>
            <a:endParaRPr lang="ja-JP" altLang="en-US" dirty="0"/>
          </a:p>
        </p:txBody>
      </p:sp>
      <p:sp>
        <p:nvSpPr>
          <p:cNvPr id="7198" name="テキスト ボックス 57"/>
          <p:cNvSpPr txBox="1">
            <a:spLocks noChangeArrowheads="1"/>
          </p:cNvSpPr>
          <p:nvPr/>
        </p:nvSpPr>
        <p:spPr bwMode="auto">
          <a:xfrm>
            <a:off x="2854325" y="4273550"/>
            <a:ext cx="2535238" cy="2062163"/>
          </a:xfrm>
          <a:prstGeom prst="rect">
            <a:avLst/>
          </a:prstGeom>
          <a:noFill/>
          <a:ln w="9525">
            <a:noFill/>
            <a:miter lim="800000"/>
            <a:headEnd/>
            <a:tailEnd/>
          </a:ln>
        </p:spPr>
        <p:txBody>
          <a:bodyPr wrap="none">
            <a:spAutoFit/>
          </a:bodyPr>
          <a:lstStyle/>
          <a:p>
            <a:r>
              <a:rPr lang="en-US" altLang="ja-JP" sz="3200"/>
              <a:t> digval (0) = </a:t>
            </a:r>
            <a:r>
              <a:rPr lang="en-US" altLang="ja-JP" sz="3200" i="1"/>
              <a:t>0</a:t>
            </a:r>
          </a:p>
          <a:p>
            <a:r>
              <a:rPr lang="en-US" altLang="ja-JP" sz="3200"/>
              <a:t> digval (1) = </a:t>
            </a:r>
            <a:r>
              <a:rPr lang="en-US" altLang="ja-JP" sz="3200" i="1"/>
              <a:t>1</a:t>
            </a:r>
          </a:p>
          <a:p>
            <a:r>
              <a:rPr lang="en-US" altLang="ja-JP" sz="3200"/>
              <a:t> ...</a:t>
            </a:r>
          </a:p>
          <a:p>
            <a:r>
              <a:rPr lang="en-US" altLang="ja-JP" sz="3200"/>
              <a:t> digval (9) = </a:t>
            </a:r>
            <a:r>
              <a:rPr lang="en-US" altLang="ja-JP" sz="3200" i="1"/>
              <a:t>9</a:t>
            </a:r>
            <a:endParaRPr lang="ja-JP" altLang="en-US" sz="3200" i="1"/>
          </a:p>
        </p:txBody>
      </p:sp>
      <p:sp>
        <p:nvSpPr>
          <p:cNvPr id="7199" name="テキスト ボックス 12"/>
          <p:cNvSpPr txBox="1">
            <a:spLocks noChangeArrowheads="1"/>
          </p:cNvSpPr>
          <p:nvPr/>
        </p:nvSpPr>
        <p:spPr bwMode="auto">
          <a:xfrm>
            <a:off x="7453313" y="2536825"/>
            <a:ext cx="495649" cy="461665"/>
          </a:xfrm>
          <a:prstGeom prst="rect">
            <a:avLst/>
          </a:prstGeom>
          <a:noFill/>
          <a:ln w="9525">
            <a:noFill/>
            <a:miter lim="800000"/>
            <a:headEnd/>
            <a:tailEnd/>
          </a:ln>
        </p:spPr>
        <p:txBody>
          <a:bodyPr wrap="none">
            <a:spAutoFit/>
          </a:bodyPr>
          <a:lstStyle/>
          <a:p>
            <a:r>
              <a:rPr lang="en-US" altLang="ja-JP" sz="2400" i="1"/>
              <a:t>10</a:t>
            </a:r>
            <a:endParaRPr lang="ja-JP" altLang="en-US" sz="2400" i="1"/>
          </a:p>
        </p:txBody>
      </p:sp>
      <p:sp>
        <p:nvSpPr>
          <p:cNvPr id="7200" name="テキスト ボックス 12"/>
          <p:cNvSpPr txBox="1">
            <a:spLocks noChangeArrowheads="1"/>
          </p:cNvSpPr>
          <p:nvPr/>
        </p:nvSpPr>
        <p:spPr bwMode="auto">
          <a:xfrm>
            <a:off x="7524750" y="2822575"/>
            <a:ext cx="495649" cy="461665"/>
          </a:xfrm>
          <a:prstGeom prst="rect">
            <a:avLst/>
          </a:prstGeom>
          <a:noFill/>
          <a:ln w="9525">
            <a:noFill/>
            <a:miter lim="800000"/>
            <a:headEnd/>
            <a:tailEnd/>
          </a:ln>
        </p:spPr>
        <p:txBody>
          <a:bodyPr wrap="none">
            <a:spAutoFit/>
          </a:bodyPr>
          <a:lstStyle/>
          <a:p>
            <a:r>
              <a:rPr lang="en-US" altLang="ja-JP" sz="2400" i="1"/>
              <a:t>11</a:t>
            </a:r>
            <a:endParaRPr lang="ja-JP" altLang="en-US" sz="2400" i="1"/>
          </a:p>
        </p:txBody>
      </p:sp>
      <p:sp>
        <p:nvSpPr>
          <p:cNvPr id="7201" name="テキスト ボックス 12"/>
          <p:cNvSpPr txBox="1">
            <a:spLocks noChangeArrowheads="1"/>
          </p:cNvSpPr>
          <p:nvPr/>
        </p:nvSpPr>
        <p:spPr bwMode="auto">
          <a:xfrm>
            <a:off x="7453313" y="3108325"/>
            <a:ext cx="495649" cy="461665"/>
          </a:xfrm>
          <a:prstGeom prst="rect">
            <a:avLst/>
          </a:prstGeom>
          <a:noFill/>
          <a:ln w="9525">
            <a:noFill/>
            <a:miter lim="800000"/>
            <a:headEnd/>
            <a:tailEnd/>
          </a:ln>
        </p:spPr>
        <p:txBody>
          <a:bodyPr wrap="none">
            <a:spAutoFit/>
          </a:bodyPr>
          <a:lstStyle/>
          <a:p>
            <a:r>
              <a:rPr lang="en-US" altLang="ja-JP" sz="2400" i="1"/>
              <a:t>12</a:t>
            </a:r>
            <a:endParaRPr lang="ja-JP" altLang="en-US" sz="2400" i="1"/>
          </a:p>
        </p:txBody>
      </p:sp>
      <p:sp>
        <p:nvSpPr>
          <p:cNvPr id="7202" name="テキスト ボックス 12"/>
          <p:cNvSpPr txBox="1">
            <a:spLocks noChangeArrowheads="1"/>
          </p:cNvSpPr>
          <p:nvPr/>
        </p:nvSpPr>
        <p:spPr bwMode="auto">
          <a:xfrm>
            <a:off x="7453313" y="3394075"/>
            <a:ext cx="396262" cy="461665"/>
          </a:xfrm>
          <a:prstGeom prst="rect">
            <a:avLst/>
          </a:prstGeom>
          <a:noFill/>
          <a:ln w="9525">
            <a:noFill/>
            <a:miter lim="800000"/>
            <a:headEnd/>
            <a:tailEnd/>
          </a:ln>
        </p:spPr>
        <p:txBody>
          <a:bodyPr wrap="none">
            <a:spAutoFit/>
          </a:bodyPr>
          <a:lstStyle/>
          <a:p>
            <a:r>
              <a:rPr lang="en-US" altLang="ja-JP" sz="2400" i="1"/>
              <a:t>…</a:t>
            </a:r>
            <a:endParaRPr lang="ja-JP" altLang="en-US" sz="2400" i="1"/>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58813" y="436563"/>
            <a:ext cx="7772400" cy="1143000"/>
          </a:xfrm>
          <a:noFill/>
        </p:spPr>
        <p:txBody>
          <a:bodyPr/>
          <a:lstStyle/>
          <a:p>
            <a:pPr eaLnBrk="1" hangingPunct="1"/>
            <a:r>
              <a:rPr lang="ja-JP" altLang="en-US" smtClean="0"/>
              <a:t>構文と意味</a:t>
            </a:r>
          </a:p>
        </p:txBody>
      </p:sp>
      <p:sp>
        <p:nvSpPr>
          <p:cNvPr id="8195" name="テキスト ボックス 34"/>
          <p:cNvSpPr txBox="1">
            <a:spLocks noChangeArrowheads="1"/>
          </p:cNvSpPr>
          <p:nvPr/>
        </p:nvSpPr>
        <p:spPr bwMode="auto">
          <a:xfrm>
            <a:off x="785813" y="1643063"/>
            <a:ext cx="7358062" cy="523220"/>
          </a:xfrm>
          <a:prstGeom prst="rect">
            <a:avLst/>
          </a:prstGeom>
          <a:noFill/>
          <a:ln w="9525">
            <a:noFill/>
            <a:miter lim="800000"/>
            <a:headEnd/>
            <a:tailEnd/>
          </a:ln>
        </p:spPr>
        <p:txBody>
          <a:bodyPr>
            <a:spAutoFit/>
          </a:bodyPr>
          <a:lstStyle/>
          <a:p>
            <a:r>
              <a:rPr lang="ja-JP" altLang="en-US" sz="2800" dirty="0"/>
              <a:t>数字列の意味の定義</a:t>
            </a:r>
          </a:p>
        </p:txBody>
      </p:sp>
      <p:cxnSp>
        <p:nvCxnSpPr>
          <p:cNvPr id="45" name="曲線コネクタ 44"/>
          <p:cNvCxnSpPr/>
          <p:nvPr/>
        </p:nvCxnSpPr>
        <p:spPr>
          <a:xfrm>
            <a:off x="2714625" y="3000375"/>
            <a:ext cx="2643188" cy="1588"/>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47" name="円/楕円 46"/>
          <p:cNvSpPr/>
          <p:nvPr/>
        </p:nvSpPr>
        <p:spPr>
          <a:xfrm>
            <a:off x="714375" y="2286000"/>
            <a:ext cx="1928813" cy="131921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2400"/>
          </a:p>
        </p:txBody>
      </p:sp>
      <p:sp>
        <p:nvSpPr>
          <p:cNvPr id="8198" name="テキスト ボックス 22"/>
          <p:cNvSpPr txBox="1">
            <a:spLocks noChangeArrowheads="1"/>
          </p:cNvSpPr>
          <p:nvPr/>
        </p:nvSpPr>
        <p:spPr bwMode="auto">
          <a:xfrm>
            <a:off x="1282700" y="2520950"/>
            <a:ext cx="731838" cy="461665"/>
          </a:xfrm>
          <a:prstGeom prst="rect">
            <a:avLst/>
          </a:prstGeom>
          <a:noFill/>
          <a:ln w="9525">
            <a:noFill/>
            <a:miter lim="800000"/>
            <a:headEnd/>
            <a:tailEnd/>
          </a:ln>
        </p:spPr>
        <p:txBody>
          <a:bodyPr>
            <a:spAutoFit/>
          </a:bodyPr>
          <a:lstStyle/>
          <a:p>
            <a:r>
              <a:rPr lang="en-US" altLang="ja-JP" sz="2400"/>
              <a:t>325</a:t>
            </a:r>
            <a:endParaRPr lang="ja-JP" altLang="en-US" sz="2400"/>
          </a:p>
        </p:txBody>
      </p:sp>
      <p:sp>
        <p:nvSpPr>
          <p:cNvPr id="8199" name="テキスト ボックス 39"/>
          <p:cNvSpPr txBox="1">
            <a:spLocks noChangeArrowheads="1"/>
          </p:cNvSpPr>
          <p:nvPr/>
        </p:nvSpPr>
        <p:spPr bwMode="auto">
          <a:xfrm>
            <a:off x="976313" y="3659188"/>
            <a:ext cx="1416050" cy="461962"/>
          </a:xfrm>
          <a:prstGeom prst="rect">
            <a:avLst/>
          </a:prstGeom>
          <a:noFill/>
          <a:ln w="9525">
            <a:noFill/>
            <a:miter lim="800000"/>
            <a:headEnd/>
            <a:tailEnd/>
          </a:ln>
        </p:spPr>
        <p:txBody>
          <a:bodyPr wrap="none">
            <a:spAutoFit/>
          </a:bodyPr>
          <a:lstStyle/>
          <a:p>
            <a:r>
              <a:rPr lang="ja-JP" altLang="en-US" sz="2400"/>
              <a:t>（数字列）</a:t>
            </a:r>
          </a:p>
        </p:txBody>
      </p:sp>
      <p:sp>
        <p:nvSpPr>
          <p:cNvPr id="8200" name="テキスト ボックス 56"/>
          <p:cNvSpPr txBox="1">
            <a:spLocks noChangeArrowheads="1"/>
          </p:cNvSpPr>
          <p:nvPr/>
        </p:nvSpPr>
        <p:spPr bwMode="auto">
          <a:xfrm>
            <a:off x="3373438" y="2559050"/>
            <a:ext cx="1106487" cy="460375"/>
          </a:xfrm>
          <a:prstGeom prst="rect">
            <a:avLst/>
          </a:prstGeom>
          <a:noFill/>
          <a:ln w="9525">
            <a:noFill/>
            <a:miter lim="800000"/>
            <a:headEnd/>
            <a:tailEnd/>
          </a:ln>
        </p:spPr>
        <p:txBody>
          <a:bodyPr wrap="none">
            <a:spAutoFit/>
          </a:bodyPr>
          <a:lstStyle/>
          <a:p>
            <a:r>
              <a:rPr lang="en-US" altLang="ja-JP" sz="2400" dirty="0" err="1"/>
              <a:t>numval</a:t>
            </a:r>
            <a:endParaRPr lang="ja-JP" altLang="en-US" dirty="0"/>
          </a:p>
        </p:txBody>
      </p:sp>
      <p:sp>
        <p:nvSpPr>
          <p:cNvPr id="8201" name="テキスト ボックス 40"/>
          <p:cNvSpPr txBox="1">
            <a:spLocks noChangeArrowheads="1"/>
          </p:cNvSpPr>
          <p:nvPr/>
        </p:nvSpPr>
        <p:spPr bwMode="auto">
          <a:xfrm>
            <a:off x="6278563" y="3803650"/>
            <a:ext cx="1416050" cy="461963"/>
          </a:xfrm>
          <a:prstGeom prst="rect">
            <a:avLst/>
          </a:prstGeom>
          <a:noFill/>
          <a:ln w="9525">
            <a:noFill/>
            <a:miter lim="800000"/>
            <a:headEnd/>
            <a:tailEnd/>
          </a:ln>
        </p:spPr>
        <p:txBody>
          <a:bodyPr wrap="none">
            <a:spAutoFit/>
          </a:bodyPr>
          <a:lstStyle/>
          <a:p>
            <a:r>
              <a:rPr lang="ja-JP" altLang="en-US" sz="2400"/>
              <a:t>（自然数）</a:t>
            </a:r>
          </a:p>
        </p:txBody>
      </p:sp>
      <p:sp>
        <p:nvSpPr>
          <p:cNvPr id="51" name="円/楕円 50"/>
          <p:cNvSpPr/>
          <p:nvPr/>
        </p:nvSpPr>
        <p:spPr>
          <a:xfrm>
            <a:off x="5487988" y="2219325"/>
            <a:ext cx="3071812" cy="157162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sz="2400"/>
          </a:p>
        </p:txBody>
      </p:sp>
      <p:sp>
        <p:nvSpPr>
          <p:cNvPr id="8203" name="テキスト ボックス 11"/>
          <p:cNvSpPr txBox="1">
            <a:spLocks noChangeArrowheads="1"/>
          </p:cNvSpPr>
          <p:nvPr/>
        </p:nvSpPr>
        <p:spPr bwMode="auto">
          <a:xfrm>
            <a:off x="6072188" y="2282825"/>
            <a:ext cx="338137" cy="461963"/>
          </a:xfrm>
          <a:prstGeom prst="rect">
            <a:avLst/>
          </a:prstGeom>
          <a:noFill/>
          <a:ln w="9525">
            <a:noFill/>
            <a:miter lim="800000"/>
            <a:headEnd/>
            <a:tailEnd/>
          </a:ln>
        </p:spPr>
        <p:txBody>
          <a:bodyPr wrap="none">
            <a:spAutoFit/>
          </a:bodyPr>
          <a:lstStyle/>
          <a:p>
            <a:r>
              <a:rPr lang="en-US" altLang="ja-JP" sz="2400" i="1"/>
              <a:t>0</a:t>
            </a:r>
            <a:endParaRPr lang="ja-JP" altLang="en-US" sz="2400" i="1"/>
          </a:p>
        </p:txBody>
      </p:sp>
      <p:sp>
        <p:nvSpPr>
          <p:cNvPr id="8204" name="テキスト ボックス 12"/>
          <p:cNvSpPr txBox="1">
            <a:spLocks noChangeArrowheads="1"/>
          </p:cNvSpPr>
          <p:nvPr/>
        </p:nvSpPr>
        <p:spPr bwMode="auto">
          <a:xfrm>
            <a:off x="6500813" y="2282825"/>
            <a:ext cx="338137" cy="461963"/>
          </a:xfrm>
          <a:prstGeom prst="rect">
            <a:avLst/>
          </a:prstGeom>
          <a:noFill/>
          <a:ln w="9525">
            <a:noFill/>
            <a:miter lim="800000"/>
            <a:headEnd/>
            <a:tailEnd/>
          </a:ln>
        </p:spPr>
        <p:txBody>
          <a:bodyPr wrap="none">
            <a:spAutoFit/>
          </a:bodyPr>
          <a:lstStyle/>
          <a:p>
            <a:r>
              <a:rPr lang="en-US" altLang="ja-JP" sz="2400" i="1"/>
              <a:t>1</a:t>
            </a:r>
            <a:endParaRPr lang="ja-JP" altLang="en-US" sz="2400" i="1"/>
          </a:p>
        </p:txBody>
      </p:sp>
      <p:sp>
        <p:nvSpPr>
          <p:cNvPr id="8205" name="テキスト ボックス 13"/>
          <p:cNvSpPr txBox="1">
            <a:spLocks noChangeArrowheads="1"/>
          </p:cNvSpPr>
          <p:nvPr/>
        </p:nvSpPr>
        <p:spPr bwMode="auto">
          <a:xfrm>
            <a:off x="5857875" y="2568575"/>
            <a:ext cx="338138" cy="461963"/>
          </a:xfrm>
          <a:prstGeom prst="rect">
            <a:avLst/>
          </a:prstGeom>
          <a:noFill/>
          <a:ln w="9525">
            <a:noFill/>
            <a:miter lim="800000"/>
            <a:headEnd/>
            <a:tailEnd/>
          </a:ln>
        </p:spPr>
        <p:txBody>
          <a:bodyPr wrap="none">
            <a:spAutoFit/>
          </a:bodyPr>
          <a:lstStyle/>
          <a:p>
            <a:r>
              <a:rPr lang="en-US" altLang="ja-JP" sz="2400" i="1"/>
              <a:t>2</a:t>
            </a:r>
            <a:endParaRPr lang="ja-JP" altLang="en-US" sz="2400" i="1"/>
          </a:p>
        </p:txBody>
      </p:sp>
      <p:sp>
        <p:nvSpPr>
          <p:cNvPr id="8206" name="テキスト ボックス 14"/>
          <p:cNvSpPr txBox="1">
            <a:spLocks noChangeArrowheads="1"/>
          </p:cNvSpPr>
          <p:nvPr/>
        </p:nvSpPr>
        <p:spPr bwMode="auto">
          <a:xfrm>
            <a:off x="6215063" y="2711450"/>
            <a:ext cx="338137" cy="461963"/>
          </a:xfrm>
          <a:prstGeom prst="rect">
            <a:avLst/>
          </a:prstGeom>
          <a:noFill/>
          <a:ln w="9525">
            <a:noFill/>
            <a:miter lim="800000"/>
            <a:headEnd/>
            <a:tailEnd/>
          </a:ln>
        </p:spPr>
        <p:txBody>
          <a:bodyPr wrap="none">
            <a:spAutoFit/>
          </a:bodyPr>
          <a:lstStyle/>
          <a:p>
            <a:r>
              <a:rPr lang="en-US" altLang="ja-JP" sz="2400" i="1"/>
              <a:t>3</a:t>
            </a:r>
            <a:endParaRPr lang="ja-JP" altLang="en-US" sz="2400" i="1"/>
          </a:p>
        </p:txBody>
      </p:sp>
      <p:sp>
        <p:nvSpPr>
          <p:cNvPr id="8207" name="テキスト ボックス 15"/>
          <p:cNvSpPr txBox="1">
            <a:spLocks noChangeArrowheads="1"/>
          </p:cNvSpPr>
          <p:nvPr/>
        </p:nvSpPr>
        <p:spPr bwMode="auto">
          <a:xfrm>
            <a:off x="5857875" y="2997200"/>
            <a:ext cx="338138" cy="461963"/>
          </a:xfrm>
          <a:prstGeom prst="rect">
            <a:avLst/>
          </a:prstGeom>
          <a:noFill/>
          <a:ln w="9525">
            <a:noFill/>
            <a:miter lim="800000"/>
            <a:headEnd/>
            <a:tailEnd/>
          </a:ln>
        </p:spPr>
        <p:txBody>
          <a:bodyPr wrap="none">
            <a:spAutoFit/>
          </a:bodyPr>
          <a:lstStyle/>
          <a:p>
            <a:r>
              <a:rPr lang="en-US" altLang="ja-JP" sz="2400" i="1"/>
              <a:t>4</a:t>
            </a:r>
            <a:endParaRPr lang="ja-JP" altLang="en-US" sz="2400" i="1"/>
          </a:p>
        </p:txBody>
      </p:sp>
      <p:sp>
        <p:nvSpPr>
          <p:cNvPr id="8208" name="テキスト ボックス 16"/>
          <p:cNvSpPr txBox="1">
            <a:spLocks noChangeArrowheads="1"/>
          </p:cNvSpPr>
          <p:nvPr/>
        </p:nvSpPr>
        <p:spPr bwMode="auto">
          <a:xfrm>
            <a:off x="6500813" y="2925763"/>
            <a:ext cx="338137" cy="461962"/>
          </a:xfrm>
          <a:prstGeom prst="rect">
            <a:avLst/>
          </a:prstGeom>
          <a:noFill/>
          <a:ln w="9525">
            <a:noFill/>
            <a:miter lim="800000"/>
            <a:headEnd/>
            <a:tailEnd/>
          </a:ln>
        </p:spPr>
        <p:txBody>
          <a:bodyPr wrap="none">
            <a:spAutoFit/>
          </a:bodyPr>
          <a:lstStyle/>
          <a:p>
            <a:r>
              <a:rPr lang="en-US" altLang="ja-JP" sz="2400" i="1"/>
              <a:t>5</a:t>
            </a:r>
            <a:endParaRPr lang="ja-JP" altLang="en-US" sz="2400" i="1"/>
          </a:p>
        </p:txBody>
      </p:sp>
      <p:sp>
        <p:nvSpPr>
          <p:cNvPr id="8209" name="テキスト ボックス 17"/>
          <p:cNvSpPr txBox="1">
            <a:spLocks noChangeArrowheads="1"/>
          </p:cNvSpPr>
          <p:nvPr/>
        </p:nvSpPr>
        <p:spPr bwMode="auto">
          <a:xfrm>
            <a:off x="6072188" y="3282950"/>
            <a:ext cx="338137" cy="461963"/>
          </a:xfrm>
          <a:prstGeom prst="rect">
            <a:avLst/>
          </a:prstGeom>
          <a:noFill/>
          <a:ln w="9525">
            <a:noFill/>
            <a:miter lim="800000"/>
            <a:headEnd/>
            <a:tailEnd/>
          </a:ln>
        </p:spPr>
        <p:txBody>
          <a:bodyPr wrap="none">
            <a:spAutoFit/>
          </a:bodyPr>
          <a:lstStyle/>
          <a:p>
            <a:r>
              <a:rPr lang="en-US" altLang="ja-JP" sz="2400" i="1"/>
              <a:t>6</a:t>
            </a:r>
            <a:endParaRPr lang="ja-JP" altLang="en-US" sz="2400" i="1"/>
          </a:p>
        </p:txBody>
      </p:sp>
      <p:sp>
        <p:nvSpPr>
          <p:cNvPr id="8210" name="テキスト ボックス 18"/>
          <p:cNvSpPr txBox="1">
            <a:spLocks noChangeArrowheads="1"/>
          </p:cNvSpPr>
          <p:nvPr/>
        </p:nvSpPr>
        <p:spPr bwMode="auto">
          <a:xfrm>
            <a:off x="6643688" y="3282950"/>
            <a:ext cx="338137" cy="461963"/>
          </a:xfrm>
          <a:prstGeom prst="rect">
            <a:avLst/>
          </a:prstGeom>
          <a:noFill/>
          <a:ln w="9525">
            <a:noFill/>
            <a:miter lim="800000"/>
            <a:headEnd/>
            <a:tailEnd/>
          </a:ln>
        </p:spPr>
        <p:txBody>
          <a:bodyPr wrap="none">
            <a:spAutoFit/>
          </a:bodyPr>
          <a:lstStyle/>
          <a:p>
            <a:r>
              <a:rPr lang="en-US" altLang="ja-JP" sz="2400" i="1"/>
              <a:t>7</a:t>
            </a:r>
            <a:endParaRPr lang="ja-JP" altLang="en-US" sz="2400" i="1"/>
          </a:p>
        </p:txBody>
      </p:sp>
      <p:sp>
        <p:nvSpPr>
          <p:cNvPr id="8211" name="テキスト ボックス 19"/>
          <p:cNvSpPr txBox="1">
            <a:spLocks noChangeArrowheads="1"/>
          </p:cNvSpPr>
          <p:nvPr/>
        </p:nvSpPr>
        <p:spPr bwMode="auto">
          <a:xfrm>
            <a:off x="6858000" y="2640013"/>
            <a:ext cx="338138" cy="461962"/>
          </a:xfrm>
          <a:prstGeom prst="rect">
            <a:avLst/>
          </a:prstGeom>
          <a:noFill/>
          <a:ln w="9525">
            <a:noFill/>
            <a:miter lim="800000"/>
            <a:headEnd/>
            <a:tailEnd/>
          </a:ln>
        </p:spPr>
        <p:txBody>
          <a:bodyPr wrap="none">
            <a:spAutoFit/>
          </a:bodyPr>
          <a:lstStyle/>
          <a:p>
            <a:r>
              <a:rPr lang="en-US" altLang="ja-JP" sz="2400" i="1"/>
              <a:t>8</a:t>
            </a:r>
            <a:endParaRPr lang="ja-JP" altLang="en-US" sz="2400" i="1"/>
          </a:p>
        </p:txBody>
      </p:sp>
      <p:sp>
        <p:nvSpPr>
          <p:cNvPr id="8212" name="テキスト ボックス 20"/>
          <p:cNvSpPr txBox="1">
            <a:spLocks noChangeArrowheads="1"/>
          </p:cNvSpPr>
          <p:nvPr/>
        </p:nvSpPr>
        <p:spPr bwMode="auto">
          <a:xfrm>
            <a:off x="6929438" y="3068638"/>
            <a:ext cx="338137" cy="461962"/>
          </a:xfrm>
          <a:prstGeom prst="rect">
            <a:avLst/>
          </a:prstGeom>
          <a:noFill/>
          <a:ln w="9525">
            <a:noFill/>
            <a:miter lim="800000"/>
            <a:headEnd/>
            <a:tailEnd/>
          </a:ln>
        </p:spPr>
        <p:txBody>
          <a:bodyPr wrap="none">
            <a:spAutoFit/>
          </a:bodyPr>
          <a:lstStyle/>
          <a:p>
            <a:r>
              <a:rPr lang="en-US" altLang="ja-JP" sz="2400" i="1"/>
              <a:t>9</a:t>
            </a:r>
            <a:endParaRPr lang="ja-JP" altLang="en-US" sz="2400" i="1"/>
          </a:p>
        </p:txBody>
      </p:sp>
      <p:sp>
        <p:nvSpPr>
          <p:cNvPr id="8213" name="テキスト ボックス 12"/>
          <p:cNvSpPr txBox="1">
            <a:spLocks noChangeArrowheads="1"/>
          </p:cNvSpPr>
          <p:nvPr/>
        </p:nvSpPr>
        <p:spPr bwMode="auto">
          <a:xfrm>
            <a:off x="7215188" y="2354263"/>
            <a:ext cx="492125" cy="461962"/>
          </a:xfrm>
          <a:prstGeom prst="rect">
            <a:avLst/>
          </a:prstGeom>
          <a:noFill/>
          <a:ln w="9525">
            <a:noFill/>
            <a:miter lim="800000"/>
            <a:headEnd/>
            <a:tailEnd/>
          </a:ln>
        </p:spPr>
        <p:txBody>
          <a:bodyPr wrap="none">
            <a:spAutoFit/>
          </a:bodyPr>
          <a:lstStyle/>
          <a:p>
            <a:r>
              <a:rPr lang="en-US" altLang="ja-JP" sz="2400" i="1"/>
              <a:t>10</a:t>
            </a:r>
            <a:endParaRPr lang="ja-JP" altLang="en-US" sz="2400" i="1"/>
          </a:p>
        </p:txBody>
      </p:sp>
      <p:sp>
        <p:nvSpPr>
          <p:cNvPr id="8214" name="テキスト ボックス 12"/>
          <p:cNvSpPr txBox="1">
            <a:spLocks noChangeArrowheads="1"/>
          </p:cNvSpPr>
          <p:nvPr/>
        </p:nvSpPr>
        <p:spPr bwMode="auto">
          <a:xfrm>
            <a:off x="7286625" y="2640013"/>
            <a:ext cx="469900" cy="461962"/>
          </a:xfrm>
          <a:prstGeom prst="rect">
            <a:avLst/>
          </a:prstGeom>
          <a:noFill/>
          <a:ln w="9525">
            <a:noFill/>
            <a:miter lim="800000"/>
            <a:headEnd/>
            <a:tailEnd/>
          </a:ln>
        </p:spPr>
        <p:txBody>
          <a:bodyPr wrap="none">
            <a:spAutoFit/>
          </a:bodyPr>
          <a:lstStyle/>
          <a:p>
            <a:r>
              <a:rPr lang="en-US" altLang="ja-JP" sz="2400" i="1"/>
              <a:t>11</a:t>
            </a:r>
            <a:endParaRPr lang="ja-JP" altLang="en-US" sz="2400" i="1"/>
          </a:p>
        </p:txBody>
      </p:sp>
      <p:sp>
        <p:nvSpPr>
          <p:cNvPr id="8215" name="テキスト ボックス 12"/>
          <p:cNvSpPr txBox="1">
            <a:spLocks noChangeArrowheads="1"/>
          </p:cNvSpPr>
          <p:nvPr/>
        </p:nvSpPr>
        <p:spPr bwMode="auto">
          <a:xfrm>
            <a:off x="7215188" y="2925763"/>
            <a:ext cx="492125" cy="461962"/>
          </a:xfrm>
          <a:prstGeom prst="rect">
            <a:avLst/>
          </a:prstGeom>
          <a:noFill/>
          <a:ln w="9525">
            <a:noFill/>
            <a:miter lim="800000"/>
            <a:headEnd/>
            <a:tailEnd/>
          </a:ln>
        </p:spPr>
        <p:txBody>
          <a:bodyPr wrap="none">
            <a:spAutoFit/>
          </a:bodyPr>
          <a:lstStyle/>
          <a:p>
            <a:r>
              <a:rPr lang="en-US" altLang="ja-JP" sz="2400" i="1"/>
              <a:t>12</a:t>
            </a:r>
            <a:endParaRPr lang="ja-JP" altLang="en-US" sz="2400" i="1"/>
          </a:p>
        </p:txBody>
      </p:sp>
      <p:sp>
        <p:nvSpPr>
          <p:cNvPr id="8216" name="テキスト ボックス 12"/>
          <p:cNvSpPr txBox="1">
            <a:spLocks noChangeArrowheads="1"/>
          </p:cNvSpPr>
          <p:nvPr/>
        </p:nvSpPr>
        <p:spPr bwMode="auto">
          <a:xfrm>
            <a:off x="7215188" y="3211513"/>
            <a:ext cx="458787" cy="461962"/>
          </a:xfrm>
          <a:prstGeom prst="rect">
            <a:avLst/>
          </a:prstGeom>
          <a:noFill/>
          <a:ln w="9525">
            <a:noFill/>
            <a:miter lim="800000"/>
            <a:headEnd/>
            <a:tailEnd/>
          </a:ln>
        </p:spPr>
        <p:txBody>
          <a:bodyPr wrap="none">
            <a:spAutoFit/>
          </a:bodyPr>
          <a:lstStyle/>
          <a:p>
            <a:r>
              <a:rPr lang="en-US" altLang="ja-JP" sz="2400" i="1"/>
              <a:t>…</a:t>
            </a:r>
            <a:endParaRPr lang="ja-JP" altLang="en-US" sz="2400" i="1"/>
          </a:p>
        </p:txBody>
      </p:sp>
      <p:sp>
        <p:nvSpPr>
          <p:cNvPr id="8217" name="テキスト ボックス 12"/>
          <p:cNvSpPr txBox="1">
            <a:spLocks noChangeArrowheads="1"/>
          </p:cNvSpPr>
          <p:nvPr/>
        </p:nvSpPr>
        <p:spPr bwMode="auto">
          <a:xfrm>
            <a:off x="7858125" y="2640013"/>
            <a:ext cx="646113" cy="461962"/>
          </a:xfrm>
          <a:prstGeom prst="rect">
            <a:avLst/>
          </a:prstGeom>
          <a:noFill/>
          <a:ln w="9525">
            <a:noFill/>
            <a:miter lim="800000"/>
            <a:headEnd/>
            <a:tailEnd/>
          </a:ln>
        </p:spPr>
        <p:txBody>
          <a:bodyPr wrap="none">
            <a:spAutoFit/>
          </a:bodyPr>
          <a:lstStyle/>
          <a:p>
            <a:r>
              <a:rPr lang="en-US" altLang="ja-JP" sz="2400" i="1"/>
              <a:t>325</a:t>
            </a:r>
            <a:endParaRPr lang="ja-JP" altLang="en-US" sz="2400" i="1"/>
          </a:p>
        </p:txBody>
      </p:sp>
      <p:sp>
        <p:nvSpPr>
          <p:cNvPr id="8218" name="テキスト ボックス 12"/>
          <p:cNvSpPr txBox="1">
            <a:spLocks noChangeArrowheads="1"/>
          </p:cNvSpPr>
          <p:nvPr/>
        </p:nvSpPr>
        <p:spPr bwMode="auto">
          <a:xfrm>
            <a:off x="7929563" y="2925763"/>
            <a:ext cx="458787" cy="461962"/>
          </a:xfrm>
          <a:prstGeom prst="rect">
            <a:avLst/>
          </a:prstGeom>
          <a:noFill/>
          <a:ln w="9525">
            <a:noFill/>
            <a:miter lim="800000"/>
            <a:headEnd/>
            <a:tailEnd/>
          </a:ln>
        </p:spPr>
        <p:txBody>
          <a:bodyPr wrap="none">
            <a:spAutoFit/>
          </a:bodyPr>
          <a:lstStyle/>
          <a:p>
            <a:r>
              <a:rPr lang="en-US" altLang="ja-JP" sz="2400" i="1"/>
              <a:t>…</a:t>
            </a:r>
            <a:endParaRPr lang="ja-JP" altLang="en-US" sz="2400" i="1"/>
          </a:p>
        </p:txBody>
      </p:sp>
      <p:sp>
        <p:nvSpPr>
          <p:cNvPr id="8219" name="テキスト ボックス 71"/>
          <p:cNvSpPr txBox="1">
            <a:spLocks noChangeArrowheads="1"/>
          </p:cNvSpPr>
          <p:nvPr/>
        </p:nvSpPr>
        <p:spPr bwMode="auto">
          <a:xfrm>
            <a:off x="1270000" y="4056063"/>
            <a:ext cx="6304483" cy="954107"/>
          </a:xfrm>
          <a:prstGeom prst="rect">
            <a:avLst/>
          </a:prstGeom>
          <a:noFill/>
          <a:ln w="9525">
            <a:noFill/>
            <a:miter lim="800000"/>
            <a:headEnd/>
            <a:tailEnd/>
          </a:ln>
        </p:spPr>
        <p:txBody>
          <a:bodyPr wrap="none">
            <a:spAutoFit/>
          </a:bodyPr>
          <a:lstStyle/>
          <a:p>
            <a:r>
              <a:rPr lang="en-US" altLang="ja-JP" sz="2800" dirty="0"/>
              <a:t> </a:t>
            </a:r>
            <a:r>
              <a:rPr lang="en-US" altLang="ja-JP" sz="2800" dirty="0" err="1"/>
              <a:t>numval</a:t>
            </a:r>
            <a:r>
              <a:rPr lang="en-US" altLang="ja-JP" sz="2800" dirty="0"/>
              <a:t> (d) = </a:t>
            </a:r>
            <a:r>
              <a:rPr lang="en-US" altLang="ja-JP" sz="2800" dirty="0" err="1"/>
              <a:t>digval</a:t>
            </a:r>
            <a:r>
              <a:rPr lang="en-US" altLang="ja-JP" sz="2800" dirty="0"/>
              <a:t> (d)</a:t>
            </a:r>
          </a:p>
          <a:p>
            <a:r>
              <a:rPr lang="en-US" altLang="ja-JP" sz="2800" dirty="0"/>
              <a:t> </a:t>
            </a:r>
            <a:r>
              <a:rPr lang="en-US" altLang="ja-JP" sz="2800" dirty="0" err="1"/>
              <a:t>numval</a:t>
            </a:r>
            <a:r>
              <a:rPr lang="en-US" altLang="ja-JP" sz="2800" dirty="0"/>
              <a:t> (</a:t>
            </a:r>
            <a:r>
              <a:rPr lang="en-US" altLang="ja-JP" sz="2800" dirty="0" err="1"/>
              <a:t>nd</a:t>
            </a:r>
            <a:r>
              <a:rPr lang="en-US" altLang="ja-JP" sz="2800" dirty="0"/>
              <a:t>) = </a:t>
            </a:r>
            <a:r>
              <a:rPr lang="en-US" altLang="ja-JP" sz="2800" dirty="0" err="1"/>
              <a:t>numval</a:t>
            </a:r>
            <a:r>
              <a:rPr lang="en-US" altLang="ja-JP" sz="2800" dirty="0"/>
              <a:t> (n) * </a:t>
            </a:r>
            <a:r>
              <a:rPr lang="en-US" altLang="ja-JP" sz="2800" i="1" dirty="0"/>
              <a:t>10</a:t>
            </a:r>
            <a:r>
              <a:rPr lang="en-US" altLang="ja-JP" sz="2800" dirty="0"/>
              <a:t> + </a:t>
            </a:r>
            <a:r>
              <a:rPr lang="en-US" altLang="ja-JP" sz="2800" dirty="0" err="1"/>
              <a:t>digval</a:t>
            </a:r>
            <a:r>
              <a:rPr lang="en-US" altLang="ja-JP" sz="2800" dirty="0"/>
              <a:t> (d)</a:t>
            </a:r>
            <a:endParaRPr lang="en-US" altLang="ja-JP" sz="2800" i="1" dirty="0"/>
          </a:p>
        </p:txBody>
      </p:sp>
      <p:sp>
        <p:nvSpPr>
          <p:cNvPr id="8220" name="テキスト ボックス 72"/>
          <p:cNvSpPr txBox="1">
            <a:spLocks noChangeArrowheads="1"/>
          </p:cNvSpPr>
          <p:nvPr/>
        </p:nvSpPr>
        <p:spPr bwMode="auto">
          <a:xfrm>
            <a:off x="2084388" y="5027613"/>
            <a:ext cx="4256087" cy="369887"/>
          </a:xfrm>
          <a:prstGeom prst="rect">
            <a:avLst/>
          </a:prstGeom>
          <a:noFill/>
          <a:ln w="9525">
            <a:noFill/>
            <a:miter lim="800000"/>
            <a:headEnd/>
            <a:tailEnd/>
          </a:ln>
        </p:spPr>
        <p:txBody>
          <a:bodyPr wrap="none">
            <a:spAutoFit/>
          </a:bodyPr>
          <a:lstStyle/>
          <a:p>
            <a:r>
              <a:rPr lang="ja-JP" altLang="en-US" sz="1800" dirty="0"/>
              <a:t>（</a:t>
            </a:r>
            <a:r>
              <a:rPr lang="en-US" altLang="ja-JP" sz="1800" dirty="0" err="1"/>
              <a:t>numval</a:t>
            </a:r>
            <a:r>
              <a:rPr lang="ja-JP" altLang="en-US" sz="1800" dirty="0"/>
              <a:t>関数は再帰的に定義されている）</a:t>
            </a:r>
          </a:p>
        </p:txBody>
      </p:sp>
      <p:sp>
        <p:nvSpPr>
          <p:cNvPr id="8221" name="テキスト ボックス 28"/>
          <p:cNvSpPr txBox="1">
            <a:spLocks noChangeArrowheads="1"/>
          </p:cNvSpPr>
          <p:nvPr/>
        </p:nvSpPr>
        <p:spPr bwMode="auto">
          <a:xfrm>
            <a:off x="758825" y="5461000"/>
            <a:ext cx="7575550" cy="1323975"/>
          </a:xfrm>
          <a:prstGeom prst="rect">
            <a:avLst/>
          </a:prstGeom>
          <a:noFill/>
          <a:ln w="9525">
            <a:noFill/>
            <a:miter lim="800000"/>
            <a:headEnd/>
            <a:tailEnd/>
          </a:ln>
        </p:spPr>
        <p:txBody>
          <a:bodyPr wrap="none">
            <a:spAutoFit/>
          </a:bodyPr>
          <a:lstStyle/>
          <a:p>
            <a:r>
              <a:rPr lang="ja-JP" altLang="en-US" sz="2000" dirty="0"/>
              <a:t>（例） </a:t>
            </a:r>
            <a:r>
              <a:rPr lang="en-US" altLang="ja-JP" sz="2000" dirty="0" err="1"/>
              <a:t>numval</a:t>
            </a:r>
            <a:r>
              <a:rPr lang="en-US" altLang="ja-JP" sz="2000" dirty="0"/>
              <a:t> (325) = </a:t>
            </a:r>
            <a:r>
              <a:rPr lang="en-US" altLang="ja-JP" sz="2000" dirty="0" err="1"/>
              <a:t>numval</a:t>
            </a:r>
            <a:r>
              <a:rPr lang="en-US" altLang="ja-JP" sz="2000" dirty="0"/>
              <a:t> (32)  * </a:t>
            </a:r>
            <a:r>
              <a:rPr lang="en-US" altLang="ja-JP" sz="2000" i="1" dirty="0"/>
              <a:t>10</a:t>
            </a:r>
            <a:r>
              <a:rPr lang="en-US" altLang="ja-JP" sz="2000" dirty="0"/>
              <a:t>  +  </a:t>
            </a:r>
            <a:r>
              <a:rPr lang="en-US" altLang="ja-JP" sz="2000" dirty="0" err="1"/>
              <a:t>digval</a:t>
            </a:r>
            <a:r>
              <a:rPr lang="en-US" altLang="ja-JP" sz="2000" dirty="0"/>
              <a:t> (5)</a:t>
            </a:r>
          </a:p>
          <a:p>
            <a:r>
              <a:rPr lang="en-US" altLang="ja-JP" sz="2000" dirty="0"/>
              <a:t>                              = (</a:t>
            </a:r>
            <a:r>
              <a:rPr lang="en-US" altLang="ja-JP" sz="2000" dirty="0" err="1"/>
              <a:t>numval</a:t>
            </a:r>
            <a:r>
              <a:rPr lang="en-US" altLang="ja-JP" sz="2000" dirty="0"/>
              <a:t> (3)  * </a:t>
            </a:r>
            <a:r>
              <a:rPr lang="en-US" altLang="ja-JP" sz="2000" i="1" dirty="0"/>
              <a:t>10</a:t>
            </a:r>
            <a:r>
              <a:rPr lang="en-US" altLang="ja-JP" sz="2000" dirty="0"/>
              <a:t>  +  </a:t>
            </a:r>
            <a:r>
              <a:rPr lang="en-US" altLang="ja-JP" sz="2000" dirty="0" err="1"/>
              <a:t>digval</a:t>
            </a:r>
            <a:r>
              <a:rPr lang="en-US" altLang="ja-JP" sz="2000" dirty="0"/>
              <a:t> (2))  * </a:t>
            </a:r>
            <a:r>
              <a:rPr lang="en-US" altLang="ja-JP" sz="2000" i="1" dirty="0"/>
              <a:t>10</a:t>
            </a:r>
            <a:r>
              <a:rPr lang="en-US" altLang="ja-JP" sz="2000" dirty="0"/>
              <a:t>  +  </a:t>
            </a:r>
            <a:r>
              <a:rPr lang="en-US" altLang="ja-JP" sz="2000" dirty="0" err="1"/>
              <a:t>digval</a:t>
            </a:r>
            <a:r>
              <a:rPr lang="en-US" altLang="ja-JP" sz="2000" dirty="0"/>
              <a:t> (</a:t>
            </a:r>
            <a:r>
              <a:rPr lang="en-US" altLang="ja-JP" sz="2000" i="1" dirty="0"/>
              <a:t>5</a:t>
            </a:r>
            <a:r>
              <a:rPr lang="en-US" altLang="ja-JP" sz="2000" dirty="0"/>
              <a:t>)</a:t>
            </a:r>
          </a:p>
          <a:p>
            <a:r>
              <a:rPr lang="en-US" altLang="ja-JP" sz="2000" dirty="0"/>
              <a:t>                              = (</a:t>
            </a:r>
            <a:r>
              <a:rPr lang="en-US" altLang="ja-JP" sz="2000" i="1" dirty="0"/>
              <a:t>3</a:t>
            </a:r>
            <a:r>
              <a:rPr lang="en-US" altLang="ja-JP" sz="2000" dirty="0"/>
              <a:t> * </a:t>
            </a:r>
            <a:r>
              <a:rPr lang="en-US" altLang="ja-JP" sz="2000" i="1" dirty="0"/>
              <a:t>10</a:t>
            </a:r>
            <a:r>
              <a:rPr lang="en-US" altLang="ja-JP" sz="2000" dirty="0"/>
              <a:t>  +  </a:t>
            </a:r>
            <a:r>
              <a:rPr lang="en-US" altLang="ja-JP" sz="2000" i="1" dirty="0"/>
              <a:t>2</a:t>
            </a:r>
            <a:r>
              <a:rPr lang="en-US" altLang="ja-JP" sz="2000" dirty="0"/>
              <a:t>) </a:t>
            </a:r>
            <a:r>
              <a:rPr lang="ja-JP" altLang="en-US" sz="2000" dirty="0"/>
              <a:t> </a:t>
            </a:r>
            <a:r>
              <a:rPr lang="en-US" altLang="ja-JP" sz="2000" dirty="0"/>
              <a:t>* </a:t>
            </a:r>
            <a:r>
              <a:rPr lang="en-US" altLang="ja-JP" sz="2000" i="1" dirty="0"/>
              <a:t>10 </a:t>
            </a:r>
            <a:r>
              <a:rPr lang="en-US" altLang="ja-JP" sz="2000" dirty="0"/>
              <a:t> +  </a:t>
            </a:r>
            <a:r>
              <a:rPr lang="en-US" altLang="ja-JP" sz="2000" i="1" dirty="0"/>
              <a:t>5</a:t>
            </a:r>
          </a:p>
          <a:p>
            <a:r>
              <a:rPr lang="en-US" altLang="ja-JP" sz="2000" dirty="0"/>
              <a:t>                              = </a:t>
            </a:r>
            <a:r>
              <a:rPr lang="en-US" altLang="ja-JP" sz="2000" i="1" dirty="0"/>
              <a:t>325</a:t>
            </a:r>
            <a:endParaRPr lang="ja-JP" altLang="en-US" sz="2000" i="1" dirty="0"/>
          </a:p>
        </p:txBody>
      </p:sp>
      <p:sp>
        <p:nvSpPr>
          <p:cNvPr id="8222" name="テキスト ボックス 12"/>
          <p:cNvSpPr txBox="1">
            <a:spLocks noChangeArrowheads="1"/>
          </p:cNvSpPr>
          <p:nvPr/>
        </p:nvSpPr>
        <p:spPr bwMode="auto">
          <a:xfrm>
            <a:off x="1430338" y="2979738"/>
            <a:ext cx="468398" cy="584775"/>
          </a:xfrm>
          <a:prstGeom prst="rect">
            <a:avLst/>
          </a:prstGeom>
          <a:noFill/>
          <a:ln w="9525">
            <a:noFill/>
            <a:miter lim="800000"/>
            <a:headEnd/>
            <a:tailEnd/>
          </a:ln>
        </p:spPr>
        <p:txBody>
          <a:bodyPr wrap="none">
            <a:spAutoFit/>
          </a:bodyPr>
          <a:lstStyle/>
          <a:p>
            <a:r>
              <a:rPr lang="en-US" altLang="ja-JP" sz="3200" i="1"/>
              <a:t>…</a:t>
            </a:r>
            <a:endParaRPr lang="ja-JP" altLang="en-US" sz="3200" i="1"/>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685800" y="198438"/>
            <a:ext cx="7772400" cy="1143000"/>
          </a:xfrm>
          <a:noFill/>
        </p:spPr>
        <p:txBody>
          <a:bodyPr/>
          <a:lstStyle/>
          <a:p>
            <a:pPr eaLnBrk="1" hangingPunct="1"/>
            <a:r>
              <a:rPr lang="ja-JP" altLang="en-US" smtClean="0"/>
              <a:t>構文と意味</a:t>
            </a:r>
          </a:p>
        </p:txBody>
      </p:sp>
      <p:sp>
        <p:nvSpPr>
          <p:cNvPr id="9219" name="テキスト ボックス 34"/>
          <p:cNvSpPr txBox="1">
            <a:spLocks noChangeArrowheads="1"/>
          </p:cNvSpPr>
          <p:nvPr/>
        </p:nvSpPr>
        <p:spPr bwMode="auto">
          <a:xfrm>
            <a:off x="812800" y="1457325"/>
            <a:ext cx="7358063" cy="954107"/>
          </a:xfrm>
          <a:prstGeom prst="rect">
            <a:avLst/>
          </a:prstGeom>
          <a:noFill/>
          <a:ln w="9525">
            <a:noFill/>
            <a:miter lim="800000"/>
            <a:headEnd/>
            <a:tailEnd/>
          </a:ln>
        </p:spPr>
        <p:txBody>
          <a:bodyPr>
            <a:spAutoFit/>
          </a:bodyPr>
          <a:lstStyle/>
          <a:p>
            <a:r>
              <a:rPr lang="ja-JP" altLang="en-US" sz="2800" dirty="0"/>
              <a:t>プログラミング言語の意味の定義（単純な命令型言語の場合）</a:t>
            </a:r>
          </a:p>
        </p:txBody>
      </p:sp>
      <p:cxnSp>
        <p:nvCxnSpPr>
          <p:cNvPr id="45" name="曲線コネクタ 44"/>
          <p:cNvCxnSpPr/>
          <p:nvPr/>
        </p:nvCxnSpPr>
        <p:spPr>
          <a:xfrm>
            <a:off x="2767013" y="3051175"/>
            <a:ext cx="2714625" cy="1588"/>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47" name="円/楕円 46"/>
          <p:cNvSpPr/>
          <p:nvPr/>
        </p:nvSpPr>
        <p:spPr>
          <a:xfrm>
            <a:off x="714375" y="2481263"/>
            <a:ext cx="1928813" cy="113665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9222" name="テキスト ボックス 22"/>
          <p:cNvSpPr txBox="1">
            <a:spLocks noChangeArrowheads="1"/>
          </p:cNvSpPr>
          <p:nvPr/>
        </p:nvSpPr>
        <p:spPr bwMode="auto">
          <a:xfrm>
            <a:off x="523875" y="4497388"/>
            <a:ext cx="4260850" cy="2308225"/>
          </a:xfrm>
          <a:prstGeom prst="rect">
            <a:avLst/>
          </a:prstGeom>
          <a:noFill/>
          <a:ln w="9525">
            <a:noFill/>
            <a:miter lim="800000"/>
            <a:headEnd/>
            <a:tailEnd/>
          </a:ln>
        </p:spPr>
        <p:txBody>
          <a:bodyPr>
            <a:spAutoFit/>
          </a:bodyPr>
          <a:lstStyle/>
          <a:p>
            <a:r>
              <a:rPr lang="en-US" altLang="ja-JP" sz="2400"/>
              <a:t> begin</a:t>
            </a:r>
          </a:p>
          <a:p>
            <a:r>
              <a:rPr lang="en-US" altLang="ja-JP" sz="2400"/>
              <a:t>   fac := 1;</a:t>
            </a:r>
          </a:p>
          <a:p>
            <a:r>
              <a:rPr lang="en-US" altLang="ja-JP" sz="2400"/>
              <a:t>   while n &gt; 0 do</a:t>
            </a:r>
          </a:p>
          <a:p>
            <a:r>
              <a:rPr lang="en-US" altLang="ja-JP" sz="2400"/>
              <a:t>     begin fac := fac * n; n := n -1 end</a:t>
            </a:r>
          </a:p>
          <a:p>
            <a:r>
              <a:rPr lang="en-US" altLang="ja-JP" sz="2400"/>
              <a:t>end</a:t>
            </a:r>
          </a:p>
        </p:txBody>
      </p:sp>
      <p:sp>
        <p:nvSpPr>
          <p:cNvPr id="9223" name="テキスト ボックス 39"/>
          <p:cNvSpPr txBox="1">
            <a:spLocks noChangeArrowheads="1"/>
          </p:cNvSpPr>
          <p:nvPr/>
        </p:nvSpPr>
        <p:spPr bwMode="auto">
          <a:xfrm>
            <a:off x="814388" y="3616325"/>
            <a:ext cx="1563687" cy="461963"/>
          </a:xfrm>
          <a:prstGeom prst="rect">
            <a:avLst/>
          </a:prstGeom>
          <a:noFill/>
          <a:ln w="9525">
            <a:noFill/>
            <a:miter lim="800000"/>
            <a:headEnd/>
            <a:tailEnd/>
          </a:ln>
        </p:spPr>
        <p:txBody>
          <a:bodyPr wrap="none">
            <a:spAutoFit/>
          </a:bodyPr>
          <a:lstStyle/>
          <a:p>
            <a:r>
              <a:rPr lang="ja-JP" altLang="en-US" sz="2400" dirty="0"/>
              <a:t>プログラム</a:t>
            </a:r>
            <a:endParaRPr lang="ja-JP" altLang="en-US" dirty="0"/>
          </a:p>
        </p:txBody>
      </p:sp>
      <p:sp>
        <p:nvSpPr>
          <p:cNvPr id="9224" name="テキスト ボックス 56"/>
          <p:cNvSpPr txBox="1">
            <a:spLocks noChangeArrowheads="1"/>
          </p:cNvSpPr>
          <p:nvPr/>
        </p:nvSpPr>
        <p:spPr bwMode="auto">
          <a:xfrm>
            <a:off x="3916363" y="2501900"/>
            <a:ext cx="393700" cy="523875"/>
          </a:xfrm>
          <a:prstGeom prst="rect">
            <a:avLst/>
          </a:prstGeom>
          <a:noFill/>
          <a:ln w="9525">
            <a:noFill/>
            <a:miter lim="800000"/>
            <a:headEnd/>
            <a:tailEnd/>
          </a:ln>
        </p:spPr>
        <p:txBody>
          <a:bodyPr wrap="none">
            <a:spAutoFit/>
          </a:bodyPr>
          <a:lstStyle/>
          <a:p>
            <a:r>
              <a:rPr lang="en-US" altLang="ja-JP"/>
              <a:t> f</a:t>
            </a:r>
            <a:endParaRPr lang="ja-JP" altLang="en-US"/>
          </a:p>
        </p:txBody>
      </p:sp>
      <p:sp>
        <p:nvSpPr>
          <p:cNvPr id="9225" name="テキスト ボックス 40"/>
          <p:cNvSpPr txBox="1">
            <a:spLocks noChangeArrowheads="1"/>
          </p:cNvSpPr>
          <p:nvPr/>
        </p:nvSpPr>
        <p:spPr bwMode="auto">
          <a:xfrm>
            <a:off x="5060950" y="3605213"/>
            <a:ext cx="3203575" cy="461962"/>
          </a:xfrm>
          <a:prstGeom prst="rect">
            <a:avLst/>
          </a:prstGeom>
          <a:noFill/>
          <a:ln w="9525">
            <a:noFill/>
            <a:miter lim="800000"/>
            <a:headEnd/>
            <a:tailEnd/>
          </a:ln>
        </p:spPr>
        <p:txBody>
          <a:bodyPr wrap="none">
            <a:spAutoFit/>
          </a:bodyPr>
          <a:lstStyle/>
          <a:p>
            <a:r>
              <a:rPr lang="ja-JP" altLang="en-US" sz="2400" dirty="0"/>
              <a:t>状態から状態への関数</a:t>
            </a:r>
          </a:p>
        </p:txBody>
      </p:sp>
      <p:sp>
        <p:nvSpPr>
          <p:cNvPr id="51" name="円/楕円 50"/>
          <p:cNvSpPr/>
          <p:nvPr/>
        </p:nvSpPr>
        <p:spPr>
          <a:xfrm>
            <a:off x="5624513" y="2517775"/>
            <a:ext cx="2035175" cy="106045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p>
        </p:txBody>
      </p:sp>
      <p:sp>
        <p:nvSpPr>
          <p:cNvPr id="9227" name="テキスト ボックス 28"/>
          <p:cNvSpPr txBox="1">
            <a:spLocks noChangeArrowheads="1"/>
          </p:cNvSpPr>
          <p:nvPr/>
        </p:nvSpPr>
        <p:spPr bwMode="auto">
          <a:xfrm>
            <a:off x="317500" y="4130675"/>
            <a:ext cx="2111375" cy="523875"/>
          </a:xfrm>
          <a:prstGeom prst="rect">
            <a:avLst/>
          </a:prstGeom>
          <a:noFill/>
          <a:ln w="9525">
            <a:noFill/>
            <a:miter lim="800000"/>
            <a:headEnd/>
            <a:tailEnd/>
          </a:ln>
        </p:spPr>
        <p:txBody>
          <a:bodyPr wrap="none">
            <a:spAutoFit/>
          </a:bodyPr>
          <a:lstStyle/>
          <a:p>
            <a:r>
              <a:rPr lang="en-US" altLang="ja-JP"/>
              <a:t>[</a:t>
            </a:r>
            <a:r>
              <a:rPr lang="ja-JP" altLang="en-US" sz="2400"/>
              <a:t>プログラム例</a:t>
            </a:r>
            <a:r>
              <a:rPr lang="en-US" altLang="ja-JP"/>
              <a:t>]</a:t>
            </a:r>
            <a:endParaRPr lang="ja-JP" altLang="en-US"/>
          </a:p>
        </p:txBody>
      </p:sp>
      <p:cxnSp>
        <p:nvCxnSpPr>
          <p:cNvPr id="32" name="曲線コネクタ 31"/>
          <p:cNvCxnSpPr/>
          <p:nvPr/>
        </p:nvCxnSpPr>
        <p:spPr>
          <a:xfrm flipV="1">
            <a:off x="3443288" y="5354638"/>
            <a:ext cx="1671637" cy="34925"/>
          </a:xfrm>
          <a:prstGeom prst="curved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9229" name="テキスト ボックス 32"/>
          <p:cNvSpPr txBox="1">
            <a:spLocks noChangeArrowheads="1"/>
          </p:cNvSpPr>
          <p:nvPr/>
        </p:nvSpPr>
        <p:spPr bwMode="auto">
          <a:xfrm>
            <a:off x="4033838" y="4789488"/>
            <a:ext cx="395287" cy="522287"/>
          </a:xfrm>
          <a:prstGeom prst="rect">
            <a:avLst/>
          </a:prstGeom>
          <a:noFill/>
          <a:ln w="9525">
            <a:noFill/>
            <a:miter lim="800000"/>
            <a:headEnd/>
            <a:tailEnd/>
          </a:ln>
        </p:spPr>
        <p:txBody>
          <a:bodyPr wrap="none">
            <a:spAutoFit/>
          </a:bodyPr>
          <a:lstStyle/>
          <a:p>
            <a:r>
              <a:rPr lang="en-US" altLang="ja-JP"/>
              <a:t> f</a:t>
            </a:r>
            <a:endParaRPr lang="ja-JP" altLang="en-US"/>
          </a:p>
        </p:txBody>
      </p:sp>
      <p:sp>
        <p:nvSpPr>
          <p:cNvPr id="9230" name="テキスト ボックス 35"/>
          <p:cNvSpPr txBox="1">
            <a:spLocks noChangeArrowheads="1"/>
          </p:cNvSpPr>
          <p:nvPr/>
        </p:nvSpPr>
        <p:spPr bwMode="auto">
          <a:xfrm>
            <a:off x="5229225" y="4772025"/>
            <a:ext cx="3636963" cy="1201738"/>
          </a:xfrm>
          <a:prstGeom prst="rect">
            <a:avLst/>
          </a:prstGeom>
          <a:noFill/>
          <a:ln w="9525">
            <a:noFill/>
            <a:miter lim="800000"/>
            <a:headEnd/>
            <a:tailEnd/>
          </a:ln>
        </p:spPr>
        <p:txBody>
          <a:bodyPr>
            <a:spAutoFit/>
          </a:bodyPr>
          <a:lstStyle/>
          <a:p>
            <a:r>
              <a:rPr lang="ja-JP" altLang="en-US" sz="2400"/>
              <a:t>変数</a:t>
            </a:r>
            <a:r>
              <a:rPr lang="en-US" altLang="ja-JP" sz="2400"/>
              <a:t>fac</a:t>
            </a:r>
            <a:r>
              <a:rPr lang="ja-JP" altLang="en-US" sz="2400"/>
              <a:t>の値を</a:t>
            </a:r>
            <a:r>
              <a:rPr lang="en-US" altLang="ja-JP" sz="2400"/>
              <a:t>n</a:t>
            </a:r>
            <a:r>
              <a:rPr lang="ja-JP" altLang="en-US" sz="2400"/>
              <a:t>の階乗に変化させる、状態から状態への関数</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658813" y="371475"/>
            <a:ext cx="7772400" cy="1143000"/>
          </a:xfrm>
          <a:noFill/>
        </p:spPr>
        <p:txBody>
          <a:bodyPr/>
          <a:lstStyle/>
          <a:p>
            <a:pPr eaLnBrk="1" hangingPunct="1"/>
            <a:r>
              <a:rPr lang="ja-JP" altLang="en-US" smtClean="0"/>
              <a:t>構文と意味</a:t>
            </a:r>
          </a:p>
        </p:txBody>
      </p:sp>
      <p:sp>
        <p:nvSpPr>
          <p:cNvPr id="10243" name="テキスト ボックス 28"/>
          <p:cNvSpPr txBox="1">
            <a:spLocks noChangeArrowheads="1"/>
          </p:cNvSpPr>
          <p:nvPr/>
        </p:nvSpPr>
        <p:spPr bwMode="auto">
          <a:xfrm>
            <a:off x="773113" y="1781175"/>
            <a:ext cx="7562850" cy="1200150"/>
          </a:xfrm>
          <a:prstGeom prst="rect">
            <a:avLst/>
          </a:prstGeom>
          <a:noFill/>
          <a:ln w="9525">
            <a:noFill/>
            <a:miter lim="800000"/>
            <a:headEnd/>
            <a:tailEnd/>
          </a:ln>
        </p:spPr>
        <p:txBody>
          <a:bodyPr>
            <a:spAutoFit/>
          </a:bodyPr>
          <a:lstStyle/>
          <a:p>
            <a:r>
              <a:rPr lang="ja-JP" altLang="en-US" sz="2400" dirty="0"/>
              <a:t>これまでに見た数字列の意味の定義法のような意味定義法は、表示的意味論</a:t>
            </a:r>
            <a:r>
              <a:rPr lang="en-US" altLang="ja-JP" sz="2400" dirty="0"/>
              <a:t>(</a:t>
            </a:r>
            <a:r>
              <a:rPr lang="en-US" altLang="ja-JP" sz="2400" dirty="0" err="1"/>
              <a:t>denotational</a:t>
            </a:r>
            <a:r>
              <a:rPr lang="en-US" altLang="ja-JP" sz="2400" dirty="0"/>
              <a:t> semantics)</a:t>
            </a:r>
            <a:r>
              <a:rPr lang="ja-JP" altLang="en-US" sz="2400" dirty="0"/>
              <a:t>と呼ばれ、</a:t>
            </a:r>
            <a:r>
              <a:rPr lang="en-US" altLang="ja-JP" sz="2400" dirty="0"/>
              <a:t>Dana Scott</a:t>
            </a:r>
            <a:r>
              <a:rPr lang="ja-JP" altLang="en-US" sz="2400" dirty="0"/>
              <a:t>が提唱したものである。</a:t>
            </a:r>
          </a:p>
        </p:txBody>
      </p:sp>
      <p:sp>
        <p:nvSpPr>
          <p:cNvPr id="10244" name="テキスト ボックス 29"/>
          <p:cNvSpPr txBox="1">
            <a:spLocks noChangeArrowheads="1"/>
          </p:cNvSpPr>
          <p:nvPr/>
        </p:nvSpPr>
        <p:spPr bwMode="auto">
          <a:xfrm>
            <a:off x="773113" y="3995738"/>
            <a:ext cx="5489575" cy="1570037"/>
          </a:xfrm>
          <a:prstGeom prst="rect">
            <a:avLst/>
          </a:prstGeom>
          <a:noFill/>
          <a:ln w="9525">
            <a:noFill/>
            <a:miter lim="800000"/>
            <a:headEnd/>
            <a:tailEnd/>
          </a:ln>
        </p:spPr>
        <p:txBody>
          <a:bodyPr wrap="none">
            <a:spAutoFit/>
          </a:bodyPr>
          <a:lstStyle/>
          <a:p>
            <a:r>
              <a:rPr lang="ja-JP" altLang="en-US" sz="2400"/>
              <a:t>この他の形式的な意味定義法として、</a:t>
            </a:r>
            <a:endParaRPr lang="en-US" altLang="ja-JP" sz="2400"/>
          </a:p>
          <a:p>
            <a:r>
              <a:rPr lang="en-US" altLang="ja-JP" sz="2400"/>
              <a:t>   </a:t>
            </a:r>
            <a:r>
              <a:rPr lang="ja-JP" altLang="en-US" sz="2400"/>
              <a:t>操作的意味論</a:t>
            </a:r>
            <a:r>
              <a:rPr lang="en-US" altLang="ja-JP" sz="2400"/>
              <a:t>(operational semantics)</a:t>
            </a:r>
          </a:p>
          <a:p>
            <a:r>
              <a:rPr lang="en-US" altLang="ja-JP" sz="2400"/>
              <a:t>   </a:t>
            </a:r>
            <a:r>
              <a:rPr lang="ja-JP" altLang="en-US" sz="2400"/>
              <a:t>公理的意味論</a:t>
            </a:r>
            <a:r>
              <a:rPr lang="en-US" altLang="ja-JP" sz="2400"/>
              <a:t>(axiomatic semantics)</a:t>
            </a:r>
          </a:p>
          <a:p>
            <a:r>
              <a:rPr lang="ja-JP" altLang="en-US" sz="2400"/>
              <a:t>がある。</a:t>
            </a:r>
          </a:p>
        </p:txBody>
      </p:sp>
      <p:sp>
        <p:nvSpPr>
          <p:cNvPr id="10245" name="テキスト ボックス 30"/>
          <p:cNvSpPr txBox="1">
            <a:spLocks noChangeArrowheads="1"/>
          </p:cNvSpPr>
          <p:nvPr/>
        </p:nvSpPr>
        <p:spPr bwMode="auto">
          <a:xfrm>
            <a:off x="1381125" y="5821363"/>
            <a:ext cx="5992346" cy="646331"/>
          </a:xfrm>
          <a:prstGeom prst="rect">
            <a:avLst/>
          </a:prstGeom>
          <a:noFill/>
          <a:ln w="9525">
            <a:noFill/>
            <a:miter lim="800000"/>
            <a:headEnd/>
            <a:tailEnd/>
          </a:ln>
        </p:spPr>
        <p:txBody>
          <a:bodyPr wrap="none">
            <a:spAutoFit/>
          </a:bodyPr>
          <a:lstStyle/>
          <a:p>
            <a:r>
              <a:rPr lang="ja-JP" altLang="en-US" sz="1800" dirty="0"/>
              <a:t>日本語、英語など</a:t>
            </a:r>
            <a:r>
              <a:rPr lang="ja-JP" altLang="en-US" sz="1800" dirty="0" smtClean="0"/>
              <a:t>、通常は自然</a:t>
            </a:r>
            <a:r>
              <a:rPr lang="ja-JP" altLang="en-US" sz="1800" dirty="0"/>
              <a:t>言語で意味を記述</a:t>
            </a:r>
            <a:r>
              <a:rPr lang="ja-JP" altLang="en-US" sz="1800" dirty="0" smtClean="0"/>
              <a:t>するが</a:t>
            </a:r>
            <a:r>
              <a:rPr lang="ja-JP" altLang="en-US" sz="1800" dirty="0"/>
              <a:t>、</a:t>
            </a:r>
            <a:endParaRPr lang="en-US" altLang="ja-JP" sz="1800" dirty="0"/>
          </a:p>
          <a:p>
            <a:r>
              <a:rPr lang="ja-JP" altLang="en-US" sz="1800" dirty="0"/>
              <a:t>あいまいさが残る場合があり、厳密な議論には適さない。</a:t>
            </a:r>
            <a:endParaRPr lang="en-US" altLang="ja-JP" sz="1800" dirty="0"/>
          </a:p>
        </p:txBody>
      </p:sp>
      <p:sp>
        <p:nvSpPr>
          <p:cNvPr id="10246" name="テキスト ボックス 5"/>
          <p:cNvSpPr txBox="1">
            <a:spLocks noChangeArrowheads="1"/>
          </p:cNvSpPr>
          <p:nvPr/>
        </p:nvSpPr>
        <p:spPr bwMode="auto">
          <a:xfrm>
            <a:off x="773113" y="3067050"/>
            <a:ext cx="7643812" cy="830263"/>
          </a:xfrm>
          <a:prstGeom prst="rect">
            <a:avLst/>
          </a:prstGeom>
          <a:noFill/>
          <a:ln w="9525">
            <a:noFill/>
            <a:miter lim="800000"/>
            <a:headEnd/>
            <a:tailEnd/>
          </a:ln>
        </p:spPr>
        <p:txBody>
          <a:bodyPr>
            <a:spAutoFit/>
          </a:bodyPr>
          <a:lstStyle/>
          <a:p>
            <a:r>
              <a:rPr lang="ja-JP" altLang="en-US" sz="2400"/>
              <a:t>プログラミング言語の意味について形式的</a:t>
            </a:r>
            <a:r>
              <a:rPr lang="en-US" altLang="ja-JP" sz="2400"/>
              <a:t>(formal)</a:t>
            </a:r>
            <a:r>
              <a:rPr lang="ja-JP" altLang="en-US" sz="2400"/>
              <a:t>に論じたい場合に用いられる。</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文献リスト</a:t>
            </a:r>
            <a:endParaRPr kumimoji="1" lang="ja-JP" altLang="en-US" dirty="0"/>
          </a:p>
        </p:txBody>
      </p:sp>
      <p:sp>
        <p:nvSpPr>
          <p:cNvPr id="3" name="コンテンツ プレースホルダ 2"/>
          <p:cNvSpPr>
            <a:spLocks noGrp="1"/>
          </p:cNvSpPr>
          <p:nvPr>
            <p:ph idx="1"/>
          </p:nvPr>
        </p:nvSpPr>
        <p:spPr>
          <a:xfrm>
            <a:off x="214282" y="1785926"/>
            <a:ext cx="8686800" cy="4329130"/>
          </a:xfrm>
        </p:spPr>
        <p:txBody>
          <a:bodyPr>
            <a:normAutofit lnSpcReduction="10000"/>
          </a:bodyPr>
          <a:lstStyle/>
          <a:p>
            <a:r>
              <a:rPr lang="en-US" altLang="ja-JP" sz="2800" dirty="0" smtClean="0"/>
              <a:t>A. M. Turing,  </a:t>
            </a:r>
          </a:p>
          <a:p>
            <a:pPr>
              <a:buNone/>
            </a:pPr>
            <a:r>
              <a:rPr lang="en-US" altLang="ja-JP" sz="2800" dirty="0" smtClean="0"/>
              <a:t>       On Computable Numbers, with an Application to the </a:t>
            </a:r>
            <a:r>
              <a:rPr lang="en-US" altLang="ja-JP" sz="2800" dirty="0" err="1" smtClean="0"/>
              <a:t>Entscheidungsproblem</a:t>
            </a:r>
            <a:endParaRPr lang="en-US" altLang="ja-JP" sz="2800" dirty="0" smtClean="0"/>
          </a:p>
          <a:p>
            <a:pPr>
              <a:buNone/>
            </a:pPr>
            <a:r>
              <a:rPr lang="en-US" altLang="ja-JP" sz="2800" dirty="0" smtClean="0"/>
              <a:t>       Proceedings of the London Mathematical Society, ser. 2, vol. 42, pp. 230 – 265, 1937</a:t>
            </a:r>
          </a:p>
          <a:p>
            <a:r>
              <a:rPr lang="en-US" altLang="ja-JP" sz="2800" dirty="0" smtClean="0"/>
              <a:t>Alonzo Church, </a:t>
            </a:r>
          </a:p>
          <a:p>
            <a:pPr>
              <a:buNone/>
            </a:pPr>
            <a:r>
              <a:rPr lang="en-US" altLang="ja-JP" sz="2800" dirty="0" smtClean="0"/>
              <a:t>       An unsolvable problem of elementary number theory,  </a:t>
            </a:r>
          </a:p>
          <a:p>
            <a:pPr>
              <a:buNone/>
            </a:pPr>
            <a:r>
              <a:rPr lang="en-US" altLang="ja-JP" sz="2800" dirty="0" smtClean="0"/>
              <a:t>       American Journal of Mathematics, vol. 58 , pp. 345-363, 1936.</a:t>
            </a:r>
          </a:p>
          <a:p>
            <a:pPr lvl="1">
              <a:buNone/>
            </a:pPr>
            <a:endParaRPr kumimoji="1" lang="ja-JP" altLang="en-US"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246</TotalTime>
  <Words>1849</Words>
  <Application>Microsoft Office PowerPoint</Application>
  <PresentationFormat>画面に合わせる (4:3)</PresentationFormat>
  <Paragraphs>262</Paragraphs>
  <Slides>24</Slides>
  <Notes>16</Notes>
  <HiddenSlides>0</HiddenSlides>
  <MMClips>0</MMClips>
  <ScaleCrop>false</ScaleCrop>
  <HeadingPairs>
    <vt:vector size="4" baseType="variant">
      <vt:variant>
        <vt:lpstr>テーマ</vt:lpstr>
      </vt:variant>
      <vt:variant>
        <vt:i4>1</vt:i4>
      </vt:variant>
      <vt:variant>
        <vt:lpstr>スライド タイトル</vt:lpstr>
      </vt:variant>
      <vt:variant>
        <vt:i4>24</vt:i4>
      </vt:variant>
    </vt:vector>
  </HeadingPairs>
  <TitlesOfParts>
    <vt:vector size="25" baseType="lpstr">
      <vt:lpstr>Office テーマ</vt:lpstr>
      <vt:lpstr>プログラミング言語論 第１回  導入</vt:lpstr>
      <vt:lpstr>講義のスケジュール</vt:lpstr>
      <vt:lpstr>参考書</vt:lpstr>
      <vt:lpstr>連絡先</vt:lpstr>
      <vt:lpstr>計算機科学の誕生の経緯</vt:lpstr>
      <vt:lpstr>チューリングマシン</vt:lpstr>
      <vt:lpstr>コンピュータでの情報処理の原理</vt:lpstr>
      <vt:lpstr>チューリングマシンでできること</vt:lpstr>
      <vt:lpstr>万能チューリングマシン（Ⅰ）</vt:lpstr>
      <vt:lpstr>万能チューリングマシン（Ⅱ）</vt:lpstr>
      <vt:lpstr>チューリングマシンでできないこと</vt:lpstr>
      <vt:lpstr>プログラムとは</vt:lpstr>
      <vt:lpstr>プログラミング言語</vt:lpstr>
      <vt:lpstr>プログラミング言語の例</vt:lpstr>
      <vt:lpstr>インタープリタとコンパイラ</vt:lpstr>
      <vt:lpstr>プログラミング言語の定義</vt:lpstr>
      <vt:lpstr>プログラミング言語の定義</vt:lpstr>
      <vt:lpstr>構文と意味</vt:lpstr>
      <vt:lpstr>構文と意味</vt:lpstr>
      <vt:lpstr>構文と意味</vt:lpstr>
      <vt:lpstr>構文と意味</vt:lpstr>
      <vt:lpstr>構文と意味</vt:lpstr>
      <vt:lpstr>構文と意味</vt:lpstr>
      <vt:lpstr>文献リスト</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 第一回</dc:title>
  <dc:creator>sasano</dc:creator>
  <cp:lastModifiedBy>sasano</cp:lastModifiedBy>
  <cp:revision>97</cp:revision>
  <dcterms:created xsi:type="dcterms:W3CDTF">2009-09-09T07:43:02Z</dcterms:created>
  <dcterms:modified xsi:type="dcterms:W3CDTF">2010-09-19T10:38:14Z</dcterms:modified>
</cp:coreProperties>
</file>