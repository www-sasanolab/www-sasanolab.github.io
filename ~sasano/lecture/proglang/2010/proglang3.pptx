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1" r:id="rId3"/>
    <p:sldId id="258" r:id="rId4"/>
    <p:sldId id="259" r:id="rId5"/>
    <p:sldId id="260" r:id="rId6"/>
    <p:sldId id="263" r:id="rId7"/>
    <p:sldId id="261" r:id="rId8"/>
    <p:sldId id="262" r:id="rId9"/>
    <p:sldId id="264" r:id="rId10"/>
    <p:sldId id="272" r:id="rId11"/>
    <p:sldId id="265" r:id="rId12"/>
    <p:sldId id="266" r:id="rId13"/>
    <p:sldId id="268" r:id="rId14"/>
    <p:sldId id="269" r:id="rId15"/>
    <p:sldId id="270" r:id="rId16"/>
    <p:sldId id="271" r:id="rId17"/>
    <p:sldId id="273" r:id="rId18"/>
    <p:sldId id="277" r:id="rId19"/>
    <p:sldId id="274" r:id="rId20"/>
    <p:sldId id="275" r:id="rId21"/>
    <p:sldId id="276" r:id="rId22"/>
    <p:sldId id="278" r:id="rId23"/>
    <p:sldId id="279" r:id="rId24"/>
    <p:sldId id="280"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5" d="100"/>
          <a:sy n="45" d="100"/>
        </p:scale>
        <p:origin x="-648" y="-10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2010/10/3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2010/10/3</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2010/10/3</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2010/10/3</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2010/10/3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2010/10/3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2010/10/3</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799" y="1714488"/>
            <a:ext cx="7803107" cy="2734682"/>
          </a:xfrm>
        </p:spPr>
        <p:txBody>
          <a:bodyPr>
            <a:normAutofit fontScale="90000"/>
          </a:bodyPr>
          <a:lstStyle/>
          <a:p>
            <a:r>
              <a:rPr kumimoji="1" lang="ja-JP" altLang="en-US" dirty="0" smtClean="0"/>
              <a:t>プログラミング言語論</a:t>
            </a:r>
            <a:r>
              <a:rPr kumimoji="1" lang="en-US" altLang="ja-JP" dirty="0" smtClean="0"/>
              <a:t/>
            </a:r>
            <a:br>
              <a:rPr kumimoji="1" lang="en-US" altLang="ja-JP" dirty="0" smtClean="0"/>
            </a:br>
            <a:r>
              <a:rPr lang="ja-JP" altLang="en-US" dirty="0" smtClean="0"/>
              <a:t>第３回</a:t>
            </a:r>
            <a:r>
              <a:rPr lang="en-US" altLang="ja-JP" dirty="0" smtClean="0"/>
              <a:t/>
            </a:r>
            <a:br>
              <a:rPr lang="en-US" altLang="ja-JP" dirty="0" smtClean="0"/>
            </a:br>
            <a:r>
              <a:rPr lang="ja-JP" altLang="en-US" dirty="0" smtClean="0"/>
              <a:t>命令型言語</a:t>
            </a:r>
            <a:r>
              <a:rPr lang="en-US" altLang="ja-JP" dirty="0" smtClean="0"/>
              <a:t/>
            </a:r>
            <a:br>
              <a:rPr lang="en-US" altLang="ja-JP" dirty="0" smtClean="0"/>
            </a:br>
            <a:r>
              <a:rPr lang="ja-JP" altLang="en-US" dirty="0" smtClean="0"/>
              <a:t>（</a:t>
            </a:r>
            <a:r>
              <a:rPr lang="ja-JP" altLang="en-US" sz="3100" dirty="0" smtClean="0"/>
              <a:t>構造化プログラミング、制御フロー）</a:t>
            </a:r>
            <a:endParaRPr kumimoji="1" lang="ja-JP" altLang="en-US" dirty="0"/>
          </a:p>
        </p:txBody>
      </p:sp>
      <p:sp>
        <p:nvSpPr>
          <p:cNvPr id="4" name="テキスト ボックス 3"/>
          <p:cNvSpPr txBox="1"/>
          <p:nvPr/>
        </p:nvSpPr>
        <p:spPr>
          <a:xfrm>
            <a:off x="2725060" y="5107071"/>
            <a:ext cx="3541354" cy="523220"/>
          </a:xfrm>
          <a:prstGeom prst="rect">
            <a:avLst/>
          </a:prstGeom>
          <a:noFill/>
        </p:spPr>
        <p:txBody>
          <a:bodyPr wrap="square" rtlCol="0">
            <a:spAutoFit/>
          </a:bodyPr>
          <a:lstStyle/>
          <a:p>
            <a:r>
              <a:rPr kumimoji="1" lang="ja-JP" altLang="en-US" sz="2800" dirty="0" smtClean="0"/>
              <a:t>情報工学科   篠埜　功</a:t>
            </a:r>
            <a:endParaRPr kumimoji="1" lang="ja-JP" alt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命令型言語について</a:t>
            </a:r>
            <a:endParaRPr kumimoji="1" lang="ja-JP" altLang="en-US" dirty="0"/>
          </a:p>
        </p:txBody>
      </p:sp>
      <p:sp>
        <p:nvSpPr>
          <p:cNvPr id="5" name="テキスト ボックス 4"/>
          <p:cNvSpPr txBox="1"/>
          <p:nvPr/>
        </p:nvSpPr>
        <p:spPr>
          <a:xfrm>
            <a:off x="288920" y="1336400"/>
            <a:ext cx="8582126" cy="5262979"/>
          </a:xfrm>
          <a:prstGeom prst="rect">
            <a:avLst/>
          </a:prstGeom>
          <a:noFill/>
        </p:spPr>
        <p:txBody>
          <a:bodyPr wrap="square" rtlCol="0">
            <a:spAutoFit/>
          </a:bodyPr>
          <a:lstStyle/>
          <a:p>
            <a:r>
              <a:rPr kumimoji="1" lang="ja-JP" altLang="en-US" sz="2800" dirty="0" smtClean="0"/>
              <a:t>命令型言語では、計算とは</a:t>
            </a:r>
            <a:r>
              <a:rPr lang="ja-JP" altLang="en-US" sz="2800" dirty="0" smtClean="0"/>
              <a:t>アクションの列であると見られる。</a:t>
            </a:r>
            <a:endParaRPr lang="en-US" altLang="ja-JP" sz="2800" dirty="0" smtClean="0"/>
          </a:p>
          <a:p>
            <a:r>
              <a:rPr kumimoji="1" lang="ja-JP" altLang="en-US" sz="2800" dirty="0" smtClean="0"/>
              <a:t>命令型言語の例：</a:t>
            </a:r>
            <a:endParaRPr kumimoji="1" lang="en-US" altLang="ja-JP" sz="2800" dirty="0" smtClean="0"/>
          </a:p>
          <a:p>
            <a:r>
              <a:rPr lang="ja-JP" altLang="en-US" sz="2800" dirty="0" smtClean="0"/>
              <a:t>    </a:t>
            </a:r>
            <a:r>
              <a:rPr kumimoji="1" lang="en-US" altLang="ja-JP" sz="2800" dirty="0" smtClean="0"/>
              <a:t>Fortran</a:t>
            </a:r>
            <a:r>
              <a:rPr lang="ja-JP" altLang="en-US" sz="2800" dirty="0" smtClean="0"/>
              <a:t> </a:t>
            </a:r>
            <a:r>
              <a:rPr kumimoji="1" lang="en-US" altLang="ja-JP" sz="2800" dirty="0" smtClean="0"/>
              <a:t>(1957, John Backus, </a:t>
            </a:r>
            <a:r>
              <a:rPr kumimoji="1" lang="ja-JP" altLang="en-US" sz="2800" dirty="0" smtClean="0"/>
              <a:t>アメリカ人、</a:t>
            </a:r>
            <a:r>
              <a:rPr kumimoji="1" lang="en-US" altLang="ja-JP" sz="2800" dirty="0" smtClean="0"/>
              <a:t>1977 Turing</a:t>
            </a:r>
            <a:r>
              <a:rPr kumimoji="1" lang="ja-JP" altLang="en-US" sz="2800" dirty="0" smtClean="0"/>
              <a:t>賞</a:t>
            </a:r>
            <a:r>
              <a:rPr kumimoji="1" lang="en-US" altLang="ja-JP" sz="2800" dirty="0" smtClean="0"/>
              <a:t>), </a:t>
            </a:r>
          </a:p>
          <a:p>
            <a:r>
              <a:rPr kumimoji="1" lang="en-US" altLang="ja-JP" sz="2800" dirty="0" smtClean="0"/>
              <a:t>  </a:t>
            </a:r>
            <a:r>
              <a:rPr lang="ja-JP" altLang="en-US" sz="2800" dirty="0" smtClean="0"/>
              <a:t>  </a:t>
            </a:r>
            <a:r>
              <a:rPr kumimoji="1" lang="en-US" altLang="ja-JP" sz="2800" dirty="0" err="1" smtClean="0"/>
              <a:t>Algol</a:t>
            </a:r>
            <a:r>
              <a:rPr kumimoji="1" lang="en-US" altLang="ja-JP" sz="2800" dirty="0" smtClean="0"/>
              <a:t> 60 (1960, </a:t>
            </a:r>
            <a:r>
              <a:rPr kumimoji="1" lang="ja-JP" altLang="en-US" sz="2800" dirty="0" smtClean="0"/>
              <a:t>国際委員会で作成</a:t>
            </a:r>
            <a:r>
              <a:rPr kumimoji="1" lang="en-US" altLang="ja-JP" sz="2800" dirty="0" smtClean="0"/>
              <a:t>)</a:t>
            </a:r>
          </a:p>
          <a:p>
            <a:r>
              <a:rPr lang="en-US" altLang="ja-JP" sz="2800" dirty="0" smtClean="0"/>
              <a:t>    </a:t>
            </a:r>
            <a:r>
              <a:rPr kumimoji="1" lang="en-US" altLang="ja-JP" sz="2800" dirty="0" smtClean="0"/>
              <a:t>Pascal (1970</a:t>
            </a:r>
            <a:r>
              <a:rPr lang="en-US" altLang="ja-JP" sz="2800" dirty="0" smtClean="0"/>
              <a:t>, </a:t>
            </a:r>
            <a:r>
              <a:rPr lang="en-US" altLang="ja-JP" sz="2800" dirty="0" err="1" smtClean="0"/>
              <a:t>Niklaus</a:t>
            </a:r>
            <a:r>
              <a:rPr lang="en-US" altLang="ja-JP" sz="2800" dirty="0" smtClean="0"/>
              <a:t> Wirth, </a:t>
            </a:r>
            <a:r>
              <a:rPr lang="ja-JP" altLang="en-US" sz="2800" dirty="0" smtClean="0"/>
              <a:t>スイス人</a:t>
            </a:r>
            <a:r>
              <a:rPr lang="en-US" altLang="ja-JP" sz="2800" dirty="0" smtClean="0"/>
              <a:t>, 1984 Turing</a:t>
            </a:r>
            <a:r>
              <a:rPr lang="ja-JP" altLang="en-US" sz="2800" dirty="0" smtClean="0"/>
              <a:t>賞</a:t>
            </a:r>
            <a:r>
              <a:rPr lang="en-US" altLang="ja-JP" sz="2800" dirty="0" smtClean="0"/>
              <a:t>), </a:t>
            </a:r>
          </a:p>
          <a:p>
            <a:r>
              <a:rPr lang="en-US" altLang="ja-JP" sz="2800" dirty="0" smtClean="0"/>
              <a:t>    C (1972, Dennis Ritchie, </a:t>
            </a:r>
            <a:r>
              <a:rPr lang="ja-JP" altLang="en-US" sz="2800" dirty="0" smtClean="0"/>
              <a:t>アメリカ人</a:t>
            </a:r>
            <a:r>
              <a:rPr lang="en-US" altLang="ja-JP" sz="2800" dirty="0" smtClean="0"/>
              <a:t>, 1983 Turing</a:t>
            </a:r>
            <a:r>
              <a:rPr lang="ja-JP" altLang="en-US" sz="2800" dirty="0" smtClean="0"/>
              <a:t>賞</a:t>
            </a:r>
            <a:r>
              <a:rPr lang="en-US" altLang="ja-JP" sz="2800" dirty="0" smtClean="0"/>
              <a:t>)</a:t>
            </a:r>
          </a:p>
          <a:p>
            <a:r>
              <a:rPr kumimoji="1" lang="en-US" altLang="ja-JP" sz="2800" dirty="0" smtClean="0"/>
              <a:t>Fortran</a:t>
            </a:r>
            <a:r>
              <a:rPr kumimoji="1" lang="ja-JP" altLang="en-US" sz="2800" dirty="0" smtClean="0"/>
              <a:t>では</a:t>
            </a:r>
            <a:r>
              <a:rPr kumimoji="1" lang="en-US" altLang="ja-JP" sz="2800" dirty="0" smtClean="0"/>
              <a:t>while</a:t>
            </a:r>
            <a:r>
              <a:rPr kumimoji="1" lang="ja-JP" altLang="en-US" sz="2800" dirty="0" smtClean="0"/>
              <a:t>文などがなく、</a:t>
            </a:r>
            <a:r>
              <a:rPr kumimoji="1" lang="en-US" altLang="ja-JP" sz="2800" dirty="0" err="1" smtClean="0"/>
              <a:t>goto</a:t>
            </a:r>
            <a:r>
              <a:rPr lang="ja-JP" altLang="en-US" sz="2800" dirty="0" smtClean="0"/>
              <a:t>文が多用され、制御フローがつかみにくい。（</a:t>
            </a:r>
            <a:r>
              <a:rPr lang="en-US" altLang="ja-JP" sz="2800" dirty="0" smtClean="0"/>
              <a:t>Fortran 90 (1991)</a:t>
            </a:r>
            <a:r>
              <a:rPr lang="ja-JP" altLang="en-US" sz="2800" dirty="0" smtClean="0"/>
              <a:t>では対応）</a:t>
            </a:r>
            <a:endParaRPr lang="en-US" altLang="ja-JP" sz="2800" dirty="0" smtClean="0"/>
          </a:p>
          <a:p>
            <a:r>
              <a:rPr lang="en-US" altLang="ja-JP" sz="2800" dirty="0" err="1" smtClean="0"/>
              <a:t>Algol</a:t>
            </a:r>
            <a:r>
              <a:rPr lang="en-US" altLang="ja-JP" sz="2800" dirty="0" smtClean="0"/>
              <a:t>, Pascal</a:t>
            </a:r>
            <a:r>
              <a:rPr lang="ja-JP" altLang="en-US" sz="2800" dirty="0" smtClean="0"/>
              <a:t>などの言語では、プログラムの構造が明確になるような構成要素</a:t>
            </a:r>
            <a:r>
              <a:rPr lang="en-US" altLang="ja-JP" sz="2800" dirty="0" smtClean="0"/>
              <a:t>(while, begin end</a:t>
            </a:r>
            <a:r>
              <a:rPr lang="ja-JP" altLang="en-US" sz="2800" dirty="0" smtClean="0"/>
              <a:t>など</a:t>
            </a:r>
            <a:r>
              <a:rPr lang="en-US" altLang="ja-JP" sz="2800" dirty="0" smtClean="0"/>
              <a:t>)</a:t>
            </a:r>
            <a:r>
              <a:rPr lang="ja-JP" altLang="en-US" sz="2800" dirty="0" smtClean="0"/>
              <a:t>が取り入れられた。</a:t>
            </a:r>
            <a:endParaRPr lang="en-US" altLang="ja-JP" sz="2800"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代入</a:t>
            </a:r>
            <a:endParaRPr kumimoji="1" lang="ja-JP" altLang="en-US" dirty="0"/>
          </a:p>
        </p:txBody>
      </p:sp>
      <p:sp>
        <p:nvSpPr>
          <p:cNvPr id="6" name="テキスト ボックス 5"/>
          <p:cNvSpPr txBox="1"/>
          <p:nvPr/>
        </p:nvSpPr>
        <p:spPr>
          <a:xfrm>
            <a:off x="581069" y="1414237"/>
            <a:ext cx="8194441" cy="4832092"/>
          </a:xfrm>
          <a:prstGeom prst="rect">
            <a:avLst/>
          </a:prstGeom>
          <a:noFill/>
        </p:spPr>
        <p:txBody>
          <a:bodyPr wrap="square" rtlCol="0">
            <a:spAutoFit/>
          </a:bodyPr>
          <a:lstStyle/>
          <a:p>
            <a:r>
              <a:rPr kumimoji="1" lang="ja-JP" altLang="en-US" sz="2800" dirty="0" smtClean="0"/>
              <a:t>命令型言語では、変数の値を変える操作が基本</a:t>
            </a:r>
            <a:r>
              <a:rPr lang="ja-JP" altLang="en-US" sz="2800" dirty="0" smtClean="0"/>
              <a:t>。</a:t>
            </a:r>
            <a:endParaRPr lang="en-US" altLang="ja-JP" sz="2800" dirty="0" smtClean="0"/>
          </a:p>
          <a:p>
            <a:r>
              <a:rPr lang="ja-JP" altLang="en-US" sz="2800" dirty="0" smtClean="0"/>
              <a:t>代入</a:t>
            </a:r>
            <a:r>
              <a:rPr lang="en-US" altLang="ja-JP" sz="2800" dirty="0" smtClean="0"/>
              <a:t>(assignment)</a:t>
            </a:r>
            <a:r>
              <a:rPr lang="ja-JP" altLang="en-US" sz="2800" dirty="0" smtClean="0"/>
              <a:t>によって変数の値を変える。</a:t>
            </a:r>
            <a:endParaRPr lang="en-US" altLang="ja-JP" sz="2800" dirty="0" smtClean="0"/>
          </a:p>
          <a:p>
            <a:r>
              <a:rPr lang="ja-JP" altLang="en-US" sz="2800" dirty="0" smtClean="0"/>
              <a:t>（代入の例）</a:t>
            </a:r>
            <a:endParaRPr lang="en-US" altLang="ja-JP" sz="2800" dirty="0" smtClean="0"/>
          </a:p>
          <a:p>
            <a:r>
              <a:rPr kumimoji="1" lang="en-US" altLang="ja-JP" sz="2800" dirty="0" smtClean="0"/>
              <a:t>   x := 2+3</a:t>
            </a:r>
          </a:p>
          <a:p>
            <a:r>
              <a:rPr lang="en-US" altLang="ja-JP" sz="2800" dirty="0" smtClean="0"/>
              <a:t>   x := a[</a:t>
            </a:r>
            <a:r>
              <a:rPr lang="en-US" altLang="ja-JP" sz="2800" dirty="0" err="1" smtClean="0"/>
              <a:t>i</a:t>
            </a:r>
            <a:r>
              <a:rPr lang="en-US" altLang="ja-JP" sz="2800" dirty="0" smtClean="0"/>
              <a:t>]</a:t>
            </a:r>
          </a:p>
          <a:p>
            <a:r>
              <a:rPr kumimoji="1" lang="en-US" altLang="ja-JP" sz="2800" dirty="0" smtClean="0"/>
              <a:t>   a</a:t>
            </a:r>
            <a:r>
              <a:rPr lang="en-US" altLang="ja-JP" sz="2800" dirty="0" smtClean="0"/>
              <a:t>[</a:t>
            </a:r>
            <a:r>
              <a:rPr lang="en-US" altLang="ja-JP" sz="2800" dirty="0" err="1" smtClean="0"/>
              <a:t>i</a:t>
            </a:r>
            <a:r>
              <a:rPr lang="en-US" altLang="ja-JP" sz="2800" dirty="0" smtClean="0"/>
              <a:t>] := x</a:t>
            </a:r>
          </a:p>
          <a:p>
            <a:r>
              <a:rPr lang="ja-JP" altLang="en-US" sz="2800" dirty="0" smtClean="0"/>
              <a:t>手続き呼び出しによって変数を値を変えることもできる。</a:t>
            </a:r>
            <a:endParaRPr lang="en-US" altLang="ja-JP" sz="2800" dirty="0" smtClean="0"/>
          </a:p>
          <a:p>
            <a:r>
              <a:rPr lang="en-US" altLang="ja-JP" sz="2800" dirty="0" smtClean="0"/>
              <a:t>(</a:t>
            </a:r>
            <a:r>
              <a:rPr lang="ja-JP" altLang="en-US" sz="2800" dirty="0" smtClean="0"/>
              <a:t>手続き呼び出しの例</a:t>
            </a:r>
            <a:r>
              <a:rPr lang="en-US" altLang="ja-JP" sz="2800" dirty="0" smtClean="0"/>
              <a:t>)</a:t>
            </a:r>
          </a:p>
          <a:p>
            <a:r>
              <a:rPr lang="ja-JP" altLang="en-US" sz="2800" dirty="0" smtClean="0"/>
              <a:t>   </a:t>
            </a:r>
            <a:r>
              <a:rPr lang="en-US" altLang="ja-JP" sz="2800" dirty="0" smtClean="0"/>
              <a:t>read(x)</a:t>
            </a:r>
          </a:p>
          <a:p>
            <a:r>
              <a:rPr lang="en-US" altLang="ja-JP" sz="2800" dirty="0" smtClean="0"/>
              <a:t>   write(x)</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構造化プログラミング</a:t>
            </a:r>
            <a:r>
              <a:rPr kumimoji="1" lang="en-US" altLang="ja-JP" dirty="0" smtClean="0"/>
              <a:t/>
            </a:r>
            <a:br>
              <a:rPr kumimoji="1" lang="en-US" altLang="ja-JP" dirty="0" smtClean="0"/>
            </a:br>
            <a:r>
              <a:rPr lang="ja-JP" altLang="en-US" dirty="0" smtClean="0"/>
              <a:t>（</a:t>
            </a:r>
            <a:r>
              <a:rPr lang="en-US" altLang="ja-JP" dirty="0" smtClean="0"/>
              <a:t>structured programming</a:t>
            </a:r>
            <a:r>
              <a:rPr lang="ja-JP" altLang="en-US" dirty="0" smtClean="0"/>
              <a:t>）</a:t>
            </a:r>
            <a:endParaRPr kumimoji="1" lang="ja-JP" altLang="en-US" dirty="0"/>
          </a:p>
        </p:txBody>
      </p:sp>
      <p:sp>
        <p:nvSpPr>
          <p:cNvPr id="4" name="テキスト ボックス 3"/>
          <p:cNvSpPr txBox="1"/>
          <p:nvPr/>
        </p:nvSpPr>
        <p:spPr>
          <a:xfrm>
            <a:off x="857224" y="1571612"/>
            <a:ext cx="7715304" cy="1815882"/>
          </a:xfrm>
          <a:prstGeom prst="rect">
            <a:avLst/>
          </a:prstGeom>
          <a:noFill/>
        </p:spPr>
        <p:txBody>
          <a:bodyPr wrap="square" rtlCol="0">
            <a:spAutoFit/>
          </a:bodyPr>
          <a:lstStyle/>
          <a:p>
            <a:r>
              <a:rPr kumimoji="1" lang="ja-JP" altLang="en-US" sz="2800" dirty="0" smtClean="0"/>
              <a:t>プログラムを見て、行われる計算が容易に分かるように言語を設計するべき。</a:t>
            </a:r>
            <a:r>
              <a:rPr lang="en-US" altLang="ja-JP" sz="2800" dirty="0" err="1" smtClean="0"/>
              <a:t>g</a:t>
            </a:r>
            <a:r>
              <a:rPr kumimoji="1" lang="en-US" altLang="ja-JP" sz="2800" dirty="0" err="1" smtClean="0"/>
              <a:t>oto</a:t>
            </a:r>
            <a:r>
              <a:rPr kumimoji="1" lang="ja-JP" altLang="en-US" sz="2800" dirty="0" smtClean="0"/>
              <a:t>文を多用したプログラムではどのような計算が行われるのかわかりにくくなる。</a:t>
            </a:r>
            <a:endParaRPr kumimoji="1" lang="en-US" altLang="ja-JP" sz="2800" dirty="0" smtClean="0"/>
          </a:p>
        </p:txBody>
      </p:sp>
      <p:sp>
        <p:nvSpPr>
          <p:cNvPr id="5" name="正方形/長方形 4"/>
          <p:cNvSpPr/>
          <p:nvPr/>
        </p:nvSpPr>
        <p:spPr>
          <a:xfrm>
            <a:off x="921412" y="3464397"/>
            <a:ext cx="7635734" cy="954107"/>
          </a:xfrm>
          <a:prstGeom prst="rect">
            <a:avLst/>
          </a:prstGeom>
          <a:ln>
            <a:solidFill>
              <a:schemeClr val="tx1"/>
            </a:solidFill>
          </a:ln>
        </p:spPr>
        <p:txBody>
          <a:bodyPr wrap="square">
            <a:spAutoFit/>
          </a:bodyPr>
          <a:lstStyle/>
          <a:p>
            <a:r>
              <a:rPr lang="ja-JP" altLang="en-US" sz="2800" dirty="0" smtClean="0"/>
              <a:t>構造化プログラミング：プログラムの構造が、どのような計算が行われるかの理解の助けになる。</a:t>
            </a:r>
            <a:endParaRPr lang="ja-JP" altLang="en-US" sz="2800" dirty="0"/>
          </a:p>
        </p:txBody>
      </p:sp>
      <p:sp>
        <p:nvSpPr>
          <p:cNvPr id="6" name="テキスト ボックス 5"/>
          <p:cNvSpPr txBox="1"/>
          <p:nvPr/>
        </p:nvSpPr>
        <p:spPr>
          <a:xfrm>
            <a:off x="915011" y="4583307"/>
            <a:ext cx="7478360" cy="954107"/>
          </a:xfrm>
          <a:prstGeom prst="rect">
            <a:avLst/>
          </a:prstGeom>
          <a:noFill/>
        </p:spPr>
        <p:txBody>
          <a:bodyPr wrap="square" rtlCol="0">
            <a:spAutoFit/>
          </a:bodyPr>
          <a:lstStyle/>
          <a:p>
            <a:r>
              <a:rPr kumimoji="1" lang="ja-JP" altLang="en-US" sz="2800" dirty="0" smtClean="0"/>
              <a:t>構造化されたプログラムでも構造化されていないプログラムと同等の効率のものは書ける。</a:t>
            </a:r>
            <a:endParaRPr kumimoji="1" lang="ja-JP" altLang="en-US" sz="2800" dirty="0"/>
          </a:p>
        </p:txBody>
      </p:sp>
      <p:sp>
        <p:nvSpPr>
          <p:cNvPr id="7" name="正方形/長方形 6"/>
          <p:cNvSpPr/>
          <p:nvPr/>
        </p:nvSpPr>
        <p:spPr>
          <a:xfrm>
            <a:off x="887102" y="5603079"/>
            <a:ext cx="7710987" cy="1200329"/>
          </a:xfrm>
          <a:prstGeom prst="rect">
            <a:avLst/>
          </a:prstGeom>
          <a:ln>
            <a:solidFill>
              <a:schemeClr val="tx1"/>
            </a:solidFill>
          </a:ln>
        </p:spPr>
        <p:txBody>
          <a:bodyPr wrap="square">
            <a:spAutoFit/>
          </a:bodyPr>
          <a:lstStyle/>
          <a:p>
            <a:r>
              <a:rPr lang="en-US" altLang="ja-JP" sz="2400" dirty="0" smtClean="0"/>
              <a:t>[</a:t>
            </a:r>
            <a:r>
              <a:rPr lang="ja-JP" altLang="en-US" sz="2400" dirty="0" smtClean="0"/>
              <a:t>参考文献</a:t>
            </a:r>
            <a:r>
              <a:rPr lang="en-US" altLang="ja-JP" sz="2400" dirty="0" smtClean="0"/>
              <a:t>] </a:t>
            </a:r>
            <a:r>
              <a:rPr lang="en-US" altLang="ja-JP" sz="2400" dirty="0" err="1" smtClean="0"/>
              <a:t>Edsger</a:t>
            </a:r>
            <a:r>
              <a:rPr lang="en-US" altLang="ja-JP" sz="2400" dirty="0" smtClean="0"/>
              <a:t> </a:t>
            </a:r>
            <a:r>
              <a:rPr lang="en-US" altLang="ja-JP" sz="2400" dirty="0" err="1" smtClean="0"/>
              <a:t>Dijkstra</a:t>
            </a:r>
            <a:r>
              <a:rPr lang="en-US" altLang="ja-JP" sz="2400" dirty="0" smtClean="0"/>
              <a:t>, “Go to statement considered harmful”, </a:t>
            </a:r>
            <a:r>
              <a:rPr lang="en-US" altLang="ja-JP" sz="2400" i="1" dirty="0" smtClean="0"/>
              <a:t>Communication of the ACM</a:t>
            </a:r>
            <a:r>
              <a:rPr lang="en-US" altLang="ja-JP" sz="2400" dirty="0" smtClean="0"/>
              <a:t>, Vol. 11, No. 3, pp. 147-148, 1968.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構造化とは</a:t>
            </a:r>
            <a:endParaRPr kumimoji="1" lang="ja-JP" altLang="en-US" dirty="0"/>
          </a:p>
        </p:txBody>
      </p:sp>
      <p:sp>
        <p:nvSpPr>
          <p:cNvPr id="4" name="テキスト ボックス 3"/>
          <p:cNvSpPr txBox="1"/>
          <p:nvPr/>
        </p:nvSpPr>
        <p:spPr>
          <a:xfrm>
            <a:off x="857224" y="1571612"/>
            <a:ext cx="4834978" cy="523220"/>
          </a:xfrm>
          <a:prstGeom prst="rect">
            <a:avLst/>
          </a:prstGeom>
          <a:noFill/>
        </p:spPr>
        <p:txBody>
          <a:bodyPr wrap="none" rtlCol="0">
            <a:spAutoFit/>
          </a:bodyPr>
          <a:lstStyle/>
          <a:p>
            <a:r>
              <a:rPr kumimoji="1" lang="ja-JP" altLang="en-US" sz="2800" dirty="0" smtClean="0"/>
              <a:t>プログラムが構造化されている</a:t>
            </a:r>
            <a:endParaRPr kumimoji="1" lang="ja-JP" altLang="en-US" sz="2800" dirty="0"/>
          </a:p>
        </p:txBody>
      </p:sp>
      <p:sp>
        <p:nvSpPr>
          <p:cNvPr id="6" name="左右矢印 5"/>
          <p:cNvSpPr/>
          <p:nvPr/>
        </p:nvSpPr>
        <p:spPr>
          <a:xfrm>
            <a:off x="1142976" y="2357430"/>
            <a:ext cx="785818" cy="28575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p:cNvSpPr txBox="1"/>
          <p:nvPr/>
        </p:nvSpPr>
        <p:spPr>
          <a:xfrm>
            <a:off x="2184052" y="2197708"/>
            <a:ext cx="6045548" cy="954107"/>
          </a:xfrm>
          <a:prstGeom prst="rect">
            <a:avLst/>
          </a:prstGeom>
          <a:noFill/>
          <a:ln>
            <a:solidFill>
              <a:schemeClr val="tx1"/>
            </a:solidFill>
          </a:ln>
        </p:spPr>
        <p:txBody>
          <a:bodyPr wrap="square" rtlCol="0">
            <a:spAutoFit/>
          </a:bodyPr>
          <a:lstStyle/>
          <a:p>
            <a:r>
              <a:rPr kumimoji="1" lang="ja-JP" altLang="en-US" sz="2800" dirty="0" smtClean="0"/>
              <a:t>プログラムの制御フローが</a:t>
            </a:r>
            <a:r>
              <a:rPr kumimoji="1" lang="ja-JP" altLang="en-US" sz="2800" b="1" dirty="0" smtClean="0"/>
              <a:t>プログラムテキストの構文構造</a:t>
            </a:r>
            <a:r>
              <a:rPr kumimoji="1" lang="ja-JP" altLang="en-US" sz="2800" dirty="0" smtClean="0"/>
              <a:t>から明らか</a:t>
            </a:r>
            <a:endParaRPr kumimoji="1" lang="ja-JP" altLang="en-US" sz="2800" dirty="0"/>
          </a:p>
        </p:txBody>
      </p:sp>
      <p:sp>
        <p:nvSpPr>
          <p:cNvPr id="8" name="テキスト ボックス 7"/>
          <p:cNvSpPr txBox="1"/>
          <p:nvPr/>
        </p:nvSpPr>
        <p:spPr>
          <a:xfrm>
            <a:off x="1071538" y="3429000"/>
            <a:ext cx="6918775" cy="954107"/>
          </a:xfrm>
          <a:prstGeom prst="rect">
            <a:avLst/>
          </a:prstGeom>
          <a:noFill/>
        </p:spPr>
        <p:txBody>
          <a:bodyPr wrap="square" rtlCol="0">
            <a:spAutoFit/>
          </a:bodyPr>
          <a:lstStyle/>
          <a:p>
            <a:r>
              <a:rPr kumimoji="1" lang="ja-JP" altLang="en-US" sz="2800" dirty="0" smtClean="0"/>
              <a:t>明らかというのは、ここでは</a:t>
            </a:r>
            <a:r>
              <a:rPr kumimoji="1" lang="en-US" altLang="ja-JP" sz="2800" dirty="0" smtClean="0"/>
              <a:t>single entry, single exit</a:t>
            </a:r>
            <a:r>
              <a:rPr kumimoji="1" lang="ja-JP" altLang="en-US" sz="2800" dirty="0" smtClean="0"/>
              <a:t>と定義する</a:t>
            </a:r>
            <a:r>
              <a:rPr lang="ja-JP" altLang="en-US" sz="2800" dirty="0" smtClean="0"/>
              <a:t>（入口１つ、出口１つ）</a:t>
            </a:r>
            <a:endParaRPr kumimoji="1" lang="en-US" altLang="ja-JP" sz="2800" dirty="0" smtClean="0"/>
          </a:p>
        </p:txBody>
      </p:sp>
      <p:sp>
        <p:nvSpPr>
          <p:cNvPr id="9" name="テキスト ボックス 8"/>
          <p:cNvSpPr txBox="1"/>
          <p:nvPr/>
        </p:nvSpPr>
        <p:spPr>
          <a:xfrm>
            <a:off x="1643042" y="4714884"/>
            <a:ext cx="1805302" cy="1815882"/>
          </a:xfrm>
          <a:prstGeom prst="rect">
            <a:avLst/>
          </a:prstGeom>
          <a:noFill/>
        </p:spPr>
        <p:txBody>
          <a:bodyPr wrap="none" rtlCol="0">
            <a:spAutoFit/>
          </a:bodyPr>
          <a:lstStyle/>
          <a:p>
            <a:r>
              <a:rPr lang="ja-JP" altLang="en-US" sz="2800" dirty="0" smtClean="0"/>
              <a:t>逐次文</a:t>
            </a:r>
            <a:endParaRPr lang="en-US" altLang="ja-JP" sz="2800" dirty="0" smtClean="0"/>
          </a:p>
          <a:p>
            <a:r>
              <a:rPr lang="ja-JP" altLang="en-US" sz="2800" dirty="0" smtClean="0"/>
              <a:t>条件文</a:t>
            </a:r>
            <a:endParaRPr lang="en-US" altLang="ja-JP" sz="2800" dirty="0" smtClean="0"/>
          </a:p>
          <a:p>
            <a:r>
              <a:rPr kumimoji="1" lang="ja-JP" altLang="en-US" sz="2800" dirty="0" smtClean="0"/>
              <a:t>繰り返し文</a:t>
            </a:r>
            <a:endParaRPr kumimoji="1" lang="en-US" altLang="ja-JP" sz="2800" dirty="0" smtClean="0"/>
          </a:p>
          <a:p>
            <a:r>
              <a:rPr lang="en-US" altLang="ja-JP" sz="2800" dirty="0" smtClean="0"/>
              <a:t>case</a:t>
            </a:r>
            <a:r>
              <a:rPr lang="ja-JP" altLang="en-US" sz="2800" dirty="0" smtClean="0"/>
              <a:t>文</a:t>
            </a:r>
            <a:endParaRPr kumimoji="1" lang="ja-JP" altLang="en-US" sz="2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基本ケース</a:t>
            </a:r>
            <a:endParaRPr kumimoji="1" lang="ja-JP" altLang="en-US" dirty="0"/>
          </a:p>
        </p:txBody>
      </p:sp>
      <p:sp>
        <p:nvSpPr>
          <p:cNvPr id="4" name="テキスト ボックス 3"/>
          <p:cNvSpPr txBox="1"/>
          <p:nvPr/>
        </p:nvSpPr>
        <p:spPr>
          <a:xfrm>
            <a:off x="857224" y="1643050"/>
            <a:ext cx="7713570" cy="2246769"/>
          </a:xfrm>
          <a:prstGeom prst="rect">
            <a:avLst/>
          </a:prstGeom>
          <a:noFill/>
        </p:spPr>
        <p:txBody>
          <a:bodyPr wrap="square" rtlCol="0">
            <a:spAutoFit/>
          </a:bodyPr>
          <a:lstStyle/>
          <a:p>
            <a:r>
              <a:rPr kumimoji="1" lang="ja-JP" altLang="en-US" sz="2800" dirty="0" smtClean="0"/>
              <a:t>代入文は</a:t>
            </a:r>
            <a:r>
              <a:rPr kumimoji="1" lang="en-US" altLang="ja-JP" sz="2800" dirty="0" smtClean="0"/>
              <a:t>single entry, single exit</a:t>
            </a:r>
            <a:r>
              <a:rPr kumimoji="1" lang="ja-JP" altLang="en-US" sz="2800" dirty="0" smtClean="0"/>
              <a:t>である。</a:t>
            </a:r>
            <a:endParaRPr kumimoji="1" lang="en-US" altLang="ja-JP" sz="2800" dirty="0" smtClean="0"/>
          </a:p>
          <a:p>
            <a:r>
              <a:rPr lang="ja-JP" altLang="en-US" sz="2800" dirty="0" smtClean="0"/>
              <a:t>たとえば、</a:t>
            </a:r>
            <a:endParaRPr lang="en-US" altLang="ja-JP" sz="2800" dirty="0" smtClean="0"/>
          </a:p>
          <a:p>
            <a:r>
              <a:rPr lang="en-US" altLang="ja-JP" sz="2800" dirty="0" smtClean="0"/>
              <a:t>    x := 3</a:t>
            </a:r>
          </a:p>
          <a:p>
            <a:r>
              <a:rPr lang="ja-JP" altLang="en-US" sz="2800" dirty="0" err="1" smtClean="0"/>
              <a:t>のような</a:t>
            </a:r>
            <a:r>
              <a:rPr lang="ja-JP" altLang="en-US" sz="2800" dirty="0" smtClean="0"/>
              <a:t>代入文の制御フローは、以下のように図示できる。</a:t>
            </a:r>
            <a:endParaRPr kumimoji="1" lang="ja-JP" altLang="en-US" sz="2800" dirty="0"/>
          </a:p>
        </p:txBody>
      </p:sp>
      <p:sp>
        <p:nvSpPr>
          <p:cNvPr id="5" name="テキスト ボックス 4"/>
          <p:cNvSpPr txBox="1"/>
          <p:nvPr/>
        </p:nvSpPr>
        <p:spPr>
          <a:xfrm>
            <a:off x="2808711" y="4801481"/>
            <a:ext cx="1043876" cy="523220"/>
          </a:xfrm>
          <a:prstGeom prst="rect">
            <a:avLst/>
          </a:prstGeom>
          <a:noFill/>
        </p:spPr>
        <p:txBody>
          <a:bodyPr wrap="none" rtlCol="0">
            <a:spAutoFit/>
          </a:bodyPr>
          <a:lstStyle/>
          <a:p>
            <a:r>
              <a:rPr lang="en-US" altLang="ja-JP" sz="2800" dirty="0" smtClean="0"/>
              <a:t> x := 3</a:t>
            </a:r>
          </a:p>
        </p:txBody>
      </p:sp>
      <p:cxnSp>
        <p:nvCxnSpPr>
          <p:cNvPr id="12" name="直線矢印コネクタ 11"/>
          <p:cNvCxnSpPr/>
          <p:nvPr/>
        </p:nvCxnSpPr>
        <p:spPr>
          <a:xfrm rot="5400000">
            <a:off x="2916662" y="5837332"/>
            <a:ext cx="785024"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2951587" y="4444291"/>
            <a:ext cx="714380" cy="1588"/>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3523091" y="3872787"/>
            <a:ext cx="2741328" cy="523220"/>
          </a:xfrm>
          <a:prstGeom prst="rect">
            <a:avLst/>
          </a:prstGeom>
          <a:noFill/>
        </p:spPr>
        <p:txBody>
          <a:bodyPr wrap="none" rtlCol="0">
            <a:spAutoFit/>
          </a:bodyPr>
          <a:lstStyle/>
          <a:p>
            <a:r>
              <a:rPr lang="ja-JP" altLang="en-US" sz="2800" dirty="0" smtClean="0"/>
              <a:t>入口</a:t>
            </a:r>
            <a:r>
              <a:rPr lang="en-US" altLang="ja-JP" sz="2800" dirty="0" smtClean="0"/>
              <a:t>(entry point)</a:t>
            </a:r>
          </a:p>
        </p:txBody>
      </p:sp>
      <p:sp>
        <p:nvSpPr>
          <p:cNvPr id="16" name="テキスト ボックス 15"/>
          <p:cNvSpPr txBox="1"/>
          <p:nvPr/>
        </p:nvSpPr>
        <p:spPr>
          <a:xfrm>
            <a:off x="3594529" y="5873051"/>
            <a:ext cx="2498633" cy="523220"/>
          </a:xfrm>
          <a:prstGeom prst="rect">
            <a:avLst/>
          </a:prstGeom>
          <a:noFill/>
        </p:spPr>
        <p:txBody>
          <a:bodyPr wrap="none" rtlCol="0">
            <a:spAutoFit/>
          </a:bodyPr>
          <a:lstStyle/>
          <a:p>
            <a:r>
              <a:rPr lang="ja-JP" altLang="en-US" sz="2800" dirty="0" smtClean="0"/>
              <a:t>出口</a:t>
            </a:r>
            <a:r>
              <a:rPr lang="en-US" altLang="ja-JP" sz="2800" dirty="0" smtClean="0"/>
              <a:t>(exit point)</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文の列（逐次文）</a:t>
            </a:r>
            <a:endParaRPr kumimoji="1" lang="ja-JP" altLang="en-US" dirty="0"/>
          </a:p>
        </p:txBody>
      </p:sp>
      <p:sp>
        <p:nvSpPr>
          <p:cNvPr id="4" name="テキスト ボックス 3"/>
          <p:cNvSpPr txBox="1"/>
          <p:nvPr/>
        </p:nvSpPr>
        <p:spPr>
          <a:xfrm>
            <a:off x="642910" y="1571612"/>
            <a:ext cx="5500726" cy="3539430"/>
          </a:xfrm>
          <a:prstGeom prst="rect">
            <a:avLst/>
          </a:prstGeom>
          <a:noFill/>
        </p:spPr>
        <p:txBody>
          <a:bodyPr wrap="square" rtlCol="0">
            <a:spAutoFit/>
          </a:bodyPr>
          <a:lstStyle/>
          <a:p>
            <a:r>
              <a:rPr lang="en-US" altLang="ja-JP" sz="2800" dirty="0" smtClean="0"/>
              <a:t>Pascal</a:t>
            </a:r>
            <a:r>
              <a:rPr lang="ja-JP" altLang="en-US" sz="2800" dirty="0" smtClean="0"/>
              <a:t>などでは、文の列（逐次文）は文</a:t>
            </a:r>
            <a:r>
              <a:rPr lang="en-US" altLang="ja-JP" sz="2800" dirty="0" smtClean="0"/>
              <a:t>s1, s2, …, </a:t>
            </a:r>
            <a:r>
              <a:rPr lang="en-US" altLang="ja-JP" sz="2800" dirty="0" err="1" smtClean="0"/>
              <a:t>sn</a:t>
            </a:r>
            <a:r>
              <a:rPr lang="ja-JP" altLang="en-US" sz="2800" dirty="0" smtClean="0"/>
              <a:t>をセミコロンで区切って表す。</a:t>
            </a:r>
            <a:endParaRPr lang="en-US" altLang="ja-JP" sz="2800" dirty="0" smtClean="0"/>
          </a:p>
          <a:p>
            <a:r>
              <a:rPr lang="en-US" altLang="ja-JP" sz="2800" dirty="0" smtClean="0"/>
              <a:t>    s1; s2; …; </a:t>
            </a:r>
            <a:r>
              <a:rPr lang="en-US" altLang="ja-JP" sz="2800" dirty="0" err="1" smtClean="0"/>
              <a:t>sn</a:t>
            </a:r>
            <a:endParaRPr lang="en-US" altLang="ja-JP" sz="2800" dirty="0" smtClean="0"/>
          </a:p>
          <a:p>
            <a:r>
              <a:rPr lang="ja-JP" altLang="en-US" sz="2800" dirty="0" smtClean="0"/>
              <a:t>（</a:t>
            </a:r>
            <a:r>
              <a:rPr lang="en-US" altLang="ja-JP" sz="2800" dirty="0" smtClean="0"/>
              <a:t>C</a:t>
            </a:r>
            <a:r>
              <a:rPr lang="ja-JP" altLang="en-US" sz="2800" dirty="0" smtClean="0"/>
              <a:t>では文を並べるだけでよい。）</a:t>
            </a:r>
            <a:endParaRPr lang="en-US" altLang="ja-JP" sz="2800" dirty="0" smtClean="0"/>
          </a:p>
          <a:p>
            <a:r>
              <a:rPr lang="ja-JP" altLang="en-US" sz="2800" dirty="0" smtClean="0"/>
              <a:t>逐次文は、それぞれの文が</a:t>
            </a:r>
            <a:r>
              <a:rPr lang="en-US" altLang="ja-JP" sz="2800" dirty="0" smtClean="0"/>
              <a:t>single entry, single exit</a:t>
            </a:r>
            <a:r>
              <a:rPr lang="ja-JP" altLang="en-US" sz="2800" dirty="0" smtClean="0"/>
              <a:t>であれば</a:t>
            </a:r>
            <a:r>
              <a:rPr lang="en-US" altLang="ja-JP" sz="2800" dirty="0" smtClean="0"/>
              <a:t>single entry, single exit</a:t>
            </a:r>
            <a:r>
              <a:rPr lang="ja-JP" altLang="en-US" sz="2800" dirty="0" smtClean="0"/>
              <a:t>である。</a:t>
            </a:r>
            <a:endParaRPr lang="en-US" altLang="ja-JP" sz="2800" dirty="0" smtClean="0"/>
          </a:p>
        </p:txBody>
      </p:sp>
      <p:sp>
        <p:nvSpPr>
          <p:cNvPr id="6" name="テキスト ボックス 5"/>
          <p:cNvSpPr txBox="1"/>
          <p:nvPr/>
        </p:nvSpPr>
        <p:spPr>
          <a:xfrm>
            <a:off x="6500826" y="3139194"/>
            <a:ext cx="1558312" cy="461665"/>
          </a:xfrm>
          <a:prstGeom prst="rect">
            <a:avLst/>
          </a:prstGeom>
          <a:noFill/>
        </p:spPr>
        <p:txBody>
          <a:bodyPr wrap="none" rtlCol="0">
            <a:spAutoFit/>
          </a:bodyPr>
          <a:lstStyle/>
          <a:p>
            <a:r>
              <a:rPr lang="en-US" altLang="ja-JP" sz="2400" dirty="0" smtClean="0"/>
              <a:t>  temp := x </a:t>
            </a:r>
          </a:p>
        </p:txBody>
      </p:sp>
      <p:cxnSp>
        <p:nvCxnSpPr>
          <p:cNvPr id="7" name="直線矢印コネクタ 6"/>
          <p:cNvCxnSpPr/>
          <p:nvPr/>
        </p:nvCxnSpPr>
        <p:spPr>
          <a:xfrm rot="5400000">
            <a:off x="6894132" y="3888896"/>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直線矢印コネクタ 7"/>
          <p:cNvCxnSpPr/>
          <p:nvPr/>
        </p:nvCxnSpPr>
        <p:spPr>
          <a:xfrm rot="5400000">
            <a:off x="6894529" y="2889161"/>
            <a:ext cx="499272"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9" name="テキスト ボックス 8"/>
          <p:cNvSpPr txBox="1"/>
          <p:nvPr/>
        </p:nvSpPr>
        <p:spPr>
          <a:xfrm>
            <a:off x="7262548" y="2370223"/>
            <a:ext cx="902811" cy="523220"/>
          </a:xfrm>
          <a:prstGeom prst="rect">
            <a:avLst/>
          </a:prstGeom>
          <a:noFill/>
        </p:spPr>
        <p:txBody>
          <a:bodyPr wrap="none" rtlCol="0">
            <a:spAutoFit/>
          </a:bodyPr>
          <a:lstStyle/>
          <a:p>
            <a:r>
              <a:rPr lang="ja-JP" altLang="en-US" sz="2800" dirty="0" smtClean="0"/>
              <a:t>入口</a:t>
            </a:r>
            <a:endParaRPr lang="en-US" altLang="ja-JP" sz="2800" dirty="0" smtClean="0"/>
          </a:p>
        </p:txBody>
      </p:sp>
      <p:sp>
        <p:nvSpPr>
          <p:cNvPr id="10" name="テキスト ボックス 9"/>
          <p:cNvSpPr txBox="1"/>
          <p:nvPr/>
        </p:nvSpPr>
        <p:spPr>
          <a:xfrm>
            <a:off x="7268946" y="5853839"/>
            <a:ext cx="902811" cy="523220"/>
          </a:xfrm>
          <a:prstGeom prst="rect">
            <a:avLst/>
          </a:prstGeom>
          <a:noFill/>
        </p:spPr>
        <p:txBody>
          <a:bodyPr wrap="none" rtlCol="0">
            <a:spAutoFit/>
          </a:bodyPr>
          <a:lstStyle/>
          <a:p>
            <a:r>
              <a:rPr lang="ja-JP" altLang="en-US" sz="2800" dirty="0" smtClean="0"/>
              <a:t>出口</a:t>
            </a:r>
            <a:endParaRPr lang="en-US" altLang="ja-JP" sz="2800" dirty="0" smtClean="0"/>
          </a:p>
        </p:txBody>
      </p:sp>
      <p:sp>
        <p:nvSpPr>
          <p:cNvPr id="13" name="テキスト ボックス 12"/>
          <p:cNvSpPr txBox="1"/>
          <p:nvPr/>
        </p:nvSpPr>
        <p:spPr>
          <a:xfrm>
            <a:off x="6643702" y="4210764"/>
            <a:ext cx="1031051" cy="461665"/>
          </a:xfrm>
          <a:prstGeom prst="rect">
            <a:avLst/>
          </a:prstGeom>
          <a:noFill/>
        </p:spPr>
        <p:txBody>
          <a:bodyPr wrap="none" rtlCol="0">
            <a:spAutoFit/>
          </a:bodyPr>
          <a:lstStyle/>
          <a:p>
            <a:r>
              <a:rPr lang="en-US" altLang="ja-JP" sz="2400" dirty="0" smtClean="0"/>
              <a:t>  x := y </a:t>
            </a:r>
          </a:p>
        </p:txBody>
      </p:sp>
      <p:cxnSp>
        <p:nvCxnSpPr>
          <p:cNvPr id="14" name="直線矢印コネクタ 13"/>
          <p:cNvCxnSpPr/>
          <p:nvPr/>
        </p:nvCxnSpPr>
        <p:spPr>
          <a:xfrm rot="5400000">
            <a:off x="6894132" y="4960466"/>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6572264" y="5210896"/>
            <a:ext cx="1564724" cy="461665"/>
          </a:xfrm>
          <a:prstGeom prst="rect">
            <a:avLst/>
          </a:prstGeom>
          <a:noFill/>
        </p:spPr>
        <p:txBody>
          <a:bodyPr wrap="none" rtlCol="0">
            <a:spAutoFit/>
          </a:bodyPr>
          <a:lstStyle/>
          <a:p>
            <a:r>
              <a:rPr lang="en-US" altLang="ja-JP" sz="2400" dirty="0" smtClean="0"/>
              <a:t>  y := temp </a:t>
            </a:r>
          </a:p>
        </p:txBody>
      </p:sp>
      <p:cxnSp>
        <p:nvCxnSpPr>
          <p:cNvPr id="16" name="直線矢印コネクタ 15"/>
          <p:cNvCxnSpPr/>
          <p:nvPr/>
        </p:nvCxnSpPr>
        <p:spPr>
          <a:xfrm rot="5400000">
            <a:off x="6894132" y="5889160"/>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正方形/長方形 16"/>
          <p:cNvSpPr/>
          <p:nvPr/>
        </p:nvSpPr>
        <p:spPr>
          <a:xfrm>
            <a:off x="788781" y="5190206"/>
            <a:ext cx="2609369" cy="1384995"/>
          </a:xfrm>
          <a:prstGeom prst="rect">
            <a:avLst/>
          </a:prstGeom>
        </p:spPr>
        <p:txBody>
          <a:bodyPr wrap="none">
            <a:spAutoFit/>
          </a:bodyPr>
          <a:lstStyle/>
          <a:p>
            <a:r>
              <a:rPr lang="ja-JP" altLang="en-US" sz="2800" dirty="0" smtClean="0"/>
              <a:t>（例）</a:t>
            </a:r>
            <a:r>
              <a:rPr lang="en-US" altLang="ja-JP" sz="2800" dirty="0" smtClean="0"/>
              <a:t> temp := x;  </a:t>
            </a:r>
          </a:p>
          <a:p>
            <a:r>
              <a:rPr lang="en-US" altLang="ja-JP" sz="2800" dirty="0" smtClean="0"/>
              <a:t>          x := y;  </a:t>
            </a:r>
          </a:p>
          <a:p>
            <a:r>
              <a:rPr lang="en-US" altLang="ja-JP" sz="2800" dirty="0" smtClean="0"/>
              <a:t>          y := temp</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14282" y="274638"/>
            <a:ext cx="8929718" cy="1143000"/>
          </a:xfrm>
        </p:spPr>
        <p:txBody>
          <a:bodyPr>
            <a:normAutofit fontScale="90000"/>
          </a:bodyPr>
          <a:lstStyle/>
          <a:p>
            <a:r>
              <a:rPr lang="ja-JP" altLang="en-US" dirty="0" smtClean="0"/>
              <a:t>逐次文のグループ化（複合文、ブロック）</a:t>
            </a:r>
            <a:endParaRPr kumimoji="1" lang="ja-JP" altLang="en-US" dirty="0"/>
          </a:p>
        </p:txBody>
      </p:sp>
      <p:sp>
        <p:nvSpPr>
          <p:cNvPr id="4" name="正方形/長方形 3"/>
          <p:cNvSpPr/>
          <p:nvPr/>
        </p:nvSpPr>
        <p:spPr>
          <a:xfrm>
            <a:off x="341195" y="1451977"/>
            <a:ext cx="6578221" cy="4832092"/>
          </a:xfrm>
          <a:prstGeom prst="rect">
            <a:avLst/>
          </a:prstGeom>
        </p:spPr>
        <p:txBody>
          <a:bodyPr wrap="square">
            <a:spAutoFit/>
          </a:bodyPr>
          <a:lstStyle/>
          <a:p>
            <a:r>
              <a:rPr lang="ja-JP" altLang="en-US" sz="2800" dirty="0" smtClean="0"/>
              <a:t>逐次文は、</a:t>
            </a:r>
            <a:r>
              <a:rPr lang="en-US" altLang="ja-JP" sz="2800" dirty="0" smtClean="0"/>
              <a:t>ALGOL</a:t>
            </a:r>
            <a:r>
              <a:rPr lang="ja-JP" altLang="en-US" sz="2800" dirty="0" smtClean="0"/>
              <a:t>等では</a:t>
            </a:r>
            <a:r>
              <a:rPr lang="en-US" altLang="ja-JP" sz="2800" b="1" dirty="0" smtClean="0"/>
              <a:t>begin</a:t>
            </a:r>
            <a:r>
              <a:rPr lang="en-US" altLang="ja-JP" sz="2800" dirty="0" smtClean="0"/>
              <a:t>, </a:t>
            </a:r>
            <a:r>
              <a:rPr lang="en-US" altLang="ja-JP" sz="2800" b="1" dirty="0" smtClean="0"/>
              <a:t>end </a:t>
            </a:r>
            <a:r>
              <a:rPr lang="en-US" altLang="ja-JP" sz="2800" dirty="0" smtClean="0"/>
              <a:t>(C</a:t>
            </a:r>
            <a:r>
              <a:rPr lang="ja-JP" altLang="en-US" sz="2800" dirty="0" smtClean="0"/>
              <a:t>言語では </a:t>
            </a:r>
            <a:r>
              <a:rPr lang="en-US" altLang="ja-JP" sz="2800" dirty="0" smtClean="0"/>
              <a:t>{ </a:t>
            </a:r>
            <a:r>
              <a:rPr lang="ja-JP" altLang="en-US" sz="2800" dirty="0" smtClean="0"/>
              <a:t>と </a:t>
            </a:r>
            <a:r>
              <a:rPr lang="en-US" altLang="ja-JP" sz="2800" dirty="0" smtClean="0"/>
              <a:t>} ) </a:t>
            </a:r>
            <a:r>
              <a:rPr lang="ja-JP" altLang="en-US" sz="2800" dirty="0" smtClean="0"/>
              <a:t>で囲むことにより、</a:t>
            </a:r>
            <a:r>
              <a:rPr lang="en-US" altLang="ja-JP" sz="2800" dirty="0" smtClean="0"/>
              <a:t>1</a:t>
            </a:r>
            <a:r>
              <a:rPr lang="ja-JP" altLang="en-US" sz="2800" dirty="0" err="1" smtClean="0"/>
              <a:t>つの</a:t>
            </a:r>
            <a:r>
              <a:rPr lang="ja-JP" altLang="en-US" sz="2800" dirty="0" smtClean="0"/>
              <a:t>複合文にまとめることができる。</a:t>
            </a:r>
            <a:endParaRPr lang="en-US" altLang="ja-JP" sz="2800" dirty="0" smtClean="0"/>
          </a:p>
          <a:p>
            <a:r>
              <a:rPr lang="ja-JP" altLang="en-US" sz="2800" dirty="0" smtClean="0"/>
              <a:t>（例）</a:t>
            </a:r>
            <a:r>
              <a:rPr lang="en-US" altLang="ja-JP" sz="2800" dirty="0" smtClean="0"/>
              <a:t> </a:t>
            </a:r>
            <a:r>
              <a:rPr lang="en-US" altLang="ja-JP" sz="2800" b="1" dirty="0" smtClean="0"/>
              <a:t>begin</a:t>
            </a:r>
            <a:r>
              <a:rPr lang="en-US" altLang="ja-JP" sz="2800" dirty="0" smtClean="0"/>
              <a:t> temp := x;  x := y;  y := temp </a:t>
            </a:r>
            <a:r>
              <a:rPr lang="en-US" altLang="ja-JP" sz="2800" b="1" dirty="0" smtClean="0"/>
              <a:t>end</a:t>
            </a:r>
            <a:endParaRPr lang="en-US" altLang="ja-JP" sz="2800" dirty="0" smtClean="0"/>
          </a:p>
          <a:p>
            <a:r>
              <a:rPr lang="ja-JP" altLang="en-US" sz="2800" dirty="0" smtClean="0"/>
              <a:t>複合文は、文が書けるところならどこにでも書くことができる。</a:t>
            </a:r>
            <a:r>
              <a:rPr lang="en-US" altLang="ja-JP" sz="2800" b="1" dirty="0" smtClean="0"/>
              <a:t>begin</a:t>
            </a:r>
            <a:r>
              <a:rPr lang="en-US" altLang="ja-JP" sz="2800" dirty="0" smtClean="0"/>
              <a:t>, </a:t>
            </a:r>
            <a:r>
              <a:rPr lang="en-US" altLang="ja-JP" sz="2800" b="1" dirty="0" smtClean="0"/>
              <a:t>end</a:t>
            </a:r>
            <a:r>
              <a:rPr lang="ja-JP" altLang="en-US" sz="2800" dirty="0" smtClean="0"/>
              <a:t>で囲む文は０個でもよく、</a:t>
            </a:r>
            <a:endParaRPr lang="en-US" altLang="ja-JP" sz="2800" dirty="0" smtClean="0"/>
          </a:p>
          <a:p>
            <a:r>
              <a:rPr lang="en-US" altLang="ja-JP" sz="2800" dirty="0" smtClean="0"/>
              <a:t>    </a:t>
            </a:r>
            <a:r>
              <a:rPr lang="en-US" altLang="ja-JP" sz="2800" b="1" dirty="0" smtClean="0"/>
              <a:t>begin end</a:t>
            </a:r>
          </a:p>
          <a:p>
            <a:r>
              <a:rPr lang="ja-JP" altLang="en-US" sz="2800" dirty="0" smtClean="0"/>
              <a:t>も複合文である。複合文は、それを構成する各文が</a:t>
            </a:r>
            <a:r>
              <a:rPr lang="en-US" altLang="ja-JP" sz="2800" dirty="0" smtClean="0"/>
              <a:t>single entry, single exit</a:t>
            </a:r>
            <a:r>
              <a:rPr lang="ja-JP" altLang="en-US" sz="2800" dirty="0" smtClean="0"/>
              <a:t>なら</a:t>
            </a:r>
            <a:r>
              <a:rPr lang="en-US" altLang="ja-JP" sz="2800" dirty="0" smtClean="0"/>
              <a:t>single entry, single exit</a:t>
            </a:r>
            <a:r>
              <a:rPr lang="ja-JP" altLang="en-US" sz="2800" dirty="0" smtClean="0"/>
              <a:t>である。</a:t>
            </a:r>
            <a:endParaRPr lang="en-US" altLang="ja-JP" sz="2800" dirty="0" smtClean="0"/>
          </a:p>
        </p:txBody>
      </p:sp>
      <p:sp>
        <p:nvSpPr>
          <p:cNvPr id="23" name="テキスト ボックス 22"/>
          <p:cNvSpPr txBox="1"/>
          <p:nvPr/>
        </p:nvSpPr>
        <p:spPr>
          <a:xfrm>
            <a:off x="6974452" y="2714620"/>
            <a:ext cx="1558312" cy="461665"/>
          </a:xfrm>
          <a:prstGeom prst="rect">
            <a:avLst/>
          </a:prstGeom>
          <a:noFill/>
        </p:spPr>
        <p:txBody>
          <a:bodyPr wrap="none" rtlCol="0">
            <a:spAutoFit/>
          </a:bodyPr>
          <a:lstStyle/>
          <a:p>
            <a:r>
              <a:rPr lang="en-US" altLang="ja-JP" sz="2400" dirty="0" smtClean="0"/>
              <a:t>  temp := x </a:t>
            </a:r>
          </a:p>
        </p:txBody>
      </p:sp>
      <p:cxnSp>
        <p:nvCxnSpPr>
          <p:cNvPr id="24" name="直線矢印コネクタ 23"/>
          <p:cNvCxnSpPr/>
          <p:nvPr/>
        </p:nvCxnSpPr>
        <p:spPr>
          <a:xfrm rot="5400000">
            <a:off x="7367758" y="3464322"/>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直線矢印コネクタ 24"/>
          <p:cNvCxnSpPr/>
          <p:nvPr/>
        </p:nvCxnSpPr>
        <p:spPr>
          <a:xfrm rot="5400000">
            <a:off x="7368155" y="2464587"/>
            <a:ext cx="499272"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26" name="テキスト ボックス 25"/>
          <p:cNvSpPr txBox="1"/>
          <p:nvPr/>
        </p:nvSpPr>
        <p:spPr>
          <a:xfrm>
            <a:off x="7831708" y="2000240"/>
            <a:ext cx="800219" cy="461665"/>
          </a:xfrm>
          <a:prstGeom prst="rect">
            <a:avLst/>
          </a:prstGeom>
          <a:noFill/>
        </p:spPr>
        <p:txBody>
          <a:bodyPr wrap="none" rtlCol="0">
            <a:spAutoFit/>
          </a:bodyPr>
          <a:lstStyle/>
          <a:p>
            <a:r>
              <a:rPr lang="ja-JP" altLang="en-US" sz="2400" dirty="0" smtClean="0"/>
              <a:t>入口</a:t>
            </a:r>
            <a:endParaRPr lang="en-US" altLang="ja-JP" sz="2400" dirty="0" smtClean="0"/>
          </a:p>
        </p:txBody>
      </p:sp>
      <p:sp>
        <p:nvSpPr>
          <p:cNvPr id="27" name="テキスト ボックス 26"/>
          <p:cNvSpPr txBox="1"/>
          <p:nvPr/>
        </p:nvSpPr>
        <p:spPr>
          <a:xfrm>
            <a:off x="7974584" y="5429264"/>
            <a:ext cx="800219" cy="461665"/>
          </a:xfrm>
          <a:prstGeom prst="rect">
            <a:avLst/>
          </a:prstGeom>
          <a:noFill/>
        </p:spPr>
        <p:txBody>
          <a:bodyPr wrap="none" rtlCol="0">
            <a:spAutoFit/>
          </a:bodyPr>
          <a:lstStyle/>
          <a:p>
            <a:r>
              <a:rPr lang="ja-JP" altLang="en-US" sz="2400" dirty="0" smtClean="0"/>
              <a:t>出口</a:t>
            </a:r>
            <a:endParaRPr lang="en-US" altLang="ja-JP" sz="2400" dirty="0" smtClean="0"/>
          </a:p>
        </p:txBody>
      </p:sp>
      <p:sp>
        <p:nvSpPr>
          <p:cNvPr id="28" name="テキスト ボックス 27"/>
          <p:cNvSpPr txBox="1"/>
          <p:nvPr/>
        </p:nvSpPr>
        <p:spPr>
          <a:xfrm>
            <a:off x="7117328" y="3786190"/>
            <a:ext cx="1031051" cy="461665"/>
          </a:xfrm>
          <a:prstGeom prst="rect">
            <a:avLst/>
          </a:prstGeom>
          <a:noFill/>
        </p:spPr>
        <p:txBody>
          <a:bodyPr wrap="none" rtlCol="0">
            <a:spAutoFit/>
          </a:bodyPr>
          <a:lstStyle/>
          <a:p>
            <a:r>
              <a:rPr lang="en-US" altLang="ja-JP" sz="2400" dirty="0" smtClean="0"/>
              <a:t>  x := y </a:t>
            </a:r>
          </a:p>
        </p:txBody>
      </p:sp>
      <p:cxnSp>
        <p:nvCxnSpPr>
          <p:cNvPr id="29" name="直線矢印コネクタ 28"/>
          <p:cNvCxnSpPr/>
          <p:nvPr/>
        </p:nvCxnSpPr>
        <p:spPr>
          <a:xfrm rot="5400000">
            <a:off x="7367758" y="4535892"/>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テキスト ボックス 29"/>
          <p:cNvSpPr txBox="1"/>
          <p:nvPr/>
        </p:nvSpPr>
        <p:spPr>
          <a:xfrm>
            <a:off x="7045890" y="4786322"/>
            <a:ext cx="1564724" cy="461665"/>
          </a:xfrm>
          <a:prstGeom prst="rect">
            <a:avLst/>
          </a:prstGeom>
          <a:noFill/>
        </p:spPr>
        <p:txBody>
          <a:bodyPr wrap="none" rtlCol="0">
            <a:spAutoFit/>
          </a:bodyPr>
          <a:lstStyle/>
          <a:p>
            <a:r>
              <a:rPr lang="en-US" altLang="ja-JP" sz="2400" dirty="0" smtClean="0"/>
              <a:t>  y := temp </a:t>
            </a:r>
          </a:p>
        </p:txBody>
      </p:sp>
      <p:cxnSp>
        <p:nvCxnSpPr>
          <p:cNvPr id="31" name="直線矢印コネクタ 30"/>
          <p:cNvCxnSpPr/>
          <p:nvPr/>
        </p:nvCxnSpPr>
        <p:spPr>
          <a:xfrm rot="5400000">
            <a:off x="7367758" y="5464586"/>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条件文（</a:t>
            </a:r>
            <a:r>
              <a:rPr kumimoji="1" lang="en-US" altLang="ja-JP" dirty="0" smtClean="0"/>
              <a:t>conditional statements</a:t>
            </a:r>
            <a:r>
              <a:rPr kumimoji="1" lang="ja-JP" altLang="en-US" dirty="0" smtClean="0"/>
              <a:t>）</a:t>
            </a:r>
            <a:endParaRPr kumimoji="1" lang="ja-JP" altLang="en-US" dirty="0"/>
          </a:p>
        </p:txBody>
      </p:sp>
      <p:sp>
        <p:nvSpPr>
          <p:cNvPr id="4" name="テキスト ボックス 3"/>
          <p:cNvSpPr txBox="1"/>
          <p:nvPr/>
        </p:nvSpPr>
        <p:spPr>
          <a:xfrm>
            <a:off x="792182" y="1527470"/>
            <a:ext cx="6941900" cy="1384995"/>
          </a:xfrm>
          <a:prstGeom prst="rect">
            <a:avLst/>
          </a:prstGeom>
          <a:noFill/>
        </p:spPr>
        <p:txBody>
          <a:bodyPr wrap="none" rtlCol="0">
            <a:spAutoFit/>
          </a:bodyPr>
          <a:lstStyle/>
          <a:p>
            <a:r>
              <a:rPr lang="ja-JP" altLang="en-US" sz="2800" dirty="0" smtClean="0"/>
              <a:t>条件</a:t>
            </a:r>
            <a:r>
              <a:rPr kumimoji="1" lang="ja-JP" altLang="en-US" sz="2800" dirty="0" smtClean="0"/>
              <a:t>文は</a:t>
            </a:r>
            <a:r>
              <a:rPr kumimoji="1" lang="en-US" altLang="ja-JP" sz="2800" dirty="0" smtClean="0"/>
              <a:t>Pascal</a:t>
            </a:r>
            <a:r>
              <a:rPr kumimoji="1" lang="ja-JP" altLang="en-US" sz="2800" dirty="0" smtClean="0"/>
              <a:t>等では以下の形で書かれる。</a:t>
            </a:r>
            <a:endParaRPr kumimoji="1" lang="en-US" altLang="ja-JP" sz="2800" dirty="0" smtClean="0"/>
          </a:p>
          <a:p>
            <a:r>
              <a:rPr lang="ja-JP" altLang="en-US" sz="2800" b="1" dirty="0" smtClean="0"/>
              <a:t>   </a:t>
            </a:r>
            <a:r>
              <a:rPr kumimoji="1" lang="en-US" altLang="ja-JP" sz="2800" b="1" dirty="0" smtClean="0"/>
              <a:t> if </a:t>
            </a:r>
            <a:r>
              <a:rPr kumimoji="1" lang="ja-JP" altLang="en-US" sz="2800" dirty="0" smtClean="0"/>
              <a:t>式</a:t>
            </a:r>
            <a:r>
              <a:rPr kumimoji="1" lang="ja-JP" altLang="en-US" sz="2800" b="1" dirty="0" smtClean="0"/>
              <a:t>  </a:t>
            </a:r>
            <a:r>
              <a:rPr kumimoji="1" lang="en-US" altLang="ja-JP" sz="2800" b="1" dirty="0" smtClean="0"/>
              <a:t>then</a:t>
            </a:r>
            <a:r>
              <a:rPr kumimoji="1" lang="en-US" altLang="ja-JP" sz="2800" dirty="0" smtClean="0"/>
              <a:t> </a:t>
            </a:r>
            <a:r>
              <a:rPr kumimoji="1" lang="ja-JP" altLang="en-US" sz="2800" dirty="0" smtClean="0"/>
              <a:t>文 </a:t>
            </a:r>
            <a:r>
              <a:rPr kumimoji="1" lang="en-US" altLang="ja-JP" sz="2800" b="1" dirty="0" smtClean="0"/>
              <a:t>else</a:t>
            </a:r>
            <a:r>
              <a:rPr kumimoji="1" lang="en-US" altLang="ja-JP" sz="2800" dirty="0" smtClean="0"/>
              <a:t> </a:t>
            </a:r>
            <a:r>
              <a:rPr kumimoji="1" lang="ja-JP" altLang="en-US" sz="2800" dirty="0" smtClean="0"/>
              <a:t>文</a:t>
            </a:r>
            <a:endParaRPr kumimoji="1" lang="en-US" altLang="ja-JP" sz="2800" dirty="0" smtClean="0"/>
          </a:p>
          <a:p>
            <a:r>
              <a:rPr lang="en-US" altLang="ja-JP" sz="2800" dirty="0" smtClean="0"/>
              <a:t>    </a:t>
            </a:r>
            <a:r>
              <a:rPr lang="en-US" altLang="ja-JP" sz="2800" b="1" dirty="0" smtClean="0"/>
              <a:t>if</a:t>
            </a:r>
            <a:r>
              <a:rPr lang="en-US" altLang="ja-JP" sz="2800" dirty="0" smtClean="0"/>
              <a:t> </a:t>
            </a:r>
            <a:r>
              <a:rPr lang="ja-JP" altLang="en-US" sz="2800" dirty="0" smtClean="0"/>
              <a:t>式  </a:t>
            </a:r>
            <a:r>
              <a:rPr lang="en-US" altLang="ja-JP" sz="2800" b="1" dirty="0" smtClean="0"/>
              <a:t>then</a:t>
            </a:r>
            <a:r>
              <a:rPr lang="en-US" altLang="ja-JP" sz="2800" dirty="0" smtClean="0"/>
              <a:t> </a:t>
            </a:r>
            <a:r>
              <a:rPr lang="ja-JP" altLang="en-US" sz="2800" dirty="0" smtClean="0"/>
              <a:t>文</a:t>
            </a:r>
            <a:endParaRPr kumimoji="1" lang="en-US" altLang="ja-JP" sz="2800" dirty="0" smtClean="0"/>
          </a:p>
        </p:txBody>
      </p:sp>
      <p:cxnSp>
        <p:nvCxnSpPr>
          <p:cNvPr id="5" name="直線矢印コネクタ 4"/>
          <p:cNvCxnSpPr/>
          <p:nvPr/>
        </p:nvCxnSpPr>
        <p:spPr>
          <a:xfrm rot="5400000">
            <a:off x="6286909" y="2928537"/>
            <a:ext cx="571504"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643702" y="2356636"/>
            <a:ext cx="800219" cy="461665"/>
          </a:xfrm>
          <a:prstGeom prst="rect">
            <a:avLst/>
          </a:prstGeom>
          <a:noFill/>
          <a:ln>
            <a:noFill/>
          </a:ln>
        </p:spPr>
        <p:txBody>
          <a:bodyPr wrap="none" rtlCol="0">
            <a:spAutoFit/>
          </a:bodyPr>
          <a:lstStyle/>
          <a:p>
            <a:r>
              <a:rPr lang="ja-JP" altLang="en-US" sz="2400" dirty="0" smtClean="0"/>
              <a:t>入口</a:t>
            </a:r>
            <a:endParaRPr lang="en-US" altLang="ja-JP" sz="2400" dirty="0" smtClean="0"/>
          </a:p>
        </p:txBody>
      </p:sp>
      <p:sp>
        <p:nvSpPr>
          <p:cNvPr id="7" name="テキスト ボックス 6"/>
          <p:cNvSpPr txBox="1"/>
          <p:nvPr/>
        </p:nvSpPr>
        <p:spPr>
          <a:xfrm>
            <a:off x="743986" y="2919336"/>
            <a:ext cx="4294765" cy="1384995"/>
          </a:xfrm>
          <a:prstGeom prst="rect">
            <a:avLst/>
          </a:prstGeom>
          <a:noFill/>
        </p:spPr>
        <p:txBody>
          <a:bodyPr wrap="none" rtlCol="0">
            <a:spAutoFit/>
          </a:bodyPr>
          <a:lstStyle/>
          <a:p>
            <a:r>
              <a:rPr kumimoji="1" lang="ja-JP" altLang="en-US" sz="2800" dirty="0" smtClean="0"/>
              <a:t>（例） </a:t>
            </a:r>
            <a:r>
              <a:rPr kumimoji="1" lang="en-US" altLang="ja-JP" sz="2800" b="1" dirty="0" smtClean="0"/>
              <a:t>if</a:t>
            </a:r>
            <a:r>
              <a:rPr kumimoji="1" lang="en-US" altLang="ja-JP" sz="2800" dirty="0" smtClean="0"/>
              <a:t> x=0 </a:t>
            </a:r>
            <a:r>
              <a:rPr kumimoji="1" lang="en-US" altLang="ja-JP" sz="2800" b="1" dirty="0" smtClean="0"/>
              <a:t>then</a:t>
            </a:r>
            <a:r>
              <a:rPr kumimoji="1" lang="en-US" altLang="ja-JP" sz="2800" dirty="0" smtClean="0"/>
              <a:t> </a:t>
            </a:r>
          </a:p>
          <a:p>
            <a:r>
              <a:rPr lang="en-US" altLang="ja-JP" sz="2800" dirty="0" smtClean="0"/>
              <a:t>              </a:t>
            </a:r>
            <a:r>
              <a:rPr lang="en-US" altLang="ja-JP" sz="2800" b="1" dirty="0" smtClean="0"/>
              <a:t>begin</a:t>
            </a:r>
            <a:r>
              <a:rPr lang="en-US" altLang="ja-JP" sz="2800" dirty="0" smtClean="0"/>
              <a:t> </a:t>
            </a:r>
            <a:r>
              <a:rPr kumimoji="1" lang="en-US" altLang="ja-JP" sz="2800" dirty="0" smtClean="0"/>
              <a:t>x:=1; y:=3 </a:t>
            </a:r>
            <a:r>
              <a:rPr kumimoji="1" lang="en-US" altLang="ja-JP" sz="2800" b="1" dirty="0" smtClean="0"/>
              <a:t>end</a:t>
            </a:r>
          </a:p>
          <a:p>
            <a:r>
              <a:rPr lang="en-US" altLang="ja-JP" sz="2800" b="1" dirty="0" smtClean="0"/>
              <a:t>          </a:t>
            </a:r>
            <a:r>
              <a:rPr kumimoji="1" lang="en-US" altLang="ja-JP" sz="2800" b="1" dirty="0" smtClean="0"/>
              <a:t>else</a:t>
            </a:r>
            <a:r>
              <a:rPr kumimoji="1" lang="en-US" altLang="ja-JP" sz="2800" dirty="0" smtClean="0"/>
              <a:t> x:=2</a:t>
            </a:r>
            <a:endParaRPr kumimoji="1" lang="ja-JP" altLang="en-US" sz="2800" dirty="0"/>
          </a:p>
        </p:txBody>
      </p:sp>
      <p:sp>
        <p:nvSpPr>
          <p:cNvPr id="8" name="ひし形 7"/>
          <p:cNvSpPr/>
          <p:nvPr/>
        </p:nvSpPr>
        <p:spPr>
          <a:xfrm>
            <a:off x="5857884" y="321468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x=0</a:t>
            </a:r>
            <a:endParaRPr kumimoji="1" lang="ja-JP" altLang="en-US" sz="2800" dirty="0">
              <a:solidFill>
                <a:schemeClr val="tx1"/>
              </a:solidFill>
            </a:endParaRPr>
          </a:p>
        </p:txBody>
      </p:sp>
      <p:cxnSp>
        <p:nvCxnSpPr>
          <p:cNvPr id="11" name="図形 10"/>
          <p:cNvCxnSpPr>
            <a:stCxn id="8" idx="1"/>
          </p:cNvCxnSpPr>
          <p:nvPr/>
        </p:nvCxnSpPr>
        <p:spPr>
          <a:xfrm rot="10800000" flipV="1">
            <a:off x="5429256" y="3571876"/>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図形 12"/>
          <p:cNvCxnSpPr>
            <a:stCxn id="8" idx="3"/>
          </p:cNvCxnSpPr>
          <p:nvPr/>
        </p:nvCxnSpPr>
        <p:spPr>
          <a:xfrm>
            <a:off x="7286644" y="3571876"/>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テキスト ボックス 13"/>
          <p:cNvSpPr txBox="1"/>
          <p:nvPr/>
        </p:nvSpPr>
        <p:spPr>
          <a:xfrm>
            <a:off x="5004581" y="4201171"/>
            <a:ext cx="880369" cy="523220"/>
          </a:xfrm>
          <a:prstGeom prst="rect">
            <a:avLst/>
          </a:prstGeom>
          <a:noFill/>
          <a:ln>
            <a:noFill/>
          </a:ln>
        </p:spPr>
        <p:txBody>
          <a:bodyPr wrap="none" rtlCol="0">
            <a:spAutoFit/>
          </a:bodyPr>
          <a:lstStyle/>
          <a:p>
            <a:r>
              <a:rPr lang="en-US" altLang="ja-JP" sz="2800" dirty="0" smtClean="0"/>
              <a:t> x:=1</a:t>
            </a:r>
          </a:p>
        </p:txBody>
      </p:sp>
      <p:sp>
        <p:nvSpPr>
          <p:cNvPr id="15" name="テキスト ボックス 14"/>
          <p:cNvSpPr txBox="1"/>
          <p:nvPr/>
        </p:nvSpPr>
        <p:spPr>
          <a:xfrm>
            <a:off x="7276947" y="4228466"/>
            <a:ext cx="880369" cy="523220"/>
          </a:xfrm>
          <a:prstGeom prst="rect">
            <a:avLst/>
          </a:prstGeom>
          <a:noFill/>
          <a:ln>
            <a:noFill/>
          </a:ln>
        </p:spPr>
        <p:txBody>
          <a:bodyPr wrap="none" rtlCol="0">
            <a:spAutoFit/>
          </a:bodyPr>
          <a:lstStyle/>
          <a:p>
            <a:r>
              <a:rPr lang="en-US" altLang="ja-JP" sz="2800" dirty="0" smtClean="0"/>
              <a:t> x:=2</a:t>
            </a:r>
          </a:p>
        </p:txBody>
      </p:sp>
      <p:cxnSp>
        <p:nvCxnSpPr>
          <p:cNvPr id="17" name="図形 16"/>
          <p:cNvCxnSpPr/>
          <p:nvPr/>
        </p:nvCxnSpPr>
        <p:spPr>
          <a:xfrm rot="16200000" flipH="1">
            <a:off x="5751396" y="5255110"/>
            <a:ext cx="467029" cy="111130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1" name="直線矢印コネクタ 20"/>
          <p:cNvCxnSpPr/>
          <p:nvPr/>
        </p:nvCxnSpPr>
        <p:spPr>
          <a:xfrm rot="5400000">
            <a:off x="6254825" y="6330020"/>
            <a:ext cx="57148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 name="テキスト ボックス 22"/>
          <p:cNvSpPr txBox="1"/>
          <p:nvPr/>
        </p:nvSpPr>
        <p:spPr>
          <a:xfrm>
            <a:off x="6610360" y="6314447"/>
            <a:ext cx="960519" cy="461665"/>
          </a:xfrm>
          <a:prstGeom prst="rect">
            <a:avLst/>
          </a:prstGeom>
          <a:noFill/>
          <a:ln>
            <a:noFill/>
          </a:ln>
        </p:spPr>
        <p:txBody>
          <a:bodyPr wrap="none" rtlCol="0">
            <a:spAutoFit/>
          </a:bodyPr>
          <a:lstStyle/>
          <a:p>
            <a:r>
              <a:rPr lang="ja-JP" altLang="en-US" sz="2400" dirty="0" smtClean="0"/>
              <a:t>出口</a:t>
            </a:r>
            <a:r>
              <a:rPr lang="en-US" altLang="ja-JP" sz="2400" dirty="0" smtClean="0"/>
              <a:t>X</a:t>
            </a:r>
          </a:p>
        </p:txBody>
      </p:sp>
      <p:sp>
        <p:nvSpPr>
          <p:cNvPr id="24" name="テキスト ボックス 23"/>
          <p:cNvSpPr txBox="1"/>
          <p:nvPr/>
        </p:nvSpPr>
        <p:spPr>
          <a:xfrm>
            <a:off x="743991" y="4373045"/>
            <a:ext cx="3286148" cy="2246769"/>
          </a:xfrm>
          <a:prstGeom prst="rect">
            <a:avLst/>
          </a:prstGeom>
          <a:noFill/>
        </p:spPr>
        <p:txBody>
          <a:bodyPr wrap="square" rtlCol="0">
            <a:spAutoFit/>
          </a:bodyPr>
          <a:lstStyle/>
          <a:p>
            <a:r>
              <a:rPr kumimoji="1" lang="en-US" altLang="ja-JP" sz="2800" dirty="0" smtClean="0"/>
              <a:t>if</a:t>
            </a:r>
            <a:r>
              <a:rPr kumimoji="1" lang="ja-JP" altLang="en-US" sz="2800" dirty="0" smtClean="0"/>
              <a:t>文も、</a:t>
            </a:r>
            <a:r>
              <a:rPr kumimoji="1" lang="en-US" altLang="ja-JP" sz="2800" dirty="0" smtClean="0"/>
              <a:t>then</a:t>
            </a:r>
            <a:r>
              <a:rPr kumimoji="1" lang="ja-JP" altLang="en-US" sz="2800" dirty="0" smtClean="0"/>
              <a:t>パートの文と</a:t>
            </a:r>
            <a:r>
              <a:rPr kumimoji="1" lang="en-US" altLang="ja-JP" sz="2800" dirty="0" smtClean="0"/>
              <a:t>else</a:t>
            </a:r>
            <a:r>
              <a:rPr kumimoji="1" lang="ja-JP" altLang="en-US" sz="2800" dirty="0" smtClean="0"/>
              <a:t>パートの文が</a:t>
            </a:r>
            <a:r>
              <a:rPr kumimoji="1" lang="en-US" altLang="ja-JP" sz="2800" dirty="0" smtClean="0"/>
              <a:t>single entry, single exit</a:t>
            </a:r>
            <a:r>
              <a:rPr kumimoji="1" lang="ja-JP" altLang="en-US" sz="2800" dirty="0" smtClean="0"/>
              <a:t>なら</a:t>
            </a:r>
            <a:r>
              <a:rPr kumimoji="1" lang="en-US" altLang="ja-JP" sz="2800" dirty="0" smtClean="0"/>
              <a:t>single entry, single exit</a:t>
            </a:r>
            <a:r>
              <a:rPr kumimoji="1" lang="ja-JP" altLang="en-US" sz="2800" dirty="0" smtClean="0"/>
              <a:t>である。</a:t>
            </a:r>
            <a:endParaRPr kumimoji="1" lang="en-US" altLang="ja-JP" sz="2800" dirty="0" smtClean="0"/>
          </a:p>
        </p:txBody>
      </p:sp>
      <p:sp>
        <p:nvSpPr>
          <p:cNvPr id="28" name="テキスト ボックス 27"/>
          <p:cNvSpPr txBox="1"/>
          <p:nvPr/>
        </p:nvSpPr>
        <p:spPr>
          <a:xfrm>
            <a:off x="5442904" y="3187390"/>
            <a:ext cx="492443" cy="461665"/>
          </a:xfrm>
          <a:prstGeom prst="rect">
            <a:avLst/>
          </a:prstGeom>
          <a:noFill/>
        </p:spPr>
        <p:txBody>
          <a:bodyPr wrap="none" rtlCol="0">
            <a:spAutoFit/>
          </a:bodyPr>
          <a:lstStyle/>
          <a:p>
            <a:r>
              <a:rPr kumimoji="1" lang="ja-JP" altLang="en-US" sz="2400" dirty="0" smtClean="0"/>
              <a:t>真</a:t>
            </a:r>
            <a:endParaRPr kumimoji="1" lang="ja-JP" altLang="en-US" sz="2400" dirty="0"/>
          </a:p>
        </p:txBody>
      </p:sp>
      <p:sp>
        <p:nvSpPr>
          <p:cNvPr id="29" name="テキスト ボックス 28"/>
          <p:cNvSpPr txBox="1"/>
          <p:nvPr/>
        </p:nvSpPr>
        <p:spPr>
          <a:xfrm>
            <a:off x="7187910" y="3187390"/>
            <a:ext cx="492443" cy="461665"/>
          </a:xfrm>
          <a:prstGeom prst="rect">
            <a:avLst/>
          </a:prstGeom>
          <a:noFill/>
        </p:spPr>
        <p:txBody>
          <a:bodyPr wrap="none" rtlCol="0">
            <a:spAutoFit/>
          </a:bodyPr>
          <a:lstStyle/>
          <a:p>
            <a:r>
              <a:rPr kumimoji="1" lang="ja-JP" altLang="en-US" sz="2400" dirty="0" smtClean="0"/>
              <a:t>偽</a:t>
            </a:r>
            <a:endParaRPr kumimoji="1" lang="ja-JP" altLang="en-US" sz="2400" dirty="0"/>
          </a:p>
        </p:txBody>
      </p:sp>
      <p:cxnSp>
        <p:nvCxnSpPr>
          <p:cNvPr id="20" name="直線矢印コネクタ 19"/>
          <p:cNvCxnSpPr/>
          <p:nvPr/>
        </p:nvCxnSpPr>
        <p:spPr>
          <a:xfrm rot="5400000">
            <a:off x="5197759" y="4890733"/>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 name="テキスト ボックス 21"/>
          <p:cNvSpPr txBox="1"/>
          <p:nvPr/>
        </p:nvSpPr>
        <p:spPr>
          <a:xfrm>
            <a:off x="4848595" y="5100220"/>
            <a:ext cx="1213794" cy="523220"/>
          </a:xfrm>
          <a:prstGeom prst="rect">
            <a:avLst/>
          </a:prstGeom>
          <a:noFill/>
        </p:spPr>
        <p:txBody>
          <a:bodyPr wrap="none" rtlCol="0">
            <a:spAutoFit/>
          </a:bodyPr>
          <a:lstStyle/>
          <a:p>
            <a:r>
              <a:rPr lang="en-US" altLang="ja-JP" sz="2800" dirty="0" smtClean="0"/>
              <a:t>  y := 3 </a:t>
            </a:r>
          </a:p>
        </p:txBody>
      </p:sp>
      <p:cxnSp>
        <p:nvCxnSpPr>
          <p:cNvPr id="26" name="直線コネクタ 25"/>
          <p:cNvCxnSpPr/>
          <p:nvPr/>
        </p:nvCxnSpPr>
        <p:spPr>
          <a:xfrm rot="16200000" flipH="1">
            <a:off x="7101042" y="5381423"/>
            <a:ext cx="1321568" cy="75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p:nvCxnSpPr>
        <p:spPr>
          <a:xfrm rot="10800000" flipV="1">
            <a:off x="6537284" y="6045957"/>
            <a:ext cx="1228292" cy="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smtClean="0"/>
              <a:t>e</a:t>
            </a:r>
            <a:r>
              <a:rPr kumimoji="1" lang="en-US" altLang="ja-JP" dirty="0" smtClean="0"/>
              <a:t>lse</a:t>
            </a:r>
            <a:r>
              <a:rPr kumimoji="1" lang="ja-JP" altLang="en-US" dirty="0" smtClean="0"/>
              <a:t>パート無しの</a:t>
            </a:r>
            <a:r>
              <a:rPr lang="ja-JP" altLang="en-US" dirty="0" smtClean="0"/>
              <a:t>場合</a:t>
            </a:r>
            <a:endParaRPr kumimoji="1" lang="ja-JP" altLang="en-US" dirty="0"/>
          </a:p>
        </p:txBody>
      </p:sp>
      <p:sp>
        <p:nvSpPr>
          <p:cNvPr id="4" name="正方形/長方形 3"/>
          <p:cNvSpPr/>
          <p:nvPr/>
        </p:nvSpPr>
        <p:spPr>
          <a:xfrm>
            <a:off x="825690" y="1766332"/>
            <a:ext cx="2900150" cy="2246769"/>
          </a:xfrm>
          <a:prstGeom prst="rect">
            <a:avLst/>
          </a:prstGeom>
        </p:spPr>
        <p:txBody>
          <a:bodyPr wrap="square">
            <a:spAutoFit/>
          </a:bodyPr>
          <a:lstStyle/>
          <a:p>
            <a:r>
              <a:rPr lang="ja-JP" altLang="en-US" sz="2800" dirty="0" smtClean="0"/>
              <a:t>（例） </a:t>
            </a:r>
            <a:r>
              <a:rPr lang="en-US" altLang="ja-JP" sz="2800" b="1" dirty="0" smtClean="0"/>
              <a:t>if</a:t>
            </a:r>
            <a:r>
              <a:rPr lang="en-US" altLang="ja-JP" sz="2800" dirty="0" smtClean="0"/>
              <a:t> x=0 </a:t>
            </a:r>
            <a:r>
              <a:rPr lang="en-US" altLang="ja-JP" sz="2800" b="1" dirty="0" smtClean="0"/>
              <a:t>then</a:t>
            </a:r>
            <a:r>
              <a:rPr lang="en-US" altLang="ja-JP" sz="2800" dirty="0" smtClean="0"/>
              <a:t> </a:t>
            </a:r>
          </a:p>
          <a:p>
            <a:r>
              <a:rPr lang="en-US" altLang="ja-JP" sz="2800" dirty="0" smtClean="0"/>
              <a:t>              </a:t>
            </a:r>
            <a:r>
              <a:rPr lang="en-US" altLang="ja-JP" sz="2800" b="1" dirty="0" smtClean="0"/>
              <a:t>begin</a:t>
            </a:r>
            <a:r>
              <a:rPr lang="en-US" altLang="ja-JP" sz="2800" dirty="0" smtClean="0"/>
              <a:t> </a:t>
            </a:r>
          </a:p>
          <a:p>
            <a:r>
              <a:rPr lang="en-US" altLang="ja-JP" sz="2800" dirty="0" smtClean="0"/>
              <a:t>                 x:=1;</a:t>
            </a:r>
          </a:p>
          <a:p>
            <a:r>
              <a:rPr lang="en-US" altLang="ja-JP" sz="2800" dirty="0" smtClean="0"/>
              <a:t>                 y:=3</a:t>
            </a:r>
          </a:p>
          <a:p>
            <a:r>
              <a:rPr lang="en-US" altLang="ja-JP" sz="2800" dirty="0" smtClean="0"/>
              <a:t>              </a:t>
            </a:r>
            <a:r>
              <a:rPr lang="en-US" altLang="ja-JP" sz="2800" b="1" dirty="0" smtClean="0"/>
              <a:t>end</a:t>
            </a:r>
          </a:p>
        </p:txBody>
      </p:sp>
      <p:cxnSp>
        <p:nvCxnSpPr>
          <p:cNvPr id="5" name="直線矢印コネクタ 4"/>
          <p:cNvCxnSpPr/>
          <p:nvPr/>
        </p:nvCxnSpPr>
        <p:spPr>
          <a:xfrm rot="5400000">
            <a:off x="6082192" y="2341684"/>
            <a:ext cx="571504"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438985" y="1769783"/>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7" name="ひし形 6"/>
          <p:cNvSpPr/>
          <p:nvPr/>
        </p:nvSpPr>
        <p:spPr>
          <a:xfrm>
            <a:off x="5653167" y="2627833"/>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x=0</a:t>
            </a:r>
            <a:endParaRPr kumimoji="1" lang="ja-JP" altLang="en-US" sz="2800" dirty="0">
              <a:solidFill>
                <a:schemeClr val="tx1"/>
              </a:solidFill>
            </a:endParaRPr>
          </a:p>
        </p:txBody>
      </p:sp>
      <p:cxnSp>
        <p:nvCxnSpPr>
          <p:cNvPr id="8" name="図形 7"/>
          <p:cNvCxnSpPr>
            <a:stCxn id="7" idx="1"/>
          </p:cNvCxnSpPr>
          <p:nvPr/>
        </p:nvCxnSpPr>
        <p:spPr>
          <a:xfrm rot="10800000" flipV="1">
            <a:off x="5224539" y="2985023"/>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テキスト ボックス 9"/>
          <p:cNvSpPr txBox="1"/>
          <p:nvPr/>
        </p:nvSpPr>
        <p:spPr>
          <a:xfrm>
            <a:off x="4827158" y="3559725"/>
            <a:ext cx="880369" cy="523220"/>
          </a:xfrm>
          <a:prstGeom prst="rect">
            <a:avLst/>
          </a:prstGeom>
          <a:noFill/>
          <a:ln>
            <a:noFill/>
          </a:ln>
        </p:spPr>
        <p:txBody>
          <a:bodyPr wrap="none" rtlCol="0">
            <a:spAutoFit/>
          </a:bodyPr>
          <a:lstStyle/>
          <a:p>
            <a:r>
              <a:rPr lang="en-US" altLang="ja-JP" sz="2800" dirty="0" smtClean="0"/>
              <a:t> x:=1</a:t>
            </a:r>
          </a:p>
        </p:txBody>
      </p:sp>
      <p:cxnSp>
        <p:nvCxnSpPr>
          <p:cNvPr id="12" name="図形 11"/>
          <p:cNvCxnSpPr/>
          <p:nvPr/>
        </p:nvCxnSpPr>
        <p:spPr>
          <a:xfrm rot="16200000" flipH="1">
            <a:off x="5546679" y="4668257"/>
            <a:ext cx="467029" cy="111130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6050108" y="5743167"/>
            <a:ext cx="57148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6364699" y="5786526"/>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16" name="テキスト ボックス 15"/>
          <p:cNvSpPr txBox="1"/>
          <p:nvPr/>
        </p:nvSpPr>
        <p:spPr>
          <a:xfrm>
            <a:off x="5238187" y="2600537"/>
            <a:ext cx="492443" cy="461665"/>
          </a:xfrm>
          <a:prstGeom prst="rect">
            <a:avLst/>
          </a:prstGeom>
          <a:noFill/>
        </p:spPr>
        <p:txBody>
          <a:bodyPr wrap="none" rtlCol="0">
            <a:spAutoFit/>
          </a:bodyPr>
          <a:lstStyle/>
          <a:p>
            <a:r>
              <a:rPr kumimoji="1" lang="ja-JP" altLang="en-US" sz="2400" dirty="0" smtClean="0"/>
              <a:t>真</a:t>
            </a:r>
            <a:endParaRPr kumimoji="1" lang="ja-JP" altLang="en-US" sz="2400" dirty="0"/>
          </a:p>
        </p:txBody>
      </p:sp>
      <p:sp>
        <p:nvSpPr>
          <p:cNvPr id="17" name="テキスト ボックス 16"/>
          <p:cNvSpPr txBox="1"/>
          <p:nvPr/>
        </p:nvSpPr>
        <p:spPr>
          <a:xfrm>
            <a:off x="6996841" y="2600537"/>
            <a:ext cx="492443" cy="461665"/>
          </a:xfrm>
          <a:prstGeom prst="rect">
            <a:avLst/>
          </a:prstGeom>
          <a:noFill/>
        </p:spPr>
        <p:txBody>
          <a:bodyPr wrap="none" rtlCol="0">
            <a:spAutoFit/>
          </a:bodyPr>
          <a:lstStyle/>
          <a:p>
            <a:r>
              <a:rPr kumimoji="1" lang="ja-JP" altLang="en-US" sz="2400" dirty="0" smtClean="0"/>
              <a:t>偽</a:t>
            </a:r>
            <a:endParaRPr kumimoji="1" lang="ja-JP" altLang="en-US" sz="2400" dirty="0"/>
          </a:p>
        </p:txBody>
      </p:sp>
      <p:cxnSp>
        <p:nvCxnSpPr>
          <p:cNvPr id="18" name="直線矢印コネクタ 17"/>
          <p:cNvCxnSpPr/>
          <p:nvPr/>
        </p:nvCxnSpPr>
        <p:spPr>
          <a:xfrm rot="5400000">
            <a:off x="4993042" y="4303880"/>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テキスト ボックス 18"/>
          <p:cNvSpPr txBox="1"/>
          <p:nvPr/>
        </p:nvSpPr>
        <p:spPr>
          <a:xfrm>
            <a:off x="4643878" y="4486070"/>
            <a:ext cx="1213794" cy="523220"/>
          </a:xfrm>
          <a:prstGeom prst="rect">
            <a:avLst/>
          </a:prstGeom>
          <a:noFill/>
        </p:spPr>
        <p:txBody>
          <a:bodyPr wrap="none" rtlCol="0">
            <a:spAutoFit/>
          </a:bodyPr>
          <a:lstStyle/>
          <a:p>
            <a:r>
              <a:rPr lang="en-US" altLang="ja-JP" sz="2800" dirty="0" smtClean="0"/>
              <a:t>  y := 3 </a:t>
            </a:r>
          </a:p>
        </p:txBody>
      </p:sp>
      <p:cxnSp>
        <p:nvCxnSpPr>
          <p:cNvPr id="22" name="直線コネクタ 21"/>
          <p:cNvCxnSpPr/>
          <p:nvPr/>
        </p:nvCxnSpPr>
        <p:spPr>
          <a:xfrm>
            <a:off x="6332561" y="5459104"/>
            <a:ext cx="13101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コネクタ 23"/>
          <p:cNvCxnSpPr/>
          <p:nvPr/>
        </p:nvCxnSpPr>
        <p:spPr>
          <a:xfrm rot="16200000" flipV="1">
            <a:off x="6400802" y="4217158"/>
            <a:ext cx="2470245" cy="136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a:endCxn id="7" idx="3"/>
          </p:cNvCxnSpPr>
          <p:nvPr/>
        </p:nvCxnSpPr>
        <p:spPr>
          <a:xfrm rot="10800000">
            <a:off x="7081927" y="2985024"/>
            <a:ext cx="533524" cy="38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繰り返し文（</a:t>
            </a:r>
            <a:r>
              <a:rPr lang="en-US" altLang="ja-JP" dirty="0" smtClean="0"/>
              <a:t>loop</a:t>
            </a:r>
            <a:r>
              <a:rPr lang="ja-JP" altLang="en-US" dirty="0" smtClean="0"/>
              <a:t>）</a:t>
            </a:r>
            <a:endParaRPr kumimoji="1" lang="ja-JP" altLang="en-US" dirty="0"/>
          </a:p>
        </p:txBody>
      </p:sp>
      <p:sp>
        <p:nvSpPr>
          <p:cNvPr id="4" name="テキスト ボックス 3"/>
          <p:cNvSpPr txBox="1"/>
          <p:nvPr/>
        </p:nvSpPr>
        <p:spPr>
          <a:xfrm>
            <a:off x="638002" y="1322753"/>
            <a:ext cx="7567072" cy="954107"/>
          </a:xfrm>
          <a:prstGeom prst="rect">
            <a:avLst/>
          </a:prstGeom>
          <a:noFill/>
        </p:spPr>
        <p:txBody>
          <a:bodyPr wrap="none" rtlCol="0">
            <a:spAutoFit/>
          </a:bodyPr>
          <a:lstStyle/>
          <a:p>
            <a:r>
              <a:rPr lang="en-US" altLang="ja-JP" sz="2800" dirty="0" smtClean="0"/>
              <a:t> </a:t>
            </a:r>
            <a:r>
              <a:rPr lang="ja-JP" altLang="en-US" sz="2800" dirty="0" smtClean="0"/>
              <a:t>繰り返し文は</a:t>
            </a:r>
            <a:r>
              <a:rPr lang="en-US" altLang="ja-JP" sz="2800" dirty="0" smtClean="0"/>
              <a:t>Pascal</a:t>
            </a:r>
            <a:r>
              <a:rPr lang="ja-JP" altLang="en-US" sz="2800" dirty="0" smtClean="0"/>
              <a:t>等では以下の形で書かれる。</a:t>
            </a:r>
            <a:endParaRPr lang="en-US" altLang="ja-JP" sz="2800" dirty="0" smtClean="0"/>
          </a:p>
          <a:p>
            <a:r>
              <a:rPr kumimoji="1" lang="en-US" altLang="ja-JP" sz="2800" dirty="0" smtClean="0"/>
              <a:t>    </a:t>
            </a:r>
            <a:r>
              <a:rPr kumimoji="1" lang="en-US" altLang="ja-JP" sz="2800" b="1" dirty="0" smtClean="0"/>
              <a:t>while</a:t>
            </a:r>
            <a:r>
              <a:rPr kumimoji="1" lang="en-US" altLang="ja-JP" sz="2800" dirty="0" smtClean="0"/>
              <a:t> </a:t>
            </a:r>
            <a:r>
              <a:rPr kumimoji="1" lang="ja-JP" altLang="en-US" sz="2800" dirty="0" smtClean="0"/>
              <a:t>式 </a:t>
            </a:r>
            <a:r>
              <a:rPr kumimoji="1" lang="en-US" altLang="ja-JP" sz="2800" b="1" dirty="0" smtClean="0"/>
              <a:t>do</a:t>
            </a:r>
            <a:r>
              <a:rPr kumimoji="1" lang="en-US" altLang="ja-JP" sz="2800" dirty="0" smtClean="0"/>
              <a:t> </a:t>
            </a:r>
            <a:r>
              <a:rPr kumimoji="1" lang="ja-JP" altLang="en-US" sz="2800" dirty="0" smtClean="0"/>
              <a:t>文</a:t>
            </a:r>
            <a:endParaRPr kumimoji="1" lang="ja-JP" altLang="en-US" sz="2800" dirty="0"/>
          </a:p>
        </p:txBody>
      </p:sp>
      <p:sp>
        <p:nvSpPr>
          <p:cNvPr id="5" name="テキスト ボックス 4"/>
          <p:cNvSpPr txBox="1"/>
          <p:nvPr/>
        </p:nvSpPr>
        <p:spPr>
          <a:xfrm>
            <a:off x="815430" y="2646382"/>
            <a:ext cx="4120039" cy="523220"/>
          </a:xfrm>
          <a:prstGeom prst="rect">
            <a:avLst/>
          </a:prstGeom>
          <a:noFill/>
        </p:spPr>
        <p:txBody>
          <a:bodyPr wrap="none" rtlCol="0">
            <a:spAutoFit/>
          </a:bodyPr>
          <a:lstStyle/>
          <a:p>
            <a:r>
              <a:rPr kumimoji="1" lang="ja-JP" altLang="en-US" sz="2800" dirty="0" smtClean="0"/>
              <a:t>（例） </a:t>
            </a:r>
            <a:r>
              <a:rPr kumimoji="1" lang="en-US" altLang="ja-JP" sz="2800" dirty="0" smtClean="0"/>
              <a:t>while x &gt; 0 do x := x-1</a:t>
            </a:r>
            <a:endParaRPr kumimoji="1" lang="ja-JP" altLang="en-US" sz="2800" dirty="0"/>
          </a:p>
        </p:txBody>
      </p:sp>
      <p:cxnSp>
        <p:nvCxnSpPr>
          <p:cNvPr id="6" name="直線矢印コネクタ 5"/>
          <p:cNvCxnSpPr/>
          <p:nvPr/>
        </p:nvCxnSpPr>
        <p:spPr>
          <a:xfrm rot="5400000">
            <a:off x="6405987" y="2647317"/>
            <a:ext cx="690507" cy="880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7" name="テキスト ボックス 6"/>
          <p:cNvSpPr txBox="1"/>
          <p:nvPr/>
        </p:nvSpPr>
        <p:spPr>
          <a:xfrm>
            <a:off x="6763685" y="1975150"/>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8" name="ひし形 7"/>
          <p:cNvSpPr/>
          <p:nvPr/>
        </p:nvSpPr>
        <p:spPr>
          <a:xfrm>
            <a:off x="6000760" y="2996973"/>
            <a:ext cx="1460458"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10" name="図形 9"/>
          <p:cNvCxnSpPr>
            <a:stCxn id="8" idx="3"/>
          </p:cNvCxnSpPr>
          <p:nvPr/>
        </p:nvCxnSpPr>
        <p:spPr>
          <a:xfrm>
            <a:off x="7461218" y="3354163"/>
            <a:ext cx="454483" cy="2432482"/>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0" name="直線矢印コネクタ 29"/>
          <p:cNvCxnSpPr/>
          <p:nvPr/>
        </p:nvCxnSpPr>
        <p:spPr>
          <a:xfrm rot="5400000">
            <a:off x="6394463" y="4051419"/>
            <a:ext cx="642148"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0" name="テキスト ボックス 39"/>
          <p:cNvSpPr txBox="1"/>
          <p:nvPr/>
        </p:nvSpPr>
        <p:spPr>
          <a:xfrm>
            <a:off x="6064946" y="4319092"/>
            <a:ext cx="1309974" cy="523220"/>
          </a:xfrm>
          <a:prstGeom prst="rect">
            <a:avLst/>
          </a:prstGeom>
          <a:noFill/>
        </p:spPr>
        <p:txBody>
          <a:bodyPr wrap="none" rtlCol="0">
            <a:spAutoFit/>
          </a:bodyPr>
          <a:lstStyle/>
          <a:p>
            <a:r>
              <a:rPr kumimoji="1" lang="en-US" altLang="ja-JP" sz="2800" dirty="0" smtClean="0"/>
              <a:t> x := x-1</a:t>
            </a:r>
            <a:endParaRPr kumimoji="1" lang="ja-JP" altLang="en-US" sz="2800" dirty="0"/>
          </a:p>
        </p:txBody>
      </p:sp>
      <p:cxnSp>
        <p:nvCxnSpPr>
          <p:cNvPr id="41" name="図形 40"/>
          <p:cNvCxnSpPr/>
          <p:nvPr/>
        </p:nvCxnSpPr>
        <p:spPr>
          <a:xfrm rot="5400000">
            <a:off x="5894272" y="4495158"/>
            <a:ext cx="467029" cy="1174707"/>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rot="5400000" flipH="1" flipV="1">
            <a:off x="4227601" y="4002642"/>
            <a:ext cx="2613784" cy="13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矢印コネクタ 45"/>
          <p:cNvCxnSpPr/>
          <p:nvPr/>
        </p:nvCxnSpPr>
        <p:spPr>
          <a:xfrm>
            <a:off x="5540991" y="2674953"/>
            <a:ext cx="1187355"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9" name="直線コネクタ 58"/>
          <p:cNvCxnSpPr/>
          <p:nvPr/>
        </p:nvCxnSpPr>
        <p:spPr>
          <a:xfrm rot="10800000">
            <a:off x="6728347" y="5786646"/>
            <a:ext cx="12010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線矢印コネクタ 60"/>
          <p:cNvCxnSpPr/>
          <p:nvPr/>
        </p:nvCxnSpPr>
        <p:spPr>
          <a:xfrm rot="5400000">
            <a:off x="6448568" y="6039129"/>
            <a:ext cx="532262"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2" name="テキスト ボックス 61"/>
          <p:cNvSpPr txBox="1"/>
          <p:nvPr/>
        </p:nvSpPr>
        <p:spPr>
          <a:xfrm>
            <a:off x="6289065" y="3665056"/>
            <a:ext cx="492443" cy="461665"/>
          </a:xfrm>
          <a:prstGeom prst="rect">
            <a:avLst/>
          </a:prstGeom>
          <a:noFill/>
        </p:spPr>
        <p:txBody>
          <a:bodyPr wrap="none" rtlCol="0">
            <a:spAutoFit/>
          </a:bodyPr>
          <a:lstStyle/>
          <a:p>
            <a:r>
              <a:rPr kumimoji="1" lang="ja-JP" altLang="en-US" sz="2400" dirty="0" smtClean="0"/>
              <a:t>真</a:t>
            </a:r>
            <a:endParaRPr kumimoji="1" lang="ja-JP" altLang="en-US" sz="2400" dirty="0"/>
          </a:p>
        </p:txBody>
      </p:sp>
      <p:sp>
        <p:nvSpPr>
          <p:cNvPr id="63" name="テキスト ボックス 62"/>
          <p:cNvSpPr txBox="1"/>
          <p:nvPr/>
        </p:nvSpPr>
        <p:spPr>
          <a:xfrm>
            <a:off x="7378979" y="2982668"/>
            <a:ext cx="492443" cy="461665"/>
          </a:xfrm>
          <a:prstGeom prst="rect">
            <a:avLst/>
          </a:prstGeom>
          <a:noFill/>
        </p:spPr>
        <p:txBody>
          <a:bodyPr wrap="none" rtlCol="0">
            <a:spAutoFit/>
          </a:bodyPr>
          <a:lstStyle/>
          <a:p>
            <a:r>
              <a:rPr kumimoji="1" lang="ja-JP" altLang="en-US" sz="2400" dirty="0" smtClean="0"/>
              <a:t>偽</a:t>
            </a:r>
            <a:endParaRPr kumimoji="1" lang="ja-JP" altLang="en-US" sz="2400" dirty="0"/>
          </a:p>
        </p:txBody>
      </p:sp>
      <p:sp>
        <p:nvSpPr>
          <p:cNvPr id="64" name="テキスト ボックス 63"/>
          <p:cNvSpPr txBox="1"/>
          <p:nvPr/>
        </p:nvSpPr>
        <p:spPr>
          <a:xfrm>
            <a:off x="5818791" y="6045812"/>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65" name="テキスト ボックス 64"/>
          <p:cNvSpPr txBox="1"/>
          <p:nvPr/>
        </p:nvSpPr>
        <p:spPr>
          <a:xfrm>
            <a:off x="777922" y="4476465"/>
            <a:ext cx="3835021" cy="1815882"/>
          </a:xfrm>
          <a:prstGeom prst="rect">
            <a:avLst/>
          </a:prstGeom>
          <a:noFill/>
        </p:spPr>
        <p:txBody>
          <a:bodyPr wrap="square" rtlCol="0">
            <a:spAutoFit/>
          </a:bodyPr>
          <a:lstStyle/>
          <a:p>
            <a:r>
              <a:rPr kumimoji="1" lang="en-US" altLang="ja-JP" sz="2800" dirty="0" smtClean="0"/>
              <a:t>while</a:t>
            </a:r>
            <a:r>
              <a:rPr kumimoji="1" lang="ja-JP" altLang="en-US" sz="2800" dirty="0" smtClean="0"/>
              <a:t>文も、本体の文が</a:t>
            </a:r>
            <a:r>
              <a:rPr kumimoji="1" lang="en-US" altLang="ja-JP" sz="2800" dirty="0" smtClean="0"/>
              <a:t>single entry, single exit</a:t>
            </a:r>
            <a:r>
              <a:rPr kumimoji="1" lang="ja-JP" altLang="en-US" sz="2800" dirty="0" smtClean="0"/>
              <a:t>なら</a:t>
            </a:r>
            <a:r>
              <a:rPr kumimoji="1" lang="en-US" altLang="ja-JP" sz="2800" dirty="0" smtClean="0"/>
              <a:t>single entry, single exit</a:t>
            </a:r>
            <a:r>
              <a:rPr kumimoji="1" lang="ja-JP" altLang="en-US" sz="2800" dirty="0" smtClean="0"/>
              <a:t>である。</a:t>
            </a:r>
            <a:endParaRPr kumimoji="1" lang="ja-JP" altLang="en-US" sz="2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43552" y="68240"/>
            <a:ext cx="8229600" cy="996287"/>
          </a:xfrm>
        </p:spPr>
        <p:txBody>
          <a:bodyPr>
            <a:normAutofit/>
          </a:bodyPr>
          <a:lstStyle/>
          <a:p>
            <a:r>
              <a:rPr kumimoji="1" lang="ja-JP" altLang="en-US" sz="4000" dirty="0" smtClean="0"/>
              <a:t>選択文</a:t>
            </a:r>
            <a:endParaRPr kumimoji="1" lang="ja-JP" altLang="en-US" sz="4000" dirty="0"/>
          </a:p>
        </p:txBody>
      </p:sp>
      <p:sp>
        <p:nvSpPr>
          <p:cNvPr id="3" name="テキスト ボックス 2"/>
          <p:cNvSpPr txBox="1"/>
          <p:nvPr/>
        </p:nvSpPr>
        <p:spPr>
          <a:xfrm>
            <a:off x="586833" y="1009933"/>
            <a:ext cx="5892960" cy="3539430"/>
          </a:xfrm>
          <a:prstGeom prst="rect">
            <a:avLst/>
          </a:prstGeom>
          <a:noFill/>
        </p:spPr>
        <p:txBody>
          <a:bodyPr wrap="none" rtlCol="0">
            <a:spAutoFit/>
          </a:bodyPr>
          <a:lstStyle/>
          <a:p>
            <a:r>
              <a:rPr kumimoji="1" lang="ja-JP" altLang="en-US" sz="2800" dirty="0" smtClean="0"/>
              <a:t>選択文は以下のような形で書かれる。</a:t>
            </a:r>
            <a:endParaRPr kumimoji="1" lang="en-US" altLang="ja-JP" sz="2800" dirty="0" smtClean="0"/>
          </a:p>
          <a:p>
            <a:r>
              <a:rPr lang="en-US" altLang="ja-JP" sz="2800" dirty="0" smtClean="0"/>
              <a:t>    </a:t>
            </a:r>
            <a:r>
              <a:rPr lang="en-US" altLang="ja-JP" sz="2800" b="1" dirty="0" smtClean="0"/>
              <a:t>case</a:t>
            </a:r>
            <a:r>
              <a:rPr lang="en-US" altLang="ja-JP" sz="2800" dirty="0" smtClean="0"/>
              <a:t> </a:t>
            </a:r>
            <a:r>
              <a:rPr lang="ja-JP" altLang="en-US" sz="2800" dirty="0" smtClean="0"/>
              <a:t>式 </a:t>
            </a:r>
            <a:r>
              <a:rPr lang="en-US" altLang="ja-JP" sz="2800" b="1" dirty="0" smtClean="0"/>
              <a:t>of</a:t>
            </a:r>
          </a:p>
          <a:p>
            <a:r>
              <a:rPr kumimoji="1" lang="en-US" altLang="ja-JP" sz="2800" dirty="0" smtClean="0"/>
              <a:t>        constant1 : </a:t>
            </a:r>
            <a:r>
              <a:rPr kumimoji="1" lang="ja-JP" altLang="en-US" sz="2800" dirty="0" smtClean="0"/>
              <a:t>文</a:t>
            </a:r>
            <a:r>
              <a:rPr kumimoji="1" lang="en-US" altLang="ja-JP" sz="2800" dirty="0" smtClean="0"/>
              <a:t>1</a:t>
            </a:r>
          </a:p>
          <a:p>
            <a:r>
              <a:rPr lang="en-US" altLang="ja-JP" sz="2800" dirty="0" smtClean="0"/>
              <a:t>        constant2 : </a:t>
            </a:r>
            <a:r>
              <a:rPr lang="ja-JP" altLang="en-US" sz="2800" dirty="0" smtClean="0"/>
              <a:t>文</a:t>
            </a:r>
            <a:r>
              <a:rPr lang="en-US" altLang="ja-JP" sz="2800" dirty="0" smtClean="0"/>
              <a:t>2</a:t>
            </a:r>
          </a:p>
          <a:p>
            <a:r>
              <a:rPr kumimoji="1" lang="en-US" altLang="ja-JP" sz="2800" dirty="0" smtClean="0"/>
              <a:t>        …</a:t>
            </a:r>
          </a:p>
          <a:p>
            <a:r>
              <a:rPr lang="en-US" altLang="ja-JP" sz="2800" dirty="0" smtClean="0"/>
              <a:t>        </a:t>
            </a:r>
            <a:r>
              <a:rPr lang="en-US" altLang="ja-JP" sz="2800" dirty="0" err="1" smtClean="0"/>
              <a:t>constantn</a:t>
            </a:r>
            <a:r>
              <a:rPr lang="en-US" altLang="ja-JP" sz="2800" dirty="0" smtClean="0"/>
              <a:t> : </a:t>
            </a:r>
            <a:r>
              <a:rPr lang="ja-JP" altLang="en-US" sz="2800" dirty="0" smtClean="0"/>
              <a:t>文</a:t>
            </a:r>
            <a:r>
              <a:rPr lang="en-US" altLang="ja-JP" sz="2800" dirty="0" smtClean="0"/>
              <a:t>n</a:t>
            </a:r>
          </a:p>
          <a:p>
            <a:r>
              <a:rPr kumimoji="1" lang="en-US" altLang="ja-JP" sz="2800" dirty="0" smtClean="0"/>
              <a:t>    </a:t>
            </a:r>
            <a:r>
              <a:rPr kumimoji="1" lang="en-US" altLang="ja-JP" sz="2800" b="1" dirty="0" smtClean="0"/>
              <a:t>end</a:t>
            </a:r>
          </a:p>
          <a:p>
            <a:r>
              <a:rPr lang="ja-JP" altLang="en-US" sz="2800" dirty="0" smtClean="0"/>
              <a:t>（</a:t>
            </a:r>
            <a:r>
              <a:rPr lang="en-US" altLang="ja-JP" sz="2800" dirty="0" smtClean="0"/>
              <a:t>C</a:t>
            </a:r>
            <a:r>
              <a:rPr lang="ja-JP" altLang="en-US" sz="2800" dirty="0" smtClean="0"/>
              <a:t>では選択文は</a:t>
            </a:r>
            <a:r>
              <a:rPr lang="en-US" altLang="ja-JP" sz="2800" dirty="0" smtClean="0"/>
              <a:t>switch</a:t>
            </a:r>
            <a:r>
              <a:rPr lang="ja-JP" altLang="en-US" sz="2800" dirty="0" smtClean="0"/>
              <a:t>文）</a:t>
            </a:r>
            <a:endParaRPr lang="en-US" altLang="ja-JP" sz="2800" dirty="0" smtClean="0"/>
          </a:p>
        </p:txBody>
      </p:sp>
      <p:sp>
        <p:nvSpPr>
          <p:cNvPr id="4" name="テキスト ボックス 3"/>
          <p:cNvSpPr txBox="1"/>
          <p:nvPr/>
        </p:nvSpPr>
        <p:spPr>
          <a:xfrm>
            <a:off x="573207" y="4542991"/>
            <a:ext cx="3156633" cy="2246769"/>
          </a:xfrm>
          <a:prstGeom prst="rect">
            <a:avLst/>
          </a:prstGeom>
          <a:noFill/>
        </p:spPr>
        <p:txBody>
          <a:bodyPr wrap="none" rtlCol="0">
            <a:spAutoFit/>
          </a:bodyPr>
          <a:lstStyle/>
          <a:p>
            <a:r>
              <a:rPr lang="ja-JP" altLang="en-US" sz="2800" dirty="0" smtClean="0"/>
              <a:t>（例） </a:t>
            </a:r>
            <a:r>
              <a:rPr lang="en-US" altLang="ja-JP" sz="2800" b="1" dirty="0" smtClean="0"/>
              <a:t>case</a:t>
            </a:r>
            <a:r>
              <a:rPr lang="en-US" altLang="ja-JP" sz="2800" dirty="0" smtClean="0"/>
              <a:t> x </a:t>
            </a:r>
            <a:r>
              <a:rPr lang="en-US" altLang="ja-JP" sz="2800" b="1" dirty="0" smtClean="0"/>
              <a:t>of</a:t>
            </a:r>
          </a:p>
          <a:p>
            <a:r>
              <a:rPr kumimoji="1" lang="en-US" altLang="ja-JP" sz="2800" dirty="0" smtClean="0"/>
              <a:t>              1 : y:=x; x:=0</a:t>
            </a:r>
          </a:p>
          <a:p>
            <a:r>
              <a:rPr lang="en-US" altLang="ja-JP" sz="2800" dirty="0" smtClean="0"/>
              <a:t>              2:  y:=x+1</a:t>
            </a:r>
          </a:p>
          <a:p>
            <a:r>
              <a:rPr lang="en-US" altLang="ja-JP" sz="2800" dirty="0" smtClean="0"/>
              <a:t>              4:  y:=x+2</a:t>
            </a:r>
          </a:p>
          <a:p>
            <a:r>
              <a:rPr kumimoji="1" lang="en-US" altLang="ja-JP" sz="2800" dirty="0" smtClean="0"/>
              <a:t>          </a:t>
            </a:r>
            <a:r>
              <a:rPr kumimoji="1" lang="en-US" altLang="ja-JP" sz="2800" b="1" dirty="0" smtClean="0"/>
              <a:t>end</a:t>
            </a:r>
          </a:p>
        </p:txBody>
      </p:sp>
      <p:cxnSp>
        <p:nvCxnSpPr>
          <p:cNvPr id="5" name="直線矢印コネクタ 4"/>
          <p:cNvCxnSpPr/>
          <p:nvPr/>
        </p:nvCxnSpPr>
        <p:spPr>
          <a:xfrm rot="5400000">
            <a:off x="6232318" y="2560041"/>
            <a:ext cx="571504"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575463" y="1988140"/>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10" name="テキスト ボックス 9"/>
          <p:cNvSpPr txBox="1"/>
          <p:nvPr/>
        </p:nvSpPr>
        <p:spPr>
          <a:xfrm>
            <a:off x="4977283" y="3832674"/>
            <a:ext cx="941283" cy="523220"/>
          </a:xfrm>
          <a:prstGeom prst="rect">
            <a:avLst/>
          </a:prstGeom>
          <a:noFill/>
          <a:ln>
            <a:noFill/>
          </a:ln>
        </p:spPr>
        <p:txBody>
          <a:bodyPr wrap="none" rtlCol="0">
            <a:spAutoFit/>
          </a:bodyPr>
          <a:lstStyle/>
          <a:p>
            <a:r>
              <a:rPr lang="en-US" altLang="ja-JP" sz="2800" dirty="0" smtClean="0"/>
              <a:t>y := x</a:t>
            </a:r>
          </a:p>
        </p:txBody>
      </p:sp>
      <p:sp>
        <p:nvSpPr>
          <p:cNvPr id="11" name="テキスト ボックス 10"/>
          <p:cNvSpPr txBox="1"/>
          <p:nvPr/>
        </p:nvSpPr>
        <p:spPr>
          <a:xfrm>
            <a:off x="7044931" y="3846322"/>
            <a:ext cx="1385316" cy="523220"/>
          </a:xfrm>
          <a:prstGeom prst="rect">
            <a:avLst/>
          </a:prstGeom>
          <a:noFill/>
          <a:ln>
            <a:noFill/>
          </a:ln>
        </p:spPr>
        <p:txBody>
          <a:bodyPr wrap="none" rtlCol="0">
            <a:spAutoFit/>
          </a:bodyPr>
          <a:lstStyle/>
          <a:p>
            <a:r>
              <a:rPr lang="en-US" altLang="ja-JP" sz="2800" dirty="0" smtClean="0"/>
              <a:t> y := x+2</a:t>
            </a:r>
          </a:p>
        </p:txBody>
      </p:sp>
      <p:cxnSp>
        <p:nvCxnSpPr>
          <p:cNvPr id="12" name="図形 11"/>
          <p:cNvCxnSpPr/>
          <p:nvPr/>
        </p:nvCxnSpPr>
        <p:spPr>
          <a:xfrm rot="16200000" flipH="1">
            <a:off x="5751396" y="4886614"/>
            <a:ext cx="467029" cy="111130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3" name="図形 18"/>
          <p:cNvCxnSpPr>
            <a:stCxn id="11" idx="2"/>
          </p:cNvCxnSpPr>
          <p:nvPr/>
        </p:nvCxnSpPr>
        <p:spPr>
          <a:xfrm rot="5400000">
            <a:off x="6322187" y="4260380"/>
            <a:ext cx="1306241" cy="1524565"/>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6254825" y="5961524"/>
            <a:ext cx="57148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5702216" y="2832542"/>
            <a:ext cx="367408" cy="523220"/>
          </a:xfrm>
          <a:prstGeom prst="rect">
            <a:avLst/>
          </a:prstGeom>
          <a:noFill/>
        </p:spPr>
        <p:txBody>
          <a:bodyPr wrap="none" rtlCol="0">
            <a:spAutoFit/>
          </a:bodyPr>
          <a:lstStyle/>
          <a:p>
            <a:r>
              <a:rPr kumimoji="1" lang="en-US" altLang="ja-JP" sz="2800" dirty="0" smtClean="0"/>
              <a:t>1</a:t>
            </a:r>
            <a:endParaRPr kumimoji="1" lang="ja-JP" altLang="en-US" sz="2800" dirty="0"/>
          </a:p>
        </p:txBody>
      </p:sp>
      <p:sp>
        <p:nvSpPr>
          <p:cNvPr id="16" name="テキスト ボックス 15"/>
          <p:cNvSpPr txBox="1"/>
          <p:nvPr/>
        </p:nvSpPr>
        <p:spPr>
          <a:xfrm>
            <a:off x="7010486" y="2818894"/>
            <a:ext cx="367408" cy="523220"/>
          </a:xfrm>
          <a:prstGeom prst="rect">
            <a:avLst/>
          </a:prstGeom>
          <a:noFill/>
        </p:spPr>
        <p:txBody>
          <a:bodyPr wrap="none" rtlCol="0">
            <a:spAutoFit/>
          </a:bodyPr>
          <a:lstStyle/>
          <a:p>
            <a:r>
              <a:rPr kumimoji="1" lang="en-US" altLang="ja-JP" sz="2800" dirty="0" smtClean="0"/>
              <a:t>4</a:t>
            </a:r>
            <a:endParaRPr kumimoji="1" lang="ja-JP" altLang="en-US" sz="2800" dirty="0"/>
          </a:p>
        </p:txBody>
      </p:sp>
      <p:cxnSp>
        <p:nvCxnSpPr>
          <p:cNvPr id="17" name="直線矢印コネクタ 16"/>
          <p:cNvCxnSpPr/>
          <p:nvPr/>
        </p:nvCxnSpPr>
        <p:spPr>
          <a:xfrm rot="5400000">
            <a:off x="5197759" y="4522237"/>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テキスト ボックス 17"/>
          <p:cNvSpPr txBox="1"/>
          <p:nvPr/>
        </p:nvSpPr>
        <p:spPr>
          <a:xfrm>
            <a:off x="4848595" y="4718075"/>
            <a:ext cx="1207382" cy="523220"/>
          </a:xfrm>
          <a:prstGeom prst="rect">
            <a:avLst/>
          </a:prstGeom>
          <a:noFill/>
        </p:spPr>
        <p:txBody>
          <a:bodyPr wrap="none" rtlCol="0">
            <a:spAutoFit/>
          </a:bodyPr>
          <a:lstStyle/>
          <a:p>
            <a:r>
              <a:rPr lang="en-US" altLang="ja-JP" sz="2800" dirty="0" smtClean="0"/>
              <a:t>  x := 0 </a:t>
            </a:r>
          </a:p>
        </p:txBody>
      </p:sp>
      <p:sp>
        <p:nvSpPr>
          <p:cNvPr id="19" name="円/楕円 18"/>
          <p:cNvSpPr/>
          <p:nvPr/>
        </p:nvSpPr>
        <p:spPr>
          <a:xfrm>
            <a:off x="6005016" y="2893320"/>
            <a:ext cx="1009935" cy="75062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smtClean="0">
                <a:solidFill>
                  <a:schemeClr val="tx1"/>
                </a:solidFill>
              </a:rPr>
              <a:t>x</a:t>
            </a:r>
            <a:endParaRPr kumimoji="1" lang="ja-JP" altLang="en-US" sz="2800" dirty="0">
              <a:solidFill>
                <a:schemeClr val="tx1"/>
              </a:solidFill>
            </a:endParaRPr>
          </a:p>
        </p:txBody>
      </p:sp>
      <p:cxnSp>
        <p:nvCxnSpPr>
          <p:cNvPr id="21" name="直線矢印コネクタ 20"/>
          <p:cNvCxnSpPr>
            <a:stCxn id="19" idx="4"/>
          </p:cNvCxnSpPr>
          <p:nvPr/>
        </p:nvCxnSpPr>
        <p:spPr>
          <a:xfrm rot="16200000" flipH="1">
            <a:off x="6202910" y="3951019"/>
            <a:ext cx="614153" cy="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a:stCxn id="19" idx="2"/>
          </p:cNvCxnSpPr>
          <p:nvPr/>
        </p:nvCxnSpPr>
        <p:spPr>
          <a:xfrm rot="10800000" flipV="1">
            <a:off x="5445458" y="3268632"/>
            <a:ext cx="559559" cy="68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線矢印コネクタ 32"/>
          <p:cNvCxnSpPr/>
          <p:nvPr/>
        </p:nvCxnSpPr>
        <p:spPr>
          <a:xfrm rot="5400000">
            <a:off x="5147259" y="3575415"/>
            <a:ext cx="584511" cy="1189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5" name="テキスト ボックス 34"/>
          <p:cNvSpPr txBox="1"/>
          <p:nvPr/>
        </p:nvSpPr>
        <p:spPr>
          <a:xfrm>
            <a:off x="6195807" y="3544498"/>
            <a:ext cx="367408" cy="523220"/>
          </a:xfrm>
          <a:prstGeom prst="rect">
            <a:avLst/>
          </a:prstGeom>
          <a:noFill/>
        </p:spPr>
        <p:txBody>
          <a:bodyPr wrap="none" rtlCol="0">
            <a:spAutoFit/>
          </a:bodyPr>
          <a:lstStyle/>
          <a:p>
            <a:r>
              <a:rPr kumimoji="1" lang="en-US" altLang="ja-JP" sz="2800" dirty="0" smtClean="0"/>
              <a:t>2</a:t>
            </a:r>
            <a:endParaRPr kumimoji="1" lang="ja-JP" altLang="en-US" sz="2800" dirty="0"/>
          </a:p>
        </p:txBody>
      </p:sp>
      <p:sp>
        <p:nvSpPr>
          <p:cNvPr id="36" name="テキスト ボックス 35"/>
          <p:cNvSpPr txBox="1"/>
          <p:nvPr/>
        </p:nvSpPr>
        <p:spPr>
          <a:xfrm>
            <a:off x="5751620" y="4269975"/>
            <a:ext cx="1542410" cy="523220"/>
          </a:xfrm>
          <a:prstGeom prst="rect">
            <a:avLst/>
          </a:prstGeom>
          <a:noFill/>
        </p:spPr>
        <p:txBody>
          <a:bodyPr wrap="none" rtlCol="0">
            <a:spAutoFit/>
          </a:bodyPr>
          <a:lstStyle/>
          <a:p>
            <a:r>
              <a:rPr lang="en-US" altLang="ja-JP" sz="2800" dirty="0" smtClean="0"/>
              <a:t>  x := x+1 </a:t>
            </a:r>
          </a:p>
        </p:txBody>
      </p:sp>
      <p:cxnSp>
        <p:nvCxnSpPr>
          <p:cNvPr id="38" name="直線コネクタ 37"/>
          <p:cNvCxnSpPr/>
          <p:nvPr/>
        </p:nvCxnSpPr>
        <p:spPr>
          <a:xfrm rot="16200000" flipH="1">
            <a:off x="6114198" y="5268031"/>
            <a:ext cx="846160"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コネクタ 44"/>
          <p:cNvCxnSpPr>
            <a:stCxn id="19" idx="6"/>
          </p:cNvCxnSpPr>
          <p:nvPr/>
        </p:nvCxnSpPr>
        <p:spPr>
          <a:xfrm flipV="1">
            <a:off x="7014951" y="3261808"/>
            <a:ext cx="723330" cy="68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線矢印コネクタ 48"/>
          <p:cNvCxnSpPr/>
          <p:nvPr/>
        </p:nvCxnSpPr>
        <p:spPr>
          <a:xfrm rot="16200000" flipH="1">
            <a:off x="7449363" y="3550725"/>
            <a:ext cx="557218" cy="667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テキスト ボックス 54"/>
          <p:cNvSpPr txBox="1"/>
          <p:nvPr/>
        </p:nvSpPr>
        <p:spPr>
          <a:xfrm>
            <a:off x="6583066" y="6059460"/>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sz="3600" dirty="0" smtClean="0"/>
              <a:t>繰り返し文における特殊ケースの扱い</a:t>
            </a:r>
            <a:endParaRPr kumimoji="1" lang="ja-JP" altLang="en-US" sz="3600" dirty="0"/>
          </a:p>
        </p:txBody>
      </p:sp>
      <p:sp>
        <p:nvSpPr>
          <p:cNvPr id="4" name="テキスト ボックス 3"/>
          <p:cNvSpPr txBox="1"/>
          <p:nvPr/>
        </p:nvSpPr>
        <p:spPr>
          <a:xfrm>
            <a:off x="982638" y="1460310"/>
            <a:ext cx="7451678" cy="3108543"/>
          </a:xfrm>
          <a:prstGeom prst="rect">
            <a:avLst/>
          </a:prstGeom>
          <a:noFill/>
        </p:spPr>
        <p:txBody>
          <a:bodyPr wrap="square" rtlCol="0">
            <a:spAutoFit/>
          </a:bodyPr>
          <a:lstStyle/>
          <a:p>
            <a:r>
              <a:rPr lang="en-US" altLang="ja-JP" sz="2800" dirty="0" smtClean="0"/>
              <a:t>b</a:t>
            </a:r>
            <a:r>
              <a:rPr kumimoji="1" lang="en-US" altLang="ja-JP" sz="2800" dirty="0" smtClean="0"/>
              <a:t>reak</a:t>
            </a:r>
            <a:r>
              <a:rPr kumimoji="1" lang="ja-JP" altLang="en-US" sz="2800" dirty="0" smtClean="0"/>
              <a:t>文、</a:t>
            </a:r>
            <a:r>
              <a:rPr kumimoji="1" lang="en-US" altLang="ja-JP" sz="2800" dirty="0" smtClean="0"/>
              <a:t>continue</a:t>
            </a:r>
            <a:r>
              <a:rPr kumimoji="1" lang="ja-JP" altLang="en-US" sz="2800" dirty="0" smtClean="0"/>
              <a:t>文</a:t>
            </a:r>
            <a:r>
              <a:rPr kumimoji="1" lang="en-US" altLang="ja-JP" sz="2800" dirty="0" smtClean="0"/>
              <a:t>(C</a:t>
            </a:r>
            <a:r>
              <a:rPr lang="ja-JP" altLang="en-US" sz="2800" dirty="0" smtClean="0"/>
              <a:t>言語</a:t>
            </a:r>
            <a:r>
              <a:rPr kumimoji="1" lang="ja-JP" altLang="en-US" sz="2800" dirty="0" smtClean="0"/>
              <a:t>等</a:t>
            </a:r>
            <a:r>
              <a:rPr kumimoji="1" lang="en-US" altLang="ja-JP" sz="2800" dirty="0" smtClean="0"/>
              <a:t>)</a:t>
            </a:r>
          </a:p>
          <a:p>
            <a:r>
              <a:rPr lang="en-US" altLang="ja-JP" sz="2800" dirty="0" smtClean="0"/>
              <a:t>b</a:t>
            </a:r>
            <a:r>
              <a:rPr kumimoji="1" lang="en-US" altLang="ja-JP" sz="2800" dirty="0" smtClean="0"/>
              <a:t>reak</a:t>
            </a:r>
            <a:r>
              <a:rPr kumimoji="1" lang="ja-JP" altLang="en-US" sz="2800" dirty="0" smtClean="0"/>
              <a:t>文が実行されると、それが属する最も内側の繰り返し文を脱出する。（繰り返し文の次の文へ制御が移る。）</a:t>
            </a:r>
            <a:endParaRPr kumimoji="1" lang="en-US" altLang="ja-JP" sz="2800" dirty="0" smtClean="0"/>
          </a:p>
          <a:p>
            <a:r>
              <a:rPr lang="en-US" altLang="ja-JP" sz="2800" dirty="0" smtClean="0"/>
              <a:t>continue</a:t>
            </a:r>
            <a:r>
              <a:rPr lang="ja-JP" altLang="en-US" sz="2800" dirty="0" smtClean="0"/>
              <a:t>文が実行されると、それが属する最も内側の繰り返し文のループ継続部（ループ本体の終わり）に制御が移る。</a:t>
            </a:r>
            <a:endParaRPr kumimoji="1" lang="ja-JP" alt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break</a:t>
            </a:r>
            <a:r>
              <a:rPr lang="ja-JP" altLang="en-US" dirty="0" smtClean="0"/>
              <a:t>文の使用例</a:t>
            </a:r>
            <a:endParaRPr kumimoji="1" lang="ja-JP" altLang="en-US" dirty="0"/>
          </a:p>
        </p:txBody>
      </p:sp>
      <p:sp>
        <p:nvSpPr>
          <p:cNvPr id="4" name="テキスト ボックス 3"/>
          <p:cNvSpPr txBox="1"/>
          <p:nvPr/>
        </p:nvSpPr>
        <p:spPr>
          <a:xfrm>
            <a:off x="504968" y="1378423"/>
            <a:ext cx="2412840" cy="2677656"/>
          </a:xfrm>
          <a:prstGeom prst="rect">
            <a:avLst/>
          </a:prstGeom>
          <a:noFill/>
        </p:spPr>
        <p:txBody>
          <a:bodyPr wrap="none" rtlCol="0">
            <a:spAutoFit/>
          </a:bodyPr>
          <a:lstStyle/>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dirty="0" smtClean="0"/>
              <a:t>        </a:t>
            </a:r>
            <a:r>
              <a:rPr lang="en-US" altLang="ja-JP" sz="2800" b="1" dirty="0" smtClean="0"/>
              <a:t>if</a:t>
            </a:r>
            <a:r>
              <a:rPr lang="en-US" altLang="ja-JP" sz="2800" dirty="0" smtClean="0"/>
              <a:t> x=5 </a:t>
            </a:r>
            <a:r>
              <a:rPr lang="en-US" altLang="ja-JP" sz="2800" b="1" dirty="0" smtClean="0"/>
              <a:t>then</a:t>
            </a:r>
          </a:p>
          <a:p>
            <a:r>
              <a:rPr kumimoji="1" lang="en-US" altLang="ja-JP" sz="2800" dirty="0" smtClean="0"/>
              <a:t>            break;</a:t>
            </a:r>
            <a:endParaRPr lang="en-US" altLang="ja-JP" sz="2800" b="1" dirty="0" smtClean="0"/>
          </a:p>
          <a:p>
            <a:r>
              <a:rPr kumimoji="1" lang="en-US" altLang="ja-JP" sz="2800" dirty="0" smtClean="0"/>
              <a:t>        x := x-1</a:t>
            </a:r>
          </a:p>
          <a:p>
            <a:r>
              <a:rPr lang="en-US" altLang="ja-JP" sz="2800" dirty="0" smtClean="0"/>
              <a:t>   </a:t>
            </a:r>
            <a:r>
              <a:rPr lang="en-US" altLang="ja-JP" sz="2800" b="1" dirty="0" smtClean="0"/>
              <a:t> end</a:t>
            </a:r>
            <a:endParaRPr kumimoji="1" lang="ja-JP" altLang="en-US" sz="2800" b="1" dirty="0"/>
          </a:p>
        </p:txBody>
      </p:sp>
      <p:cxnSp>
        <p:nvCxnSpPr>
          <p:cNvPr id="5" name="直線矢印コネクタ 4"/>
          <p:cNvCxnSpPr/>
          <p:nvPr/>
        </p:nvCxnSpPr>
        <p:spPr>
          <a:xfrm rot="5400000">
            <a:off x="5643464" y="2034268"/>
            <a:ext cx="962805" cy="5958"/>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220621" y="1319405"/>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7" name="ひし形 6"/>
          <p:cNvSpPr/>
          <p:nvPr/>
        </p:nvSpPr>
        <p:spPr>
          <a:xfrm>
            <a:off x="5407507" y="251865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8" name="図形 7"/>
          <p:cNvCxnSpPr>
            <a:stCxn id="7" idx="1"/>
          </p:cNvCxnSpPr>
          <p:nvPr/>
        </p:nvCxnSpPr>
        <p:spPr>
          <a:xfrm rot="10800000" flipV="1">
            <a:off x="4978879" y="2875840"/>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16200000" flipH="1">
            <a:off x="5691116" y="4653886"/>
            <a:ext cx="3548421" cy="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7511110" y="5977596"/>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16" name="テキスト ボックス 15"/>
          <p:cNvSpPr txBox="1"/>
          <p:nvPr/>
        </p:nvSpPr>
        <p:spPr>
          <a:xfrm>
            <a:off x="5033471" y="2409469"/>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7" name="テキスト ボックス 16"/>
          <p:cNvSpPr txBox="1"/>
          <p:nvPr/>
        </p:nvSpPr>
        <p:spPr>
          <a:xfrm>
            <a:off x="6723885" y="2423117"/>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9" name="テキスト ボックス 18"/>
          <p:cNvSpPr txBox="1"/>
          <p:nvPr/>
        </p:nvSpPr>
        <p:spPr>
          <a:xfrm>
            <a:off x="4316331" y="4813616"/>
            <a:ext cx="1391728" cy="523220"/>
          </a:xfrm>
          <a:prstGeom prst="rect">
            <a:avLst/>
          </a:prstGeom>
          <a:noFill/>
        </p:spPr>
        <p:txBody>
          <a:bodyPr wrap="none" rtlCol="0">
            <a:spAutoFit/>
          </a:bodyPr>
          <a:lstStyle/>
          <a:p>
            <a:r>
              <a:rPr lang="en-US" altLang="ja-JP" sz="2800" dirty="0" smtClean="0"/>
              <a:t>  x := x-1</a:t>
            </a:r>
          </a:p>
        </p:txBody>
      </p:sp>
      <p:sp>
        <p:nvSpPr>
          <p:cNvPr id="20" name="ひし形 19"/>
          <p:cNvSpPr/>
          <p:nvPr/>
        </p:nvSpPr>
        <p:spPr>
          <a:xfrm>
            <a:off x="4277018" y="353086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x=5</a:t>
            </a:r>
            <a:endParaRPr kumimoji="1" lang="ja-JP" altLang="en-US" sz="2800" dirty="0">
              <a:solidFill>
                <a:schemeClr val="tx1"/>
              </a:solidFill>
            </a:endParaRPr>
          </a:p>
        </p:txBody>
      </p:sp>
      <p:cxnSp>
        <p:nvCxnSpPr>
          <p:cNvPr id="23" name="直線コネクタ 22"/>
          <p:cNvCxnSpPr>
            <a:stCxn id="20" idx="3"/>
          </p:cNvCxnSpPr>
          <p:nvPr/>
        </p:nvCxnSpPr>
        <p:spPr>
          <a:xfrm>
            <a:off x="5705778" y="3888050"/>
            <a:ext cx="1759547" cy="156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5595301" y="3435324"/>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26" name="直線コネクタ 25"/>
          <p:cNvCxnSpPr/>
          <p:nvPr/>
        </p:nvCxnSpPr>
        <p:spPr>
          <a:xfrm rot="10800000">
            <a:off x="6851177" y="287967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a:stCxn id="20" idx="2"/>
          </p:cNvCxnSpPr>
          <p:nvPr/>
        </p:nvCxnSpPr>
        <p:spPr>
          <a:xfrm rot="16200000" flipH="1">
            <a:off x="4700206" y="4536431"/>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線矢印コネクタ 30"/>
          <p:cNvCxnSpPr/>
          <p:nvPr/>
        </p:nvCxnSpPr>
        <p:spPr>
          <a:xfrm rot="16200000" flipH="1">
            <a:off x="1742364" y="4007890"/>
            <a:ext cx="3764509" cy="1137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rot="16200000" flipH="1">
            <a:off x="4702480" y="5575936"/>
            <a:ext cx="586067" cy="36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p:nvPr/>
        </p:nvCxnSpPr>
        <p:spPr>
          <a:xfrm>
            <a:off x="3630304" y="5882185"/>
            <a:ext cx="1380699" cy="22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flipV="1">
            <a:off x="3633593" y="2129051"/>
            <a:ext cx="2507900" cy="71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テキスト ボックス 40"/>
          <p:cNvSpPr txBox="1"/>
          <p:nvPr/>
        </p:nvSpPr>
        <p:spPr>
          <a:xfrm>
            <a:off x="491322" y="4071160"/>
            <a:ext cx="2634018" cy="2677656"/>
          </a:xfrm>
          <a:prstGeom prst="rect">
            <a:avLst/>
          </a:prstGeom>
          <a:noFill/>
        </p:spPr>
        <p:txBody>
          <a:bodyPr wrap="square" rtlCol="0">
            <a:spAutoFit/>
          </a:bodyPr>
          <a:lstStyle/>
          <a:p>
            <a:r>
              <a:rPr lang="en-US" altLang="ja-JP" sz="2800" dirty="0" smtClean="0"/>
              <a:t>b</a:t>
            </a:r>
            <a:r>
              <a:rPr kumimoji="1" lang="en-US" altLang="ja-JP" sz="2800" dirty="0" smtClean="0"/>
              <a:t>reak</a:t>
            </a:r>
            <a:r>
              <a:rPr kumimoji="1" lang="ja-JP" altLang="en-US" sz="2800" dirty="0" smtClean="0"/>
              <a:t>文によって、</a:t>
            </a:r>
            <a:r>
              <a:rPr kumimoji="1" lang="en-US" altLang="ja-JP" sz="2800" dirty="0" smtClean="0"/>
              <a:t>if</a:t>
            </a:r>
            <a:r>
              <a:rPr kumimoji="1" lang="ja-JP" altLang="en-US" sz="2800" dirty="0" smtClean="0"/>
              <a:t>文の出口は</a:t>
            </a:r>
            <a:r>
              <a:rPr lang="ja-JP" altLang="en-US" sz="2800" dirty="0" smtClean="0"/>
              <a:t>２つになったが、</a:t>
            </a:r>
            <a:r>
              <a:rPr lang="en-US" altLang="ja-JP" sz="2800" dirty="0" smtClean="0"/>
              <a:t>while</a:t>
            </a:r>
            <a:r>
              <a:rPr lang="ja-JP" altLang="en-US" sz="2800" dirty="0" smtClean="0"/>
              <a:t>文全体は</a:t>
            </a:r>
            <a:r>
              <a:rPr lang="en-US" altLang="ja-JP" sz="2800" dirty="0" smtClean="0"/>
              <a:t>single entry, single exit</a:t>
            </a:r>
            <a:r>
              <a:rPr lang="ja-JP" altLang="en-US" sz="2800" dirty="0" smtClean="0"/>
              <a:t>である。</a:t>
            </a:r>
            <a:endParaRPr kumimoji="1" lang="en-US" altLang="ja-JP" sz="2800" dirty="0" smtClean="0"/>
          </a:p>
        </p:txBody>
      </p:sp>
      <p:sp>
        <p:nvSpPr>
          <p:cNvPr id="42" name="角丸四角形 41"/>
          <p:cNvSpPr/>
          <p:nvPr/>
        </p:nvSpPr>
        <p:spPr>
          <a:xfrm>
            <a:off x="4135273" y="3289109"/>
            <a:ext cx="1992572" cy="1323834"/>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テキスト ボックス 42"/>
          <p:cNvSpPr txBox="1"/>
          <p:nvPr/>
        </p:nvSpPr>
        <p:spPr>
          <a:xfrm>
            <a:off x="4938302" y="4131358"/>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89887"/>
          </a:xfrm>
        </p:spPr>
        <p:txBody>
          <a:bodyPr/>
          <a:lstStyle/>
          <a:p>
            <a:r>
              <a:rPr lang="en-US" altLang="ja-JP" dirty="0" smtClean="0"/>
              <a:t>continue</a:t>
            </a:r>
            <a:r>
              <a:rPr lang="ja-JP" altLang="en-US" dirty="0" smtClean="0"/>
              <a:t>文の使用例</a:t>
            </a:r>
            <a:endParaRPr kumimoji="1" lang="ja-JP" altLang="en-US" dirty="0"/>
          </a:p>
        </p:txBody>
      </p:sp>
      <p:sp>
        <p:nvSpPr>
          <p:cNvPr id="4" name="テキスト ボックス 3"/>
          <p:cNvSpPr txBox="1"/>
          <p:nvPr/>
        </p:nvSpPr>
        <p:spPr>
          <a:xfrm>
            <a:off x="586855" y="1105466"/>
            <a:ext cx="2775247" cy="3970318"/>
          </a:xfrm>
          <a:prstGeom prst="rect">
            <a:avLst/>
          </a:prstGeom>
          <a:noFill/>
        </p:spPr>
        <p:txBody>
          <a:bodyPr wrap="none" rtlCol="0">
            <a:spAutoFit/>
          </a:bodyPr>
          <a:lstStyle/>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ja-JP" altLang="en-US" sz="2800" dirty="0" smtClean="0"/>
              <a:t>    </a:t>
            </a:r>
            <a:r>
              <a:rPr lang="en-US" altLang="ja-JP" sz="2800" dirty="0" smtClean="0"/>
              <a:t>    </a:t>
            </a:r>
            <a:r>
              <a:rPr lang="en-US" altLang="ja-JP" sz="2800" b="1" dirty="0" smtClean="0"/>
              <a:t>if</a:t>
            </a:r>
            <a:r>
              <a:rPr lang="en-US" altLang="ja-JP" sz="2800" dirty="0" smtClean="0"/>
              <a:t> x </a:t>
            </a:r>
            <a:r>
              <a:rPr lang="en-US" altLang="ja-JP" sz="2800" dirty="0" smtClean="0">
                <a:sym typeface="Symbol"/>
              </a:rPr>
              <a:t> </a:t>
            </a:r>
            <a:r>
              <a:rPr lang="en-US" altLang="ja-JP" sz="2800" dirty="0" smtClean="0"/>
              <a:t>8 </a:t>
            </a:r>
            <a:r>
              <a:rPr lang="en-US" altLang="ja-JP" sz="2800" b="1" dirty="0" smtClean="0"/>
              <a:t>then</a:t>
            </a:r>
          </a:p>
          <a:p>
            <a:r>
              <a:rPr lang="en-US" altLang="ja-JP" sz="2800" b="1" dirty="0" smtClean="0"/>
              <a:t>            begin</a:t>
            </a:r>
          </a:p>
          <a:p>
            <a:r>
              <a:rPr kumimoji="1" lang="en-US" altLang="ja-JP" sz="2800" dirty="0" smtClean="0"/>
              <a:t>                x := x-1;</a:t>
            </a:r>
          </a:p>
          <a:p>
            <a:r>
              <a:rPr lang="en-US" altLang="ja-JP" sz="2800" dirty="0" smtClean="0"/>
              <a:t>                continue</a:t>
            </a:r>
          </a:p>
          <a:p>
            <a:r>
              <a:rPr kumimoji="1" lang="en-US" altLang="ja-JP" sz="2800" dirty="0" smtClean="0"/>
              <a:t>            </a:t>
            </a:r>
            <a:r>
              <a:rPr kumimoji="1" lang="en-US" altLang="ja-JP" sz="2800" b="1" dirty="0" smtClean="0"/>
              <a:t>end;</a:t>
            </a:r>
            <a:endParaRPr lang="en-US" altLang="ja-JP" sz="2800" b="1" dirty="0" smtClean="0"/>
          </a:p>
          <a:p>
            <a:r>
              <a:rPr kumimoji="1" lang="en-US" altLang="ja-JP" sz="2800" dirty="0" smtClean="0"/>
              <a:t>        x := x-5</a:t>
            </a:r>
            <a:endParaRPr lang="en-US" altLang="ja-JP" sz="2800" dirty="0" smtClean="0"/>
          </a:p>
          <a:p>
            <a:r>
              <a:rPr kumimoji="1" lang="en-US" altLang="ja-JP" sz="2800" dirty="0" smtClean="0"/>
              <a:t>   </a:t>
            </a:r>
            <a:r>
              <a:rPr kumimoji="1" lang="en-US" altLang="ja-JP" sz="2800" b="1" dirty="0" smtClean="0"/>
              <a:t> end</a:t>
            </a:r>
          </a:p>
        </p:txBody>
      </p:sp>
      <p:cxnSp>
        <p:nvCxnSpPr>
          <p:cNvPr id="5" name="直線矢印コネクタ 4"/>
          <p:cNvCxnSpPr/>
          <p:nvPr/>
        </p:nvCxnSpPr>
        <p:spPr>
          <a:xfrm rot="5400000">
            <a:off x="6489640" y="2034268"/>
            <a:ext cx="962805" cy="5958"/>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984909" y="1319405"/>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7" name="ひし形 6"/>
          <p:cNvSpPr/>
          <p:nvPr/>
        </p:nvSpPr>
        <p:spPr>
          <a:xfrm>
            <a:off x="6253683" y="251865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8" name="図形 7"/>
          <p:cNvCxnSpPr>
            <a:stCxn id="7" idx="1"/>
          </p:cNvCxnSpPr>
          <p:nvPr/>
        </p:nvCxnSpPr>
        <p:spPr>
          <a:xfrm rot="10800000" flipV="1">
            <a:off x="5825055" y="2875840"/>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6407631" y="4783530"/>
            <a:ext cx="3807729" cy="1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7374651" y="6150672"/>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16" name="テキスト ボックス 15"/>
          <p:cNvSpPr txBox="1"/>
          <p:nvPr/>
        </p:nvSpPr>
        <p:spPr>
          <a:xfrm>
            <a:off x="5838703" y="2423114"/>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7" name="テキスト ボックス 16"/>
          <p:cNvSpPr txBox="1"/>
          <p:nvPr/>
        </p:nvSpPr>
        <p:spPr>
          <a:xfrm>
            <a:off x="7624653" y="2436762"/>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9" name="テキスト ボックス 18"/>
          <p:cNvSpPr txBox="1"/>
          <p:nvPr/>
        </p:nvSpPr>
        <p:spPr>
          <a:xfrm>
            <a:off x="5203451" y="4799968"/>
            <a:ext cx="1391728" cy="523220"/>
          </a:xfrm>
          <a:prstGeom prst="rect">
            <a:avLst/>
          </a:prstGeom>
          <a:noFill/>
        </p:spPr>
        <p:txBody>
          <a:bodyPr wrap="none" rtlCol="0">
            <a:spAutoFit/>
          </a:bodyPr>
          <a:lstStyle/>
          <a:p>
            <a:r>
              <a:rPr lang="en-US" altLang="ja-JP" sz="2800" dirty="0" smtClean="0"/>
              <a:t>  x := x-1</a:t>
            </a:r>
          </a:p>
        </p:txBody>
      </p:sp>
      <p:sp>
        <p:nvSpPr>
          <p:cNvPr id="20" name="ひし形 19"/>
          <p:cNvSpPr/>
          <p:nvPr/>
        </p:nvSpPr>
        <p:spPr>
          <a:xfrm>
            <a:off x="5123194" y="353086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a:t>
            </a:r>
            <a:r>
              <a:rPr lang="en-US" altLang="ja-JP" sz="2800" dirty="0" smtClean="0">
                <a:solidFill>
                  <a:schemeClr val="tx1"/>
                </a:solidFill>
                <a:sym typeface="Symbol"/>
              </a:rPr>
              <a:t></a:t>
            </a:r>
            <a:r>
              <a:rPr lang="en-US" altLang="ja-JP" sz="2800" dirty="0" smtClean="0">
                <a:solidFill>
                  <a:schemeClr val="tx1"/>
                </a:solidFill>
              </a:rPr>
              <a:t>8</a:t>
            </a:r>
            <a:endParaRPr kumimoji="1" lang="ja-JP" altLang="en-US" sz="2800" dirty="0">
              <a:solidFill>
                <a:schemeClr val="tx1"/>
              </a:solidFill>
            </a:endParaRPr>
          </a:p>
        </p:txBody>
      </p:sp>
      <p:cxnSp>
        <p:nvCxnSpPr>
          <p:cNvPr id="23" name="直線コネクタ 22"/>
          <p:cNvCxnSpPr>
            <a:stCxn id="20" idx="3"/>
          </p:cNvCxnSpPr>
          <p:nvPr/>
        </p:nvCxnSpPr>
        <p:spPr>
          <a:xfrm>
            <a:off x="6551954" y="3888050"/>
            <a:ext cx="1036216" cy="1562"/>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5772735" y="4131360"/>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26" name="直線コネクタ 25"/>
          <p:cNvCxnSpPr/>
          <p:nvPr/>
        </p:nvCxnSpPr>
        <p:spPr>
          <a:xfrm rot="10800000">
            <a:off x="7697353" y="287967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a:stCxn id="20" idx="2"/>
          </p:cNvCxnSpPr>
          <p:nvPr/>
        </p:nvCxnSpPr>
        <p:spPr>
          <a:xfrm rot="16200000" flipH="1">
            <a:off x="5546382" y="4536431"/>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線矢印コネクタ 30"/>
          <p:cNvCxnSpPr/>
          <p:nvPr/>
        </p:nvCxnSpPr>
        <p:spPr>
          <a:xfrm rot="16200000" flipH="1">
            <a:off x="2588540" y="4007890"/>
            <a:ext cx="3764509" cy="1137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rot="16200000" flipH="1">
            <a:off x="5548656" y="5575936"/>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p:nvPr/>
        </p:nvCxnSpPr>
        <p:spPr>
          <a:xfrm>
            <a:off x="4476480" y="5882185"/>
            <a:ext cx="31253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flipV="1">
            <a:off x="4479769" y="2129051"/>
            <a:ext cx="2507900" cy="71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テキスト ボックス 40"/>
          <p:cNvSpPr txBox="1"/>
          <p:nvPr/>
        </p:nvSpPr>
        <p:spPr>
          <a:xfrm>
            <a:off x="354841" y="4960791"/>
            <a:ext cx="3998794" cy="1815882"/>
          </a:xfrm>
          <a:prstGeom prst="rect">
            <a:avLst/>
          </a:prstGeom>
          <a:noFill/>
        </p:spPr>
        <p:txBody>
          <a:bodyPr wrap="square" rtlCol="0">
            <a:spAutoFit/>
          </a:bodyPr>
          <a:lstStyle/>
          <a:p>
            <a:r>
              <a:rPr kumimoji="1" lang="en-US" altLang="ja-JP" sz="2800" dirty="0" smtClean="0"/>
              <a:t>continue</a:t>
            </a:r>
            <a:r>
              <a:rPr kumimoji="1" lang="ja-JP" altLang="en-US" sz="2800" dirty="0" smtClean="0"/>
              <a:t>文によって、</a:t>
            </a:r>
            <a:r>
              <a:rPr kumimoji="1" lang="en-US" altLang="ja-JP" sz="2800" dirty="0" smtClean="0"/>
              <a:t>if</a:t>
            </a:r>
            <a:r>
              <a:rPr kumimoji="1" lang="ja-JP" altLang="en-US" sz="2800" dirty="0" smtClean="0"/>
              <a:t>文の出口は</a:t>
            </a:r>
            <a:r>
              <a:rPr lang="ja-JP" altLang="en-US" sz="2800" dirty="0" smtClean="0"/>
              <a:t>２つになったが、</a:t>
            </a:r>
            <a:r>
              <a:rPr lang="en-US" altLang="ja-JP" sz="2800" dirty="0" smtClean="0"/>
              <a:t>while</a:t>
            </a:r>
            <a:r>
              <a:rPr lang="ja-JP" altLang="en-US" sz="2800" dirty="0" smtClean="0"/>
              <a:t>文全体は</a:t>
            </a:r>
            <a:r>
              <a:rPr lang="en-US" altLang="ja-JP" sz="2800" dirty="0" smtClean="0"/>
              <a:t>single entry, single exit</a:t>
            </a:r>
            <a:r>
              <a:rPr lang="ja-JP" altLang="en-US" sz="2800" dirty="0" smtClean="0"/>
              <a:t>である。</a:t>
            </a:r>
            <a:endParaRPr kumimoji="1" lang="en-US" altLang="ja-JP" sz="2800" dirty="0" smtClean="0"/>
          </a:p>
        </p:txBody>
      </p:sp>
      <p:sp>
        <p:nvSpPr>
          <p:cNvPr id="42" name="角丸四角形 41"/>
          <p:cNvSpPr/>
          <p:nvPr/>
        </p:nvSpPr>
        <p:spPr>
          <a:xfrm>
            <a:off x="4981449" y="3289109"/>
            <a:ext cx="1937981" cy="2197291"/>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43" name="テキスト ボックス 42"/>
          <p:cNvSpPr txBox="1"/>
          <p:nvPr/>
        </p:nvSpPr>
        <p:spPr>
          <a:xfrm>
            <a:off x="6439571" y="3462618"/>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cxnSp>
        <p:nvCxnSpPr>
          <p:cNvPr id="29" name="直線コネクタ 28"/>
          <p:cNvCxnSpPr/>
          <p:nvPr/>
        </p:nvCxnSpPr>
        <p:spPr>
          <a:xfrm rot="5400000">
            <a:off x="7260624" y="4217158"/>
            <a:ext cx="655092" cy="0"/>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正方形/長方形 29"/>
          <p:cNvSpPr/>
          <p:nvPr/>
        </p:nvSpPr>
        <p:spPr>
          <a:xfrm>
            <a:off x="6997036" y="4472631"/>
            <a:ext cx="1228221" cy="523220"/>
          </a:xfrm>
          <a:prstGeom prst="rect">
            <a:avLst/>
          </a:prstGeom>
          <a:ln>
            <a:noFill/>
          </a:ln>
        </p:spPr>
        <p:txBody>
          <a:bodyPr wrap="none">
            <a:spAutoFit/>
          </a:bodyPr>
          <a:lstStyle/>
          <a:p>
            <a:r>
              <a:rPr lang="en-US" altLang="ja-JP" sz="2800" dirty="0" smtClean="0"/>
              <a:t>x := x-5</a:t>
            </a:r>
            <a:endParaRPr lang="ja-JP" altLang="en-US" sz="2800" dirty="0"/>
          </a:p>
        </p:txBody>
      </p:sp>
      <p:cxnSp>
        <p:nvCxnSpPr>
          <p:cNvPr id="33" name="直線コネクタ 32"/>
          <p:cNvCxnSpPr/>
          <p:nvPr/>
        </p:nvCxnSpPr>
        <p:spPr>
          <a:xfrm rot="5400000">
            <a:off x="7107715" y="5387456"/>
            <a:ext cx="988832" cy="625"/>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6257" y="192751"/>
            <a:ext cx="3323230" cy="639762"/>
          </a:xfrm>
        </p:spPr>
        <p:txBody>
          <a:bodyPr>
            <a:normAutofit fontScale="90000"/>
          </a:bodyPr>
          <a:lstStyle/>
          <a:p>
            <a:r>
              <a:rPr lang="en-US" altLang="ja-JP" dirty="0" err="1" smtClean="0"/>
              <a:t>g</a:t>
            </a:r>
            <a:r>
              <a:rPr kumimoji="1" lang="en-US" altLang="ja-JP" dirty="0" err="1" smtClean="0"/>
              <a:t>oto</a:t>
            </a:r>
            <a:r>
              <a:rPr kumimoji="1" lang="ja-JP" altLang="en-US" dirty="0" smtClean="0"/>
              <a:t>文</a:t>
            </a:r>
            <a:endParaRPr kumimoji="1" lang="ja-JP" altLang="en-US" dirty="0"/>
          </a:p>
        </p:txBody>
      </p:sp>
      <p:sp>
        <p:nvSpPr>
          <p:cNvPr id="4" name="テキスト ボックス 3"/>
          <p:cNvSpPr txBox="1"/>
          <p:nvPr/>
        </p:nvSpPr>
        <p:spPr>
          <a:xfrm>
            <a:off x="545910" y="1037229"/>
            <a:ext cx="3043451" cy="1384995"/>
          </a:xfrm>
          <a:prstGeom prst="rect">
            <a:avLst/>
          </a:prstGeom>
          <a:noFill/>
        </p:spPr>
        <p:txBody>
          <a:bodyPr wrap="square" rtlCol="0">
            <a:spAutoFit/>
          </a:bodyPr>
          <a:lstStyle/>
          <a:p>
            <a:r>
              <a:rPr lang="en-US" altLang="ja-JP" sz="2800" dirty="0" err="1" smtClean="0"/>
              <a:t>g</a:t>
            </a:r>
            <a:r>
              <a:rPr kumimoji="1" lang="en-US" altLang="ja-JP" sz="2800" dirty="0" err="1" smtClean="0"/>
              <a:t>oto</a:t>
            </a:r>
            <a:r>
              <a:rPr kumimoji="1" lang="ja-JP" altLang="en-US" sz="2800" dirty="0" smtClean="0"/>
              <a:t>文は、以下の形式で書かれる。</a:t>
            </a:r>
            <a:endParaRPr kumimoji="1" lang="en-US" altLang="ja-JP" sz="2800" dirty="0" smtClean="0"/>
          </a:p>
          <a:p>
            <a:r>
              <a:rPr lang="en-US" altLang="ja-JP" sz="2800" b="1" dirty="0" smtClean="0"/>
              <a:t>    </a:t>
            </a:r>
            <a:r>
              <a:rPr lang="en-US" altLang="ja-JP" sz="2800" b="1" dirty="0" err="1" smtClean="0"/>
              <a:t>goto</a:t>
            </a:r>
            <a:r>
              <a:rPr lang="en-US" altLang="ja-JP" sz="2800" b="1" dirty="0" smtClean="0"/>
              <a:t> </a:t>
            </a:r>
            <a:r>
              <a:rPr lang="ja-JP" altLang="en-US" sz="2800" dirty="0" smtClean="0"/>
              <a:t>ラベル</a:t>
            </a:r>
            <a:endParaRPr lang="en-US" altLang="ja-JP" sz="2800" dirty="0" smtClean="0"/>
          </a:p>
        </p:txBody>
      </p:sp>
      <p:sp>
        <p:nvSpPr>
          <p:cNvPr id="6" name="テキスト ボックス 5"/>
          <p:cNvSpPr txBox="1"/>
          <p:nvPr/>
        </p:nvSpPr>
        <p:spPr>
          <a:xfrm>
            <a:off x="655093" y="5745711"/>
            <a:ext cx="5486400" cy="954107"/>
          </a:xfrm>
          <a:prstGeom prst="rect">
            <a:avLst/>
          </a:prstGeom>
          <a:noFill/>
          <a:ln>
            <a:solidFill>
              <a:schemeClr val="tx1"/>
            </a:solidFill>
          </a:ln>
        </p:spPr>
        <p:txBody>
          <a:bodyPr wrap="square" rtlCol="0">
            <a:spAutoFit/>
          </a:bodyPr>
          <a:lstStyle/>
          <a:p>
            <a:r>
              <a:rPr lang="en-US" altLang="ja-JP" sz="2800" dirty="0" err="1" smtClean="0"/>
              <a:t>goto</a:t>
            </a:r>
            <a:r>
              <a:rPr lang="ja-JP" altLang="en-US" sz="2800" dirty="0" smtClean="0"/>
              <a:t>文により、</a:t>
            </a:r>
            <a:r>
              <a:rPr lang="en-US" altLang="ja-JP" sz="2800" dirty="0" smtClean="0"/>
              <a:t>if</a:t>
            </a:r>
            <a:r>
              <a:rPr lang="ja-JP" altLang="en-US" sz="2800" dirty="0" smtClean="0"/>
              <a:t>文だけでなく、</a:t>
            </a:r>
            <a:r>
              <a:rPr lang="en-US" altLang="ja-JP" sz="2800" dirty="0" smtClean="0"/>
              <a:t>while</a:t>
            </a:r>
            <a:r>
              <a:rPr lang="ja-JP" altLang="en-US" sz="2800" dirty="0" smtClean="0"/>
              <a:t>文の出口も２つになっている。</a:t>
            </a:r>
            <a:endParaRPr kumimoji="1" lang="ja-JP" altLang="en-US" sz="2800" dirty="0"/>
          </a:p>
        </p:txBody>
      </p:sp>
      <p:cxnSp>
        <p:nvCxnSpPr>
          <p:cNvPr id="27" name="直線矢印コネクタ 26"/>
          <p:cNvCxnSpPr/>
          <p:nvPr/>
        </p:nvCxnSpPr>
        <p:spPr>
          <a:xfrm rot="16200000" flipH="1">
            <a:off x="6878472" y="859811"/>
            <a:ext cx="627798" cy="2"/>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28" name="テキスト ボックス 27"/>
          <p:cNvSpPr txBox="1"/>
          <p:nvPr/>
        </p:nvSpPr>
        <p:spPr>
          <a:xfrm>
            <a:off x="7230574" y="364054"/>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29" name="ひし形 28"/>
          <p:cNvSpPr/>
          <p:nvPr/>
        </p:nvSpPr>
        <p:spPr>
          <a:xfrm>
            <a:off x="6458403" y="213650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30" name="図形 29"/>
          <p:cNvCxnSpPr>
            <a:stCxn id="29" idx="1"/>
          </p:cNvCxnSpPr>
          <p:nvPr/>
        </p:nvCxnSpPr>
        <p:spPr>
          <a:xfrm rot="10800000" flipV="1">
            <a:off x="6029775" y="2493696"/>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線矢印コネクタ 30"/>
          <p:cNvCxnSpPr/>
          <p:nvPr/>
        </p:nvCxnSpPr>
        <p:spPr>
          <a:xfrm rot="5400000">
            <a:off x="6612351" y="4401386"/>
            <a:ext cx="3807729" cy="1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2" name="テキスト ボックス 31"/>
          <p:cNvSpPr txBox="1"/>
          <p:nvPr/>
        </p:nvSpPr>
        <p:spPr>
          <a:xfrm>
            <a:off x="7593018" y="5932303"/>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33" name="テキスト ボックス 32"/>
          <p:cNvSpPr txBox="1"/>
          <p:nvPr/>
        </p:nvSpPr>
        <p:spPr>
          <a:xfrm>
            <a:off x="6043423" y="2027322"/>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34" name="テキスト ボックス 33"/>
          <p:cNvSpPr txBox="1"/>
          <p:nvPr/>
        </p:nvSpPr>
        <p:spPr>
          <a:xfrm>
            <a:off x="7761134" y="205461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35" name="テキスト ボックス 34"/>
          <p:cNvSpPr txBox="1"/>
          <p:nvPr/>
        </p:nvSpPr>
        <p:spPr>
          <a:xfrm>
            <a:off x="5380875" y="4294992"/>
            <a:ext cx="1391728" cy="523220"/>
          </a:xfrm>
          <a:prstGeom prst="rect">
            <a:avLst/>
          </a:prstGeom>
          <a:noFill/>
        </p:spPr>
        <p:txBody>
          <a:bodyPr wrap="none" rtlCol="0">
            <a:spAutoFit/>
          </a:bodyPr>
          <a:lstStyle/>
          <a:p>
            <a:r>
              <a:rPr lang="en-US" altLang="ja-JP" sz="2800" dirty="0" smtClean="0"/>
              <a:t>  x := x-1</a:t>
            </a:r>
          </a:p>
        </p:txBody>
      </p:sp>
      <p:sp>
        <p:nvSpPr>
          <p:cNvPr id="36" name="ひし形 35"/>
          <p:cNvSpPr/>
          <p:nvPr/>
        </p:nvSpPr>
        <p:spPr>
          <a:xfrm>
            <a:off x="5327914" y="314871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sym typeface="Symbol"/>
              </a:rPr>
              <a:t>x=8</a:t>
            </a:r>
            <a:endParaRPr kumimoji="1" lang="ja-JP" altLang="en-US" sz="2800" dirty="0">
              <a:solidFill>
                <a:schemeClr val="tx1"/>
              </a:solidFill>
            </a:endParaRPr>
          </a:p>
        </p:txBody>
      </p:sp>
      <p:cxnSp>
        <p:nvCxnSpPr>
          <p:cNvPr id="37" name="直線コネクタ 36"/>
          <p:cNvCxnSpPr>
            <a:stCxn id="36" idx="3"/>
          </p:cNvCxnSpPr>
          <p:nvPr/>
        </p:nvCxnSpPr>
        <p:spPr>
          <a:xfrm>
            <a:off x="6756674" y="3505906"/>
            <a:ext cx="1036216" cy="1562"/>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8" name="テキスト ボックス 37"/>
          <p:cNvSpPr txBox="1"/>
          <p:nvPr/>
        </p:nvSpPr>
        <p:spPr>
          <a:xfrm>
            <a:off x="5963807" y="3776512"/>
            <a:ext cx="543739" cy="523220"/>
          </a:xfrm>
          <a:prstGeom prst="rect">
            <a:avLst/>
          </a:prstGeom>
          <a:noFill/>
        </p:spPr>
        <p:txBody>
          <a:bodyPr wrap="none" rtlCol="0">
            <a:spAutoFit/>
          </a:bodyPr>
          <a:lstStyle/>
          <a:p>
            <a:r>
              <a:rPr lang="ja-JP" altLang="en-US" sz="2800" dirty="0" smtClean="0"/>
              <a:t>偽</a:t>
            </a:r>
            <a:endParaRPr kumimoji="1" lang="ja-JP" altLang="en-US" sz="2800" dirty="0"/>
          </a:p>
        </p:txBody>
      </p:sp>
      <p:cxnSp>
        <p:nvCxnSpPr>
          <p:cNvPr id="39" name="直線コネクタ 38"/>
          <p:cNvCxnSpPr/>
          <p:nvPr/>
        </p:nvCxnSpPr>
        <p:spPr>
          <a:xfrm rot="10800000">
            <a:off x="7902073" y="2497533"/>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線コネクタ 39"/>
          <p:cNvCxnSpPr>
            <a:stCxn id="36" idx="2"/>
          </p:cNvCxnSpPr>
          <p:nvPr/>
        </p:nvCxnSpPr>
        <p:spPr>
          <a:xfrm rot="16200000" flipH="1">
            <a:off x="5785207" y="4120183"/>
            <a:ext cx="517839" cy="366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直線矢印コネクタ 40"/>
          <p:cNvCxnSpPr/>
          <p:nvPr/>
        </p:nvCxnSpPr>
        <p:spPr>
          <a:xfrm rot="16200000" flipH="1">
            <a:off x="3186754" y="3473358"/>
            <a:ext cx="3193577" cy="13648"/>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2" name="直線コネクタ 41"/>
          <p:cNvCxnSpPr/>
          <p:nvPr/>
        </p:nvCxnSpPr>
        <p:spPr>
          <a:xfrm rot="16200000" flipH="1">
            <a:off x="5870967" y="4894654"/>
            <a:ext cx="370062" cy="38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flipV="1">
            <a:off x="4790364" y="5076963"/>
            <a:ext cx="1269242" cy="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線コネクタ 43"/>
          <p:cNvCxnSpPr/>
          <p:nvPr/>
        </p:nvCxnSpPr>
        <p:spPr>
          <a:xfrm flipV="1">
            <a:off x="3998794" y="928049"/>
            <a:ext cx="3166283" cy="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6" name="テキスト ボックス 45"/>
          <p:cNvSpPr txBox="1"/>
          <p:nvPr/>
        </p:nvSpPr>
        <p:spPr>
          <a:xfrm>
            <a:off x="6657939" y="3053178"/>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49" name="直線コネクタ 48"/>
          <p:cNvCxnSpPr/>
          <p:nvPr/>
        </p:nvCxnSpPr>
        <p:spPr>
          <a:xfrm rot="16200000" flipH="1">
            <a:off x="6810249" y="4503751"/>
            <a:ext cx="1992560" cy="20"/>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2" name="正方形/長方形 51"/>
          <p:cNvSpPr/>
          <p:nvPr/>
        </p:nvSpPr>
        <p:spPr>
          <a:xfrm>
            <a:off x="6474485" y="1074337"/>
            <a:ext cx="1391728" cy="523220"/>
          </a:xfrm>
          <a:prstGeom prst="rect">
            <a:avLst/>
          </a:prstGeom>
        </p:spPr>
        <p:txBody>
          <a:bodyPr wrap="none">
            <a:spAutoFit/>
          </a:bodyPr>
          <a:lstStyle/>
          <a:p>
            <a:r>
              <a:rPr lang="en-US" altLang="ja-JP" sz="2800" dirty="0" smtClean="0"/>
              <a:t>x := x - 4</a:t>
            </a:r>
            <a:endParaRPr lang="ja-JP" altLang="en-US" sz="2800" dirty="0"/>
          </a:p>
        </p:txBody>
      </p:sp>
      <p:cxnSp>
        <p:nvCxnSpPr>
          <p:cNvPr id="53" name="直線コネクタ 52"/>
          <p:cNvCxnSpPr>
            <a:stCxn id="52" idx="2"/>
            <a:endCxn id="29" idx="0"/>
          </p:cNvCxnSpPr>
          <p:nvPr/>
        </p:nvCxnSpPr>
        <p:spPr>
          <a:xfrm rot="16200000" flipH="1">
            <a:off x="6902092" y="1865814"/>
            <a:ext cx="538949" cy="243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7" name="直線コネクタ 66"/>
          <p:cNvCxnSpPr/>
          <p:nvPr/>
        </p:nvCxnSpPr>
        <p:spPr>
          <a:xfrm>
            <a:off x="4776716" y="1883394"/>
            <a:ext cx="2404284" cy="2275"/>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3" name="直線コネクタ 72"/>
          <p:cNvCxnSpPr/>
          <p:nvPr/>
        </p:nvCxnSpPr>
        <p:spPr>
          <a:xfrm>
            <a:off x="3985146" y="5500051"/>
            <a:ext cx="38350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線矢印コネクタ 74"/>
          <p:cNvCxnSpPr/>
          <p:nvPr/>
        </p:nvCxnSpPr>
        <p:spPr>
          <a:xfrm rot="5400000">
            <a:off x="1705978" y="3209498"/>
            <a:ext cx="4574259" cy="11365"/>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94" name="角丸四角形 93"/>
          <p:cNvSpPr/>
          <p:nvPr/>
        </p:nvSpPr>
        <p:spPr>
          <a:xfrm>
            <a:off x="4339987" y="1719621"/>
            <a:ext cx="3957851" cy="3577988"/>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5" name="正方形/長方形 94"/>
          <p:cNvSpPr/>
          <p:nvPr/>
        </p:nvSpPr>
        <p:spPr>
          <a:xfrm>
            <a:off x="580030" y="2454281"/>
            <a:ext cx="2436125" cy="3108543"/>
          </a:xfrm>
          <a:prstGeom prst="rect">
            <a:avLst/>
          </a:prstGeom>
        </p:spPr>
        <p:txBody>
          <a:bodyPr wrap="square">
            <a:spAutoFit/>
          </a:bodyPr>
          <a:lstStyle/>
          <a:p>
            <a:r>
              <a:rPr lang="ja-JP" altLang="en-US" sz="2800" dirty="0" smtClean="0"/>
              <a:t>（例）</a:t>
            </a:r>
            <a:endParaRPr lang="en-US" altLang="ja-JP" sz="2800" dirty="0" smtClean="0"/>
          </a:p>
          <a:p>
            <a:r>
              <a:rPr lang="en-US" altLang="ja-JP" sz="2800" dirty="0" smtClean="0"/>
              <a:t>   L:  x := x - 4;</a:t>
            </a:r>
          </a:p>
          <a:p>
            <a:r>
              <a:rPr lang="en-US" altLang="ja-JP" sz="2800" dirty="0" smtClean="0"/>
              <a:t>   </a:t>
            </a:r>
            <a:r>
              <a:rPr lang="en-US" altLang="ja-JP" sz="2800" b="1" dirty="0" smtClean="0"/>
              <a:t>while</a:t>
            </a:r>
            <a:r>
              <a:rPr lang="en-US" altLang="ja-JP" sz="2800" dirty="0" smtClean="0"/>
              <a:t> x&gt;0 </a:t>
            </a:r>
            <a:r>
              <a:rPr lang="en-US" altLang="ja-JP" sz="2800" b="1" dirty="0" smtClean="0"/>
              <a:t>do</a:t>
            </a:r>
          </a:p>
          <a:p>
            <a:r>
              <a:rPr lang="en-US" altLang="ja-JP" sz="2800" dirty="0" smtClean="0"/>
              <a:t>       </a:t>
            </a:r>
            <a:r>
              <a:rPr lang="en-US" altLang="ja-JP" sz="2800" b="1" dirty="0" smtClean="0"/>
              <a:t>if</a:t>
            </a:r>
            <a:r>
              <a:rPr lang="en-US" altLang="ja-JP" sz="2800" dirty="0" smtClean="0"/>
              <a:t> x=8 </a:t>
            </a:r>
            <a:r>
              <a:rPr lang="en-US" altLang="ja-JP" sz="2800" b="1" dirty="0" smtClean="0"/>
              <a:t>then</a:t>
            </a:r>
          </a:p>
          <a:p>
            <a:r>
              <a:rPr lang="en-US" altLang="ja-JP" sz="2800" dirty="0" smtClean="0"/>
              <a:t>           </a:t>
            </a:r>
            <a:r>
              <a:rPr lang="en-US" altLang="ja-JP" sz="2800" b="1" dirty="0" err="1" smtClean="0"/>
              <a:t>goto</a:t>
            </a:r>
            <a:r>
              <a:rPr lang="en-US" altLang="ja-JP" sz="2800" dirty="0" smtClean="0"/>
              <a:t> L</a:t>
            </a:r>
          </a:p>
          <a:p>
            <a:r>
              <a:rPr lang="en-US" altLang="ja-JP" sz="2800" b="1" dirty="0" smtClean="0"/>
              <a:t>       else</a:t>
            </a:r>
          </a:p>
          <a:p>
            <a:r>
              <a:rPr lang="en-US" altLang="ja-JP" sz="2800" dirty="0" smtClean="0"/>
              <a:t>           x := x-1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return</a:t>
            </a:r>
            <a:r>
              <a:rPr kumimoji="1" lang="ja-JP" altLang="en-US" dirty="0" smtClean="0"/>
              <a:t>文</a:t>
            </a:r>
            <a:endParaRPr kumimoji="1" lang="ja-JP" altLang="en-US" dirty="0"/>
          </a:p>
        </p:txBody>
      </p:sp>
      <p:sp>
        <p:nvSpPr>
          <p:cNvPr id="4" name="テキスト ボックス 3"/>
          <p:cNvSpPr txBox="1"/>
          <p:nvPr/>
        </p:nvSpPr>
        <p:spPr>
          <a:xfrm>
            <a:off x="773934" y="1411389"/>
            <a:ext cx="7779224" cy="5262979"/>
          </a:xfrm>
          <a:prstGeom prst="rect">
            <a:avLst/>
          </a:prstGeom>
          <a:noFill/>
        </p:spPr>
        <p:txBody>
          <a:bodyPr wrap="square" rtlCol="0">
            <a:spAutoFit/>
          </a:bodyPr>
          <a:lstStyle/>
          <a:p>
            <a:r>
              <a:rPr lang="en-US" altLang="ja-JP" sz="2800" dirty="0" smtClean="0"/>
              <a:t>r</a:t>
            </a:r>
            <a:r>
              <a:rPr kumimoji="1" lang="en-US" altLang="ja-JP" sz="2800" dirty="0" smtClean="0"/>
              <a:t>eturn</a:t>
            </a:r>
            <a:r>
              <a:rPr kumimoji="1" lang="ja-JP" altLang="en-US" sz="2800" dirty="0" smtClean="0"/>
              <a:t>文は</a:t>
            </a:r>
            <a:r>
              <a:rPr kumimoji="1" lang="en-US" altLang="ja-JP" sz="2800" dirty="0" smtClean="0"/>
              <a:t>Modula-2</a:t>
            </a:r>
            <a:r>
              <a:rPr kumimoji="1" lang="ja-JP" altLang="en-US" sz="2800" dirty="0" smtClean="0"/>
              <a:t>などでは</a:t>
            </a:r>
            <a:endParaRPr kumimoji="1" lang="en-US" altLang="ja-JP" sz="2800" dirty="0" smtClean="0"/>
          </a:p>
          <a:p>
            <a:r>
              <a:rPr lang="en-US" altLang="ja-JP" sz="2800" dirty="0" smtClean="0"/>
              <a:t>    return </a:t>
            </a:r>
            <a:r>
              <a:rPr lang="ja-JP" altLang="en-US" sz="2800" dirty="0" smtClean="0"/>
              <a:t>あるいは </a:t>
            </a:r>
            <a:r>
              <a:rPr lang="en-US" altLang="ja-JP" sz="2800" dirty="0" smtClean="0"/>
              <a:t>return </a:t>
            </a:r>
            <a:r>
              <a:rPr lang="ja-JP" altLang="en-US" sz="2800" dirty="0" smtClean="0"/>
              <a:t>式</a:t>
            </a:r>
            <a:endParaRPr lang="en-US" altLang="ja-JP" sz="2800" dirty="0" smtClean="0"/>
          </a:p>
          <a:p>
            <a:r>
              <a:rPr kumimoji="1" lang="ja-JP" altLang="en-US" sz="2800" dirty="0" smtClean="0"/>
              <a:t>の形で書かれる</a:t>
            </a:r>
            <a:r>
              <a:rPr lang="ja-JP" altLang="en-US" sz="2800" dirty="0" smtClean="0"/>
              <a:t>（</a:t>
            </a:r>
            <a:r>
              <a:rPr lang="en-US" altLang="ja-JP" sz="2800" dirty="0" smtClean="0"/>
              <a:t>C</a:t>
            </a:r>
            <a:r>
              <a:rPr lang="ja-JP" altLang="en-US" sz="2800" dirty="0" smtClean="0"/>
              <a:t>ではセミコロンをつけて</a:t>
            </a:r>
            <a:r>
              <a:rPr lang="en-US" altLang="ja-JP" sz="2800" dirty="0" smtClean="0"/>
              <a:t>return; </a:t>
            </a:r>
            <a:r>
              <a:rPr lang="ja-JP" altLang="en-US" sz="2800" dirty="0" smtClean="0"/>
              <a:t>あるいは</a:t>
            </a:r>
            <a:r>
              <a:rPr lang="en-US" altLang="ja-JP" sz="2800" dirty="0" smtClean="0"/>
              <a:t>return </a:t>
            </a:r>
            <a:r>
              <a:rPr lang="ja-JP" altLang="en-US" sz="2800" dirty="0" smtClean="0"/>
              <a:t>式</a:t>
            </a:r>
            <a:r>
              <a:rPr lang="en-US" altLang="ja-JP" sz="2800" dirty="0" smtClean="0"/>
              <a:t>; </a:t>
            </a:r>
            <a:r>
              <a:rPr lang="ja-JP" altLang="en-US" sz="2800" dirty="0" smtClean="0"/>
              <a:t>と書く）</a:t>
            </a:r>
            <a:r>
              <a:rPr kumimoji="1" lang="ja-JP" altLang="en-US" sz="2800" dirty="0" smtClean="0"/>
              <a:t>。</a:t>
            </a:r>
            <a:endParaRPr kumimoji="1" lang="en-US" altLang="ja-JP" sz="2800" dirty="0" smtClean="0"/>
          </a:p>
          <a:p>
            <a:r>
              <a:rPr lang="en-US" altLang="ja-JP" sz="2800" dirty="0" smtClean="0"/>
              <a:t>return</a:t>
            </a:r>
            <a:r>
              <a:rPr lang="ja-JP" altLang="en-US" sz="2800" dirty="0" smtClean="0"/>
              <a:t>文が実行されると、その手続き（関数）を呼び出した部分に制御が戻る。</a:t>
            </a:r>
            <a:endParaRPr lang="en-US" altLang="ja-JP" sz="2800" dirty="0" smtClean="0"/>
          </a:p>
          <a:p>
            <a:endParaRPr lang="en-US" altLang="ja-JP" sz="2800" dirty="0" smtClean="0"/>
          </a:p>
          <a:p>
            <a:r>
              <a:rPr lang="en-US" altLang="ja-JP" sz="2800" dirty="0" smtClean="0"/>
              <a:t>Return</a:t>
            </a:r>
            <a:r>
              <a:rPr lang="ja-JP" altLang="en-US" sz="2800" dirty="0" smtClean="0"/>
              <a:t>文も、</a:t>
            </a:r>
            <a:r>
              <a:rPr lang="en-US" altLang="ja-JP" sz="2800" dirty="0" err="1" smtClean="0"/>
              <a:t>goto</a:t>
            </a:r>
            <a:r>
              <a:rPr lang="ja-JP" altLang="en-US" sz="2800" dirty="0" smtClean="0"/>
              <a:t>文、</a:t>
            </a:r>
            <a:r>
              <a:rPr lang="en-US" altLang="ja-JP" sz="2800" dirty="0" smtClean="0"/>
              <a:t>break</a:t>
            </a:r>
            <a:r>
              <a:rPr lang="ja-JP" altLang="en-US" sz="2800" dirty="0" smtClean="0"/>
              <a:t>文、</a:t>
            </a:r>
            <a:r>
              <a:rPr lang="en-US" altLang="ja-JP" sz="2800" dirty="0" smtClean="0"/>
              <a:t>continue</a:t>
            </a:r>
            <a:r>
              <a:rPr lang="ja-JP" altLang="en-US" sz="2800" dirty="0" smtClean="0"/>
              <a:t>文と同様、実行されると制御が移る。</a:t>
            </a:r>
            <a:endParaRPr lang="en-US" altLang="ja-JP" sz="2800" dirty="0" smtClean="0"/>
          </a:p>
          <a:p>
            <a:endParaRPr lang="en-US" altLang="ja-JP" sz="2800" dirty="0" smtClean="0"/>
          </a:p>
          <a:p>
            <a:r>
              <a:rPr lang="en-US" altLang="ja-JP" sz="2800" dirty="0" smtClean="0"/>
              <a:t>break</a:t>
            </a:r>
            <a:r>
              <a:rPr lang="ja-JP" altLang="en-US" sz="2800" dirty="0" smtClean="0"/>
              <a:t>文は繰り返しを脱出するのに対し、</a:t>
            </a:r>
            <a:r>
              <a:rPr lang="en-US" altLang="ja-JP" sz="2800" dirty="0" smtClean="0"/>
              <a:t>return</a:t>
            </a:r>
            <a:r>
              <a:rPr lang="ja-JP" altLang="en-US" sz="2800" dirty="0" smtClean="0"/>
              <a:t>文は手続き（関数）を脱出する。</a:t>
            </a:r>
            <a:endParaRPr lang="en-US" altLang="ja-JP" sz="2800" dirty="0"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練習問題</a:t>
            </a:r>
            <a:r>
              <a:rPr lang="ja-JP" altLang="en-US" dirty="0" smtClean="0"/>
              <a:t>１</a:t>
            </a:r>
            <a:endParaRPr kumimoji="1" lang="ja-JP" altLang="en-US" dirty="0"/>
          </a:p>
        </p:txBody>
      </p:sp>
      <p:sp>
        <p:nvSpPr>
          <p:cNvPr id="5" name="テキスト ボックス 4"/>
          <p:cNvSpPr txBox="1"/>
          <p:nvPr/>
        </p:nvSpPr>
        <p:spPr>
          <a:xfrm>
            <a:off x="1064526" y="1419366"/>
            <a:ext cx="7539243" cy="1815882"/>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b="1" dirty="0" smtClean="0"/>
              <a:t>if </a:t>
            </a:r>
            <a:r>
              <a:rPr lang="en-US" altLang="ja-JP" sz="2800" dirty="0" smtClean="0"/>
              <a:t>x &gt; 0 </a:t>
            </a:r>
            <a:r>
              <a:rPr lang="en-US" altLang="ja-JP" sz="2800" b="1" dirty="0" smtClean="0"/>
              <a:t>then </a:t>
            </a:r>
            <a:r>
              <a:rPr lang="en-US" altLang="ja-JP" sz="2800" dirty="0" smtClean="0"/>
              <a:t>x := x – 1</a:t>
            </a:r>
          </a:p>
          <a:p>
            <a:r>
              <a:rPr lang="en-US" altLang="ja-JP" sz="2800" b="1" dirty="0" smtClean="0"/>
              <a:t>else if </a:t>
            </a:r>
            <a:r>
              <a:rPr lang="en-US" altLang="ja-JP" sz="2800" dirty="0" smtClean="0"/>
              <a:t>y &gt; 0 </a:t>
            </a:r>
            <a:r>
              <a:rPr lang="en-US" altLang="ja-JP" sz="2800" b="1" dirty="0" smtClean="0"/>
              <a:t>then </a:t>
            </a:r>
            <a:r>
              <a:rPr lang="en-US" altLang="ja-JP" sz="2800" dirty="0" smtClean="0"/>
              <a:t>y := y – 1</a:t>
            </a:r>
          </a:p>
          <a:p>
            <a:r>
              <a:rPr kumimoji="1" lang="en-US" altLang="ja-JP" sz="2800" b="1" dirty="0" smtClean="0"/>
              <a:t>        else </a:t>
            </a:r>
            <a:r>
              <a:rPr kumimoji="1" lang="en-US" altLang="ja-JP" sz="2800" dirty="0" smtClean="0"/>
              <a:t>y := y + 1</a:t>
            </a:r>
            <a:endParaRPr kumimoji="1" lang="ja-JP" alt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練習問題２</a:t>
            </a:r>
            <a:endParaRPr kumimoji="1" lang="ja-JP" altLang="en-US" dirty="0"/>
          </a:p>
        </p:txBody>
      </p:sp>
      <p:sp>
        <p:nvSpPr>
          <p:cNvPr id="5" name="テキスト ボックス 4"/>
          <p:cNvSpPr txBox="1"/>
          <p:nvPr/>
        </p:nvSpPr>
        <p:spPr>
          <a:xfrm>
            <a:off x="955344" y="1760560"/>
            <a:ext cx="7539243" cy="3539430"/>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dirty="0" smtClean="0"/>
              <a:t>        </a:t>
            </a:r>
            <a:r>
              <a:rPr lang="en-US" altLang="ja-JP" sz="2800" b="1" dirty="0" smtClean="0"/>
              <a:t>if</a:t>
            </a:r>
            <a:r>
              <a:rPr lang="en-US" altLang="ja-JP" sz="2800" dirty="0" smtClean="0"/>
              <a:t> x=3 </a:t>
            </a:r>
            <a:r>
              <a:rPr lang="en-US" altLang="ja-JP" sz="2800" b="1" dirty="0" smtClean="0"/>
              <a:t>then</a:t>
            </a:r>
          </a:p>
          <a:p>
            <a:r>
              <a:rPr kumimoji="1" lang="en-US" altLang="ja-JP" sz="2800" dirty="0" smtClean="0"/>
              <a:t>            break;</a:t>
            </a:r>
            <a:endParaRPr lang="en-US" altLang="ja-JP" sz="2800" b="1" dirty="0" smtClean="0"/>
          </a:p>
          <a:p>
            <a:r>
              <a:rPr kumimoji="1" lang="en-US" altLang="ja-JP" sz="2800" dirty="0" smtClean="0"/>
              <a:t>        y := y + 1;</a:t>
            </a:r>
          </a:p>
          <a:p>
            <a:r>
              <a:rPr kumimoji="1" lang="en-US" altLang="ja-JP" sz="2800" dirty="0" smtClean="0"/>
              <a:t>        x := x - 1</a:t>
            </a:r>
          </a:p>
          <a:p>
            <a:r>
              <a:rPr lang="en-US" altLang="ja-JP" sz="2800" dirty="0" smtClean="0"/>
              <a:t>   </a:t>
            </a:r>
            <a:r>
              <a:rPr lang="en-US" altLang="ja-JP" sz="2800" b="1" dirty="0" smtClean="0"/>
              <a:t> end</a:t>
            </a:r>
            <a:endParaRPr kumimoji="1" lang="ja-JP" altLang="en-US" sz="2800"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練習問題３</a:t>
            </a:r>
            <a:endParaRPr kumimoji="1" lang="ja-JP" altLang="en-US" dirty="0"/>
          </a:p>
        </p:txBody>
      </p:sp>
      <p:sp>
        <p:nvSpPr>
          <p:cNvPr id="4" name="テキスト ボックス 3"/>
          <p:cNvSpPr txBox="1"/>
          <p:nvPr/>
        </p:nvSpPr>
        <p:spPr>
          <a:xfrm>
            <a:off x="750627" y="1282889"/>
            <a:ext cx="7539243" cy="5262979"/>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b="1" dirty="0" smtClean="0"/>
              <a:t>        while </a:t>
            </a:r>
            <a:r>
              <a:rPr lang="en-US" altLang="ja-JP" sz="2800" dirty="0" smtClean="0"/>
              <a:t>y&gt;0</a:t>
            </a:r>
            <a:r>
              <a:rPr lang="en-US" altLang="ja-JP" sz="2800" b="1" dirty="0" smtClean="0"/>
              <a:t> do</a:t>
            </a:r>
          </a:p>
          <a:p>
            <a:r>
              <a:rPr lang="en-US" altLang="ja-JP" sz="2800" dirty="0" smtClean="0"/>
              <a:t>            </a:t>
            </a:r>
            <a:r>
              <a:rPr lang="en-US" altLang="ja-JP" sz="2800" b="1" dirty="0" smtClean="0"/>
              <a:t>begin</a:t>
            </a:r>
          </a:p>
          <a:p>
            <a:r>
              <a:rPr lang="en-US" altLang="ja-JP" sz="2800" dirty="0" smtClean="0"/>
              <a:t>                </a:t>
            </a:r>
            <a:r>
              <a:rPr lang="en-US" altLang="ja-JP" sz="2800" b="1" dirty="0" smtClean="0"/>
              <a:t>if</a:t>
            </a:r>
            <a:r>
              <a:rPr lang="en-US" altLang="ja-JP" sz="2800" dirty="0" smtClean="0"/>
              <a:t> x=3 </a:t>
            </a:r>
            <a:r>
              <a:rPr lang="en-US" altLang="ja-JP" sz="2800" b="1" dirty="0" smtClean="0"/>
              <a:t>then</a:t>
            </a:r>
          </a:p>
          <a:p>
            <a:r>
              <a:rPr kumimoji="1" lang="en-US" altLang="ja-JP" sz="2800" dirty="0" smtClean="0"/>
              <a:t>                    </a:t>
            </a:r>
            <a:r>
              <a:rPr kumimoji="1" lang="en-US" altLang="ja-JP" sz="2800" b="1" dirty="0" smtClean="0"/>
              <a:t>break</a:t>
            </a:r>
            <a:r>
              <a:rPr kumimoji="1" lang="en-US" altLang="ja-JP" sz="2800" dirty="0" smtClean="0"/>
              <a:t>;</a:t>
            </a:r>
          </a:p>
          <a:p>
            <a:r>
              <a:rPr lang="en-US" altLang="ja-JP" sz="2800" b="1" dirty="0" smtClean="0"/>
              <a:t>                </a:t>
            </a:r>
            <a:r>
              <a:rPr lang="en-US" altLang="ja-JP" sz="2800" dirty="0" smtClean="0"/>
              <a:t>z := z + 1;</a:t>
            </a:r>
          </a:p>
          <a:p>
            <a:r>
              <a:rPr kumimoji="1" lang="en-US" altLang="ja-JP" sz="2800" dirty="0" smtClean="0"/>
              <a:t>                y := y - 1</a:t>
            </a:r>
          </a:p>
          <a:p>
            <a:r>
              <a:rPr kumimoji="1" lang="en-US" altLang="ja-JP" sz="2800" dirty="0" smtClean="0"/>
              <a:t>            </a:t>
            </a:r>
            <a:r>
              <a:rPr kumimoji="1" lang="en-US" altLang="ja-JP" sz="2800" b="1" dirty="0" smtClean="0"/>
              <a:t>end</a:t>
            </a:r>
            <a:r>
              <a:rPr kumimoji="1" lang="en-US" altLang="ja-JP" sz="2800" dirty="0" smtClean="0"/>
              <a:t>;</a:t>
            </a:r>
          </a:p>
          <a:p>
            <a:r>
              <a:rPr kumimoji="1" lang="en-US" altLang="ja-JP" sz="2800" dirty="0" smtClean="0"/>
              <a:t>        x := x – 1</a:t>
            </a:r>
          </a:p>
          <a:p>
            <a:r>
              <a:rPr lang="en-US" altLang="ja-JP" sz="2800" dirty="0" smtClean="0"/>
              <a:t>   </a:t>
            </a:r>
            <a:r>
              <a:rPr lang="en-US" altLang="ja-JP" sz="2800" b="1" dirty="0" smtClean="0"/>
              <a:t> end</a:t>
            </a:r>
            <a:endParaRPr kumimoji="1" lang="ja-JP" altLang="en-US" sz="2800"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02609" y="54592"/>
            <a:ext cx="8229600" cy="723331"/>
          </a:xfrm>
        </p:spPr>
        <p:txBody>
          <a:bodyPr>
            <a:normAutofit/>
          </a:bodyPr>
          <a:lstStyle/>
          <a:p>
            <a:r>
              <a:rPr lang="ja-JP" altLang="en-US" sz="4000" dirty="0" smtClean="0"/>
              <a:t>練習問題４</a:t>
            </a:r>
            <a:endParaRPr kumimoji="1" lang="ja-JP" altLang="en-US" sz="4000" dirty="0"/>
          </a:p>
        </p:txBody>
      </p:sp>
      <p:sp>
        <p:nvSpPr>
          <p:cNvPr id="4" name="テキスト ボックス 3"/>
          <p:cNvSpPr txBox="1"/>
          <p:nvPr/>
        </p:nvSpPr>
        <p:spPr>
          <a:xfrm>
            <a:off x="832508" y="760542"/>
            <a:ext cx="7539243" cy="6124754"/>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b="1" dirty="0" smtClean="0"/>
              <a:t>        while </a:t>
            </a:r>
            <a:r>
              <a:rPr lang="en-US" altLang="ja-JP" sz="2800" dirty="0" smtClean="0"/>
              <a:t>y&gt;0</a:t>
            </a:r>
            <a:r>
              <a:rPr lang="en-US" altLang="ja-JP" sz="2800" b="1" dirty="0" smtClean="0"/>
              <a:t> do</a:t>
            </a:r>
          </a:p>
          <a:p>
            <a:r>
              <a:rPr lang="en-US" altLang="ja-JP" sz="2800" dirty="0" smtClean="0"/>
              <a:t>            </a:t>
            </a:r>
            <a:r>
              <a:rPr lang="en-US" altLang="ja-JP" sz="2800" b="1" dirty="0" smtClean="0"/>
              <a:t>begin</a:t>
            </a:r>
          </a:p>
          <a:p>
            <a:r>
              <a:rPr lang="en-US" altLang="ja-JP" sz="2800" dirty="0" smtClean="0"/>
              <a:t>                </a:t>
            </a:r>
            <a:r>
              <a:rPr lang="en-US" altLang="ja-JP" sz="2800" b="1" dirty="0" smtClean="0"/>
              <a:t>if</a:t>
            </a:r>
            <a:r>
              <a:rPr lang="en-US" altLang="ja-JP" sz="2800" dirty="0" smtClean="0"/>
              <a:t> x</a:t>
            </a:r>
            <a:r>
              <a:rPr lang="en-US" altLang="ja-JP" sz="2800" dirty="0" smtClean="0">
                <a:sym typeface="Symbol"/>
              </a:rPr>
              <a:t></a:t>
            </a:r>
            <a:r>
              <a:rPr lang="en-US" altLang="ja-JP" sz="2800" dirty="0" smtClean="0"/>
              <a:t>3 </a:t>
            </a:r>
            <a:r>
              <a:rPr lang="en-US" altLang="ja-JP" sz="2800" b="1" dirty="0" smtClean="0"/>
              <a:t>then</a:t>
            </a:r>
          </a:p>
          <a:p>
            <a:r>
              <a:rPr lang="en-US" altLang="ja-JP" sz="2800" b="1" dirty="0" smtClean="0"/>
              <a:t>                    begin</a:t>
            </a:r>
          </a:p>
          <a:p>
            <a:r>
              <a:rPr lang="en-US" altLang="ja-JP" sz="2800" b="1" dirty="0" smtClean="0"/>
              <a:t>                        </a:t>
            </a:r>
            <a:r>
              <a:rPr lang="en-US" altLang="ja-JP" sz="2800" dirty="0" smtClean="0"/>
              <a:t>y := y – 1;</a:t>
            </a:r>
          </a:p>
          <a:p>
            <a:r>
              <a:rPr kumimoji="1" lang="en-US" altLang="ja-JP" sz="2800" dirty="0" smtClean="0"/>
              <a:t>                        </a:t>
            </a:r>
            <a:r>
              <a:rPr kumimoji="1" lang="en-US" altLang="ja-JP" sz="2800" b="1" dirty="0" smtClean="0"/>
              <a:t>continue</a:t>
            </a:r>
          </a:p>
          <a:p>
            <a:r>
              <a:rPr lang="en-US" altLang="ja-JP" sz="2800" b="1" dirty="0" smtClean="0"/>
              <a:t>                    end</a:t>
            </a:r>
            <a:endParaRPr kumimoji="1" lang="en-US" altLang="ja-JP" sz="2800" dirty="0" smtClean="0"/>
          </a:p>
          <a:p>
            <a:r>
              <a:rPr lang="en-US" altLang="ja-JP" sz="2800" b="1" dirty="0" smtClean="0"/>
              <a:t>                </a:t>
            </a:r>
            <a:r>
              <a:rPr lang="en-US" altLang="ja-JP" sz="2800" dirty="0" smtClean="0"/>
              <a:t>z := z + 1;</a:t>
            </a:r>
            <a:r>
              <a:rPr kumimoji="1" lang="en-US" altLang="ja-JP" sz="2800" dirty="0" smtClean="0"/>
              <a:t>  y := y - 1</a:t>
            </a:r>
          </a:p>
          <a:p>
            <a:r>
              <a:rPr kumimoji="1" lang="en-US" altLang="ja-JP" sz="2800" dirty="0" smtClean="0"/>
              <a:t>            </a:t>
            </a:r>
            <a:r>
              <a:rPr kumimoji="1" lang="en-US" altLang="ja-JP" sz="2800" b="1" dirty="0" smtClean="0"/>
              <a:t>end</a:t>
            </a:r>
            <a:r>
              <a:rPr kumimoji="1" lang="en-US" altLang="ja-JP" sz="2800" dirty="0" smtClean="0"/>
              <a:t>;</a:t>
            </a:r>
          </a:p>
          <a:p>
            <a:r>
              <a:rPr kumimoji="1" lang="en-US" altLang="ja-JP" sz="2800" dirty="0" smtClean="0"/>
              <a:t>        x := x – 1</a:t>
            </a:r>
          </a:p>
          <a:p>
            <a:r>
              <a:rPr lang="en-US" altLang="ja-JP" sz="2800" dirty="0" smtClean="0"/>
              <a:t>   </a:t>
            </a:r>
            <a:r>
              <a:rPr lang="en-US" altLang="ja-JP" sz="2800" b="1" dirty="0" smtClean="0"/>
              <a:t> end</a:t>
            </a:r>
            <a:endParaRPr kumimoji="1" lang="ja-JP" altLang="en-US" sz="2800" b="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練習問題５</a:t>
            </a:r>
            <a:endParaRPr kumimoji="1" lang="ja-JP" altLang="en-US" dirty="0"/>
          </a:p>
        </p:txBody>
      </p:sp>
      <p:sp>
        <p:nvSpPr>
          <p:cNvPr id="4" name="テキスト ボックス 3"/>
          <p:cNvSpPr txBox="1"/>
          <p:nvPr/>
        </p:nvSpPr>
        <p:spPr>
          <a:xfrm>
            <a:off x="900752" y="1610434"/>
            <a:ext cx="7539243" cy="3108543"/>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dirty="0" smtClean="0"/>
              <a:t>x := 10;</a:t>
            </a:r>
          </a:p>
          <a:p>
            <a:r>
              <a:rPr lang="en-US" altLang="ja-JP" sz="2800" dirty="0" smtClean="0"/>
              <a:t>sum := 0;</a:t>
            </a:r>
          </a:p>
          <a:p>
            <a:r>
              <a:rPr lang="en-US" altLang="ja-JP" sz="2800" dirty="0" smtClean="0"/>
              <a:t>L:  sum := sum + x;</a:t>
            </a:r>
          </a:p>
          <a:p>
            <a:r>
              <a:rPr lang="en-US" altLang="ja-JP" sz="2800" dirty="0" smtClean="0"/>
              <a:t>x := x – 1;</a:t>
            </a:r>
          </a:p>
          <a:p>
            <a:r>
              <a:rPr lang="en-US" altLang="ja-JP" sz="2800" dirty="0" smtClean="0"/>
              <a:t>if x &gt; 0 then</a:t>
            </a:r>
          </a:p>
          <a:p>
            <a:r>
              <a:rPr lang="en-US" altLang="ja-JP" sz="2800" dirty="0" smtClean="0"/>
              <a:t>    </a:t>
            </a:r>
            <a:r>
              <a:rPr lang="en-US" altLang="ja-JP" sz="2800" dirty="0" err="1" smtClean="0"/>
              <a:t>goto</a:t>
            </a:r>
            <a:r>
              <a:rPr lang="en-US" altLang="ja-JP" sz="2800" smtClean="0"/>
              <a:t> L</a:t>
            </a:r>
            <a:endParaRPr lang="en-US" altLang="ja-JP" sz="2800" dirty="0"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練習問題６</a:t>
            </a:r>
            <a:endParaRPr kumimoji="1" lang="ja-JP" altLang="en-US" dirty="0"/>
          </a:p>
        </p:txBody>
      </p:sp>
      <p:sp>
        <p:nvSpPr>
          <p:cNvPr id="4" name="テキスト ボックス 3"/>
          <p:cNvSpPr txBox="1"/>
          <p:nvPr/>
        </p:nvSpPr>
        <p:spPr>
          <a:xfrm>
            <a:off x="914399" y="1501252"/>
            <a:ext cx="7539243" cy="4401205"/>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dirty="0" smtClean="0"/>
              <a:t>y := 3;</a:t>
            </a:r>
          </a:p>
          <a:p>
            <a:r>
              <a:rPr lang="en-US" altLang="ja-JP" sz="2800" b="1" dirty="0" smtClean="0"/>
              <a:t>case</a:t>
            </a:r>
            <a:r>
              <a:rPr lang="en-US" altLang="ja-JP" sz="2800" dirty="0" smtClean="0"/>
              <a:t> x </a:t>
            </a:r>
            <a:r>
              <a:rPr lang="en-US" altLang="ja-JP" sz="2800" b="1" dirty="0" smtClean="0"/>
              <a:t>of</a:t>
            </a:r>
          </a:p>
          <a:p>
            <a:r>
              <a:rPr lang="en-US" altLang="ja-JP" sz="2800" dirty="0" smtClean="0"/>
              <a:t>    1 : y := 1;</a:t>
            </a:r>
          </a:p>
          <a:p>
            <a:r>
              <a:rPr lang="en-US" altLang="ja-JP" sz="2800" dirty="0" smtClean="0"/>
              <a:t>    2 : y := x * 2;</a:t>
            </a:r>
          </a:p>
          <a:p>
            <a:r>
              <a:rPr lang="en-US" altLang="ja-JP" sz="2800" dirty="0" smtClean="0"/>
              <a:t>    3 : </a:t>
            </a:r>
            <a:r>
              <a:rPr lang="en-US" altLang="ja-JP" sz="2800" b="1" dirty="0" smtClean="0"/>
              <a:t>if</a:t>
            </a:r>
            <a:r>
              <a:rPr lang="en-US" altLang="ja-JP" sz="2800" dirty="0" smtClean="0"/>
              <a:t> z = 0 </a:t>
            </a:r>
            <a:r>
              <a:rPr lang="en-US" altLang="ja-JP" sz="2800" b="1" dirty="0" smtClean="0"/>
              <a:t>then</a:t>
            </a:r>
          </a:p>
          <a:p>
            <a:r>
              <a:rPr lang="en-US" altLang="ja-JP" sz="2800" dirty="0" smtClean="0"/>
              <a:t>              y := y * y</a:t>
            </a:r>
          </a:p>
          <a:p>
            <a:r>
              <a:rPr lang="en-US" altLang="ja-JP" sz="2800" dirty="0" smtClean="0"/>
              <a:t>         </a:t>
            </a:r>
            <a:r>
              <a:rPr lang="en-US" altLang="ja-JP" sz="2800" b="1" dirty="0" smtClean="0"/>
              <a:t>else</a:t>
            </a:r>
            <a:r>
              <a:rPr lang="en-US" altLang="ja-JP" sz="2800" dirty="0" smtClean="0"/>
              <a:t> </a:t>
            </a:r>
          </a:p>
          <a:p>
            <a:r>
              <a:rPr lang="en-US" altLang="ja-JP" sz="2800" dirty="0" smtClean="0"/>
              <a:t>              y := y * y * y</a:t>
            </a:r>
          </a:p>
          <a:p>
            <a:r>
              <a:rPr lang="en-US" altLang="ja-JP" sz="2800" b="1" dirty="0" smtClean="0"/>
              <a:t>end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6258" y="97215"/>
            <a:ext cx="8229600" cy="653410"/>
          </a:xfrm>
        </p:spPr>
        <p:txBody>
          <a:bodyPr>
            <a:normAutofit fontScale="90000"/>
          </a:bodyPr>
          <a:lstStyle/>
          <a:p>
            <a:r>
              <a:rPr kumimoji="1" lang="ja-JP" altLang="en-US" dirty="0" smtClean="0"/>
              <a:t>練習問題７</a:t>
            </a:r>
            <a:endParaRPr kumimoji="1" lang="ja-JP" altLang="en-US" dirty="0"/>
          </a:p>
        </p:txBody>
      </p:sp>
      <p:sp>
        <p:nvSpPr>
          <p:cNvPr id="4" name="テキスト ボックス 3"/>
          <p:cNvSpPr txBox="1"/>
          <p:nvPr/>
        </p:nvSpPr>
        <p:spPr>
          <a:xfrm>
            <a:off x="586433" y="734037"/>
            <a:ext cx="7773135" cy="954107"/>
          </a:xfrm>
          <a:prstGeom prst="rect">
            <a:avLst/>
          </a:prstGeom>
          <a:noFill/>
        </p:spPr>
        <p:txBody>
          <a:bodyPr wrap="square" rtlCol="0">
            <a:spAutoFit/>
          </a:bodyPr>
          <a:lstStyle/>
          <a:p>
            <a:r>
              <a:rPr kumimoji="1" lang="ja-JP" altLang="en-US" sz="2800" dirty="0" smtClean="0"/>
              <a:t>以下のプログラム中の２か所の</a:t>
            </a:r>
            <a:r>
              <a:rPr kumimoji="1" lang="en-US" altLang="ja-JP" sz="2800" dirty="0" smtClean="0"/>
              <a:t>if</a:t>
            </a:r>
            <a:r>
              <a:rPr kumimoji="1" lang="ja-JP" altLang="en-US" sz="2800" dirty="0" smtClean="0"/>
              <a:t>文の入口</a:t>
            </a:r>
            <a:r>
              <a:rPr lang="ja-JP" altLang="en-US" sz="2800" dirty="0" smtClean="0"/>
              <a:t>、出口はそれぞれいくつか。</a:t>
            </a:r>
            <a:endParaRPr kumimoji="1" lang="en-US" altLang="ja-JP" sz="2800" dirty="0" smtClean="0"/>
          </a:p>
        </p:txBody>
      </p:sp>
      <p:sp>
        <p:nvSpPr>
          <p:cNvPr id="5" name="テキスト ボックス 4"/>
          <p:cNvSpPr txBox="1"/>
          <p:nvPr/>
        </p:nvSpPr>
        <p:spPr>
          <a:xfrm>
            <a:off x="1419369" y="1595021"/>
            <a:ext cx="4981432" cy="5262979"/>
          </a:xfrm>
          <a:prstGeom prst="rect">
            <a:avLst/>
          </a:prstGeom>
          <a:noFill/>
        </p:spPr>
        <p:txBody>
          <a:bodyPr wrap="square" rtlCol="0">
            <a:spAutoFit/>
          </a:bodyPr>
          <a:lstStyle/>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b="1" dirty="0" smtClean="0"/>
              <a:t>        while </a:t>
            </a:r>
            <a:r>
              <a:rPr lang="en-US" altLang="ja-JP" sz="2800" dirty="0" smtClean="0"/>
              <a:t>y&gt;0</a:t>
            </a:r>
            <a:r>
              <a:rPr lang="en-US" altLang="ja-JP" sz="2800" b="1" dirty="0" smtClean="0"/>
              <a:t> do</a:t>
            </a:r>
          </a:p>
          <a:p>
            <a:r>
              <a:rPr lang="en-US" altLang="ja-JP" sz="2800" dirty="0" smtClean="0"/>
              <a:t>            </a:t>
            </a:r>
            <a:r>
              <a:rPr lang="en-US" altLang="ja-JP" sz="2800" b="1" dirty="0" smtClean="0"/>
              <a:t>begin</a:t>
            </a:r>
          </a:p>
          <a:p>
            <a:r>
              <a:rPr lang="en-US" altLang="ja-JP" sz="2800" dirty="0" smtClean="0"/>
              <a:t>                </a:t>
            </a:r>
            <a:r>
              <a:rPr lang="en-US" altLang="ja-JP" sz="2800" b="1" dirty="0" smtClean="0"/>
              <a:t>if</a:t>
            </a:r>
            <a:r>
              <a:rPr lang="en-US" altLang="ja-JP" sz="2800" dirty="0" smtClean="0"/>
              <a:t> x=3 </a:t>
            </a:r>
            <a:r>
              <a:rPr lang="en-US" altLang="ja-JP" sz="2800" b="1" dirty="0" smtClean="0"/>
              <a:t>then</a:t>
            </a:r>
          </a:p>
          <a:p>
            <a:r>
              <a:rPr kumimoji="1" lang="en-US" altLang="ja-JP" sz="2800" dirty="0" smtClean="0"/>
              <a:t>                    </a:t>
            </a:r>
            <a:r>
              <a:rPr kumimoji="1" lang="en-US" altLang="ja-JP" sz="2800" b="1" dirty="0" smtClean="0"/>
              <a:t>break</a:t>
            </a:r>
            <a:r>
              <a:rPr kumimoji="1" lang="en-US" altLang="ja-JP" sz="2800" dirty="0" smtClean="0"/>
              <a:t>;</a:t>
            </a:r>
          </a:p>
          <a:p>
            <a:r>
              <a:rPr lang="en-US" altLang="ja-JP" sz="2800" b="1" dirty="0" smtClean="0"/>
              <a:t>                </a:t>
            </a:r>
            <a:r>
              <a:rPr lang="en-US" altLang="ja-JP" sz="2800" dirty="0" smtClean="0"/>
              <a:t>L:</a:t>
            </a:r>
            <a:r>
              <a:rPr lang="en-US" altLang="ja-JP" sz="2800" b="1" dirty="0" smtClean="0"/>
              <a:t>  </a:t>
            </a:r>
            <a:r>
              <a:rPr lang="en-US" altLang="ja-JP" sz="2800" dirty="0" smtClean="0"/>
              <a:t>z := z + 1;</a:t>
            </a:r>
          </a:p>
          <a:p>
            <a:r>
              <a:rPr kumimoji="1" lang="en-US" altLang="ja-JP" sz="2800" dirty="0" smtClean="0"/>
              <a:t>                y := y - 1</a:t>
            </a:r>
          </a:p>
          <a:p>
            <a:r>
              <a:rPr kumimoji="1" lang="en-US" altLang="ja-JP" sz="2800" dirty="0" smtClean="0"/>
              <a:t>            </a:t>
            </a:r>
            <a:r>
              <a:rPr kumimoji="1" lang="en-US" altLang="ja-JP" sz="2800" b="1" dirty="0" smtClean="0"/>
              <a:t>end</a:t>
            </a:r>
            <a:r>
              <a:rPr kumimoji="1" lang="en-US" altLang="ja-JP" sz="2800" dirty="0" smtClean="0"/>
              <a:t>;</a:t>
            </a:r>
          </a:p>
          <a:p>
            <a:r>
              <a:rPr kumimoji="1" lang="en-US" altLang="ja-JP" sz="2800" dirty="0" smtClean="0"/>
              <a:t>        x := x – 1;</a:t>
            </a:r>
          </a:p>
          <a:p>
            <a:r>
              <a:rPr lang="en-US" altLang="ja-JP" sz="2800" dirty="0" smtClean="0"/>
              <a:t>        </a:t>
            </a:r>
            <a:r>
              <a:rPr lang="en-US" altLang="ja-JP" sz="2800" b="1" dirty="0" smtClean="0"/>
              <a:t>if</a:t>
            </a:r>
            <a:r>
              <a:rPr lang="en-US" altLang="ja-JP" sz="2800" dirty="0" smtClean="0"/>
              <a:t> x = 2 </a:t>
            </a:r>
            <a:r>
              <a:rPr lang="en-US" altLang="ja-JP" sz="2800" b="1" dirty="0" smtClean="0"/>
              <a:t>then</a:t>
            </a:r>
            <a:r>
              <a:rPr lang="en-US" altLang="ja-JP" sz="2800" dirty="0" smtClean="0"/>
              <a:t> </a:t>
            </a:r>
            <a:r>
              <a:rPr lang="en-US" altLang="ja-JP" sz="2800" dirty="0" err="1" smtClean="0"/>
              <a:t>goto</a:t>
            </a:r>
            <a:r>
              <a:rPr lang="en-US" altLang="ja-JP" sz="2800" dirty="0" smtClean="0"/>
              <a:t> L</a:t>
            </a:r>
            <a:endParaRPr kumimoji="1" lang="en-US" altLang="ja-JP" sz="2800" dirty="0" smtClean="0"/>
          </a:p>
          <a:p>
            <a:r>
              <a:rPr lang="en-US" altLang="ja-JP" sz="2800" dirty="0" smtClean="0"/>
              <a:t>   </a:t>
            </a:r>
            <a:r>
              <a:rPr lang="en-US" altLang="ja-JP" sz="2800" b="1" dirty="0" smtClean="0"/>
              <a:t> end</a:t>
            </a:r>
            <a:endParaRPr kumimoji="1" lang="ja-JP" altLang="en-US" sz="2800" b="1"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658</TotalTime>
  <Words>1744</Words>
  <Application>Microsoft Office PowerPoint</Application>
  <PresentationFormat>画面に合わせる (4:3)</PresentationFormat>
  <Paragraphs>278</Paragraphs>
  <Slides>24</Slides>
  <Notes>0</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Office テーマ</vt:lpstr>
      <vt:lpstr>プログラミング言語論 第３回 命令型言語 （構造化プログラミング、制御フロー）</vt:lpstr>
      <vt:lpstr>命令型言語について</vt:lpstr>
      <vt:lpstr>代入</vt:lpstr>
      <vt:lpstr>構造化プログラミング （structured programming）</vt:lpstr>
      <vt:lpstr>構造化とは</vt:lpstr>
      <vt:lpstr>基本ケース</vt:lpstr>
      <vt:lpstr>文の列（逐次文）</vt:lpstr>
      <vt:lpstr>逐次文のグループ化（複合文、ブロック）</vt:lpstr>
      <vt:lpstr>条件文（conditional statements）</vt:lpstr>
      <vt:lpstr>elseパート無しの場合</vt:lpstr>
      <vt:lpstr>繰り返し文（loop）</vt:lpstr>
      <vt:lpstr>選択文</vt:lpstr>
      <vt:lpstr>繰り返し文における特殊ケースの扱い</vt:lpstr>
      <vt:lpstr>break文の使用例</vt:lpstr>
      <vt:lpstr>continue文の使用例</vt:lpstr>
      <vt:lpstr>goto文</vt:lpstr>
      <vt:lpstr>return文</vt:lpstr>
      <vt:lpstr>練習問題１</vt:lpstr>
      <vt:lpstr>練習問題２</vt:lpstr>
      <vt:lpstr>練習問題３</vt:lpstr>
      <vt:lpstr>練習問題４</vt:lpstr>
      <vt:lpstr>練習問題５</vt:lpstr>
      <vt:lpstr>練習問題６</vt:lpstr>
      <vt:lpstr>練習問題７</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 第５回</dc:title>
  <dc:creator>sasano</dc:creator>
  <cp:lastModifiedBy>sasano</cp:lastModifiedBy>
  <cp:revision>575</cp:revision>
  <dcterms:created xsi:type="dcterms:W3CDTF">2009-10-16T09:27:11Z</dcterms:created>
  <dcterms:modified xsi:type="dcterms:W3CDTF">2010-10-03T05:04:26Z</dcterms:modified>
</cp:coreProperties>
</file>