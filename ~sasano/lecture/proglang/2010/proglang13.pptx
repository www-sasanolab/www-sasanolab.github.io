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6" r:id="rId11"/>
    <p:sldId id="269" r:id="rId12"/>
    <p:sldId id="270" r:id="rId13"/>
    <p:sldId id="271" r:id="rId14"/>
    <p:sldId id="278" r:id="rId15"/>
    <p:sldId id="279" r:id="rId16"/>
    <p:sldId id="273" r:id="rId17"/>
    <p:sldId id="280" r:id="rId18"/>
    <p:sldId id="281" r:id="rId19"/>
    <p:sldId id="282" r:id="rId20"/>
    <p:sldId id="284" r:id="rId21"/>
    <p:sldId id="285" r:id="rId22"/>
    <p:sldId id="272" r:id="rId23"/>
    <p:sldId id="277" r:id="rId24"/>
    <p:sldId id="259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6" autoAdjust="0"/>
    <p:restoredTop sz="94660"/>
  </p:normalViewPr>
  <p:slideViewPr>
    <p:cSldViewPr>
      <p:cViewPr varScale="1">
        <p:scale>
          <a:sx n="70" d="100"/>
          <a:sy n="70" d="100"/>
        </p:scale>
        <p:origin x="-4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1263D-1664-4A65-91BD-4C73B328070C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1498-1F99-422F-B620-E1352F50EF96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71498-1F99-422F-B620-E1352F50EF96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82551"/>
          </a:xfrm>
        </p:spPr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93242" y="494116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11760" y="3645024"/>
            <a:ext cx="4536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</a:t>
            </a:r>
            <a:r>
              <a:rPr kumimoji="1" lang="en-US" altLang="ja-JP" sz="3200" dirty="0" smtClean="0"/>
              <a:t>13</a:t>
            </a:r>
            <a:r>
              <a:rPr lang="ja-JP" altLang="en-US" sz="3200" dirty="0" smtClean="0"/>
              <a:t>回   </a:t>
            </a:r>
            <a:r>
              <a:rPr kumimoji="1" lang="ja-JP" altLang="en-US" sz="3200" dirty="0" smtClean="0"/>
              <a:t>オブジェクト指向</a:t>
            </a:r>
            <a:endParaRPr kumimoji="1"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プログラムの分割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700808"/>
            <a:ext cx="7632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大きなプログラムは、分割して開発するのがよい。</a:t>
            </a:r>
            <a:endParaRPr lang="en-US" altLang="ja-JP" sz="2800" dirty="0" smtClean="0"/>
          </a:p>
          <a:p>
            <a:r>
              <a:rPr lang="ja-JP" altLang="en-US" sz="2800" dirty="0" smtClean="0"/>
              <a:t>手続きは分割の最も基本的なものである。</a:t>
            </a:r>
            <a:endParaRPr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7584" y="3356992"/>
            <a:ext cx="72728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Module(</a:t>
            </a:r>
            <a:r>
              <a:rPr lang="ja-JP" altLang="en-US" sz="2800" dirty="0" smtClean="0"/>
              <a:t>モジュール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は、関連する変数、手続き、型を一つにまとめるものである。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手続きが処理するデータの型を一つのモジュール内に入れ、データ型の実装を隠す。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18864" y="274638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（参考）</a:t>
            </a:r>
            <a:r>
              <a:rPr kumimoji="1" lang="en-US" altLang="ja-JP" dirty="0" smtClean="0"/>
              <a:t>Opaque type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1406381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Modula-2</a:t>
            </a:r>
            <a:r>
              <a:rPr lang="ja-JP" altLang="en-US" sz="2800" dirty="0" smtClean="0"/>
              <a:t>では、モジュールから型を</a:t>
            </a:r>
            <a:r>
              <a:rPr lang="en-US" altLang="ja-JP" sz="2800" dirty="0" smtClean="0"/>
              <a:t>export</a:t>
            </a:r>
            <a:r>
              <a:rPr lang="ja-JP" altLang="en-US" sz="2800" dirty="0" smtClean="0"/>
              <a:t>するとき、</a:t>
            </a:r>
            <a:endParaRPr lang="en-US" altLang="ja-JP" sz="2800" dirty="0" smtClean="0"/>
          </a:p>
          <a:p>
            <a:r>
              <a:rPr lang="en-US" altLang="ja-JP" sz="2800" b="1" dirty="0" smtClean="0"/>
              <a:t>    type </a:t>
            </a:r>
            <a:r>
              <a:rPr lang="en-US" altLang="ja-JP" sz="2800" dirty="0" smtClean="0"/>
              <a:t>stack;</a:t>
            </a:r>
          </a:p>
          <a:p>
            <a:r>
              <a:rPr kumimoji="1" lang="ja-JP" altLang="en-US" sz="2800" dirty="0" smtClean="0"/>
              <a:t>のように、型名だけを</a:t>
            </a:r>
            <a:r>
              <a:rPr kumimoji="1" lang="en-US" altLang="ja-JP" sz="2800" dirty="0" smtClean="0"/>
              <a:t>export</a:t>
            </a:r>
            <a:r>
              <a:rPr kumimoji="1" lang="ja-JP" altLang="en-US" sz="2800" dirty="0" smtClean="0"/>
              <a:t>することができる。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これを</a:t>
            </a:r>
            <a:r>
              <a:rPr lang="en-US" altLang="ja-JP" sz="2800" dirty="0" smtClean="0"/>
              <a:t>opaque export</a:t>
            </a:r>
            <a:r>
              <a:rPr lang="ja-JP" altLang="en-US" sz="2800" dirty="0" smtClean="0"/>
              <a:t>といい、</a:t>
            </a:r>
            <a:r>
              <a:rPr lang="en-US" altLang="ja-JP" sz="2800" dirty="0" smtClean="0"/>
              <a:t>export</a:t>
            </a:r>
            <a:r>
              <a:rPr lang="ja-JP" altLang="en-US" sz="2800" dirty="0" smtClean="0"/>
              <a:t>された型を</a:t>
            </a:r>
            <a:r>
              <a:rPr lang="en-US" altLang="ja-JP" sz="2800" dirty="0" smtClean="0"/>
              <a:t>opaque type</a:t>
            </a:r>
            <a:r>
              <a:rPr lang="ja-JP" altLang="en-US" sz="2800" dirty="0" smtClean="0"/>
              <a:t>という。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Import</a:t>
            </a:r>
            <a:r>
              <a:rPr kumimoji="1" lang="ja-JP" altLang="en-US" sz="2800" dirty="0" smtClean="0"/>
              <a:t>した側では、</a:t>
            </a:r>
            <a:r>
              <a:rPr kumimoji="1" lang="en-US" altLang="ja-JP" sz="2800" dirty="0" smtClean="0"/>
              <a:t>stack</a:t>
            </a:r>
            <a:r>
              <a:rPr kumimoji="1" lang="ja-JP" altLang="en-US" sz="2800" dirty="0" smtClean="0"/>
              <a:t>型の変数を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b="1" dirty="0" err="1" smtClean="0"/>
              <a:t>var</a:t>
            </a:r>
            <a:r>
              <a:rPr lang="en-US" altLang="ja-JP" sz="2800" dirty="0" smtClean="0"/>
              <a:t> s, t: stack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宣言できる。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Modula-2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opaque</a:t>
            </a:r>
            <a:r>
              <a:rPr kumimoji="1" lang="ja-JP" altLang="en-US" sz="2800" dirty="0" smtClean="0"/>
              <a:t>型について、代入、等しさのチェックをサポートする。</a:t>
            </a:r>
            <a:r>
              <a:rPr lang="ja-JP" altLang="en-US" sz="2800" dirty="0" smtClean="0"/>
              <a:t>ただし、</a:t>
            </a:r>
            <a:r>
              <a:rPr lang="en-US" altLang="ja-JP" sz="2800" dirty="0" smtClean="0"/>
              <a:t>opaque</a:t>
            </a:r>
            <a:r>
              <a:rPr lang="ja-JP" altLang="en-US" sz="2800" dirty="0" smtClean="0"/>
              <a:t>型はポインタに限られ、等しさの判定はポインタの等しさで判定される。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におけるクラス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1196752"/>
            <a:ext cx="75608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におけるクラスは、レコード</a:t>
            </a:r>
            <a:r>
              <a:rPr kumimoji="1" lang="en-US" altLang="ja-JP" sz="2800" dirty="0" smtClean="0"/>
              <a:t>(C</a:t>
            </a:r>
            <a:r>
              <a:rPr kumimoji="1" lang="ja-JP" altLang="en-US" sz="2800" dirty="0" smtClean="0"/>
              <a:t>では構造体と呼ばれる</a:t>
            </a:r>
            <a:r>
              <a:rPr kumimoji="1" lang="en-US" altLang="ja-JP" sz="2800" dirty="0" smtClean="0"/>
              <a:t>)</a:t>
            </a:r>
            <a:r>
              <a:rPr lang="ja-JP" altLang="en-US" sz="2800" dirty="0" smtClean="0"/>
              <a:t>を一般化したもの。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クラスを宣言した後はクラス名を型名として使用でき、その型の変数を宣言したり、オブジェクトを生成したりできる。</a:t>
            </a:r>
            <a:endParaRPr kumimoji="1"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24108" y="3488809"/>
            <a:ext cx="3691908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 </a:t>
            </a:r>
            <a:r>
              <a:rPr kumimoji="1" lang="en-US" altLang="ja-JP" sz="2800" u="sng" dirty="0" err="1" smtClean="0"/>
              <a:t>struct</a:t>
            </a:r>
            <a:r>
              <a:rPr kumimoji="1" lang="en-US" altLang="ja-JP" sz="2800" dirty="0" smtClean="0"/>
              <a:t> Stack {</a:t>
            </a:r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top;</a:t>
            </a:r>
          </a:p>
          <a:p>
            <a:r>
              <a:rPr kumimoji="1" lang="en-US" altLang="ja-JP" sz="2800" dirty="0" smtClean="0"/>
              <a:t>      char elements [101];</a:t>
            </a:r>
          </a:p>
          <a:p>
            <a:r>
              <a:rPr lang="en-US" altLang="ja-JP" sz="2800" dirty="0" smtClean="0"/>
              <a:t>      char pop();</a:t>
            </a:r>
          </a:p>
          <a:p>
            <a:r>
              <a:rPr kumimoji="1" lang="en-US" altLang="ja-JP" sz="2800" dirty="0" smtClean="0"/>
              <a:t>      void push (char);</a:t>
            </a:r>
          </a:p>
          <a:p>
            <a:r>
              <a:rPr lang="en-US" altLang="ja-JP" sz="2800" dirty="0" smtClean="0"/>
              <a:t>               Stack();</a:t>
            </a:r>
          </a:p>
          <a:p>
            <a:r>
              <a:rPr kumimoji="1" lang="en-US" altLang="ja-JP" sz="2800" dirty="0" smtClean="0"/>
              <a:t>  };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2805" y="35010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（例）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76056" y="3140968"/>
            <a:ext cx="369190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 </a:t>
            </a:r>
            <a:r>
              <a:rPr kumimoji="1" lang="en-US" altLang="ja-JP" sz="2800" u="sng" dirty="0" smtClean="0"/>
              <a:t>class</a:t>
            </a:r>
            <a:r>
              <a:rPr kumimoji="1" lang="en-US" altLang="ja-JP" sz="2800" dirty="0" smtClean="0"/>
              <a:t> Stack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u="sng" dirty="0" smtClean="0"/>
              <a:t>public:</a:t>
            </a:r>
            <a:endParaRPr kumimoji="1" lang="en-US" altLang="ja-JP" sz="2800" u="sng" dirty="0" smtClean="0"/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top;</a:t>
            </a:r>
          </a:p>
          <a:p>
            <a:r>
              <a:rPr kumimoji="1" lang="en-US" altLang="ja-JP" sz="2800" dirty="0" smtClean="0"/>
              <a:t>      char elements [101];</a:t>
            </a:r>
          </a:p>
          <a:p>
            <a:r>
              <a:rPr lang="en-US" altLang="ja-JP" sz="2800" dirty="0" smtClean="0"/>
              <a:t>      char pop();</a:t>
            </a:r>
          </a:p>
          <a:p>
            <a:r>
              <a:rPr kumimoji="1" lang="en-US" altLang="ja-JP" sz="2800" dirty="0" smtClean="0"/>
              <a:t>      void push (char);</a:t>
            </a:r>
          </a:p>
          <a:p>
            <a:r>
              <a:rPr lang="en-US" altLang="ja-JP" sz="2800" dirty="0" smtClean="0"/>
              <a:t>               Stack();</a:t>
            </a:r>
          </a:p>
          <a:p>
            <a:r>
              <a:rPr kumimoji="1" lang="en-US" altLang="ja-JP" sz="2800" dirty="0" smtClean="0"/>
              <a:t>};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C++</a:t>
            </a:r>
            <a:r>
              <a:rPr lang="ja-JP" altLang="en-US" dirty="0" err="1" smtClean="0"/>
              <a:t>での</a:t>
            </a:r>
            <a:r>
              <a:rPr lang="ja-JP" altLang="en-US" dirty="0" smtClean="0"/>
              <a:t>クラス宣言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547664" y="1628800"/>
            <a:ext cx="561198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 {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は、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class X { public :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</a:t>
            </a:r>
          </a:p>
          <a:p>
            <a:r>
              <a:rPr lang="ja-JP" altLang="en-US" sz="2800" dirty="0" smtClean="0"/>
              <a:t>と同じ</a:t>
            </a:r>
            <a:r>
              <a:rPr kumimoji="1" lang="ja-JP" altLang="en-US" sz="2800" dirty="0" smtClean="0"/>
              <a:t>であり、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class X {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は、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 { private :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と同じである。</a:t>
            </a:r>
            <a:r>
              <a:rPr lang="en-US" altLang="ja-JP" sz="2800" dirty="0" smtClean="0"/>
              <a:t> 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89448" y="274638"/>
            <a:ext cx="3610744" cy="778098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クラス宣言の例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8760"/>
            <a:ext cx="8160567" cy="48320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class Stack {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top;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size;</a:t>
            </a:r>
          </a:p>
          <a:p>
            <a:r>
              <a:rPr lang="en-US" altLang="ja-JP" sz="2800" dirty="0" smtClean="0"/>
              <a:t>     char *elements;</a:t>
            </a:r>
          </a:p>
          <a:p>
            <a:r>
              <a:rPr lang="en-US" altLang="ja-JP" sz="2800" dirty="0" smtClean="0"/>
              <a:t> public: </a:t>
            </a:r>
          </a:p>
          <a:p>
            <a:r>
              <a:rPr lang="en-US" altLang="ja-JP" sz="2800" dirty="0" smtClean="0"/>
              <a:t>             Stack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n) {size=n;  </a:t>
            </a:r>
          </a:p>
          <a:p>
            <a:r>
              <a:rPr lang="en-US" altLang="ja-JP" sz="2800" dirty="0" smtClean="0"/>
              <a:t>                                    elements = new char[size]; top=0;}</a:t>
            </a:r>
          </a:p>
          <a:p>
            <a:r>
              <a:rPr lang="en-US" altLang="ja-JP" sz="2800" dirty="0" smtClean="0"/>
              <a:t>             ~Stack()        { delete elements; }</a:t>
            </a:r>
          </a:p>
          <a:p>
            <a:r>
              <a:rPr kumimoji="1" lang="en-US" altLang="ja-JP" sz="2800" dirty="0" smtClean="0"/>
              <a:t>     void push (char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a</a:t>
            </a:r>
            <a:r>
              <a:rPr kumimoji="1" lang="en-US" altLang="ja-JP" sz="2800" dirty="0" smtClean="0"/>
              <a:t>) {top++; elements[top] = a;</a:t>
            </a:r>
          </a:p>
          <a:p>
            <a:r>
              <a:rPr lang="en-US" altLang="ja-JP" sz="2800" dirty="0" smtClean="0"/>
              <a:t>     char pop()               {top--; return elements[top+1];</a:t>
            </a:r>
          </a:p>
          <a:p>
            <a:r>
              <a:rPr lang="en-US" altLang="ja-JP" sz="2800" dirty="0" smtClean="0"/>
              <a:t>}; 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644008" y="1268760"/>
            <a:ext cx="4032448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（注意）配列を使ってスタックを実装しているが、これはクラス宣言の説明のための例で、スタックをこのように実装すればよいということではない）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オブジェクトの生成、破棄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2365"/>
            <a:ext cx="81003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ではオブジェクトは</a:t>
            </a:r>
            <a:r>
              <a:rPr lang="en-US" altLang="ja-JP" sz="2800" dirty="0" smtClean="0"/>
              <a:t>new</a:t>
            </a:r>
            <a:r>
              <a:rPr lang="ja-JP" altLang="en-US" sz="2800" dirty="0" smtClean="0"/>
              <a:t>で生成し、</a:t>
            </a:r>
            <a:r>
              <a:rPr lang="en-US" altLang="ja-JP" sz="2800" dirty="0" smtClean="0"/>
              <a:t>delete</a:t>
            </a:r>
            <a:r>
              <a:rPr lang="ja-JP" altLang="en-US" sz="2800" dirty="0" smtClean="0"/>
              <a:t>で破棄する。任意の型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について、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  new T</a:t>
            </a:r>
          </a:p>
          <a:p>
            <a:r>
              <a:rPr lang="ja-JP" altLang="en-US" sz="2800" dirty="0" smtClean="0"/>
              <a:t>によって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型のオブジェクトが生成され、それへのポインタが返される。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  delete p</a:t>
            </a:r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smtClean="0"/>
              <a:t>p</a:t>
            </a:r>
            <a:r>
              <a:rPr lang="ja-JP" altLang="en-US" sz="2800" dirty="0" smtClean="0"/>
              <a:t>が指しているオブジェクトが破棄される。</a:t>
            </a:r>
            <a:endParaRPr lang="en-US" altLang="ja-JP" sz="2800" dirty="0" smtClean="0"/>
          </a:p>
          <a:p>
            <a:r>
              <a:rPr lang="en-US" altLang="ja-JP" sz="2800" dirty="0" smtClean="0"/>
              <a:t>(</a:t>
            </a:r>
            <a:r>
              <a:rPr lang="ja-JP" altLang="en-US" sz="2800" dirty="0" smtClean="0"/>
              <a:t>例</a:t>
            </a:r>
            <a:r>
              <a:rPr lang="en-US" altLang="ja-JP" sz="2800" dirty="0" smtClean="0"/>
              <a:t>) </a:t>
            </a:r>
            <a:r>
              <a:rPr lang="ja-JP" altLang="en-US" sz="2800" dirty="0" smtClean="0"/>
              <a:t>前ページの例の、</a:t>
            </a:r>
            <a:r>
              <a:rPr lang="en-US" altLang="ja-JP" sz="2800" dirty="0" smtClean="0"/>
              <a:t>elements = new char [size]</a:t>
            </a:r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smtClean="0"/>
              <a:t>char</a:t>
            </a:r>
            <a:r>
              <a:rPr lang="ja-JP" altLang="en-US" sz="2800" dirty="0" smtClean="0"/>
              <a:t>型を要素とする長さ</a:t>
            </a:r>
            <a:r>
              <a:rPr lang="en-US" altLang="ja-JP" sz="2800" dirty="0" smtClean="0"/>
              <a:t>size</a:t>
            </a:r>
            <a:r>
              <a:rPr lang="ja-JP" altLang="en-US" sz="2800" dirty="0" smtClean="0"/>
              <a:t>の配列が生成される。</a:t>
            </a:r>
            <a:r>
              <a:rPr lang="en-US" altLang="ja-JP" sz="2800" dirty="0" smtClean="0"/>
              <a:t>elements[0], elements[1], …, elements[size-1]</a:t>
            </a:r>
            <a:r>
              <a:rPr lang="ja-JP" altLang="en-US" sz="2800" dirty="0" smtClean="0"/>
              <a:t>によって配列の各要素が得られる。また、</a:t>
            </a:r>
            <a:r>
              <a:rPr lang="en-US" altLang="ja-JP" sz="2800" dirty="0" smtClean="0"/>
              <a:t>delete elements</a:t>
            </a:r>
            <a:r>
              <a:rPr lang="ja-JP" altLang="en-US" sz="2800" dirty="0" smtClean="0"/>
              <a:t>によって配列オブジェクトが破棄される。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3600400" cy="850106"/>
          </a:xfrm>
        </p:spPr>
        <p:txBody>
          <a:bodyPr>
            <a:normAutofit fontScale="90000"/>
          </a:bodyPr>
          <a:lstStyle/>
          <a:p>
            <a:r>
              <a:rPr lang="ja-JP" altLang="en-US" sz="3600" dirty="0" smtClean="0"/>
              <a:t>例</a:t>
            </a:r>
            <a:r>
              <a:rPr lang="en-US" altLang="ja-JP" sz="3600" dirty="0" smtClean="0"/>
              <a:t>: </a:t>
            </a:r>
            <a:r>
              <a:rPr lang="ja-JP" altLang="en-US" sz="3600" dirty="0" smtClean="0"/>
              <a:t>後ろからも要素を追加可能なリスト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11960" y="188640"/>
            <a:ext cx="4811225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class List {</a:t>
            </a:r>
          </a:p>
          <a:p>
            <a:r>
              <a:rPr lang="en-US" altLang="ja-JP" sz="2800" dirty="0" smtClean="0"/>
              <a:t>     Cell * rear;</a:t>
            </a:r>
          </a:p>
          <a:p>
            <a:r>
              <a:rPr kumimoji="1" lang="en-US" altLang="ja-JP" sz="2800" dirty="0" smtClean="0"/>
              <a:t> public:</a:t>
            </a:r>
          </a:p>
          <a:p>
            <a:r>
              <a:rPr lang="en-US" altLang="ja-JP" sz="2800" dirty="0" smtClean="0"/>
              <a:t>     void put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);</a:t>
            </a:r>
          </a:p>
          <a:p>
            <a:r>
              <a:rPr kumimoji="1" lang="en-US" altLang="ja-JP" sz="2800" dirty="0" smtClean="0"/>
              <a:t>     void push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);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 pop();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  empty() {</a:t>
            </a:r>
          </a:p>
          <a:p>
            <a:r>
              <a:rPr lang="en-US" altLang="ja-JP" sz="2800" dirty="0" smtClean="0"/>
              <a:t>                 </a:t>
            </a:r>
            <a:r>
              <a:rPr kumimoji="1" lang="en-US" altLang="ja-JP" sz="2800" dirty="0" smtClean="0"/>
              <a:t>return </a:t>
            </a:r>
          </a:p>
          <a:p>
            <a:r>
              <a:rPr lang="en-US" altLang="ja-JP" sz="2800" dirty="0" smtClean="0"/>
              <a:t>                    </a:t>
            </a:r>
            <a:r>
              <a:rPr kumimoji="1" lang="en-US" altLang="ja-JP" sz="2800" dirty="0" smtClean="0"/>
              <a:t>rear == rear-&gt;next; }</a:t>
            </a:r>
          </a:p>
          <a:p>
            <a:r>
              <a:rPr lang="en-US" altLang="ja-JP" sz="2800" dirty="0" smtClean="0"/>
              <a:t>              List() {</a:t>
            </a:r>
          </a:p>
          <a:p>
            <a:r>
              <a:rPr lang="en-US" altLang="ja-JP" sz="2800" dirty="0" smtClean="0"/>
              <a:t>                  rear = new Cell (0); }</a:t>
            </a:r>
          </a:p>
          <a:p>
            <a:r>
              <a:rPr kumimoji="1" lang="en-US" altLang="ja-JP" sz="2800" dirty="0" smtClean="0"/>
              <a:t>              ~List() {</a:t>
            </a:r>
          </a:p>
          <a:p>
            <a:r>
              <a:rPr lang="en-US" altLang="ja-JP" sz="2800" dirty="0" smtClean="0"/>
              <a:t>                  </a:t>
            </a:r>
            <a:r>
              <a:rPr kumimoji="1" lang="en-US" altLang="ja-JP" sz="2800" dirty="0" smtClean="0"/>
              <a:t>while(!empty()) </a:t>
            </a:r>
          </a:p>
          <a:p>
            <a:r>
              <a:rPr lang="en-US" altLang="ja-JP" sz="2800" dirty="0" smtClean="0"/>
              <a:t>                      </a:t>
            </a:r>
            <a:r>
              <a:rPr kumimoji="1" lang="en-US" altLang="ja-JP" sz="2800" dirty="0" smtClean="0"/>
              <a:t>pop(); }</a:t>
            </a:r>
          </a:p>
          <a:p>
            <a:r>
              <a:rPr lang="en-US" altLang="ja-JP" sz="2800" dirty="0" smtClean="0"/>
              <a:t> };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144016" y="1124744"/>
            <a:ext cx="3995936" cy="48320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 class Cell {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   info;</a:t>
            </a:r>
          </a:p>
          <a:p>
            <a:r>
              <a:rPr lang="en-US" altLang="ja-JP" sz="2800" dirty="0" smtClean="0"/>
              <a:t>     Cell * next;</a:t>
            </a:r>
          </a:p>
          <a:p>
            <a:r>
              <a:rPr lang="en-US" altLang="ja-JP" sz="2800" dirty="0" smtClean="0"/>
              <a:t>                Cell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) {</a:t>
            </a:r>
          </a:p>
          <a:p>
            <a:r>
              <a:rPr lang="en-US" altLang="ja-JP" sz="2800" dirty="0" smtClean="0"/>
              <a:t>                    info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; </a:t>
            </a:r>
          </a:p>
          <a:p>
            <a:r>
              <a:rPr lang="en-US" altLang="ja-JP" sz="2800" dirty="0" smtClean="0"/>
              <a:t>                    next = this; }</a:t>
            </a:r>
          </a:p>
          <a:p>
            <a:r>
              <a:rPr lang="en-US" altLang="ja-JP" sz="2800" dirty="0" smtClean="0"/>
              <a:t>                Cell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, Cell *n)</a:t>
            </a:r>
          </a:p>
          <a:p>
            <a:r>
              <a:rPr lang="en-US" altLang="ja-JP" sz="2800" dirty="0" smtClean="0"/>
              <a:t>                   {info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; </a:t>
            </a:r>
          </a:p>
          <a:p>
            <a:r>
              <a:rPr lang="en-US" altLang="ja-JP" sz="2800" dirty="0" smtClean="0"/>
              <a:t>                    next = n; }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u="sng" dirty="0" smtClean="0"/>
              <a:t>friend</a:t>
            </a:r>
            <a:r>
              <a:rPr lang="en-US" altLang="ja-JP" sz="2800" dirty="0" smtClean="0"/>
              <a:t> class List;</a:t>
            </a:r>
          </a:p>
          <a:p>
            <a:r>
              <a:rPr lang="en-US" altLang="ja-JP" sz="2800" dirty="0" smtClean="0"/>
              <a:t> };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51520" y="6021288"/>
            <a:ext cx="36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/>
              <a:t>List</a:t>
            </a:r>
            <a:r>
              <a:rPr lang="ja-JP" altLang="en-US" sz="2000" dirty="0" smtClean="0"/>
              <a:t>中の関数は</a:t>
            </a:r>
            <a:r>
              <a:rPr lang="en-US" altLang="ja-JP" sz="2000" dirty="0" smtClean="0"/>
              <a:t>Cell</a:t>
            </a:r>
            <a:r>
              <a:rPr lang="ja-JP" altLang="en-US" sz="2000" dirty="0" smtClean="0"/>
              <a:t>の</a:t>
            </a:r>
            <a:r>
              <a:rPr lang="en-US" altLang="ja-JP" sz="2000" dirty="0" smtClean="0"/>
              <a:t>private</a:t>
            </a:r>
            <a:r>
              <a:rPr lang="ja-JP" altLang="en-US" sz="2000" dirty="0" smtClean="0"/>
              <a:t>なメンバーにアクセスできる。</a:t>
            </a:r>
            <a:endParaRPr kumimoji="1" lang="ja-JP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46448" cy="2794322"/>
          </a:xfrm>
        </p:spPr>
        <p:txBody>
          <a:bodyPr vert="eaVert">
            <a:normAutofit/>
          </a:bodyPr>
          <a:lstStyle/>
          <a:p>
            <a:r>
              <a:rPr lang="ja-JP" altLang="en-US" dirty="0" smtClean="0"/>
              <a:t>例（続き）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91680" y="260648"/>
            <a:ext cx="6906891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void List::push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x) {</a:t>
            </a:r>
          </a:p>
          <a:p>
            <a:r>
              <a:rPr lang="en-US" altLang="ja-JP" sz="2800" dirty="0" smtClean="0"/>
              <a:t>     rear-&gt;next = new Cell (x, rear-&gt;next);</a:t>
            </a:r>
          </a:p>
          <a:p>
            <a:r>
              <a:rPr lang="en-US" altLang="ja-JP" sz="2800" dirty="0" smtClean="0"/>
              <a:t> }</a:t>
            </a:r>
          </a:p>
          <a:p>
            <a:r>
              <a:rPr kumimoji="1" lang="en-US" altLang="ja-JP" sz="2800" dirty="0" smtClean="0"/>
              <a:t> void List::put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x) {</a:t>
            </a:r>
          </a:p>
          <a:p>
            <a:r>
              <a:rPr lang="en-US" altLang="ja-JP" sz="2800" dirty="0" smtClean="0"/>
              <a:t>     rear-&gt;info = x;</a:t>
            </a:r>
          </a:p>
          <a:p>
            <a:r>
              <a:rPr kumimoji="1" lang="en-US" altLang="ja-JP" sz="2800" dirty="0" smtClean="0"/>
              <a:t>     rear = rear-&gt;next = new Cell (0, rear-&gt;next);</a:t>
            </a:r>
          </a:p>
          <a:p>
            <a:r>
              <a:rPr lang="en-US" altLang="ja-JP" sz="2800" dirty="0" smtClean="0"/>
              <a:t> }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List::pop() {</a:t>
            </a:r>
          </a:p>
          <a:p>
            <a:r>
              <a:rPr lang="en-US" altLang="ja-JP" sz="2800" dirty="0" smtClean="0"/>
              <a:t>     if (empty()) return 0;</a:t>
            </a:r>
          </a:p>
          <a:p>
            <a:r>
              <a:rPr kumimoji="1" lang="en-US" altLang="ja-JP" sz="2800" dirty="0" smtClean="0"/>
              <a:t>     Cell * front = rear-&gt;next;</a:t>
            </a:r>
          </a:p>
          <a:p>
            <a:r>
              <a:rPr lang="en-US" altLang="ja-JP" sz="2800" dirty="0" smtClean="0"/>
              <a:t>     rear-&gt;next = front-&gt;next;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= front-&gt;info;</a:t>
            </a:r>
          </a:p>
          <a:p>
            <a:r>
              <a:rPr lang="en-US" altLang="ja-JP" sz="2800" dirty="0" smtClean="0"/>
              <a:t>     delete front;</a:t>
            </a:r>
          </a:p>
          <a:p>
            <a:r>
              <a:rPr kumimoji="1" lang="en-US" altLang="ja-JP" sz="2800" dirty="0" smtClean="0"/>
              <a:t>     return x;</a:t>
            </a:r>
          </a:p>
          <a:p>
            <a:r>
              <a:rPr lang="en-US" altLang="ja-JP" sz="2800" dirty="0" smtClean="0"/>
              <a:t>}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テンプレート</a:t>
            </a:r>
            <a:r>
              <a:rPr lang="ja-JP" altLang="en-US" dirty="0" smtClean="0"/>
              <a:t>（例）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9512" y="1340768"/>
            <a:ext cx="88180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template &lt;class T&gt; class Stack {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top;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 size;</a:t>
            </a:r>
          </a:p>
          <a:p>
            <a:r>
              <a:rPr lang="en-US" altLang="ja-JP" sz="2800" dirty="0" smtClean="0"/>
              <a:t>     T *  elements;</a:t>
            </a:r>
          </a:p>
          <a:p>
            <a:r>
              <a:rPr lang="en-US" altLang="ja-JP" sz="2800" dirty="0" smtClean="0"/>
              <a:t> public:</a:t>
            </a:r>
          </a:p>
          <a:p>
            <a:r>
              <a:rPr lang="en-US" altLang="ja-JP" sz="2800" dirty="0" smtClean="0"/>
              <a:t>             Stack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n) {size=n; elements = new T[size]; top=0;}</a:t>
            </a:r>
          </a:p>
          <a:p>
            <a:r>
              <a:rPr lang="en-US" altLang="ja-JP" sz="2800" dirty="0" smtClean="0"/>
              <a:t>             ~Stack()        { delete elements; }</a:t>
            </a:r>
          </a:p>
          <a:p>
            <a:r>
              <a:rPr lang="en-US" altLang="ja-JP" sz="2800" dirty="0" smtClean="0"/>
              <a:t>     void push (T a)    { top++; elements[top]=a; }</a:t>
            </a:r>
          </a:p>
          <a:p>
            <a:r>
              <a:rPr lang="en-US" altLang="ja-JP" sz="2800" dirty="0" smtClean="0"/>
              <a:t>     T      pop()            { top--; return elements[top+1]; }</a:t>
            </a:r>
          </a:p>
          <a:p>
            <a:r>
              <a:rPr lang="en-US" altLang="ja-JP" sz="2800" dirty="0" smtClean="0"/>
              <a:t> };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4016" y="5787261"/>
            <a:ext cx="8820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Stack</a:t>
            </a:r>
            <a:r>
              <a:rPr lang="ja-JP" altLang="en-US" sz="2800" dirty="0" smtClean="0"/>
              <a:t>型の変数を宣言したりオブジェクトを生成したりするとき、</a:t>
            </a:r>
            <a:r>
              <a:rPr kumimoji="1" lang="en-US" altLang="ja-JP" sz="2800" dirty="0" smtClean="0"/>
              <a:t>Stack&lt;</a:t>
            </a:r>
            <a:r>
              <a:rPr kumimoji="1" lang="en-US" altLang="ja-JP" sz="2800" dirty="0" err="1" smtClean="0"/>
              <a:t>int</a:t>
            </a:r>
            <a:r>
              <a:rPr lang="en-US" altLang="ja-JP" sz="2800" dirty="0" smtClean="0"/>
              <a:t>&gt;</a:t>
            </a:r>
            <a:r>
              <a:rPr kumimoji="1" lang="en-US" altLang="ja-JP" sz="2800" dirty="0" smtClean="0"/>
              <a:t> s(99); </a:t>
            </a:r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型を</a:t>
            </a:r>
            <a:r>
              <a:rPr lang="en-US" altLang="ja-JP" sz="2800" dirty="0" smtClean="0"/>
              <a:t>&lt;&gt;</a:t>
            </a:r>
            <a:r>
              <a:rPr lang="ja-JP" altLang="en-US" sz="2800" dirty="0" smtClean="0"/>
              <a:t>内に引数として与える。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lang="ja-JP" altLang="en-US" dirty="0" smtClean="0"/>
              <a:t>と</a:t>
            </a:r>
            <a:r>
              <a:rPr lang="en-US" altLang="ja-JP" dirty="0" smtClean="0"/>
              <a:t>C++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8033" y="1412776"/>
            <a:ext cx="86044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1983</a:t>
            </a:r>
            <a:r>
              <a:rPr lang="ja-JP" altLang="en-US" sz="2800" dirty="0" smtClean="0"/>
              <a:t>年、</a:t>
            </a:r>
            <a:r>
              <a:rPr kumimoji="1" lang="en-US" altLang="ja-JP" sz="2800" dirty="0" err="1" smtClean="0"/>
              <a:t>Bjarne</a:t>
            </a:r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Stroustrup</a:t>
            </a:r>
            <a:r>
              <a:rPr lang="ja-JP" altLang="en-US" sz="2800" dirty="0" smtClean="0"/>
              <a:t>によって設計、開発された。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の拡張として設計されており、ほとんどの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言語のプログラムは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のプログラムであり、意味も同じである。ただし、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と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で意味が違うプログラムがある。</a:t>
            </a:r>
            <a:endParaRPr kumimoji="1"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コメントは、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 </a:t>
            </a:r>
            <a:r>
              <a:rPr lang="en-US" altLang="ja-JP" sz="2800" dirty="0" smtClean="0"/>
              <a:t>/* …  */</a:t>
            </a:r>
            <a:r>
              <a:rPr lang="ja-JP" altLang="en-US" sz="2800" dirty="0" smtClean="0"/>
              <a:t>だが、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</a:t>
            </a:r>
            <a:r>
              <a:rPr lang="en-US" altLang="ja-JP" sz="2800" dirty="0" smtClean="0"/>
              <a:t> // …</a:t>
            </a:r>
          </a:p>
          <a:p>
            <a:r>
              <a:rPr lang="en-US" altLang="ja-JP" sz="2800" dirty="0" smtClean="0"/>
              <a:t>(C99</a:t>
            </a:r>
            <a:r>
              <a:rPr lang="ja-JP" altLang="en-US" sz="2800" dirty="0" smtClean="0"/>
              <a:t>では</a:t>
            </a:r>
            <a:r>
              <a:rPr lang="en-US" altLang="ja-JP" sz="2800" dirty="0" smtClean="0"/>
              <a:t>// </a:t>
            </a:r>
            <a:r>
              <a:rPr lang="ja-JP" altLang="en-US" sz="2800" dirty="0" smtClean="0"/>
              <a:t>もコメントとして使えるが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71600" y="479715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（例）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07704" y="4797152"/>
            <a:ext cx="289669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f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a,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b) {</a:t>
            </a:r>
          </a:p>
          <a:p>
            <a:r>
              <a:rPr lang="en-US" altLang="ja-JP" sz="2800" dirty="0" smtClean="0"/>
              <a:t>    return a //* */ b</a:t>
            </a:r>
          </a:p>
          <a:p>
            <a:r>
              <a:rPr kumimoji="1" lang="en-US" altLang="ja-JP" sz="2800" dirty="0" smtClean="0"/>
              <a:t>    ;</a:t>
            </a:r>
          </a:p>
          <a:p>
            <a:r>
              <a:rPr lang="en-US" altLang="ja-JP" sz="2800" dirty="0" smtClean="0"/>
              <a:t>}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48064" y="4869160"/>
            <a:ext cx="3384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return</a:t>
            </a:r>
            <a:r>
              <a:rPr lang="ja-JP" altLang="en-US" sz="2800" dirty="0" smtClean="0"/>
              <a:t>の右に書かれている式は、</a:t>
            </a:r>
            <a:r>
              <a:rPr kumimoji="1" lang="en-US" altLang="ja-JP" sz="2800" dirty="0" smtClean="0"/>
              <a:t>C89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a/b, C++</a:t>
            </a:r>
            <a:r>
              <a:rPr kumimoji="1" lang="ja-JP" altLang="en-US" sz="2800" dirty="0" smtClean="0"/>
              <a:t>および</a:t>
            </a:r>
            <a:r>
              <a:rPr kumimoji="1" lang="en-US" altLang="ja-JP" sz="2800" dirty="0" smtClean="0"/>
              <a:t>C99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となる。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lang="ja-JP" altLang="en-US" dirty="0" smtClean="0"/>
              <a:t>と</a:t>
            </a:r>
            <a:r>
              <a:rPr lang="en-US" altLang="ja-JP" dirty="0" smtClean="0"/>
              <a:t>C++</a:t>
            </a:r>
            <a:r>
              <a:rPr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407473" y="4350583"/>
            <a:ext cx="2732479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x[99];</a:t>
            </a:r>
          </a:p>
          <a:p>
            <a:r>
              <a:rPr lang="en-US" altLang="ja-JP" sz="2800" dirty="0" smtClean="0"/>
              <a:t> void f() {</a:t>
            </a:r>
          </a:p>
          <a:p>
            <a:r>
              <a:rPr kumimoji="1" lang="en-US" altLang="ja-JP" sz="2800" dirty="0" smtClean="0"/>
              <a:t>    </a:t>
            </a:r>
            <a:r>
              <a:rPr kumimoji="1" lang="en-US" altLang="ja-JP" sz="2800" dirty="0" err="1" smtClean="0"/>
              <a:t>struct</a:t>
            </a:r>
            <a:r>
              <a:rPr kumimoji="1" lang="en-US" altLang="ja-JP" sz="2800" dirty="0" smtClean="0"/>
              <a:t> x {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a;};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 (x);</a:t>
            </a:r>
          </a:p>
          <a:p>
            <a:r>
              <a:rPr kumimoji="1"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1340768"/>
            <a:ext cx="83529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では、構造体型を名前付きで</a:t>
            </a:r>
            <a:r>
              <a:rPr lang="ja-JP" altLang="en-US" sz="2800" dirty="0" smtClean="0"/>
              <a:t>宣言する構文で宣言</a:t>
            </a:r>
            <a:r>
              <a:rPr kumimoji="1" lang="ja-JP" altLang="en-US" sz="2800" dirty="0" smtClean="0"/>
              <a:t>した場合、その名前のみで構造体型を表せる。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（例１） </a:t>
            </a:r>
            <a:r>
              <a:rPr kumimoji="1" lang="en-US" altLang="ja-JP" sz="2800" dirty="0" err="1" smtClean="0"/>
              <a:t>struct</a:t>
            </a:r>
            <a:r>
              <a:rPr kumimoji="1" lang="en-US" altLang="ja-JP" sz="2800" dirty="0" smtClean="0"/>
              <a:t> test {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a;}</a:t>
            </a:r>
          </a:p>
          <a:p>
            <a:r>
              <a:rPr lang="en-US" altLang="ja-JP" sz="2800" dirty="0" smtClean="0"/>
              <a:t>             test x;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書いてよい。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test x;</a:t>
            </a:r>
            <a:r>
              <a:rPr lang="ja-JP" altLang="en-US" sz="2800" dirty="0" smtClean="0"/>
              <a:t>と書く必要がある。</a:t>
            </a:r>
            <a:r>
              <a:rPr lang="en-US" altLang="ja-JP" sz="2800" dirty="0" smtClean="0"/>
              <a:t>(C++</a:t>
            </a:r>
            <a:r>
              <a:rPr lang="ja-JP" altLang="en-US" sz="2800" dirty="0" smtClean="0"/>
              <a:t>で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test x; </a:t>
            </a:r>
            <a:r>
              <a:rPr lang="ja-JP" altLang="en-US" sz="2800" dirty="0" smtClean="0"/>
              <a:t>と書いてもよいが。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8094" y="4345940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）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11960" y="4350583"/>
            <a:ext cx="4104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(x)</a:t>
            </a:r>
            <a:r>
              <a:rPr lang="ja-JP" altLang="en-US" sz="2800" dirty="0" smtClean="0"/>
              <a:t>は、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では配列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のサイズ、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では構造体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のサイズ。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では、構造体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のサイズは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x)</a:t>
            </a:r>
          </a:p>
          <a:p>
            <a:r>
              <a:rPr lang="ja-JP" altLang="en-US" sz="2800" dirty="0" smtClean="0"/>
              <a:t>と書かなければならない。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kumimoji="1" lang="ja-JP" altLang="en-US" dirty="0" smtClean="0"/>
              <a:t>と</a:t>
            </a:r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3569" y="1484784"/>
            <a:ext cx="78488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(‘a’)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と同じである。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では、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(‘a’)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(char)</a:t>
            </a:r>
            <a:r>
              <a:rPr kumimoji="1" lang="ja-JP" altLang="en-US" sz="2800" dirty="0" smtClean="0"/>
              <a:t>と同じである。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では、列挙型のサイズは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)</a:t>
            </a:r>
            <a:r>
              <a:rPr kumimoji="1" lang="ja-JP" altLang="en-US" sz="2800" dirty="0" smtClean="0"/>
              <a:t>である。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では、列挙型のサイズは、処理系依存である。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（列挙型の例） 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enum</a:t>
            </a:r>
            <a:r>
              <a:rPr kumimoji="1" lang="en-US" altLang="ja-JP" sz="2800" dirty="0" smtClean="0"/>
              <a:t> color {RED, BLUE, YELLOW};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列挙型</a:t>
            </a:r>
            <a:r>
              <a:rPr lang="en-US" altLang="ja-JP" sz="2800" dirty="0" smtClean="0"/>
              <a:t>color</a:t>
            </a:r>
            <a:r>
              <a:rPr lang="ja-JP" altLang="en-US" sz="2800" dirty="0" smtClean="0"/>
              <a:t>を宣言すると、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enum</a:t>
            </a:r>
            <a:r>
              <a:rPr lang="en-US" altLang="ja-JP" sz="2800" dirty="0" smtClean="0"/>
              <a:t> color)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と同じ、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では処理系依存。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オブジェクト指向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3568" y="1412776"/>
            <a:ext cx="78488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オブジェクト指向</a:t>
            </a:r>
            <a:r>
              <a:rPr lang="ja-JP" altLang="en-US" sz="2800" dirty="0" smtClean="0"/>
              <a:t>は</a:t>
            </a:r>
            <a:r>
              <a:rPr kumimoji="1" lang="ja-JP" altLang="en-US" sz="2800" dirty="0" smtClean="0"/>
              <a:t>シミュレーションを記述することを意図して考え出された。シミュレーションの中の要素がオブジェクトである。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pPr marL="0" lvl="1"/>
            <a:r>
              <a:rPr kumimoji="1" lang="ja-JP" altLang="en-US" sz="2800" dirty="0" smtClean="0"/>
              <a:t>（例） </a:t>
            </a:r>
            <a:r>
              <a:rPr kumimoji="1" lang="en-US" altLang="ja-JP" sz="2800" dirty="0" err="1" smtClean="0"/>
              <a:t>Simula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u="sng" dirty="0" smtClean="0"/>
              <a:t>Simu</a:t>
            </a:r>
            <a:r>
              <a:rPr kumimoji="1" lang="en-US" altLang="ja-JP" sz="2800" dirty="0" smtClean="0"/>
              <a:t>lation </a:t>
            </a:r>
            <a:r>
              <a:rPr kumimoji="1" lang="en-US" altLang="ja-JP" sz="2800" u="sng" dirty="0" smtClean="0"/>
              <a:t>la</a:t>
            </a:r>
            <a:r>
              <a:rPr kumimoji="1" lang="en-US" altLang="ja-JP" sz="2800" dirty="0" smtClean="0"/>
              <a:t>nguage, 1967</a:t>
            </a:r>
            <a:r>
              <a:rPr kumimoji="1" lang="ja-JP" altLang="en-US" sz="2800" dirty="0" smtClean="0"/>
              <a:t>）</a:t>
            </a:r>
            <a:endParaRPr lang="en-US" altLang="ja-JP" sz="2800" dirty="0" smtClean="0"/>
          </a:p>
          <a:p>
            <a:pPr marL="457200" lvl="2">
              <a:buFont typeface="Arial" pitchFamily="34" charset="0"/>
              <a:buChar char="•"/>
            </a:pPr>
            <a:r>
              <a:rPr lang="en-US" altLang="ja-JP" sz="2800" dirty="0" smtClean="0"/>
              <a:t>     </a:t>
            </a:r>
            <a:r>
              <a:rPr lang="de-DE" altLang="ja-JP" sz="2800" dirty="0" smtClean="0"/>
              <a:t>Ole-Johan Dahl</a:t>
            </a:r>
            <a:r>
              <a:rPr lang="en-US" altLang="ja-JP" sz="2800" dirty="0" smtClean="0"/>
              <a:t>, </a:t>
            </a:r>
            <a:r>
              <a:rPr lang="de-DE" altLang="ja-JP" sz="2800" dirty="0" smtClean="0"/>
              <a:t>Kristen Nygaard</a:t>
            </a:r>
            <a:r>
              <a:rPr lang="ja-JP" altLang="en-US" sz="2800" dirty="0" smtClean="0"/>
              <a:t>が開発</a:t>
            </a:r>
            <a:endParaRPr kumimoji="1" lang="en-US" altLang="ja-JP" sz="2800" dirty="0" smtClean="0"/>
          </a:p>
          <a:p>
            <a:pPr marL="971550" lvl="1" indent="-514350">
              <a:buFont typeface="Arial" pitchFamily="34" charset="0"/>
              <a:buChar char="•"/>
            </a:pPr>
            <a:r>
              <a:rPr lang="ja-JP" altLang="en-US" sz="2800" dirty="0" smtClean="0"/>
              <a:t>最初のオブジェクト指向言語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オブジェクト指向という言葉はまだなかったが、オブジェクト指向における種々の概念が含まれていた</a:t>
            </a:r>
            <a:r>
              <a:rPr lang="en-US" altLang="ja-JP" sz="2800" dirty="0" smtClean="0"/>
              <a:t>)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US" altLang="ja-JP" sz="2800" dirty="0" smtClean="0"/>
              <a:t>ALGOL</a:t>
            </a:r>
            <a:r>
              <a:rPr lang="ja-JP" altLang="en-US" sz="2800" dirty="0" smtClean="0"/>
              <a:t>の拡張として設計された</a:t>
            </a:r>
            <a:endParaRPr lang="en-US" altLang="ja-JP" sz="2800" dirty="0" smtClean="0"/>
          </a:p>
          <a:p>
            <a:pPr marL="971550" lvl="1" indent="-514350">
              <a:buFont typeface="Arial" pitchFamily="34" charset="0"/>
              <a:buChar char="•"/>
            </a:pPr>
            <a:r>
              <a:rPr kumimoji="1" lang="ja-JP" altLang="en-US" sz="2800" dirty="0" smtClean="0"/>
              <a:t>空港の</a:t>
            </a:r>
            <a:r>
              <a:rPr lang="ja-JP" altLang="en-US" sz="2800" dirty="0" smtClean="0"/>
              <a:t>システムの記述が重要な例となっていた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</a:t>
            </a:r>
            <a:r>
              <a:rPr lang="ja-JP" altLang="en-US" dirty="0" smtClean="0"/>
              <a:t>指向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268760"/>
            <a:ext cx="7452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[</a:t>
            </a:r>
            <a:r>
              <a:rPr kumimoji="1" lang="ja-JP" altLang="en-US" sz="2800" dirty="0" smtClean="0"/>
              <a:t>オブジェクトの例</a:t>
            </a:r>
            <a:r>
              <a:rPr kumimoji="1" lang="en-US" altLang="ja-JP" sz="2800" dirty="0" smtClean="0"/>
              <a:t>] </a:t>
            </a:r>
            <a:r>
              <a:rPr lang="en-US" altLang="ja-JP" sz="2800" dirty="0" smtClean="0"/>
              <a:t> </a:t>
            </a:r>
            <a:r>
              <a:rPr kumimoji="1" lang="ja-JP" altLang="en-US" sz="2800" dirty="0" smtClean="0"/>
              <a:t>乗客、航空会社のカウンター、行列、チケット、</a:t>
            </a:r>
            <a:r>
              <a:rPr kumimoji="1" lang="en-US" altLang="ja-JP" sz="2800" dirty="0" smtClean="0"/>
              <a:t>…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3568" y="2625874"/>
            <a:ext cx="78488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（外側</a:t>
            </a:r>
            <a:r>
              <a:rPr kumimoji="1" lang="ja-JP" altLang="en-US" sz="2800" dirty="0" smtClean="0"/>
              <a:t>からの見た場合</a:t>
            </a:r>
            <a:r>
              <a:rPr lang="ja-JP" altLang="en-US" sz="2800" dirty="0" smtClean="0"/>
              <a:t>）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オブジェクト間でメッセージをやりとりすることにより計算が進んでいく。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ja-JP" altLang="en-US" sz="2800" dirty="0" smtClean="0"/>
              <a:t>（内側から見た場合）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メッセージを受け取ったら、それに対応する手続きを実行する。この手続きのことを、メソッド</a:t>
            </a:r>
            <a:r>
              <a:rPr lang="en-US" altLang="ja-JP" sz="2800" dirty="0" smtClean="0"/>
              <a:t>(method)</a:t>
            </a:r>
            <a:r>
              <a:rPr lang="ja-JP" altLang="en-US" sz="2800" dirty="0" smtClean="0"/>
              <a:t>あるいはメンバ関数</a:t>
            </a:r>
            <a:r>
              <a:rPr lang="en-US" altLang="ja-JP" sz="2800" dirty="0" smtClean="0"/>
              <a:t>(member function)</a:t>
            </a:r>
            <a:r>
              <a:rPr lang="ja-JP" altLang="en-US" sz="2800" dirty="0" smtClean="0"/>
              <a:t>という。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クラスの階層構造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491880" y="1412776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Shape</a:t>
            </a:r>
            <a:endParaRPr kumimoji="1" lang="ja-JP" altLang="en-US" sz="2800" dirty="0"/>
          </a:p>
        </p:txBody>
      </p:sp>
      <p:cxnSp>
        <p:nvCxnSpPr>
          <p:cNvPr id="11" name="直線コネクタ 10"/>
          <p:cNvCxnSpPr/>
          <p:nvPr/>
        </p:nvCxnSpPr>
        <p:spPr>
          <a:xfrm rot="10800000" flipV="1">
            <a:off x="2267744" y="2060848"/>
            <a:ext cx="1152128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1547664" y="2708920"/>
            <a:ext cx="71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Box</a:t>
            </a:r>
            <a:endParaRPr kumimoji="1" lang="ja-JP" altLang="en-US" sz="28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203848" y="2708920"/>
            <a:ext cx="1111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Ellipse</a:t>
            </a:r>
            <a:endParaRPr kumimoji="1" lang="ja-JP" altLang="en-US" sz="28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203848" y="3717032"/>
            <a:ext cx="988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Circle</a:t>
            </a:r>
            <a:endParaRPr kumimoji="1" lang="ja-JP" altLang="en-US" sz="28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220072" y="2708920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Line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948264" y="2708920"/>
            <a:ext cx="776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Text</a:t>
            </a:r>
            <a:endParaRPr kumimoji="1" lang="ja-JP" altLang="en-US" sz="2800" dirty="0"/>
          </a:p>
        </p:txBody>
      </p:sp>
      <p:cxnSp>
        <p:nvCxnSpPr>
          <p:cNvPr id="18" name="直線コネクタ 17"/>
          <p:cNvCxnSpPr>
            <a:endCxn id="14" idx="0"/>
          </p:cNvCxnSpPr>
          <p:nvPr/>
        </p:nvCxnSpPr>
        <p:spPr>
          <a:xfrm rot="5400000">
            <a:off x="3517622" y="2302614"/>
            <a:ext cx="648070" cy="164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4427984" y="2060848"/>
            <a:ext cx="1008112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4788024" y="1988840"/>
            <a:ext cx="216024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5400000">
            <a:off x="3455876" y="3465004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/>
          <p:cNvSpPr txBox="1"/>
          <p:nvPr/>
        </p:nvSpPr>
        <p:spPr>
          <a:xfrm>
            <a:off x="1331640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Box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2555776" y="4941168"/>
            <a:ext cx="3096344" cy="144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Ellipse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940152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Line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308304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Text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3851920" y="5301208"/>
            <a:ext cx="144016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Circle</a:t>
            </a:r>
          </a:p>
          <a:p>
            <a:endParaRPr kumimoji="1" lang="ja-JP" altLang="en-US" sz="28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95536" y="4437112"/>
            <a:ext cx="8352928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Shape</a:t>
            </a:r>
          </a:p>
          <a:p>
            <a:endParaRPr lang="en-US" altLang="ja-JP" sz="2800" dirty="0" smtClean="0"/>
          </a:p>
          <a:p>
            <a:endParaRPr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継承</a:t>
            </a:r>
            <a:r>
              <a:rPr kumimoji="1" lang="en-US" altLang="ja-JP" dirty="0" smtClean="0"/>
              <a:t>(inheritance)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/>
          </a:bodyPr>
          <a:lstStyle/>
          <a:p>
            <a:r>
              <a:rPr kumimoji="1" lang="ja-JP" altLang="en-US" sz="2800" dirty="0" smtClean="0"/>
              <a:t>子クラスは親クラスのメソッド、変数を継承する（親クラス</a:t>
            </a:r>
            <a:r>
              <a:rPr lang="ja-JP" altLang="en-US" sz="2800" dirty="0" smtClean="0"/>
              <a:t>のメソッド、変数が子クラスのメソッド、変数になる）。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子クラスでは、追加でメソッドや変数を定義できる。同じ名前の場合には上書き</a:t>
            </a:r>
            <a:r>
              <a:rPr kumimoji="1" lang="en-US" altLang="ja-JP" sz="2800" dirty="0" smtClean="0"/>
              <a:t>(override)</a:t>
            </a:r>
            <a:r>
              <a:rPr kumimoji="1" lang="ja-JP" altLang="en-US" sz="2800" dirty="0" smtClean="0"/>
              <a:t>される。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pPr>
              <a:buNone/>
            </a:pPr>
            <a:r>
              <a:rPr lang="ja-JP" altLang="en-US" sz="2800" dirty="0" smtClean="0"/>
              <a:t>（注意）</a:t>
            </a:r>
            <a:r>
              <a:rPr kumimoji="1" lang="en-US" altLang="ja-JP" sz="2800" dirty="0" smtClean="0"/>
              <a:t>overload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override</a:t>
            </a:r>
            <a:r>
              <a:rPr kumimoji="1" lang="ja-JP" altLang="en-US" sz="2800" dirty="0" smtClean="0"/>
              <a:t>とは全く別の概念</a:t>
            </a:r>
            <a:r>
              <a:rPr lang="ja-JP" altLang="en-US" sz="2800" dirty="0" smtClean="0"/>
              <a:t>。</a:t>
            </a:r>
            <a:r>
              <a:rPr lang="en-US" altLang="ja-JP" sz="2800" dirty="0" smtClean="0"/>
              <a:t>Overload</a:t>
            </a:r>
            <a:r>
              <a:rPr lang="ja-JP" altLang="en-US" sz="2800" dirty="0" smtClean="0"/>
              <a:t>は、引数の数や型が違うメソッドに同じ名前をつけること。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412776"/>
            <a:ext cx="6325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では、継承は以下のように記述する。</a:t>
            </a:r>
            <a:endParaRPr lang="en-US" altLang="ja-JP" sz="28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2276872"/>
            <a:ext cx="388061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class Box : public Shape {</a:t>
            </a:r>
          </a:p>
          <a:p>
            <a:r>
              <a:rPr kumimoji="1" lang="en-US" altLang="ja-JP" sz="2800" dirty="0" smtClean="0"/>
              <a:t>    …</a:t>
            </a:r>
          </a:p>
          <a:p>
            <a:r>
              <a:rPr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20072" y="2276872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すべてのメンバーを</a:t>
            </a:r>
            <a:r>
              <a:rPr lang="en-US" altLang="ja-JP" sz="2800" dirty="0" smtClean="0"/>
              <a:t>visibility</a:t>
            </a:r>
            <a:r>
              <a:rPr lang="ja-JP" altLang="en-US" sz="2800" dirty="0" smtClean="0"/>
              <a:t>を保って継承する。</a:t>
            </a:r>
            <a:endParaRPr kumimoji="1" lang="en-US" altLang="ja-JP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7544" y="5589240"/>
            <a:ext cx="8003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では親クラスを基底クラス</a:t>
            </a:r>
            <a:r>
              <a:rPr lang="en-US" altLang="ja-JP" sz="2800" dirty="0" smtClean="0"/>
              <a:t>(base class)</a:t>
            </a:r>
            <a:r>
              <a:rPr lang="ja-JP" altLang="en-US" sz="2800" dirty="0" err="1" smtClean="0"/>
              <a:t>、</a:t>
            </a:r>
            <a:r>
              <a:rPr lang="ja-JP" altLang="en-US" sz="2800" dirty="0" smtClean="0"/>
              <a:t>子クラスを派生クラス</a:t>
            </a:r>
            <a:r>
              <a:rPr lang="en-US" altLang="ja-JP" sz="2800" dirty="0" smtClean="0"/>
              <a:t>(derived class)</a:t>
            </a:r>
            <a:r>
              <a:rPr lang="ja-JP" altLang="en-US" sz="2800" dirty="0" smtClean="0"/>
              <a:t>という。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43608" y="3861048"/>
            <a:ext cx="401244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class Box : private Shape {</a:t>
            </a:r>
          </a:p>
          <a:p>
            <a:r>
              <a:rPr kumimoji="1" lang="en-US" altLang="ja-JP" sz="2800" dirty="0" smtClean="0"/>
              <a:t>    …</a:t>
            </a:r>
          </a:p>
          <a:p>
            <a:r>
              <a:rPr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3861048"/>
            <a:ext cx="360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継承されたメンバーは</a:t>
            </a:r>
            <a:r>
              <a:rPr kumimoji="1" lang="en-US" altLang="ja-JP" sz="2800" dirty="0" smtClean="0"/>
              <a:t>default</a:t>
            </a:r>
            <a:r>
              <a:rPr kumimoji="1" lang="ja-JP" altLang="en-US" sz="2800" dirty="0" smtClean="0"/>
              <a:t>で</a:t>
            </a:r>
            <a:r>
              <a:rPr kumimoji="1" lang="en-US" altLang="ja-JP" sz="2800" dirty="0" smtClean="0"/>
              <a:t>private</a:t>
            </a:r>
            <a:r>
              <a:rPr kumimoji="1" lang="ja-JP" altLang="en-US" sz="2800" dirty="0" smtClean="0"/>
              <a:t>メンバーになる</a:t>
            </a:r>
            <a:r>
              <a:rPr lang="ja-JP" altLang="en-US" sz="2800" dirty="0" smtClean="0"/>
              <a:t>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36104"/>
          </a:xfrm>
        </p:spPr>
        <p:txBody>
          <a:bodyPr>
            <a:normAutofit/>
          </a:bodyPr>
          <a:lstStyle/>
          <a:p>
            <a:r>
              <a:rPr kumimoji="1" lang="ja-JP" altLang="en-US" sz="4000" dirty="0" smtClean="0"/>
              <a:t>仮想関数</a:t>
            </a:r>
            <a:r>
              <a:rPr kumimoji="1" lang="en-US" altLang="ja-JP" sz="4000" dirty="0" smtClean="0"/>
              <a:t>(virtual function)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2023" y="2492896"/>
            <a:ext cx="435600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 class B {</a:t>
            </a:r>
          </a:p>
          <a:p>
            <a:r>
              <a:rPr lang="en-US" altLang="ja-JP" sz="2400" dirty="0" smtClean="0"/>
              <a:t> public:</a:t>
            </a:r>
          </a:p>
          <a:p>
            <a:r>
              <a:rPr kumimoji="1" lang="en-US" altLang="ja-JP" sz="2400" dirty="0" smtClean="0"/>
              <a:t> virtual char f () { return ‘B’; }</a:t>
            </a:r>
          </a:p>
          <a:p>
            <a:r>
              <a:rPr lang="en-US" altLang="ja-JP" sz="2400" dirty="0" smtClean="0"/>
              <a:t>              char g() { return ‘B’; }</a:t>
            </a:r>
          </a:p>
          <a:p>
            <a:r>
              <a:rPr kumimoji="1" lang="en-US" altLang="ja-JP" sz="2400" dirty="0" smtClean="0"/>
              <a:t>              char </a:t>
            </a:r>
            <a:r>
              <a:rPr kumimoji="1" lang="en-US" altLang="ja-JP" sz="2400" dirty="0" err="1" smtClean="0"/>
              <a:t>testF</a:t>
            </a:r>
            <a:r>
              <a:rPr kumimoji="1" lang="en-US" altLang="ja-JP" sz="2400" dirty="0" smtClean="0"/>
              <a:t>() {return f(); }</a:t>
            </a:r>
          </a:p>
          <a:p>
            <a:r>
              <a:rPr lang="en-US" altLang="ja-JP" sz="2400" dirty="0" smtClean="0"/>
              <a:t>              char </a:t>
            </a:r>
            <a:r>
              <a:rPr lang="en-US" altLang="ja-JP" sz="2400" dirty="0" err="1" smtClean="0"/>
              <a:t>testG</a:t>
            </a:r>
            <a:r>
              <a:rPr lang="en-US" altLang="ja-JP" sz="2400" dirty="0" smtClean="0"/>
              <a:t>() { return g(); }</a:t>
            </a:r>
          </a:p>
          <a:p>
            <a:r>
              <a:rPr lang="en-US" altLang="ja-JP" sz="2400" dirty="0" smtClean="0"/>
              <a:t> </a:t>
            </a:r>
            <a:r>
              <a:rPr lang="en-US" altLang="ja-JP" sz="2400" dirty="0" smtClean="0"/>
              <a:t>}</a:t>
            </a:r>
            <a:r>
              <a:rPr lang="en-US" altLang="ja-JP" sz="2400" dirty="0" smtClean="0"/>
              <a:t>;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04048" y="1919729"/>
            <a:ext cx="3816424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 class D : public B {</a:t>
            </a:r>
          </a:p>
          <a:p>
            <a:r>
              <a:rPr lang="en-US" altLang="ja-JP" sz="2400" dirty="0" smtClean="0"/>
              <a:t> public:</a:t>
            </a:r>
          </a:p>
          <a:p>
            <a:r>
              <a:rPr kumimoji="1" lang="en-US" altLang="ja-JP" sz="2400" dirty="0" smtClean="0"/>
              <a:t>              char f () { return ‘D’; }</a:t>
            </a:r>
          </a:p>
          <a:p>
            <a:r>
              <a:rPr lang="en-US" altLang="ja-JP" sz="2400" dirty="0" smtClean="0"/>
              <a:t>              char g() { return ‘D’; }</a:t>
            </a:r>
          </a:p>
          <a:p>
            <a:r>
              <a:rPr lang="en-US" altLang="ja-JP" sz="2400" dirty="0" smtClean="0"/>
              <a:t> </a:t>
            </a:r>
            <a:r>
              <a:rPr lang="en-US" altLang="ja-JP" sz="2400" dirty="0" smtClean="0"/>
              <a:t>}</a:t>
            </a:r>
            <a:r>
              <a:rPr lang="en-US" altLang="ja-JP" sz="2400" dirty="0" smtClean="0"/>
              <a:t>;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#include &lt;</a:t>
            </a:r>
            <a:r>
              <a:rPr lang="en-US" altLang="ja-JP" sz="2400" dirty="0" err="1" smtClean="0"/>
              <a:t>iostream</a:t>
            </a:r>
            <a:r>
              <a:rPr lang="en-US" altLang="ja-JP" sz="2400" dirty="0" smtClean="0"/>
              <a:t>&gt;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 D </a:t>
            </a:r>
            <a:r>
              <a:rPr kumimoji="1" lang="en-US" altLang="ja-JP" sz="2400" dirty="0" err="1" smtClean="0"/>
              <a:t>d</a:t>
            </a:r>
            <a:r>
              <a:rPr kumimoji="1" lang="en-US" altLang="ja-JP" sz="2400" dirty="0" smtClean="0"/>
              <a:t>;  </a:t>
            </a:r>
          </a:p>
          <a:p>
            <a:r>
              <a:rPr lang="en-US" altLang="ja-JP" sz="2400" dirty="0" smtClean="0"/>
              <a:t>     std::</a:t>
            </a:r>
            <a:r>
              <a:rPr lang="en-US" altLang="ja-JP" sz="2400" dirty="0" err="1" smtClean="0"/>
              <a:t>cout</a:t>
            </a:r>
            <a:r>
              <a:rPr lang="en-US" altLang="ja-JP" sz="2400" dirty="0" smtClean="0"/>
              <a:t> &lt;&lt; </a:t>
            </a:r>
            <a:r>
              <a:rPr lang="en-US" altLang="ja-JP" sz="2400" dirty="0" err="1" smtClean="0"/>
              <a:t>d.testF</a:t>
            </a:r>
            <a:r>
              <a:rPr lang="en-US" altLang="ja-JP" sz="2400" dirty="0" smtClean="0"/>
              <a:t>()</a:t>
            </a:r>
          </a:p>
          <a:p>
            <a:r>
              <a:rPr lang="en-US" altLang="ja-JP" sz="2400" dirty="0" smtClean="0"/>
              <a:t>                      &lt;&lt; </a:t>
            </a:r>
            <a:r>
              <a:rPr lang="en-US" altLang="ja-JP" sz="2400" dirty="0" err="1" smtClean="0"/>
              <a:t>d.testG</a:t>
            </a:r>
            <a:r>
              <a:rPr lang="en-US" altLang="ja-JP" sz="2400" dirty="0" smtClean="0"/>
              <a:t>()</a:t>
            </a:r>
          </a:p>
          <a:p>
            <a:r>
              <a:rPr lang="en-US" altLang="ja-JP" sz="2400" dirty="0" smtClean="0"/>
              <a:t>                      &lt;&lt; "\n";</a:t>
            </a:r>
          </a:p>
          <a:p>
            <a:r>
              <a:rPr lang="en-US" altLang="ja-JP" sz="2400" dirty="0" smtClean="0"/>
              <a:t>     return 0;</a:t>
            </a:r>
          </a:p>
          <a:p>
            <a:r>
              <a:rPr kumimoji="1" lang="en-US" altLang="ja-JP" sz="2400" dirty="0" smtClean="0"/>
              <a:t> }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1560" y="5517232"/>
            <a:ext cx="4032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d.testF</a:t>
            </a:r>
            <a:r>
              <a:rPr lang="en-US" altLang="ja-JP" sz="2800" dirty="0" smtClean="0"/>
              <a:t>()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’D’</a:t>
            </a:r>
            <a:r>
              <a:rPr lang="ja-JP" altLang="en-US" sz="2800" dirty="0" smtClean="0"/>
              <a:t>を返し、</a:t>
            </a:r>
            <a:r>
              <a:rPr lang="en-US" altLang="ja-JP" sz="2800" dirty="0" err="1" smtClean="0"/>
              <a:t>d.testG</a:t>
            </a:r>
            <a:r>
              <a:rPr lang="en-US" altLang="ja-JP" sz="2800" dirty="0" smtClean="0"/>
              <a:t>()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’B’</a:t>
            </a:r>
            <a:r>
              <a:rPr lang="ja-JP" altLang="en-US" sz="2800" dirty="0" smtClean="0"/>
              <a:t>を返す。</a:t>
            </a:r>
            <a:endParaRPr kumimoji="1" lang="ja-JP" altLang="en-US" sz="2800" dirty="0"/>
          </a:p>
        </p:txBody>
      </p:sp>
      <p:sp>
        <p:nvSpPr>
          <p:cNvPr id="9" name="正方形/長方形 8"/>
          <p:cNvSpPr/>
          <p:nvPr/>
        </p:nvSpPr>
        <p:spPr>
          <a:xfrm>
            <a:off x="611560" y="908720"/>
            <a:ext cx="7848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メソッド宣言に</a:t>
            </a:r>
            <a:r>
              <a:rPr lang="en-US" altLang="ja-JP" sz="2800" dirty="0" smtClean="0"/>
              <a:t>virtual</a:t>
            </a:r>
            <a:r>
              <a:rPr lang="ja-JP" altLang="en-US" sz="2800" dirty="0" smtClean="0"/>
              <a:t>というキーワードをつけると、（コンパイル時でなく）実行時にメソッドが選択される。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1560" y="1340768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メソッドは、（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コンパイラ内で）引数を１つ追加した関数へコンパイルすればよい。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907704" y="2492896"/>
            <a:ext cx="4572000" cy="523220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r>
              <a:rPr lang="en-US" altLang="ja-JP" sz="2800" dirty="0" smtClean="0"/>
              <a:t>char </a:t>
            </a:r>
            <a:r>
              <a:rPr lang="en-US" altLang="ja-JP" sz="2800" dirty="0" err="1" smtClean="0"/>
              <a:t>testF</a:t>
            </a:r>
            <a:r>
              <a:rPr lang="en-US" altLang="ja-JP" sz="2800" dirty="0" smtClean="0"/>
              <a:t>() { return f(); }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1187624" y="3861048"/>
            <a:ext cx="5904656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char </a:t>
            </a:r>
            <a:r>
              <a:rPr lang="en-US" altLang="ja-JP" sz="2800" dirty="0" err="1" smtClean="0"/>
              <a:t>testF</a:t>
            </a:r>
            <a:r>
              <a:rPr lang="en-US" altLang="ja-JP" sz="2800" dirty="0" smtClean="0"/>
              <a:t> (B * this) { return this-&gt;f(); }</a:t>
            </a:r>
          </a:p>
        </p:txBody>
      </p:sp>
      <p:sp>
        <p:nvSpPr>
          <p:cNvPr id="11" name="下矢印 10"/>
          <p:cNvSpPr/>
          <p:nvPr/>
        </p:nvSpPr>
        <p:spPr>
          <a:xfrm>
            <a:off x="3563888" y="3212976"/>
            <a:ext cx="504056" cy="504056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99592" y="4869160"/>
            <a:ext cx="72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 smtClean="0"/>
              <a:t>d.testF</a:t>
            </a:r>
            <a:r>
              <a:rPr kumimoji="1" lang="en-US" altLang="ja-JP" sz="2800" dirty="0" smtClean="0"/>
              <a:t>()</a:t>
            </a:r>
            <a:r>
              <a:rPr lang="ja-JP" altLang="en-US" sz="2800" dirty="0" smtClean="0"/>
              <a:t>を</a:t>
            </a:r>
            <a:r>
              <a:rPr kumimoji="1" lang="en-US" altLang="ja-JP" sz="2800" dirty="0" err="1" smtClean="0"/>
              <a:t>testF</a:t>
            </a:r>
            <a:r>
              <a:rPr kumimoji="1" lang="en-US" altLang="ja-JP" sz="2800" dirty="0" smtClean="0"/>
              <a:t>(d)</a:t>
            </a:r>
            <a:r>
              <a:rPr kumimoji="1" lang="ja-JP" altLang="en-US" sz="2800" dirty="0" smtClean="0"/>
              <a:t>にコンパイルすれば、（クラス</a:t>
            </a:r>
            <a:r>
              <a:rPr kumimoji="1" lang="en-US" altLang="ja-JP" sz="2800" dirty="0" smtClean="0"/>
              <a:t>B</a:t>
            </a:r>
            <a:r>
              <a:rPr kumimoji="1" lang="ja-JP" altLang="en-US" sz="2800" dirty="0" smtClean="0"/>
              <a:t>において</a:t>
            </a:r>
            <a:r>
              <a:rPr kumimoji="1" lang="en-US" altLang="ja-JP" sz="2800" dirty="0" smtClean="0"/>
              <a:t>f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virtual</a:t>
            </a:r>
            <a:r>
              <a:rPr kumimoji="1" lang="ja-JP" altLang="en-US" sz="2800" dirty="0" smtClean="0"/>
              <a:t>なので）</a:t>
            </a:r>
            <a:r>
              <a:rPr kumimoji="1" lang="en-US" altLang="ja-JP" sz="2800" dirty="0" err="1" smtClean="0"/>
              <a:t>testF</a:t>
            </a:r>
            <a:r>
              <a:rPr kumimoji="1" lang="ja-JP" altLang="en-US" sz="2800" dirty="0" smtClean="0"/>
              <a:t>の本体で</a:t>
            </a:r>
            <a:r>
              <a:rPr lang="en-US" altLang="ja-JP" sz="2800" dirty="0" smtClean="0"/>
              <a:t>d</a:t>
            </a:r>
            <a:r>
              <a:rPr lang="ja-JP" altLang="en-US" sz="2800" dirty="0" smtClean="0"/>
              <a:t>に対してメッセージ</a:t>
            </a:r>
            <a:r>
              <a:rPr lang="en-US" altLang="ja-JP" sz="2800" dirty="0" smtClean="0"/>
              <a:t>f</a:t>
            </a:r>
            <a:r>
              <a:rPr lang="ja-JP" altLang="en-US" sz="2800" dirty="0" smtClean="0"/>
              <a:t>が送られることになり、</a:t>
            </a:r>
            <a:r>
              <a:rPr lang="en-US" altLang="ja-JP" sz="2800" dirty="0" smtClean="0"/>
              <a:t>’D’</a:t>
            </a:r>
            <a:r>
              <a:rPr lang="ja-JP" altLang="en-US" sz="2800" dirty="0" smtClean="0"/>
              <a:t>が返される。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C++</a:t>
            </a:r>
            <a:r>
              <a:rPr lang="ja-JP" altLang="en-US" dirty="0" smtClean="0"/>
              <a:t>の特徴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745232" y="1268760"/>
            <a:ext cx="7859216" cy="5589240"/>
          </a:xfrm>
        </p:spPr>
        <p:txBody>
          <a:bodyPr>
            <a:noAutofit/>
          </a:bodyPr>
          <a:lstStyle/>
          <a:p>
            <a:r>
              <a:rPr kumimoji="1" lang="en-US" altLang="ja-JP" sz="2800" dirty="0" smtClean="0"/>
              <a:t>C</a:t>
            </a:r>
            <a:r>
              <a:rPr lang="ja-JP" altLang="en-US" sz="2800" dirty="0" smtClean="0"/>
              <a:t>との</a:t>
            </a:r>
            <a:r>
              <a:rPr kumimoji="1" lang="en-US" altLang="ja-JP" sz="2800" dirty="0" smtClean="0"/>
              <a:t>backward compatibility</a:t>
            </a:r>
            <a:r>
              <a:rPr kumimoji="1" lang="ja-JP" altLang="en-US" sz="2800" dirty="0" smtClean="0"/>
              <a:t>をできる限り保ちつつオブジェクト指向をサポートするように設計された。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オブジェクトを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の構造体の拡張とした。つまり、オブジェクトは関数の</a:t>
            </a:r>
            <a:r>
              <a:rPr lang="en-US" altLang="ja-JP" sz="2800" dirty="0" smtClean="0"/>
              <a:t>activation record</a:t>
            </a:r>
            <a:r>
              <a:rPr lang="ja-JP" altLang="en-US" sz="2800" dirty="0" smtClean="0"/>
              <a:t>や</a:t>
            </a:r>
            <a:r>
              <a:rPr lang="en-US" altLang="ja-JP" sz="2800" dirty="0" smtClean="0"/>
              <a:t>local block</a:t>
            </a:r>
            <a:r>
              <a:rPr lang="ja-JP" altLang="en-US" sz="2800" dirty="0" smtClean="0"/>
              <a:t>内に</a:t>
            </a:r>
            <a:r>
              <a:rPr lang="en-US" altLang="ja-JP" sz="2800" dirty="0" smtClean="0"/>
              <a:t>allocate</a:t>
            </a:r>
            <a:r>
              <a:rPr lang="ja-JP" altLang="en-US" sz="2800" dirty="0" smtClean="0"/>
              <a:t>され得る。（もちろんヒープにも</a:t>
            </a:r>
            <a:r>
              <a:rPr lang="en-US" altLang="ja-JP" sz="2800" dirty="0" smtClean="0"/>
              <a:t>allocate</a:t>
            </a:r>
            <a:r>
              <a:rPr lang="ja-JP" altLang="en-US" sz="2800" dirty="0" smtClean="0"/>
              <a:t>できるが。）</a:t>
            </a:r>
            <a:endParaRPr lang="en-US" altLang="ja-JP" sz="2800" dirty="0" smtClean="0"/>
          </a:p>
          <a:p>
            <a:r>
              <a:rPr lang="ja-JP" altLang="en-US" sz="2800" dirty="0" smtClean="0"/>
              <a:t>オブジェクト指向ではないプログラミング（命令型のプログラミング）もできる。（プログラミングのスタイルをプログラマに強要しない。）</a:t>
            </a:r>
            <a:endParaRPr lang="en-US" altLang="ja-JP" sz="2800" dirty="0" smtClean="0"/>
          </a:p>
          <a:p>
            <a:r>
              <a:rPr lang="en-US" altLang="ja-JP" sz="2800" dirty="0" smtClean="0"/>
              <a:t>Multiple inheritance</a:t>
            </a:r>
            <a:r>
              <a:rPr lang="ja-JP" altLang="en-US" sz="2800" dirty="0" smtClean="0"/>
              <a:t>をサポートする。（授業範囲外とする）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オブジェクト指向言語のまとめ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8072" y="2780928"/>
            <a:ext cx="7956376" cy="3672408"/>
          </a:xfrm>
        </p:spPr>
        <p:txBody>
          <a:bodyPr>
            <a:noAutofit/>
          </a:bodyPr>
          <a:lstStyle/>
          <a:p>
            <a:r>
              <a:rPr kumimoji="1" lang="en-US" altLang="ja-JP" sz="2800" dirty="0" smtClean="0"/>
              <a:t>Dynami</a:t>
            </a:r>
            <a:r>
              <a:rPr lang="en-US" altLang="ja-JP" sz="2800" dirty="0" smtClean="0"/>
              <a:t>c lookup</a:t>
            </a:r>
            <a:r>
              <a:rPr lang="ja-JP" altLang="en-US" sz="2800" dirty="0" smtClean="0"/>
              <a:t>（メッセージを受け取ったときに実行されるメソッドは実行時に決まる）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Abstraction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dirty="0" smtClean="0"/>
              <a:t>public</a:t>
            </a:r>
            <a:r>
              <a:rPr kumimoji="1" lang="ja-JP" altLang="en-US" sz="2800" dirty="0" smtClean="0"/>
              <a:t>関数がインターフェースとなり、データや実装は他の部分から見えない）</a:t>
            </a:r>
            <a:endParaRPr kumimoji="1" lang="en-US" altLang="ja-JP" sz="2800" dirty="0" smtClean="0"/>
          </a:p>
          <a:p>
            <a:r>
              <a:rPr lang="en-US" altLang="ja-JP" sz="2800" dirty="0" err="1" smtClean="0"/>
              <a:t>Subtyping</a:t>
            </a:r>
            <a:r>
              <a:rPr lang="ja-JP" altLang="en-US" sz="2800" dirty="0" smtClean="0"/>
              <a:t>（派生クラス型の式は基底クラス型の式と置き換えてもよい（</a:t>
            </a:r>
            <a:r>
              <a:rPr lang="en-US" altLang="ja-JP" sz="2800" dirty="0" smtClean="0"/>
              <a:t>public</a:t>
            </a:r>
            <a:r>
              <a:rPr lang="ja-JP" altLang="en-US" sz="2800" dirty="0" smtClean="0"/>
              <a:t>で継承している場合））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Inheritance</a:t>
            </a:r>
            <a:r>
              <a:rPr kumimoji="1" lang="ja-JP" altLang="en-US" sz="2800" dirty="0" smtClean="0"/>
              <a:t>（継承。</a:t>
            </a:r>
            <a:r>
              <a:rPr lang="ja-JP" altLang="en-US" sz="2800" dirty="0" smtClean="0"/>
              <a:t>コード量が削減され、コードを修正しやすくなる。</a:t>
            </a:r>
            <a:r>
              <a:rPr kumimoji="1" lang="ja-JP" altLang="en-US" sz="2800" dirty="0" smtClean="0"/>
              <a:t>）</a:t>
            </a:r>
            <a:endParaRPr kumimoji="1"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683568" y="1538789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オブジェクト指向言語</a:t>
            </a:r>
            <a:r>
              <a:rPr lang="en-US" altLang="ja-JP" sz="2800" dirty="0" smtClean="0"/>
              <a:t>(object-oriented language)</a:t>
            </a:r>
            <a:r>
              <a:rPr lang="ja-JP" altLang="en-US" sz="2800" dirty="0" smtClean="0"/>
              <a:t>は、オブジェクトを持ち、以下の４つの特徴を持つ。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注意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27584" y="1556792"/>
            <a:ext cx="77048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Subtyping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inheritance</a:t>
            </a:r>
            <a:r>
              <a:rPr lang="ja-JP" altLang="en-US" sz="2800" dirty="0" smtClean="0"/>
              <a:t>は異なる概念である。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（例）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Queue --- first-in, first-out</a:t>
            </a:r>
          </a:p>
          <a:p>
            <a:r>
              <a:rPr lang="en-US" altLang="ja-JP" sz="2800" dirty="0" smtClean="0"/>
              <a:t>Stack --- last-in, first-out</a:t>
            </a:r>
          </a:p>
          <a:p>
            <a:r>
              <a:rPr lang="en-US" altLang="ja-JP" sz="2800" dirty="0" err="1" smtClean="0"/>
              <a:t>Dequeue</a:t>
            </a:r>
            <a:r>
              <a:rPr lang="en-US" altLang="ja-JP" sz="2800" dirty="0" smtClean="0"/>
              <a:t> ---</a:t>
            </a:r>
            <a:r>
              <a:rPr lang="ja-JP" altLang="en-US" sz="2800" dirty="0" smtClean="0"/>
              <a:t> 両端から出し入れ可能な</a:t>
            </a:r>
            <a:r>
              <a:rPr lang="en-US" altLang="ja-JP" sz="2800" dirty="0" smtClean="0"/>
              <a:t>queue</a:t>
            </a:r>
          </a:p>
          <a:p>
            <a:endParaRPr lang="en-US" altLang="ja-JP" sz="2800" dirty="0" smtClean="0"/>
          </a:p>
          <a:p>
            <a:r>
              <a:rPr lang="en-US" altLang="ja-JP" sz="2800" dirty="0" err="1" smtClean="0"/>
              <a:t>Dequeue</a:t>
            </a:r>
            <a:r>
              <a:rPr lang="ja-JP" altLang="en-US" sz="2800" dirty="0" smtClean="0"/>
              <a:t>の派生クラスとして</a:t>
            </a:r>
            <a:r>
              <a:rPr lang="en-US" altLang="ja-JP" sz="2800" dirty="0" smtClean="0"/>
              <a:t>Queue</a:t>
            </a:r>
            <a:r>
              <a:rPr lang="ja-JP" altLang="en-US" sz="2800" dirty="0" smtClean="0"/>
              <a:t>クラスと</a:t>
            </a:r>
            <a:r>
              <a:rPr lang="en-US" altLang="ja-JP" sz="2800" dirty="0" smtClean="0"/>
              <a:t>Stack</a:t>
            </a:r>
            <a:r>
              <a:rPr lang="ja-JP" altLang="en-US" sz="2800" dirty="0" smtClean="0"/>
              <a:t>クラスを実装することができる</a:t>
            </a:r>
            <a:r>
              <a:rPr lang="en-US" altLang="ja-JP" sz="2800" dirty="0" smtClean="0"/>
              <a:t>(private</a:t>
            </a:r>
            <a:r>
              <a:rPr lang="ja-JP" altLang="en-US" sz="2800" dirty="0" smtClean="0"/>
              <a:t>な継承を使って必要なメソッドのみ</a:t>
            </a:r>
            <a:r>
              <a:rPr lang="en-US" altLang="ja-JP" sz="2800" dirty="0" smtClean="0"/>
              <a:t>public</a:t>
            </a:r>
            <a:r>
              <a:rPr lang="ja-JP" altLang="en-US" sz="2800" dirty="0" smtClean="0"/>
              <a:t>にすれば</a:t>
            </a:r>
            <a:r>
              <a:rPr lang="en-US" altLang="ja-JP" sz="2800" dirty="0" smtClean="0"/>
              <a:t>)</a:t>
            </a:r>
            <a:r>
              <a:rPr lang="ja-JP" altLang="en-US" sz="2800" dirty="0" err="1" smtClean="0"/>
              <a:t>。</a:t>
            </a:r>
            <a:endParaRPr lang="en-US" altLang="ja-JP" sz="2800" dirty="0" smtClean="0"/>
          </a:p>
          <a:p>
            <a:r>
              <a:rPr lang="ja-JP" altLang="en-US" sz="2800" dirty="0" smtClean="0"/>
              <a:t>しかし、</a:t>
            </a:r>
            <a:r>
              <a:rPr lang="en-US" altLang="ja-JP" sz="2800" dirty="0" smtClean="0"/>
              <a:t>Queue, Stack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Dequeue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subtype</a:t>
            </a:r>
            <a:r>
              <a:rPr lang="ja-JP" altLang="en-US" sz="2800" dirty="0" smtClean="0"/>
              <a:t>ではない。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（参考）</a:t>
            </a:r>
            <a:r>
              <a:rPr kumimoji="1" lang="en-US" altLang="ja-JP" dirty="0" smtClean="0"/>
              <a:t>Dat</a:t>
            </a:r>
            <a:r>
              <a:rPr lang="en-US" altLang="ja-JP" dirty="0" smtClean="0"/>
              <a:t>a invariant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384177"/>
            <a:ext cx="8229600" cy="305293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制御がオブジェクト内にないときに常に成り立つ性質</a:t>
            </a:r>
            <a:endParaRPr kumimoji="1" lang="en-US" altLang="ja-JP" dirty="0" smtClean="0"/>
          </a:p>
          <a:p>
            <a:r>
              <a:rPr lang="ja-JP" altLang="en-US" dirty="0" smtClean="0"/>
              <a:t>（例） </a:t>
            </a:r>
            <a:r>
              <a:rPr lang="en-US" altLang="ja-JP" dirty="0" smtClean="0"/>
              <a:t>bounded buffer</a:t>
            </a:r>
            <a:r>
              <a:rPr lang="ja-JP" altLang="en-US" dirty="0" smtClean="0"/>
              <a:t>（長さ制限付き</a:t>
            </a:r>
            <a:r>
              <a:rPr lang="en-US" altLang="ja-JP" dirty="0" smtClean="0"/>
              <a:t>queue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put(x), get()</a:t>
            </a:r>
            <a:r>
              <a:rPr lang="ja-JP" altLang="en-US" dirty="0" smtClean="0"/>
              <a:t>の２つのメソッドからなる。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配列に要素を格納し、</a:t>
            </a:r>
            <a:r>
              <a:rPr lang="en-US" altLang="ja-JP" dirty="0" smtClean="0"/>
              <a:t>front</a:t>
            </a:r>
            <a:r>
              <a:rPr lang="ja-JP" altLang="en-US" dirty="0" smtClean="0"/>
              <a:t>と</a:t>
            </a:r>
            <a:r>
              <a:rPr lang="en-US" altLang="ja-JP" dirty="0" smtClean="0"/>
              <a:t>rear</a:t>
            </a:r>
            <a:r>
              <a:rPr lang="ja-JP" altLang="en-US" dirty="0" smtClean="0"/>
              <a:t>で範囲を示す。配列の最後の要素の次は最初の要素とする。</a:t>
            </a: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96321" y="6165304"/>
            <a:ext cx="790812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オブジェクトは、</a:t>
            </a:r>
            <a:r>
              <a:rPr kumimoji="1" lang="en-US" altLang="ja-JP" sz="2800" dirty="0" smtClean="0"/>
              <a:t>data invariant</a:t>
            </a:r>
            <a:r>
              <a:rPr kumimoji="1" lang="ja-JP" altLang="en-US" sz="2800" dirty="0" smtClean="0"/>
              <a:t>を考慮しつつ設計する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251520" y="4365104"/>
            <a:ext cx="8676456" cy="15573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ja-JP" altLang="en-US" sz="2800" dirty="0" smtClean="0">
                <a:solidFill>
                  <a:prstClr val="black"/>
                </a:solidFill>
              </a:rPr>
              <a:t> バッファーは</a:t>
            </a:r>
            <a:r>
              <a:rPr lang="en-US" altLang="ja-JP" sz="2800" dirty="0" smtClean="0">
                <a:solidFill>
                  <a:prstClr val="black"/>
                </a:solidFill>
              </a:rPr>
              <a:t>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と</a:t>
            </a:r>
            <a:r>
              <a:rPr lang="en-US" altLang="ja-JP" sz="2800" dirty="0" smtClean="0">
                <a:solidFill>
                  <a:prstClr val="black"/>
                </a:solidFill>
              </a:rPr>
              <a:t>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が等しいとき空</a:t>
            </a:r>
            <a:endParaRPr lang="en-US" altLang="ja-JP" sz="2800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en-US" altLang="ja-JP" sz="2800" dirty="0" smtClean="0">
                <a:solidFill>
                  <a:prstClr val="black"/>
                </a:solidFill>
              </a:rPr>
              <a:t> 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の次の要素が</a:t>
            </a:r>
            <a:r>
              <a:rPr lang="en-US" altLang="ja-JP" sz="2800" dirty="0" smtClean="0">
                <a:solidFill>
                  <a:prstClr val="black"/>
                </a:solidFill>
              </a:rPr>
              <a:t>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のときバッファーは一杯</a:t>
            </a:r>
            <a:endParaRPr lang="en-US" altLang="ja-JP" sz="2800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en-US" altLang="ja-JP" sz="2800" dirty="0" smtClean="0">
                <a:solidFill>
                  <a:prstClr val="black"/>
                </a:solidFill>
              </a:rPr>
              <a:t> 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と</a:t>
            </a:r>
            <a:r>
              <a:rPr lang="en-US" altLang="ja-JP" sz="2800" dirty="0" smtClean="0">
                <a:solidFill>
                  <a:prstClr val="black"/>
                </a:solidFill>
              </a:rPr>
              <a:t>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の間に、入力された順に要素が並んでいる。</a:t>
            </a:r>
            <a:endParaRPr lang="ja-JP" altLang="en-US" sz="28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2348</Words>
  <Application>Microsoft Office PowerPoint</Application>
  <PresentationFormat>画面に合わせる (4:3)</PresentationFormat>
  <Paragraphs>261</Paragraphs>
  <Slides>24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プログラムの分割</vt:lpstr>
      <vt:lpstr>（参考）Opaque type</vt:lpstr>
      <vt:lpstr>C++におけるクラス</vt:lpstr>
      <vt:lpstr>C++でのクラス宣言</vt:lpstr>
      <vt:lpstr>クラス宣言の例</vt:lpstr>
      <vt:lpstr>オブジェクトの生成、破棄</vt:lpstr>
      <vt:lpstr>例: 後ろからも要素を追加可能なリスト</vt:lpstr>
      <vt:lpstr>例（続き）</vt:lpstr>
      <vt:lpstr>テンプレート（例）</vt:lpstr>
      <vt:lpstr>CとC++</vt:lpstr>
      <vt:lpstr>CとC++（続き）</vt:lpstr>
      <vt:lpstr>CとC++（続き）</vt:lpstr>
      <vt:lpstr>オブジェクト指向</vt:lpstr>
      <vt:lpstr>オブジェクト指向</vt:lpstr>
      <vt:lpstr>クラスの階層構造</vt:lpstr>
      <vt:lpstr>継承(inheritance)</vt:lpstr>
      <vt:lpstr>C++の例</vt:lpstr>
      <vt:lpstr>仮想関数(virtual function)</vt:lpstr>
      <vt:lpstr>補足</vt:lpstr>
      <vt:lpstr>C++の特徴</vt:lpstr>
      <vt:lpstr>オブジェクト指向言語のまとめ</vt:lpstr>
      <vt:lpstr>注意</vt:lpstr>
      <vt:lpstr>（参考）Data invariant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308</cp:revision>
  <dcterms:created xsi:type="dcterms:W3CDTF">2010-11-04T09:52:56Z</dcterms:created>
  <dcterms:modified xsi:type="dcterms:W3CDTF">2011-01-10T06:26:36Z</dcterms:modified>
</cp:coreProperties>
</file>