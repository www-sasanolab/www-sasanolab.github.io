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3" r:id="rId3"/>
    <p:sldId id="262" r:id="rId4"/>
    <p:sldId id="264" r:id="rId5"/>
    <p:sldId id="265" r:id="rId6"/>
    <p:sldId id="266" r:id="rId7"/>
    <p:sldId id="270" r:id="rId8"/>
    <p:sldId id="267" r:id="rId9"/>
    <p:sldId id="268" r:id="rId10"/>
    <p:sldId id="271" r:id="rId11"/>
    <p:sldId id="272" r:id="rId12"/>
    <p:sldId id="273" r:id="rId13"/>
    <p:sldId id="274" r:id="rId14"/>
    <p:sldId id="275" r:id="rId15"/>
    <p:sldId id="276" r:id="rId16"/>
    <p:sldId id="277" r:id="rId17"/>
    <p:sldId id="286" r:id="rId18"/>
    <p:sldId id="278" r:id="rId19"/>
    <p:sldId id="285" r:id="rId20"/>
    <p:sldId id="279" r:id="rId21"/>
    <p:sldId id="280" r:id="rId22"/>
    <p:sldId id="283" r:id="rId23"/>
    <p:sldId id="281" r:id="rId24"/>
    <p:sldId id="282" r:id="rId25"/>
  </p:sldIdLst>
  <p:sldSz cx="9144000" cy="6858000" type="screen4x3"/>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94"/>
  </p:normalViewPr>
  <p:slideViewPr>
    <p:cSldViewPr>
      <p:cViewPr varScale="1">
        <p:scale>
          <a:sx n="121" d="100"/>
          <a:sy n="121" d="100"/>
        </p:scale>
        <p:origin x="1904" y="176"/>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685800" y="2130425"/>
            <a:ext cx="7772400" cy="1470025"/>
          </a:xfrm>
        </p:spPr>
        <p:txBody>
          <a:bodyPr/>
          <a:lstStyle/>
          <a:p>
            <a:r>
              <a:rPr kumimoji="1" lang="ja-JP" altLang="en-US"/>
              <a:t>マスタ タイトルの書式設定</a:t>
            </a:r>
          </a:p>
        </p:txBody>
      </p:sp>
      <p:sp>
        <p:nvSpPr>
          <p:cNvPr id="3" name="サブタイトル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kumimoji="1" lang="ja-JP" altLang="en-US"/>
              <a:t>マスタ サブタイトルの書式設定</a:t>
            </a:r>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2026/9/28</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 タイトルの書式設定</a:t>
            </a:r>
          </a:p>
        </p:txBody>
      </p:sp>
      <p:sp>
        <p:nvSpPr>
          <p:cNvPr id="3" name="コンテンツ プレースホルダ 2"/>
          <p:cNvSpPr>
            <a:spLocks noGrp="1"/>
          </p:cNvSpPr>
          <p:nvPr>
            <p:ph idx="1"/>
          </p:nvPr>
        </p:nvSpPr>
        <p:spPr/>
        <p:txBody>
          <a:bodyPr/>
          <a:lstStyle/>
          <a:p>
            <a:pPr lvl="0"/>
            <a:r>
              <a:rPr kumimoji="1" lang="ja-JP" altLang="en-US"/>
              <a:t>マスタ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2026/9/28</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722313" y="4406900"/>
            <a:ext cx="7772400" cy="1362075"/>
          </a:xfrm>
        </p:spPr>
        <p:txBody>
          <a:bodyPr anchor="t"/>
          <a:lstStyle>
            <a:lvl1pPr algn="l">
              <a:defRPr sz="4000" b="1" cap="all"/>
            </a:lvl1pPr>
          </a:lstStyle>
          <a:p>
            <a:r>
              <a:rPr kumimoji="1" lang="ja-JP" altLang="en-US"/>
              <a:t>マスタ タイトルの書式設定</a:t>
            </a:r>
          </a:p>
        </p:txBody>
      </p:sp>
      <p:sp>
        <p:nvSpPr>
          <p:cNvPr id="3" name="テキスト プレースホル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kumimoji="1" lang="ja-JP" altLang="en-US"/>
              <a:t>マスタ テキストの書式設定</a:t>
            </a:r>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2026/9/28</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 タイトルの書式設定</a:t>
            </a:r>
          </a:p>
        </p:txBody>
      </p:sp>
      <p:sp>
        <p:nvSpPr>
          <p:cNvPr id="3" name="コンテンツ プレースホル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a:t>マスタ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a:t>マスタ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2026/9/28</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lvl1pPr>
              <a:defRPr/>
            </a:lvl1pPr>
          </a:lstStyle>
          <a:p>
            <a:r>
              <a:rPr kumimoji="1" lang="ja-JP" altLang="en-US"/>
              <a:t>マスタ タイトルの書式設定</a:t>
            </a:r>
          </a:p>
        </p:txBody>
      </p:sp>
      <p:sp>
        <p:nvSpPr>
          <p:cNvPr id="3" name="テキスト プレースホル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 テキストの書式設定</a:t>
            </a:r>
          </a:p>
        </p:txBody>
      </p:sp>
      <p:sp>
        <p:nvSpPr>
          <p:cNvPr id="4" name="コンテンツ プレースホル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a:t>マスタ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 テキストの書式設定</a:t>
            </a:r>
          </a:p>
        </p:txBody>
      </p:sp>
      <p:sp>
        <p:nvSpPr>
          <p:cNvPr id="6" name="コンテンツ プレースホル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a:t>マスタ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 6"/>
          <p:cNvSpPr>
            <a:spLocks noGrp="1"/>
          </p:cNvSpPr>
          <p:nvPr>
            <p:ph type="dt" sz="half" idx="10"/>
          </p:nvPr>
        </p:nvSpPr>
        <p:spPr/>
        <p:txBody>
          <a:bodyPr/>
          <a:lstStyle/>
          <a:p>
            <a:fld id="{E90ED720-0104-4369-84BC-D37694168613}" type="datetimeFigureOut">
              <a:rPr kumimoji="1" lang="ja-JP" altLang="en-US" smtClean="0"/>
              <a:pPr/>
              <a:t>2026/9/28</a:t>
            </a:fld>
            <a:endParaRPr kumimoji="1" lang="ja-JP" altLang="en-US"/>
          </a:p>
        </p:txBody>
      </p:sp>
      <p:sp>
        <p:nvSpPr>
          <p:cNvPr id="8" name="フッター プレースホルダ 7"/>
          <p:cNvSpPr>
            <a:spLocks noGrp="1"/>
          </p:cNvSpPr>
          <p:nvPr>
            <p:ph type="ftr" sz="quarter" idx="11"/>
          </p:nvPr>
        </p:nvSpPr>
        <p:spPr/>
        <p:txBody>
          <a:bodyPr/>
          <a:lstStyle/>
          <a:p>
            <a:endParaRPr kumimoji="1" lang="ja-JP" altLang="en-US"/>
          </a:p>
        </p:txBody>
      </p:sp>
      <p:sp>
        <p:nvSpPr>
          <p:cNvPr id="9" name="スライド番号プレースホルダ 8"/>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 タイトルの書式設定</a:t>
            </a:r>
          </a:p>
        </p:txBody>
      </p:sp>
      <p:sp>
        <p:nvSpPr>
          <p:cNvPr id="3" name="日付プレースホルダ 2"/>
          <p:cNvSpPr>
            <a:spLocks noGrp="1"/>
          </p:cNvSpPr>
          <p:nvPr>
            <p:ph type="dt" sz="half" idx="10"/>
          </p:nvPr>
        </p:nvSpPr>
        <p:spPr/>
        <p:txBody>
          <a:bodyPr/>
          <a:lstStyle/>
          <a:p>
            <a:fld id="{E90ED720-0104-4369-84BC-D37694168613}" type="datetimeFigureOut">
              <a:rPr kumimoji="1" lang="ja-JP" altLang="en-US" smtClean="0"/>
              <a:pPr/>
              <a:t>2026/9/28</a:t>
            </a:fld>
            <a:endParaRPr kumimoji="1" lang="ja-JP" altLang="en-US"/>
          </a:p>
        </p:txBody>
      </p:sp>
      <p:sp>
        <p:nvSpPr>
          <p:cNvPr id="4" name="フッター プレースホルダ 3"/>
          <p:cNvSpPr>
            <a:spLocks noGrp="1"/>
          </p:cNvSpPr>
          <p:nvPr>
            <p:ph type="ftr" sz="quarter" idx="11"/>
          </p:nvPr>
        </p:nvSpPr>
        <p:spPr/>
        <p:txBody>
          <a:bodyPr/>
          <a:lstStyle/>
          <a:p>
            <a:endParaRPr kumimoji="1" lang="ja-JP" altLang="en-US"/>
          </a:p>
        </p:txBody>
      </p:sp>
      <p:sp>
        <p:nvSpPr>
          <p:cNvPr id="5" name="スライド番号プレースホルダ 4"/>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 1"/>
          <p:cNvSpPr>
            <a:spLocks noGrp="1"/>
          </p:cNvSpPr>
          <p:nvPr>
            <p:ph type="dt" sz="half" idx="10"/>
          </p:nvPr>
        </p:nvSpPr>
        <p:spPr/>
        <p:txBody>
          <a:bodyPr/>
          <a:lstStyle/>
          <a:p>
            <a:fld id="{E90ED720-0104-4369-84BC-D37694168613}" type="datetimeFigureOut">
              <a:rPr kumimoji="1" lang="ja-JP" altLang="en-US" smtClean="0"/>
              <a:pPr/>
              <a:t>2026/9/28</a:t>
            </a:fld>
            <a:endParaRPr kumimoji="1" lang="ja-JP" altLang="en-US"/>
          </a:p>
        </p:txBody>
      </p:sp>
      <p:sp>
        <p:nvSpPr>
          <p:cNvPr id="3" name="フッター プレースホルダ 2"/>
          <p:cNvSpPr>
            <a:spLocks noGrp="1"/>
          </p:cNvSpPr>
          <p:nvPr>
            <p:ph type="ftr" sz="quarter" idx="11"/>
          </p:nvPr>
        </p:nvSpPr>
        <p:spPr/>
        <p:txBody>
          <a:bodyPr/>
          <a:lstStyle/>
          <a:p>
            <a:endParaRPr kumimoji="1" lang="ja-JP" altLang="en-US"/>
          </a:p>
        </p:txBody>
      </p:sp>
      <p:sp>
        <p:nvSpPr>
          <p:cNvPr id="4" name="スライド番号プレースホルダ 3"/>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3050"/>
            <a:ext cx="3008313" cy="1162050"/>
          </a:xfrm>
        </p:spPr>
        <p:txBody>
          <a:bodyPr anchor="b"/>
          <a:lstStyle>
            <a:lvl1pPr algn="l">
              <a:defRPr sz="2000" b="1"/>
            </a:lvl1pPr>
          </a:lstStyle>
          <a:p>
            <a:r>
              <a:rPr kumimoji="1" lang="ja-JP" altLang="en-US"/>
              <a:t>マスタ タイトルの書式設定</a:t>
            </a:r>
          </a:p>
        </p:txBody>
      </p:sp>
      <p:sp>
        <p:nvSpPr>
          <p:cNvPr id="3" name="コンテンツ プレースホル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a:t>マスタ テキストの書式設定</a:t>
            </a:r>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2026/9/28</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1792288" y="4800600"/>
            <a:ext cx="5486400" cy="566738"/>
          </a:xfrm>
        </p:spPr>
        <p:txBody>
          <a:bodyPr anchor="b"/>
          <a:lstStyle>
            <a:lvl1pPr algn="l">
              <a:defRPr sz="2000" b="1"/>
            </a:lvl1pPr>
          </a:lstStyle>
          <a:p>
            <a:r>
              <a:rPr kumimoji="1" lang="ja-JP" altLang="en-US"/>
              <a:t>マスタ タイトルの書式設定</a:t>
            </a:r>
          </a:p>
        </p:txBody>
      </p:sp>
      <p:sp>
        <p:nvSpPr>
          <p:cNvPr id="3" name="図プレースホル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a:t>マスタ テキストの書式設定</a:t>
            </a:r>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2026/9/28</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 タイトルの書式設定</a:t>
            </a:r>
          </a:p>
        </p:txBody>
      </p:sp>
      <p:sp>
        <p:nvSpPr>
          <p:cNvPr id="3" name="縦書きテキスト プレースホルダ 2"/>
          <p:cNvSpPr>
            <a:spLocks noGrp="1"/>
          </p:cNvSpPr>
          <p:nvPr>
            <p:ph type="body" orient="vert" idx="1"/>
          </p:nvPr>
        </p:nvSpPr>
        <p:spPr/>
        <p:txBody>
          <a:bodyPr vert="eaVert"/>
          <a:lstStyle/>
          <a:p>
            <a:pPr lvl="0"/>
            <a:r>
              <a:rPr kumimoji="1" lang="ja-JP" altLang="en-US"/>
              <a:t>マスタ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2026/9/28</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6629400" y="274638"/>
            <a:ext cx="2057400" cy="5851525"/>
          </a:xfrm>
        </p:spPr>
        <p:txBody>
          <a:bodyPr vert="eaVert"/>
          <a:lstStyle/>
          <a:p>
            <a:r>
              <a:rPr kumimoji="1" lang="ja-JP" altLang="en-US"/>
              <a:t>マスタ タイトルの書式設定</a:t>
            </a:r>
          </a:p>
        </p:txBody>
      </p:sp>
      <p:sp>
        <p:nvSpPr>
          <p:cNvPr id="3" name="縦書きテキスト プレースホルダ 2"/>
          <p:cNvSpPr>
            <a:spLocks noGrp="1"/>
          </p:cNvSpPr>
          <p:nvPr>
            <p:ph type="body" orient="vert" idx="1"/>
          </p:nvPr>
        </p:nvSpPr>
        <p:spPr>
          <a:xfrm>
            <a:off x="457200" y="274638"/>
            <a:ext cx="6019800" cy="5851525"/>
          </a:xfrm>
        </p:spPr>
        <p:txBody>
          <a:bodyPr vert="eaVert"/>
          <a:lstStyle/>
          <a:p>
            <a:pPr lvl="0"/>
            <a:r>
              <a:rPr kumimoji="1" lang="ja-JP" altLang="en-US"/>
              <a:t>マスタ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2026/9/28</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kumimoji="1" lang="ja-JP" altLang="en-US"/>
              <a:t>マスタ タイトルの書式設定</a:t>
            </a:r>
          </a:p>
        </p:txBody>
      </p:sp>
      <p:sp>
        <p:nvSpPr>
          <p:cNvPr id="3" name="テキスト プレースホル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kumimoji="1" lang="ja-JP" altLang="en-US"/>
              <a:t>マスタ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90ED720-0104-4369-84BC-D37694168613}" type="datetimeFigureOut">
              <a:rPr kumimoji="1" lang="ja-JP" altLang="en-US" smtClean="0"/>
              <a:pPr/>
              <a:t>2026/9/28</a:t>
            </a:fld>
            <a:endParaRPr kumimoji="1" lang="ja-JP" altLang="en-US"/>
          </a:p>
        </p:txBody>
      </p:sp>
      <p:sp>
        <p:nvSpPr>
          <p:cNvPr id="5" name="フッター プレースホル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2D8002D-B5B0-4BAC-B1F6-782DDCCE6D9C}" type="slidenum">
              <a:rPr kumimoji="1" lang="ja-JP" altLang="en-US" smtClean="0"/>
              <a:pPr/>
              <a:t>‹#›</a:t>
            </a:fld>
            <a:endParaRPr kumimoji="1" lang="ja-JP"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kumimoji="1"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kumimoji="1"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kumimoji="1"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kumimoji="1"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a:xfrm>
            <a:off x="714348" y="1500174"/>
            <a:ext cx="7672414" cy="3357586"/>
          </a:xfrm>
        </p:spPr>
        <p:txBody>
          <a:bodyPr>
            <a:normAutofit/>
          </a:bodyPr>
          <a:lstStyle/>
          <a:p>
            <a:r>
              <a:rPr lang="ja-JP" altLang="en-US" dirty="0"/>
              <a:t>プログラミング言語論</a:t>
            </a:r>
            <a:br>
              <a:rPr lang="en-US" altLang="ja-JP" dirty="0"/>
            </a:br>
            <a:r>
              <a:rPr lang="ja-JP" altLang="en-US" dirty="0"/>
              <a:t>第４回</a:t>
            </a:r>
            <a:br>
              <a:rPr lang="en-US" altLang="ja-JP" dirty="0"/>
            </a:br>
            <a:r>
              <a:rPr lang="ja-JP" altLang="en-US" dirty="0"/>
              <a:t>手続きの引数機構</a:t>
            </a:r>
            <a:br>
              <a:rPr lang="en-US" altLang="ja-JP" dirty="0"/>
            </a:br>
            <a:r>
              <a:rPr lang="ja-JP" altLang="en-US" dirty="0"/>
              <a:t>変数の有効範囲</a:t>
            </a:r>
            <a:endParaRPr kumimoji="1" lang="ja-JP" altLang="en-US" dirty="0"/>
          </a:p>
        </p:txBody>
      </p:sp>
      <p:sp>
        <p:nvSpPr>
          <p:cNvPr id="4" name="テキスト ボックス 3"/>
          <p:cNvSpPr txBox="1"/>
          <p:nvPr/>
        </p:nvSpPr>
        <p:spPr>
          <a:xfrm>
            <a:off x="3821634" y="5301208"/>
            <a:ext cx="1500732" cy="523220"/>
          </a:xfrm>
          <a:prstGeom prst="rect">
            <a:avLst/>
          </a:prstGeom>
          <a:noFill/>
        </p:spPr>
        <p:txBody>
          <a:bodyPr wrap="none" rtlCol="0">
            <a:spAutoFit/>
          </a:bodyPr>
          <a:lstStyle/>
          <a:p>
            <a:pPr algn="ctr"/>
            <a:r>
              <a:rPr kumimoji="1" lang="ja-JP" altLang="en-US" sz="2800"/>
              <a:t>篠埜　</a:t>
            </a:r>
            <a:r>
              <a:rPr kumimoji="1" lang="ja-JP" altLang="en-US" sz="2800" dirty="0"/>
              <a:t>功</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変数名</a:t>
            </a:r>
            <a:r>
              <a:rPr kumimoji="1" lang="ja-JP" altLang="en-US" dirty="0"/>
              <a:t>から値への対応</a:t>
            </a:r>
          </a:p>
        </p:txBody>
      </p:sp>
      <p:sp>
        <p:nvSpPr>
          <p:cNvPr id="4" name="テキスト ボックス 3"/>
          <p:cNvSpPr txBox="1"/>
          <p:nvPr/>
        </p:nvSpPr>
        <p:spPr>
          <a:xfrm>
            <a:off x="357158" y="1357298"/>
            <a:ext cx="8572528" cy="5262980"/>
          </a:xfrm>
          <a:prstGeom prst="rect">
            <a:avLst/>
          </a:prstGeom>
          <a:noFill/>
        </p:spPr>
        <p:txBody>
          <a:bodyPr wrap="square" rtlCol="0">
            <a:spAutoFit/>
          </a:bodyPr>
          <a:lstStyle/>
          <a:p>
            <a:r>
              <a:rPr lang="ja-JP" altLang="en-US" sz="2800" dirty="0"/>
              <a:t>命令型言語において変数名は番地を表す。その番地へアクセスすると値が得られる。</a:t>
            </a:r>
            <a:r>
              <a:rPr kumimoji="1" lang="ja-JP" altLang="en-US" sz="2800" dirty="0"/>
              <a:t>ある変数名に対する番地は、その変数の宣言によって割り当てられる。変数名から宣言、番地への対応は、言語の有効範囲の規則と引数機構によって決まる。</a:t>
            </a:r>
            <a:endParaRPr kumimoji="1" lang="en-US" altLang="ja-JP" sz="2800" dirty="0"/>
          </a:p>
          <a:p>
            <a:r>
              <a:rPr lang="ja-JP" altLang="en-US" sz="2800" dirty="0"/>
              <a:t>変数名の扱いについて、</a:t>
            </a:r>
            <a:r>
              <a:rPr kumimoji="1" lang="ja-JP" altLang="en-US" sz="2800" dirty="0"/>
              <a:t>（プログラミング言語設計者にとって）いくつかの選択肢がある。</a:t>
            </a:r>
            <a:endParaRPr lang="en-US" altLang="ja-JP" sz="2800" dirty="0"/>
          </a:p>
          <a:p>
            <a:endParaRPr kumimoji="1" lang="en-US" altLang="ja-JP" sz="2800" dirty="0"/>
          </a:p>
          <a:p>
            <a:pPr lvl="1">
              <a:buFont typeface="Arial" pitchFamily="34" charset="0"/>
              <a:buChar char="•"/>
            </a:pPr>
            <a:r>
              <a:rPr lang="en-US" altLang="ja-JP" sz="2800" dirty="0"/>
              <a:t> </a:t>
            </a:r>
            <a:r>
              <a:rPr lang="ja-JP" altLang="en-US" sz="2800" dirty="0"/>
              <a:t>手続き呼び出し時の引数の受け渡し方法について</a:t>
            </a:r>
            <a:r>
              <a:rPr lang="en-US" altLang="ja-JP" sz="2800" dirty="0"/>
              <a:t> </a:t>
            </a:r>
          </a:p>
          <a:p>
            <a:pPr lvl="1"/>
            <a:r>
              <a:rPr lang="en-US" altLang="ja-JP" sz="2800" dirty="0"/>
              <a:t>      call by value, call by reference, call by name</a:t>
            </a:r>
          </a:p>
          <a:p>
            <a:pPr lvl="1">
              <a:buFont typeface="Arial" pitchFamily="34" charset="0"/>
              <a:buChar char="•"/>
            </a:pPr>
            <a:r>
              <a:rPr lang="ja-JP" altLang="en-US" sz="2800" dirty="0"/>
              <a:t> 変数と宣言の対応関係について</a:t>
            </a:r>
            <a:endParaRPr lang="en-US" altLang="ja-JP" sz="2800" dirty="0"/>
          </a:p>
          <a:p>
            <a:pPr marL="1428750" lvl="2" indent="-514350"/>
            <a:r>
              <a:rPr lang="en-US" altLang="ja-JP" sz="2800" dirty="0"/>
              <a:t>Static scope, dynamic scope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手続き</a:t>
            </a:r>
            <a:r>
              <a:rPr kumimoji="1" lang="en-US" altLang="ja-JP" dirty="0"/>
              <a:t>(procedure)</a:t>
            </a:r>
            <a:endParaRPr kumimoji="1" lang="ja-JP" altLang="en-US" dirty="0"/>
          </a:p>
        </p:txBody>
      </p:sp>
      <p:sp>
        <p:nvSpPr>
          <p:cNvPr id="4" name="テキスト ボックス 3"/>
          <p:cNvSpPr txBox="1"/>
          <p:nvPr/>
        </p:nvSpPr>
        <p:spPr>
          <a:xfrm>
            <a:off x="539552" y="1484784"/>
            <a:ext cx="8215370" cy="3108544"/>
          </a:xfrm>
          <a:prstGeom prst="rect">
            <a:avLst/>
          </a:prstGeom>
          <a:noFill/>
        </p:spPr>
        <p:txBody>
          <a:bodyPr wrap="square" rtlCol="0">
            <a:spAutoFit/>
          </a:bodyPr>
          <a:lstStyle/>
          <a:p>
            <a:r>
              <a:rPr lang="ja-JP" altLang="en-US" sz="2800" dirty="0"/>
              <a:t>手続きとは、プログラムの一部に名前を付けるものである。その部分のことを手続きの本体という。手続きが呼ばれると、手続きの本体が実行される。この手続の本体の実行のことを手続きの</a:t>
            </a:r>
            <a:r>
              <a:rPr lang="en-US" altLang="ja-JP" sz="2800" i="1" dirty="0"/>
              <a:t>activation</a:t>
            </a:r>
            <a:r>
              <a:rPr lang="ja-JP" altLang="en-US" sz="2800" dirty="0"/>
              <a:t>という。</a:t>
            </a:r>
            <a:endParaRPr lang="en-US" altLang="ja-JP" sz="2800" dirty="0"/>
          </a:p>
          <a:p>
            <a:r>
              <a:rPr lang="ja-JP" altLang="en-US" sz="2800" dirty="0"/>
              <a:t>関数</a:t>
            </a:r>
            <a:r>
              <a:rPr lang="en-US" altLang="ja-JP" sz="2800" dirty="0"/>
              <a:t>(function)</a:t>
            </a:r>
            <a:r>
              <a:rPr lang="ja-JP" altLang="en-US" sz="2800" dirty="0"/>
              <a:t>は、値を返す手続きのことである。</a:t>
            </a:r>
            <a:endParaRPr lang="en-US" altLang="ja-JP" sz="2800" dirty="0"/>
          </a:p>
          <a:p>
            <a:r>
              <a:rPr lang="ja-JP" altLang="en-US" sz="2800" dirty="0"/>
              <a:t>関数、手続きという用語を区別をしないで用いる場合もある。</a:t>
            </a:r>
            <a:endParaRPr lang="en-US" altLang="ja-JP" sz="2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手続き、関数の呼び出し</a:t>
            </a:r>
          </a:p>
        </p:txBody>
      </p:sp>
      <p:sp>
        <p:nvSpPr>
          <p:cNvPr id="4" name="テキスト ボックス 3"/>
          <p:cNvSpPr txBox="1"/>
          <p:nvPr/>
        </p:nvSpPr>
        <p:spPr>
          <a:xfrm>
            <a:off x="785786" y="1428736"/>
            <a:ext cx="7786742" cy="3539430"/>
          </a:xfrm>
          <a:prstGeom prst="rect">
            <a:avLst/>
          </a:prstGeom>
          <a:noFill/>
        </p:spPr>
        <p:txBody>
          <a:bodyPr wrap="square" rtlCol="0">
            <a:spAutoFit/>
          </a:bodyPr>
          <a:lstStyle/>
          <a:p>
            <a:r>
              <a:rPr lang="ja-JP" altLang="en-US" sz="2800" dirty="0"/>
              <a:t>関数呼び出しは式であり、手続き呼び出しは文である。</a:t>
            </a:r>
            <a:endParaRPr lang="en-US" altLang="ja-JP" sz="2800" dirty="0"/>
          </a:p>
          <a:p>
            <a:r>
              <a:rPr lang="ja-JP" altLang="en-US" sz="2800" dirty="0"/>
              <a:t>（例１） </a:t>
            </a:r>
            <a:r>
              <a:rPr lang="en-US" altLang="ja-JP" sz="2800" dirty="0"/>
              <a:t>r * sin (angle)</a:t>
            </a:r>
          </a:p>
          <a:p>
            <a:r>
              <a:rPr kumimoji="1" lang="en-US" altLang="ja-JP" sz="2800" dirty="0"/>
              <a:t>    sin (angle)</a:t>
            </a:r>
            <a:r>
              <a:rPr lang="ja-JP" altLang="en-US" sz="2800" dirty="0"/>
              <a:t> は関数呼び出し式である。式なので、式が書ける部分に自由に書くことができる。</a:t>
            </a:r>
            <a:endParaRPr lang="en-US" altLang="ja-JP" sz="2800" dirty="0"/>
          </a:p>
          <a:p>
            <a:r>
              <a:rPr kumimoji="1" lang="ja-JP" altLang="en-US" sz="2800" dirty="0"/>
              <a:t>（例２） </a:t>
            </a:r>
            <a:r>
              <a:rPr kumimoji="1" lang="en-US" altLang="ja-JP" sz="2800" dirty="0"/>
              <a:t>read (</a:t>
            </a:r>
            <a:r>
              <a:rPr kumimoji="1" lang="en-US" altLang="ja-JP" sz="2800" dirty="0" err="1"/>
              <a:t>ch</a:t>
            </a:r>
            <a:r>
              <a:rPr kumimoji="1" lang="en-US" altLang="ja-JP" sz="2800" dirty="0"/>
              <a:t>)</a:t>
            </a:r>
          </a:p>
          <a:p>
            <a:r>
              <a:rPr lang="en-US" altLang="ja-JP" sz="2800" dirty="0"/>
              <a:t>    read (</a:t>
            </a:r>
            <a:r>
              <a:rPr lang="en-US" altLang="ja-JP" sz="2800" dirty="0" err="1"/>
              <a:t>ch</a:t>
            </a:r>
            <a:r>
              <a:rPr lang="en-US" altLang="ja-JP" sz="2800" dirty="0"/>
              <a:t>) </a:t>
            </a:r>
            <a:r>
              <a:rPr lang="ja-JP" altLang="en-US" sz="2800" dirty="0"/>
              <a:t>は手続き呼び出し文である。文なので、文が書ける部分に自由に書くことができる。</a:t>
            </a:r>
            <a:endParaRPr kumimoji="1" lang="ja-JP" altLang="en-US" sz="2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142852"/>
            <a:ext cx="8229600" cy="654032"/>
          </a:xfrm>
        </p:spPr>
        <p:txBody>
          <a:bodyPr>
            <a:normAutofit fontScale="90000"/>
          </a:bodyPr>
          <a:lstStyle/>
          <a:p>
            <a:r>
              <a:rPr kumimoji="1" lang="ja-JP" altLang="en-US" dirty="0"/>
              <a:t>手続き（関数）呼び出しの構文</a:t>
            </a:r>
          </a:p>
        </p:txBody>
      </p:sp>
      <p:sp>
        <p:nvSpPr>
          <p:cNvPr id="4" name="テキスト ボックス 3"/>
          <p:cNvSpPr txBox="1"/>
          <p:nvPr/>
        </p:nvSpPr>
        <p:spPr>
          <a:xfrm>
            <a:off x="285720" y="857232"/>
            <a:ext cx="8501122" cy="523220"/>
          </a:xfrm>
          <a:prstGeom prst="rect">
            <a:avLst/>
          </a:prstGeom>
          <a:noFill/>
        </p:spPr>
        <p:txBody>
          <a:bodyPr wrap="square" rtlCol="0">
            <a:spAutoFit/>
          </a:bodyPr>
          <a:lstStyle/>
          <a:p>
            <a:r>
              <a:rPr kumimoji="1" lang="ja-JP" altLang="en-US" sz="2800" dirty="0"/>
              <a:t>手続き呼び出し文（関数呼び出し式）の構文</a:t>
            </a:r>
            <a:r>
              <a:rPr lang="ja-JP" altLang="en-US" sz="2800" dirty="0"/>
              <a:t>（前置記法）</a:t>
            </a:r>
            <a:endParaRPr kumimoji="1" lang="ja-JP" altLang="en-US" sz="2800" dirty="0"/>
          </a:p>
        </p:txBody>
      </p:sp>
      <p:sp>
        <p:nvSpPr>
          <p:cNvPr id="5" name="テキスト ボックス 4"/>
          <p:cNvSpPr txBox="1"/>
          <p:nvPr/>
        </p:nvSpPr>
        <p:spPr>
          <a:xfrm>
            <a:off x="952516" y="1393612"/>
            <a:ext cx="3905236" cy="523220"/>
          </a:xfrm>
          <a:prstGeom prst="rect">
            <a:avLst/>
          </a:prstGeom>
          <a:noFill/>
          <a:ln>
            <a:solidFill>
              <a:schemeClr val="tx1"/>
            </a:solidFill>
          </a:ln>
        </p:spPr>
        <p:txBody>
          <a:bodyPr wrap="none" rtlCol="0">
            <a:spAutoFit/>
          </a:bodyPr>
          <a:lstStyle/>
          <a:p>
            <a:r>
              <a:rPr kumimoji="1" lang="en-US" altLang="ja-JP" sz="2800" dirty="0"/>
              <a:t> &lt;</a:t>
            </a:r>
            <a:r>
              <a:rPr kumimoji="1" lang="ja-JP" altLang="en-US" sz="2800" dirty="0"/>
              <a:t>手続き名</a:t>
            </a:r>
            <a:r>
              <a:rPr kumimoji="1" lang="en-US" altLang="ja-JP" sz="2800" dirty="0"/>
              <a:t>&gt; ( &lt;</a:t>
            </a:r>
            <a:r>
              <a:rPr kumimoji="1" lang="ja-JP" altLang="en-US" sz="2800" dirty="0"/>
              <a:t>引数列</a:t>
            </a:r>
            <a:r>
              <a:rPr kumimoji="1" lang="en-US" altLang="ja-JP" sz="2800" dirty="0"/>
              <a:t>&gt; )</a:t>
            </a:r>
            <a:endParaRPr kumimoji="1" lang="ja-JP" altLang="en-US" sz="2800" dirty="0"/>
          </a:p>
        </p:txBody>
      </p:sp>
      <p:sp>
        <p:nvSpPr>
          <p:cNvPr id="6" name="テキスト ボックス 5"/>
          <p:cNvSpPr txBox="1"/>
          <p:nvPr/>
        </p:nvSpPr>
        <p:spPr>
          <a:xfrm>
            <a:off x="179512" y="1981283"/>
            <a:ext cx="8893652" cy="4832093"/>
          </a:xfrm>
          <a:prstGeom prst="rect">
            <a:avLst/>
          </a:prstGeom>
          <a:noFill/>
        </p:spPr>
        <p:txBody>
          <a:bodyPr wrap="square" rtlCol="0">
            <a:spAutoFit/>
          </a:bodyPr>
          <a:lstStyle/>
          <a:p>
            <a:r>
              <a:rPr kumimoji="1" lang="ja-JP" altLang="en-US" sz="2800" dirty="0"/>
              <a:t>手続き呼び出し文（関数呼び出し式）における引数は実引数</a:t>
            </a:r>
            <a:r>
              <a:rPr kumimoji="1" lang="en-US" altLang="ja-JP" sz="2800" dirty="0"/>
              <a:t>(actual parameter)</a:t>
            </a:r>
            <a:r>
              <a:rPr kumimoji="1" lang="ja-JP" altLang="en-US" sz="2800" dirty="0"/>
              <a:t>と呼ばれる。</a:t>
            </a:r>
            <a:endParaRPr kumimoji="1" lang="en-US" altLang="ja-JP" sz="2800" dirty="0"/>
          </a:p>
          <a:p>
            <a:r>
              <a:rPr lang="ja-JP" altLang="en-US" sz="2800" dirty="0"/>
              <a:t>（例１） 関数呼び出し式 </a:t>
            </a:r>
            <a:r>
              <a:rPr lang="en-US" altLang="ja-JP" sz="2800" dirty="0"/>
              <a:t>sin (angle) </a:t>
            </a:r>
            <a:r>
              <a:rPr lang="ja-JP" altLang="en-US" sz="2800" dirty="0"/>
              <a:t>において </a:t>
            </a:r>
            <a:r>
              <a:rPr lang="en-US" altLang="ja-JP" sz="2800" dirty="0"/>
              <a:t>angle</a:t>
            </a:r>
            <a:r>
              <a:rPr lang="ja-JP" altLang="en-US" sz="2800" dirty="0"/>
              <a:t>は実引数。</a:t>
            </a:r>
            <a:endParaRPr lang="en-US" altLang="ja-JP" sz="2800" dirty="0"/>
          </a:p>
          <a:p>
            <a:r>
              <a:rPr kumimoji="1" lang="ja-JP" altLang="en-US" sz="2800" dirty="0"/>
              <a:t>（例２） 手続き呼び出し文 </a:t>
            </a:r>
            <a:r>
              <a:rPr kumimoji="1" lang="en-US" altLang="ja-JP" sz="2800" dirty="0"/>
              <a:t>read (</a:t>
            </a:r>
            <a:r>
              <a:rPr kumimoji="1" lang="en-US" altLang="ja-JP" sz="2800" dirty="0" err="1"/>
              <a:t>ch</a:t>
            </a:r>
            <a:r>
              <a:rPr kumimoji="1" lang="en-US" altLang="ja-JP" sz="2800" dirty="0"/>
              <a:t>) </a:t>
            </a:r>
            <a:r>
              <a:rPr kumimoji="1" lang="ja-JP" altLang="en-US" sz="2800" dirty="0"/>
              <a:t>において </a:t>
            </a:r>
            <a:r>
              <a:rPr kumimoji="1" lang="en-US" altLang="ja-JP" sz="2800" dirty="0" err="1"/>
              <a:t>ch</a:t>
            </a:r>
            <a:r>
              <a:rPr kumimoji="1" lang="ja-JP" altLang="en-US" sz="2800" dirty="0"/>
              <a:t>は実引数。</a:t>
            </a:r>
            <a:endParaRPr kumimoji="1" lang="en-US" altLang="ja-JP" sz="2800" dirty="0"/>
          </a:p>
          <a:p>
            <a:r>
              <a:rPr lang="ja-JP" altLang="en-US" sz="2800" dirty="0"/>
              <a:t>手続き（関数）呼び出しにおいて、引数が</a:t>
            </a:r>
            <a:r>
              <a:rPr lang="en-US" altLang="ja-JP" sz="2800" dirty="0"/>
              <a:t>0</a:t>
            </a:r>
            <a:r>
              <a:rPr lang="ja-JP" altLang="en-US" sz="2800" dirty="0"/>
              <a:t>個でも括弧が必須の場合が多い</a:t>
            </a:r>
            <a:r>
              <a:rPr lang="en-US" altLang="ja-JP" sz="2800" dirty="0"/>
              <a:t>(C, Modula-2</a:t>
            </a:r>
            <a:r>
              <a:rPr lang="ja-JP" altLang="en-US" sz="2800" dirty="0"/>
              <a:t>など</a:t>
            </a:r>
            <a:r>
              <a:rPr lang="en-US" altLang="ja-JP" sz="2800" dirty="0"/>
              <a:t>)</a:t>
            </a:r>
            <a:r>
              <a:rPr lang="ja-JP" altLang="en-US" sz="2800" dirty="0" err="1"/>
              <a:t>。</a:t>
            </a:r>
            <a:r>
              <a:rPr lang="en-US" altLang="ja-JP" sz="2800" dirty="0"/>
              <a:t>Pascal</a:t>
            </a:r>
            <a:r>
              <a:rPr lang="ja-JP" altLang="en-US" sz="2800" dirty="0"/>
              <a:t>では引数がない場合は括弧を書かない。</a:t>
            </a:r>
            <a:endParaRPr lang="en-US" altLang="ja-JP" sz="2800" dirty="0"/>
          </a:p>
          <a:p>
            <a:r>
              <a:rPr lang="ja-JP" altLang="en-US" sz="2800" dirty="0"/>
              <a:t>（</a:t>
            </a:r>
            <a:r>
              <a:rPr lang="en-US" altLang="ja-JP" sz="2800" dirty="0"/>
              <a:t>Pascal</a:t>
            </a:r>
            <a:r>
              <a:rPr lang="ja-JP" altLang="en-US" sz="2800" dirty="0"/>
              <a:t>の例） </a:t>
            </a:r>
            <a:r>
              <a:rPr lang="en-US" altLang="ja-JP" sz="2800" b="1" dirty="0"/>
              <a:t>begin while </a:t>
            </a:r>
            <a:r>
              <a:rPr lang="en-US" altLang="ja-JP" sz="2800" dirty="0" err="1"/>
              <a:t>eoln</a:t>
            </a:r>
            <a:r>
              <a:rPr lang="en-US" altLang="ja-JP" sz="2800" dirty="0"/>
              <a:t> </a:t>
            </a:r>
            <a:r>
              <a:rPr lang="en-US" altLang="ja-JP" sz="2800" b="1" dirty="0"/>
              <a:t>do</a:t>
            </a:r>
            <a:r>
              <a:rPr lang="en-US" altLang="ja-JP" sz="2800" dirty="0"/>
              <a:t> </a:t>
            </a:r>
            <a:r>
              <a:rPr lang="en-US" altLang="ja-JP" sz="2800" dirty="0" err="1"/>
              <a:t>readln</a:t>
            </a:r>
            <a:r>
              <a:rPr lang="en-US" altLang="ja-JP" sz="2800" dirty="0"/>
              <a:t>; read(</a:t>
            </a:r>
            <a:r>
              <a:rPr lang="en-US" altLang="ja-JP" sz="2800" dirty="0" err="1"/>
              <a:t>ch</a:t>
            </a:r>
            <a:r>
              <a:rPr lang="en-US" altLang="ja-JP" sz="2800" dirty="0"/>
              <a:t>) </a:t>
            </a:r>
            <a:r>
              <a:rPr lang="en-US" altLang="ja-JP" sz="2800" b="1" dirty="0"/>
              <a:t>end</a:t>
            </a:r>
            <a:r>
              <a:rPr lang="en-US" altLang="ja-JP" sz="2800" dirty="0"/>
              <a:t> </a:t>
            </a:r>
            <a:r>
              <a:rPr lang="ja-JP" altLang="en-US" sz="2800" dirty="0"/>
              <a:t>において、</a:t>
            </a:r>
            <a:r>
              <a:rPr lang="en-US" altLang="ja-JP" sz="2800" dirty="0" err="1"/>
              <a:t>eoln</a:t>
            </a:r>
            <a:r>
              <a:rPr lang="ja-JP" altLang="en-US" sz="2800" dirty="0"/>
              <a:t>は引数無し関数呼び出し式、</a:t>
            </a:r>
            <a:r>
              <a:rPr lang="en-US" altLang="ja-JP" sz="2800" dirty="0" err="1"/>
              <a:t>readln</a:t>
            </a:r>
            <a:r>
              <a:rPr lang="ja-JP" altLang="en-US" sz="2800" dirty="0"/>
              <a:t>は引数無し手続き呼び出し文、</a:t>
            </a:r>
            <a:r>
              <a:rPr lang="en-US" altLang="ja-JP" sz="2800" dirty="0"/>
              <a:t>read(</a:t>
            </a:r>
            <a:r>
              <a:rPr lang="en-US" altLang="ja-JP" sz="2800" dirty="0" err="1"/>
              <a:t>ch</a:t>
            </a:r>
            <a:r>
              <a:rPr lang="en-US" altLang="ja-JP" sz="2800" dirty="0"/>
              <a:t>)</a:t>
            </a:r>
            <a:r>
              <a:rPr lang="ja-JP" altLang="en-US" sz="2800" dirty="0"/>
              <a:t>は引数有手続き呼び出し文。</a:t>
            </a:r>
            <a:endParaRPr lang="en-US" altLang="ja-JP" sz="2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796908"/>
          </a:xfrm>
        </p:spPr>
        <p:txBody>
          <a:bodyPr>
            <a:normAutofit/>
          </a:bodyPr>
          <a:lstStyle/>
          <a:p>
            <a:r>
              <a:rPr kumimoji="1" lang="ja-JP" altLang="en-US" dirty="0"/>
              <a:t>手続きの宣言の構文</a:t>
            </a:r>
          </a:p>
        </p:txBody>
      </p:sp>
      <p:sp>
        <p:nvSpPr>
          <p:cNvPr id="4" name="テキスト ボックス 3"/>
          <p:cNvSpPr txBox="1"/>
          <p:nvPr/>
        </p:nvSpPr>
        <p:spPr>
          <a:xfrm>
            <a:off x="683568" y="1628800"/>
            <a:ext cx="7920880" cy="3970318"/>
          </a:xfrm>
          <a:prstGeom prst="rect">
            <a:avLst/>
          </a:prstGeom>
          <a:noFill/>
        </p:spPr>
        <p:txBody>
          <a:bodyPr wrap="square" rtlCol="0">
            <a:spAutoFit/>
          </a:bodyPr>
          <a:lstStyle/>
          <a:p>
            <a:r>
              <a:rPr kumimoji="1" lang="ja-JP" altLang="en-US" sz="2800" dirty="0"/>
              <a:t>手続き（関数）の宣言の構文定義は、</a:t>
            </a:r>
            <a:r>
              <a:rPr lang="en-US" altLang="ja-JP" sz="2800" dirty="0"/>
              <a:t> </a:t>
            </a:r>
          </a:p>
          <a:p>
            <a:pPr>
              <a:buFont typeface="Arial" pitchFamily="34" charset="0"/>
              <a:buChar char="•"/>
            </a:pPr>
            <a:r>
              <a:rPr lang="ja-JP" altLang="en-US" sz="2800" dirty="0"/>
              <a:t>  手続きの名前</a:t>
            </a:r>
            <a:endParaRPr lang="en-US" altLang="ja-JP" sz="2800" dirty="0"/>
          </a:p>
          <a:p>
            <a:pPr>
              <a:buFont typeface="Arial" pitchFamily="34" charset="0"/>
              <a:buChar char="•"/>
            </a:pPr>
            <a:r>
              <a:rPr lang="en-US" altLang="ja-JP" sz="2800" dirty="0"/>
              <a:t>  </a:t>
            </a:r>
            <a:r>
              <a:rPr lang="ja-JP" altLang="en-US" sz="2800" dirty="0"/>
              <a:t>引数の名前と型</a:t>
            </a:r>
            <a:endParaRPr lang="en-US" altLang="ja-JP" sz="2800" dirty="0"/>
          </a:p>
          <a:p>
            <a:pPr lvl="1"/>
            <a:r>
              <a:rPr lang="en-US" altLang="ja-JP" sz="2800" dirty="0"/>
              <a:t>--- </a:t>
            </a:r>
            <a:r>
              <a:rPr lang="ja-JP" altLang="en-US" sz="2800" dirty="0"/>
              <a:t>この引数は仮引数（</a:t>
            </a:r>
            <a:r>
              <a:rPr lang="en-US" altLang="ja-JP" sz="2800" dirty="0"/>
              <a:t>formal parameter</a:t>
            </a:r>
            <a:r>
              <a:rPr lang="ja-JP" altLang="en-US" sz="2800" dirty="0"/>
              <a:t>）という。</a:t>
            </a:r>
            <a:endParaRPr lang="en-US" altLang="ja-JP" sz="2800" dirty="0"/>
          </a:p>
          <a:p>
            <a:pPr>
              <a:buFont typeface="Arial" pitchFamily="34" charset="0"/>
              <a:buChar char="•"/>
            </a:pPr>
            <a:r>
              <a:rPr lang="en-US" altLang="ja-JP" sz="2800" dirty="0"/>
              <a:t>  </a:t>
            </a:r>
            <a:r>
              <a:rPr lang="ja-JP" altLang="en-US" sz="2800" dirty="0"/>
              <a:t>結果の型（関数の場合）</a:t>
            </a:r>
            <a:endParaRPr lang="en-US" altLang="ja-JP" sz="2800" dirty="0"/>
          </a:p>
          <a:p>
            <a:pPr>
              <a:buFont typeface="Arial" pitchFamily="34" charset="0"/>
              <a:buChar char="•"/>
            </a:pPr>
            <a:r>
              <a:rPr lang="en-US" altLang="ja-JP" sz="2800" dirty="0"/>
              <a:t>  </a:t>
            </a:r>
            <a:r>
              <a:rPr lang="ja-JP" altLang="en-US" sz="2800" dirty="0"/>
              <a:t>局所宣言と文の並び</a:t>
            </a:r>
            <a:endParaRPr lang="en-US" altLang="ja-JP" sz="2800" dirty="0"/>
          </a:p>
          <a:p>
            <a:r>
              <a:rPr lang="ja-JP" altLang="en-US" sz="2800" dirty="0"/>
              <a:t>の４つが明確になるように、（言語設計者が）設計する。</a:t>
            </a:r>
            <a:endParaRPr lang="en-US" altLang="ja-JP" sz="2800" dirty="0"/>
          </a:p>
          <a:p>
            <a:r>
              <a:rPr lang="en-US" altLang="ja-JP" sz="2800" b="1" dirty="0"/>
              <a:t> </a:t>
            </a:r>
            <a:endParaRPr kumimoji="1" lang="ja-JP" altLang="en-US" sz="2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lang="ja-JP" altLang="en-US" dirty="0"/>
              <a:t>手続きの宣言の例</a:t>
            </a:r>
            <a:r>
              <a:rPr lang="en-US" altLang="ja-JP" dirty="0"/>
              <a:t>(Pascal)</a:t>
            </a:r>
            <a:endParaRPr kumimoji="1" lang="ja-JP" altLang="en-US" dirty="0"/>
          </a:p>
        </p:txBody>
      </p:sp>
      <p:sp>
        <p:nvSpPr>
          <p:cNvPr id="4" name="正方形/長方形 3"/>
          <p:cNvSpPr/>
          <p:nvPr/>
        </p:nvSpPr>
        <p:spPr>
          <a:xfrm>
            <a:off x="1214414" y="1571612"/>
            <a:ext cx="5429288" cy="2677656"/>
          </a:xfrm>
          <a:prstGeom prst="rect">
            <a:avLst/>
          </a:prstGeom>
        </p:spPr>
        <p:txBody>
          <a:bodyPr wrap="square">
            <a:spAutoFit/>
          </a:bodyPr>
          <a:lstStyle/>
          <a:p>
            <a:r>
              <a:rPr lang="en-US" altLang="ja-JP" sz="2800" b="1" dirty="0"/>
              <a:t>procedure </a:t>
            </a:r>
            <a:r>
              <a:rPr lang="en-US" altLang="ja-JP" sz="2800" dirty="0" err="1"/>
              <a:t>getch</a:t>
            </a:r>
            <a:r>
              <a:rPr lang="en-US" altLang="ja-JP" sz="2800" dirty="0"/>
              <a:t>;</a:t>
            </a:r>
          </a:p>
          <a:p>
            <a:r>
              <a:rPr lang="en-US" altLang="ja-JP" sz="2800" dirty="0"/>
              <a:t>     </a:t>
            </a:r>
            <a:r>
              <a:rPr lang="en-US" altLang="ja-JP" sz="2800" b="1" dirty="0"/>
              <a:t>begin</a:t>
            </a:r>
          </a:p>
          <a:p>
            <a:r>
              <a:rPr lang="en-US" altLang="ja-JP" sz="2800" dirty="0"/>
              <a:t>         read (</a:t>
            </a:r>
            <a:r>
              <a:rPr lang="en-US" altLang="ja-JP" sz="2800" dirty="0" err="1"/>
              <a:t>ch</a:t>
            </a:r>
            <a:r>
              <a:rPr lang="en-US" altLang="ja-JP" sz="2800" dirty="0"/>
              <a:t>)</a:t>
            </a:r>
          </a:p>
          <a:p>
            <a:r>
              <a:rPr lang="en-US" altLang="ja-JP" sz="2800" dirty="0"/>
              <a:t>     </a:t>
            </a:r>
            <a:r>
              <a:rPr lang="en-US" altLang="ja-JP" sz="2800" b="1" dirty="0"/>
              <a:t>end</a:t>
            </a:r>
            <a:r>
              <a:rPr lang="en-US" altLang="ja-JP" sz="2800" dirty="0"/>
              <a:t>;</a:t>
            </a:r>
          </a:p>
          <a:p>
            <a:r>
              <a:rPr lang="ja-JP" altLang="en-US" sz="2800" dirty="0"/>
              <a:t>これは</a:t>
            </a:r>
            <a:r>
              <a:rPr lang="en-US" altLang="ja-JP" sz="2800" dirty="0" err="1"/>
              <a:t>getch</a:t>
            </a:r>
            <a:r>
              <a:rPr lang="ja-JP" altLang="en-US" sz="2800" dirty="0"/>
              <a:t>という名前の引数無しの手続きの宣言である。</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654032"/>
          </a:xfrm>
        </p:spPr>
        <p:txBody>
          <a:bodyPr>
            <a:normAutofit fontScale="90000"/>
          </a:bodyPr>
          <a:lstStyle/>
          <a:p>
            <a:r>
              <a:rPr lang="ja-JP" altLang="en-US" dirty="0"/>
              <a:t>関数の宣言の例</a:t>
            </a:r>
            <a:r>
              <a:rPr lang="en-US" altLang="ja-JP" dirty="0"/>
              <a:t>(Pascal)</a:t>
            </a:r>
            <a:endParaRPr kumimoji="1" lang="ja-JP" altLang="en-US" dirty="0"/>
          </a:p>
        </p:txBody>
      </p:sp>
      <p:sp>
        <p:nvSpPr>
          <p:cNvPr id="4" name="テキスト ボックス 3"/>
          <p:cNvSpPr txBox="1"/>
          <p:nvPr/>
        </p:nvSpPr>
        <p:spPr>
          <a:xfrm>
            <a:off x="785786" y="4214818"/>
            <a:ext cx="7500990" cy="2246769"/>
          </a:xfrm>
          <a:prstGeom prst="rect">
            <a:avLst/>
          </a:prstGeom>
          <a:noFill/>
        </p:spPr>
        <p:txBody>
          <a:bodyPr wrap="square" rtlCol="0">
            <a:spAutoFit/>
          </a:bodyPr>
          <a:lstStyle/>
          <a:p>
            <a:r>
              <a:rPr kumimoji="1" lang="ja-JP" altLang="en-US" sz="2800" dirty="0"/>
              <a:t>この例では</a:t>
            </a:r>
            <a:r>
              <a:rPr lang="ja-JP" altLang="en-US" sz="2800" dirty="0"/>
              <a:t>、</a:t>
            </a:r>
            <a:r>
              <a:rPr lang="en-US" altLang="ja-JP" sz="2800" dirty="0"/>
              <a:t>f</a:t>
            </a:r>
            <a:r>
              <a:rPr lang="ja-JP" altLang="en-US" sz="2800" dirty="0"/>
              <a:t>という</a:t>
            </a:r>
            <a:r>
              <a:rPr kumimoji="1" lang="ja-JP" altLang="en-US" sz="2800" dirty="0"/>
              <a:t>関数を宣言しており、引数は</a:t>
            </a:r>
            <a:r>
              <a:rPr kumimoji="1" lang="en-US" altLang="ja-JP" sz="2800" dirty="0"/>
              <a:t>integer</a:t>
            </a:r>
            <a:r>
              <a:rPr kumimoji="1" lang="ja-JP" altLang="en-US" sz="2800" dirty="0"/>
              <a:t>型、返り値</a:t>
            </a:r>
            <a:r>
              <a:rPr lang="ja-JP" altLang="en-US" sz="2800" dirty="0"/>
              <a:t>も</a:t>
            </a:r>
            <a:r>
              <a:rPr kumimoji="1" lang="en-US" altLang="ja-JP" sz="2800" dirty="0"/>
              <a:t>integer</a:t>
            </a:r>
            <a:r>
              <a:rPr kumimoji="1" lang="ja-JP" altLang="en-US" sz="2800" dirty="0"/>
              <a:t>型であるということを表している。また、</a:t>
            </a:r>
            <a:r>
              <a:rPr kumimoji="1" lang="en-US" altLang="ja-JP" sz="2800" dirty="0"/>
              <a:t>Pascal</a:t>
            </a:r>
            <a:r>
              <a:rPr lang="ja-JP" altLang="en-US" sz="2800" dirty="0"/>
              <a:t>では、関数名 </a:t>
            </a:r>
            <a:r>
              <a:rPr lang="en-US" altLang="ja-JP" sz="2800" dirty="0"/>
              <a:t>:= …</a:t>
            </a:r>
            <a:r>
              <a:rPr lang="ja-JP" altLang="en-US" sz="2800" dirty="0"/>
              <a:t>という代入文によって、関数の返り値が決まる。</a:t>
            </a:r>
            <a:endParaRPr lang="en-US" altLang="ja-JP" sz="2800" dirty="0"/>
          </a:p>
          <a:p>
            <a:r>
              <a:rPr lang="ja-JP" altLang="en-US" sz="2800" dirty="0"/>
              <a:t>普通は、</a:t>
            </a:r>
            <a:r>
              <a:rPr lang="en-US" altLang="ja-JP" sz="2800" dirty="0"/>
              <a:t>return</a:t>
            </a:r>
            <a:r>
              <a:rPr lang="ja-JP" altLang="en-US" sz="2800" dirty="0"/>
              <a:t>文を用いる（</a:t>
            </a:r>
            <a:r>
              <a:rPr lang="en-US" altLang="ja-JP" sz="2800" dirty="0"/>
              <a:t>C, Modula-2</a:t>
            </a:r>
            <a:r>
              <a:rPr lang="ja-JP" altLang="en-US" sz="2800" dirty="0"/>
              <a:t>など）。</a:t>
            </a:r>
            <a:endParaRPr kumimoji="1" lang="en-US" altLang="ja-JP" sz="2800" dirty="0"/>
          </a:p>
        </p:txBody>
      </p:sp>
      <p:sp>
        <p:nvSpPr>
          <p:cNvPr id="5" name="テキスト ボックス 4"/>
          <p:cNvSpPr txBox="1"/>
          <p:nvPr/>
        </p:nvSpPr>
        <p:spPr>
          <a:xfrm>
            <a:off x="857224" y="1428736"/>
            <a:ext cx="4802277" cy="2677656"/>
          </a:xfrm>
          <a:prstGeom prst="rect">
            <a:avLst/>
          </a:prstGeom>
          <a:noFill/>
        </p:spPr>
        <p:txBody>
          <a:bodyPr wrap="none" rtlCol="0">
            <a:spAutoFit/>
          </a:bodyPr>
          <a:lstStyle/>
          <a:p>
            <a:r>
              <a:rPr lang="en-US" altLang="ja-JP" sz="2800" b="1" dirty="0"/>
              <a:t>f</a:t>
            </a:r>
            <a:r>
              <a:rPr kumimoji="1" lang="en-US" altLang="ja-JP" sz="2800" b="1" dirty="0"/>
              <a:t>unction</a:t>
            </a:r>
            <a:r>
              <a:rPr kumimoji="1" lang="en-US" altLang="ja-JP" sz="2800" dirty="0"/>
              <a:t> f (x : </a:t>
            </a:r>
            <a:r>
              <a:rPr kumimoji="1" lang="en-US" altLang="ja-JP" sz="2800" b="1" dirty="0"/>
              <a:t>integer</a:t>
            </a:r>
            <a:r>
              <a:rPr kumimoji="1" lang="en-US" altLang="ja-JP" sz="2800" dirty="0"/>
              <a:t>) : </a:t>
            </a:r>
            <a:r>
              <a:rPr kumimoji="1" lang="en-US" altLang="ja-JP" sz="2800" b="1" dirty="0"/>
              <a:t>integer</a:t>
            </a:r>
            <a:r>
              <a:rPr kumimoji="1" lang="en-US" altLang="ja-JP" sz="2800" dirty="0"/>
              <a:t>;</a:t>
            </a:r>
          </a:p>
          <a:p>
            <a:r>
              <a:rPr lang="en-US" altLang="ja-JP" sz="2800" b="1" dirty="0" err="1"/>
              <a:t>var</a:t>
            </a:r>
            <a:r>
              <a:rPr lang="en-US" altLang="ja-JP" sz="2800" b="1" dirty="0"/>
              <a:t> </a:t>
            </a:r>
            <a:r>
              <a:rPr lang="en-US" altLang="ja-JP" sz="2800" dirty="0"/>
              <a:t>square : </a:t>
            </a:r>
            <a:r>
              <a:rPr lang="en-US" altLang="ja-JP" sz="2800" b="1" dirty="0"/>
              <a:t>integer</a:t>
            </a:r>
            <a:r>
              <a:rPr lang="en-US" altLang="ja-JP" sz="2800" dirty="0"/>
              <a:t>;</a:t>
            </a:r>
            <a:endParaRPr kumimoji="1" lang="en-US" altLang="ja-JP" sz="2800" dirty="0"/>
          </a:p>
          <a:p>
            <a:r>
              <a:rPr lang="en-US" altLang="ja-JP" sz="2800" b="1" dirty="0"/>
              <a:t>begin</a:t>
            </a:r>
            <a:endParaRPr lang="en-US" altLang="ja-JP" sz="2800" dirty="0"/>
          </a:p>
          <a:p>
            <a:r>
              <a:rPr kumimoji="1" lang="en-US" altLang="ja-JP" sz="2800" dirty="0"/>
              <a:t>    square := x * x;</a:t>
            </a:r>
          </a:p>
          <a:p>
            <a:r>
              <a:rPr lang="en-US" altLang="ja-JP" sz="2800" dirty="0"/>
              <a:t>    f := square + 1</a:t>
            </a:r>
            <a:endParaRPr kumimoji="1" lang="en-US" altLang="ja-JP" sz="2800" dirty="0"/>
          </a:p>
          <a:p>
            <a:r>
              <a:rPr lang="en-US" altLang="ja-JP" sz="2800" b="1" dirty="0"/>
              <a:t>end</a:t>
            </a:r>
            <a:r>
              <a:rPr lang="en-US" altLang="ja-JP" sz="2800" dirty="0"/>
              <a:t>;</a:t>
            </a:r>
            <a:endParaRPr kumimoji="1" lang="ja-JP" altLang="en-US" sz="2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再帰関数</a:t>
            </a:r>
          </a:p>
        </p:txBody>
      </p:sp>
      <p:sp>
        <p:nvSpPr>
          <p:cNvPr id="4" name="テキスト ボックス 3"/>
          <p:cNvSpPr txBox="1"/>
          <p:nvPr/>
        </p:nvSpPr>
        <p:spPr>
          <a:xfrm>
            <a:off x="1214414" y="1357298"/>
            <a:ext cx="5961888" cy="1815882"/>
          </a:xfrm>
          <a:prstGeom prst="rect">
            <a:avLst/>
          </a:prstGeom>
          <a:noFill/>
        </p:spPr>
        <p:txBody>
          <a:bodyPr wrap="none" rtlCol="0">
            <a:spAutoFit/>
          </a:bodyPr>
          <a:lstStyle/>
          <a:p>
            <a:r>
              <a:rPr kumimoji="1" lang="en-US" altLang="ja-JP" sz="2800" dirty="0"/>
              <a:t> </a:t>
            </a:r>
            <a:r>
              <a:rPr kumimoji="1" lang="en-US" altLang="ja-JP" sz="2800" b="1" dirty="0"/>
              <a:t>function</a:t>
            </a:r>
            <a:r>
              <a:rPr kumimoji="1" lang="en-US" altLang="ja-JP" sz="2800" dirty="0"/>
              <a:t> f (n : </a:t>
            </a:r>
            <a:r>
              <a:rPr kumimoji="1" lang="en-US" altLang="ja-JP" sz="2800" b="1" dirty="0"/>
              <a:t>integer</a:t>
            </a:r>
            <a:r>
              <a:rPr kumimoji="1" lang="en-US" altLang="ja-JP" sz="2800" dirty="0"/>
              <a:t>) : </a:t>
            </a:r>
            <a:r>
              <a:rPr kumimoji="1" lang="en-US" altLang="ja-JP" sz="2800" b="1" dirty="0"/>
              <a:t>integer</a:t>
            </a:r>
            <a:r>
              <a:rPr kumimoji="1" lang="en-US" altLang="ja-JP" sz="2800" dirty="0"/>
              <a:t>;</a:t>
            </a:r>
          </a:p>
          <a:p>
            <a:r>
              <a:rPr lang="en-US" altLang="ja-JP" sz="2800" b="1" dirty="0"/>
              <a:t> begin</a:t>
            </a:r>
          </a:p>
          <a:p>
            <a:r>
              <a:rPr kumimoji="1" lang="en-US" altLang="ja-JP" sz="2800" dirty="0"/>
              <a:t>     </a:t>
            </a:r>
            <a:r>
              <a:rPr kumimoji="1" lang="en-US" altLang="ja-JP" sz="2800" b="1" dirty="0"/>
              <a:t>if</a:t>
            </a:r>
            <a:r>
              <a:rPr kumimoji="1" lang="en-US" altLang="ja-JP" sz="2800" dirty="0"/>
              <a:t> n = 0 </a:t>
            </a:r>
            <a:r>
              <a:rPr kumimoji="1" lang="en-US" altLang="ja-JP" sz="2800" b="1" dirty="0"/>
              <a:t>then</a:t>
            </a:r>
            <a:r>
              <a:rPr kumimoji="1" lang="en-US" altLang="ja-JP" sz="2800" dirty="0"/>
              <a:t> f := 1 </a:t>
            </a:r>
            <a:r>
              <a:rPr kumimoji="1" lang="en-US" altLang="ja-JP" sz="2800" b="1" dirty="0"/>
              <a:t>else</a:t>
            </a:r>
            <a:r>
              <a:rPr kumimoji="1" lang="en-US" altLang="ja-JP" sz="2800" dirty="0"/>
              <a:t> f := n * f (n-1);</a:t>
            </a:r>
          </a:p>
          <a:p>
            <a:r>
              <a:rPr lang="en-US" altLang="ja-JP" sz="2800" dirty="0"/>
              <a:t> </a:t>
            </a:r>
            <a:r>
              <a:rPr lang="en-US" altLang="ja-JP" sz="2800" b="1" dirty="0"/>
              <a:t>end</a:t>
            </a:r>
            <a:r>
              <a:rPr lang="en-US" altLang="ja-JP" sz="2800" dirty="0"/>
              <a:t>;</a:t>
            </a:r>
            <a:endParaRPr kumimoji="1" lang="ja-JP" altLang="en-US" sz="2800" dirty="0"/>
          </a:p>
        </p:txBody>
      </p:sp>
      <p:sp>
        <p:nvSpPr>
          <p:cNvPr id="5" name="テキスト ボックス 4"/>
          <p:cNvSpPr txBox="1"/>
          <p:nvPr/>
        </p:nvSpPr>
        <p:spPr>
          <a:xfrm>
            <a:off x="571472" y="3286124"/>
            <a:ext cx="7503977" cy="3108543"/>
          </a:xfrm>
          <a:prstGeom prst="rect">
            <a:avLst/>
          </a:prstGeom>
          <a:noFill/>
        </p:spPr>
        <p:txBody>
          <a:bodyPr wrap="none" rtlCol="0">
            <a:spAutoFit/>
          </a:bodyPr>
          <a:lstStyle/>
          <a:p>
            <a:r>
              <a:rPr lang="ja-JP" altLang="en-US" sz="2800" dirty="0"/>
              <a:t>これは、階乗を計算する関数である。</a:t>
            </a:r>
            <a:endParaRPr lang="en-US" altLang="ja-JP" sz="2800" dirty="0"/>
          </a:p>
          <a:p>
            <a:r>
              <a:rPr lang="en-US" altLang="ja-JP" sz="2800" dirty="0"/>
              <a:t> </a:t>
            </a:r>
            <a:r>
              <a:rPr lang="ja-JP" altLang="en-US" sz="2800" dirty="0"/>
              <a:t>例えば、</a:t>
            </a:r>
            <a:r>
              <a:rPr lang="en-US" altLang="ja-JP" sz="2800" dirty="0"/>
              <a:t>f (3) </a:t>
            </a:r>
            <a:r>
              <a:rPr lang="ja-JP" altLang="en-US" sz="2800" dirty="0"/>
              <a:t>を計算するときは</a:t>
            </a:r>
            <a:endParaRPr lang="en-US" altLang="ja-JP" sz="2800" dirty="0"/>
          </a:p>
          <a:p>
            <a:r>
              <a:rPr kumimoji="1" lang="en-US" altLang="ja-JP" sz="2800" dirty="0"/>
              <a:t> f (3) = 3 * f (2)                                                          = 6</a:t>
            </a:r>
          </a:p>
          <a:p>
            <a:r>
              <a:rPr lang="en-US" altLang="ja-JP" sz="2800" dirty="0"/>
              <a:t>                   f (2) = 2 * f (1)                                = 2</a:t>
            </a:r>
          </a:p>
          <a:p>
            <a:r>
              <a:rPr kumimoji="1" lang="en-US" altLang="ja-JP" sz="2800" dirty="0"/>
              <a:t>                                     f (1) = 1 * f (0)        = 1</a:t>
            </a:r>
          </a:p>
          <a:p>
            <a:r>
              <a:rPr lang="en-US" altLang="ja-JP" sz="2800" dirty="0"/>
              <a:t>                                                       f (0) = 1</a:t>
            </a:r>
          </a:p>
          <a:p>
            <a:r>
              <a:rPr kumimoji="1" lang="ja-JP" altLang="en-US" sz="2800" dirty="0" err="1"/>
              <a:t>のように</a:t>
            </a:r>
            <a:r>
              <a:rPr kumimoji="1" lang="ja-JP" altLang="en-US" sz="2800" dirty="0"/>
              <a:t>関数</a:t>
            </a:r>
            <a:r>
              <a:rPr kumimoji="1" lang="en-US" altLang="ja-JP" sz="2800" dirty="0"/>
              <a:t>f</a:t>
            </a:r>
            <a:r>
              <a:rPr kumimoji="1" lang="ja-JP" altLang="en-US" sz="2800" dirty="0"/>
              <a:t>が繰り返し呼び出される。</a:t>
            </a:r>
            <a:endParaRPr kumimoji="1" lang="en-US" altLang="ja-JP" sz="2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引数の渡し方に</a:t>
            </a:r>
            <a:r>
              <a:rPr lang="ja-JP" altLang="en-US" dirty="0"/>
              <a:t>ついて</a:t>
            </a:r>
            <a:endParaRPr kumimoji="1" lang="ja-JP" altLang="en-US" dirty="0"/>
          </a:p>
        </p:txBody>
      </p:sp>
      <p:sp>
        <p:nvSpPr>
          <p:cNvPr id="4" name="テキスト ボックス 3"/>
          <p:cNvSpPr txBox="1"/>
          <p:nvPr/>
        </p:nvSpPr>
        <p:spPr>
          <a:xfrm>
            <a:off x="785786" y="1714488"/>
            <a:ext cx="6786610" cy="4832092"/>
          </a:xfrm>
          <a:prstGeom prst="rect">
            <a:avLst/>
          </a:prstGeom>
          <a:noFill/>
        </p:spPr>
        <p:txBody>
          <a:bodyPr wrap="square" rtlCol="0">
            <a:spAutoFit/>
          </a:bodyPr>
          <a:lstStyle/>
          <a:p>
            <a:r>
              <a:rPr kumimoji="1" lang="en-US" altLang="ja-JP" sz="2800" dirty="0"/>
              <a:t> </a:t>
            </a:r>
            <a:r>
              <a:rPr kumimoji="1" lang="en-US" altLang="ja-JP" sz="2800" b="1" dirty="0"/>
              <a:t>function</a:t>
            </a:r>
            <a:r>
              <a:rPr kumimoji="1" lang="en-US" altLang="ja-JP" sz="2800" dirty="0"/>
              <a:t> square (x : </a:t>
            </a:r>
            <a:r>
              <a:rPr kumimoji="1" lang="en-US" altLang="ja-JP" sz="2800" b="1" dirty="0"/>
              <a:t>integer</a:t>
            </a:r>
            <a:r>
              <a:rPr kumimoji="1" lang="en-US" altLang="ja-JP" sz="2800" dirty="0"/>
              <a:t>) : </a:t>
            </a:r>
            <a:r>
              <a:rPr kumimoji="1" lang="en-US" altLang="ja-JP" sz="2800" b="1" dirty="0"/>
              <a:t>integer</a:t>
            </a:r>
            <a:r>
              <a:rPr kumimoji="1" lang="en-US" altLang="ja-JP" sz="2800" dirty="0"/>
              <a:t>;</a:t>
            </a:r>
          </a:p>
          <a:p>
            <a:r>
              <a:rPr lang="en-US" altLang="ja-JP" sz="2800" dirty="0"/>
              <a:t> </a:t>
            </a:r>
            <a:r>
              <a:rPr lang="en-US" altLang="ja-JP" sz="2800" b="1" dirty="0"/>
              <a:t>begin</a:t>
            </a:r>
          </a:p>
          <a:p>
            <a:r>
              <a:rPr lang="en-US" altLang="ja-JP" sz="2800" dirty="0"/>
              <a:t>     square := x * x</a:t>
            </a:r>
          </a:p>
          <a:p>
            <a:r>
              <a:rPr lang="en-US" altLang="ja-JP" sz="2800" dirty="0"/>
              <a:t> </a:t>
            </a:r>
            <a:r>
              <a:rPr lang="en-US" altLang="ja-JP" sz="2800" b="1" dirty="0"/>
              <a:t>end</a:t>
            </a:r>
            <a:r>
              <a:rPr lang="en-US" altLang="ja-JP" sz="2800" dirty="0"/>
              <a:t>;</a:t>
            </a:r>
          </a:p>
          <a:p>
            <a:r>
              <a:rPr lang="ja-JP" altLang="en-US" sz="2800" dirty="0"/>
              <a:t>という関数宣言において、</a:t>
            </a:r>
            <a:r>
              <a:rPr lang="en-US" altLang="ja-JP" sz="2800" dirty="0"/>
              <a:t>x</a:t>
            </a:r>
            <a:r>
              <a:rPr lang="ja-JP" altLang="en-US" sz="2800" dirty="0"/>
              <a:t>は仮引数である。</a:t>
            </a:r>
            <a:endParaRPr lang="en-US" altLang="ja-JP" sz="2800" dirty="0"/>
          </a:p>
          <a:p>
            <a:r>
              <a:rPr lang="ja-JP" altLang="en-US" sz="2800" dirty="0"/>
              <a:t>例えば、</a:t>
            </a:r>
            <a:r>
              <a:rPr lang="en-US" altLang="ja-JP" sz="2800" dirty="0"/>
              <a:t>square(2)</a:t>
            </a:r>
            <a:r>
              <a:rPr lang="ja-JP" altLang="en-US" sz="2800" dirty="0"/>
              <a:t>という関数呼び出し式の値は、</a:t>
            </a:r>
            <a:r>
              <a:rPr lang="en-US" altLang="ja-JP" sz="2800" dirty="0"/>
              <a:t>x</a:t>
            </a:r>
            <a:r>
              <a:rPr lang="ja-JP" altLang="en-US" sz="2800" dirty="0"/>
              <a:t>に</a:t>
            </a:r>
            <a:r>
              <a:rPr lang="en-US" altLang="ja-JP" sz="2800" dirty="0"/>
              <a:t>2</a:t>
            </a:r>
            <a:r>
              <a:rPr lang="ja-JP" altLang="en-US" sz="2800" dirty="0"/>
              <a:t>が代入された状態で</a:t>
            </a:r>
            <a:r>
              <a:rPr lang="en-US" altLang="ja-JP" sz="2800" dirty="0"/>
              <a:t>x*x</a:t>
            </a:r>
            <a:r>
              <a:rPr lang="ja-JP" altLang="en-US" sz="2800" dirty="0" err="1"/>
              <a:t>を評</a:t>
            </a:r>
            <a:r>
              <a:rPr lang="ja-JP" altLang="en-US" sz="2800" dirty="0"/>
              <a:t>価した結果であり、</a:t>
            </a:r>
            <a:r>
              <a:rPr lang="en-US" altLang="ja-JP" sz="2800" dirty="0"/>
              <a:t>4</a:t>
            </a:r>
            <a:r>
              <a:rPr lang="ja-JP" altLang="en-US" sz="2800" dirty="0"/>
              <a:t>である。</a:t>
            </a:r>
            <a:r>
              <a:rPr lang="en-US" altLang="ja-JP" sz="2800" dirty="0"/>
              <a:t>square(3)</a:t>
            </a:r>
            <a:r>
              <a:rPr lang="ja-JP" altLang="en-US" sz="2800" dirty="0"/>
              <a:t>の値は</a:t>
            </a:r>
            <a:r>
              <a:rPr lang="en-US" altLang="ja-JP" sz="2800" dirty="0"/>
              <a:t>9</a:t>
            </a:r>
            <a:r>
              <a:rPr lang="ja-JP" altLang="en-US" sz="2800" dirty="0"/>
              <a:t>である。このように数を渡す場合は自明だが、変数や配列の要素を渡す場合はいくつかの方法がある。</a:t>
            </a:r>
            <a:endParaRPr lang="en-US" altLang="ja-JP" sz="2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引数の渡し方</a:t>
            </a:r>
          </a:p>
        </p:txBody>
      </p:sp>
      <p:sp>
        <p:nvSpPr>
          <p:cNvPr id="3" name="コンテンツ プレースホルダ 2"/>
          <p:cNvSpPr>
            <a:spLocks noGrp="1"/>
          </p:cNvSpPr>
          <p:nvPr>
            <p:ph idx="1"/>
          </p:nvPr>
        </p:nvSpPr>
        <p:spPr/>
        <p:txBody>
          <a:bodyPr/>
          <a:lstStyle/>
          <a:p>
            <a:pPr>
              <a:buNone/>
            </a:pPr>
            <a:r>
              <a:rPr kumimoji="1" lang="ja-JP" altLang="en-US" dirty="0"/>
              <a:t>引数の渡し方には、</a:t>
            </a:r>
            <a:r>
              <a:rPr lang="ja-JP" altLang="en-US" dirty="0"/>
              <a:t>大きく分けて、</a:t>
            </a:r>
            <a:endParaRPr kumimoji="1" lang="en-US" altLang="ja-JP" dirty="0"/>
          </a:p>
          <a:p>
            <a:r>
              <a:rPr kumimoji="1" lang="en-US" altLang="ja-JP" dirty="0"/>
              <a:t>Call-by-value</a:t>
            </a:r>
            <a:r>
              <a:rPr kumimoji="1" lang="ja-JP" altLang="en-US" dirty="0"/>
              <a:t>（値呼び、値渡し）</a:t>
            </a:r>
            <a:endParaRPr kumimoji="1" lang="en-US" altLang="ja-JP" dirty="0"/>
          </a:p>
          <a:p>
            <a:r>
              <a:rPr lang="en-US" altLang="ja-JP" dirty="0"/>
              <a:t>Call-by-reference</a:t>
            </a:r>
            <a:r>
              <a:rPr lang="ja-JP" altLang="en-US" dirty="0"/>
              <a:t>（参照呼び、参照渡し）</a:t>
            </a:r>
            <a:endParaRPr lang="en-US" altLang="ja-JP" dirty="0"/>
          </a:p>
          <a:p>
            <a:r>
              <a:rPr lang="en-US" altLang="ja-JP" dirty="0"/>
              <a:t>Call-by-name</a:t>
            </a:r>
            <a:r>
              <a:rPr lang="ja-JP" altLang="en-US" dirty="0"/>
              <a:t>（名前呼び、名前渡し）</a:t>
            </a:r>
            <a:endParaRPr lang="en-US" altLang="ja-JP" dirty="0"/>
          </a:p>
          <a:p>
            <a:pPr>
              <a:buNone/>
            </a:pPr>
            <a:r>
              <a:rPr lang="ja-JP" altLang="en-US" dirty="0"/>
              <a:t>の３つがある。</a:t>
            </a:r>
            <a:endParaRPr lang="en-US" altLang="ja-JP" dirty="0"/>
          </a:p>
          <a:p>
            <a:pPr>
              <a:buNone/>
            </a:pPr>
            <a:endParaRPr kumimoji="1" lang="ja-JP" alt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725470"/>
          </a:xfrm>
        </p:spPr>
        <p:txBody>
          <a:bodyPr>
            <a:normAutofit fontScale="90000"/>
          </a:bodyPr>
          <a:lstStyle/>
          <a:p>
            <a:r>
              <a:rPr kumimoji="1" lang="en-US" altLang="ja-JP" dirty="0"/>
              <a:t>Call by value</a:t>
            </a:r>
            <a:endParaRPr kumimoji="1" lang="ja-JP" altLang="en-US" dirty="0"/>
          </a:p>
        </p:txBody>
      </p:sp>
      <p:sp>
        <p:nvSpPr>
          <p:cNvPr id="4" name="テキスト ボックス 3"/>
          <p:cNvSpPr txBox="1"/>
          <p:nvPr/>
        </p:nvSpPr>
        <p:spPr>
          <a:xfrm>
            <a:off x="285720" y="1071546"/>
            <a:ext cx="8858280" cy="5693866"/>
          </a:xfrm>
          <a:prstGeom prst="rect">
            <a:avLst/>
          </a:prstGeom>
          <a:noFill/>
        </p:spPr>
        <p:txBody>
          <a:bodyPr wrap="square" rtlCol="0">
            <a:spAutoFit/>
          </a:bodyPr>
          <a:lstStyle/>
          <a:p>
            <a:r>
              <a:rPr lang="ja-JP" altLang="en-US" sz="2800" dirty="0"/>
              <a:t>仮引数には実引数の評価結果の値が渡される。</a:t>
            </a:r>
            <a:endParaRPr lang="en-US" altLang="ja-JP" sz="2800" dirty="0"/>
          </a:p>
          <a:p>
            <a:r>
              <a:rPr lang="ja-JP" altLang="en-US" sz="2800" dirty="0"/>
              <a:t>手続き</a:t>
            </a:r>
            <a:r>
              <a:rPr lang="en-US" altLang="ja-JP" sz="2800" dirty="0"/>
              <a:t>(</a:t>
            </a:r>
            <a:r>
              <a:rPr lang="ja-JP" altLang="en-US" sz="2800" dirty="0"/>
              <a:t>関数</a:t>
            </a:r>
            <a:r>
              <a:rPr lang="en-US" altLang="ja-JP" sz="2800" dirty="0"/>
              <a:t>)</a:t>
            </a:r>
            <a:r>
              <a:rPr lang="en-US" altLang="ja-JP" sz="2800" i="1" dirty="0"/>
              <a:t>p</a:t>
            </a:r>
            <a:r>
              <a:rPr lang="ja-JP" altLang="en-US" sz="2800" dirty="0"/>
              <a:t>の仮引数が</a:t>
            </a:r>
            <a:r>
              <a:rPr lang="en-US" altLang="ja-JP" sz="2800" i="1" dirty="0"/>
              <a:t>x</a:t>
            </a:r>
            <a:r>
              <a:rPr lang="ja-JP" altLang="en-US" sz="2800" dirty="0"/>
              <a:t>のとき、手続き（関数）呼び出し</a:t>
            </a:r>
            <a:r>
              <a:rPr lang="en-US" altLang="ja-JP" sz="2800" i="1" dirty="0"/>
              <a:t>p</a:t>
            </a:r>
            <a:r>
              <a:rPr lang="en-US" altLang="ja-JP" sz="2800" dirty="0"/>
              <a:t>(</a:t>
            </a:r>
            <a:r>
              <a:rPr lang="en-US" altLang="ja-JP" sz="2800" i="1" dirty="0"/>
              <a:t>e</a:t>
            </a:r>
            <a:r>
              <a:rPr lang="en-US" altLang="ja-JP" sz="2800" dirty="0"/>
              <a:t>)</a:t>
            </a:r>
            <a:r>
              <a:rPr lang="ja-JP" altLang="en-US" sz="2800" dirty="0"/>
              <a:t>の実行（評価）は</a:t>
            </a:r>
            <a:endParaRPr lang="en-US" altLang="ja-JP" sz="2800" dirty="0"/>
          </a:p>
          <a:p>
            <a:r>
              <a:rPr lang="en-US" altLang="ja-JP" sz="2800" dirty="0"/>
              <a:t>  </a:t>
            </a:r>
            <a:r>
              <a:rPr lang="ja-JP" altLang="en-US" sz="2800" dirty="0"/>
              <a:t>  </a:t>
            </a:r>
            <a:r>
              <a:rPr lang="en-US" altLang="ja-JP" sz="2800" dirty="0"/>
              <a:t>(1)  </a:t>
            </a:r>
            <a:r>
              <a:rPr lang="en-US" altLang="ja-JP" sz="2800" i="1" dirty="0"/>
              <a:t>x</a:t>
            </a:r>
            <a:r>
              <a:rPr lang="en-US" altLang="ja-JP" sz="2800" dirty="0"/>
              <a:t> :</a:t>
            </a:r>
            <a:r>
              <a:rPr lang="en-US" altLang="ja-JP" sz="2800"/>
              <a:t>= </a:t>
            </a:r>
            <a:r>
              <a:rPr lang="en-US" altLang="ja-JP" sz="2800" i="1"/>
              <a:t>e</a:t>
            </a:r>
            <a:endParaRPr lang="en-US" altLang="ja-JP" sz="2800" dirty="0"/>
          </a:p>
          <a:p>
            <a:r>
              <a:rPr lang="en-US" altLang="ja-JP" sz="2800" dirty="0"/>
              <a:t>    (2) </a:t>
            </a:r>
            <a:r>
              <a:rPr lang="ja-JP" altLang="en-US" sz="2800" dirty="0"/>
              <a:t>手続き（関数）本体の実行</a:t>
            </a:r>
            <a:endParaRPr lang="en-US" altLang="ja-JP" sz="2800" dirty="0"/>
          </a:p>
          <a:p>
            <a:r>
              <a:rPr lang="en-US" altLang="ja-JP" sz="2800" dirty="0"/>
              <a:t>    (3) </a:t>
            </a:r>
            <a:r>
              <a:rPr lang="ja-JP" altLang="en-US" sz="2800" dirty="0"/>
              <a:t>手続き</a:t>
            </a:r>
            <a:r>
              <a:rPr lang="en-US" altLang="ja-JP" sz="2800" i="1" dirty="0"/>
              <a:t>p</a:t>
            </a:r>
            <a:r>
              <a:rPr lang="ja-JP" altLang="en-US" sz="2800" dirty="0"/>
              <a:t>が関数の場合は値を返す</a:t>
            </a:r>
            <a:endParaRPr lang="en-US" altLang="ja-JP" sz="2800" dirty="0"/>
          </a:p>
          <a:p>
            <a:r>
              <a:rPr lang="ja-JP" altLang="en-US" sz="2800" dirty="0"/>
              <a:t>という順で行われる。</a:t>
            </a:r>
            <a:endParaRPr lang="en-US" altLang="ja-JP" sz="2800" dirty="0"/>
          </a:p>
          <a:p>
            <a:r>
              <a:rPr lang="ja-JP" altLang="en-US" sz="2800" dirty="0"/>
              <a:t>（注）変数</a:t>
            </a:r>
            <a:r>
              <a:rPr lang="en-US" altLang="ja-JP" sz="2800" dirty="0"/>
              <a:t>x</a:t>
            </a:r>
            <a:r>
              <a:rPr lang="ja-JP" altLang="en-US" sz="2800" dirty="0"/>
              <a:t>が呼び出し側でも宣言されている場合、仮引数</a:t>
            </a:r>
            <a:r>
              <a:rPr lang="en-US" altLang="ja-JP" sz="2800" dirty="0"/>
              <a:t>x</a:t>
            </a:r>
            <a:r>
              <a:rPr lang="ja-JP" altLang="en-US" sz="2800" dirty="0"/>
              <a:t>はそれとは別の変数である。</a:t>
            </a:r>
            <a:endParaRPr lang="en-US" altLang="ja-JP" sz="2800" dirty="0"/>
          </a:p>
          <a:p>
            <a:r>
              <a:rPr lang="ja-JP" altLang="en-US" sz="2800" dirty="0"/>
              <a:t>（</a:t>
            </a:r>
            <a:r>
              <a:rPr lang="en-US" altLang="ja-JP" sz="2800" dirty="0"/>
              <a:t>square</a:t>
            </a:r>
            <a:r>
              <a:rPr lang="ja-JP" altLang="en-US" sz="2800" dirty="0"/>
              <a:t>の例） 関数</a:t>
            </a:r>
            <a:r>
              <a:rPr lang="en-US" altLang="ja-JP" sz="2800" dirty="0"/>
              <a:t>square (2+3)</a:t>
            </a:r>
            <a:r>
              <a:rPr lang="ja-JP" altLang="en-US" sz="2800" dirty="0"/>
              <a:t>の評価は、まず</a:t>
            </a:r>
            <a:r>
              <a:rPr lang="en-US" altLang="ja-JP" sz="2800" dirty="0"/>
              <a:t>x := 2 + 3; </a:t>
            </a:r>
            <a:r>
              <a:rPr lang="ja-JP" altLang="en-US" sz="2800" dirty="0"/>
              <a:t>が実行される。つまり</a:t>
            </a:r>
            <a:r>
              <a:rPr lang="en-US" altLang="ja-JP" sz="2800" dirty="0"/>
              <a:t>2+3</a:t>
            </a:r>
            <a:r>
              <a:rPr lang="ja-JP" altLang="en-US" sz="2800" dirty="0" err="1"/>
              <a:t>を評</a:t>
            </a:r>
            <a:r>
              <a:rPr lang="ja-JP" altLang="en-US" sz="2800" dirty="0"/>
              <a:t>価し、その値</a:t>
            </a:r>
            <a:r>
              <a:rPr lang="en-US" altLang="ja-JP" sz="2800" dirty="0"/>
              <a:t>5</a:t>
            </a:r>
            <a:r>
              <a:rPr lang="ja-JP" altLang="en-US" sz="2800" dirty="0"/>
              <a:t>が</a:t>
            </a:r>
            <a:r>
              <a:rPr lang="en-US" altLang="ja-JP" sz="2800" dirty="0"/>
              <a:t>square</a:t>
            </a:r>
            <a:r>
              <a:rPr lang="ja-JP" altLang="en-US" sz="2800" dirty="0"/>
              <a:t>の仮引数</a:t>
            </a:r>
            <a:r>
              <a:rPr lang="en-US" altLang="ja-JP" sz="2800" dirty="0"/>
              <a:t>x</a:t>
            </a:r>
            <a:r>
              <a:rPr lang="ja-JP" altLang="en-US" sz="2800" dirty="0"/>
              <a:t>に代入される。そののち</a:t>
            </a:r>
            <a:r>
              <a:rPr lang="en-US" altLang="ja-JP" sz="2800" dirty="0"/>
              <a:t>x * x</a:t>
            </a:r>
            <a:r>
              <a:rPr lang="ja-JP" altLang="en-US" sz="2800" dirty="0" err="1"/>
              <a:t>が評</a:t>
            </a:r>
            <a:r>
              <a:rPr lang="ja-JP" altLang="en-US" sz="2800" dirty="0"/>
              <a:t>価され、</a:t>
            </a:r>
            <a:r>
              <a:rPr lang="en-US" altLang="ja-JP" sz="2800" dirty="0"/>
              <a:t>25</a:t>
            </a:r>
            <a:r>
              <a:rPr lang="ja-JP" altLang="en-US" sz="2800" dirty="0"/>
              <a:t>が得られ、それが式</a:t>
            </a:r>
            <a:r>
              <a:rPr lang="en-US" altLang="ja-JP" sz="2800" dirty="0"/>
              <a:t>square(2+3)</a:t>
            </a:r>
            <a:r>
              <a:rPr lang="ja-JP" altLang="en-US" sz="2800" dirty="0"/>
              <a:t>の評価結果となる。</a:t>
            </a:r>
            <a:endParaRPr kumimoji="1" lang="ja-JP" altLang="en-US" sz="2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うまくいかない例１</a:t>
            </a:r>
          </a:p>
        </p:txBody>
      </p:sp>
      <p:sp>
        <p:nvSpPr>
          <p:cNvPr id="4" name="テキスト ボックス 3"/>
          <p:cNvSpPr txBox="1"/>
          <p:nvPr/>
        </p:nvSpPr>
        <p:spPr>
          <a:xfrm>
            <a:off x="928662" y="1357298"/>
            <a:ext cx="3994904" cy="1815882"/>
          </a:xfrm>
          <a:prstGeom prst="rect">
            <a:avLst/>
          </a:prstGeom>
          <a:noFill/>
        </p:spPr>
        <p:txBody>
          <a:bodyPr wrap="none" rtlCol="0">
            <a:spAutoFit/>
          </a:bodyPr>
          <a:lstStyle/>
          <a:p>
            <a:r>
              <a:rPr lang="en-US" altLang="ja-JP" sz="2800" dirty="0"/>
              <a:t> </a:t>
            </a:r>
            <a:r>
              <a:rPr lang="en-US" altLang="ja-JP" sz="2800" b="1" dirty="0"/>
              <a:t>procedure</a:t>
            </a:r>
            <a:r>
              <a:rPr lang="en-US" altLang="ja-JP" sz="2800" dirty="0"/>
              <a:t> </a:t>
            </a:r>
            <a:r>
              <a:rPr lang="en-US" altLang="ja-JP" sz="2800" dirty="0" err="1"/>
              <a:t>nget</a:t>
            </a:r>
            <a:r>
              <a:rPr lang="en-US" altLang="ja-JP" sz="2800" dirty="0"/>
              <a:t> (c : </a:t>
            </a:r>
            <a:r>
              <a:rPr lang="en-US" altLang="ja-JP" sz="2800" b="1" dirty="0"/>
              <a:t>char</a:t>
            </a:r>
            <a:r>
              <a:rPr lang="en-US" altLang="ja-JP" sz="2800" dirty="0"/>
              <a:t>);</a:t>
            </a:r>
          </a:p>
          <a:p>
            <a:r>
              <a:rPr kumimoji="1" lang="en-US" altLang="ja-JP" sz="2800" dirty="0"/>
              <a:t>    </a:t>
            </a:r>
            <a:r>
              <a:rPr kumimoji="1" lang="en-US" altLang="ja-JP" sz="2800" b="1" dirty="0"/>
              <a:t>begin</a:t>
            </a:r>
            <a:endParaRPr lang="en-US" altLang="ja-JP" sz="2800" dirty="0"/>
          </a:p>
          <a:p>
            <a:r>
              <a:rPr kumimoji="1" lang="en-US" altLang="ja-JP" sz="2800" dirty="0"/>
              <a:t>        read (c)</a:t>
            </a:r>
          </a:p>
          <a:p>
            <a:r>
              <a:rPr lang="en-US" altLang="ja-JP" sz="2800" dirty="0"/>
              <a:t>    </a:t>
            </a:r>
            <a:r>
              <a:rPr lang="en-US" altLang="ja-JP" sz="2800" b="1" dirty="0"/>
              <a:t>end</a:t>
            </a:r>
            <a:r>
              <a:rPr lang="en-US" altLang="ja-JP" sz="2800" dirty="0"/>
              <a:t>;</a:t>
            </a:r>
            <a:endParaRPr kumimoji="1" lang="ja-JP" altLang="en-US" sz="2800" dirty="0"/>
          </a:p>
        </p:txBody>
      </p:sp>
      <p:sp>
        <p:nvSpPr>
          <p:cNvPr id="5" name="テキスト ボックス 4"/>
          <p:cNvSpPr txBox="1"/>
          <p:nvPr/>
        </p:nvSpPr>
        <p:spPr>
          <a:xfrm>
            <a:off x="785786" y="3786190"/>
            <a:ext cx="7429552" cy="2677656"/>
          </a:xfrm>
          <a:prstGeom prst="rect">
            <a:avLst/>
          </a:prstGeom>
          <a:noFill/>
        </p:spPr>
        <p:txBody>
          <a:bodyPr wrap="square" rtlCol="0">
            <a:spAutoFit/>
          </a:bodyPr>
          <a:lstStyle/>
          <a:p>
            <a:r>
              <a:rPr kumimoji="1" lang="ja-JP" altLang="en-US" sz="2800" dirty="0"/>
              <a:t>この例では</a:t>
            </a:r>
            <a:r>
              <a:rPr kumimoji="1" lang="en-US" altLang="ja-JP" sz="2800" dirty="0"/>
              <a:t>c</a:t>
            </a:r>
            <a:r>
              <a:rPr kumimoji="1" lang="ja-JP" altLang="en-US" sz="2800" dirty="0"/>
              <a:t>にキーボードから読み込んだ値が入るが、</a:t>
            </a:r>
            <a:r>
              <a:rPr lang="ja-JP" altLang="en-US" sz="2800" dirty="0"/>
              <a:t>例えば </a:t>
            </a:r>
            <a:r>
              <a:rPr lang="en-US" altLang="ja-JP" sz="2800" dirty="0" err="1"/>
              <a:t>nget</a:t>
            </a:r>
            <a:r>
              <a:rPr lang="en-US" altLang="ja-JP" sz="2800" dirty="0"/>
              <a:t> (</a:t>
            </a:r>
            <a:r>
              <a:rPr lang="en-US" altLang="ja-JP" sz="2800" dirty="0" err="1"/>
              <a:t>ch</a:t>
            </a:r>
            <a:r>
              <a:rPr lang="en-US" altLang="ja-JP" sz="2800" dirty="0"/>
              <a:t>) </a:t>
            </a:r>
            <a:r>
              <a:rPr lang="ja-JP" altLang="en-US" sz="2800" dirty="0"/>
              <a:t>などで呼び出しても</a:t>
            </a:r>
            <a:r>
              <a:rPr lang="en-US" altLang="ja-JP" sz="2800" dirty="0"/>
              <a:t> </a:t>
            </a:r>
            <a:r>
              <a:rPr lang="ja-JP" altLang="en-US" sz="2800" dirty="0"/>
              <a:t>変数</a:t>
            </a:r>
            <a:r>
              <a:rPr lang="en-US" altLang="ja-JP" sz="2800" dirty="0" err="1"/>
              <a:t>ch</a:t>
            </a:r>
            <a:r>
              <a:rPr lang="ja-JP" altLang="en-US" sz="2800" dirty="0" err="1"/>
              <a:t>には</a:t>
            </a:r>
            <a:r>
              <a:rPr lang="ja-JP" altLang="en-US" sz="2800" dirty="0"/>
              <a:t>影響がない。（</a:t>
            </a:r>
            <a:r>
              <a:rPr lang="en-US" altLang="ja-JP" sz="2800" dirty="0" err="1"/>
              <a:t>ch</a:t>
            </a:r>
            <a:r>
              <a:rPr lang="ja-JP" altLang="en-US" sz="2800" dirty="0"/>
              <a:t>と</a:t>
            </a:r>
            <a:r>
              <a:rPr lang="en-US" altLang="ja-JP" sz="2800" dirty="0"/>
              <a:t>c</a:t>
            </a:r>
            <a:r>
              <a:rPr lang="ja-JP" altLang="en-US" sz="2800" dirty="0"/>
              <a:t>は別の変数なので）</a:t>
            </a:r>
            <a:endParaRPr lang="en-US" altLang="ja-JP" sz="2800" dirty="0"/>
          </a:p>
          <a:p>
            <a:endParaRPr lang="en-US" altLang="ja-JP" sz="2800" dirty="0"/>
          </a:p>
          <a:p>
            <a:r>
              <a:rPr lang="ja-JP" altLang="en-US" sz="2800" dirty="0"/>
              <a:t>他の例として、</a:t>
            </a:r>
            <a:r>
              <a:rPr lang="en-US" altLang="ja-JP" sz="2800" dirty="0"/>
              <a:t>swap (</a:t>
            </a:r>
            <a:r>
              <a:rPr lang="en-US" altLang="ja-JP" sz="2800" dirty="0" err="1"/>
              <a:t>x,y</a:t>
            </a:r>
            <a:r>
              <a:rPr lang="en-US" altLang="ja-JP" sz="2800" dirty="0"/>
              <a:t>)</a:t>
            </a:r>
            <a:r>
              <a:rPr lang="ja-JP" altLang="en-US" sz="2800" dirty="0"/>
              <a:t>がある（変数</a:t>
            </a:r>
            <a:r>
              <a:rPr lang="en-US" altLang="ja-JP" sz="2800" dirty="0"/>
              <a:t>x</a:t>
            </a:r>
            <a:r>
              <a:rPr lang="ja-JP" altLang="en-US" sz="2800" dirty="0"/>
              <a:t>と変数</a:t>
            </a:r>
            <a:r>
              <a:rPr lang="en-US" altLang="ja-JP" sz="2800" dirty="0"/>
              <a:t>y</a:t>
            </a:r>
            <a:r>
              <a:rPr lang="ja-JP" altLang="en-US" sz="2800" dirty="0"/>
              <a:t>の値を入れ替える）</a:t>
            </a:r>
            <a:endParaRPr lang="en-US" altLang="ja-JP" sz="2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うまくいかない例２</a:t>
            </a:r>
          </a:p>
        </p:txBody>
      </p:sp>
      <p:sp>
        <p:nvSpPr>
          <p:cNvPr id="4" name="テキスト ボックス 3"/>
          <p:cNvSpPr txBox="1"/>
          <p:nvPr/>
        </p:nvSpPr>
        <p:spPr>
          <a:xfrm>
            <a:off x="928662" y="1357298"/>
            <a:ext cx="6208174" cy="2246769"/>
          </a:xfrm>
          <a:prstGeom prst="rect">
            <a:avLst/>
          </a:prstGeom>
          <a:noFill/>
        </p:spPr>
        <p:txBody>
          <a:bodyPr wrap="none" rtlCol="0">
            <a:spAutoFit/>
          </a:bodyPr>
          <a:lstStyle/>
          <a:p>
            <a:r>
              <a:rPr lang="en-US" altLang="ja-JP" sz="2800" dirty="0"/>
              <a:t> </a:t>
            </a:r>
            <a:r>
              <a:rPr lang="en-US" altLang="ja-JP" sz="2800" b="1" dirty="0"/>
              <a:t>procedure</a:t>
            </a:r>
            <a:r>
              <a:rPr lang="en-US" altLang="ja-JP" sz="2800" dirty="0"/>
              <a:t> swap (x : </a:t>
            </a:r>
            <a:r>
              <a:rPr lang="en-US" altLang="ja-JP" sz="2800" b="1" dirty="0"/>
              <a:t>integer</a:t>
            </a:r>
            <a:r>
              <a:rPr lang="en-US" altLang="ja-JP" sz="2800" dirty="0"/>
              <a:t>;  y : </a:t>
            </a:r>
            <a:r>
              <a:rPr lang="en-US" altLang="ja-JP" sz="2800" b="1" dirty="0"/>
              <a:t>integer</a:t>
            </a:r>
            <a:r>
              <a:rPr lang="en-US" altLang="ja-JP" sz="2800" dirty="0"/>
              <a:t>);</a:t>
            </a:r>
          </a:p>
          <a:p>
            <a:r>
              <a:rPr kumimoji="1" lang="en-US" altLang="ja-JP" sz="2800" dirty="0"/>
              <a:t> </a:t>
            </a:r>
            <a:r>
              <a:rPr kumimoji="1" lang="en-US" altLang="ja-JP" sz="2800" b="1" dirty="0" err="1"/>
              <a:t>var</a:t>
            </a:r>
            <a:r>
              <a:rPr kumimoji="1" lang="en-US" altLang="ja-JP" sz="2800" dirty="0"/>
              <a:t> z : </a:t>
            </a:r>
            <a:r>
              <a:rPr kumimoji="1" lang="en-US" altLang="ja-JP" sz="2800" b="1" dirty="0"/>
              <a:t>integer</a:t>
            </a:r>
            <a:r>
              <a:rPr kumimoji="1" lang="en-US" altLang="ja-JP" sz="2800" dirty="0"/>
              <a:t>;</a:t>
            </a:r>
          </a:p>
          <a:p>
            <a:r>
              <a:rPr kumimoji="1" lang="en-US" altLang="ja-JP" sz="2800" dirty="0"/>
              <a:t>    </a:t>
            </a:r>
            <a:r>
              <a:rPr kumimoji="1" lang="en-US" altLang="ja-JP" sz="2800" b="1" dirty="0"/>
              <a:t>begin</a:t>
            </a:r>
          </a:p>
          <a:p>
            <a:r>
              <a:rPr lang="en-US" altLang="ja-JP" sz="2800" dirty="0"/>
              <a:t>        z := x; x := y; y := z</a:t>
            </a:r>
            <a:endParaRPr kumimoji="1" lang="en-US" altLang="ja-JP" sz="2800" dirty="0"/>
          </a:p>
          <a:p>
            <a:r>
              <a:rPr lang="en-US" altLang="ja-JP" sz="2800" dirty="0"/>
              <a:t>    </a:t>
            </a:r>
            <a:r>
              <a:rPr lang="en-US" altLang="ja-JP" sz="2800" b="1" dirty="0"/>
              <a:t>end</a:t>
            </a:r>
            <a:r>
              <a:rPr lang="en-US" altLang="ja-JP" sz="2800" dirty="0"/>
              <a:t>;</a:t>
            </a:r>
            <a:endParaRPr kumimoji="1" lang="ja-JP" altLang="en-US" sz="2800" dirty="0"/>
          </a:p>
        </p:txBody>
      </p:sp>
      <p:sp>
        <p:nvSpPr>
          <p:cNvPr id="5" name="テキスト ボックス 4"/>
          <p:cNvSpPr txBox="1"/>
          <p:nvPr/>
        </p:nvSpPr>
        <p:spPr>
          <a:xfrm>
            <a:off x="642910" y="3643314"/>
            <a:ext cx="8001056" cy="2246769"/>
          </a:xfrm>
          <a:prstGeom prst="rect">
            <a:avLst/>
          </a:prstGeom>
          <a:noFill/>
        </p:spPr>
        <p:txBody>
          <a:bodyPr wrap="square" rtlCol="0">
            <a:spAutoFit/>
          </a:bodyPr>
          <a:lstStyle/>
          <a:p>
            <a:r>
              <a:rPr lang="en-US" altLang="ja-JP" sz="2800" dirty="0"/>
              <a:t>s</a:t>
            </a:r>
            <a:r>
              <a:rPr kumimoji="1" lang="en-US" altLang="ja-JP" sz="2800" dirty="0"/>
              <a:t>wap (</a:t>
            </a:r>
            <a:r>
              <a:rPr kumimoji="1" lang="en-US" altLang="ja-JP" sz="2800" dirty="0" err="1"/>
              <a:t>a,b</a:t>
            </a:r>
            <a:r>
              <a:rPr kumimoji="1" lang="en-US" altLang="ja-JP" sz="2800" dirty="0"/>
              <a:t>)</a:t>
            </a:r>
            <a:r>
              <a:rPr kumimoji="1" lang="ja-JP" altLang="en-US" sz="2800" dirty="0" err="1"/>
              <a:t>のような</a:t>
            </a:r>
            <a:r>
              <a:rPr kumimoji="1" lang="ja-JP" altLang="en-US" sz="2800" dirty="0"/>
              <a:t>呼び出しによって、変数</a:t>
            </a:r>
            <a:r>
              <a:rPr kumimoji="1" lang="en-US" altLang="ja-JP" sz="2800" dirty="0"/>
              <a:t>a</a:t>
            </a:r>
            <a:r>
              <a:rPr kumimoji="1" lang="ja-JP" altLang="en-US" sz="2800" dirty="0"/>
              <a:t>と</a:t>
            </a:r>
            <a:r>
              <a:rPr kumimoji="1" lang="en-US" altLang="ja-JP" sz="2800" dirty="0"/>
              <a:t>b</a:t>
            </a:r>
            <a:r>
              <a:rPr kumimoji="1" lang="ja-JP" altLang="en-US" sz="2800" dirty="0"/>
              <a:t>の値を入れ替えることはできない。</a:t>
            </a:r>
            <a:endParaRPr kumimoji="1" lang="en-US" altLang="ja-JP" sz="2800" dirty="0"/>
          </a:p>
          <a:p>
            <a:r>
              <a:rPr lang="en-US" altLang="ja-JP" sz="2800" dirty="0"/>
              <a:t> x</a:t>
            </a:r>
            <a:r>
              <a:rPr lang="ja-JP" altLang="en-US" sz="2800" dirty="0"/>
              <a:t>と</a:t>
            </a:r>
            <a:r>
              <a:rPr lang="en-US" altLang="ja-JP" sz="2800" dirty="0"/>
              <a:t>y</a:t>
            </a:r>
            <a:r>
              <a:rPr lang="ja-JP" altLang="en-US" sz="2800" dirty="0" err="1"/>
              <a:t>には</a:t>
            </a:r>
            <a:r>
              <a:rPr lang="ja-JP" altLang="en-US" sz="2800" dirty="0"/>
              <a:t>変数</a:t>
            </a:r>
            <a:r>
              <a:rPr lang="en-US" altLang="ja-JP" sz="2800" dirty="0"/>
              <a:t>a</a:t>
            </a:r>
            <a:r>
              <a:rPr lang="ja-JP" altLang="en-US" sz="2800" dirty="0"/>
              <a:t>と</a:t>
            </a:r>
            <a:r>
              <a:rPr lang="en-US" altLang="ja-JP" sz="2800" dirty="0"/>
              <a:t>b</a:t>
            </a:r>
            <a:r>
              <a:rPr lang="ja-JP" altLang="en-US" sz="2800" dirty="0"/>
              <a:t>の値が代入され、その後</a:t>
            </a:r>
            <a:r>
              <a:rPr lang="en-US" altLang="ja-JP" sz="2800" dirty="0"/>
              <a:t>x</a:t>
            </a:r>
            <a:r>
              <a:rPr lang="ja-JP" altLang="en-US" sz="2800" dirty="0"/>
              <a:t>と</a:t>
            </a:r>
            <a:r>
              <a:rPr lang="en-US" altLang="ja-JP" sz="2800" dirty="0"/>
              <a:t>y</a:t>
            </a:r>
            <a:r>
              <a:rPr lang="ja-JP" altLang="en-US" sz="2800" dirty="0"/>
              <a:t>の値が入れ替えられるので、変数</a:t>
            </a:r>
            <a:r>
              <a:rPr lang="en-US" altLang="ja-JP" sz="2800" dirty="0"/>
              <a:t>a, b</a:t>
            </a:r>
            <a:r>
              <a:rPr lang="ja-JP" altLang="en-US" sz="2800" dirty="0" err="1"/>
              <a:t>には</a:t>
            </a:r>
            <a:r>
              <a:rPr lang="ja-JP" altLang="en-US" sz="2800" dirty="0"/>
              <a:t>影響が及ばない。</a:t>
            </a:r>
            <a:endParaRPr lang="en-US" altLang="ja-JP" sz="2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a:t>Call by reference</a:t>
            </a:r>
            <a:endParaRPr kumimoji="1" lang="ja-JP" altLang="en-US" dirty="0"/>
          </a:p>
        </p:txBody>
      </p:sp>
      <p:sp>
        <p:nvSpPr>
          <p:cNvPr id="4" name="テキスト ボックス 3"/>
          <p:cNvSpPr txBox="1"/>
          <p:nvPr/>
        </p:nvSpPr>
        <p:spPr>
          <a:xfrm>
            <a:off x="714348" y="1285860"/>
            <a:ext cx="7858179" cy="5262979"/>
          </a:xfrm>
          <a:prstGeom prst="rect">
            <a:avLst/>
          </a:prstGeom>
          <a:noFill/>
        </p:spPr>
        <p:txBody>
          <a:bodyPr wrap="square" rtlCol="0">
            <a:spAutoFit/>
          </a:bodyPr>
          <a:lstStyle/>
          <a:p>
            <a:r>
              <a:rPr lang="ja-JP" altLang="en-US" sz="2800" dirty="0"/>
              <a:t>仮引数には実引数のアドレスが渡される。</a:t>
            </a:r>
            <a:endParaRPr lang="en-US" altLang="ja-JP" sz="2800" dirty="0"/>
          </a:p>
          <a:p>
            <a:r>
              <a:rPr kumimoji="1" lang="ja-JP" altLang="en-US" sz="2800" dirty="0"/>
              <a:t>（渡されたアドレスが仮引数のアドレスとなる。）</a:t>
            </a:r>
            <a:endParaRPr kumimoji="1" lang="en-US" altLang="ja-JP" sz="2800" dirty="0"/>
          </a:p>
          <a:p>
            <a:r>
              <a:rPr lang="en-US" altLang="ja-JP" sz="2800" dirty="0"/>
              <a:t>Pascal</a:t>
            </a:r>
            <a:r>
              <a:rPr lang="ja-JP" altLang="en-US" sz="2800" dirty="0" err="1"/>
              <a:t>には</a:t>
            </a:r>
            <a:r>
              <a:rPr lang="en-US" altLang="ja-JP" sz="2800" dirty="0"/>
              <a:t>call by reference</a:t>
            </a:r>
            <a:r>
              <a:rPr lang="ja-JP" altLang="en-US" sz="2800" dirty="0"/>
              <a:t>があり、</a:t>
            </a:r>
            <a:endParaRPr lang="en-US" altLang="ja-JP" sz="2800" dirty="0"/>
          </a:p>
          <a:p>
            <a:r>
              <a:rPr kumimoji="1" lang="en-US" altLang="ja-JP" sz="2800" dirty="0"/>
              <a:t>    </a:t>
            </a:r>
            <a:r>
              <a:rPr kumimoji="1" lang="en-US" altLang="ja-JP" sz="2800" b="1" dirty="0"/>
              <a:t>procedure</a:t>
            </a:r>
            <a:r>
              <a:rPr kumimoji="1" lang="en-US" altLang="ja-JP" sz="2800" dirty="0"/>
              <a:t> p (x : </a:t>
            </a:r>
            <a:r>
              <a:rPr kumimoji="1" lang="en-US" altLang="ja-JP" sz="2800" b="1" dirty="0"/>
              <a:t>integer</a:t>
            </a:r>
            <a:r>
              <a:rPr kumimoji="1" lang="en-US" altLang="ja-JP" sz="2800" dirty="0"/>
              <a:t>;  </a:t>
            </a:r>
            <a:r>
              <a:rPr kumimoji="1" lang="en-US" altLang="ja-JP" sz="2800" b="1" dirty="0" err="1"/>
              <a:t>var</a:t>
            </a:r>
            <a:r>
              <a:rPr kumimoji="1" lang="en-US" altLang="ja-JP" sz="2800" dirty="0"/>
              <a:t> y : </a:t>
            </a:r>
            <a:r>
              <a:rPr kumimoji="1" lang="en-US" altLang="ja-JP" sz="2800" b="1" dirty="0"/>
              <a:t>integer</a:t>
            </a:r>
            <a:r>
              <a:rPr kumimoji="1" lang="en-US" altLang="ja-JP" sz="2800" dirty="0"/>
              <a:t>);</a:t>
            </a:r>
          </a:p>
          <a:p>
            <a:r>
              <a:rPr lang="en-US" altLang="ja-JP" sz="2800" dirty="0"/>
              <a:t>       ….</a:t>
            </a:r>
          </a:p>
          <a:p>
            <a:r>
              <a:rPr kumimoji="1" lang="ja-JP" altLang="en-US" sz="2800" dirty="0"/>
              <a:t>のように、</a:t>
            </a:r>
            <a:r>
              <a:rPr kumimoji="1" lang="en-US" altLang="ja-JP" sz="2800" dirty="0"/>
              <a:t>call by reference</a:t>
            </a:r>
            <a:r>
              <a:rPr kumimoji="1" lang="ja-JP" altLang="en-US" sz="2800" dirty="0"/>
              <a:t>にしたい仮引数部分に</a:t>
            </a:r>
            <a:r>
              <a:rPr kumimoji="1" lang="en-US" altLang="ja-JP" sz="2800" b="1" dirty="0" err="1"/>
              <a:t>var</a:t>
            </a:r>
            <a:r>
              <a:rPr kumimoji="1" lang="ja-JP" altLang="en-US" sz="2800" dirty="0"/>
              <a:t>をつけることによって、その仮引数の処理が</a:t>
            </a:r>
            <a:r>
              <a:rPr kumimoji="1" lang="en-US" altLang="ja-JP" sz="2800" dirty="0"/>
              <a:t>call by reference</a:t>
            </a:r>
            <a:r>
              <a:rPr kumimoji="1" lang="ja-JP" altLang="en-US" sz="2800" dirty="0"/>
              <a:t>になることを表す。</a:t>
            </a:r>
            <a:endParaRPr kumimoji="1" lang="en-US" altLang="ja-JP" sz="2800" dirty="0"/>
          </a:p>
          <a:p>
            <a:endParaRPr lang="en-US" altLang="ja-JP" sz="2800" dirty="0"/>
          </a:p>
          <a:p>
            <a:r>
              <a:rPr lang="en-US" altLang="ja-JP" sz="2800" dirty="0"/>
              <a:t>p</a:t>
            </a:r>
            <a:r>
              <a:rPr lang="ja-JP" altLang="en-US" sz="2800" dirty="0"/>
              <a:t>の第二引数には、変数や配列の要素など、アドレスを持つ式（代入文の左辺に書ける式）を与えなければならない。</a:t>
            </a:r>
            <a:endParaRPr kumimoji="1" lang="ja-JP" altLang="en-US" sz="2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796908"/>
          </a:xfrm>
        </p:spPr>
        <p:txBody>
          <a:bodyPr/>
          <a:lstStyle/>
          <a:p>
            <a:r>
              <a:rPr kumimoji="1" lang="en-US" altLang="ja-JP" dirty="0"/>
              <a:t>swap</a:t>
            </a:r>
            <a:r>
              <a:rPr kumimoji="1" lang="ja-JP" altLang="en-US" dirty="0"/>
              <a:t>の例</a:t>
            </a:r>
            <a:r>
              <a:rPr kumimoji="1" lang="en-US" altLang="ja-JP" dirty="0"/>
              <a:t>(Pascal)</a:t>
            </a:r>
            <a:endParaRPr kumimoji="1" lang="ja-JP" altLang="en-US" dirty="0"/>
          </a:p>
        </p:txBody>
      </p:sp>
      <p:sp>
        <p:nvSpPr>
          <p:cNvPr id="5" name="テキスト ボックス 4"/>
          <p:cNvSpPr txBox="1"/>
          <p:nvPr/>
        </p:nvSpPr>
        <p:spPr>
          <a:xfrm>
            <a:off x="928662" y="1071546"/>
            <a:ext cx="7278083" cy="2246769"/>
          </a:xfrm>
          <a:prstGeom prst="rect">
            <a:avLst/>
          </a:prstGeom>
          <a:noFill/>
        </p:spPr>
        <p:txBody>
          <a:bodyPr wrap="none" rtlCol="0">
            <a:spAutoFit/>
          </a:bodyPr>
          <a:lstStyle/>
          <a:p>
            <a:r>
              <a:rPr lang="en-US" altLang="ja-JP" sz="2800" dirty="0"/>
              <a:t> </a:t>
            </a:r>
            <a:r>
              <a:rPr lang="en-US" altLang="ja-JP" sz="2800" b="1" dirty="0"/>
              <a:t>procedure</a:t>
            </a:r>
            <a:r>
              <a:rPr lang="en-US" altLang="ja-JP" sz="2800" dirty="0"/>
              <a:t> swap (</a:t>
            </a:r>
            <a:r>
              <a:rPr lang="en-US" altLang="ja-JP" sz="2800" b="1" dirty="0" err="1"/>
              <a:t>var</a:t>
            </a:r>
            <a:r>
              <a:rPr lang="en-US" altLang="ja-JP" sz="2800" dirty="0"/>
              <a:t> x : </a:t>
            </a:r>
            <a:r>
              <a:rPr lang="en-US" altLang="ja-JP" sz="2800" b="1" dirty="0"/>
              <a:t>integer</a:t>
            </a:r>
            <a:r>
              <a:rPr lang="en-US" altLang="ja-JP" sz="2800" dirty="0"/>
              <a:t>;  </a:t>
            </a:r>
            <a:r>
              <a:rPr lang="en-US" altLang="ja-JP" sz="2800" b="1" dirty="0" err="1"/>
              <a:t>var</a:t>
            </a:r>
            <a:r>
              <a:rPr lang="en-US" altLang="ja-JP" sz="2800" dirty="0"/>
              <a:t> y : </a:t>
            </a:r>
            <a:r>
              <a:rPr lang="en-US" altLang="ja-JP" sz="2800" b="1" dirty="0"/>
              <a:t>integer</a:t>
            </a:r>
            <a:r>
              <a:rPr lang="en-US" altLang="ja-JP" sz="2800" dirty="0"/>
              <a:t>);</a:t>
            </a:r>
          </a:p>
          <a:p>
            <a:r>
              <a:rPr kumimoji="1" lang="en-US" altLang="ja-JP" sz="2800" dirty="0"/>
              <a:t> </a:t>
            </a:r>
            <a:r>
              <a:rPr kumimoji="1" lang="en-US" altLang="ja-JP" sz="2800" b="1" dirty="0" err="1"/>
              <a:t>var</a:t>
            </a:r>
            <a:r>
              <a:rPr kumimoji="1" lang="en-US" altLang="ja-JP" sz="2800" dirty="0"/>
              <a:t> z : </a:t>
            </a:r>
            <a:r>
              <a:rPr kumimoji="1" lang="en-US" altLang="ja-JP" sz="2800" b="1" dirty="0"/>
              <a:t>integer</a:t>
            </a:r>
            <a:r>
              <a:rPr kumimoji="1" lang="en-US" altLang="ja-JP" sz="2800" dirty="0"/>
              <a:t>;</a:t>
            </a:r>
          </a:p>
          <a:p>
            <a:r>
              <a:rPr kumimoji="1" lang="en-US" altLang="ja-JP" sz="2800" dirty="0"/>
              <a:t>    </a:t>
            </a:r>
            <a:r>
              <a:rPr kumimoji="1" lang="en-US" altLang="ja-JP" sz="2800" b="1" dirty="0"/>
              <a:t>begin</a:t>
            </a:r>
          </a:p>
          <a:p>
            <a:r>
              <a:rPr lang="en-US" altLang="ja-JP" sz="2800" dirty="0"/>
              <a:t>        z := x; x := y; y := z</a:t>
            </a:r>
            <a:endParaRPr kumimoji="1" lang="en-US" altLang="ja-JP" sz="2800" dirty="0"/>
          </a:p>
          <a:p>
            <a:r>
              <a:rPr lang="en-US" altLang="ja-JP" sz="2800" dirty="0"/>
              <a:t>    </a:t>
            </a:r>
            <a:r>
              <a:rPr lang="en-US" altLang="ja-JP" sz="2800" b="1" dirty="0"/>
              <a:t>end</a:t>
            </a:r>
            <a:r>
              <a:rPr lang="en-US" altLang="ja-JP" sz="2800" dirty="0"/>
              <a:t>;</a:t>
            </a:r>
            <a:endParaRPr kumimoji="1" lang="ja-JP" altLang="en-US" sz="2800" dirty="0"/>
          </a:p>
        </p:txBody>
      </p:sp>
      <p:sp>
        <p:nvSpPr>
          <p:cNvPr id="6" name="テキスト ボックス 5"/>
          <p:cNvSpPr txBox="1"/>
          <p:nvPr/>
        </p:nvSpPr>
        <p:spPr>
          <a:xfrm>
            <a:off x="642910" y="3214686"/>
            <a:ext cx="7858180" cy="3539430"/>
          </a:xfrm>
          <a:prstGeom prst="rect">
            <a:avLst/>
          </a:prstGeom>
          <a:noFill/>
        </p:spPr>
        <p:txBody>
          <a:bodyPr wrap="square" rtlCol="0">
            <a:spAutoFit/>
          </a:bodyPr>
          <a:lstStyle/>
          <a:p>
            <a:r>
              <a:rPr lang="ja-JP" altLang="en-US" sz="2800" dirty="0"/>
              <a:t>この例では、</a:t>
            </a:r>
            <a:r>
              <a:rPr lang="en-US" altLang="ja-JP" sz="2800" dirty="0"/>
              <a:t>x</a:t>
            </a:r>
            <a:r>
              <a:rPr kumimoji="1" lang="ja-JP" altLang="en-US" sz="2800" dirty="0"/>
              <a:t>も</a:t>
            </a:r>
            <a:r>
              <a:rPr kumimoji="1" lang="en-US" altLang="ja-JP" sz="2800" dirty="0"/>
              <a:t>y</a:t>
            </a:r>
            <a:r>
              <a:rPr kumimoji="1" lang="ja-JP" altLang="en-US" sz="2800" dirty="0"/>
              <a:t>も</a:t>
            </a:r>
            <a:r>
              <a:rPr kumimoji="1" lang="en-US" altLang="ja-JP" sz="2800" dirty="0"/>
              <a:t>call by reference</a:t>
            </a:r>
            <a:r>
              <a:rPr lang="ja-JP" altLang="en-US" sz="2800" dirty="0"/>
              <a:t>である</a:t>
            </a:r>
            <a:r>
              <a:rPr kumimoji="1" lang="ja-JP" altLang="en-US" sz="2800" dirty="0"/>
              <a:t>。例えば、</a:t>
            </a:r>
            <a:r>
              <a:rPr kumimoji="1" lang="en-US" altLang="ja-JP" sz="2800" dirty="0"/>
              <a:t>swap (</a:t>
            </a:r>
            <a:r>
              <a:rPr kumimoji="1" lang="en-US" altLang="ja-JP" sz="2800" dirty="0" err="1"/>
              <a:t>i</a:t>
            </a:r>
            <a:r>
              <a:rPr kumimoji="1" lang="en-US" altLang="ja-JP" sz="2800" dirty="0"/>
              <a:t>, A[</a:t>
            </a:r>
            <a:r>
              <a:rPr kumimoji="1" lang="en-US" altLang="ja-JP" sz="2800" dirty="0" err="1"/>
              <a:t>i</a:t>
            </a:r>
            <a:r>
              <a:rPr kumimoji="1" lang="en-US" altLang="ja-JP" sz="2800" dirty="0"/>
              <a:t>])</a:t>
            </a:r>
            <a:r>
              <a:rPr kumimoji="1" lang="ja-JP" altLang="en-US" sz="2800" dirty="0"/>
              <a:t>は以下のように実行される。</a:t>
            </a:r>
            <a:endParaRPr kumimoji="1" lang="en-US" altLang="ja-JP" sz="2800" dirty="0"/>
          </a:p>
          <a:p>
            <a:r>
              <a:rPr lang="en-US" altLang="ja-JP" sz="2800" dirty="0"/>
              <a:t>   </a:t>
            </a:r>
            <a:r>
              <a:rPr lang="ja-JP" altLang="en-US" sz="2800" dirty="0"/>
              <a:t>（１）</a:t>
            </a:r>
            <a:r>
              <a:rPr lang="en-US" altLang="ja-JP" sz="2800" dirty="0"/>
              <a:t> x</a:t>
            </a:r>
            <a:r>
              <a:rPr lang="ja-JP" altLang="en-US" sz="2800" dirty="0"/>
              <a:t>のアドレスを</a:t>
            </a:r>
            <a:r>
              <a:rPr lang="en-US" altLang="ja-JP" sz="2800" dirty="0" err="1"/>
              <a:t>i</a:t>
            </a:r>
            <a:r>
              <a:rPr lang="ja-JP" altLang="en-US" sz="2800" dirty="0"/>
              <a:t>のアドレスにする。</a:t>
            </a:r>
            <a:endParaRPr lang="en-US" altLang="ja-JP" sz="2800" dirty="0"/>
          </a:p>
          <a:p>
            <a:r>
              <a:rPr kumimoji="1" lang="en-US" altLang="ja-JP" sz="2800" dirty="0"/>
              <a:t>   </a:t>
            </a:r>
            <a:r>
              <a:rPr kumimoji="1" lang="ja-JP" altLang="en-US" sz="2800" dirty="0"/>
              <a:t>（２） </a:t>
            </a:r>
            <a:r>
              <a:rPr kumimoji="1" lang="en-US" altLang="ja-JP" sz="2800" dirty="0"/>
              <a:t>y</a:t>
            </a:r>
            <a:r>
              <a:rPr kumimoji="1" lang="ja-JP" altLang="en-US" sz="2800" dirty="0"/>
              <a:t>のアドレスを</a:t>
            </a:r>
            <a:r>
              <a:rPr kumimoji="1" lang="en-US" altLang="ja-JP" sz="2800" dirty="0"/>
              <a:t>A[</a:t>
            </a:r>
            <a:r>
              <a:rPr kumimoji="1" lang="en-US" altLang="ja-JP" sz="2800" dirty="0" err="1"/>
              <a:t>i</a:t>
            </a:r>
            <a:r>
              <a:rPr kumimoji="1" lang="en-US" altLang="ja-JP" sz="2800" dirty="0"/>
              <a:t>]</a:t>
            </a:r>
            <a:r>
              <a:rPr kumimoji="1" lang="ja-JP" altLang="en-US" sz="2800" dirty="0"/>
              <a:t>のアドレスにする。</a:t>
            </a:r>
            <a:endParaRPr kumimoji="1" lang="en-US" altLang="ja-JP" sz="2800" dirty="0"/>
          </a:p>
          <a:p>
            <a:r>
              <a:rPr lang="en-US" altLang="ja-JP" sz="2800" dirty="0"/>
              <a:t>   </a:t>
            </a:r>
            <a:r>
              <a:rPr lang="ja-JP" altLang="en-US" sz="2800" dirty="0"/>
              <a:t>（３） </a:t>
            </a:r>
            <a:r>
              <a:rPr lang="en-US" altLang="ja-JP" sz="2800" dirty="0"/>
              <a:t>z := x; x := y; y := z</a:t>
            </a:r>
          </a:p>
          <a:p>
            <a:r>
              <a:rPr kumimoji="1" lang="ja-JP" altLang="en-US" sz="2800" dirty="0"/>
              <a:t>例えば </a:t>
            </a:r>
            <a:r>
              <a:rPr kumimoji="1" lang="en-US" altLang="ja-JP" sz="2800" dirty="0" err="1"/>
              <a:t>i</a:t>
            </a:r>
            <a:r>
              <a:rPr kumimoji="1" lang="ja-JP" altLang="en-US" sz="2800" dirty="0"/>
              <a:t>が</a:t>
            </a:r>
            <a:r>
              <a:rPr kumimoji="1" lang="en-US" altLang="ja-JP" sz="2800" dirty="0"/>
              <a:t>2, A[2]</a:t>
            </a:r>
            <a:r>
              <a:rPr kumimoji="1" lang="ja-JP" altLang="en-US" sz="2800" dirty="0"/>
              <a:t>が</a:t>
            </a:r>
            <a:r>
              <a:rPr lang="en-US" altLang="ja-JP" sz="2800" dirty="0"/>
              <a:t>99</a:t>
            </a:r>
            <a:r>
              <a:rPr lang="ja-JP" altLang="en-US" sz="2800" dirty="0"/>
              <a:t>の場合、</a:t>
            </a:r>
            <a:r>
              <a:rPr kumimoji="1" lang="en-US" altLang="ja-JP" sz="2800" dirty="0"/>
              <a:t>z := </a:t>
            </a:r>
            <a:r>
              <a:rPr lang="en-US" altLang="ja-JP" sz="2800" dirty="0"/>
              <a:t>2</a:t>
            </a:r>
            <a:r>
              <a:rPr kumimoji="1" lang="en-US" altLang="ja-JP" sz="2800" dirty="0"/>
              <a:t>; </a:t>
            </a:r>
            <a:r>
              <a:rPr kumimoji="1" lang="en-US" altLang="ja-JP" sz="2800" dirty="0" err="1"/>
              <a:t>i</a:t>
            </a:r>
            <a:r>
              <a:rPr kumimoji="1" lang="en-US" altLang="ja-JP" sz="2800" dirty="0"/>
              <a:t> := 99; A[</a:t>
            </a:r>
            <a:r>
              <a:rPr lang="en-US" altLang="ja-JP" sz="2800" dirty="0"/>
              <a:t>2</a:t>
            </a:r>
            <a:r>
              <a:rPr kumimoji="1" lang="en-US" altLang="ja-JP" sz="2800" dirty="0"/>
              <a:t>] = z</a:t>
            </a:r>
          </a:p>
          <a:p>
            <a:r>
              <a:rPr lang="ja-JP" altLang="en-US" sz="2800" dirty="0"/>
              <a:t>の実行と同じ効果を持つので、</a:t>
            </a:r>
            <a:r>
              <a:rPr lang="en-US" altLang="ja-JP" sz="2800" dirty="0" err="1"/>
              <a:t>i</a:t>
            </a:r>
            <a:r>
              <a:rPr lang="ja-JP" altLang="en-US" sz="2800" dirty="0"/>
              <a:t>と</a:t>
            </a:r>
            <a:r>
              <a:rPr lang="en-US" altLang="ja-JP" sz="2800" dirty="0"/>
              <a:t>A[2]</a:t>
            </a:r>
            <a:r>
              <a:rPr lang="ja-JP" altLang="en-US" sz="2800" dirty="0"/>
              <a:t>の値が入れ替わることが分かる。</a:t>
            </a:r>
            <a:endParaRPr kumimoji="1" lang="en-US" altLang="ja-JP" sz="2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練習問題</a:t>
            </a:r>
            <a:endParaRPr kumimoji="1" lang="ja-JP" altLang="en-US" dirty="0"/>
          </a:p>
        </p:txBody>
      </p:sp>
      <p:sp>
        <p:nvSpPr>
          <p:cNvPr id="4" name="正方形/長方形 3"/>
          <p:cNvSpPr/>
          <p:nvPr/>
        </p:nvSpPr>
        <p:spPr>
          <a:xfrm>
            <a:off x="899592" y="2564904"/>
            <a:ext cx="4896544" cy="3970318"/>
          </a:xfrm>
          <a:prstGeom prst="rect">
            <a:avLst/>
          </a:prstGeom>
        </p:spPr>
        <p:txBody>
          <a:bodyPr wrap="square">
            <a:spAutoFit/>
          </a:bodyPr>
          <a:lstStyle/>
          <a:p>
            <a:r>
              <a:rPr lang="en-US" altLang="ja-JP" sz="2800" dirty="0"/>
              <a:t>program test;</a:t>
            </a:r>
          </a:p>
          <a:p>
            <a:r>
              <a:rPr lang="en-US" altLang="ja-JP" sz="2800" dirty="0" err="1"/>
              <a:t>var</a:t>
            </a:r>
            <a:r>
              <a:rPr lang="en-US" altLang="ja-JP" sz="2800" dirty="0"/>
              <a:t> x : integer;</a:t>
            </a:r>
          </a:p>
          <a:p>
            <a:r>
              <a:rPr lang="en-US" altLang="ja-JP" sz="2800" dirty="0" err="1"/>
              <a:t>var</a:t>
            </a:r>
            <a:r>
              <a:rPr lang="en-US" altLang="ja-JP" sz="2800" dirty="0"/>
              <a:t> y : integer;</a:t>
            </a:r>
          </a:p>
          <a:p>
            <a:r>
              <a:rPr lang="en-US" altLang="ja-JP" sz="2800" dirty="0"/>
              <a:t>procedure swap</a:t>
            </a:r>
          </a:p>
          <a:p>
            <a:r>
              <a:rPr lang="en-US" altLang="ja-JP" sz="2800" dirty="0"/>
              <a:t>    (</a:t>
            </a:r>
            <a:r>
              <a:rPr lang="en-US" altLang="ja-JP" sz="2800" dirty="0" err="1"/>
              <a:t>var</a:t>
            </a:r>
            <a:r>
              <a:rPr lang="en-US" altLang="ja-JP" sz="2800" dirty="0"/>
              <a:t> x: integer;</a:t>
            </a:r>
            <a:r>
              <a:rPr lang="ja-JP" altLang="en-US" sz="2800" dirty="0"/>
              <a:t> </a:t>
            </a:r>
            <a:r>
              <a:rPr lang="en-US" altLang="ja-JP" sz="2800" dirty="0" err="1"/>
              <a:t>var</a:t>
            </a:r>
            <a:r>
              <a:rPr lang="en-US" altLang="ja-JP" sz="2800" dirty="0"/>
              <a:t> y : integer);</a:t>
            </a:r>
          </a:p>
          <a:p>
            <a:r>
              <a:rPr lang="en-US" altLang="ja-JP" sz="2800" dirty="0" err="1"/>
              <a:t>var</a:t>
            </a:r>
            <a:r>
              <a:rPr lang="en-US" altLang="ja-JP" sz="2800" dirty="0"/>
              <a:t> z : integer;</a:t>
            </a:r>
          </a:p>
          <a:p>
            <a:r>
              <a:rPr lang="en-US" altLang="ja-JP" sz="2800" dirty="0"/>
              <a:t>begin</a:t>
            </a:r>
          </a:p>
          <a:p>
            <a:r>
              <a:rPr lang="en-US" altLang="ja-JP" sz="2800" dirty="0"/>
              <a:t>    z := x; x := y; y := z</a:t>
            </a:r>
          </a:p>
          <a:p>
            <a:r>
              <a:rPr lang="en-US" altLang="ja-JP" sz="2800" dirty="0"/>
              <a:t>end;</a:t>
            </a:r>
          </a:p>
        </p:txBody>
      </p:sp>
      <p:sp>
        <p:nvSpPr>
          <p:cNvPr id="5" name="正方形/長方形 4"/>
          <p:cNvSpPr/>
          <p:nvPr/>
        </p:nvSpPr>
        <p:spPr>
          <a:xfrm>
            <a:off x="6228184" y="2708920"/>
            <a:ext cx="2016224" cy="3108543"/>
          </a:xfrm>
          <a:prstGeom prst="rect">
            <a:avLst/>
          </a:prstGeom>
        </p:spPr>
        <p:txBody>
          <a:bodyPr wrap="square">
            <a:spAutoFit/>
          </a:bodyPr>
          <a:lstStyle/>
          <a:p>
            <a:r>
              <a:rPr lang="en-US" altLang="ja-JP" sz="2800" dirty="0"/>
              <a:t>begin</a:t>
            </a:r>
          </a:p>
          <a:p>
            <a:r>
              <a:rPr lang="en-US" altLang="ja-JP" sz="2800" dirty="0"/>
              <a:t>x := 3;</a:t>
            </a:r>
          </a:p>
          <a:p>
            <a:r>
              <a:rPr lang="en-US" altLang="ja-JP" sz="2800" dirty="0"/>
              <a:t>y := 4;</a:t>
            </a:r>
          </a:p>
          <a:p>
            <a:r>
              <a:rPr lang="en-US" altLang="ja-JP" sz="2800" dirty="0"/>
              <a:t>swap (</a:t>
            </a:r>
            <a:r>
              <a:rPr lang="en-US" altLang="ja-JP" sz="2800" dirty="0" err="1"/>
              <a:t>x,y</a:t>
            </a:r>
            <a:r>
              <a:rPr lang="en-US" altLang="ja-JP" sz="2800" dirty="0"/>
              <a:t>);</a:t>
            </a:r>
          </a:p>
          <a:p>
            <a:r>
              <a:rPr lang="en-US" altLang="ja-JP" sz="2800" dirty="0" err="1"/>
              <a:t>writeln</a:t>
            </a:r>
            <a:r>
              <a:rPr lang="en-US" altLang="ja-JP" sz="2800" dirty="0"/>
              <a:t> (x);</a:t>
            </a:r>
          </a:p>
          <a:p>
            <a:r>
              <a:rPr lang="en-US" altLang="ja-JP" sz="2800" dirty="0" err="1"/>
              <a:t>writeln</a:t>
            </a:r>
            <a:r>
              <a:rPr lang="en-US" altLang="ja-JP" sz="2800" dirty="0"/>
              <a:t> (y)</a:t>
            </a:r>
          </a:p>
          <a:p>
            <a:r>
              <a:rPr lang="en-US" altLang="ja-JP" sz="2800" dirty="0"/>
              <a:t>end.</a:t>
            </a:r>
            <a:endParaRPr lang="ja-JP" altLang="en-US" sz="2800" dirty="0"/>
          </a:p>
        </p:txBody>
      </p:sp>
      <p:sp>
        <p:nvSpPr>
          <p:cNvPr id="6" name="正方形/長方形 5"/>
          <p:cNvSpPr/>
          <p:nvPr/>
        </p:nvSpPr>
        <p:spPr>
          <a:xfrm>
            <a:off x="539552" y="1292567"/>
            <a:ext cx="7992888" cy="1200329"/>
          </a:xfrm>
          <a:prstGeom prst="rect">
            <a:avLst/>
          </a:prstGeom>
        </p:spPr>
        <p:txBody>
          <a:bodyPr wrap="square">
            <a:spAutoFit/>
          </a:bodyPr>
          <a:lstStyle/>
          <a:p>
            <a:r>
              <a:rPr lang="ja-JP" altLang="en-US" sz="2400" dirty="0"/>
              <a:t>以下の</a:t>
            </a:r>
            <a:r>
              <a:rPr lang="en-US" altLang="ja-JP" sz="2400" dirty="0"/>
              <a:t>Pascal </a:t>
            </a:r>
            <a:r>
              <a:rPr lang="ja-JP" altLang="en-US" sz="2400" dirty="0"/>
              <a:t>プログラムを実行したときの出力結果を示せ。手続きの仮引数に</a:t>
            </a:r>
            <a:r>
              <a:rPr lang="en-US" altLang="ja-JP" sz="2400" dirty="0" err="1"/>
              <a:t>var</a:t>
            </a:r>
            <a:r>
              <a:rPr lang="ja-JP" altLang="en-US" sz="2400" dirty="0"/>
              <a:t>がついている場合、</a:t>
            </a:r>
            <a:r>
              <a:rPr lang="en-US" altLang="ja-JP" sz="2400" dirty="0"/>
              <a:t>call by reference </a:t>
            </a:r>
            <a:r>
              <a:rPr lang="ja-JP" altLang="en-US" sz="2400" dirty="0"/>
              <a:t>であることを表す。</a:t>
            </a:r>
            <a:r>
              <a:rPr lang="en-US" altLang="ja-JP" sz="2400" dirty="0" err="1"/>
              <a:t>writeln</a:t>
            </a:r>
            <a:r>
              <a:rPr lang="en-US" altLang="ja-JP" sz="2400" dirty="0"/>
              <a:t> </a:t>
            </a:r>
            <a:r>
              <a:rPr lang="ja-JP" altLang="en-US" sz="2400" dirty="0"/>
              <a:t>は引数の値を出力後改行する。</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1011222"/>
          </a:xfrm>
        </p:spPr>
        <p:txBody>
          <a:bodyPr/>
          <a:lstStyle/>
          <a:p>
            <a:r>
              <a:rPr kumimoji="1" lang="en-US" altLang="ja-JP" dirty="0"/>
              <a:t>C</a:t>
            </a:r>
            <a:r>
              <a:rPr lang="ja-JP" altLang="en-US" dirty="0"/>
              <a:t>言語について</a:t>
            </a:r>
            <a:endParaRPr kumimoji="1" lang="ja-JP" altLang="en-US" dirty="0"/>
          </a:p>
        </p:txBody>
      </p:sp>
      <p:sp>
        <p:nvSpPr>
          <p:cNvPr id="4" name="テキスト ボックス 3"/>
          <p:cNvSpPr txBox="1"/>
          <p:nvPr/>
        </p:nvSpPr>
        <p:spPr>
          <a:xfrm>
            <a:off x="571472" y="1357298"/>
            <a:ext cx="8572528" cy="4832092"/>
          </a:xfrm>
          <a:prstGeom prst="rect">
            <a:avLst/>
          </a:prstGeom>
          <a:noFill/>
        </p:spPr>
        <p:txBody>
          <a:bodyPr wrap="square" rtlCol="0">
            <a:spAutoFit/>
          </a:bodyPr>
          <a:lstStyle/>
          <a:p>
            <a:r>
              <a:rPr lang="en-US" altLang="ja-JP" sz="2800" dirty="0"/>
              <a:t>C</a:t>
            </a:r>
            <a:r>
              <a:rPr lang="ja-JP" altLang="en-US" sz="2800" dirty="0"/>
              <a:t>言語での引数の受け渡しは</a:t>
            </a:r>
            <a:r>
              <a:rPr lang="en-US" altLang="ja-JP" sz="2800" dirty="0"/>
              <a:t>call by value</a:t>
            </a:r>
            <a:r>
              <a:rPr lang="ja-JP" altLang="en-US" sz="2800" dirty="0"/>
              <a:t>のみである。</a:t>
            </a:r>
            <a:endParaRPr lang="en-US" altLang="ja-JP" sz="2800" dirty="0"/>
          </a:p>
          <a:p>
            <a:r>
              <a:rPr kumimoji="1" lang="ja-JP" altLang="en-US" sz="2800" dirty="0"/>
              <a:t>ただ、</a:t>
            </a:r>
            <a:r>
              <a:rPr kumimoji="1" lang="en-US" altLang="ja-JP" sz="2800" dirty="0"/>
              <a:t>C</a:t>
            </a:r>
            <a:r>
              <a:rPr kumimoji="1" lang="ja-JP" altLang="en-US" sz="2800" dirty="0" err="1"/>
              <a:t>には</a:t>
            </a:r>
            <a:r>
              <a:rPr kumimoji="1" lang="ja-JP" altLang="en-US" sz="2800" dirty="0"/>
              <a:t>ポインタがあり、ポインタを渡すことによって</a:t>
            </a:r>
            <a:r>
              <a:rPr kumimoji="1" lang="en-US" altLang="ja-JP" sz="2800" dirty="0"/>
              <a:t>call by reference</a:t>
            </a:r>
            <a:r>
              <a:rPr kumimoji="1" lang="ja-JP" altLang="en-US" sz="2800" dirty="0"/>
              <a:t>をシミュレートできる。</a:t>
            </a:r>
            <a:endParaRPr lang="en-US" altLang="ja-JP" sz="2800" dirty="0"/>
          </a:p>
          <a:p>
            <a:r>
              <a:rPr lang="en-US" altLang="ja-JP" sz="2800" b="1" dirty="0"/>
              <a:t>    v</a:t>
            </a:r>
            <a:r>
              <a:rPr kumimoji="1" lang="en-US" altLang="ja-JP" sz="2800" b="1" dirty="0"/>
              <a:t>oid</a:t>
            </a:r>
            <a:r>
              <a:rPr kumimoji="1" lang="en-US" altLang="ja-JP" sz="2800" dirty="0"/>
              <a:t> swap (</a:t>
            </a:r>
            <a:r>
              <a:rPr kumimoji="1" lang="en-US" altLang="ja-JP" sz="2800" b="1" dirty="0" err="1"/>
              <a:t>int</a:t>
            </a:r>
            <a:r>
              <a:rPr kumimoji="1" lang="en-US" altLang="ja-JP" sz="2800" b="1" dirty="0"/>
              <a:t> </a:t>
            </a:r>
            <a:r>
              <a:rPr kumimoji="1" lang="en-US" altLang="ja-JP" sz="2800" dirty="0"/>
              <a:t>* </a:t>
            </a:r>
            <a:r>
              <a:rPr kumimoji="1" lang="en-US" altLang="ja-JP" sz="2800" dirty="0" err="1"/>
              <a:t>px</a:t>
            </a:r>
            <a:r>
              <a:rPr kumimoji="1" lang="en-US" altLang="ja-JP" sz="2800" dirty="0"/>
              <a:t>, </a:t>
            </a:r>
            <a:r>
              <a:rPr kumimoji="1" lang="en-US" altLang="ja-JP" sz="2800" b="1" dirty="0" err="1"/>
              <a:t>int</a:t>
            </a:r>
            <a:r>
              <a:rPr kumimoji="1" lang="en-US" altLang="ja-JP" sz="2800" dirty="0"/>
              <a:t> * </a:t>
            </a:r>
            <a:r>
              <a:rPr kumimoji="1" lang="en-US" altLang="ja-JP" sz="2800" dirty="0" err="1"/>
              <a:t>py</a:t>
            </a:r>
            <a:r>
              <a:rPr kumimoji="1" lang="en-US" altLang="ja-JP" sz="2800" dirty="0"/>
              <a:t>) {</a:t>
            </a:r>
          </a:p>
          <a:p>
            <a:r>
              <a:rPr lang="en-US" altLang="ja-JP" sz="2800" dirty="0"/>
              <a:t>        </a:t>
            </a:r>
            <a:r>
              <a:rPr lang="en-US" altLang="ja-JP" sz="2800" b="1" dirty="0" err="1"/>
              <a:t>int</a:t>
            </a:r>
            <a:r>
              <a:rPr lang="en-US" altLang="ja-JP" sz="2800" dirty="0"/>
              <a:t> z;</a:t>
            </a:r>
          </a:p>
          <a:p>
            <a:r>
              <a:rPr kumimoji="1" lang="en-US" altLang="ja-JP" sz="2800" dirty="0"/>
              <a:t>        z = *</a:t>
            </a:r>
            <a:r>
              <a:rPr kumimoji="1" lang="en-US" altLang="ja-JP" sz="2800" dirty="0" err="1"/>
              <a:t>px</a:t>
            </a:r>
            <a:r>
              <a:rPr kumimoji="1" lang="en-US" altLang="ja-JP" sz="2800" dirty="0"/>
              <a:t>; *</a:t>
            </a:r>
            <a:r>
              <a:rPr kumimoji="1" lang="en-US" altLang="ja-JP" sz="2800" dirty="0" err="1"/>
              <a:t>px</a:t>
            </a:r>
            <a:r>
              <a:rPr kumimoji="1" lang="en-US" altLang="ja-JP" sz="2800" dirty="0"/>
              <a:t> = *</a:t>
            </a:r>
            <a:r>
              <a:rPr kumimoji="1" lang="en-US" altLang="ja-JP" sz="2800" dirty="0" err="1"/>
              <a:t>py</a:t>
            </a:r>
            <a:r>
              <a:rPr kumimoji="1" lang="en-US" altLang="ja-JP" sz="2800" dirty="0"/>
              <a:t>; *</a:t>
            </a:r>
            <a:r>
              <a:rPr kumimoji="1" lang="en-US" altLang="ja-JP" sz="2800" dirty="0" err="1"/>
              <a:t>py</a:t>
            </a:r>
            <a:r>
              <a:rPr lang="en-US" altLang="ja-JP" sz="2800" dirty="0"/>
              <a:t> = z;</a:t>
            </a:r>
          </a:p>
          <a:p>
            <a:r>
              <a:rPr kumimoji="1" lang="en-US" altLang="ja-JP" sz="2800" dirty="0"/>
              <a:t>    }</a:t>
            </a:r>
            <a:endParaRPr lang="en-US" altLang="ja-JP" sz="2800" dirty="0"/>
          </a:p>
          <a:p>
            <a:r>
              <a:rPr kumimoji="1" lang="ja-JP" altLang="en-US" sz="2800" dirty="0"/>
              <a:t>この関数</a:t>
            </a:r>
            <a:r>
              <a:rPr kumimoji="1" lang="en-US" altLang="ja-JP" sz="2800" dirty="0"/>
              <a:t>swap</a:t>
            </a:r>
            <a:r>
              <a:rPr kumimoji="1" lang="ja-JP" altLang="en-US" sz="2800" dirty="0"/>
              <a:t>を呼び出す</a:t>
            </a:r>
            <a:r>
              <a:rPr lang="ja-JP" altLang="en-US" sz="2800" dirty="0"/>
              <a:t>際、ポインタ（アドレス）を渡す</a:t>
            </a:r>
            <a:r>
              <a:rPr lang="en-US" altLang="en-US" sz="2800" dirty="0"/>
              <a:t>。</a:t>
            </a:r>
          </a:p>
          <a:p>
            <a:r>
              <a:rPr lang="en-US" altLang="ja-JP" sz="2800" dirty="0"/>
              <a:t>    </a:t>
            </a:r>
            <a:r>
              <a:rPr lang="en-US" altLang="ja-JP" sz="2800" b="1" dirty="0" err="1"/>
              <a:t>int</a:t>
            </a:r>
            <a:r>
              <a:rPr lang="en-US" altLang="ja-JP" sz="2800" dirty="0"/>
              <a:t> a = 1, b = 2;</a:t>
            </a:r>
          </a:p>
          <a:p>
            <a:r>
              <a:rPr kumimoji="1" lang="en-US" altLang="ja-JP" sz="2800" dirty="0"/>
              <a:t>    swap (&amp;a, &amp;b);</a:t>
            </a:r>
          </a:p>
          <a:p>
            <a:r>
              <a:rPr lang="ja-JP" altLang="en-US" sz="2800" dirty="0"/>
              <a:t>これにより、変数</a:t>
            </a:r>
            <a:r>
              <a:rPr lang="en-US" altLang="ja-JP" sz="2800" dirty="0"/>
              <a:t>a</a:t>
            </a:r>
            <a:r>
              <a:rPr lang="ja-JP" altLang="en-US" sz="2800" dirty="0"/>
              <a:t>と</a:t>
            </a:r>
            <a:r>
              <a:rPr lang="en-US" altLang="ja-JP" sz="2800" dirty="0"/>
              <a:t>b</a:t>
            </a:r>
            <a:r>
              <a:rPr lang="ja-JP" altLang="en-US" sz="2800" dirty="0"/>
              <a:t>の値が入れ替わる。</a:t>
            </a:r>
            <a:endParaRPr kumimoji="1" lang="ja-JP" altLang="en-US" sz="2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71414"/>
            <a:ext cx="8229600" cy="725470"/>
          </a:xfrm>
        </p:spPr>
        <p:txBody>
          <a:bodyPr>
            <a:normAutofit fontScale="90000"/>
          </a:bodyPr>
          <a:lstStyle/>
          <a:p>
            <a:r>
              <a:rPr kumimoji="1" lang="en-US" altLang="ja-JP" dirty="0"/>
              <a:t>Call by name</a:t>
            </a:r>
            <a:endParaRPr kumimoji="1" lang="ja-JP" altLang="en-US" dirty="0"/>
          </a:p>
        </p:txBody>
      </p:sp>
      <p:sp>
        <p:nvSpPr>
          <p:cNvPr id="4" name="テキスト ボックス 3"/>
          <p:cNvSpPr txBox="1"/>
          <p:nvPr/>
        </p:nvSpPr>
        <p:spPr>
          <a:xfrm>
            <a:off x="642910" y="764704"/>
            <a:ext cx="8072494" cy="2246769"/>
          </a:xfrm>
          <a:prstGeom prst="rect">
            <a:avLst/>
          </a:prstGeom>
          <a:noFill/>
        </p:spPr>
        <p:txBody>
          <a:bodyPr wrap="square" rtlCol="0">
            <a:spAutoFit/>
          </a:bodyPr>
          <a:lstStyle/>
          <a:p>
            <a:r>
              <a:rPr kumimoji="1" lang="en-US" altLang="ja-JP" sz="2800" dirty="0"/>
              <a:t>Call by name</a:t>
            </a:r>
            <a:r>
              <a:rPr kumimoji="1" lang="ja-JP" altLang="en-US" sz="2800" dirty="0"/>
              <a:t>では、手続きの本体の中の仮引数を実引数の式で置き換えて実行する。</a:t>
            </a:r>
            <a:r>
              <a:rPr lang="ja-JP" altLang="en-US" sz="2800" dirty="0"/>
              <a:t>ただし、この置き換えで名前の衝突が起こる場合は、名前の付け替えを行う。</a:t>
            </a:r>
            <a:r>
              <a:rPr lang="en-US" altLang="ja-JP" sz="2800" dirty="0"/>
              <a:t>Algol60</a:t>
            </a:r>
            <a:r>
              <a:rPr lang="ja-JP" altLang="en-US" sz="2800" dirty="0"/>
              <a:t>はデフォルトで</a:t>
            </a:r>
            <a:r>
              <a:rPr lang="en-US" altLang="ja-JP" sz="2800" dirty="0"/>
              <a:t>call by name</a:t>
            </a:r>
            <a:r>
              <a:rPr lang="ja-JP" altLang="en-US" sz="2800" dirty="0"/>
              <a:t>である。（</a:t>
            </a:r>
            <a:r>
              <a:rPr lang="en-US" altLang="ja-JP" sz="2800" dirty="0"/>
              <a:t>Algol68</a:t>
            </a:r>
            <a:r>
              <a:rPr lang="ja-JP" altLang="en-US" sz="2800" dirty="0"/>
              <a:t>では</a:t>
            </a:r>
            <a:r>
              <a:rPr lang="en-US" altLang="ja-JP" sz="2800" dirty="0"/>
              <a:t>call by name</a:t>
            </a:r>
            <a:r>
              <a:rPr lang="ja-JP" altLang="en-US" sz="2800" dirty="0"/>
              <a:t>はなくなった。）</a:t>
            </a:r>
            <a:endParaRPr lang="en-US" altLang="ja-JP" sz="2800" dirty="0"/>
          </a:p>
        </p:txBody>
      </p:sp>
      <p:sp>
        <p:nvSpPr>
          <p:cNvPr id="5" name="テキスト ボックス 4"/>
          <p:cNvSpPr txBox="1"/>
          <p:nvPr/>
        </p:nvSpPr>
        <p:spPr>
          <a:xfrm>
            <a:off x="285720" y="2924944"/>
            <a:ext cx="8705588" cy="2677656"/>
          </a:xfrm>
          <a:prstGeom prst="rect">
            <a:avLst/>
          </a:prstGeom>
          <a:noFill/>
        </p:spPr>
        <p:txBody>
          <a:bodyPr wrap="none" rtlCol="0">
            <a:spAutoFit/>
          </a:bodyPr>
          <a:lstStyle/>
          <a:p>
            <a:r>
              <a:rPr lang="en-US" altLang="ja-JP" sz="2800" b="1" dirty="0"/>
              <a:t>program  </a:t>
            </a:r>
            <a:r>
              <a:rPr lang="en-US" altLang="ja-JP" sz="2800" dirty="0"/>
              <a:t>{</a:t>
            </a:r>
            <a:r>
              <a:rPr lang="ja-JP" altLang="en-US" sz="2800" dirty="0"/>
              <a:t>内積の計算</a:t>
            </a:r>
            <a:r>
              <a:rPr lang="en-US" altLang="ja-JP" sz="2800" dirty="0"/>
              <a:t>}</a:t>
            </a:r>
            <a:endParaRPr kumimoji="1" lang="en-US" altLang="ja-JP" sz="2800" dirty="0"/>
          </a:p>
          <a:p>
            <a:r>
              <a:rPr lang="en-US" altLang="ja-JP" sz="2800" dirty="0"/>
              <a:t>    </a:t>
            </a:r>
            <a:r>
              <a:rPr lang="en-US" altLang="ja-JP" sz="2800" b="1" dirty="0" err="1"/>
              <a:t>var</a:t>
            </a:r>
            <a:r>
              <a:rPr lang="en-US" altLang="ja-JP" sz="2800" dirty="0"/>
              <a:t> </a:t>
            </a:r>
            <a:r>
              <a:rPr lang="en-US" altLang="ja-JP" sz="2800" dirty="0" err="1"/>
              <a:t>i</a:t>
            </a:r>
            <a:r>
              <a:rPr lang="en-US" altLang="ja-JP" sz="2800" dirty="0"/>
              <a:t>, n, z : </a:t>
            </a:r>
            <a:r>
              <a:rPr lang="en-US" altLang="ja-JP" sz="2800" b="1" dirty="0"/>
              <a:t>integer</a:t>
            </a:r>
            <a:r>
              <a:rPr lang="en-US" altLang="ja-JP" sz="2800" dirty="0"/>
              <a:t>;</a:t>
            </a:r>
          </a:p>
          <a:p>
            <a:r>
              <a:rPr kumimoji="1" lang="en-US" altLang="ja-JP" sz="2800" dirty="0"/>
              <a:t>   </a:t>
            </a:r>
            <a:r>
              <a:rPr lang="ja-JP" altLang="en-US" sz="2800" dirty="0"/>
              <a:t>        </a:t>
            </a:r>
            <a:r>
              <a:rPr kumimoji="1" lang="en-US" altLang="ja-JP" sz="2800" dirty="0"/>
              <a:t>a, b : </a:t>
            </a:r>
            <a:r>
              <a:rPr kumimoji="1" lang="en-US" altLang="ja-JP" sz="2800" b="1" dirty="0"/>
              <a:t>array</a:t>
            </a:r>
            <a:r>
              <a:rPr kumimoji="1" lang="en-US" altLang="ja-JP" sz="2800" dirty="0"/>
              <a:t> [0..9] of </a:t>
            </a:r>
            <a:r>
              <a:rPr kumimoji="1" lang="en-US" altLang="ja-JP" sz="2800" b="1" dirty="0"/>
              <a:t>integer</a:t>
            </a:r>
            <a:r>
              <a:rPr kumimoji="1" lang="en-US" altLang="ja-JP" sz="2800" dirty="0"/>
              <a:t>;</a:t>
            </a:r>
          </a:p>
          <a:p>
            <a:r>
              <a:rPr lang="en-US" altLang="ja-JP" sz="2800" dirty="0"/>
              <a:t>    </a:t>
            </a:r>
            <a:r>
              <a:rPr lang="en-US" altLang="ja-JP" sz="2800" b="1" dirty="0"/>
              <a:t>procedure </a:t>
            </a:r>
            <a:r>
              <a:rPr lang="en-US" altLang="ja-JP" sz="2800" dirty="0"/>
              <a:t>sum (x : </a:t>
            </a:r>
            <a:r>
              <a:rPr lang="en-US" altLang="ja-JP" sz="2800" b="1" dirty="0"/>
              <a:t>integer</a:t>
            </a:r>
            <a:r>
              <a:rPr lang="en-US" altLang="ja-JP" sz="2800" dirty="0"/>
              <a:t>);</a:t>
            </a:r>
          </a:p>
          <a:p>
            <a:r>
              <a:rPr lang="en-US" altLang="ja-JP" sz="2800" dirty="0"/>
              <a:t>        </a:t>
            </a:r>
            <a:r>
              <a:rPr lang="en-US" altLang="ja-JP" sz="2800" b="1" dirty="0"/>
              <a:t>begin</a:t>
            </a:r>
            <a:r>
              <a:rPr lang="en-US" altLang="ja-JP" sz="2800" dirty="0"/>
              <a:t> </a:t>
            </a:r>
            <a:r>
              <a:rPr lang="en-US" altLang="ja-JP" sz="2800" b="1" dirty="0"/>
              <a:t>while</a:t>
            </a:r>
            <a:r>
              <a:rPr lang="en-US" altLang="ja-JP" sz="2800" dirty="0"/>
              <a:t> </a:t>
            </a:r>
            <a:r>
              <a:rPr lang="en-US" altLang="ja-JP" sz="2800" dirty="0" err="1"/>
              <a:t>i</a:t>
            </a:r>
            <a:r>
              <a:rPr lang="en-US" altLang="ja-JP" sz="2800" dirty="0"/>
              <a:t> &lt; n </a:t>
            </a:r>
            <a:r>
              <a:rPr lang="en-US" altLang="ja-JP" sz="2800" b="1" dirty="0"/>
              <a:t>do</a:t>
            </a:r>
            <a:r>
              <a:rPr lang="en-US" altLang="ja-JP" sz="2800" dirty="0"/>
              <a:t> </a:t>
            </a:r>
            <a:r>
              <a:rPr lang="en-US" altLang="ja-JP" sz="2800" b="1" dirty="0"/>
              <a:t>begin</a:t>
            </a:r>
            <a:r>
              <a:rPr lang="en-US" altLang="ja-JP" sz="2800" dirty="0"/>
              <a:t> z := z + x; </a:t>
            </a:r>
            <a:r>
              <a:rPr lang="en-US" altLang="ja-JP" sz="2800" dirty="0" err="1"/>
              <a:t>i</a:t>
            </a:r>
            <a:r>
              <a:rPr lang="en-US" altLang="ja-JP" sz="2800" dirty="0"/>
              <a:t> := </a:t>
            </a:r>
            <a:r>
              <a:rPr lang="en-US" altLang="ja-JP" sz="2800" dirty="0" err="1"/>
              <a:t>i</a:t>
            </a:r>
            <a:r>
              <a:rPr lang="en-US" altLang="ja-JP" sz="2800" dirty="0"/>
              <a:t> + 1 </a:t>
            </a:r>
            <a:r>
              <a:rPr lang="en-US" altLang="ja-JP" sz="2800" b="1" dirty="0"/>
              <a:t>end </a:t>
            </a:r>
            <a:r>
              <a:rPr lang="en-US" altLang="ja-JP" sz="2800" b="1" dirty="0" err="1"/>
              <a:t>end</a:t>
            </a:r>
            <a:r>
              <a:rPr lang="en-US" altLang="ja-JP" sz="2800" dirty="0"/>
              <a:t>;</a:t>
            </a:r>
          </a:p>
          <a:p>
            <a:r>
              <a:rPr lang="en-US" altLang="ja-JP" sz="2800" b="1" dirty="0"/>
              <a:t>begin</a:t>
            </a:r>
            <a:r>
              <a:rPr lang="en-US" altLang="ja-JP" sz="2800" dirty="0"/>
              <a:t> n := 10; </a:t>
            </a:r>
            <a:r>
              <a:rPr lang="en-US" altLang="ja-JP" sz="2800" dirty="0" err="1"/>
              <a:t>i</a:t>
            </a:r>
            <a:r>
              <a:rPr lang="en-US" altLang="ja-JP" sz="2800" dirty="0"/>
              <a:t> := 0; z := 0; sum (a[</a:t>
            </a:r>
            <a:r>
              <a:rPr lang="en-US" altLang="ja-JP" sz="2800" dirty="0" err="1"/>
              <a:t>i</a:t>
            </a:r>
            <a:r>
              <a:rPr lang="en-US" altLang="ja-JP" sz="2800" dirty="0"/>
              <a:t>] * b[</a:t>
            </a:r>
            <a:r>
              <a:rPr lang="en-US" altLang="ja-JP" sz="2800" dirty="0" err="1"/>
              <a:t>i</a:t>
            </a:r>
            <a:r>
              <a:rPr lang="en-US" altLang="ja-JP" sz="2800" dirty="0"/>
              <a:t>]); </a:t>
            </a:r>
            <a:r>
              <a:rPr lang="en-US" altLang="ja-JP" sz="2800" dirty="0" err="1"/>
              <a:t>writeln</a:t>
            </a:r>
            <a:r>
              <a:rPr lang="en-US" altLang="ja-JP" sz="2800" dirty="0"/>
              <a:t> (z) </a:t>
            </a:r>
            <a:r>
              <a:rPr lang="en-US" altLang="ja-JP" sz="2800" b="1" dirty="0"/>
              <a:t>end</a:t>
            </a:r>
            <a:r>
              <a:rPr lang="en-US" altLang="ja-JP" sz="2800" dirty="0"/>
              <a:t>.</a:t>
            </a:r>
            <a:endParaRPr kumimoji="1" lang="ja-JP" altLang="en-US" sz="2800" dirty="0"/>
          </a:p>
        </p:txBody>
      </p:sp>
      <p:sp>
        <p:nvSpPr>
          <p:cNvPr id="6" name="テキスト ボックス 5"/>
          <p:cNvSpPr txBox="1"/>
          <p:nvPr/>
        </p:nvSpPr>
        <p:spPr>
          <a:xfrm>
            <a:off x="214282" y="5586257"/>
            <a:ext cx="8786842" cy="1200329"/>
          </a:xfrm>
          <a:prstGeom prst="rect">
            <a:avLst/>
          </a:prstGeom>
          <a:noFill/>
        </p:spPr>
        <p:txBody>
          <a:bodyPr wrap="square" rtlCol="0">
            <a:spAutoFit/>
          </a:bodyPr>
          <a:lstStyle/>
          <a:p>
            <a:r>
              <a:rPr lang="ja-JP" altLang="en-US" sz="2400" dirty="0"/>
              <a:t>引数は手続き内部で仮引数が現れた箇所で評価される。これを遅延評価という。遅延評価には</a:t>
            </a:r>
            <a:r>
              <a:rPr lang="en-US" altLang="ja-JP" sz="2400" dirty="0"/>
              <a:t>call by name</a:t>
            </a:r>
            <a:r>
              <a:rPr lang="ja-JP" altLang="en-US" sz="2400" dirty="0"/>
              <a:t>と</a:t>
            </a:r>
            <a:r>
              <a:rPr lang="en-US" altLang="ja-JP" sz="2400" dirty="0"/>
              <a:t>call by need</a:t>
            </a:r>
            <a:r>
              <a:rPr lang="ja-JP" altLang="en-US" sz="2400" dirty="0"/>
              <a:t>（引数を一度だけ評価）がある。副作用が無い場合これら２つの評価は一致する。</a:t>
            </a:r>
            <a:endParaRPr kumimoji="1" lang="ja-JP" altLang="en-US" sz="2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142852"/>
            <a:ext cx="8229600" cy="511156"/>
          </a:xfrm>
        </p:spPr>
        <p:txBody>
          <a:bodyPr>
            <a:normAutofit fontScale="90000"/>
          </a:bodyPr>
          <a:lstStyle/>
          <a:p>
            <a:r>
              <a:rPr kumimoji="1" lang="ja-JP" altLang="en-US" dirty="0"/>
              <a:t>（補足）</a:t>
            </a:r>
            <a:r>
              <a:rPr kumimoji="1" lang="en-US" altLang="ja-JP" dirty="0"/>
              <a:t>Call by value result</a:t>
            </a:r>
            <a:endParaRPr kumimoji="1" lang="ja-JP" altLang="en-US" dirty="0"/>
          </a:p>
        </p:txBody>
      </p:sp>
      <p:sp>
        <p:nvSpPr>
          <p:cNvPr id="4" name="テキスト ボックス 3"/>
          <p:cNvSpPr txBox="1"/>
          <p:nvPr/>
        </p:nvSpPr>
        <p:spPr>
          <a:xfrm>
            <a:off x="428596" y="733270"/>
            <a:ext cx="8501122" cy="6124754"/>
          </a:xfrm>
          <a:prstGeom prst="rect">
            <a:avLst/>
          </a:prstGeom>
          <a:noFill/>
        </p:spPr>
        <p:txBody>
          <a:bodyPr wrap="square" rtlCol="0">
            <a:spAutoFit/>
          </a:bodyPr>
          <a:lstStyle/>
          <a:p>
            <a:r>
              <a:rPr kumimoji="1" lang="en-US" altLang="ja-JP" sz="2800" dirty="0"/>
              <a:t>Call by reference</a:t>
            </a:r>
            <a:r>
              <a:rPr kumimoji="1" lang="ja-JP" altLang="en-US" sz="2800" dirty="0"/>
              <a:t>と似たような効果を持つものとして</a:t>
            </a:r>
            <a:endParaRPr kumimoji="1" lang="en-US" altLang="ja-JP" sz="2800" dirty="0"/>
          </a:p>
          <a:p>
            <a:r>
              <a:rPr lang="en-US" altLang="ja-JP" sz="2800" dirty="0"/>
              <a:t>Call by value result</a:t>
            </a:r>
            <a:r>
              <a:rPr lang="ja-JP" altLang="en-US" sz="2800" dirty="0"/>
              <a:t>がある。これは、仮引数に実引数の値を渡し、実引数のアドレスを呼び出し時に保存しておいて、手続き終了時の仮引数の値を、保存しておいたアドレスに代入するというものである。</a:t>
            </a:r>
            <a:r>
              <a:rPr kumimoji="1" lang="en-US" altLang="ja-JP" sz="2800" dirty="0"/>
              <a:t>Copy-in/copy-out</a:t>
            </a:r>
            <a:r>
              <a:rPr kumimoji="1" lang="ja-JP" altLang="en-US" sz="2800" dirty="0"/>
              <a:t>とも呼ばれる。</a:t>
            </a:r>
            <a:r>
              <a:rPr kumimoji="1" lang="en-US" altLang="ja-JP" sz="2800" dirty="0" err="1"/>
              <a:t>Ada</a:t>
            </a:r>
            <a:r>
              <a:rPr lang="ja-JP" altLang="en-US" sz="2800" dirty="0"/>
              <a:t>では</a:t>
            </a:r>
            <a:r>
              <a:rPr lang="en-US" altLang="ja-JP" sz="2800" dirty="0"/>
              <a:t>in, out, in out</a:t>
            </a:r>
            <a:r>
              <a:rPr lang="ja-JP" altLang="en-US" sz="2800" dirty="0"/>
              <a:t>という３つの引数渡し方法が使える。</a:t>
            </a:r>
            <a:r>
              <a:rPr lang="en-US" altLang="ja-JP" sz="2800" dirty="0"/>
              <a:t>In out</a:t>
            </a:r>
            <a:r>
              <a:rPr lang="ja-JP" altLang="en-US" sz="2800" dirty="0"/>
              <a:t>が</a:t>
            </a:r>
            <a:r>
              <a:rPr kumimoji="1" lang="en-US" altLang="ja-JP" sz="2800" dirty="0"/>
              <a:t>call by value result</a:t>
            </a:r>
            <a:r>
              <a:rPr kumimoji="1" lang="ja-JP" altLang="en-US" sz="2800" dirty="0"/>
              <a:t>である。</a:t>
            </a:r>
            <a:r>
              <a:rPr kumimoji="1" lang="en-US" altLang="ja-JP" sz="2800" dirty="0"/>
              <a:t>Call by value result</a:t>
            </a:r>
            <a:r>
              <a:rPr kumimoji="1" lang="ja-JP" altLang="en-US" sz="2800" dirty="0"/>
              <a:t>は</a:t>
            </a:r>
            <a:r>
              <a:rPr lang="en-US" altLang="ja-JP" sz="2800" dirty="0"/>
              <a:t>call by reference</a:t>
            </a:r>
            <a:r>
              <a:rPr lang="ja-JP" altLang="en-US" sz="2800" dirty="0"/>
              <a:t>と似ているが、異なる。</a:t>
            </a:r>
            <a:endParaRPr lang="en-US" altLang="ja-JP" sz="2800" dirty="0"/>
          </a:p>
          <a:p>
            <a:r>
              <a:rPr lang="ja-JP" altLang="en-US" sz="2800" dirty="0"/>
              <a:t>（例） </a:t>
            </a:r>
            <a:r>
              <a:rPr lang="en-US" altLang="ja-JP" sz="2800" b="1" dirty="0"/>
              <a:t>program</a:t>
            </a:r>
          </a:p>
          <a:p>
            <a:r>
              <a:rPr lang="en-US" altLang="ja-JP" sz="2800" dirty="0"/>
              <a:t>             </a:t>
            </a:r>
            <a:r>
              <a:rPr lang="en-US" altLang="ja-JP" sz="2800" dirty="0" err="1"/>
              <a:t>i</a:t>
            </a:r>
            <a:r>
              <a:rPr lang="en-US" altLang="ja-JP" sz="2800" dirty="0"/>
              <a:t>, j : </a:t>
            </a:r>
            <a:r>
              <a:rPr lang="en-US" altLang="ja-JP" sz="2800" b="1" dirty="0"/>
              <a:t>integer</a:t>
            </a:r>
            <a:r>
              <a:rPr lang="en-US" altLang="ja-JP" sz="2800" dirty="0"/>
              <a:t>;</a:t>
            </a:r>
          </a:p>
          <a:p>
            <a:r>
              <a:rPr lang="en-US" altLang="ja-JP" sz="2800" dirty="0"/>
              <a:t>             </a:t>
            </a:r>
            <a:r>
              <a:rPr lang="en-US" altLang="ja-JP" sz="2800" b="1" dirty="0"/>
              <a:t>procedure</a:t>
            </a:r>
            <a:r>
              <a:rPr lang="en-US" altLang="ja-JP" sz="2800" dirty="0"/>
              <a:t> </a:t>
            </a:r>
            <a:r>
              <a:rPr lang="en-US" altLang="ja-JP" sz="2800" dirty="0" err="1"/>
              <a:t>foo</a:t>
            </a:r>
            <a:r>
              <a:rPr lang="en-US" altLang="ja-JP" sz="2800" dirty="0"/>
              <a:t> (x, y : </a:t>
            </a:r>
            <a:r>
              <a:rPr lang="en-US" altLang="ja-JP" sz="2800" b="1" dirty="0"/>
              <a:t>integer</a:t>
            </a:r>
            <a:r>
              <a:rPr lang="en-US" altLang="ja-JP" sz="2800" dirty="0"/>
              <a:t>); </a:t>
            </a:r>
            <a:r>
              <a:rPr lang="en-US" altLang="ja-JP" sz="2800" b="1" dirty="0"/>
              <a:t>begin</a:t>
            </a:r>
            <a:r>
              <a:rPr lang="en-US" altLang="ja-JP" sz="2800" dirty="0"/>
              <a:t> </a:t>
            </a:r>
            <a:r>
              <a:rPr lang="en-US" altLang="ja-JP" sz="2800" dirty="0" err="1"/>
              <a:t>i</a:t>
            </a:r>
            <a:r>
              <a:rPr lang="en-US" altLang="ja-JP" sz="2800" dirty="0"/>
              <a:t> := y </a:t>
            </a:r>
            <a:r>
              <a:rPr lang="en-US" altLang="ja-JP" sz="2800" b="1" dirty="0"/>
              <a:t>end</a:t>
            </a:r>
            <a:r>
              <a:rPr lang="en-US" altLang="ja-JP" sz="2800" dirty="0"/>
              <a:t>;</a:t>
            </a:r>
          </a:p>
          <a:p>
            <a:r>
              <a:rPr lang="en-US" altLang="ja-JP" sz="2800" dirty="0"/>
              <a:t>          </a:t>
            </a:r>
            <a:r>
              <a:rPr lang="en-US" altLang="ja-JP" sz="2800" b="1" dirty="0"/>
              <a:t>begin</a:t>
            </a:r>
            <a:r>
              <a:rPr lang="en-US" altLang="ja-JP" sz="2800" dirty="0"/>
              <a:t> </a:t>
            </a:r>
            <a:r>
              <a:rPr lang="en-US" altLang="ja-JP" sz="2800" dirty="0" err="1"/>
              <a:t>i</a:t>
            </a:r>
            <a:r>
              <a:rPr lang="en-US" altLang="ja-JP" sz="2800" dirty="0"/>
              <a:t> := 2; j := 3; </a:t>
            </a:r>
            <a:r>
              <a:rPr lang="en-US" altLang="ja-JP" sz="2800" dirty="0" err="1"/>
              <a:t>foo</a:t>
            </a:r>
            <a:r>
              <a:rPr lang="en-US" altLang="ja-JP" sz="2800" dirty="0"/>
              <a:t> (</a:t>
            </a:r>
            <a:r>
              <a:rPr lang="en-US" altLang="ja-JP" sz="2800" dirty="0" err="1"/>
              <a:t>i</a:t>
            </a:r>
            <a:r>
              <a:rPr lang="en-US" altLang="ja-JP" sz="2800" dirty="0"/>
              <a:t>, j)</a:t>
            </a:r>
            <a:r>
              <a:rPr lang="ja-JP" altLang="en-US" sz="2800" dirty="0"/>
              <a:t> </a:t>
            </a:r>
            <a:r>
              <a:rPr lang="en-US" altLang="ja-JP" sz="2800" dirty="0"/>
              <a:t> </a:t>
            </a:r>
            <a:r>
              <a:rPr lang="en-US" altLang="ja-JP" sz="2800" b="1" dirty="0"/>
              <a:t>end</a:t>
            </a:r>
          </a:p>
          <a:p>
            <a:r>
              <a:rPr lang="en-US" altLang="ja-JP" sz="2800" dirty="0"/>
              <a:t>Call by reference</a:t>
            </a:r>
            <a:r>
              <a:rPr lang="ja-JP" altLang="en-US" sz="2800" dirty="0"/>
              <a:t>では</a:t>
            </a:r>
            <a:r>
              <a:rPr lang="en-US" altLang="ja-JP" sz="2800" dirty="0" err="1"/>
              <a:t>i</a:t>
            </a:r>
            <a:r>
              <a:rPr lang="ja-JP" altLang="en-US" sz="2800" dirty="0"/>
              <a:t>の値は</a:t>
            </a:r>
            <a:r>
              <a:rPr lang="en-US" altLang="ja-JP" sz="2800" dirty="0"/>
              <a:t>3</a:t>
            </a:r>
            <a:r>
              <a:rPr lang="ja-JP" altLang="en-US" sz="2800" dirty="0"/>
              <a:t>になるが、</a:t>
            </a:r>
            <a:r>
              <a:rPr lang="en-US" altLang="ja-JP" sz="2800" dirty="0"/>
              <a:t>call by value result</a:t>
            </a:r>
            <a:r>
              <a:rPr lang="ja-JP" altLang="en-US" sz="2800" dirty="0"/>
              <a:t>では呼び出し後、</a:t>
            </a:r>
            <a:r>
              <a:rPr lang="en-US" altLang="ja-JP" sz="2800" dirty="0" err="1"/>
              <a:t>i</a:t>
            </a:r>
            <a:r>
              <a:rPr lang="ja-JP" altLang="en-US" sz="2800" dirty="0"/>
              <a:t>の値は</a:t>
            </a:r>
            <a:r>
              <a:rPr lang="en-US" altLang="ja-JP" sz="2800" dirty="0"/>
              <a:t>2</a:t>
            </a:r>
            <a:r>
              <a:rPr lang="ja-JP" altLang="en-US" sz="2800" dirty="0" err="1"/>
              <a:t>のままで</a:t>
            </a:r>
            <a:r>
              <a:rPr lang="ja-JP" altLang="en-US" sz="2800" dirty="0"/>
              <a:t>ある。</a:t>
            </a:r>
            <a:endParaRPr lang="en-US" altLang="ja-JP" sz="2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939784"/>
          </a:xfrm>
        </p:spPr>
        <p:txBody>
          <a:bodyPr/>
          <a:lstStyle/>
          <a:p>
            <a:r>
              <a:rPr kumimoji="1" lang="ja-JP" altLang="en-US" dirty="0"/>
              <a:t>変数の有効範囲について</a:t>
            </a:r>
          </a:p>
        </p:txBody>
      </p:sp>
      <p:sp>
        <p:nvSpPr>
          <p:cNvPr id="4" name="テキスト ボックス 3"/>
          <p:cNvSpPr txBox="1"/>
          <p:nvPr/>
        </p:nvSpPr>
        <p:spPr>
          <a:xfrm>
            <a:off x="714348" y="1357298"/>
            <a:ext cx="7858180" cy="5262979"/>
          </a:xfrm>
          <a:prstGeom prst="rect">
            <a:avLst/>
          </a:prstGeom>
          <a:noFill/>
        </p:spPr>
        <p:txBody>
          <a:bodyPr wrap="square" rtlCol="0">
            <a:spAutoFit/>
          </a:bodyPr>
          <a:lstStyle/>
          <a:p>
            <a:r>
              <a:rPr kumimoji="1" lang="ja-JP" altLang="en-US" sz="2800" dirty="0"/>
              <a:t>変数に</a:t>
            </a:r>
            <a:r>
              <a:rPr lang="ja-JP" altLang="en-US" sz="2800" dirty="0"/>
              <a:t>は有効範囲</a:t>
            </a:r>
            <a:r>
              <a:rPr lang="en-US" altLang="ja-JP" sz="2800" dirty="0"/>
              <a:t>(scope)</a:t>
            </a:r>
            <a:r>
              <a:rPr lang="ja-JP" altLang="en-US" sz="2800" dirty="0"/>
              <a:t>がある。有効範囲の定め方は、静的有効範囲</a:t>
            </a:r>
            <a:r>
              <a:rPr lang="en-US" altLang="ja-JP" sz="2800" dirty="0"/>
              <a:t>(static scope</a:t>
            </a:r>
            <a:r>
              <a:rPr lang="ja-JP" altLang="en-US" sz="2800" dirty="0"/>
              <a:t>あるいは</a:t>
            </a:r>
            <a:r>
              <a:rPr lang="en-US" altLang="ja-JP" sz="2800" dirty="0"/>
              <a:t>lexical scope)</a:t>
            </a:r>
            <a:r>
              <a:rPr lang="ja-JP" altLang="en-US" sz="2800" dirty="0" err="1"/>
              <a:t>、</a:t>
            </a:r>
            <a:r>
              <a:rPr lang="ja-JP" altLang="en-US" sz="2800" dirty="0"/>
              <a:t>動的有効範囲</a:t>
            </a:r>
            <a:r>
              <a:rPr lang="en-US" altLang="ja-JP" sz="2800" dirty="0"/>
              <a:t>(dynamic scope)</a:t>
            </a:r>
            <a:r>
              <a:rPr lang="ja-JP" altLang="en-US" sz="2800" dirty="0"/>
              <a:t>に分かれる。</a:t>
            </a:r>
            <a:endParaRPr lang="en-US" altLang="ja-JP" sz="2800" dirty="0"/>
          </a:p>
          <a:p>
            <a:endParaRPr kumimoji="1" lang="en-US" altLang="ja-JP" sz="2800" dirty="0"/>
          </a:p>
          <a:p>
            <a:r>
              <a:rPr lang="ja-JP" altLang="en-US" sz="2800" dirty="0"/>
              <a:t>プログラム中の各変数がどこで宣言された変数であるかの決め方をスコープ規則</a:t>
            </a:r>
            <a:r>
              <a:rPr lang="en-US" altLang="ja-JP" sz="2800" dirty="0"/>
              <a:t>(scope rule)</a:t>
            </a:r>
            <a:r>
              <a:rPr lang="ja-JP" altLang="en-US" sz="2800" dirty="0"/>
              <a:t>という。スコープ規則を定めることにより、各宣言で宣言される名前の有効範囲が定まる。</a:t>
            </a:r>
            <a:endParaRPr lang="en-US" altLang="ja-JP" sz="2800" dirty="0"/>
          </a:p>
          <a:p>
            <a:endParaRPr kumimoji="1" lang="en-US" altLang="ja-JP" sz="2800" dirty="0"/>
          </a:p>
          <a:p>
            <a:r>
              <a:rPr lang="ja-JP" altLang="en-US" sz="2800" dirty="0"/>
              <a:t>静的有効範囲では、プログラムテキスト上で各宣言で宣言される変数の有効範囲が分かる。動的有効範囲では、変数の有効範囲は実行状況に依存する。</a:t>
            </a:r>
            <a:endParaRPr lang="en-US" altLang="ja-JP" sz="2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プログラム例</a:t>
            </a:r>
          </a:p>
        </p:txBody>
      </p:sp>
      <p:sp>
        <p:nvSpPr>
          <p:cNvPr id="4" name="テキスト ボックス 3"/>
          <p:cNvSpPr txBox="1"/>
          <p:nvPr/>
        </p:nvSpPr>
        <p:spPr>
          <a:xfrm>
            <a:off x="785786" y="1357298"/>
            <a:ext cx="2556662" cy="5262979"/>
          </a:xfrm>
          <a:prstGeom prst="rect">
            <a:avLst/>
          </a:prstGeom>
          <a:noFill/>
        </p:spPr>
        <p:txBody>
          <a:bodyPr wrap="none" rtlCol="0">
            <a:spAutoFit/>
          </a:bodyPr>
          <a:lstStyle/>
          <a:p>
            <a:r>
              <a:rPr lang="en-US" altLang="ja-JP" sz="2800" dirty="0"/>
              <a:t>p</a:t>
            </a:r>
            <a:r>
              <a:rPr kumimoji="1" lang="en-US" altLang="ja-JP" sz="2800" dirty="0"/>
              <a:t>rogram L;</a:t>
            </a:r>
          </a:p>
          <a:p>
            <a:r>
              <a:rPr lang="en-US" altLang="ja-JP" sz="2800" dirty="0"/>
              <a:t>    </a:t>
            </a:r>
            <a:r>
              <a:rPr lang="en-US" altLang="ja-JP" sz="2800" dirty="0" err="1"/>
              <a:t>var</a:t>
            </a:r>
            <a:r>
              <a:rPr lang="en-US" altLang="ja-JP" sz="2800" dirty="0"/>
              <a:t> n : char;</a:t>
            </a:r>
          </a:p>
          <a:p>
            <a:r>
              <a:rPr kumimoji="1" lang="en-US" altLang="ja-JP" sz="2800" dirty="0"/>
              <a:t>    procedure W;</a:t>
            </a:r>
          </a:p>
          <a:p>
            <a:r>
              <a:rPr lang="en-US" altLang="ja-JP" sz="2800" dirty="0"/>
              <a:t>    begin</a:t>
            </a:r>
          </a:p>
          <a:p>
            <a:r>
              <a:rPr kumimoji="1" lang="en-US" altLang="ja-JP" sz="2800" dirty="0"/>
              <a:t>        </a:t>
            </a:r>
            <a:r>
              <a:rPr kumimoji="1" lang="en-US" altLang="ja-JP" sz="2800" dirty="0" err="1"/>
              <a:t>writeln</a:t>
            </a:r>
            <a:r>
              <a:rPr kumimoji="1" lang="en-US" altLang="ja-JP" sz="2800" dirty="0"/>
              <a:t>(n)</a:t>
            </a:r>
          </a:p>
          <a:p>
            <a:r>
              <a:rPr lang="en-US" altLang="ja-JP" sz="2800" dirty="0"/>
              <a:t>    end;</a:t>
            </a:r>
          </a:p>
          <a:p>
            <a:r>
              <a:rPr kumimoji="1" lang="en-US" altLang="ja-JP" sz="2800" dirty="0"/>
              <a:t>    procedure D;</a:t>
            </a:r>
          </a:p>
          <a:p>
            <a:r>
              <a:rPr lang="en-US" altLang="ja-JP" sz="2800" dirty="0"/>
              <a:t>        </a:t>
            </a:r>
            <a:r>
              <a:rPr lang="en-US" altLang="ja-JP" sz="2800" dirty="0" err="1"/>
              <a:t>var</a:t>
            </a:r>
            <a:r>
              <a:rPr lang="en-US" altLang="ja-JP" sz="2800" dirty="0"/>
              <a:t> n : char;</a:t>
            </a:r>
          </a:p>
          <a:p>
            <a:r>
              <a:rPr kumimoji="1" lang="en-US" altLang="ja-JP" sz="2800" dirty="0"/>
              <a:t>    begin</a:t>
            </a:r>
          </a:p>
          <a:p>
            <a:r>
              <a:rPr lang="en-US" altLang="ja-JP" sz="2800" dirty="0"/>
              <a:t>        n := ‘D’;</a:t>
            </a:r>
          </a:p>
          <a:p>
            <a:r>
              <a:rPr kumimoji="1" lang="en-US" altLang="ja-JP" sz="2800" dirty="0"/>
              <a:t>        W</a:t>
            </a:r>
          </a:p>
          <a:p>
            <a:r>
              <a:rPr lang="en-US" altLang="ja-JP" sz="2800" dirty="0"/>
              <a:t>    end;</a:t>
            </a:r>
            <a:endParaRPr kumimoji="1" lang="ja-JP" altLang="en-US" sz="2800" dirty="0"/>
          </a:p>
        </p:txBody>
      </p:sp>
      <p:sp>
        <p:nvSpPr>
          <p:cNvPr id="5" name="正方形/長方形 4"/>
          <p:cNvSpPr/>
          <p:nvPr/>
        </p:nvSpPr>
        <p:spPr>
          <a:xfrm>
            <a:off x="4357686" y="1357298"/>
            <a:ext cx="4357718" cy="2677656"/>
          </a:xfrm>
          <a:prstGeom prst="rect">
            <a:avLst/>
          </a:prstGeom>
        </p:spPr>
        <p:txBody>
          <a:bodyPr wrap="square">
            <a:spAutoFit/>
          </a:bodyPr>
          <a:lstStyle/>
          <a:p>
            <a:r>
              <a:rPr lang="en-US" altLang="ja-JP" sz="2800" dirty="0"/>
              <a:t>{</a:t>
            </a:r>
            <a:r>
              <a:rPr lang="ja-JP" altLang="en-US" sz="2800" dirty="0"/>
              <a:t>続き（プログラム</a:t>
            </a:r>
            <a:r>
              <a:rPr lang="en-US" altLang="ja-JP" sz="2800" dirty="0"/>
              <a:t>L</a:t>
            </a:r>
            <a:r>
              <a:rPr lang="ja-JP" altLang="en-US" sz="2800" dirty="0"/>
              <a:t>の本体）</a:t>
            </a:r>
            <a:r>
              <a:rPr lang="en-US" altLang="ja-JP" sz="2800" dirty="0"/>
              <a:t>}</a:t>
            </a:r>
          </a:p>
          <a:p>
            <a:r>
              <a:rPr lang="en-US" altLang="ja-JP" sz="2800" dirty="0"/>
              <a:t>begin</a:t>
            </a:r>
          </a:p>
          <a:p>
            <a:r>
              <a:rPr lang="en-US" altLang="ja-JP" sz="2800" dirty="0"/>
              <a:t>    n := ‘L’;</a:t>
            </a:r>
          </a:p>
          <a:p>
            <a:r>
              <a:rPr lang="en-US" altLang="ja-JP" sz="2800" dirty="0"/>
              <a:t>    W;</a:t>
            </a:r>
          </a:p>
          <a:p>
            <a:r>
              <a:rPr lang="en-US" altLang="ja-JP" sz="2800" dirty="0"/>
              <a:t>    D</a:t>
            </a:r>
          </a:p>
          <a:p>
            <a:r>
              <a:rPr lang="en-US" altLang="ja-JP" sz="2800" dirty="0"/>
              <a:t>end.</a:t>
            </a:r>
            <a:endParaRPr lang="ja-JP" altLang="en-US" sz="2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796908"/>
          </a:xfrm>
        </p:spPr>
        <p:txBody>
          <a:bodyPr/>
          <a:lstStyle/>
          <a:p>
            <a:r>
              <a:rPr kumimoji="1" lang="en-US" altLang="ja-JP" dirty="0"/>
              <a:t>Static scope</a:t>
            </a:r>
            <a:endParaRPr kumimoji="1" lang="ja-JP" altLang="en-US" dirty="0"/>
          </a:p>
        </p:txBody>
      </p:sp>
      <p:sp>
        <p:nvSpPr>
          <p:cNvPr id="3" name="テキスト ボックス 2"/>
          <p:cNvSpPr txBox="1"/>
          <p:nvPr/>
        </p:nvSpPr>
        <p:spPr>
          <a:xfrm>
            <a:off x="571472" y="1000108"/>
            <a:ext cx="8072462" cy="5693866"/>
          </a:xfrm>
          <a:prstGeom prst="rect">
            <a:avLst/>
          </a:prstGeom>
          <a:noFill/>
        </p:spPr>
        <p:txBody>
          <a:bodyPr wrap="square" rtlCol="0">
            <a:spAutoFit/>
          </a:bodyPr>
          <a:lstStyle/>
          <a:p>
            <a:r>
              <a:rPr kumimoji="1" lang="en-US" altLang="ja-JP" sz="2800" dirty="0"/>
              <a:t>Static scope</a:t>
            </a:r>
            <a:r>
              <a:rPr kumimoji="1" lang="ja-JP" altLang="en-US" sz="2800" dirty="0"/>
              <a:t>では、プログラム中のある変数</a:t>
            </a:r>
            <a:r>
              <a:rPr kumimoji="1" lang="en-US" altLang="ja-JP" sz="2800" dirty="0"/>
              <a:t>x</a:t>
            </a:r>
            <a:r>
              <a:rPr kumimoji="1" lang="ja-JP" altLang="en-US" sz="2800" dirty="0"/>
              <a:t>の宣言は、プログラムテキスト上で、その変数を含む一番内側にある、</a:t>
            </a:r>
            <a:r>
              <a:rPr kumimoji="1" lang="en-US" altLang="ja-JP" sz="2800" dirty="0"/>
              <a:t>x</a:t>
            </a:r>
            <a:r>
              <a:rPr kumimoji="1" lang="ja-JP" altLang="en-US" sz="2800" dirty="0"/>
              <a:t>の宣言である。</a:t>
            </a:r>
            <a:endParaRPr kumimoji="1" lang="en-US" altLang="ja-JP" sz="2800" dirty="0"/>
          </a:p>
          <a:p>
            <a:r>
              <a:rPr kumimoji="1" lang="en-US" altLang="ja-JP" sz="2800" dirty="0"/>
              <a:t>Static scope</a:t>
            </a:r>
            <a:r>
              <a:rPr kumimoji="1" lang="ja-JP" altLang="en-US" sz="2800" dirty="0"/>
              <a:t>は</a:t>
            </a:r>
            <a:r>
              <a:rPr kumimoji="1" lang="en-US" altLang="ja-JP" sz="2800" dirty="0"/>
              <a:t>lexical scope</a:t>
            </a:r>
            <a:r>
              <a:rPr kumimoji="1" lang="ja-JP" altLang="en-US" sz="2800" dirty="0"/>
              <a:t>とも呼ばれる。コンパイル時に変数の有効範囲が分かる。</a:t>
            </a:r>
            <a:r>
              <a:rPr kumimoji="1" lang="en-US" altLang="ja-JP" sz="2800" dirty="0"/>
              <a:t>Pascal</a:t>
            </a:r>
            <a:r>
              <a:rPr kumimoji="1" lang="ja-JP" altLang="en-US" sz="2800" dirty="0"/>
              <a:t>や</a:t>
            </a:r>
            <a:r>
              <a:rPr kumimoji="1" lang="en-US" altLang="ja-JP" sz="2800" dirty="0"/>
              <a:t>C</a:t>
            </a:r>
            <a:r>
              <a:rPr lang="ja-JP" altLang="en-US" sz="2800" dirty="0"/>
              <a:t>等、ほとんどの言語は</a:t>
            </a:r>
            <a:r>
              <a:rPr lang="en-US" altLang="ja-JP" sz="2800" dirty="0"/>
              <a:t>static scope</a:t>
            </a:r>
            <a:r>
              <a:rPr lang="ja-JP" altLang="en-US" sz="2800" dirty="0"/>
              <a:t>である。</a:t>
            </a:r>
            <a:r>
              <a:rPr kumimoji="1" lang="ja-JP" altLang="en-US" sz="2800" dirty="0"/>
              <a:t>さきほどのプログラム例の実行結果は、</a:t>
            </a:r>
            <a:r>
              <a:rPr kumimoji="1" lang="en-US" altLang="ja-JP" sz="2800" dirty="0"/>
              <a:t>static scope</a:t>
            </a:r>
            <a:r>
              <a:rPr kumimoji="1" lang="ja-JP" altLang="en-US" sz="2800" dirty="0"/>
              <a:t>では</a:t>
            </a:r>
            <a:endParaRPr kumimoji="1" lang="en-US" altLang="ja-JP" sz="2800" dirty="0"/>
          </a:p>
          <a:p>
            <a:r>
              <a:rPr lang="en-US" altLang="ja-JP" sz="2800" dirty="0"/>
              <a:t>    L</a:t>
            </a:r>
          </a:p>
          <a:p>
            <a:r>
              <a:rPr lang="en-US" altLang="ja-JP" sz="2800" dirty="0"/>
              <a:t>    L</a:t>
            </a:r>
          </a:p>
          <a:p>
            <a:r>
              <a:rPr lang="ja-JP" altLang="en-US" sz="2800" dirty="0"/>
              <a:t>となる。</a:t>
            </a:r>
            <a:endParaRPr kumimoji="1" lang="en-US" altLang="ja-JP" sz="2800" dirty="0"/>
          </a:p>
          <a:p>
            <a:r>
              <a:rPr kumimoji="1" lang="ja-JP" altLang="en-US" sz="2800" dirty="0"/>
              <a:t>（考え方） </a:t>
            </a:r>
            <a:r>
              <a:rPr kumimoji="1" lang="en-US" altLang="ja-JP" sz="2800" dirty="0"/>
              <a:t>Local</a:t>
            </a:r>
            <a:r>
              <a:rPr kumimoji="1" lang="ja-JP" altLang="en-US" sz="2800" dirty="0"/>
              <a:t>な変数は名前を付け替えても意味は変わらないというのは自然な考え</a:t>
            </a:r>
            <a:r>
              <a:rPr lang="ja-JP" altLang="en-US" sz="2800" dirty="0"/>
              <a:t>方</a:t>
            </a:r>
            <a:r>
              <a:rPr kumimoji="1" lang="ja-JP" altLang="en-US" sz="2800" dirty="0"/>
              <a:t>である。この考えに従うと</a:t>
            </a:r>
            <a:r>
              <a:rPr kumimoji="1" lang="en-US" altLang="ja-JP" sz="2800" dirty="0"/>
              <a:t>static scope</a:t>
            </a:r>
            <a:r>
              <a:rPr lang="ja-JP" altLang="en-US" sz="2800" dirty="0"/>
              <a:t>になる。</a:t>
            </a:r>
            <a:endParaRPr kumimoji="1" lang="ja-JP" altLang="en-US" sz="2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14366" y="142852"/>
            <a:ext cx="8229600" cy="1011222"/>
          </a:xfrm>
        </p:spPr>
        <p:txBody>
          <a:bodyPr/>
          <a:lstStyle/>
          <a:p>
            <a:r>
              <a:rPr kumimoji="1" lang="en-US" altLang="ja-JP" dirty="0"/>
              <a:t>Dynamic scope</a:t>
            </a:r>
            <a:endParaRPr kumimoji="1" lang="ja-JP" altLang="en-US" dirty="0"/>
          </a:p>
        </p:txBody>
      </p:sp>
      <p:sp>
        <p:nvSpPr>
          <p:cNvPr id="4" name="テキスト ボックス 3"/>
          <p:cNvSpPr txBox="1"/>
          <p:nvPr/>
        </p:nvSpPr>
        <p:spPr>
          <a:xfrm>
            <a:off x="428596" y="1021282"/>
            <a:ext cx="8429652" cy="5693867"/>
          </a:xfrm>
          <a:prstGeom prst="rect">
            <a:avLst/>
          </a:prstGeom>
          <a:noFill/>
        </p:spPr>
        <p:txBody>
          <a:bodyPr wrap="square" rtlCol="0">
            <a:spAutoFit/>
          </a:bodyPr>
          <a:lstStyle/>
          <a:p>
            <a:r>
              <a:rPr lang="en-US" altLang="ja-JP" sz="2800" dirty="0"/>
              <a:t>Dynamic scope</a:t>
            </a:r>
            <a:r>
              <a:rPr lang="ja-JP" altLang="en-US" sz="2800" dirty="0"/>
              <a:t>では、手続き</a:t>
            </a:r>
            <a:r>
              <a:rPr lang="en-US" altLang="ja-JP" sz="2800" dirty="0"/>
              <a:t>p</a:t>
            </a:r>
            <a:r>
              <a:rPr lang="ja-JP" altLang="en-US" sz="2800" dirty="0"/>
              <a:t>の呼び出し時点で、ある変数</a:t>
            </a:r>
            <a:r>
              <a:rPr lang="en-US" altLang="ja-JP" sz="2800" dirty="0"/>
              <a:t>x</a:t>
            </a:r>
            <a:r>
              <a:rPr lang="ja-JP" altLang="en-US" sz="2800" dirty="0"/>
              <a:t>が有効で</a:t>
            </a:r>
            <a:r>
              <a:rPr lang="en-US" altLang="ja-JP" sz="2800" dirty="0"/>
              <a:t>x</a:t>
            </a:r>
            <a:r>
              <a:rPr lang="ja-JP" altLang="en-US" sz="2800" dirty="0"/>
              <a:t>に対応する宣言が</a:t>
            </a:r>
            <a:r>
              <a:rPr lang="en-US" altLang="ja-JP" sz="2800" dirty="0"/>
              <a:t>d</a:t>
            </a:r>
            <a:r>
              <a:rPr lang="ja-JP" altLang="en-US" sz="2800" dirty="0"/>
              <a:t>の場合、</a:t>
            </a:r>
            <a:r>
              <a:rPr lang="en-US" altLang="ja-JP" sz="2800" dirty="0"/>
              <a:t>p</a:t>
            </a:r>
            <a:r>
              <a:rPr lang="ja-JP" altLang="en-US" sz="2800" dirty="0"/>
              <a:t>が呼ばれても変数に対応する宣言は</a:t>
            </a:r>
            <a:r>
              <a:rPr lang="en-US" altLang="ja-JP" sz="2800" dirty="0"/>
              <a:t>d</a:t>
            </a:r>
            <a:r>
              <a:rPr lang="ja-JP" altLang="en-US" sz="2800" dirty="0"/>
              <a:t>である。宣言</a:t>
            </a:r>
            <a:r>
              <a:rPr lang="en-US" altLang="ja-JP" sz="2800" dirty="0"/>
              <a:t>d</a:t>
            </a:r>
            <a:r>
              <a:rPr lang="ja-JP" altLang="en-US" sz="2800" dirty="0"/>
              <a:t>がなされている手続きが終了すると、</a:t>
            </a:r>
            <a:r>
              <a:rPr lang="en-US" altLang="ja-JP" sz="2800" dirty="0"/>
              <a:t>x</a:t>
            </a:r>
            <a:r>
              <a:rPr lang="ja-JP" altLang="en-US" sz="2800" dirty="0"/>
              <a:t>と</a:t>
            </a:r>
            <a:r>
              <a:rPr lang="en-US" altLang="ja-JP" sz="2800" dirty="0"/>
              <a:t>d</a:t>
            </a:r>
            <a:r>
              <a:rPr lang="ja-JP" altLang="en-US" sz="2800" dirty="0"/>
              <a:t>との関係はなくなる。ただし、変数</a:t>
            </a:r>
            <a:r>
              <a:rPr lang="en-US" altLang="ja-JP" sz="2800" dirty="0"/>
              <a:t>x</a:t>
            </a:r>
            <a:r>
              <a:rPr lang="ja-JP" altLang="en-US" sz="2800" dirty="0"/>
              <a:t>が有効な状況で変数</a:t>
            </a:r>
            <a:r>
              <a:rPr lang="en-US" altLang="ja-JP" sz="2800" dirty="0"/>
              <a:t>x</a:t>
            </a:r>
            <a:r>
              <a:rPr lang="ja-JP" altLang="en-US" sz="2800" dirty="0"/>
              <a:t>の宣言</a:t>
            </a:r>
            <a:r>
              <a:rPr lang="en-US" altLang="ja-JP" sz="2800" dirty="0"/>
              <a:t>d’</a:t>
            </a:r>
            <a:r>
              <a:rPr lang="ja-JP" altLang="en-US" sz="2800" dirty="0"/>
              <a:t>がなされた場合、そこからはその変数</a:t>
            </a:r>
            <a:r>
              <a:rPr lang="en-US" altLang="ja-JP" sz="2800" dirty="0"/>
              <a:t>x</a:t>
            </a:r>
            <a:r>
              <a:rPr lang="ja-JP" altLang="en-US" sz="2800" dirty="0"/>
              <a:t>に対応する宣言は</a:t>
            </a:r>
            <a:r>
              <a:rPr lang="en-US" altLang="ja-JP" sz="2800" dirty="0"/>
              <a:t>d’</a:t>
            </a:r>
            <a:r>
              <a:rPr lang="ja-JP" altLang="en-US" sz="2800" dirty="0"/>
              <a:t>となる。</a:t>
            </a:r>
            <a:r>
              <a:rPr lang="en-US" altLang="ja-JP" sz="2800" dirty="0" err="1"/>
              <a:t>Emacs</a:t>
            </a:r>
            <a:r>
              <a:rPr lang="en-US" altLang="ja-JP" sz="2800" dirty="0"/>
              <a:t> Lisp</a:t>
            </a:r>
            <a:r>
              <a:rPr lang="ja-JP" altLang="en-US" sz="2800" dirty="0"/>
              <a:t>は</a:t>
            </a:r>
            <a:r>
              <a:rPr lang="en-US" altLang="ja-JP" sz="2800" dirty="0"/>
              <a:t>dynamic scope</a:t>
            </a:r>
            <a:r>
              <a:rPr lang="ja-JP" altLang="en-US" sz="2800" dirty="0"/>
              <a:t>である。さきほどのプログラム例の実行結果は</a:t>
            </a:r>
            <a:r>
              <a:rPr lang="en-US" altLang="ja-JP" sz="2800" dirty="0"/>
              <a:t>dynamic scope</a:t>
            </a:r>
            <a:r>
              <a:rPr lang="ja-JP" altLang="en-US" sz="2800" dirty="0"/>
              <a:t>だと</a:t>
            </a:r>
            <a:endParaRPr lang="en-US" altLang="ja-JP" sz="2800" dirty="0"/>
          </a:p>
          <a:p>
            <a:r>
              <a:rPr kumimoji="1" lang="en-US" altLang="ja-JP" sz="2800" dirty="0"/>
              <a:t>    L</a:t>
            </a:r>
          </a:p>
          <a:p>
            <a:r>
              <a:rPr lang="en-US" altLang="ja-JP" sz="2800" dirty="0"/>
              <a:t>    D</a:t>
            </a:r>
          </a:p>
          <a:p>
            <a:r>
              <a:rPr lang="ja-JP" altLang="en-US" sz="2800" dirty="0"/>
              <a:t>になる。</a:t>
            </a:r>
            <a:endParaRPr lang="en-US" altLang="ja-JP" sz="2800" dirty="0"/>
          </a:p>
          <a:p>
            <a:r>
              <a:rPr lang="ja-JP" altLang="en-US" sz="2800" dirty="0"/>
              <a:t>（</a:t>
            </a:r>
            <a:r>
              <a:rPr lang="en-US" altLang="en-US" sz="2800" dirty="0"/>
              <a:t>考え方</a:t>
            </a:r>
            <a:r>
              <a:rPr lang="ja-JP" altLang="en-US" sz="2800" dirty="0"/>
              <a:t>）</a:t>
            </a:r>
            <a:r>
              <a:rPr lang="en-US" altLang="ja-JP" sz="2800" dirty="0"/>
              <a:t>Dynamic scope</a:t>
            </a:r>
            <a:r>
              <a:rPr lang="ja-JP" altLang="en-US" sz="2800" dirty="0"/>
              <a:t>では、ある変数</a:t>
            </a:r>
            <a:r>
              <a:rPr lang="en-US" altLang="ja-JP" sz="2800" dirty="0"/>
              <a:t>x</a:t>
            </a:r>
            <a:r>
              <a:rPr lang="ja-JP" altLang="en-US" sz="2800" dirty="0"/>
              <a:t>は、スタック上で一番近い</a:t>
            </a:r>
            <a:r>
              <a:rPr lang="en-US" altLang="ja-JP" sz="2800" dirty="0"/>
              <a:t>activation record</a:t>
            </a:r>
            <a:r>
              <a:rPr lang="ja-JP" altLang="en-US" sz="2800" dirty="0"/>
              <a:t>の</a:t>
            </a:r>
            <a:r>
              <a:rPr lang="en-US" altLang="ja-JP" sz="2800" dirty="0"/>
              <a:t>x</a:t>
            </a:r>
            <a:r>
              <a:rPr lang="ja-JP" altLang="en-US" sz="2800" dirty="0"/>
              <a:t>に対応する。</a:t>
            </a:r>
            <a:endParaRPr kumimoji="1" lang="ja-JP" altLang="en-US" sz="2800" dirty="0"/>
          </a:p>
        </p:txBody>
      </p:sp>
    </p:spTree>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1117</TotalTime>
  <Words>2727</Words>
  <Application>Microsoft Macintosh PowerPoint</Application>
  <PresentationFormat>画面に合わせる (4:3)</PresentationFormat>
  <Paragraphs>207</Paragraphs>
  <Slides>24</Slides>
  <Notes>0</Notes>
  <HiddenSlides>0</HiddenSlides>
  <MMClips>0</MMClips>
  <ScaleCrop>false</ScaleCrop>
  <HeadingPairs>
    <vt:vector size="6" baseType="variant">
      <vt:variant>
        <vt:lpstr>使用されているフォント</vt:lpstr>
      </vt:variant>
      <vt:variant>
        <vt:i4>2</vt:i4>
      </vt:variant>
      <vt:variant>
        <vt:lpstr>テーマ</vt:lpstr>
      </vt:variant>
      <vt:variant>
        <vt:i4>1</vt:i4>
      </vt:variant>
      <vt:variant>
        <vt:lpstr>スライド タイトル</vt:lpstr>
      </vt:variant>
      <vt:variant>
        <vt:i4>24</vt:i4>
      </vt:variant>
    </vt:vector>
  </HeadingPairs>
  <TitlesOfParts>
    <vt:vector size="27" baseType="lpstr">
      <vt:lpstr>Arial</vt:lpstr>
      <vt:lpstr>Calibri</vt:lpstr>
      <vt:lpstr>Office テーマ</vt:lpstr>
      <vt:lpstr>プログラミング言語論 第４回 手続きの引数機構 変数の有効範囲</vt:lpstr>
      <vt:lpstr>変数名から値への対応</vt:lpstr>
      <vt:lpstr>手続き(procedure)</vt:lpstr>
      <vt:lpstr>手続き、関数の呼び出し</vt:lpstr>
      <vt:lpstr>手続き（関数）呼び出しの構文</vt:lpstr>
      <vt:lpstr>手続きの宣言の構文</vt:lpstr>
      <vt:lpstr>手続きの宣言の例(Pascal)</vt:lpstr>
      <vt:lpstr>関数の宣言の例(Pascal)</vt:lpstr>
      <vt:lpstr>再帰関数</vt:lpstr>
      <vt:lpstr>引数の渡し方について</vt:lpstr>
      <vt:lpstr>引数の渡し方</vt:lpstr>
      <vt:lpstr>Call by value</vt:lpstr>
      <vt:lpstr>うまくいかない例１</vt:lpstr>
      <vt:lpstr>うまくいかない例２</vt:lpstr>
      <vt:lpstr>Call by reference</vt:lpstr>
      <vt:lpstr>swapの例(Pascal)</vt:lpstr>
      <vt:lpstr>練習問題</vt:lpstr>
      <vt:lpstr>C言語について</vt:lpstr>
      <vt:lpstr>Call by name</vt:lpstr>
      <vt:lpstr>（補足）Call by value result</vt:lpstr>
      <vt:lpstr>変数の有効範囲について</vt:lpstr>
      <vt:lpstr>プログラム例</vt:lpstr>
      <vt:lpstr>Static scope</vt:lpstr>
      <vt:lpstr>Dynamic scope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プログラミング言語論 第８回</dc:title>
  <dc:creator>sasano</dc:creator>
  <cp:lastModifiedBy>Isao Sasano</cp:lastModifiedBy>
  <cp:revision>374</cp:revision>
  <dcterms:created xsi:type="dcterms:W3CDTF">2009-11-17T06:04:40Z</dcterms:created>
  <dcterms:modified xsi:type="dcterms:W3CDTF">2026-09-28T12:08:09Z</dcterms:modified>
</cp:coreProperties>
</file>