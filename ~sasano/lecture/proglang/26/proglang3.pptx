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1" r:id="rId3"/>
    <p:sldId id="261" r:id="rId4"/>
    <p:sldId id="258" r:id="rId5"/>
    <p:sldId id="260" r:id="rId6"/>
    <p:sldId id="262" r:id="rId7"/>
    <p:sldId id="282" r:id="rId8"/>
    <p:sldId id="283" r:id="rId9"/>
    <p:sldId id="287" r:id="rId10"/>
    <p:sldId id="266" r:id="rId11"/>
    <p:sldId id="265" r:id="rId12"/>
    <p:sldId id="267" r:id="rId13"/>
    <p:sldId id="257" r:id="rId14"/>
    <p:sldId id="272" r:id="rId15"/>
    <p:sldId id="273" r:id="rId16"/>
    <p:sldId id="268" r:id="rId17"/>
    <p:sldId id="274" r:id="rId18"/>
    <p:sldId id="270" r:id="rId19"/>
    <p:sldId id="275" r:id="rId20"/>
    <p:sldId id="284" r:id="rId21"/>
    <p:sldId id="278" r:id="rId22"/>
    <p:sldId id="286" r:id="rId23"/>
    <p:sldId id="285" r:id="rId24"/>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37" autoAdjust="0"/>
    <p:restoredTop sz="94626"/>
  </p:normalViewPr>
  <p:slideViewPr>
    <p:cSldViewPr snapToGrid="0">
      <p:cViewPr varScale="1">
        <p:scale>
          <a:sx n="121" d="100"/>
          <a:sy n="121" d="100"/>
        </p:scale>
        <p:origin x="1896" y="16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a:t>
            </a:fld>
            <a:endParaRPr kumimoji="1" lang="ja-JP" altLang="en-US"/>
          </a:p>
        </p:txBody>
      </p:sp>
    </p:spTree>
    <p:extLst>
      <p:ext uri="{BB962C8B-B14F-4D97-AF65-F5344CB8AC3E}">
        <p14:creationId xmlns:p14="http://schemas.microsoft.com/office/powerpoint/2010/main" val="428063998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19</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a:t>プログラミング言語論</a:t>
            </a:r>
            <a:br>
              <a:rPr kumimoji="1" lang="en-US" altLang="ja-JP" dirty="0"/>
            </a:br>
            <a:r>
              <a:rPr lang="ja-JP" altLang="en-US" dirty="0"/>
              <a:t>第</a:t>
            </a:r>
            <a:r>
              <a:rPr lang="en-US" altLang="ja-JP" dirty="0"/>
              <a:t>3</a:t>
            </a:r>
            <a:r>
              <a:rPr lang="ja-JP" altLang="en-US" dirty="0"/>
              <a:t>回</a:t>
            </a:r>
            <a:br>
              <a:rPr lang="en-US" altLang="ja-JP" dirty="0"/>
            </a:br>
            <a:r>
              <a:rPr lang="ja-JP" altLang="en-US" dirty="0"/>
              <a:t>文の翻訳</a:t>
            </a:r>
            <a:br>
              <a:rPr lang="en-US" altLang="ja-JP" dirty="0"/>
            </a:br>
            <a:r>
              <a:rPr lang="en-US" altLang="ja-JP" dirty="0"/>
              <a:t>C</a:t>
            </a:r>
            <a:r>
              <a:rPr lang="ja-JP" altLang="en-US" dirty="0"/>
              <a:t>言語の文</a:t>
            </a:r>
            <a:br>
              <a:rPr lang="en-US" altLang="ja-JP" dirty="0"/>
            </a:br>
            <a:r>
              <a:rPr lang="ja-JP" altLang="en-US" dirty="0"/>
              <a:t>表明</a:t>
            </a:r>
            <a:br>
              <a:rPr lang="en-US" altLang="ja-JP" dirty="0"/>
            </a:br>
            <a:r>
              <a:rPr lang="en-US" altLang="ja-JP" dirty="0"/>
              <a:t>Hoare</a:t>
            </a:r>
            <a:r>
              <a:rPr lang="ja-JP" altLang="en-US" dirty="0"/>
              <a:t>論理</a:t>
            </a:r>
            <a:endParaRPr kumimoji="1" lang="ja-JP" altLang="en-US" dirty="0"/>
          </a:p>
        </p:txBody>
      </p:sp>
      <p:sp>
        <p:nvSpPr>
          <p:cNvPr id="4" name="テキスト ボックス 3"/>
          <p:cNvSpPr txBox="1"/>
          <p:nvPr/>
        </p:nvSpPr>
        <p:spPr>
          <a:xfrm>
            <a:off x="3756858" y="5416282"/>
            <a:ext cx="1688283" cy="584775"/>
          </a:xfrm>
          <a:prstGeom prst="rect">
            <a:avLst/>
          </a:prstGeom>
          <a:noFill/>
        </p:spPr>
        <p:txBody>
          <a:bodyPr wrap="none" rtlCol="0">
            <a:spAutoFit/>
          </a:bodyPr>
          <a:lstStyle/>
          <a:p>
            <a:pPr algn="ctr"/>
            <a:r>
              <a:rPr kumimoji="1" lang="ja-JP" altLang="en-US" sz="3200"/>
              <a:t>篠埜　</a:t>
            </a:r>
            <a:r>
              <a:rPr kumimoji="1" lang="ja-JP" altLang="en-US" sz="32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文の翻訳について</a:t>
            </a:r>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a:t>w</a:t>
            </a:r>
            <a:r>
              <a:rPr kumimoji="1" lang="en-US" altLang="ja-JP" sz="2800" dirty="0"/>
              <a:t>hile</a:t>
            </a:r>
            <a:r>
              <a:rPr kumimoji="1" lang="ja-JP" altLang="en-US" sz="2800" dirty="0"/>
              <a:t>文などは</a:t>
            </a:r>
            <a:r>
              <a:rPr lang="ja-JP" altLang="en-US" sz="2800" dirty="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extLst>
                    <a:ext uri="{9D8B030D-6E8A-4147-A177-3AD203B41FA5}">
                      <a16:colId xmlns:a16="http://schemas.microsoft.com/office/drawing/2014/main" val="20000"/>
                    </a:ext>
                  </a:extLst>
                </a:gridCol>
              </a:tblGrid>
              <a:tr h="523915">
                <a:tc>
                  <a:txBody>
                    <a:bodyPr/>
                    <a:lstStyle/>
                    <a:p>
                      <a:pPr algn="ctr"/>
                      <a:r>
                        <a:rPr kumimoji="1" lang="en-US" altLang="ja-JP" sz="2800" dirty="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768225">
                <a:tc>
                  <a:txBody>
                    <a:bodyPr/>
                    <a:lstStyle/>
                    <a:p>
                      <a:pPr algn="ctr"/>
                      <a:r>
                        <a:rPr kumimoji="1" lang="en-US" altLang="ja-JP" sz="2800" dirty="0"/>
                        <a:t>E</a:t>
                      </a:r>
                      <a:r>
                        <a:rPr kumimoji="1" lang="ja-JP" altLang="en-US" sz="2800" dirty="0"/>
                        <a:t>の翻訳結果</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523915">
                <a:tc>
                  <a:txBody>
                    <a:bodyPr/>
                    <a:lstStyle/>
                    <a:p>
                      <a:pPr algn="ctr"/>
                      <a:r>
                        <a:rPr kumimoji="1" lang="en-US" altLang="ja-JP" sz="2800" dirty="0"/>
                        <a:t>E</a:t>
                      </a:r>
                      <a:r>
                        <a:rPr kumimoji="1" lang="ja-JP" altLang="en-US" sz="2800" dirty="0"/>
                        <a:t>の値が</a:t>
                      </a:r>
                      <a:r>
                        <a:rPr kumimoji="1" lang="en-US" altLang="ja-JP" sz="2800" dirty="0"/>
                        <a:t>false</a:t>
                      </a:r>
                      <a:r>
                        <a:rPr kumimoji="1" lang="ja-JP" altLang="en-US" sz="2800" dirty="0"/>
                        <a:t>の場合</a:t>
                      </a:r>
                      <a:r>
                        <a:rPr kumimoji="1" lang="en-US" altLang="ja-JP" sz="2800" dirty="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998439">
                <a:tc>
                  <a:txBody>
                    <a:bodyPr/>
                    <a:lstStyle/>
                    <a:p>
                      <a:pPr algn="ctr"/>
                      <a:r>
                        <a:rPr kumimoji="1" lang="en-US" altLang="ja-JP" sz="2800" dirty="0"/>
                        <a:t>S</a:t>
                      </a:r>
                      <a:r>
                        <a:rPr kumimoji="1" lang="ja-JP" altLang="en-US" sz="2800" dirty="0"/>
                        <a:t>の翻訳結果</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523915">
                <a:tc>
                  <a:txBody>
                    <a:bodyPr/>
                    <a:lstStyle/>
                    <a:p>
                      <a:pPr algn="ctr"/>
                      <a:r>
                        <a:rPr kumimoji="1" lang="en-US" altLang="ja-JP" sz="2800" dirty="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19190">
                <a:tc>
                  <a:txBody>
                    <a:bodyPr/>
                    <a:lstStyle/>
                    <a:p>
                      <a:pPr algn="ctr"/>
                      <a:r>
                        <a:rPr kumimoji="1" lang="en-US" altLang="ja-JP" sz="2800" dirty="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0005"/>
                  </a:ext>
                </a:extLst>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a:t> </a:t>
            </a:r>
            <a:r>
              <a:rPr lang="en-US" altLang="ja-JP" sz="2800" dirty="0"/>
              <a:t>while</a:t>
            </a:r>
            <a:r>
              <a:rPr lang="ja-JP" altLang="en-US" sz="2800" dirty="0"/>
              <a:t>文</a:t>
            </a:r>
            <a:endParaRPr lang="en-US" altLang="ja-JP" sz="2800" dirty="0"/>
          </a:p>
          <a:p>
            <a:pPr algn="ctr"/>
            <a:r>
              <a:rPr lang="en-US" altLang="ja-JP" sz="2800" b="1" dirty="0"/>
              <a:t>while </a:t>
            </a:r>
            <a:r>
              <a:rPr lang="en-US" altLang="ja-JP" sz="2800" dirty="0"/>
              <a:t>E </a:t>
            </a:r>
            <a:r>
              <a:rPr lang="en-US" altLang="ja-JP" sz="2800" b="1" dirty="0"/>
              <a:t>do</a:t>
            </a:r>
            <a:r>
              <a:rPr lang="en-US" altLang="ja-JP" sz="2800" dirty="0"/>
              <a:t> S</a:t>
            </a:r>
          </a:p>
          <a:p>
            <a:pPr algn="ctr"/>
            <a:r>
              <a:rPr lang="ja-JP" altLang="en-US" sz="2800" dirty="0"/>
              <a:t>の翻訳</a:t>
            </a:r>
            <a:endParaRPr kumimoji="1" lang="ja-JP" alt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a:t>選択文の</a:t>
            </a:r>
            <a:r>
              <a:rPr lang="ja-JP" altLang="en-US" dirty="0"/>
              <a:t>翻訳</a:t>
            </a:r>
            <a:endParaRPr kumimoji="1" lang="ja-JP" altLang="en-US" dirty="0"/>
          </a:p>
        </p:txBody>
      </p:sp>
      <p:sp>
        <p:nvSpPr>
          <p:cNvPr id="4" name="テキスト ボックス 3"/>
          <p:cNvSpPr txBox="1"/>
          <p:nvPr/>
        </p:nvSpPr>
        <p:spPr>
          <a:xfrm>
            <a:off x="341385" y="1323828"/>
            <a:ext cx="8611544" cy="5262980"/>
          </a:xfrm>
          <a:prstGeom prst="rect">
            <a:avLst/>
          </a:prstGeom>
          <a:noFill/>
        </p:spPr>
        <p:txBody>
          <a:bodyPr wrap="square" rtlCol="0">
            <a:spAutoFit/>
          </a:bodyPr>
          <a:lstStyle/>
          <a:p>
            <a:r>
              <a:rPr lang="ja-JP" altLang="en-US" sz="2800" dirty="0"/>
              <a:t>選択文</a:t>
            </a:r>
            <a:r>
              <a:rPr lang="en-US" altLang="ja-JP" sz="2800" dirty="0"/>
              <a:t>(C</a:t>
            </a:r>
            <a:r>
              <a:rPr lang="ja-JP" altLang="en-US" sz="2800" dirty="0"/>
              <a:t>における</a:t>
            </a:r>
            <a:r>
              <a:rPr lang="en-US" altLang="ja-JP" sz="2800" dirty="0"/>
              <a:t>switch</a:t>
            </a:r>
            <a:r>
              <a:rPr lang="ja-JP" altLang="en-US" sz="2800" dirty="0"/>
              <a:t>文など</a:t>
            </a:r>
            <a:r>
              <a:rPr lang="en-US" altLang="ja-JP" sz="2800" dirty="0"/>
              <a:t>)</a:t>
            </a:r>
            <a:r>
              <a:rPr lang="ja-JP" altLang="en-US" sz="2800" dirty="0"/>
              <a:t>は、さまざまな実装方法があり得るので、実装によって使い方に影響がある。</a:t>
            </a:r>
            <a:endParaRPr lang="en-US" altLang="ja-JP" sz="2800" dirty="0"/>
          </a:p>
          <a:p>
            <a:endParaRPr lang="en-US" altLang="ja-JP" sz="2800" dirty="0"/>
          </a:p>
          <a:p>
            <a:r>
              <a:rPr lang="ja-JP" altLang="en-US" sz="2800" dirty="0"/>
              <a:t>（実装例１）ジャンプテーブル（配列）を用いたコードに変換し、連続した定数のみを分岐先指定に用いるように推奨する。</a:t>
            </a:r>
            <a:endParaRPr lang="en-US" altLang="ja-JP" sz="2800" dirty="0"/>
          </a:p>
          <a:p>
            <a:endParaRPr lang="en-US" altLang="ja-JP" sz="2800" dirty="0"/>
          </a:p>
          <a:p>
            <a:r>
              <a:rPr lang="ja-JP" altLang="en-US" sz="2800" dirty="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a:t>C</a:t>
            </a:r>
            <a:r>
              <a:rPr kumimoji="1" lang="ja-JP" altLang="en-US" sz="3600" dirty="0"/>
              <a:t>言語の文の構文</a:t>
            </a:r>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a:t>C</a:t>
            </a:r>
            <a:r>
              <a:rPr kumimoji="1" lang="ja-JP" altLang="en-US" sz="2400" dirty="0"/>
              <a:t>言語の文の構文は拡張</a:t>
            </a:r>
            <a:r>
              <a:rPr kumimoji="1" lang="en-US" altLang="ja-JP" sz="2400" dirty="0"/>
              <a:t>BNF</a:t>
            </a:r>
            <a:r>
              <a:rPr kumimoji="1" lang="ja-JP" altLang="en-US" sz="2400" dirty="0"/>
              <a:t>記法で以下のように定義される。</a:t>
            </a:r>
            <a:endParaRPr kumimoji="1" lang="en-US" altLang="ja-JP" sz="2400" dirty="0"/>
          </a:p>
          <a:p>
            <a:r>
              <a:rPr lang="en-US" altLang="ja-JP" sz="2400" dirty="0"/>
              <a:t>&lt;stmt&gt; ::= ;</a:t>
            </a:r>
          </a:p>
          <a:p>
            <a:r>
              <a:rPr kumimoji="1" lang="en-US" altLang="ja-JP" sz="2400" dirty="0"/>
              <a:t>                | &lt;exp&gt;;</a:t>
            </a:r>
          </a:p>
          <a:p>
            <a:r>
              <a:rPr lang="en-US" altLang="ja-JP" sz="2400" dirty="0"/>
              <a:t>                | { &lt;stmt-list&gt; }</a:t>
            </a:r>
          </a:p>
          <a:p>
            <a:r>
              <a:rPr kumimoji="1" lang="en-US" altLang="ja-JP" sz="2400" dirty="0"/>
              <a:t>                | if (&lt;exp&gt;)  &lt;stmt&gt;  | </a:t>
            </a:r>
            <a:r>
              <a:rPr lang="en-US" altLang="ja-JP" sz="2400" dirty="0"/>
              <a:t>if (&lt;exp&gt;) &lt;stmt&gt; else &lt;stmt&gt;</a:t>
            </a:r>
          </a:p>
          <a:p>
            <a:r>
              <a:rPr kumimoji="1" lang="en-US" altLang="ja-JP" sz="2400" dirty="0"/>
              <a:t>                | while ( &lt;exp&gt; ) &lt;stmt&gt;</a:t>
            </a:r>
          </a:p>
          <a:p>
            <a:r>
              <a:rPr lang="en-US" altLang="ja-JP" sz="2400" dirty="0"/>
              <a:t>                | do &lt;stmt&gt; while (&lt;exp&gt;) ;</a:t>
            </a:r>
          </a:p>
          <a:p>
            <a:r>
              <a:rPr kumimoji="1" lang="en-US" altLang="ja-JP" sz="2400" dirty="0"/>
              <a:t>                | for (&lt;opt-exp</a:t>
            </a:r>
            <a:r>
              <a:rPr lang="en-US" altLang="ja-JP" sz="2400" dirty="0"/>
              <a:t>&gt;; &lt;opt-exp&gt;; &lt;opt-exp&gt;) &lt;stmt&gt;</a:t>
            </a:r>
          </a:p>
          <a:p>
            <a:r>
              <a:rPr kumimoji="1" lang="en-US" altLang="ja-JP" sz="2400" dirty="0"/>
              <a:t>                | switch ( &lt;exp</a:t>
            </a:r>
            <a:r>
              <a:rPr lang="en-US" altLang="ja-JP" sz="2400" dirty="0"/>
              <a:t>&gt; ) &lt;stmt&gt;</a:t>
            </a:r>
          </a:p>
          <a:p>
            <a:r>
              <a:rPr kumimoji="1" lang="en-US" altLang="ja-JP" sz="2400" dirty="0"/>
              <a:t>                | case &lt;const-exp&gt; : &lt;stmt&gt;</a:t>
            </a:r>
          </a:p>
          <a:p>
            <a:r>
              <a:rPr lang="en-US" altLang="ja-JP" sz="2400" dirty="0"/>
              <a:t>                | default : &lt;stmt&gt;</a:t>
            </a:r>
          </a:p>
          <a:p>
            <a:r>
              <a:rPr kumimoji="1" lang="en-US" altLang="ja-JP" sz="2400" dirty="0"/>
              <a:t>                | break;</a:t>
            </a:r>
            <a:r>
              <a:rPr lang="en-US" altLang="ja-JP" sz="2400" dirty="0"/>
              <a:t>    | continue;</a:t>
            </a:r>
            <a:r>
              <a:rPr kumimoji="1" lang="en-US" altLang="ja-JP" sz="2400" dirty="0"/>
              <a:t>   | return;   | return &lt;exp&gt;;</a:t>
            </a:r>
          </a:p>
          <a:p>
            <a:r>
              <a:rPr lang="en-US" altLang="ja-JP" sz="2400" dirty="0"/>
              <a:t>                | </a:t>
            </a:r>
            <a:r>
              <a:rPr lang="en-US" altLang="ja-JP" sz="2400" dirty="0" err="1"/>
              <a:t>goto</a:t>
            </a:r>
            <a:r>
              <a:rPr lang="en-US" altLang="ja-JP" sz="2400" dirty="0"/>
              <a:t> &lt;label&gt;;  |  &lt;label&gt; : &lt;stmt&gt;</a:t>
            </a:r>
          </a:p>
          <a:p>
            <a:r>
              <a:rPr kumimoji="1" lang="en-US" altLang="ja-JP" sz="2400" dirty="0"/>
              <a:t>&lt;stmt-list&gt; ::= </a:t>
            </a:r>
            <a:r>
              <a:rPr lang="en-US" altLang="ja-JP" sz="2400" dirty="0">
                <a:sym typeface="Symbol"/>
              </a:rPr>
              <a:t>&lt;stmt&gt; *</a:t>
            </a:r>
          </a:p>
          <a:p>
            <a:r>
              <a:rPr kumimoji="1" lang="en-US" altLang="ja-JP" sz="2400" dirty="0">
                <a:sym typeface="Symbol"/>
              </a:rPr>
              <a:t>&lt;opt-exp&gt; ::= </a:t>
            </a:r>
            <a:r>
              <a:rPr lang="en-US" altLang="ja-JP" sz="2400" dirty="0">
                <a:sym typeface="Symbol"/>
              </a:rPr>
              <a:t> | &lt;exp&gt;</a:t>
            </a:r>
            <a:endParaRPr kumimoji="1" lang="en-US" altLang="ja-JP" sz="2400" dirty="0">
              <a:sym typeface="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C</a:t>
            </a:r>
            <a:r>
              <a:rPr kumimoji="1" lang="ja-JP" altLang="en-US" dirty="0"/>
              <a:t>言語に</a:t>
            </a:r>
            <a:r>
              <a:rPr lang="ja-JP" altLang="en-US" dirty="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a:t>基本型にブール型はない。</a:t>
            </a:r>
            <a:r>
              <a:rPr kumimoji="1" lang="en-US" altLang="ja-JP" sz="2800" dirty="0"/>
              <a:t>0</a:t>
            </a:r>
            <a:r>
              <a:rPr kumimoji="1" lang="ja-JP" altLang="en-US" sz="2800" dirty="0"/>
              <a:t>以外の値を</a:t>
            </a:r>
            <a:r>
              <a:rPr kumimoji="1" lang="en-US" altLang="ja-JP" sz="2800" dirty="0"/>
              <a:t>true, 0</a:t>
            </a:r>
            <a:r>
              <a:rPr lang="ja-JP" altLang="en-US" sz="2800" dirty="0"/>
              <a:t>を</a:t>
            </a:r>
            <a:r>
              <a:rPr lang="en-US" altLang="ja-JP" sz="2800" dirty="0"/>
              <a:t>false</a:t>
            </a:r>
            <a:r>
              <a:rPr lang="ja-JP" altLang="en-US" sz="2800" dirty="0"/>
              <a:t>として扱う。</a:t>
            </a:r>
            <a:endParaRPr lang="en-US" altLang="ja-JP" sz="2800" dirty="0"/>
          </a:p>
          <a:p>
            <a:r>
              <a:rPr lang="ja-JP" altLang="en-US" sz="2800" dirty="0"/>
              <a:t>代入演算子は</a:t>
            </a:r>
            <a:r>
              <a:rPr lang="en-US" altLang="ja-JP" sz="2800" dirty="0"/>
              <a:t>=, </a:t>
            </a:r>
            <a:r>
              <a:rPr lang="ja-JP" altLang="en-US" sz="2800" dirty="0"/>
              <a:t>比較演算子は</a:t>
            </a:r>
            <a:r>
              <a:rPr lang="en-US" altLang="ja-JP" sz="2800" dirty="0"/>
              <a:t>==, !=</a:t>
            </a:r>
            <a:r>
              <a:rPr lang="ja-JP" altLang="en-US" sz="2800" dirty="0"/>
              <a:t>である。</a:t>
            </a:r>
            <a:endParaRPr lang="en-US" altLang="ja-JP" sz="2800" dirty="0"/>
          </a:p>
          <a:p>
            <a:r>
              <a:rPr lang="en-US" altLang="ja-JP" sz="2800" dirty="0"/>
              <a:t>while</a:t>
            </a:r>
            <a:r>
              <a:rPr lang="ja-JP" altLang="en-US" sz="2800" dirty="0"/>
              <a:t>文の条件部分は括弧で囲まなければならない。</a:t>
            </a:r>
            <a:endParaRPr lang="en-US" altLang="ja-JP" sz="2800" dirty="0"/>
          </a:p>
          <a:p>
            <a:r>
              <a:rPr lang="en-US" altLang="ja-JP" sz="2800" dirty="0"/>
              <a:t>begin, end</a:t>
            </a:r>
            <a:r>
              <a:rPr lang="ja-JP" altLang="en-US" sz="2800" dirty="0"/>
              <a:t>の代わりに中括弧</a:t>
            </a:r>
            <a:r>
              <a:rPr lang="en-US" altLang="ja-JP" sz="2800" dirty="0"/>
              <a:t>{, }</a:t>
            </a:r>
            <a:r>
              <a:rPr lang="ja-JP" altLang="en-US" sz="2800" dirty="0"/>
              <a:t>を用いる。</a:t>
            </a:r>
            <a:endParaRPr lang="en-US" altLang="ja-JP" sz="2800" dirty="0"/>
          </a:p>
          <a:p>
            <a:r>
              <a:rPr lang="ja-JP" altLang="en-US" sz="2800" dirty="0"/>
              <a:t>論理</a:t>
            </a:r>
            <a:r>
              <a:rPr lang="en-US" altLang="ja-JP" sz="2800" dirty="0"/>
              <a:t>and</a:t>
            </a:r>
            <a:r>
              <a:rPr lang="ja-JP" altLang="en-US" sz="2800" dirty="0"/>
              <a:t>と論理</a:t>
            </a:r>
            <a:r>
              <a:rPr lang="en-US" altLang="ja-JP" sz="2800" dirty="0"/>
              <a:t>or</a:t>
            </a:r>
            <a:r>
              <a:rPr lang="ja-JP" altLang="en-US" sz="2800" dirty="0"/>
              <a:t>演算子は</a:t>
            </a:r>
            <a:r>
              <a:rPr lang="en-US" altLang="ja-JP" sz="2800" dirty="0"/>
              <a:t>&amp;&amp;</a:t>
            </a:r>
            <a:r>
              <a:rPr lang="ja-JP" altLang="en-US" sz="2800" dirty="0"/>
              <a:t>と</a:t>
            </a:r>
            <a:r>
              <a:rPr lang="en-US" altLang="ja-JP" sz="2800" dirty="0"/>
              <a:t>||</a:t>
            </a:r>
            <a:r>
              <a:rPr lang="ja-JP" altLang="en-US" sz="2800" dirty="0"/>
              <a:t>である。</a:t>
            </a:r>
            <a:endParaRPr lang="en-US" altLang="ja-JP" sz="2800" dirty="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a:t>C</a:t>
            </a:r>
            <a:r>
              <a:rPr kumimoji="1" lang="ja-JP" altLang="en-US" sz="2800" dirty="0"/>
              <a:t>言語は、</a:t>
            </a:r>
            <a:r>
              <a:rPr lang="ja-JP" altLang="en-US" sz="2800" dirty="0"/>
              <a:t>講義で使っている</a:t>
            </a:r>
            <a:r>
              <a:rPr lang="en-US" altLang="ja-JP" sz="2800" dirty="0"/>
              <a:t>Pascal</a:t>
            </a:r>
            <a:r>
              <a:rPr lang="ja-JP" altLang="en-US" sz="2800" dirty="0"/>
              <a:t>言語等</a:t>
            </a:r>
            <a:r>
              <a:rPr kumimoji="1" lang="ja-JP" altLang="en-US" sz="2800" dirty="0"/>
              <a:t>と以下のような違いがある。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短絡評価</a:t>
            </a:r>
            <a:r>
              <a:rPr lang="en-US" altLang="ja-JP" dirty="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a:t>C</a:t>
            </a:r>
            <a:r>
              <a:rPr lang="ja-JP" altLang="en-US" sz="2800" dirty="0"/>
              <a:t>言語</a:t>
            </a:r>
            <a:r>
              <a:rPr lang="en-US" altLang="ja-JP" sz="2800" dirty="0"/>
              <a:t>(</a:t>
            </a:r>
            <a:r>
              <a:rPr lang="ja-JP" altLang="en-US" sz="2800" dirty="0"/>
              <a:t>や</a:t>
            </a:r>
            <a:r>
              <a:rPr lang="en-US" altLang="ja-JP" sz="2800" dirty="0"/>
              <a:t>Modula2, Pascal</a:t>
            </a:r>
            <a:r>
              <a:rPr lang="ja-JP" altLang="en-US" sz="2800" dirty="0"/>
              <a:t>等</a:t>
            </a:r>
            <a:r>
              <a:rPr lang="en-US" altLang="ja-JP" sz="2800" dirty="0"/>
              <a:t>)</a:t>
            </a:r>
            <a:r>
              <a:rPr lang="ja-JP" altLang="en-US" sz="2800" dirty="0"/>
              <a:t>では</a:t>
            </a:r>
            <a:r>
              <a:rPr lang="en-US" altLang="ja-JP" sz="2800" dirty="0"/>
              <a:t>and, or</a:t>
            </a:r>
            <a:r>
              <a:rPr lang="ja-JP" altLang="en-US" sz="2800" dirty="0"/>
              <a:t>式ついて短絡評価を行う。</a:t>
            </a:r>
            <a:endParaRPr lang="en-US" altLang="ja-JP" sz="2800" dirty="0"/>
          </a:p>
          <a:p>
            <a:r>
              <a:rPr kumimoji="1" lang="ja-JP" altLang="en-US" sz="2800" dirty="0"/>
              <a:t>短絡評価 </a:t>
            </a:r>
            <a:r>
              <a:rPr kumimoji="1" lang="en-US" altLang="ja-JP" sz="2800" dirty="0"/>
              <a:t>--- </a:t>
            </a:r>
            <a:r>
              <a:rPr kumimoji="1" lang="ja-JP" altLang="en-US" sz="2800" dirty="0"/>
              <a:t>第２引数は必要な場合のみ評価。</a:t>
            </a:r>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a:t>（例）</a:t>
            </a:r>
            <a:endParaRPr lang="en-US" altLang="ja-JP" sz="2800" dirty="0"/>
          </a:p>
          <a:p>
            <a:r>
              <a:rPr lang="ja-JP" altLang="en-US" sz="2800" dirty="0"/>
              <a:t> </a:t>
            </a:r>
            <a:r>
              <a:rPr lang="en-US" altLang="ja-JP" sz="2800" dirty="0"/>
              <a:t>x = 1;</a:t>
            </a:r>
          </a:p>
          <a:p>
            <a:r>
              <a:rPr lang="en-US" altLang="ja-JP" sz="2800" dirty="0"/>
              <a:t> if (x == 1 || y == 2)</a:t>
            </a:r>
          </a:p>
          <a:p>
            <a:r>
              <a:rPr lang="en-US" altLang="ja-JP" sz="2800" dirty="0"/>
              <a:t>     …</a:t>
            </a:r>
          </a:p>
          <a:p>
            <a:r>
              <a:rPr lang="ja-JP" altLang="en-US" sz="2800" dirty="0" err="1"/>
              <a:t>のような</a:t>
            </a:r>
            <a:r>
              <a:rPr lang="ja-JP" altLang="en-US" sz="2800" dirty="0"/>
              <a:t>例の場合、</a:t>
            </a:r>
            <a:r>
              <a:rPr lang="en-US" altLang="ja-JP" sz="2800" dirty="0"/>
              <a:t>x==1</a:t>
            </a:r>
            <a:r>
              <a:rPr lang="ja-JP" altLang="en-US" sz="2800" dirty="0"/>
              <a:t>が真であり、</a:t>
            </a:r>
            <a:r>
              <a:rPr lang="en-US" altLang="ja-JP" sz="2800" dirty="0"/>
              <a:t>if</a:t>
            </a:r>
            <a:r>
              <a:rPr lang="ja-JP" altLang="en-US" sz="2800" dirty="0"/>
              <a:t>文の条件式は</a:t>
            </a:r>
            <a:r>
              <a:rPr lang="en-US" altLang="ja-JP" sz="2800" dirty="0"/>
              <a:t>y==2</a:t>
            </a:r>
            <a:r>
              <a:rPr lang="ja-JP" altLang="en-US" sz="2800" dirty="0"/>
              <a:t>の値に係わらず真であるので、</a:t>
            </a:r>
            <a:r>
              <a:rPr lang="en-US" altLang="ja-JP" sz="2800" dirty="0"/>
              <a:t>y==2</a:t>
            </a:r>
            <a:r>
              <a:rPr lang="ja-JP" altLang="en-US" sz="2800" dirty="0" err="1"/>
              <a:t>を評</a:t>
            </a:r>
            <a:r>
              <a:rPr lang="ja-JP" altLang="en-US" sz="2800" dirty="0"/>
              <a:t>価せず</a:t>
            </a:r>
            <a:r>
              <a:rPr lang="en-US" altLang="ja-JP" sz="2800" dirty="0"/>
              <a:t>if</a:t>
            </a:r>
            <a:r>
              <a:rPr lang="ja-JP" altLang="en-US" sz="2800" dirty="0"/>
              <a:t>文の本体を実行する。</a:t>
            </a:r>
            <a:endParaRPr lang="en-US" altLang="ja-JP"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a:t>短絡評価の場合の制御フロー</a:t>
            </a:r>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a:t> if (x==1 || y==2) </a:t>
            </a:r>
          </a:p>
          <a:p>
            <a:r>
              <a:rPr lang="en-US" altLang="ja-JP" sz="2800" dirty="0"/>
              <a:t>     x = x + 1;</a:t>
            </a:r>
          </a:p>
          <a:p>
            <a:r>
              <a:rPr kumimoji="1" lang="ja-JP" altLang="en-US" sz="2800" dirty="0"/>
              <a:t>の制御フロー</a:t>
            </a:r>
            <a:endParaRPr kumimoji="1" lang="en-US" altLang="ja-JP" sz="2800" dirty="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66931" cy="523220"/>
          </a:xfrm>
          <a:prstGeom prst="rect">
            <a:avLst/>
          </a:prstGeom>
          <a:noFill/>
          <a:ln>
            <a:noFill/>
          </a:ln>
        </p:spPr>
        <p:txBody>
          <a:bodyPr wrap="none" rtlCol="0">
            <a:spAutoFit/>
          </a:bodyPr>
          <a:lstStyle/>
          <a:p>
            <a:r>
              <a:rPr lang="en-US" altLang="ja-JP" sz="2800" dirty="0"/>
              <a:t>Entry</a:t>
            </a:r>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718190" cy="523220"/>
          </a:xfrm>
          <a:prstGeom prst="rect">
            <a:avLst/>
          </a:prstGeom>
          <a:noFill/>
          <a:ln>
            <a:noFill/>
          </a:ln>
        </p:spPr>
        <p:txBody>
          <a:bodyPr wrap="none" rtlCol="0">
            <a:spAutoFit/>
          </a:bodyPr>
          <a:lstStyle/>
          <a:p>
            <a:r>
              <a:rPr lang="en-US" altLang="ja-JP" sz="2800" dirty="0"/>
              <a:t>Exit</a:t>
            </a:r>
          </a:p>
        </p:txBody>
      </p:sp>
      <p:sp>
        <p:nvSpPr>
          <p:cNvPr id="11" name="テキスト ボックス 10"/>
          <p:cNvSpPr txBox="1"/>
          <p:nvPr/>
        </p:nvSpPr>
        <p:spPr>
          <a:xfrm>
            <a:off x="5086943" y="2382733"/>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sp>
        <p:nvSpPr>
          <p:cNvPr id="12" name="テキスト ボックス 11"/>
          <p:cNvSpPr txBox="1"/>
          <p:nvPr/>
        </p:nvSpPr>
        <p:spPr>
          <a:xfrm>
            <a:off x="7105189" y="2396381"/>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y</a:t>
            </a:r>
            <a:r>
              <a:rPr kumimoji="1" lang="en-US" altLang="ja-JP" sz="2800" dirty="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98621" y="3421956"/>
            <a:ext cx="359644" cy="523220"/>
          </a:xfrm>
          <a:prstGeom prst="rect">
            <a:avLst/>
          </a:prstGeom>
          <a:noFill/>
        </p:spPr>
        <p:txBody>
          <a:bodyPr wrap="none" rtlCol="0">
            <a:spAutoFit/>
          </a:bodyPr>
          <a:lstStyle/>
          <a:p>
            <a:r>
              <a:rPr kumimoji="1" lang="en-US" altLang="ja-JP" sz="2800" dirty="0"/>
              <a:t>T</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92054" y="4158654"/>
            <a:ext cx="349650" cy="523220"/>
          </a:xfrm>
          <a:prstGeom prst="rect">
            <a:avLst/>
          </a:prstGeom>
          <a:noFill/>
        </p:spPr>
        <p:txBody>
          <a:bodyPr wrap="none" rtlCol="0">
            <a:spAutoFit/>
          </a:bodyPr>
          <a:lstStyle/>
          <a:p>
            <a:r>
              <a:rPr kumimoji="1" lang="en-US" altLang="ja-JP" sz="2800" dirty="0"/>
              <a:t>F</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a:t>短絡</a:t>
            </a:r>
            <a:r>
              <a:rPr lang="ja-JP" altLang="en-US" sz="2800" dirty="0"/>
              <a:t>評価により制御フローは複雑になるが、実行効率が良くなる。</a:t>
            </a:r>
            <a:endParaRPr kumimoji="1" lang="ja-JP" alt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a:t>参考</a:t>
            </a:r>
          </a:p>
        </p:txBody>
      </p:sp>
      <p:sp>
        <p:nvSpPr>
          <p:cNvPr id="4" name="テキスト ボックス 3"/>
          <p:cNvSpPr txBox="1"/>
          <p:nvPr/>
        </p:nvSpPr>
        <p:spPr>
          <a:xfrm>
            <a:off x="641443" y="777915"/>
            <a:ext cx="8297841" cy="4832092"/>
          </a:xfrm>
          <a:prstGeom prst="rect">
            <a:avLst/>
          </a:prstGeom>
          <a:noFill/>
        </p:spPr>
        <p:txBody>
          <a:bodyPr wrap="square" rtlCol="0">
            <a:spAutoFit/>
          </a:bodyPr>
          <a:lstStyle/>
          <a:p>
            <a:r>
              <a:rPr kumimoji="1" lang="ja-JP" altLang="en-US" sz="2800" dirty="0"/>
              <a:t>制御フローを図示したものはグラフ構造を成す。制御フローグラフは、</a:t>
            </a:r>
            <a:r>
              <a:rPr kumimoji="1" lang="en-US" altLang="ja-JP" sz="2800" dirty="0" err="1"/>
              <a:t>goto</a:t>
            </a:r>
            <a:r>
              <a:rPr kumimoji="1" lang="ja-JP" altLang="en-US" sz="2800" dirty="0"/>
              <a:t>文がない場合、複雑さが、ある尺度</a:t>
            </a:r>
            <a:r>
              <a:rPr kumimoji="1" lang="en-US" altLang="ja-JP" sz="2800" dirty="0"/>
              <a:t>(</a:t>
            </a:r>
            <a:r>
              <a:rPr lang="ja-JP" altLang="en-US" sz="2800" dirty="0"/>
              <a:t>木幅 </a:t>
            </a:r>
            <a:r>
              <a:rPr lang="en-US" altLang="ja-JP" sz="2800" dirty="0"/>
              <a:t>tree-width</a:t>
            </a:r>
            <a:r>
              <a:rPr kumimoji="1" lang="en-US" altLang="ja-JP" sz="2800" dirty="0"/>
              <a:t>)</a:t>
            </a:r>
            <a:r>
              <a:rPr kumimoji="1" lang="ja-JP" altLang="en-US" sz="2800" dirty="0"/>
              <a:t>に関して一定値以下になる</a:t>
            </a:r>
            <a:r>
              <a:rPr lang="ja-JP" altLang="en-US" sz="2800" dirty="0"/>
              <a:t>ことが知られている。</a:t>
            </a:r>
            <a:endParaRPr lang="en-US" altLang="ja-JP" sz="2800" dirty="0"/>
          </a:p>
          <a:p>
            <a:pPr lvl="1">
              <a:buFont typeface="Arial" pitchFamily="34" charset="0"/>
              <a:buChar char="•"/>
            </a:pPr>
            <a:r>
              <a:rPr lang="en-US" altLang="ja-JP" sz="2800" dirty="0"/>
              <a:t>  </a:t>
            </a:r>
            <a:r>
              <a:rPr lang="en-US" altLang="ja-JP" sz="2800" dirty="0" err="1"/>
              <a:t>goto</a:t>
            </a:r>
            <a:r>
              <a:rPr lang="ja-JP" altLang="en-US" sz="2800" dirty="0"/>
              <a:t>文無しの</a:t>
            </a:r>
            <a:r>
              <a:rPr lang="en-US" altLang="ja-JP" sz="2800" dirty="0" err="1"/>
              <a:t>Algol</a:t>
            </a:r>
            <a:r>
              <a:rPr lang="en-US" altLang="ja-JP" sz="2800" dirty="0"/>
              <a:t>, </a:t>
            </a:r>
            <a:r>
              <a:rPr lang="en-US" altLang="ja-JP" sz="2800" dirty="0" err="1"/>
              <a:t>goto</a:t>
            </a:r>
            <a:r>
              <a:rPr lang="ja-JP" altLang="en-US" sz="2800" dirty="0"/>
              <a:t>文無しの</a:t>
            </a:r>
            <a:r>
              <a:rPr lang="en-US" altLang="ja-JP" sz="2800" dirty="0"/>
              <a:t>Pascal --- 3</a:t>
            </a:r>
            <a:r>
              <a:rPr lang="ja-JP" altLang="en-US" sz="2800" dirty="0"/>
              <a:t>以下</a:t>
            </a:r>
            <a:endParaRPr lang="en-US" altLang="ja-JP" sz="2800" dirty="0"/>
          </a:p>
          <a:p>
            <a:pPr lvl="1">
              <a:buFont typeface="Arial" pitchFamily="34" charset="0"/>
              <a:buChar char="•"/>
            </a:pPr>
            <a:r>
              <a:rPr lang="en-US" altLang="ja-JP" sz="2800" dirty="0"/>
              <a:t>  Modula-2 --- 5</a:t>
            </a:r>
            <a:r>
              <a:rPr lang="ja-JP" altLang="en-US" sz="2800" dirty="0"/>
              <a:t>以下（</a:t>
            </a:r>
            <a:r>
              <a:rPr lang="en-US" altLang="ja-JP" sz="2800" dirty="0"/>
              <a:t>Modula-2</a:t>
            </a:r>
            <a:r>
              <a:rPr lang="ja-JP" altLang="en-US" sz="2800" dirty="0" err="1"/>
              <a:t>には</a:t>
            </a:r>
            <a:r>
              <a:rPr lang="en-US" altLang="ja-JP" sz="2800" dirty="0" err="1"/>
              <a:t>goto</a:t>
            </a:r>
            <a:r>
              <a:rPr lang="ja-JP" altLang="en-US" sz="2800" dirty="0"/>
              <a:t>文は無い）</a:t>
            </a:r>
            <a:endParaRPr lang="en-US" altLang="ja-JP" sz="2800" dirty="0"/>
          </a:p>
          <a:p>
            <a:pPr lvl="1">
              <a:buFont typeface="Arial" pitchFamily="34" charset="0"/>
              <a:buChar char="•"/>
            </a:pPr>
            <a:r>
              <a:rPr lang="en-US" altLang="ja-JP" sz="2800" dirty="0"/>
              <a:t>  </a:t>
            </a:r>
            <a:r>
              <a:rPr lang="en-US" altLang="ja-JP" sz="2800" dirty="0" err="1"/>
              <a:t>goto</a:t>
            </a:r>
            <a:r>
              <a:rPr lang="ja-JP" altLang="en-US" sz="2800" dirty="0"/>
              <a:t>文無しの</a:t>
            </a:r>
            <a:r>
              <a:rPr lang="en-US" altLang="ja-JP" sz="2800" dirty="0"/>
              <a:t>C --- 6</a:t>
            </a:r>
            <a:r>
              <a:rPr lang="ja-JP" altLang="en-US" sz="2800" dirty="0"/>
              <a:t>以下</a:t>
            </a:r>
            <a:endParaRPr lang="en-US" altLang="ja-JP" sz="2800" dirty="0"/>
          </a:p>
          <a:p>
            <a:r>
              <a:rPr lang="ja-JP" altLang="en-US" sz="2800" dirty="0"/>
              <a:t>短絡評価がなければ上記の木幅は１ずつ減少。</a:t>
            </a:r>
            <a:endParaRPr lang="en-US" altLang="ja-JP" sz="2800" dirty="0"/>
          </a:p>
          <a:p>
            <a:r>
              <a:rPr lang="en-US" altLang="ja-JP" sz="2800" dirty="0" err="1"/>
              <a:t>Algol</a:t>
            </a:r>
            <a:r>
              <a:rPr lang="en-US" altLang="ja-JP" sz="2800" dirty="0"/>
              <a:t>, Pascal</a:t>
            </a:r>
            <a:r>
              <a:rPr lang="ja-JP" altLang="en-US" sz="2800" dirty="0"/>
              <a:t>に比べ、</a:t>
            </a:r>
            <a:r>
              <a:rPr lang="en-US" altLang="ja-JP" sz="2800" dirty="0"/>
              <a:t>Modula-2</a:t>
            </a:r>
            <a:r>
              <a:rPr lang="ja-JP" altLang="en-US" sz="2800" dirty="0"/>
              <a:t>はループについて複数個所での終了</a:t>
            </a:r>
            <a:r>
              <a:rPr lang="en-US" altLang="ja-JP" sz="2800" dirty="0"/>
              <a:t>(break)</a:t>
            </a:r>
            <a:r>
              <a:rPr lang="ja-JP" altLang="en-US" sz="2800" dirty="0"/>
              <a:t>を許し、関数も複数個所での終了</a:t>
            </a:r>
            <a:r>
              <a:rPr lang="en-US" altLang="ja-JP" sz="2800" dirty="0"/>
              <a:t>(return)</a:t>
            </a:r>
            <a:r>
              <a:rPr lang="ja-JP" altLang="en-US" sz="2800" dirty="0"/>
              <a:t>を許す。</a:t>
            </a:r>
            <a:r>
              <a:rPr lang="en-US" altLang="ja-JP" sz="2800" dirty="0"/>
              <a:t>C</a:t>
            </a:r>
            <a:r>
              <a:rPr lang="ja-JP" altLang="en-US" sz="2800" dirty="0"/>
              <a:t>ではさらに</a:t>
            </a:r>
            <a:r>
              <a:rPr lang="en-US" altLang="ja-JP" sz="2800" dirty="0"/>
              <a:t>continue</a:t>
            </a:r>
            <a:r>
              <a:rPr lang="ja-JP" altLang="en-US" sz="2800" dirty="0"/>
              <a:t>文がある。</a:t>
            </a:r>
            <a:endParaRPr lang="en-US" altLang="ja-JP" sz="2800" dirty="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a:t>（参考文献） </a:t>
            </a:r>
            <a:r>
              <a:rPr kumimoji="1" lang="en-US" altLang="ja-JP" sz="2400" dirty="0" err="1"/>
              <a:t>Mikkel</a:t>
            </a:r>
            <a:r>
              <a:rPr kumimoji="1" lang="en-US" altLang="ja-JP" sz="2400" dirty="0"/>
              <a:t> </a:t>
            </a:r>
            <a:r>
              <a:rPr kumimoji="1" lang="en-US" altLang="ja-JP" sz="2400" dirty="0" err="1"/>
              <a:t>Thorup</a:t>
            </a:r>
            <a:r>
              <a:rPr kumimoji="1" lang="en-US" altLang="ja-JP" sz="2400" dirty="0"/>
              <a:t>, “All structured programs have small tree-width and good register allocation”,</a:t>
            </a:r>
            <a:r>
              <a:rPr kumimoji="1" lang="en-US" altLang="ja-JP" sz="2400" i="1" dirty="0"/>
              <a:t> Information and Computation</a:t>
            </a:r>
            <a:r>
              <a:rPr kumimoji="1" lang="en-US" altLang="ja-JP" sz="2400" dirty="0"/>
              <a:t>, </a:t>
            </a:r>
            <a:r>
              <a:rPr lang="en-US" altLang="ja-JP" sz="2400" dirty="0"/>
              <a:t>Vol. 142, pp. 159–181, 1998.</a:t>
            </a:r>
            <a:endParaRPr kumimoji="1" lang="ja-JP" alt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43107"/>
          </a:xfrm>
        </p:spPr>
        <p:txBody>
          <a:bodyPr/>
          <a:lstStyle/>
          <a:p>
            <a:r>
              <a:rPr kumimoji="1" lang="ja-JP" altLang="en-US" dirty="0"/>
              <a:t>練習問題</a:t>
            </a:r>
          </a:p>
        </p:txBody>
      </p:sp>
      <p:sp>
        <p:nvSpPr>
          <p:cNvPr id="3" name="テキスト ボックス 2"/>
          <p:cNvSpPr txBox="1"/>
          <p:nvPr/>
        </p:nvSpPr>
        <p:spPr>
          <a:xfrm>
            <a:off x="655093" y="1253021"/>
            <a:ext cx="7855861" cy="954107"/>
          </a:xfrm>
          <a:prstGeom prst="rect">
            <a:avLst/>
          </a:prstGeom>
          <a:noFill/>
        </p:spPr>
        <p:txBody>
          <a:bodyPr wrap="square" rtlCol="0">
            <a:spAutoFit/>
          </a:bodyPr>
          <a:lstStyle/>
          <a:p>
            <a:r>
              <a:rPr lang="ja-JP" altLang="en-US" sz="2800" dirty="0"/>
              <a:t>（１） 以下の</a:t>
            </a:r>
            <a:r>
              <a:rPr lang="en-US" altLang="ja-JP" sz="2800" dirty="0"/>
              <a:t>C</a:t>
            </a:r>
            <a:r>
              <a:rPr lang="ja-JP" altLang="en-US" sz="2800" dirty="0"/>
              <a:t>言語のプログラム断片の制御フローを図示せよ。</a:t>
            </a:r>
            <a:endParaRPr kumimoji="1" lang="en-US" altLang="ja-JP" sz="2800" dirty="0"/>
          </a:p>
        </p:txBody>
      </p:sp>
      <p:sp>
        <p:nvSpPr>
          <p:cNvPr id="4" name="テキスト ボックス 3"/>
          <p:cNvSpPr txBox="1"/>
          <p:nvPr/>
        </p:nvSpPr>
        <p:spPr>
          <a:xfrm>
            <a:off x="1333701" y="2171202"/>
            <a:ext cx="2733441" cy="1384995"/>
          </a:xfrm>
          <a:prstGeom prst="rect">
            <a:avLst/>
          </a:prstGeom>
          <a:noFill/>
        </p:spPr>
        <p:txBody>
          <a:bodyPr wrap="none" rtlCol="0">
            <a:spAutoFit/>
          </a:bodyPr>
          <a:lstStyle/>
          <a:p>
            <a:r>
              <a:rPr kumimoji="1" lang="en-US" altLang="ja-JP" sz="2800" dirty="0"/>
              <a:t> if (y==1 || y==2) </a:t>
            </a:r>
          </a:p>
          <a:p>
            <a:r>
              <a:rPr lang="en-US" altLang="ja-JP" sz="2800" dirty="0"/>
              <a:t>     if (x &gt; 0)</a:t>
            </a:r>
          </a:p>
          <a:p>
            <a:r>
              <a:rPr kumimoji="1" lang="en-US" altLang="ja-JP" sz="2800" dirty="0"/>
              <a:t>         x = x - 1;</a:t>
            </a:r>
          </a:p>
        </p:txBody>
      </p:sp>
      <p:sp>
        <p:nvSpPr>
          <p:cNvPr id="5" name="テキスト ボックス 4"/>
          <p:cNvSpPr txBox="1"/>
          <p:nvPr/>
        </p:nvSpPr>
        <p:spPr>
          <a:xfrm>
            <a:off x="561834" y="3578185"/>
            <a:ext cx="7991324" cy="954107"/>
          </a:xfrm>
          <a:prstGeom prst="rect">
            <a:avLst/>
          </a:prstGeom>
          <a:noFill/>
        </p:spPr>
        <p:txBody>
          <a:bodyPr wrap="square" rtlCol="0">
            <a:spAutoFit/>
          </a:bodyPr>
          <a:lstStyle/>
          <a:p>
            <a:r>
              <a:rPr lang="ja-JP" altLang="en-US" sz="2800" dirty="0"/>
              <a:t>（２） 以下の</a:t>
            </a:r>
            <a:r>
              <a:rPr lang="en-US" altLang="ja-JP" sz="2800" dirty="0"/>
              <a:t>C</a:t>
            </a:r>
            <a:r>
              <a:rPr lang="ja-JP" altLang="en-US" sz="2800" dirty="0"/>
              <a:t>言語のプログラム断片の制御フローを図示せよ。</a:t>
            </a:r>
            <a:endParaRPr kumimoji="1" lang="en-US" altLang="ja-JP" sz="2800" dirty="0"/>
          </a:p>
        </p:txBody>
      </p:sp>
      <p:sp>
        <p:nvSpPr>
          <p:cNvPr id="6" name="テキスト ボックス 5"/>
          <p:cNvSpPr txBox="1"/>
          <p:nvPr/>
        </p:nvSpPr>
        <p:spPr>
          <a:xfrm>
            <a:off x="1418454" y="4519573"/>
            <a:ext cx="3842193" cy="2246769"/>
          </a:xfrm>
          <a:prstGeom prst="rect">
            <a:avLst/>
          </a:prstGeom>
          <a:noFill/>
        </p:spPr>
        <p:txBody>
          <a:bodyPr wrap="none" rtlCol="0">
            <a:spAutoFit/>
          </a:bodyPr>
          <a:lstStyle/>
          <a:p>
            <a:r>
              <a:rPr kumimoji="1" lang="en-US" altLang="ja-JP" sz="2800" dirty="0"/>
              <a:t> while (x &gt; 0) {</a:t>
            </a:r>
          </a:p>
          <a:p>
            <a:r>
              <a:rPr lang="en-US" altLang="ja-JP" sz="2800" dirty="0"/>
              <a:t>    </a:t>
            </a:r>
            <a:r>
              <a:rPr kumimoji="1" lang="en-US" altLang="ja-JP" sz="2800" dirty="0"/>
              <a:t> if (x</a:t>
            </a:r>
            <a:r>
              <a:rPr lang="en-US" altLang="ja-JP" sz="2800" dirty="0"/>
              <a:t>%2==0</a:t>
            </a:r>
            <a:r>
              <a:rPr kumimoji="1" lang="en-US" altLang="ja-JP" sz="2800" dirty="0"/>
              <a:t> || x%3==</a:t>
            </a:r>
            <a:r>
              <a:rPr lang="en-US" altLang="ja-JP" sz="2800" dirty="0"/>
              <a:t>0</a:t>
            </a:r>
            <a:r>
              <a:rPr kumimoji="1" lang="en-US" altLang="ja-JP" sz="2800" dirty="0"/>
              <a:t>)</a:t>
            </a:r>
          </a:p>
          <a:p>
            <a:r>
              <a:rPr lang="en-US" altLang="ja-JP" sz="2800" dirty="0"/>
              <a:t>     </a:t>
            </a:r>
            <a:r>
              <a:rPr kumimoji="1" lang="en-US" altLang="ja-JP" sz="2800" dirty="0"/>
              <a:t>    s = s </a:t>
            </a:r>
            <a:r>
              <a:rPr lang="en-US" altLang="ja-JP" sz="2800" dirty="0"/>
              <a:t>+ x</a:t>
            </a:r>
            <a:r>
              <a:rPr kumimoji="1" lang="en-US" altLang="ja-JP" sz="2800" dirty="0"/>
              <a:t>;</a:t>
            </a:r>
          </a:p>
          <a:p>
            <a:r>
              <a:rPr lang="en-US" altLang="ja-JP" sz="2800" dirty="0"/>
              <a:t>     x = x – 1;</a:t>
            </a:r>
          </a:p>
          <a:p>
            <a:r>
              <a:rPr lang="en-US" altLang="ja-JP" sz="2800" dirty="0"/>
              <a:t> }</a:t>
            </a:r>
          </a:p>
        </p:txBody>
      </p:sp>
    </p:spTree>
    <p:extLst>
      <p:ext uri="{BB962C8B-B14F-4D97-AF65-F5344CB8AC3E}">
        <p14:creationId xmlns:p14="http://schemas.microsoft.com/office/powerpoint/2010/main" val="40689844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表明（</a:t>
            </a:r>
            <a:r>
              <a:rPr kumimoji="1" lang="en-US" altLang="ja-JP" dirty="0"/>
              <a:t>assertion</a:t>
            </a:r>
            <a:r>
              <a:rPr kumimoji="1" lang="ja-JP" altLang="en-US" dirty="0"/>
              <a:t>）</a:t>
            </a:r>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a:t>表明</a:t>
            </a:r>
            <a:r>
              <a:rPr kumimoji="1" lang="en-US" altLang="ja-JP" sz="2800" dirty="0"/>
              <a:t>(assertion)</a:t>
            </a:r>
            <a:r>
              <a:rPr lang="ja-JP" altLang="en-US" sz="2800" dirty="0"/>
              <a:t> </a:t>
            </a:r>
            <a:r>
              <a:rPr lang="en-US" altLang="ja-JP" sz="2800" dirty="0"/>
              <a:t>--- </a:t>
            </a:r>
            <a:r>
              <a:rPr lang="ja-JP" altLang="en-US" sz="2800" dirty="0"/>
              <a:t>条件式。</a:t>
            </a:r>
            <a:endParaRPr lang="en-US" altLang="ja-JP" sz="2800" dirty="0"/>
          </a:p>
          <a:p>
            <a:endParaRPr lang="en-US" altLang="ja-JP" sz="2800" dirty="0"/>
          </a:p>
          <a:p>
            <a:r>
              <a:rPr lang="en-US" altLang="ja-JP" sz="2800" dirty="0"/>
              <a:t>Java</a:t>
            </a:r>
            <a:r>
              <a:rPr lang="ja-JP" altLang="en-US" sz="2800" dirty="0"/>
              <a:t>では表明を記述するための構文がある。</a:t>
            </a:r>
            <a:endParaRPr lang="en-US" altLang="ja-JP" sz="2800" dirty="0"/>
          </a:p>
          <a:p>
            <a:r>
              <a:rPr kumimoji="1" lang="en-US" altLang="ja-JP" sz="2800" dirty="0"/>
              <a:t>C++</a:t>
            </a:r>
            <a:r>
              <a:rPr kumimoji="1" lang="ja-JP" altLang="en-US" sz="2800" dirty="0"/>
              <a:t>では</a:t>
            </a:r>
            <a:r>
              <a:rPr lang="ja-JP" altLang="en-US" sz="2800" dirty="0"/>
              <a:t>、</a:t>
            </a:r>
            <a:r>
              <a:rPr lang="en-US" altLang="ja-JP" sz="2800" dirty="0" err="1"/>
              <a:t>assert.h</a:t>
            </a:r>
            <a:r>
              <a:rPr lang="ja-JP" altLang="en-US" sz="2800" dirty="0"/>
              <a:t>をインクルードすることにより、</a:t>
            </a:r>
            <a:r>
              <a:rPr lang="en-US" altLang="ja-JP" sz="2800" dirty="0"/>
              <a:t>assert</a:t>
            </a:r>
            <a:r>
              <a:rPr lang="ja-JP" altLang="en-US" sz="2800" dirty="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a:t>（</a:t>
            </a:r>
            <a:r>
              <a:rPr kumimoji="1" lang="en-US" altLang="ja-JP" sz="2800" dirty="0"/>
              <a:t>Java</a:t>
            </a:r>
            <a:r>
              <a:rPr kumimoji="1" lang="ja-JP" altLang="en-US" sz="2800" dirty="0"/>
              <a:t>の例）</a:t>
            </a:r>
            <a:endParaRPr kumimoji="1" lang="en-US" altLang="ja-JP" sz="2800" dirty="0"/>
          </a:p>
          <a:p>
            <a:r>
              <a:rPr lang="en-US" altLang="ja-JP" sz="2800" dirty="0"/>
              <a:t>    </a:t>
            </a:r>
            <a:r>
              <a:rPr lang="en-US" altLang="ja-JP" sz="2800" dirty="0" err="1"/>
              <a:t>int</a:t>
            </a:r>
            <a:r>
              <a:rPr lang="en-US" altLang="ja-JP" sz="2800" dirty="0"/>
              <a:t> sum (</a:t>
            </a:r>
            <a:r>
              <a:rPr lang="en-US" altLang="ja-JP" sz="2800" dirty="0" err="1"/>
              <a:t>int</a:t>
            </a:r>
            <a:r>
              <a:rPr lang="en-US" altLang="ja-JP" sz="2800" dirty="0"/>
              <a:t> n) {</a:t>
            </a:r>
            <a:endParaRPr kumimoji="1" lang="en-US" altLang="ja-JP" sz="2800" dirty="0"/>
          </a:p>
          <a:p>
            <a:r>
              <a:rPr lang="en-US" altLang="ja-JP" sz="2800" dirty="0"/>
              <a:t>        </a:t>
            </a:r>
            <a:r>
              <a:rPr lang="en-US" altLang="ja-JP" sz="2800" dirty="0">
                <a:solidFill>
                  <a:srgbClr val="FF0000"/>
                </a:solidFill>
              </a:rPr>
              <a:t>assert (n &gt; 0);</a:t>
            </a:r>
          </a:p>
          <a:p>
            <a:r>
              <a:rPr lang="en-US" altLang="ja-JP" sz="2800" dirty="0"/>
              <a:t>        …</a:t>
            </a:r>
          </a:p>
          <a:p>
            <a:r>
              <a:rPr lang="en-US" altLang="ja-JP" sz="2800" dirty="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a:t>s</a:t>
            </a:r>
            <a:r>
              <a:rPr kumimoji="1" lang="en-US" altLang="ja-JP" sz="2800" dirty="0"/>
              <a:t>um</a:t>
            </a:r>
            <a:r>
              <a:rPr kumimoji="1" lang="ja-JP" altLang="en-US" sz="2800" dirty="0"/>
              <a:t>というメソッドの呼び出しでは引数には正の</a:t>
            </a:r>
            <a:r>
              <a:rPr kumimoji="1" lang="en-US" altLang="ja-JP" sz="2800" dirty="0" err="1"/>
              <a:t>int</a:t>
            </a:r>
            <a:r>
              <a:rPr kumimoji="1" lang="ja-JP" altLang="en-US" sz="2800" dirty="0"/>
              <a:t>型の値しか渡されないという場合にこのような</a:t>
            </a:r>
            <a:r>
              <a:rPr kumimoji="1" lang="en-US" altLang="ja-JP" sz="2800" dirty="0"/>
              <a:t>assertion</a:t>
            </a:r>
            <a:r>
              <a:rPr kumimoji="1" lang="ja-JP" altLang="en-US" sz="2800" dirty="0"/>
              <a:t>を記述しておけば、バグの発見に役立つ。</a:t>
            </a:r>
            <a:endParaRPr lang="en-US" altLang="ja-JP"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不変表明（</a:t>
            </a:r>
            <a:r>
              <a:rPr lang="en-US" altLang="ja-JP" dirty="0"/>
              <a:t>invariant</a:t>
            </a:r>
            <a:r>
              <a:rPr lang="ja-JP" altLang="en-US" dirty="0"/>
              <a:t>）</a:t>
            </a:r>
            <a:endParaRPr kumimoji="1" lang="ja-JP" altLang="en-US" dirty="0"/>
          </a:p>
        </p:txBody>
      </p:sp>
      <p:sp>
        <p:nvSpPr>
          <p:cNvPr id="12" name="テキスト ボックス 11"/>
          <p:cNvSpPr txBox="1"/>
          <p:nvPr/>
        </p:nvSpPr>
        <p:spPr>
          <a:xfrm>
            <a:off x="500034" y="1428736"/>
            <a:ext cx="4714062" cy="2246769"/>
          </a:xfrm>
          <a:prstGeom prst="rect">
            <a:avLst/>
          </a:prstGeom>
          <a:noFill/>
        </p:spPr>
        <p:txBody>
          <a:bodyPr wrap="square" rtlCol="0">
            <a:spAutoFit/>
          </a:bodyPr>
          <a:lstStyle/>
          <a:p>
            <a:r>
              <a:rPr kumimoji="1" lang="ja-JP" altLang="en-US" sz="2800" dirty="0"/>
              <a:t>プログラム中のある地点において、そこに制御が到達したときに</a:t>
            </a:r>
            <a:r>
              <a:rPr lang="ja-JP" altLang="en-US" sz="2800" dirty="0"/>
              <a:t>は</a:t>
            </a:r>
            <a:r>
              <a:rPr kumimoji="1" lang="ja-JP" altLang="en-US" sz="2800" dirty="0"/>
              <a:t>ある条件式が必ず成り立つ場合、その条件式を不変表明</a:t>
            </a:r>
            <a:r>
              <a:rPr kumimoji="1" lang="en-US" altLang="ja-JP" sz="2800" dirty="0"/>
              <a:t>(invariant)</a:t>
            </a:r>
            <a:r>
              <a:rPr kumimoji="1" lang="ja-JP" altLang="en-US" sz="2800" dirty="0"/>
              <a:t>という</a:t>
            </a:r>
            <a:r>
              <a:rPr lang="ja-JP" altLang="en-US" sz="2800" dirty="0"/>
              <a:t>。</a:t>
            </a:r>
            <a:endParaRPr kumimoji="1" lang="ja-JP" altLang="en-US" sz="2800" dirty="0"/>
          </a:p>
        </p:txBody>
      </p:sp>
      <p:sp>
        <p:nvSpPr>
          <p:cNvPr id="13" name="テキスト ボックス 12"/>
          <p:cNvSpPr txBox="1"/>
          <p:nvPr/>
        </p:nvSpPr>
        <p:spPr>
          <a:xfrm>
            <a:off x="635414" y="3686603"/>
            <a:ext cx="2313454" cy="1815882"/>
          </a:xfrm>
          <a:prstGeom prst="rect">
            <a:avLst/>
          </a:prstGeom>
          <a:noFill/>
        </p:spPr>
        <p:txBody>
          <a:bodyPr wrap="none" rtlCol="0">
            <a:spAutoFit/>
          </a:bodyPr>
          <a:lstStyle/>
          <a:p>
            <a:r>
              <a:rPr lang="ja-JP" altLang="en-US" sz="2800" dirty="0"/>
              <a:t>（例）</a:t>
            </a:r>
            <a:endParaRPr lang="en-US" altLang="ja-JP" sz="2800" dirty="0"/>
          </a:p>
          <a:p>
            <a:r>
              <a:rPr lang="en-US" altLang="ja-JP" sz="2800" dirty="0"/>
              <a:t> x := 10;</a:t>
            </a:r>
          </a:p>
          <a:p>
            <a:r>
              <a:rPr kumimoji="1" lang="en-US" altLang="ja-JP" sz="2800" b="1" dirty="0"/>
              <a:t> while</a:t>
            </a:r>
            <a:r>
              <a:rPr kumimoji="1" lang="en-US" altLang="ja-JP" sz="2800" dirty="0"/>
              <a:t> x </a:t>
            </a:r>
            <a:r>
              <a:rPr lang="en-US" altLang="ja-JP" sz="2800" dirty="0">
                <a:sym typeface="Symbol"/>
              </a:rPr>
              <a:t>&gt; 0</a:t>
            </a:r>
            <a:r>
              <a:rPr kumimoji="1" lang="en-US" altLang="ja-JP" sz="2800" dirty="0"/>
              <a:t> </a:t>
            </a:r>
            <a:r>
              <a:rPr kumimoji="1" lang="en-US" altLang="ja-JP" sz="2800" b="1" dirty="0"/>
              <a:t>do</a:t>
            </a:r>
            <a:endParaRPr lang="en-US" altLang="ja-JP" sz="2800" b="1" dirty="0"/>
          </a:p>
          <a:p>
            <a:r>
              <a:rPr kumimoji="1" lang="en-US" altLang="ja-JP" sz="2800" dirty="0"/>
              <a:t>     x := x – 1</a:t>
            </a:r>
            <a:r>
              <a:rPr lang="en-US" altLang="ja-JP" sz="2800" dirty="0"/>
              <a:t> </a:t>
            </a:r>
            <a:r>
              <a:rPr kumimoji="1" lang="en-US" altLang="ja-JP" sz="2800" dirty="0"/>
              <a:t> </a:t>
            </a:r>
          </a:p>
        </p:txBody>
      </p:sp>
      <p:cxnSp>
        <p:nvCxnSpPr>
          <p:cNvPr id="14" name="直線矢印コネクタ 13"/>
          <p:cNvCxnSpPr/>
          <p:nvPr/>
        </p:nvCxnSpPr>
        <p:spPr>
          <a:xfrm rot="16200000" flipH="1">
            <a:off x="6971733" y="2547474"/>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373543" y="2855085"/>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solidFill>
                  <a:schemeClr val="tx1"/>
                </a:solidFill>
              </a:rPr>
              <a:t>x </a:t>
            </a:r>
            <a:r>
              <a:rPr lang="en-US" altLang="ja-JP" sz="2800" dirty="0">
                <a:solidFill>
                  <a:schemeClr val="tx1"/>
                </a:solidFill>
                <a:sym typeface="Symbol"/>
              </a:rPr>
              <a:t>&gt; 0</a:t>
            </a:r>
            <a:endParaRPr kumimoji="1" lang="ja-JP" altLang="en-US" sz="2800" dirty="0">
              <a:solidFill>
                <a:schemeClr val="tx1"/>
              </a:solidFill>
            </a:endParaRPr>
          </a:p>
        </p:txBody>
      </p:sp>
      <p:cxnSp>
        <p:nvCxnSpPr>
          <p:cNvPr id="17" name="図形 16"/>
          <p:cNvCxnSpPr>
            <a:cxnSpLocks/>
            <a:stCxn id="16" idx="3"/>
          </p:cNvCxnSpPr>
          <p:nvPr/>
        </p:nvCxnSpPr>
        <p:spPr>
          <a:xfrm>
            <a:off x="8159493" y="3212275"/>
            <a:ext cx="324150" cy="2401709"/>
          </a:xfrm>
          <a:prstGeom prst="bentConnector2">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6969009" y="3866974"/>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15100" y="4025548"/>
            <a:ext cx="1299074" cy="523220"/>
          </a:xfrm>
          <a:prstGeom prst="rect">
            <a:avLst/>
          </a:prstGeom>
          <a:noFill/>
        </p:spPr>
        <p:txBody>
          <a:bodyPr wrap="none" rtlCol="0">
            <a:spAutoFit/>
          </a:bodyPr>
          <a:lstStyle/>
          <a:p>
            <a:r>
              <a:rPr kumimoji="1" lang="en-US" altLang="ja-JP" sz="2800" dirty="0"/>
              <a:t> x := x-1</a:t>
            </a:r>
            <a:endParaRPr kumimoji="1" lang="ja-JP" altLang="en-US" sz="2800" dirty="0"/>
          </a:p>
        </p:txBody>
      </p:sp>
      <p:cxnSp>
        <p:nvCxnSpPr>
          <p:cNvPr id="20" name="図形 19"/>
          <p:cNvCxnSpPr/>
          <p:nvPr/>
        </p:nvCxnSpPr>
        <p:spPr>
          <a:xfrm rot="5400000">
            <a:off x="6486909" y="4134797"/>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11736" y="3706741"/>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00790" y="2533065"/>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51371" y="3470884"/>
            <a:ext cx="338554" cy="461665"/>
          </a:xfrm>
          <a:prstGeom prst="rect">
            <a:avLst/>
          </a:prstGeom>
          <a:noFill/>
        </p:spPr>
        <p:txBody>
          <a:bodyPr wrap="none" rtlCol="0">
            <a:spAutoFit/>
          </a:bodyPr>
          <a:lstStyle/>
          <a:p>
            <a:r>
              <a:rPr kumimoji="1" lang="en-US" altLang="ja-JP" sz="2400" dirty="0"/>
              <a:t>T</a:t>
            </a:r>
            <a:endParaRPr kumimoji="1" lang="ja-JP" altLang="en-US" sz="2400" dirty="0"/>
          </a:p>
        </p:txBody>
      </p:sp>
      <p:sp>
        <p:nvSpPr>
          <p:cNvPr id="26" name="テキスト ボックス 25"/>
          <p:cNvSpPr txBox="1"/>
          <p:nvPr/>
        </p:nvSpPr>
        <p:spPr>
          <a:xfrm>
            <a:off x="8040835" y="2772739"/>
            <a:ext cx="326081" cy="461665"/>
          </a:xfrm>
          <a:prstGeom prst="rect">
            <a:avLst/>
          </a:prstGeom>
          <a:noFill/>
        </p:spPr>
        <p:txBody>
          <a:bodyPr wrap="none" rtlCol="0">
            <a:spAutoFit/>
          </a:bodyPr>
          <a:lstStyle/>
          <a:p>
            <a:r>
              <a:rPr kumimoji="1" lang="en-US" altLang="ja-JP" sz="2400" dirty="0"/>
              <a:t>F</a:t>
            </a:r>
            <a:endParaRPr kumimoji="1" lang="ja-JP" altLang="en-US" sz="2400" dirty="0"/>
          </a:p>
        </p:txBody>
      </p:sp>
      <p:sp>
        <p:nvSpPr>
          <p:cNvPr id="48" name="正方形/長方形 47"/>
          <p:cNvSpPr/>
          <p:nvPr/>
        </p:nvSpPr>
        <p:spPr>
          <a:xfrm>
            <a:off x="6721755" y="1711439"/>
            <a:ext cx="1144865" cy="523220"/>
          </a:xfrm>
          <a:prstGeom prst="rect">
            <a:avLst/>
          </a:prstGeom>
        </p:spPr>
        <p:txBody>
          <a:bodyPr wrap="none">
            <a:spAutoFit/>
          </a:bodyPr>
          <a:lstStyle/>
          <a:p>
            <a:r>
              <a:rPr lang="en-US" altLang="ja-JP" sz="2800" dirty="0">
                <a:solidFill>
                  <a:prstClr val="black"/>
                </a:solidFill>
              </a:rPr>
              <a:t>x := 10</a:t>
            </a:r>
            <a:endParaRPr lang="ja-JP" altLang="en-US" dirty="0"/>
          </a:p>
        </p:txBody>
      </p:sp>
      <p:cxnSp>
        <p:nvCxnSpPr>
          <p:cNvPr id="54" name="直線矢印コネクタ 53"/>
          <p:cNvCxnSpPr/>
          <p:nvPr/>
        </p:nvCxnSpPr>
        <p:spPr>
          <a:xfrm rot="5400000">
            <a:off x="7090793" y="158789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a:cxnSpLocks/>
          </p:cNvCxnSpPr>
          <p:nvPr/>
        </p:nvCxnSpPr>
        <p:spPr>
          <a:xfrm flipV="1">
            <a:off x="5459216" y="3875866"/>
            <a:ext cx="1792155" cy="1161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4657346" y="3660547"/>
            <a:ext cx="768970" cy="461665"/>
          </a:xfrm>
          <a:prstGeom prst="rect">
            <a:avLst/>
          </a:prstGeom>
          <a:noFill/>
          <a:ln>
            <a:solidFill>
              <a:schemeClr val="tx1"/>
            </a:solidFill>
          </a:ln>
        </p:spPr>
        <p:txBody>
          <a:bodyPr wrap="square" rtlCol="0">
            <a:spAutoFit/>
          </a:bodyPr>
          <a:lstStyle/>
          <a:p>
            <a:r>
              <a:rPr lang="en-US" altLang="ja-JP" sz="2400" dirty="0">
                <a:solidFill>
                  <a:prstClr val="black"/>
                </a:solidFill>
              </a:rPr>
              <a:t>x </a:t>
            </a:r>
            <a:r>
              <a:rPr lang="en-US" altLang="ja-JP" sz="2400" dirty="0">
                <a:solidFill>
                  <a:prstClr val="black"/>
                </a:solidFill>
                <a:sym typeface="Symbol"/>
              </a:rPr>
              <a:t>&gt; 0</a:t>
            </a:r>
            <a:endParaRPr kumimoji="1" lang="ja-JP" altLang="en-US" sz="1600" dirty="0"/>
          </a:p>
        </p:txBody>
      </p:sp>
      <p:sp>
        <p:nvSpPr>
          <p:cNvPr id="6" name="テキスト ボックス 5">
            <a:extLst>
              <a:ext uri="{FF2B5EF4-FFF2-40B4-BE49-F238E27FC236}">
                <a16:creationId xmlns:a16="http://schemas.microsoft.com/office/drawing/2014/main" id="{F7AAF97B-611C-401D-C618-E5DE38B454B4}"/>
              </a:ext>
            </a:extLst>
          </p:cNvPr>
          <p:cNvSpPr txBox="1"/>
          <p:nvPr/>
        </p:nvSpPr>
        <p:spPr>
          <a:xfrm>
            <a:off x="7064845" y="5062048"/>
            <a:ext cx="768970" cy="461665"/>
          </a:xfrm>
          <a:prstGeom prst="rect">
            <a:avLst/>
          </a:prstGeom>
          <a:noFill/>
          <a:ln>
            <a:solidFill>
              <a:schemeClr val="tx1"/>
            </a:solidFill>
          </a:ln>
        </p:spPr>
        <p:txBody>
          <a:bodyPr wrap="square" rtlCol="0">
            <a:spAutoFit/>
          </a:bodyPr>
          <a:lstStyle/>
          <a:p>
            <a:r>
              <a:rPr lang="en-US" altLang="ja-JP" sz="2400" dirty="0">
                <a:solidFill>
                  <a:prstClr val="black"/>
                </a:solidFill>
              </a:rPr>
              <a:t>x </a:t>
            </a:r>
            <a:r>
              <a:rPr lang="en-US" altLang="ja-JP" sz="2400" dirty="0">
                <a:solidFill>
                  <a:prstClr val="black"/>
                </a:solidFill>
                <a:sym typeface="Symbol"/>
              </a:rPr>
              <a:t>= 0</a:t>
            </a:r>
            <a:endParaRPr kumimoji="1" lang="ja-JP" altLang="en-US" sz="1600" dirty="0"/>
          </a:p>
        </p:txBody>
      </p:sp>
      <p:cxnSp>
        <p:nvCxnSpPr>
          <p:cNvPr id="7" name="直線矢印コネクタ 6">
            <a:extLst>
              <a:ext uri="{FF2B5EF4-FFF2-40B4-BE49-F238E27FC236}">
                <a16:creationId xmlns:a16="http://schemas.microsoft.com/office/drawing/2014/main" id="{DCB0A695-8935-54D6-E6FA-C65B67BB0034}"/>
              </a:ext>
            </a:extLst>
          </p:cNvPr>
          <p:cNvCxnSpPr>
            <a:cxnSpLocks/>
          </p:cNvCxnSpPr>
          <p:nvPr/>
        </p:nvCxnSpPr>
        <p:spPr>
          <a:xfrm>
            <a:off x="7868958" y="5277067"/>
            <a:ext cx="602335" cy="0"/>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a:extLst>
              <a:ext uri="{FF2B5EF4-FFF2-40B4-BE49-F238E27FC236}">
                <a16:creationId xmlns:a16="http://schemas.microsoft.com/office/drawing/2014/main" id="{23AE0047-029E-DCFE-3B60-5CB4FF96B590}"/>
              </a:ext>
            </a:extLst>
          </p:cNvPr>
          <p:cNvSpPr txBox="1"/>
          <p:nvPr/>
        </p:nvSpPr>
        <p:spPr>
          <a:xfrm>
            <a:off x="4631412" y="4462177"/>
            <a:ext cx="820838" cy="461665"/>
          </a:xfrm>
          <a:prstGeom prst="rect">
            <a:avLst/>
          </a:prstGeom>
          <a:noFill/>
          <a:ln>
            <a:solidFill>
              <a:srgbClr val="FF0000"/>
            </a:solidFill>
          </a:ln>
        </p:spPr>
        <p:txBody>
          <a:bodyPr wrap="square" rtlCol="0">
            <a:spAutoFit/>
          </a:bodyPr>
          <a:lstStyle/>
          <a:p>
            <a:r>
              <a:rPr lang="en-US" altLang="ja-JP" sz="2400" dirty="0">
                <a:solidFill>
                  <a:srgbClr val="FF0000"/>
                </a:solidFill>
              </a:rPr>
              <a:t>x </a:t>
            </a:r>
            <a:r>
              <a:rPr lang="en-US" altLang="ja-JP" sz="2400" dirty="0">
                <a:solidFill>
                  <a:srgbClr val="FF0000"/>
                </a:solidFill>
                <a:sym typeface="Symbol"/>
              </a:rPr>
              <a:t> 0</a:t>
            </a:r>
            <a:endParaRPr kumimoji="1" lang="ja-JP" altLang="en-US" sz="1600" dirty="0">
              <a:solidFill>
                <a:srgbClr val="FF0000"/>
              </a:solidFill>
            </a:endParaRPr>
          </a:p>
        </p:txBody>
      </p:sp>
      <p:cxnSp>
        <p:nvCxnSpPr>
          <p:cNvPr id="11" name="直線矢印コネクタ 10">
            <a:extLst>
              <a:ext uri="{FF2B5EF4-FFF2-40B4-BE49-F238E27FC236}">
                <a16:creationId xmlns:a16="http://schemas.microsoft.com/office/drawing/2014/main" id="{1977E630-643E-4964-C044-425D972071DF}"/>
              </a:ext>
            </a:extLst>
          </p:cNvPr>
          <p:cNvCxnSpPr>
            <a:cxnSpLocks/>
          </p:cNvCxnSpPr>
          <p:nvPr/>
        </p:nvCxnSpPr>
        <p:spPr>
          <a:xfrm flipV="1">
            <a:off x="5459216" y="4677790"/>
            <a:ext cx="1792155" cy="1161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15" name="テキスト ボックス 14">
            <a:extLst>
              <a:ext uri="{FF2B5EF4-FFF2-40B4-BE49-F238E27FC236}">
                <a16:creationId xmlns:a16="http://schemas.microsoft.com/office/drawing/2014/main" id="{0E37036D-D853-46F7-A675-9C3DE26A8260}"/>
              </a:ext>
            </a:extLst>
          </p:cNvPr>
          <p:cNvSpPr txBox="1"/>
          <p:nvPr/>
        </p:nvSpPr>
        <p:spPr>
          <a:xfrm>
            <a:off x="8073224" y="2384618"/>
            <a:ext cx="820838" cy="461665"/>
          </a:xfrm>
          <a:prstGeom prst="rect">
            <a:avLst/>
          </a:prstGeom>
          <a:noFill/>
          <a:ln>
            <a:solidFill>
              <a:srgbClr val="FF0000"/>
            </a:solidFill>
          </a:ln>
        </p:spPr>
        <p:txBody>
          <a:bodyPr wrap="square" rtlCol="0">
            <a:spAutoFit/>
          </a:bodyPr>
          <a:lstStyle/>
          <a:p>
            <a:r>
              <a:rPr lang="en-US" altLang="ja-JP" sz="2400" dirty="0">
                <a:solidFill>
                  <a:srgbClr val="FF0000"/>
                </a:solidFill>
              </a:rPr>
              <a:t>x </a:t>
            </a:r>
            <a:r>
              <a:rPr lang="en-US" altLang="ja-JP" sz="2400" dirty="0">
                <a:solidFill>
                  <a:srgbClr val="FF0000"/>
                </a:solidFill>
                <a:sym typeface="Symbol"/>
              </a:rPr>
              <a:t> 0</a:t>
            </a:r>
            <a:endParaRPr kumimoji="1" lang="ja-JP" altLang="en-US" sz="1600" dirty="0">
              <a:solidFill>
                <a:srgbClr val="FF0000"/>
              </a:solidFill>
            </a:endParaRPr>
          </a:p>
        </p:txBody>
      </p:sp>
      <p:cxnSp>
        <p:nvCxnSpPr>
          <p:cNvPr id="27" name="直線矢印コネクタ 26">
            <a:extLst>
              <a:ext uri="{FF2B5EF4-FFF2-40B4-BE49-F238E27FC236}">
                <a16:creationId xmlns:a16="http://schemas.microsoft.com/office/drawing/2014/main" id="{D316B248-FB85-9B85-BB8D-ACEE6C30740B}"/>
              </a:ext>
            </a:extLst>
          </p:cNvPr>
          <p:cNvCxnSpPr>
            <a:cxnSpLocks/>
            <a:stCxn id="15" idx="1"/>
          </p:cNvCxnSpPr>
          <p:nvPr/>
        </p:nvCxnSpPr>
        <p:spPr>
          <a:xfrm flipH="1">
            <a:off x="7291355" y="2615451"/>
            <a:ext cx="781869" cy="74725"/>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37" name="テキスト ボックス 36">
            <a:extLst>
              <a:ext uri="{FF2B5EF4-FFF2-40B4-BE49-F238E27FC236}">
                <a16:creationId xmlns:a16="http://schemas.microsoft.com/office/drawing/2014/main" id="{5246FFBC-0D3D-C6EA-1CE1-71D80EF19E69}"/>
              </a:ext>
            </a:extLst>
          </p:cNvPr>
          <p:cNvSpPr txBox="1"/>
          <p:nvPr/>
        </p:nvSpPr>
        <p:spPr>
          <a:xfrm>
            <a:off x="500034" y="5582080"/>
            <a:ext cx="4714062" cy="954107"/>
          </a:xfrm>
          <a:prstGeom prst="rect">
            <a:avLst/>
          </a:prstGeom>
          <a:noFill/>
        </p:spPr>
        <p:txBody>
          <a:bodyPr wrap="square" rtlCol="0">
            <a:spAutoFit/>
          </a:bodyPr>
          <a:lstStyle/>
          <a:p>
            <a:r>
              <a:rPr kumimoji="1" lang="ja-JP" altLang="en-US" sz="2800"/>
              <a:t>特に、</a:t>
            </a:r>
            <a:r>
              <a:rPr lang="en-US" altLang="ja-JP" sz="2800" dirty="0">
                <a:solidFill>
                  <a:srgbClr val="FF0000"/>
                </a:solidFill>
              </a:rPr>
              <a:t>x </a:t>
            </a:r>
            <a:r>
              <a:rPr lang="en-US" altLang="ja-JP" sz="2800" dirty="0">
                <a:solidFill>
                  <a:srgbClr val="FF0000"/>
                </a:solidFill>
                <a:sym typeface="Symbol"/>
              </a:rPr>
              <a:t> 0</a:t>
            </a:r>
            <a:r>
              <a:rPr lang="en-US" altLang="ja-JP" dirty="0">
                <a:solidFill>
                  <a:srgbClr val="FF0000"/>
                </a:solidFill>
                <a:sym typeface="Symbol"/>
              </a:rPr>
              <a:t> </a:t>
            </a:r>
            <a:r>
              <a:rPr lang="ja-JP" altLang="en-US" sz="2800">
                <a:sym typeface="Symbol"/>
              </a:rPr>
              <a:t>をループ</a:t>
            </a:r>
            <a:r>
              <a:rPr kumimoji="1" lang="ja-JP" altLang="en-US" sz="2800"/>
              <a:t>不変表明</a:t>
            </a:r>
            <a:r>
              <a:rPr kumimoji="1" lang="en-US" altLang="ja-JP" sz="2800" dirty="0"/>
              <a:t>(loop invariant)</a:t>
            </a:r>
            <a:r>
              <a:rPr kumimoji="1" lang="ja-JP" altLang="en-US" sz="2800" dirty="0"/>
              <a:t>という</a:t>
            </a:r>
            <a:r>
              <a:rPr lang="ja-JP" altLang="en-US" sz="2800" dirty="0"/>
              <a:t>。</a:t>
            </a:r>
            <a:endParaRPr kumimoji="1" lang="ja-JP" altLang="en-US" sz="2800" dirty="0"/>
          </a:p>
        </p:txBody>
      </p:sp>
      <p:sp>
        <p:nvSpPr>
          <p:cNvPr id="41" name="テキスト ボックス 40">
            <a:extLst>
              <a:ext uri="{FF2B5EF4-FFF2-40B4-BE49-F238E27FC236}">
                <a16:creationId xmlns:a16="http://schemas.microsoft.com/office/drawing/2014/main" id="{6AA8A00A-708C-8A96-5D49-89CFA01B83C7}"/>
              </a:ext>
            </a:extLst>
          </p:cNvPr>
          <p:cNvSpPr txBox="1"/>
          <p:nvPr/>
        </p:nvSpPr>
        <p:spPr>
          <a:xfrm>
            <a:off x="6046465" y="5878366"/>
            <a:ext cx="2384520" cy="830997"/>
          </a:xfrm>
          <a:prstGeom prst="rect">
            <a:avLst/>
          </a:prstGeom>
          <a:solidFill>
            <a:srgbClr val="FFFF00"/>
          </a:solidFill>
          <a:ln>
            <a:solidFill>
              <a:schemeClr val="tx1"/>
            </a:solidFill>
          </a:ln>
        </p:spPr>
        <p:txBody>
          <a:bodyPr wrap="square" rtlCol="0">
            <a:spAutoFit/>
          </a:bodyPr>
          <a:lstStyle/>
          <a:p>
            <a:r>
              <a:rPr kumimoji="1" lang="ja-JP" altLang="en-US" sz="2400"/>
              <a:t>変数の値は整数と仮定する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a:t>表明</a:t>
            </a:r>
            <a:r>
              <a:rPr kumimoji="1" lang="ja-JP" altLang="en-US" dirty="0"/>
              <a:t>の例</a:t>
            </a:r>
          </a:p>
        </p:txBody>
      </p:sp>
      <p:sp>
        <p:nvSpPr>
          <p:cNvPr id="5" name="テキスト ボックス 4"/>
          <p:cNvSpPr txBox="1"/>
          <p:nvPr/>
        </p:nvSpPr>
        <p:spPr>
          <a:xfrm>
            <a:off x="565464" y="1309746"/>
            <a:ext cx="7642871" cy="954107"/>
          </a:xfrm>
          <a:prstGeom prst="rect">
            <a:avLst/>
          </a:prstGeom>
          <a:noFill/>
        </p:spPr>
        <p:txBody>
          <a:bodyPr wrap="square" rtlCol="0">
            <a:spAutoFit/>
          </a:bodyPr>
          <a:lstStyle/>
          <a:p>
            <a:r>
              <a:rPr lang="ja-JP" altLang="en-US" sz="2800"/>
              <a:t>この授業では、プログラム中で表明</a:t>
            </a:r>
            <a:r>
              <a:rPr lang="ja-JP" altLang="en-US" sz="2800" dirty="0"/>
              <a:t>を</a:t>
            </a:r>
            <a:r>
              <a:rPr lang="en-US" altLang="ja-JP" sz="2800" dirty="0"/>
              <a:t>{ }</a:t>
            </a:r>
            <a:r>
              <a:rPr lang="ja-JP" altLang="en-US" sz="2800" dirty="0"/>
              <a:t>で囲んで記述する。</a:t>
            </a:r>
            <a:endParaRPr lang="en-US" altLang="ja-JP" sz="2800" dirty="0"/>
          </a:p>
        </p:txBody>
      </p:sp>
      <p:sp>
        <p:nvSpPr>
          <p:cNvPr id="6" name="正方形/長方形 5"/>
          <p:cNvSpPr/>
          <p:nvPr/>
        </p:nvSpPr>
        <p:spPr>
          <a:xfrm>
            <a:off x="1048608" y="2502170"/>
            <a:ext cx="2453621" cy="3108543"/>
          </a:xfrm>
          <a:prstGeom prst="rect">
            <a:avLst/>
          </a:prstGeom>
          <a:ln>
            <a:solidFill>
              <a:schemeClr val="tx1"/>
            </a:solidFill>
          </a:ln>
        </p:spPr>
        <p:txBody>
          <a:bodyPr wrap="square">
            <a:spAutoFit/>
          </a:bodyPr>
          <a:lstStyle/>
          <a:p>
            <a:r>
              <a:rPr lang="en-US" altLang="ja-JP" sz="2800" dirty="0">
                <a:solidFill>
                  <a:prstClr val="black"/>
                </a:solidFill>
              </a:rPr>
              <a:t> x := 10</a:t>
            </a:r>
            <a:endParaRPr lang="ja-JP" altLang="en-US">
              <a:solidFill>
                <a:srgbClr val="FF0000"/>
              </a:solidFill>
            </a:endParaRPr>
          </a:p>
          <a:p>
            <a:r>
              <a:rPr lang="en-US" altLang="ja-JP" sz="2800" dirty="0">
                <a:solidFill>
                  <a:prstClr val="black"/>
                </a:solidFill>
              </a:rPr>
              <a:t> </a:t>
            </a:r>
            <a:r>
              <a:rPr lang="en-US" altLang="ja-JP" sz="2800" dirty="0">
                <a:solidFill>
                  <a:srgbClr val="FF0000"/>
                </a:solidFill>
              </a:rPr>
              <a:t>{ x </a:t>
            </a:r>
            <a:r>
              <a:rPr lang="en-US" altLang="ja-JP" sz="2800" dirty="0">
                <a:solidFill>
                  <a:srgbClr val="FF0000"/>
                </a:solidFill>
                <a:sym typeface="Symbol"/>
              </a:rPr>
              <a:t></a:t>
            </a:r>
            <a:r>
              <a:rPr lang="en-US" altLang="ja-JP" sz="2800" dirty="0">
                <a:solidFill>
                  <a:srgbClr val="FF0000"/>
                </a:solidFill>
              </a:rPr>
              <a:t> 0 }</a:t>
            </a:r>
            <a:endParaRPr lang="en-US" altLang="ja-JP" sz="2800" dirty="0">
              <a:solidFill>
                <a:prstClr val="black"/>
              </a:solidFill>
            </a:endParaRPr>
          </a:p>
          <a:p>
            <a:pPr lvl="0"/>
            <a:r>
              <a:rPr lang="en-US" altLang="ja-JP" sz="2800" b="1" dirty="0">
                <a:solidFill>
                  <a:prstClr val="black"/>
                </a:solidFill>
              </a:rPr>
              <a:t> while</a:t>
            </a:r>
            <a:r>
              <a:rPr lang="en-US" altLang="ja-JP" sz="2800" dirty="0">
                <a:solidFill>
                  <a:prstClr val="black"/>
                </a:solidFill>
              </a:rPr>
              <a:t> x </a:t>
            </a:r>
            <a:r>
              <a:rPr lang="en-US" altLang="ja-JP" sz="2800" dirty="0">
                <a:solidFill>
                  <a:prstClr val="black"/>
                </a:solidFill>
                <a:sym typeface="Symbol"/>
              </a:rPr>
              <a:t>&gt; 0</a:t>
            </a:r>
            <a:r>
              <a:rPr lang="en-US" altLang="ja-JP" sz="2800" dirty="0">
                <a:solidFill>
                  <a:prstClr val="black"/>
                </a:solidFill>
              </a:rPr>
              <a:t> </a:t>
            </a:r>
            <a:r>
              <a:rPr lang="en-US" altLang="ja-JP" sz="2800" b="1" dirty="0">
                <a:solidFill>
                  <a:prstClr val="black"/>
                </a:solidFill>
              </a:rPr>
              <a:t>do</a:t>
            </a:r>
          </a:p>
          <a:p>
            <a:pPr lvl="0"/>
            <a:r>
              <a:rPr lang="en-US" altLang="ja-JP" sz="2800" dirty="0">
                <a:solidFill>
                  <a:srgbClr val="FF0000"/>
                </a:solidFill>
              </a:rPr>
              <a:t>     { x </a:t>
            </a:r>
            <a:r>
              <a:rPr lang="en-US" altLang="ja-JP" sz="2800" dirty="0">
                <a:solidFill>
                  <a:srgbClr val="FF0000"/>
                </a:solidFill>
                <a:sym typeface="Symbol"/>
              </a:rPr>
              <a:t>&gt; 0</a:t>
            </a:r>
            <a:r>
              <a:rPr lang="en-US" altLang="ja-JP" sz="2800" dirty="0">
                <a:solidFill>
                  <a:srgbClr val="FF0000"/>
                </a:solidFill>
              </a:rPr>
              <a:t> }</a:t>
            </a:r>
          </a:p>
          <a:p>
            <a:pPr lvl="0"/>
            <a:r>
              <a:rPr lang="en-US" altLang="ja-JP" sz="2800" dirty="0">
                <a:solidFill>
                  <a:prstClr val="black"/>
                </a:solidFill>
              </a:rPr>
              <a:t>     x := x – 1</a:t>
            </a:r>
          </a:p>
          <a:p>
            <a:r>
              <a:rPr lang="en-US" altLang="ja-JP" sz="2800" dirty="0">
                <a:solidFill>
                  <a:prstClr val="black"/>
                </a:solidFill>
              </a:rPr>
              <a:t>     </a:t>
            </a:r>
            <a:r>
              <a:rPr lang="en-US" altLang="ja-JP" sz="2800" dirty="0">
                <a:solidFill>
                  <a:srgbClr val="FF0000"/>
                </a:solidFill>
              </a:rPr>
              <a:t>{ x </a:t>
            </a:r>
            <a:r>
              <a:rPr lang="en-US" altLang="ja-JP" sz="2800" dirty="0">
                <a:solidFill>
                  <a:srgbClr val="FF0000"/>
                </a:solidFill>
                <a:sym typeface="Symbol"/>
              </a:rPr>
              <a:t></a:t>
            </a:r>
            <a:r>
              <a:rPr lang="en-US" altLang="ja-JP" sz="2800" dirty="0">
                <a:solidFill>
                  <a:srgbClr val="FF0000"/>
                </a:solidFill>
              </a:rPr>
              <a:t> 0 }</a:t>
            </a:r>
          </a:p>
          <a:p>
            <a:r>
              <a:rPr lang="en-US" altLang="ja-JP" sz="2800" dirty="0">
                <a:solidFill>
                  <a:srgbClr val="FF0000"/>
                </a:solidFill>
              </a:rPr>
              <a:t> { x = 0 }</a:t>
            </a:r>
          </a:p>
        </p:txBody>
      </p:sp>
      <p:sp>
        <p:nvSpPr>
          <p:cNvPr id="11" name="テキスト ボックス 10">
            <a:extLst>
              <a:ext uri="{FF2B5EF4-FFF2-40B4-BE49-F238E27FC236}">
                <a16:creationId xmlns:a16="http://schemas.microsoft.com/office/drawing/2014/main" id="{30FB6E7C-CDBD-5944-5D46-DDD477DD9A46}"/>
              </a:ext>
            </a:extLst>
          </p:cNvPr>
          <p:cNvSpPr txBox="1"/>
          <p:nvPr/>
        </p:nvSpPr>
        <p:spPr>
          <a:xfrm>
            <a:off x="3870252" y="2550017"/>
            <a:ext cx="4051004" cy="954107"/>
          </a:xfrm>
          <a:prstGeom prst="rect">
            <a:avLst/>
          </a:prstGeom>
          <a:noFill/>
        </p:spPr>
        <p:txBody>
          <a:bodyPr wrap="square" rtlCol="0">
            <a:spAutoFit/>
          </a:bodyPr>
          <a:lstStyle/>
          <a:p>
            <a:r>
              <a:rPr kumimoji="1" lang="ja-JP" altLang="en-US" sz="2800"/>
              <a:t>左の</a:t>
            </a:r>
            <a:r>
              <a:rPr kumimoji="1" lang="en-US" altLang="ja-JP" sz="2800" dirty="0"/>
              <a:t>4</a:t>
            </a:r>
            <a:r>
              <a:rPr kumimoji="1" lang="ja-JP" altLang="en-US" sz="2800"/>
              <a:t>箇所の表明は不変表明</a:t>
            </a:r>
            <a:r>
              <a:rPr kumimoji="1" lang="en-US" altLang="ja-JP" sz="2800" dirty="0"/>
              <a:t>(invariant)</a:t>
            </a:r>
          </a:p>
        </p:txBody>
      </p:sp>
      <p:sp>
        <p:nvSpPr>
          <p:cNvPr id="13" name="テキスト ボックス 12">
            <a:extLst>
              <a:ext uri="{FF2B5EF4-FFF2-40B4-BE49-F238E27FC236}">
                <a16:creationId xmlns:a16="http://schemas.microsoft.com/office/drawing/2014/main" id="{59B5E9FC-A5AB-4D4F-DE73-D757A849445D}"/>
              </a:ext>
            </a:extLst>
          </p:cNvPr>
          <p:cNvSpPr txBox="1"/>
          <p:nvPr/>
        </p:nvSpPr>
        <p:spPr>
          <a:xfrm>
            <a:off x="4044388" y="4648722"/>
            <a:ext cx="4051004" cy="1384995"/>
          </a:xfrm>
          <a:prstGeom prst="rect">
            <a:avLst/>
          </a:prstGeom>
          <a:solidFill>
            <a:schemeClr val="bg1"/>
          </a:solidFill>
          <a:ln>
            <a:solidFill>
              <a:schemeClr val="tx1"/>
            </a:solidFill>
          </a:ln>
        </p:spPr>
        <p:txBody>
          <a:bodyPr wrap="square" rtlCol="0">
            <a:spAutoFit/>
          </a:bodyPr>
          <a:lstStyle/>
          <a:p>
            <a:r>
              <a:rPr kumimoji="1" lang="ja-JP" altLang="en-US" sz="2800"/>
              <a:t>このようなことを証明するための論理体系が</a:t>
            </a:r>
            <a:r>
              <a:rPr kumimoji="1" lang="en-US" altLang="ja-JP" sz="2800" dirty="0"/>
              <a:t>Hoare</a:t>
            </a:r>
            <a:r>
              <a:rPr kumimoji="1" lang="ja-JP" altLang="en-US" sz="2800"/>
              <a:t>論理</a:t>
            </a:r>
            <a:endParaRPr kumimoji="1" lang="en-US" altLang="ja-JP"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a:t>Single entry/single exit</a:t>
            </a:r>
            <a:r>
              <a:rPr kumimoji="1" lang="ja-JP" altLang="en-US" sz="2800" dirty="0"/>
              <a:t>の構成要素からなるプログラムの場合、プログラム中の文の振る舞いはそ</a:t>
            </a:r>
            <a:r>
              <a:rPr lang="ja-JP" altLang="en-US" sz="2800" dirty="0"/>
              <a:t>の文の</a:t>
            </a:r>
            <a:r>
              <a:rPr kumimoji="1" lang="ja-JP" altLang="en-US" sz="2800" dirty="0"/>
              <a:t>入口と出口における</a:t>
            </a:r>
            <a:r>
              <a:rPr lang="ja-JP" altLang="en-US" sz="2800" dirty="0"/>
              <a:t>表明</a:t>
            </a:r>
            <a:r>
              <a:rPr kumimoji="1" lang="ja-JP" altLang="en-US" sz="2800" dirty="0"/>
              <a:t>によって特徴付けることができる</a:t>
            </a:r>
            <a:r>
              <a:rPr lang="ja-JP" altLang="en-US" sz="2800" dirty="0"/>
              <a:t>。（命令型言語のプログラム（文）の意味は、文の実行による状態の変化なので。）</a:t>
            </a:r>
            <a:endParaRPr kumimoji="1" lang="en-US" altLang="ja-JP" sz="2800" dirty="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a:solidFill>
                  <a:schemeClr val="tx1"/>
                </a:solidFill>
              </a:rPr>
              <a:t>文</a:t>
            </a:r>
            <a:r>
              <a:rPr kumimoji="1" lang="en-US" altLang="ja-JP" sz="2800" dirty="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a:t>文の出口における表明（事後条件、</a:t>
            </a:r>
            <a:r>
              <a:rPr lang="en-US" altLang="ja-JP" sz="2800" dirty="0" err="1"/>
              <a:t>postcondition</a:t>
            </a:r>
            <a:r>
              <a:rPr lang="ja-JP" altLang="en-US" sz="2800" dirty="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a:t>文の入口における表明（事前条件、</a:t>
            </a:r>
            <a:r>
              <a:rPr lang="en-US" altLang="ja-JP" sz="2800" dirty="0"/>
              <a:t>precondition</a:t>
            </a:r>
            <a:r>
              <a:rPr lang="ja-JP" altLang="en-US" sz="2800" dirty="0"/>
              <a:t>）</a:t>
            </a:r>
            <a:endParaRPr kumimoji="1" lang="ja-JP" alt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a:t>文の前後に表明を記述することにより命令型言語のプログラムの意味を記述できる。この考えを提唱したのが</a:t>
            </a:r>
            <a:r>
              <a:rPr lang="en-US" altLang="ja-JP" sz="2800" dirty="0"/>
              <a:t>Charles Antony Richard Hoare</a:t>
            </a:r>
            <a:r>
              <a:rPr lang="ja-JP" altLang="en-US" sz="2800" dirty="0"/>
              <a:t>（略して</a:t>
            </a:r>
            <a:r>
              <a:rPr lang="en-US" altLang="ja-JP" sz="2800" dirty="0"/>
              <a:t>Tony Hoare</a:t>
            </a:r>
            <a:r>
              <a:rPr lang="ja-JP" altLang="en-US" sz="2800" dirty="0"/>
              <a:t>）である。表明を</a:t>
            </a:r>
            <a:r>
              <a:rPr lang="en-US" altLang="ja-JP" sz="2800" dirty="0"/>
              <a:t>{ }</a:t>
            </a:r>
            <a:r>
              <a:rPr lang="ja-JP" altLang="en-US" sz="2800" dirty="0"/>
              <a:t>で囲んで表し、文の前後に書いたものを</a:t>
            </a:r>
            <a:r>
              <a:rPr lang="en-US" altLang="ja-JP" sz="2800" dirty="0"/>
              <a:t>Hoare triple</a:t>
            </a:r>
            <a:r>
              <a:rPr lang="ja-JP" altLang="en-US" sz="2800" dirty="0"/>
              <a:t>という。</a:t>
            </a:r>
            <a:endParaRPr lang="en-US" altLang="ja-JP" sz="2800" dirty="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a:t>Hoare triple</a:t>
            </a:r>
          </a:p>
          <a:p>
            <a:r>
              <a:rPr lang="en-US" altLang="ja-JP" sz="2800" dirty="0"/>
              <a:t>{P}  S  {Q}</a:t>
            </a:r>
          </a:p>
          <a:p>
            <a:r>
              <a:rPr lang="ja-JP" altLang="en-US" sz="2800" dirty="0"/>
              <a:t>の意味</a:t>
            </a:r>
            <a:endParaRPr kumimoji="1" lang="en-US" altLang="ja-JP" sz="2800" dirty="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a:solidFill>
                  <a:prstClr val="black"/>
                </a:solidFill>
              </a:rPr>
              <a:t>P</a:t>
            </a:r>
            <a:r>
              <a:rPr lang="ja-JP" altLang="en-US" sz="2800" dirty="0">
                <a:solidFill>
                  <a:prstClr val="black"/>
                </a:solidFill>
              </a:rPr>
              <a:t>が成り立つ任意の状態</a:t>
            </a:r>
            <a:r>
              <a:rPr lang="ja-JP" altLang="en-US" sz="2800" dirty="0">
                <a:solidFill>
                  <a:prstClr val="black"/>
                </a:solidFill>
                <a:sym typeface="Symbol"/>
              </a:rPr>
              <a:t>において</a:t>
            </a:r>
            <a:r>
              <a:rPr lang="ja-JP" altLang="en-US" sz="2800" dirty="0">
                <a:solidFill>
                  <a:prstClr val="black"/>
                </a:solidFill>
              </a:rPr>
              <a:t>文</a:t>
            </a:r>
            <a:r>
              <a:rPr lang="en-US" altLang="ja-JP" sz="2800" dirty="0">
                <a:solidFill>
                  <a:prstClr val="black"/>
                </a:solidFill>
              </a:rPr>
              <a:t>S</a:t>
            </a:r>
            <a:r>
              <a:rPr lang="ja-JP" altLang="en-US" sz="2800" dirty="0">
                <a:solidFill>
                  <a:prstClr val="black"/>
                </a:solidFill>
              </a:rPr>
              <a:t>を実行し、状態</a:t>
            </a:r>
            <a:r>
              <a:rPr lang="ja-JP" altLang="en-US" sz="2800" dirty="0">
                <a:solidFill>
                  <a:prstClr val="black"/>
                </a:solidFill>
                <a:sym typeface="Symbol"/>
              </a:rPr>
              <a:t></a:t>
            </a:r>
            <a:r>
              <a:rPr lang="en-US" altLang="ja-JP" sz="2800" dirty="0">
                <a:solidFill>
                  <a:prstClr val="black"/>
                </a:solidFill>
                <a:sym typeface="Symbol"/>
              </a:rPr>
              <a:t>’</a:t>
            </a:r>
            <a:r>
              <a:rPr lang="ja-JP" altLang="en-US" sz="2800" dirty="0">
                <a:solidFill>
                  <a:prstClr val="black"/>
                </a:solidFill>
                <a:sym typeface="Symbol"/>
              </a:rPr>
              <a:t>で終了したら、 </a:t>
            </a:r>
            <a:r>
              <a:rPr lang="en-US" altLang="ja-JP" sz="2800" dirty="0">
                <a:solidFill>
                  <a:prstClr val="black"/>
                </a:solidFill>
                <a:sym typeface="Symbol"/>
              </a:rPr>
              <a:t>’ </a:t>
            </a:r>
            <a:r>
              <a:rPr lang="ja-JP" altLang="en-US" sz="2800" dirty="0">
                <a:solidFill>
                  <a:prstClr val="black"/>
                </a:solidFill>
                <a:sym typeface="Symbol"/>
              </a:rPr>
              <a:t>において</a:t>
            </a:r>
            <a:r>
              <a:rPr lang="en-US" altLang="ja-JP" sz="2800" dirty="0">
                <a:solidFill>
                  <a:prstClr val="black"/>
                </a:solidFill>
              </a:rPr>
              <a:t>Q</a:t>
            </a:r>
            <a:r>
              <a:rPr lang="ja-JP" altLang="en-US" sz="2800" dirty="0">
                <a:solidFill>
                  <a:prstClr val="black"/>
                </a:solidFill>
              </a:rPr>
              <a:t>が成り立つ。</a:t>
            </a:r>
            <a:endParaRPr lang="ja-JP"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a:t>Hoare triple</a:t>
            </a:r>
            <a:r>
              <a:rPr lang="ja-JP" altLang="en-US" dirty="0"/>
              <a:t>の例</a:t>
            </a:r>
            <a:endParaRPr kumimoji="1" lang="ja-JP" altLang="en-US" dirty="0"/>
          </a:p>
        </p:txBody>
      </p:sp>
      <p:sp>
        <p:nvSpPr>
          <p:cNvPr id="4" name="テキスト ボックス 3"/>
          <p:cNvSpPr txBox="1"/>
          <p:nvPr/>
        </p:nvSpPr>
        <p:spPr>
          <a:xfrm>
            <a:off x="658241" y="1436357"/>
            <a:ext cx="4199337" cy="523220"/>
          </a:xfrm>
          <a:prstGeom prst="rect">
            <a:avLst/>
          </a:prstGeom>
          <a:noFill/>
        </p:spPr>
        <p:txBody>
          <a:bodyPr wrap="none" rtlCol="0">
            <a:spAutoFit/>
          </a:bodyPr>
          <a:lstStyle/>
          <a:p>
            <a:r>
              <a:rPr lang="ja-JP" altLang="en-US" sz="2800" dirty="0"/>
              <a:t>  </a:t>
            </a:r>
            <a:r>
              <a:rPr lang="en-US" altLang="ja-JP" sz="2800" dirty="0"/>
              <a:t>{ a = 0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a:t>a = 0</a:t>
            </a:r>
            <a:r>
              <a:rPr lang="ja-JP" altLang="en-US" sz="2800" dirty="0"/>
              <a:t>が成り立っている状態で </a:t>
            </a:r>
            <a:r>
              <a:rPr lang="en-US" altLang="ja-JP" sz="2800" dirty="0"/>
              <a:t>a := a + 1 </a:t>
            </a:r>
            <a:r>
              <a:rPr lang="ja-JP" altLang="en-US" sz="2800" dirty="0"/>
              <a:t>を実行すると、実行後の状態では </a:t>
            </a:r>
            <a:r>
              <a:rPr lang="en-US" altLang="ja-JP" sz="2800" dirty="0"/>
              <a:t>a = 1</a:t>
            </a:r>
            <a:r>
              <a:rPr lang="ja-JP" altLang="en-US" sz="2800" dirty="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a:t>  </a:t>
            </a:r>
            <a:r>
              <a:rPr lang="en-US" altLang="ja-JP" sz="2800" dirty="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a:t>a = 1</a:t>
            </a:r>
            <a:r>
              <a:rPr lang="ja-JP" altLang="en-US" sz="2800" dirty="0"/>
              <a:t>が成り立っている状態で </a:t>
            </a:r>
            <a:r>
              <a:rPr lang="en-US" altLang="ja-JP" sz="2800" dirty="0"/>
              <a:t>a := a – 1; a := a + 1 </a:t>
            </a:r>
            <a:r>
              <a:rPr lang="ja-JP" altLang="en-US" sz="2800" dirty="0"/>
              <a:t>を実行すると、 実行後の状態では</a:t>
            </a:r>
            <a:r>
              <a:rPr lang="en-US" altLang="ja-JP" sz="2800" dirty="0"/>
              <a:t>a = 1</a:t>
            </a:r>
            <a:r>
              <a:rPr lang="ja-JP" altLang="en-US" sz="2800" dirty="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a:t>  </a:t>
            </a:r>
            <a:r>
              <a:rPr lang="en-US" altLang="ja-JP" sz="2800" dirty="0"/>
              <a:t>{ a = 5 }  </a:t>
            </a:r>
            <a:r>
              <a:rPr lang="en-US" altLang="ja-JP" sz="2800" b="1" dirty="0"/>
              <a:t>while</a:t>
            </a:r>
            <a:r>
              <a:rPr lang="en-US" altLang="ja-JP" sz="2800" dirty="0"/>
              <a:t> a &gt; 0 </a:t>
            </a:r>
            <a:r>
              <a:rPr lang="en-US" altLang="ja-JP" sz="2800" b="1" dirty="0"/>
              <a:t>do</a:t>
            </a:r>
            <a:r>
              <a:rPr lang="en-US" altLang="ja-JP" sz="2800" dirty="0"/>
              <a:t> a := a - 1 </a:t>
            </a:r>
            <a:r>
              <a:rPr lang="ja-JP" altLang="en-US" sz="2800" dirty="0"/>
              <a:t> </a:t>
            </a:r>
            <a:r>
              <a:rPr lang="en-US" altLang="ja-JP" sz="2800" dirty="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a:t>a = 5</a:t>
            </a:r>
            <a:r>
              <a:rPr lang="ja-JP" altLang="en-US" sz="2800" dirty="0"/>
              <a:t>が成り立っている状態でこの</a:t>
            </a:r>
            <a:r>
              <a:rPr lang="en-US" altLang="ja-JP" sz="2800" dirty="0"/>
              <a:t>while</a:t>
            </a:r>
            <a:r>
              <a:rPr lang="ja-JP" altLang="en-US" sz="2800" dirty="0"/>
              <a:t>文を実行すると、 実行後の状態では</a:t>
            </a:r>
            <a:r>
              <a:rPr lang="en-US" altLang="ja-JP" sz="2800" dirty="0"/>
              <a:t>a = 0</a:t>
            </a:r>
            <a:r>
              <a:rPr lang="ja-JP" altLang="en-US" sz="2800" dirty="0"/>
              <a:t>が成り立つ。</a:t>
            </a:r>
            <a:endParaRPr kumimoji="1" lang="ja-JP"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a:t>部分正当性</a:t>
            </a:r>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a:t>Hoare</a:t>
            </a:r>
            <a:r>
              <a:rPr lang="ja-JP" altLang="en-US" sz="2800" dirty="0"/>
              <a:t> </a:t>
            </a:r>
            <a:r>
              <a:rPr lang="en-US" altLang="ja-JP" sz="2800" dirty="0"/>
              <a:t>triple</a:t>
            </a:r>
            <a:r>
              <a:rPr lang="ja-JP" altLang="en-US" sz="2800" dirty="0"/>
              <a:t>では、文</a:t>
            </a:r>
            <a:r>
              <a:rPr lang="en-US" altLang="ja-JP" sz="2800" dirty="0"/>
              <a:t>S</a:t>
            </a:r>
            <a:r>
              <a:rPr lang="ja-JP" altLang="en-US" sz="2800" dirty="0"/>
              <a:t>が停止することは言っていない（</a:t>
            </a:r>
            <a:r>
              <a:rPr lang="en-US" altLang="ja-JP" sz="2800" dirty="0"/>
              <a:t>while</a:t>
            </a:r>
            <a:r>
              <a:rPr lang="ja-JP" altLang="en-US" sz="2800" dirty="0"/>
              <a:t>文は停止しない場合もあるので）。停止性は別途示す必要がある。</a:t>
            </a:r>
            <a:r>
              <a:rPr lang="en-US" altLang="ja-JP" sz="2800" dirty="0"/>
              <a:t>Hoare</a:t>
            </a:r>
            <a:r>
              <a:rPr lang="ja-JP" altLang="en-US" sz="2800" dirty="0"/>
              <a:t> </a:t>
            </a:r>
            <a:r>
              <a:rPr lang="en-US" altLang="ja-JP" sz="2800" dirty="0"/>
              <a:t>triple</a:t>
            </a:r>
            <a:r>
              <a:rPr lang="ja-JP" altLang="en-US" sz="2800" dirty="0"/>
              <a:t>は部分正当性を表している</a:t>
            </a:r>
            <a:r>
              <a:rPr lang="en-US" altLang="ja-JP" sz="2800" dirty="0"/>
              <a:t>(partial correctness assertion)</a:t>
            </a:r>
            <a:r>
              <a:rPr lang="ja-JP" altLang="en-US" sz="2800" dirty="0" err="1"/>
              <a:t>。</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a:t>（参考） </a:t>
            </a:r>
            <a:r>
              <a:rPr kumimoji="1" lang="en-US" altLang="ja-JP" sz="2800" dirty="0"/>
              <a:t>while rule</a:t>
            </a:r>
            <a:r>
              <a:rPr kumimoji="1" lang="ja-JP" altLang="en-US" sz="2800" dirty="0"/>
              <a:t>を拡張することにより、</a:t>
            </a:r>
            <a:r>
              <a:rPr kumimoji="1" lang="en-US" altLang="ja-JP" sz="2800" dirty="0"/>
              <a:t>Hoare triple</a:t>
            </a:r>
            <a:r>
              <a:rPr kumimoji="1" lang="ja-JP" altLang="en-US" sz="2800" dirty="0"/>
              <a:t>が</a:t>
            </a:r>
            <a:r>
              <a:rPr kumimoji="1" lang="en-US" altLang="ja-JP" sz="2800" dirty="0"/>
              <a:t>total correctness</a:t>
            </a:r>
            <a:r>
              <a:rPr kumimoji="1" lang="ja-JP" altLang="en-US" sz="2800" dirty="0"/>
              <a:t>を示すようにすることができる。</a:t>
            </a:r>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a:t>停止しない例</a:t>
            </a:r>
            <a:r>
              <a:rPr lang="en-US" altLang="ja-JP" sz="2800" dirty="0"/>
              <a:t>:  </a:t>
            </a:r>
            <a:r>
              <a:rPr lang="en-US" altLang="ja-JP" sz="2800" b="1" dirty="0"/>
              <a:t>while</a:t>
            </a:r>
            <a:r>
              <a:rPr lang="en-US" altLang="ja-JP" sz="2800" dirty="0"/>
              <a:t> true </a:t>
            </a:r>
            <a:r>
              <a:rPr lang="en-US" altLang="ja-JP" sz="2800" b="1" dirty="0"/>
              <a:t>do</a:t>
            </a:r>
            <a:r>
              <a:rPr lang="en-US" altLang="ja-JP" sz="2800" dirty="0"/>
              <a:t> x := 1</a:t>
            </a:r>
          </a:p>
          <a:p>
            <a:r>
              <a:rPr kumimoji="1" lang="en-US" altLang="ja-JP" sz="2800" dirty="0"/>
              <a:t>{true}</a:t>
            </a:r>
            <a:r>
              <a:rPr lang="ja-JP" altLang="en-US" sz="2800" dirty="0"/>
              <a:t>  </a:t>
            </a:r>
            <a:r>
              <a:rPr lang="en-US" altLang="ja-JP" sz="2800" b="1" dirty="0"/>
              <a:t>while</a:t>
            </a:r>
            <a:r>
              <a:rPr kumimoji="1" lang="en-US" altLang="ja-JP" sz="2800" dirty="0"/>
              <a:t> true </a:t>
            </a:r>
            <a:r>
              <a:rPr kumimoji="1" lang="en-US" altLang="ja-JP" sz="2800" b="1" dirty="0"/>
              <a:t>do</a:t>
            </a:r>
            <a:r>
              <a:rPr kumimoji="1" lang="en-US" altLang="ja-JP" sz="2800" dirty="0"/>
              <a:t> x := 1  {false} --- </a:t>
            </a:r>
            <a:r>
              <a:rPr kumimoji="1" lang="ja-JP" altLang="en-US" sz="2800" dirty="0"/>
              <a:t>この</a:t>
            </a:r>
            <a:r>
              <a:rPr lang="en-US" altLang="ja-JP" sz="2800" dirty="0"/>
              <a:t>Hoare triple</a:t>
            </a:r>
            <a:r>
              <a:rPr lang="ja-JP" altLang="en-US" sz="2800" dirty="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a:t>（参考）完全正当性（</a:t>
            </a:r>
            <a:r>
              <a:rPr lang="en-US" altLang="ja-JP" sz="2800" dirty="0"/>
              <a:t>total correctness</a:t>
            </a:r>
            <a:r>
              <a:rPr lang="ja-JP" altLang="en-US" sz="2800" dirty="0"/>
              <a:t>）</a:t>
            </a:r>
            <a:endParaRPr lang="en-US" altLang="ja-JP" sz="2800" dirty="0"/>
          </a:p>
          <a:p>
            <a:r>
              <a:rPr lang="en-US" altLang="ja-JP" sz="2800" dirty="0"/>
              <a:t>                       </a:t>
            </a:r>
            <a:r>
              <a:rPr lang="ja-JP" altLang="en-US" sz="2800" dirty="0"/>
              <a:t>          </a:t>
            </a:r>
            <a:r>
              <a:rPr lang="en-US" altLang="ja-JP" sz="2800" dirty="0"/>
              <a:t>--- </a:t>
            </a:r>
            <a:r>
              <a:rPr lang="ja-JP" altLang="en-US" sz="2800" dirty="0"/>
              <a:t>部分正当性 </a:t>
            </a:r>
            <a:r>
              <a:rPr lang="en-US" altLang="ja-JP" sz="2800" dirty="0"/>
              <a:t>+ </a:t>
            </a:r>
            <a:r>
              <a:rPr lang="ja-JP" altLang="en-US" sz="2800" dirty="0"/>
              <a:t>停止性</a:t>
            </a:r>
            <a:endParaRPr lang="en-US" altLang="ja-JP" sz="2800" dirty="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a:t>完全正当性の表明は、</a:t>
            </a:r>
            <a:r>
              <a:rPr lang="en-US" altLang="ja-JP" sz="2800" dirty="0"/>
              <a:t>[P] S [Q] </a:t>
            </a:r>
            <a:r>
              <a:rPr lang="ja-JP" altLang="en-US" sz="2800" dirty="0" err="1"/>
              <a:t>のように</a:t>
            </a:r>
            <a:r>
              <a:rPr lang="en-US" altLang="ja-JP" sz="2800" dirty="0"/>
              <a:t>[ ]</a:t>
            </a:r>
            <a:r>
              <a:rPr lang="ja-JP" altLang="en-US" sz="2800" dirty="0"/>
              <a:t>で表すこともある。</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a:t>Hoare</a:t>
            </a:r>
            <a:r>
              <a:rPr kumimoji="1" lang="ja-JP" altLang="en-US" dirty="0"/>
              <a:t>論理</a:t>
            </a:r>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a:t>文に対する</a:t>
            </a:r>
            <a:r>
              <a:rPr kumimoji="1" lang="en-US" altLang="ja-JP" sz="2800" dirty="0"/>
              <a:t>Hoare</a:t>
            </a:r>
            <a:r>
              <a:rPr lang="ja-JP" altLang="en-US" sz="2800" dirty="0"/>
              <a:t> </a:t>
            </a:r>
            <a:r>
              <a:rPr lang="en-US" altLang="ja-JP" sz="2800" dirty="0"/>
              <a:t>Triple</a:t>
            </a:r>
            <a:r>
              <a:rPr lang="ja-JP" altLang="en-US" sz="2800" dirty="0"/>
              <a:t>は、文の構造に従って規則的に構築することができる。各構文要素（</a:t>
            </a:r>
            <a:r>
              <a:rPr lang="en-US" altLang="ja-JP" sz="2800" dirty="0"/>
              <a:t>construct)</a:t>
            </a:r>
            <a:r>
              <a:rPr lang="ja-JP" altLang="en-US" sz="2800" dirty="0"/>
              <a:t>に対応する規則があり、それを集めたものを</a:t>
            </a:r>
            <a:r>
              <a:rPr kumimoji="1" lang="en-US" altLang="ja-JP" sz="2800" dirty="0"/>
              <a:t>Hoare</a:t>
            </a:r>
            <a:r>
              <a:rPr kumimoji="1" lang="ja-JP" altLang="en-US" sz="2800" dirty="0"/>
              <a:t>論理</a:t>
            </a:r>
            <a:r>
              <a:rPr kumimoji="1" lang="en-US" altLang="ja-JP" sz="2800" dirty="0"/>
              <a:t>(Hoare logic)</a:t>
            </a:r>
            <a:r>
              <a:rPr kumimoji="1" lang="ja-JP" altLang="en-US" sz="2800" dirty="0"/>
              <a:t>という。</a:t>
            </a:r>
            <a:r>
              <a:rPr kumimoji="1" lang="en-US" altLang="ja-JP" sz="2800" dirty="0"/>
              <a:t>Hoare</a:t>
            </a:r>
            <a:r>
              <a:rPr kumimoji="1" lang="ja-JP" altLang="en-US" sz="2800" dirty="0"/>
              <a:t>論理は公理</a:t>
            </a:r>
            <a:r>
              <a:rPr kumimoji="1" lang="en-US" altLang="ja-JP" sz="2800" dirty="0"/>
              <a:t>(axiom)</a:t>
            </a:r>
            <a:r>
              <a:rPr kumimoji="1" lang="ja-JP" altLang="en-US" sz="2800" dirty="0"/>
              <a:t>から推論規則</a:t>
            </a:r>
            <a:r>
              <a:rPr kumimoji="1" lang="en-US" altLang="ja-JP" sz="2800" dirty="0"/>
              <a:t>(inference rule)</a:t>
            </a:r>
            <a:r>
              <a:rPr kumimoji="1" lang="ja-JP" altLang="en-US" sz="2800" dirty="0"/>
              <a:t>に従って導く形になっており、公理的意味論</a:t>
            </a:r>
            <a:r>
              <a:rPr kumimoji="1" lang="en-US" altLang="ja-JP" sz="2800" dirty="0"/>
              <a:t>(axiomatic semantics)</a:t>
            </a:r>
            <a:r>
              <a:rPr kumimoji="1" lang="ja-JP" altLang="en-US" sz="2800" dirty="0"/>
              <a:t>である。</a:t>
            </a:r>
            <a:r>
              <a:rPr lang="en-US" altLang="ja-JP" sz="2800" dirty="0"/>
              <a:t>(</a:t>
            </a:r>
            <a:r>
              <a:rPr lang="ja-JP" altLang="en-US" sz="2800" dirty="0"/>
              <a:t>公理的意味論には様々な形がある。</a:t>
            </a:r>
            <a:r>
              <a:rPr lang="en-US" altLang="ja-JP" sz="2800" dirty="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a:t>（参考） </a:t>
            </a:r>
            <a:r>
              <a:rPr kumimoji="1" lang="en-US" altLang="ja-JP" sz="2400" dirty="0" err="1"/>
              <a:t>flowchard</a:t>
            </a:r>
            <a:r>
              <a:rPr kumimoji="1" lang="ja-JP" altLang="en-US" sz="2400" dirty="0"/>
              <a:t>上で</a:t>
            </a:r>
            <a:r>
              <a:rPr kumimoji="1" lang="en-US" altLang="ja-JP" sz="2400" dirty="0"/>
              <a:t>Floyd</a:t>
            </a:r>
            <a:r>
              <a:rPr kumimoji="1" lang="ja-JP" altLang="en-US" sz="2400" dirty="0"/>
              <a:t>が同様のことを考えている。</a:t>
            </a:r>
            <a:endParaRPr kumimoji="1" lang="en-US" altLang="ja-JP" sz="2400" dirty="0"/>
          </a:p>
          <a:p>
            <a:r>
              <a:rPr lang="ja-JP" altLang="en-US" sz="2400" dirty="0"/>
              <a:t>（参考文献１）</a:t>
            </a:r>
            <a:r>
              <a:rPr lang="en-US" altLang="ja-JP" sz="2400" dirty="0"/>
              <a:t> C. A. R. Hoare, "An axiomatic basis for computer programming“, </a:t>
            </a:r>
            <a:r>
              <a:rPr lang="en-US" altLang="ja-JP" sz="2400" i="1" dirty="0"/>
              <a:t>Communications of the ACM</a:t>
            </a:r>
            <a:r>
              <a:rPr lang="en-US" altLang="ja-JP" sz="2400" dirty="0"/>
              <a:t>, 12(10):576–580,583, 1969.</a:t>
            </a:r>
          </a:p>
          <a:p>
            <a:r>
              <a:rPr lang="ja-JP" altLang="en-US" sz="2400" dirty="0"/>
              <a:t>（参考文献２） </a:t>
            </a:r>
            <a:r>
              <a:rPr lang="en-US" altLang="ja-JP" sz="2400" dirty="0"/>
              <a:t>R. W. Floyd, “Assigning meanings to programs”, </a:t>
            </a:r>
            <a:r>
              <a:rPr lang="en-US" altLang="ja-JP" sz="2400" i="1" dirty="0"/>
              <a:t>Proceedings of the American Mathematical Society Symposium on Applied Mathematics,</a:t>
            </a:r>
            <a:r>
              <a:rPr lang="en-US" altLang="ja-JP" sz="2400" dirty="0"/>
              <a:t> Vol. 19, pp. 19–32. 1967.</a:t>
            </a:r>
            <a:endParaRPr kumimoji="1" lang="ja-JP" alt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a:t>Hoare</a:t>
            </a:r>
            <a:r>
              <a:rPr lang="ja-JP" altLang="en-US" dirty="0"/>
              <a:t>論理の規則</a:t>
            </a:r>
            <a:endParaRPr kumimoji="1" lang="ja-JP" altLang="en-US" dirty="0"/>
          </a:p>
        </p:txBody>
      </p:sp>
      <p:sp>
        <p:nvSpPr>
          <p:cNvPr id="4" name="テキスト ボックス 3"/>
          <p:cNvSpPr txBox="1"/>
          <p:nvPr/>
        </p:nvSpPr>
        <p:spPr>
          <a:xfrm>
            <a:off x="4624487" y="1422145"/>
            <a:ext cx="2865143" cy="523220"/>
          </a:xfrm>
          <a:prstGeom prst="rect">
            <a:avLst/>
          </a:prstGeom>
          <a:noFill/>
        </p:spPr>
        <p:txBody>
          <a:bodyPr wrap="none" rtlCol="0">
            <a:spAutoFit/>
          </a:bodyPr>
          <a:lstStyle/>
          <a:p>
            <a:r>
              <a:rPr kumimoji="1" lang="en-US" altLang="ja-JP" sz="2800" dirty="0"/>
              <a:t>(composition </a:t>
            </a:r>
            <a:r>
              <a:rPr lang="en-US" altLang="ja-JP" sz="2800" dirty="0"/>
              <a:t>r</a:t>
            </a:r>
            <a:r>
              <a:rPr kumimoji="1" lang="en-US" altLang="ja-JP" sz="2800" dirty="0"/>
              <a:t>ule)</a:t>
            </a:r>
            <a:endParaRPr kumimoji="1" lang="ja-JP" altLang="en-US" sz="2800" dirty="0"/>
          </a:p>
        </p:txBody>
      </p:sp>
      <p:graphicFrame>
        <p:nvGraphicFramePr>
          <p:cNvPr id="5" name="表 4"/>
          <p:cNvGraphicFramePr>
            <a:graphicFrameLocks noGrp="1"/>
          </p:cNvGraphicFramePr>
          <p:nvPr>
            <p:extLst>
              <p:ext uri="{D42A27DB-BD31-4B8C-83A1-F6EECF244321}">
                <p14:modId xmlns:p14="http://schemas.microsoft.com/office/powerpoint/2010/main" val="367016337"/>
              </p:ext>
            </p:extLst>
          </p:nvPr>
        </p:nvGraphicFramePr>
        <p:xfrm>
          <a:off x="791577" y="1213271"/>
          <a:ext cx="3662148" cy="1036320"/>
        </p:xfrm>
        <a:graphic>
          <a:graphicData uri="http://schemas.openxmlformats.org/drawingml/2006/table">
            <a:tbl>
              <a:tblPr>
                <a:tableStyleId>{5C22544A-7EE6-4342-B048-85BDC9FD1C3A}</a:tableStyleId>
              </a:tblPr>
              <a:tblGrid>
                <a:gridCol w="3662148">
                  <a:extLst>
                    <a:ext uri="{9D8B030D-6E8A-4147-A177-3AD203B41FA5}">
                      <a16:colId xmlns:a16="http://schemas.microsoft.com/office/drawing/2014/main" val="20000"/>
                    </a:ext>
                  </a:extLst>
                </a:gridCol>
              </a:tblGrid>
              <a:tr h="454736">
                <a:tc>
                  <a:txBody>
                    <a:bodyPr/>
                    <a:lstStyle/>
                    <a:p>
                      <a:r>
                        <a:rPr kumimoji="1" lang="en-US" altLang="ja-JP" sz="2800" dirty="0"/>
                        <a:t>{P} S</a:t>
                      </a:r>
                      <a:r>
                        <a:rPr kumimoji="1" lang="en-US" altLang="ja-JP" sz="2800" baseline="-25000" dirty="0"/>
                        <a:t>1</a:t>
                      </a:r>
                      <a:r>
                        <a:rPr kumimoji="1" lang="en-US" altLang="ja-JP" sz="2800" dirty="0"/>
                        <a:t> {Q}</a:t>
                      </a:r>
                      <a:r>
                        <a:rPr kumimoji="1" lang="ja-JP" altLang="en-US" sz="2800" baseline="0" dirty="0"/>
                        <a:t> </a:t>
                      </a:r>
                      <a:r>
                        <a:rPr kumimoji="1" lang="en-US" altLang="ja-JP" sz="2800" dirty="0"/>
                        <a:t>    {Q} S</a:t>
                      </a:r>
                      <a:r>
                        <a:rPr kumimoji="1" lang="en-US" altLang="ja-JP" sz="2800" baseline="-25000" dirty="0"/>
                        <a:t>2</a:t>
                      </a:r>
                      <a:r>
                        <a:rPr kumimoji="1" lang="en-US" altLang="ja-JP" sz="2800" dirty="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54736">
                <a:tc>
                  <a:txBody>
                    <a:bodyPr/>
                    <a:lstStyle/>
                    <a:p>
                      <a:r>
                        <a:rPr kumimoji="1" lang="en-US" altLang="ja-JP" sz="2800" dirty="0"/>
                        <a:t>{P}  S</a:t>
                      </a:r>
                      <a:r>
                        <a:rPr kumimoji="1" lang="en-US" altLang="ja-JP" sz="2800" baseline="-25000" dirty="0"/>
                        <a:t>1</a:t>
                      </a:r>
                      <a:r>
                        <a:rPr kumimoji="1" lang="en-US" altLang="ja-JP" sz="2800" dirty="0"/>
                        <a:t>; S</a:t>
                      </a:r>
                      <a:r>
                        <a:rPr kumimoji="1" lang="en-US" altLang="ja-JP" sz="2800" baseline="-25000" dirty="0"/>
                        <a:t>2</a:t>
                      </a:r>
                      <a:r>
                        <a:rPr kumimoji="1" lang="en-US" altLang="ja-JP" sz="2800" dirty="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6" name="テキスト ボックス 5"/>
          <p:cNvSpPr txBox="1"/>
          <p:nvPr/>
        </p:nvSpPr>
        <p:spPr>
          <a:xfrm>
            <a:off x="5957492" y="2545176"/>
            <a:ext cx="2690417" cy="523220"/>
          </a:xfrm>
          <a:prstGeom prst="rect">
            <a:avLst/>
          </a:prstGeom>
          <a:noFill/>
        </p:spPr>
        <p:txBody>
          <a:bodyPr wrap="none" rtlCol="0">
            <a:spAutoFit/>
          </a:bodyPr>
          <a:lstStyle/>
          <a:p>
            <a:r>
              <a:rPr kumimoji="1" lang="en-US" altLang="ja-JP" sz="2800" dirty="0"/>
              <a:t>(conditional rule)</a:t>
            </a:r>
            <a:endParaRPr kumimoji="1" lang="ja-JP" altLang="en-US" sz="2800" dirty="0"/>
          </a:p>
        </p:txBody>
      </p:sp>
      <p:graphicFrame>
        <p:nvGraphicFramePr>
          <p:cNvPr id="7" name="表 6"/>
          <p:cNvGraphicFramePr>
            <a:graphicFrameLocks noGrp="1"/>
          </p:cNvGraphicFramePr>
          <p:nvPr>
            <p:extLst>
              <p:ext uri="{D42A27DB-BD31-4B8C-83A1-F6EECF244321}">
                <p14:modId xmlns:p14="http://schemas.microsoft.com/office/powerpoint/2010/main" val="3070872163"/>
              </p:ext>
            </p:extLst>
          </p:nvPr>
        </p:nvGraphicFramePr>
        <p:xfrm>
          <a:off x="739257" y="2336040"/>
          <a:ext cx="5106547" cy="1036320"/>
        </p:xfrm>
        <a:graphic>
          <a:graphicData uri="http://schemas.openxmlformats.org/drawingml/2006/table">
            <a:tbl>
              <a:tblPr>
                <a:tableStyleId>{5C22544A-7EE6-4342-B048-85BDC9FD1C3A}</a:tableStyleId>
              </a:tblPr>
              <a:tblGrid>
                <a:gridCol w="5106547">
                  <a:extLst>
                    <a:ext uri="{9D8B030D-6E8A-4147-A177-3AD203B41FA5}">
                      <a16:colId xmlns:a16="http://schemas.microsoft.com/office/drawing/2014/main" val="20000"/>
                    </a:ext>
                  </a:extLst>
                </a:gridCol>
              </a:tblGrid>
              <a:tr h="480897">
                <a:tc>
                  <a:txBody>
                    <a:bodyPr/>
                    <a:lstStyle/>
                    <a:p>
                      <a:r>
                        <a:rPr kumimoji="1" lang="en-US" altLang="ja-JP" sz="2800" dirty="0"/>
                        <a:t>{P </a:t>
                      </a:r>
                      <a:r>
                        <a:rPr kumimoji="1" lang="en-US" altLang="ja-JP" sz="2800" dirty="0">
                          <a:sym typeface="Symbol"/>
                        </a:rPr>
                        <a:t> E</a:t>
                      </a:r>
                      <a:r>
                        <a:rPr kumimoji="1" lang="en-US" altLang="ja-JP" sz="2800" dirty="0"/>
                        <a:t>}  S</a:t>
                      </a:r>
                      <a:r>
                        <a:rPr kumimoji="1" lang="en-US" altLang="ja-JP" sz="2800" baseline="-25000" dirty="0"/>
                        <a:t>1</a:t>
                      </a:r>
                      <a:r>
                        <a:rPr kumimoji="1" lang="en-US" altLang="ja-JP" sz="2800" dirty="0"/>
                        <a:t>  {Q}</a:t>
                      </a:r>
                      <a:r>
                        <a:rPr kumimoji="1" lang="en-US" altLang="ja-JP" sz="2800" baseline="0" dirty="0"/>
                        <a:t>  </a:t>
                      </a:r>
                      <a:r>
                        <a:rPr kumimoji="1" lang="en-US" altLang="ja-JP" sz="2800" dirty="0"/>
                        <a:t>   {P</a:t>
                      </a:r>
                      <a:r>
                        <a:rPr kumimoji="1" lang="en-US" altLang="ja-JP" sz="2800" baseline="0" dirty="0"/>
                        <a:t> </a:t>
                      </a:r>
                      <a:r>
                        <a:rPr kumimoji="1" lang="en-US" altLang="ja-JP" sz="2800" baseline="0" dirty="0">
                          <a:sym typeface="Symbol"/>
                        </a:rPr>
                        <a:t>  E</a:t>
                      </a:r>
                      <a:r>
                        <a:rPr kumimoji="1" lang="en-US" altLang="ja-JP" sz="2800" dirty="0"/>
                        <a:t>}  S</a:t>
                      </a:r>
                      <a:r>
                        <a:rPr kumimoji="1" lang="en-US" altLang="ja-JP" sz="2800" baseline="-25000" dirty="0"/>
                        <a:t>2 </a:t>
                      </a:r>
                      <a:r>
                        <a:rPr kumimoji="1" lang="en-US" altLang="ja-JP" sz="2800" dirty="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80897">
                <a:tc>
                  <a:txBody>
                    <a:bodyPr/>
                    <a:lstStyle/>
                    <a:p>
                      <a:r>
                        <a:rPr kumimoji="1" lang="en-US" altLang="ja-JP" sz="2800" dirty="0"/>
                        <a:t>{P}  </a:t>
                      </a:r>
                      <a:r>
                        <a:rPr kumimoji="1" lang="en-US" altLang="ja-JP" sz="2800" b="1" dirty="0"/>
                        <a:t>if</a:t>
                      </a:r>
                      <a:r>
                        <a:rPr kumimoji="1" lang="en-US" altLang="ja-JP" sz="2800" dirty="0"/>
                        <a:t>  E  </a:t>
                      </a:r>
                      <a:r>
                        <a:rPr kumimoji="1" lang="en-US" altLang="ja-JP" sz="2800" b="1" dirty="0"/>
                        <a:t>then</a:t>
                      </a:r>
                      <a:r>
                        <a:rPr kumimoji="1" lang="en-US" altLang="ja-JP" sz="2800" dirty="0"/>
                        <a:t>  S</a:t>
                      </a:r>
                      <a:r>
                        <a:rPr kumimoji="1" lang="en-US" altLang="ja-JP" sz="2800" baseline="-25000" dirty="0"/>
                        <a:t>1  </a:t>
                      </a:r>
                      <a:r>
                        <a:rPr kumimoji="1" lang="en-US" altLang="ja-JP" sz="2800" b="1" baseline="0" dirty="0"/>
                        <a:t>else</a:t>
                      </a:r>
                      <a:r>
                        <a:rPr kumimoji="1" lang="en-US" altLang="ja-JP" sz="2800" b="1" baseline="-25000" dirty="0"/>
                        <a:t> </a:t>
                      </a:r>
                      <a:r>
                        <a:rPr kumimoji="1" lang="en-US" altLang="ja-JP" sz="2800" baseline="-25000" dirty="0"/>
                        <a:t> </a:t>
                      </a:r>
                      <a:r>
                        <a:rPr kumimoji="1" lang="en-US" altLang="ja-JP" sz="2800" dirty="0"/>
                        <a:t>S</a:t>
                      </a:r>
                      <a:r>
                        <a:rPr kumimoji="1" lang="en-US" altLang="ja-JP" sz="2800" baseline="-25000" dirty="0"/>
                        <a:t>2</a:t>
                      </a:r>
                      <a:r>
                        <a:rPr kumimoji="1" lang="en-US" altLang="ja-JP" sz="2800" dirty="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8" name="テキスト ボックス 7"/>
          <p:cNvSpPr txBox="1"/>
          <p:nvPr/>
        </p:nvSpPr>
        <p:spPr>
          <a:xfrm>
            <a:off x="5382216" y="3665192"/>
            <a:ext cx="1875835" cy="523220"/>
          </a:xfrm>
          <a:prstGeom prst="rect">
            <a:avLst/>
          </a:prstGeom>
          <a:noFill/>
        </p:spPr>
        <p:txBody>
          <a:bodyPr wrap="none" rtlCol="0">
            <a:spAutoFit/>
          </a:bodyPr>
          <a:lstStyle/>
          <a:p>
            <a:r>
              <a:rPr kumimoji="1" lang="en-US" altLang="ja-JP" sz="2800" dirty="0"/>
              <a:t>(while rule)</a:t>
            </a:r>
            <a:endParaRPr kumimoji="1" lang="ja-JP" altLang="en-US" sz="2800" dirty="0"/>
          </a:p>
        </p:txBody>
      </p:sp>
      <p:graphicFrame>
        <p:nvGraphicFramePr>
          <p:cNvPr id="9" name="表 8"/>
          <p:cNvGraphicFramePr>
            <a:graphicFrameLocks noGrp="1"/>
          </p:cNvGraphicFramePr>
          <p:nvPr>
            <p:extLst>
              <p:ext uri="{D42A27DB-BD31-4B8C-83A1-F6EECF244321}">
                <p14:modId xmlns:p14="http://schemas.microsoft.com/office/powerpoint/2010/main" val="4173782760"/>
              </p:ext>
            </p:extLst>
          </p:nvPr>
        </p:nvGraphicFramePr>
        <p:xfrm>
          <a:off x="725614" y="3442092"/>
          <a:ext cx="4574280" cy="1036320"/>
        </p:xfrm>
        <a:graphic>
          <a:graphicData uri="http://schemas.openxmlformats.org/drawingml/2006/table">
            <a:tbl>
              <a:tblPr>
                <a:tableStyleId>{5C22544A-7EE6-4342-B048-85BDC9FD1C3A}</a:tableStyleId>
              </a:tblPr>
              <a:tblGrid>
                <a:gridCol w="4574280">
                  <a:extLst>
                    <a:ext uri="{9D8B030D-6E8A-4147-A177-3AD203B41FA5}">
                      <a16:colId xmlns:a16="http://schemas.microsoft.com/office/drawing/2014/main" val="20000"/>
                    </a:ext>
                  </a:extLst>
                </a:gridCol>
              </a:tblGrid>
              <a:tr h="507059">
                <a:tc>
                  <a:txBody>
                    <a:bodyPr/>
                    <a:lstStyle/>
                    <a:p>
                      <a:r>
                        <a:rPr kumimoji="1" lang="en-US" altLang="ja-JP" sz="2800" dirty="0"/>
                        <a:t>{P </a:t>
                      </a:r>
                      <a:r>
                        <a:rPr kumimoji="1" lang="en-US" altLang="ja-JP" sz="2800" dirty="0">
                          <a:sym typeface="Symbol"/>
                        </a:rPr>
                        <a:t> E</a:t>
                      </a:r>
                      <a:r>
                        <a:rPr kumimoji="1" lang="en-US" altLang="ja-JP" sz="2800" dirty="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507059">
                <a:tc>
                  <a:txBody>
                    <a:bodyPr/>
                    <a:lstStyle/>
                    <a:p>
                      <a:r>
                        <a:rPr kumimoji="1" lang="en-US" altLang="ja-JP" sz="2800" dirty="0"/>
                        <a:t>{P}  </a:t>
                      </a:r>
                      <a:r>
                        <a:rPr kumimoji="1" lang="en-US" altLang="ja-JP" sz="2800" b="1" dirty="0"/>
                        <a:t>while</a:t>
                      </a:r>
                      <a:r>
                        <a:rPr kumimoji="1" lang="en-US" altLang="ja-JP" sz="2800" dirty="0"/>
                        <a:t>  E  </a:t>
                      </a:r>
                      <a:r>
                        <a:rPr kumimoji="1" lang="en-US" altLang="ja-JP" sz="2800" b="1" dirty="0"/>
                        <a:t>do</a:t>
                      </a:r>
                      <a:r>
                        <a:rPr kumimoji="1" lang="en-US" altLang="ja-JP" sz="2800" dirty="0"/>
                        <a:t> S</a:t>
                      </a:r>
                      <a:r>
                        <a:rPr kumimoji="1" lang="en-US" altLang="ja-JP" sz="2800" baseline="0" dirty="0"/>
                        <a:t>  </a:t>
                      </a:r>
                      <a:r>
                        <a:rPr kumimoji="1" lang="en-US" altLang="ja-JP" sz="2800" dirty="0"/>
                        <a:t>{P</a:t>
                      </a:r>
                      <a:r>
                        <a:rPr kumimoji="1" lang="en-US" altLang="ja-JP" sz="2800" baseline="0" dirty="0"/>
                        <a:t> </a:t>
                      </a:r>
                      <a:r>
                        <a:rPr kumimoji="1" lang="en-US" altLang="ja-JP" sz="2800" baseline="0" dirty="0">
                          <a:sym typeface="Symbol"/>
                        </a:rPr>
                        <a:t>  E</a:t>
                      </a:r>
                      <a:r>
                        <a:rPr kumimoji="1" lang="en-US" altLang="ja-JP" sz="2800" dirty="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0" name="テキスト ボックス 9"/>
          <p:cNvSpPr txBox="1"/>
          <p:nvPr/>
        </p:nvSpPr>
        <p:spPr>
          <a:xfrm>
            <a:off x="903104" y="4819574"/>
            <a:ext cx="2991973" cy="523220"/>
          </a:xfrm>
          <a:prstGeom prst="rect">
            <a:avLst/>
          </a:prstGeom>
          <a:noFill/>
        </p:spPr>
        <p:txBody>
          <a:bodyPr wrap="none" rtlCol="0">
            <a:spAutoFit/>
          </a:bodyPr>
          <a:lstStyle/>
          <a:p>
            <a:r>
              <a:rPr kumimoji="1" lang="en-US" altLang="ja-JP" sz="2800" dirty="0"/>
              <a:t>{ Q[E/x] } x := E  {Q}</a:t>
            </a:r>
            <a:endParaRPr kumimoji="1" lang="ja-JP" altLang="en-US" sz="2800" dirty="0"/>
          </a:p>
        </p:txBody>
      </p:sp>
      <p:sp>
        <p:nvSpPr>
          <p:cNvPr id="11" name="テキスト ボックス 10"/>
          <p:cNvSpPr txBox="1"/>
          <p:nvPr/>
        </p:nvSpPr>
        <p:spPr>
          <a:xfrm>
            <a:off x="4121249" y="4606742"/>
            <a:ext cx="3029740" cy="523220"/>
          </a:xfrm>
          <a:prstGeom prst="rect">
            <a:avLst/>
          </a:prstGeom>
          <a:noFill/>
        </p:spPr>
        <p:txBody>
          <a:bodyPr wrap="none" rtlCol="0">
            <a:spAutoFit/>
          </a:bodyPr>
          <a:lstStyle/>
          <a:p>
            <a:r>
              <a:rPr kumimoji="1" lang="en-US" altLang="ja-JP" sz="2800" dirty="0"/>
              <a:t>(assignment </a:t>
            </a:r>
            <a:r>
              <a:rPr lang="en-US" altLang="ja-JP" sz="2800" dirty="0"/>
              <a:t>a</a:t>
            </a:r>
            <a:r>
              <a:rPr kumimoji="1" lang="en-US" altLang="ja-JP" sz="2800" dirty="0"/>
              <a:t>xiom)</a:t>
            </a:r>
            <a:endParaRPr kumimoji="1" lang="ja-JP" altLang="en-US" sz="2800" dirty="0"/>
          </a:p>
        </p:txBody>
      </p:sp>
      <p:graphicFrame>
        <p:nvGraphicFramePr>
          <p:cNvPr id="12" name="表 11"/>
          <p:cNvGraphicFramePr>
            <a:graphicFrameLocks noGrp="1"/>
          </p:cNvGraphicFramePr>
          <p:nvPr>
            <p:extLst>
              <p:ext uri="{D42A27DB-BD31-4B8C-83A1-F6EECF244321}">
                <p14:modId xmlns:p14="http://schemas.microsoft.com/office/powerpoint/2010/main" val="899119935"/>
              </p:ext>
            </p:extLst>
          </p:nvPr>
        </p:nvGraphicFramePr>
        <p:xfrm>
          <a:off x="694459" y="5551624"/>
          <a:ext cx="4458266" cy="1036320"/>
        </p:xfrm>
        <a:graphic>
          <a:graphicData uri="http://schemas.openxmlformats.org/drawingml/2006/table">
            <a:tbl>
              <a:tblPr>
                <a:tableStyleId>{5C22544A-7EE6-4342-B048-85BDC9FD1C3A}</a:tableStyleId>
              </a:tblPr>
              <a:tblGrid>
                <a:gridCol w="4458266">
                  <a:extLst>
                    <a:ext uri="{9D8B030D-6E8A-4147-A177-3AD203B41FA5}">
                      <a16:colId xmlns:a16="http://schemas.microsoft.com/office/drawing/2014/main" val="20000"/>
                    </a:ext>
                  </a:extLst>
                </a:gridCol>
              </a:tblGrid>
              <a:tr h="482916">
                <a:tc>
                  <a:txBody>
                    <a:bodyPr/>
                    <a:lstStyle/>
                    <a:p>
                      <a:r>
                        <a:rPr kumimoji="1" lang="en-US" altLang="ja-JP" sz="2800" dirty="0"/>
                        <a:t>P </a:t>
                      </a:r>
                      <a:r>
                        <a:rPr kumimoji="1" lang="en-US" altLang="ja-JP" sz="2800" dirty="0">
                          <a:sym typeface="Symbol"/>
                        </a:rPr>
                        <a:t> P’</a:t>
                      </a:r>
                      <a:r>
                        <a:rPr kumimoji="1" lang="en-US" altLang="ja-JP" sz="2800" baseline="0" dirty="0">
                          <a:sym typeface="Symbol"/>
                        </a:rPr>
                        <a:t> </a:t>
                      </a:r>
                      <a:r>
                        <a:rPr kumimoji="1" lang="en-US" altLang="ja-JP" sz="2800" dirty="0">
                          <a:sym typeface="Symbol"/>
                        </a:rPr>
                        <a:t>   </a:t>
                      </a:r>
                      <a:r>
                        <a:rPr kumimoji="1" lang="en-US" altLang="ja-JP" sz="2800" dirty="0"/>
                        <a:t>{P’}  S  {Q’}</a:t>
                      </a:r>
                      <a:r>
                        <a:rPr kumimoji="1" lang="en-US" altLang="ja-JP" sz="2800" baseline="0" dirty="0"/>
                        <a:t>  </a:t>
                      </a:r>
                      <a:r>
                        <a:rPr kumimoji="1" lang="en-US" altLang="ja-JP" sz="2800" dirty="0"/>
                        <a:t>  Q’ </a:t>
                      </a:r>
                      <a:r>
                        <a:rPr kumimoji="1" lang="en-US" altLang="ja-JP" sz="2800" dirty="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482916">
                <a:tc>
                  <a:txBody>
                    <a:bodyPr/>
                    <a:lstStyle/>
                    <a:p>
                      <a:r>
                        <a:rPr kumimoji="1" lang="en-US" altLang="ja-JP" sz="2800" dirty="0"/>
                        <a:t>{P}</a:t>
                      </a:r>
                      <a:r>
                        <a:rPr kumimoji="1" lang="en-US" altLang="ja-JP" sz="2800" baseline="0" dirty="0"/>
                        <a:t>  </a:t>
                      </a:r>
                      <a:r>
                        <a:rPr kumimoji="1" lang="en-US" altLang="ja-JP" sz="2800" dirty="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13" name="テキスト ボックス 12"/>
          <p:cNvSpPr txBox="1"/>
          <p:nvPr/>
        </p:nvSpPr>
        <p:spPr>
          <a:xfrm>
            <a:off x="5302548" y="5757917"/>
            <a:ext cx="2980560" cy="523220"/>
          </a:xfrm>
          <a:prstGeom prst="rect">
            <a:avLst/>
          </a:prstGeom>
          <a:noFill/>
        </p:spPr>
        <p:txBody>
          <a:bodyPr wrap="none" rtlCol="0">
            <a:spAutoFit/>
          </a:bodyPr>
          <a:lstStyle/>
          <a:p>
            <a:r>
              <a:rPr kumimoji="1" lang="en-US" altLang="ja-JP" sz="2800" dirty="0"/>
              <a:t>(consequence </a:t>
            </a:r>
            <a:r>
              <a:rPr lang="en-US" altLang="ja-JP" sz="2800" dirty="0"/>
              <a:t>r</a:t>
            </a:r>
            <a:r>
              <a:rPr kumimoji="1" lang="en-US" altLang="ja-JP" sz="2800" dirty="0"/>
              <a:t>ule)</a:t>
            </a:r>
            <a:endParaRPr kumimoji="1" lang="ja-JP" altLang="en-US" sz="2800" dirty="0"/>
          </a:p>
        </p:txBody>
      </p:sp>
      <p:cxnSp>
        <p:nvCxnSpPr>
          <p:cNvPr id="14" name="直線コネクタ 13"/>
          <p:cNvCxnSpPr/>
          <p:nvPr/>
        </p:nvCxnSpPr>
        <p:spPr>
          <a:xfrm>
            <a:off x="800685" y="4901036"/>
            <a:ext cx="3244144" cy="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26476"/>
            <a:ext cx="8229600" cy="899069"/>
          </a:xfrm>
        </p:spPr>
        <p:txBody>
          <a:bodyPr/>
          <a:lstStyle/>
          <a:p>
            <a:r>
              <a:rPr lang="ja-JP" altLang="en-US" dirty="0"/>
              <a:t>例</a:t>
            </a:r>
            <a:endParaRPr kumimoji="1" lang="ja-JP" altLang="en-US" dirty="0"/>
          </a:p>
        </p:txBody>
      </p:sp>
      <p:sp>
        <p:nvSpPr>
          <p:cNvPr id="4" name="テキスト ボックス 3"/>
          <p:cNvSpPr txBox="1"/>
          <p:nvPr/>
        </p:nvSpPr>
        <p:spPr>
          <a:xfrm>
            <a:off x="450376" y="1019989"/>
            <a:ext cx="8502555" cy="954107"/>
          </a:xfrm>
          <a:prstGeom prst="rect">
            <a:avLst/>
          </a:prstGeom>
          <a:noFill/>
        </p:spPr>
        <p:txBody>
          <a:bodyPr wrap="square" rtlCol="0">
            <a:spAutoFit/>
          </a:bodyPr>
          <a:lstStyle/>
          <a:p>
            <a:r>
              <a:rPr lang="en-US" altLang="ja-JP" sz="2800" dirty="0"/>
              <a:t>Hoare triple </a:t>
            </a:r>
            <a:r>
              <a:rPr lang="ja-JP" altLang="en-US" sz="2800" dirty="0"/>
              <a:t>  </a:t>
            </a:r>
            <a:r>
              <a:rPr lang="en-US" altLang="ja-JP" sz="2800" dirty="0"/>
              <a:t>{ x </a:t>
            </a:r>
            <a:r>
              <a:rPr lang="en-US" altLang="ja-JP" sz="2800" dirty="0">
                <a:sym typeface="Symbol"/>
              </a:rPr>
              <a:t> 0 } </a:t>
            </a:r>
            <a:r>
              <a:rPr lang="en-US" altLang="ja-JP" sz="2800" b="1" dirty="0">
                <a:sym typeface="Symbol"/>
              </a:rPr>
              <a:t>while</a:t>
            </a:r>
            <a:r>
              <a:rPr lang="en-US" altLang="ja-JP" sz="2800" dirty="0">
                <a:sym typeface="Symbol"/>
              </a:rPr>
              <a:t> x &gt; 0 </a:t>
            </a:r>
            <a:r>
              <a:rPr lang="en-US" altLang="ja-JP" sz="2800" b="1" dirty="0">
                <a:sym typeface="Symbol"/>
              </a:rPr>
              <a:t>do</a:t>
            </a:r>
            <a:r>
              <a:rPr lang="en-US" altLang="ja-JP" sz="2800" dirty="0">
                <a:sym typeface="Symbol"/>
              </a:rPr>
              <a:t> x := x – 1 {x = 0}</a:t>
            </a:r>
          </a:p>
          <a:p>
            <a:r>
              <a:rPr lang="ja-JP" altLang="en-US" sz="2800" dirty="0">
                <a:sym typeface="Symbol"/>
              </a:rPr>
              <a:t>は成り立つが、これを規則を使って導くことができる。</a:t>
            </a:r>
            <a:endParaRPr lang="en-US" altLang="ja-JP" sz="2800" dirty="0">
              <a:sym typeface="Symbol"/>
            </a:endParaRPr>
          </a:p>
        </p:txBody>
      </p:sp>
      <p:sp>
        <p:nvSpPr>
          <p:cNvPr id="6" name="正方形/長方形 5"/>
          <p:cNvSpPr/>
          <p:nvPr/>
        </p:nvSpPr>
        <p:spPr>
          <a:xfrm>
            <a:off x="1072802" y="4291596"/>
            <a:ext cx="5745484" cy="523220"/>
          </a:xfrm>
          <a:prstGeom prst="rect">
            <a:avLst/>
          </a:prstGeom>
        </p:spPr>
        <p:txBody>
          <a:bodyPr wrap="none">
            <a:spAutoFit/>
          </a:bodyPr>
          <a:lstStyle/>
          <a:p>
            <a:pPr lvl="0" algn="ctr">
              <a:defRPr/>
            </a:pPr>
            <a:r>
              <a:rPr lang="en-US" altLang="ja-JP" sz="2800" dirty="0">
                <a:solidFill>
                  <a:prstClr val="black"/>
                </a:solidFill>
              </a:rPr>
              <a:t>{ x </a:t>
            </a:r>
            <a:r>
              <a:rPr lang="en-US" altLang="ja-JP" sz="2800" dirty="0">
                <a:solidFill>
                  <a:prstClr val="black"/>
                </a:solidFill>
                <a:sym typeface="Symbol"/>
              </a:rPr>
              <a:t> 0 } </a:t>
            </a:r>
            <a:r>
              <a:rPr lang="en-US" altLang="ja-JP" sz="2800" b="1" dirty="0">
                <a:solidFill>
                  <a:prstClr val="black"/>
                </a:solidFill>
                <a:sym typeface="Symbol"/>
              </a:rPr>
              <a:t>while</a:t>
            </a:r>
            <a:r>
              <a:rPr lang="en-US" altLang="ja-JP" sz="2800" dirty="0">
                <a:solidFill>
                  <a:prstClr val="black"/>
                </a:solidFill>
                <a:sym typeface="Symbol"/>
              </a:rPr>
              <a:t> x &gt; 0 </a:t>
            </a:r>
            <a:r>
              <a:rPr lang="en-US" altLang="ja-JP" sz="2800" b="1" dirty="0">
                <a:solidFill>
                  <a:prstClr val="black"/>
                </a:solidFill>
                <a:sym typeface="Symbol"/>
              </a:rPr>
              <a:t>do</a:t>
            </a:r>
            <a:r>
              <a:rPr lang="en-US" altLang="ja-JP" sz="2800" dirty="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29542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3784608"/>
            <a:ext cx="9253181" cy="461665"/>
          </a:xfrm>
          <a:prstGeom prst="rect">
            <a:avLst/>
          </a:prstGeom>
        </p:spPr>
        <p:txBody>
          <a:bodyPr wrap="square">
            <a:spAutoFit/>
          </a:bodyPr>
          <a:lstStyle/>
          <a:p>
            <a:pPr lvl="0" algn="ctr">
              <a:defRPr/>
            </a:pPr>
            <a:r>
              <a:rPr lang="en-US" altLang="ja-JP" sz="2400" dirty="0">
                <a:solidFill>
                  <a:prstClr val="black"/>
                </a:solidFill>
              </a:rPr>
              <a:t>{ x </a:t>
            </a:r>
            <a:r>
              <a:rPr lang="en-US" altLang="ja-JP" sz="2400" dirty="0">
                <a:solidFill>
                  <a:prstClr val="black"/>
                </a:solidFill>
                <a:sym typeface="Symbol"/>
              </a:rPr>
              <a:t> 0 } </a:t>
            </a:r>
            <a:r>
              <a:rPr lang="en-US" altLang="ja-JP" sz="2400" b="1" dirty="0">
                <a:solidFill>
                  <a:prstClr val="black"/>
                </a:solidFill>
                <a:sym typeface="Symbol"/>
              </a:rPr>
              <a:t>while</a:t>
            </a:r>
            <a:r>
              <a:rPr lang="en-US" altLang="ja-JP" sz="2400" dirty="0">
                <a:solidFill>
                  <a:prstClr val="black"/>
                </a:solidFill>
                <a:sym typeface="Symbol"/>
              </a:rPr>
              <a:t> x &gt; 0 </a:t>
            </a:r>
            <a:r>
              <a:rPr lang="en-US" altLang="ja-JP" sz="2400" b="1" dirty="0">
                <a:solidFill>
                  <a:prstClr val="black"/>
                </a:solidFill>
                <a:sym typeface="Symbol"/>
              </a:rPr>
              <a:t>do</a:t>
            </a:r>
            <a:r>
              <a:rPr lang="en-US" altLang="ja-JP" sz="2400" dirty="0">
                <a:solidFill>
                  <a:prstClr val="black"/>
                </a:solidFill>
                <a:sym typeface="Symbol"/>
              </a:rPr>
              <a:t> x := x – 1 { x  0   x &gt; 0}, </a:t>
            </a:r>
            <a:r>
              <a:rPr lang="ja-JP" altLang="en-US" sz="2400" dirty="0">
                <a:solidFill>
                  <a:prstClr val="black"/>
                </a:solidFill>
                <a:sym typeface="Symbol"/>
              </a:rPr>
              <a:t> </a:t>
            </a:r>
            <a:r>
              <a:rPr lang="en-US" altLang="ja-JP" sz="2400" dirty="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369492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191985"/>
            <a:ext cx="4278312" cy="461665"/>
          </a:xfrm>
          <a:prstGeom prst="rect">
            <a:avLst/>
          </a:prstGeom>
        </p:spPr>
        <p:txBody>
          <a:bodyPr wrap="square">
            <a:spAutoFit/>
          </a:bodyPr>
          <a:lstStyle/>
          <a:p>
            <a:r>
              <a:rPr lang="en-US" altLang="ja-JP" sz="2400" dirty="0">
                <a:solidFill>
                  <a:prstClr val="black"/>
                </a:solidFill>
              </a:rPr>
              <a:t>{ x </a:t>
            </a:r>
            <a:r>
              <a:rPr lang="en-US" altLang="ja-JP" sz="2400" dirty="0">
                <a:solidFill>
                  <a:prstClr val="black"/>
                </a:solidFill>
                <a:sym typeface="Symbol"/>
              </a:rPr>
              <a:t> 0  x &gt; 0}  x := x – 1 { x  0 }</a:t>
            </a:r>
            <a:endParaRPr lang="ja-JP" altLang="en-US" dirty="0"/>
          </a:p>
        </p:txBody>
      </p:sp>
      <p:cxnSp>
        <p:nvCxnSpPr>
          <p:cNvPr id="21" name="直線コネクタ 20"/>
          <p:cNvCxnSpPr/>
          <p:nvPr/>
        </p:nvCxnSpPr>
        <p:spPr>
          <a:xfrm flipV="1">
            <a:off x="261580" y="312173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572223"/>
            <a:ext cx="3525621" cy="461665"/>
          </a:xfrm>
          <a:prstGeom prst="rect">
            <a:avLst/>
          </a:prstGeom>
        </p:spPr>
        <p:txBody>
          <a:bodyPr wrap="square">
            <a:spAutoFit/>
          </a:bodyPr>
          <a:lstStyle/>
          <a:p>
            <a:r>
              <a:rPr lang="en-US" altLang="ja-JP" sz="2400" dirty="0">
                <a:solidFill>
                  <a:prstClr val="black"/>
                </a:solidFill>
              </a:rPr>
              <a:t>{ x-1 </a:t>
            </a:r>
            <a:r>
              <a:rPr lang="en-US" altLang="ja-JP" sz="2400" dirty="0">
                <a:solidFill>
                  <a:prstClr val="black"/>
                </a:solidFill>
                <a:sym typeface="Symbol"/>
              </a:rPr>
              <a:t> 0 } x := x – 1 { x  0 }</a:t>
            </a:r>
            <a:endParaRPr lang="ja-JP" altLang="en-US" dirty="0"/>
          </a:p>
        </p:txBody>
      </p:sp>
      <p:sp>
        <p:nvSpPr>
          <p:cNvPr id="23" name="正方形/長方形 22"/>
          <p:cNvSpPr/>
          <p:nvPr/>
        </p:nvSpPr>
        <p:spPr>
          <a:xfrm>
            <a:off x="191072" y="2571972"/>
            <a:ext cx="3183885" cy="461665"/>
          </a:xfrm>
          <a:prstGeom prst="rect">
            <a:avLst/>
          </a:prstGeom>
        </p:spPr>
        <p:txBody>
          <a:bodyPr wrap="none">
            <a:spAutoFit/>
          </a:bodyPr>
          <a:lstStyle/>
          <a:p>
            <a:r>
              <a:rPr lang="en-US" altLang="ja-JP" sz="2400" dirty="0">
                <a:solidFill>
                  <a:prstClr val="black"/>
                </a:solidFill>
              </a:rPr>
              <a:t>x </a:t>
            </a:r>
            <a:r>
              <a:rPr lang="en-US" altLang="ja-JP" sz="2400" dirty="0">
                <a:solidFill>
                  <a:prstClr val="black"/>
                </a:solidFill>
                <a:sym typeface="Symbol"/>
              </a:rPr>
              <a:t> 0  x &gt; 0  x-1  0,  </a:t>
            </a:r>
            <a:endParaRPr lang="ja-JP" altLang="en-US" sz="2400" dirty="0"/>
          </a:p>
        </p:txBody>
      </p:sp>
      <p:cxnSp>
        <p:nvCxnSpPr>
          <p:cNvPr id="49" name="直線コネクタ 48"/>
          <p:cNvCxnSpPr/>
          <p:nvPr/>
        </p:nvCxnSpPr>
        <p:spPr>
          <a:xfrm flipV="1">
            <a:off x="3184477" y="253488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4909589"/>
            <a:ext cx="2019142" cy="461665"/>
          </a:xfrm>
          <a:prstGeom prst="rect">
            <a:avLst/>
          </a:prstGeom>
          <a:noFill/>
        </p:spPr>
        <p:txBody>
          <a:bodyPr wrap="none" rtlCol="0">
            <a:spAutoFit/>
          </a:bodyPr>
          <a:lstStyle/>
          <a:p>
            <a:r>
              <a:rPr kumimoji="1" lang="en-US" altLang="ja-JP" sz="2400" dirty="0"/>
              <a:t>(consequence)</a:t>
            </a:r>
            <a:endParaRPr kumimoji="1" lang="ja-JP" altLang="en-US" sz="2400" dirty="0"/>
          </a:p>
        </p:txBody>
      </p:sp>
      <p:sp>
        <p:nvSpPr>
          <p:cNvPr id="55" name="テキスト ボックス 54"/>
          <p:cNvSpPr txBox="1"/>
          <p:nvPr/>
        </p:nvSpPr>
        <p:spPr>
          <a:xfrm>
            <a:off x="6020499" y="3431696"/>
            <a:ext cx="1047082" cy="461665"/>
          </a:xfrm>
          <a:prstGeom prst="rect">
            <a:avLst/>
          </a:prstGeom>
          <a:noFill/>
        </p:spPr>
        <p:txBody>
          <a:bodyPr wrap="none" rtlCol="0">
            <a:spAutoFit/>
          </a:bodyPr>
          <a:lstStyle/>
          <a:p>
            <a:r>
              <a:rPr kumimoji="1" lang="en-US" altLang="ja-JP" sz="2400" dirty="0"/>
              <a:t>(while)</a:t>
            </a:r>
            <a:endParaRPr kumimoji="1" lang="ja-JP" altLang="en-US" sz="2400" dirty="0"/>
          </a:p>
        </p:txBody>
      </p:sp>
      <p:sp>
        <p:nvSpPr>
          <p:cNvPr id="57" name="テキスト ボックス 56"/>
          <p:cNvSpPr txBox="1"/>
          <p:nvPr/>
        </p:nvSpPr>
        <p:spPr>
          <a:xfrm>
            <a:off x="6656894" y="2860765"/>
            <a:ext cx="2019142" cy="461665"/>
          </a:xfrm>
          <a:prstGeom prst="rect">
            <a:avLst/>
          </a:prstGeom>
          <a:noFill/>
        </p:spPr>
        <p:txBody>
          <a:bodyPr wrap="none" rtlCol="0">
            <a:spAutoFit/>
          </a:bodyPr>
          <a:lstStyle/>
          <a:p>
            <a:r>
              <a:rPr kumimoji="1" lang="en-US" altLang="ja-JP" sz="2400" dirty="0"/>
              <a:t>(consequence)</a:t>
            </a:r>
            <a:endParaRPr kumimoji="1" lang="ja-JP" altLang="en-US" sz="2400" dirty="0"/>
          </a:p>
        </p:txBody>
      </p:sp>
      <p:sp>
        <p:nvSpPr>
          <p:cNvPr id="63" name="テキスト ボックス 62"/>
          <p:cNvSpPr txBox="1"/>
          <p:nvPr/>
        </p:nvSpPr>
        <p:spPr>
          <a:xfrm>
            <a:off x="6693174" y="2285279"/>
            <a:ext cx="1796004" cy="461665"/>
          </a:xfrm>
          <a:prstGeom prst="rect">
            <a:avLst/>
          </a:prstGeom>
          <a:noFill/>
        </p:spPr>
        <p:txBody>
          <a:bodyPr wrap="none" rtlCol="0">
            <a:spAutoFit/>
          </a:bodyPr>
          <a:lstStyle/>
          <a:p>
            <a:r>
              <a:rPr kumimoji="1" lang="en-US" altLang="ja-JP" sz="2400" dirty="0"/>
              <a:t>(assignment)</a:t>
            </a:r>
            <a:endParaRPr kumimoji="1" lang="ja-JP" altLang="en-US" sz="2400" dirty="0"/>
          </a:p>
        </p:txBody>
      </p:sp>
      <p:sp>
        <p:nvSpPr>
          <p:cNvPr id="64" name="下矢印 63"/>
          <p:cNvSpPr/>
          <p:nvPr/>
        </p:nvSpPr>
        <p:spPr>
          <a:xfrm rot="10800000">
            <a:off x="8366074" y="430908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62056" y="5409507"/>
            <a:ext cx="8897278" cy="1384995"/>
          </a:xfrm>
          <a:prstGeom prst="rect">
            <a:avLst/>
          </a:prstGeom>
        </p:spPr>
        <p:txBody>
          <a:bodyPr wrap="square">
            <a:spAutoFit/>
          </a:bodyPr>
          <a:lstStyle/>
          <a:p>
            <a:r>
              <a:rPr lang="ja-JP" altLang="en-US" sz="2800" dirty="0">
                <a:sym typeface="Symbol"/>
              </a:rPr>
              <a:t>（補足</a:t>
            </a:r>
            <a:r>
              <a:rPr lang="en-US" altLang="ja-JP" sz="2800" dirty="0">
                <a:sym typeface="Symbol"/>
              </a:rPr>
              <a:t>1</a:t>
            </a:r>
            <a:r>
              <a:rPr lang="ja-JP" altLang="en-US" sz="2800" dirty="0">
                <a:sym typeface="Symbol"/>
              </a:rPr>
              <a:t>）</a:t>
            </a:r>
            <a:r>
              <a:rPr lang="en-US" altLang="ja-JP" sz="2800" dirty="0">
                <a:sym typeface="Symbol"/>
              </a:rPr>
              <a:t>1</a:t>
            </a:r>
            <a:r>
              <a:rPr lang="ja-JP" altLang="en-US" sz="2800" dirty="0">
                <a:sym typeface="Symbol"/>
              </a:rPr>
              <a:t>つの文に対して成り立つ</a:t>
            </a:r>
            <a:r>
              <a:rPr lang="en-US" altLang="ja-JP" sz="2800" dirty="0">
                <a:sym typeface="Symbol"/>
              </a:rPr>
              <a:t>Hoare triple</a:t>
            </a:r>
            <a:r>
              <a:rPr lang="ja-JP" altLang="en-US" sz="2800" dirty="0">
                <a:sym typeface="Symbol"/>
              </a:rPr>
              <a:t>は複数存在する。</a:t>
            </a:r>
            <a:endParaRPr lang="en-US" altLang="ja-JP" sz="2800" dirty="0">
              <a:sym typeface="Symbol"/>
            </a:endParaRPr>
          </a:p>
          <a:p>
            <a:r>
              <a:rPr lang="ja-JP" altLang="en-US" sz="2800" dirty="0">
                <a:sym typeface="Symbol"/>
              </a:rPr>
              <a:t>（補足</a:t>
            </a:r>
            <a:r>
              <a:rPr lang="en-US" altLang="ja-JP" sz="2800" dirty="0">
                <a:sym typeface="Symbol"/>
              </a:rPr>
              <a:t>2</a:t>
            </a:r>
            <a:r>
              <a:rPr lang="ja-JP" altLang="en-US" sz="2800" dirty="0">
                <a:sym typeface="Symbol"/>
              </a:rPr>
              <a:t>）</a:t>
            </a:r>
            <a:r>
              <a:rPr lang="en-US" altLang="ja-JP" sz="2800" dirty="0">
                <a:sym typeface="Symbol"/>
              </a:rPr>
              <a:t>consequence</a:t>
            </a:r>
            <a:r>
              <a:rPr lang="ja-JP" altLang="en-US" sz="2800" dirty="0">
                <a:sym typeface="Symbol"/>
              </a:rPr>
              <a:t>規則は一方だけの適用も可とする。</a:t>
            </a:r>
            <a:endParaRPr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複雑な例</a:t>
            </a:r>
          </a:p>
        </p:txBody>
      </p:sp>
      <p:sp>
        <p:nvSpPr>
          <p:cNvPr id="5" name="テキスト ボックス 4"/>
          <p:cNvSpPr txBox="1"/>
          <p:nvPr/>
        </p:nvSpPr>
        <p:spPr>
          <a:xfrm>
            <a:off x="2279177" y="1400120"/>
            <a:ext cx="3635932" cy="2677656"/>
          </a:xfrm>
          <a:prstGeom prst="rect">
            <a:avLst/>
          </a:prstGeom>
          <a:noFill/>
        </p:spPr>
        <p:txBody>
          <a:bodyPr wrap="none" rtlCol="0">
            <a:spAutoFit/>
          </a:bodyPr>
          <a:lstStyle/>
          <a:p>
            <a:r>
              <a:rPr kumimoji="1" lang="en-US" altLang="ja-JP" sz="2800" dirty="0"/>
              <a:t>r := x; </a:t>
            </a:r>
          </a:p>
          <a:p>
            <a:r>
              <a:rPr kumimoji="1" lang="en-US" altLang="ja-JP" sz="2800" dirty="0"/>
              <a:t>q := 0; </a:t>
            </a:r>
          </a:p>
          <a:p>
            <a:r>
              <a:rPr lang="en-US" altLang="ja-JP" sz="2800" dirty="0"/>
              <a:t>while y </a:t>
            </a:r>
            <a:r>
              <a:rPr lang="en-US" altLang="ja-JP" sz="2800" dirty="0">
                <a:sym typeface="Symbol"/>
              </a:rPr>
              <a:t> r do </a:t>
            </a:r>
          </a:p>
          <a:p>
            <a:r>
              <a:rPr lang="en-US" altLang="ja-JP" sz="2800" dirty="0">
                <a:sym typeface="Symbol"/>
              </a:rPr>
              <a:t>     begin</a:t>
            </a:r>
          </a:p>
          <a:p>
            <a:r>
              <a:rPr lang="en-US" altLang="ja-JP" sz="2800" dirty="0">
                <a:sym typeface="Symbol"/>
              </a:rPr>
              <a:t>         r := r – y; q := 1 + q</a:t>
            </a:r>
          </a:p>
          <a:p>
            <a:r>
              <a:rPr lang="en-US" altLang="ja-JP" sz="2800" dirty="0">
                <a:sym typeface="Symbol"/>
              </a:rPr>
              <a:t>     end</a:t>
            </a:r>
            <a:endParaRPr kumimoji="1" lang="ja-JP" altLang="en-US" sz="2800" dirty="0"/>
          </a:p>
        </p:txBody>
      </p:sp>
      <p:sp>
        <p:nvSpPr>
          <p:cNvPr id="6" name="テキスト ボックス 5"/>
          <p:cNvSpPr txBox="1"/>
          <p:nvPr/>
        </p:nvSpPr>
        <p:spPr>
          <a:xfrm>
            <a:off x="955344" y="2186468"/>
            <a:ext cx="1021433" cy="523220"/>
          </a:xfrm>
          <a:prstGeom prst="rect">
            <a:avLst/>
          </a:prstGeom>
          <a:noFill/>
        </p:spPr>
        <p:txBody>
          <a:bodyPr wrap="none" rtlCol="0">
            <a:spAutoFit/>
          </a:bodyPr>
          <a:lstStyle/>
          <a:p>
            <a:r>
              <a:rPr kumimoji="1" lang="en-US" altLang="ja-JP" sz="2800" dirty="0"/>
              <a:t>{true}</a:t>
            </a:r>
            <a:endParaRPr kumimoji="1" lang="ja-JP" altLang="en-US" sz="2800" dirty="0"/>
          </a:p>
        </p:txBody>
      </p:sp>
      <p:sp>
        <p:nvSpPr>
          <p:cNvPr id="7" name="テキスト ボックス 6"/>
          <p:cNvSpPr txBox="1"/>
          <p:nvPr/>
        </p:nvSpPr>
        <p:spPr>
          <a:xfrm>
            <a:off x="6196084" y="1681501"/>
            <a:ext cx="2284600" cy="1384995"/>
          </a:xfrm>
          <a:prstGeom prst="rect">
            <a:avLst/>
          </a:prstGeom>
          <a:noFill/>
        </p:spPr>
        <p:txBody>
          <a:bodyPr wrap="none" rtlCol="0">
            <a:spAutoFit/>
          </a:bodyPr>
          <a:lstStyle/>
          <a:p>
            <a:r>
              <a:rPr kumimoji="1" lang="en-US" altLang="ja-JP" sz="2800" dirty="0"/>
              <a:t>{ </a:t>
            </a:r>
            <a:r>
              <a:rPr kumimoji="1" lang="en-US" altLang="ja-JP" sz="2800" dirty="0">
                <a:sym typeface="Symbol"/>
              </a:rPr>
              <a:t> y</a:t>
            </a:r>
            <a:r>
              <a:rPr lang="en-US" altLang="ja-JP" sz="2800" dirty="0">
                <a:sym typeface="Symbol"/>
              </a:rPr>
              <a:t>  r </a:t>
            </a:r>
          </a:p>
          <a:p>
            <a:r>
              <a:rPr lang="en-US" altLang="ja-JP" sz="2800" dirty="0">
                <a:sym typeface="Symbol"/>
              </a:rPr>
              <a:t>     </a:t>
            </a:r>
          </a:p>
          <a:p>
            <a:r>
              <a:rPr lang="en-US" altLang="ja-JP" sz="2800" dirty="0">
                <a:sym typeface="Symbol"/>
              </a:rPr>
              <a:t>  x = r + y * q }</a:t>
            </a:r>
            <a:r>
              <a:rPr kumimoji="1" lang="en-US" altLang="ja-JP" sz="2800" dirty="0">
                <a:sym typeface="Symbol"/>
              </a:rPr>
              <a:t> </a:t>
            </a:r>
            <a:endParaRPr kumimoji="1" lang="ja-JP" altLang="en-US" sz="2800" dirty="0"/>
          </a:p>
        </p:txBody>
      </p:sp>
      <p:sp>
        <p:nvSpPr>
          <p:cNvPr id="8" name="テキスト ボックス 7"/>
          <p:cNvSpPr txBox="1"/>
          <p:nvPr/>
        </p:nvSpPr>
        <p:spPr>
          <a:xfrm>
            <a:off x="1323833" y="5650173"/>
            <a:ext cx="5618910" cy="523220"/>
          </a:xfrm>
          <a:prstGeom prst="rect">
            <a:avLst/>
          </a:prstGeom>
          <a:noFill/>
        </p:spPr>
        <p:txBody>
          <a:bodyPr wrap="none" rtlCol="0">
            <a:spAutoFit/>
          </a:bodyPr>
          <a:lstStyle/>
          <a:p>
            <a:r>
              <a:rPr lang="ja-JP" altLang="en-US" sz="2800" dirty="0"/>
              <a:t>この</a:t>
            </a:r>
            <a:r>
              <a:rPr lang="en-US" altLang="ja-JP" sz="2800" dirty="0"/>
              <a:t>Hoare triple</a:t>
            </a:r>
            <a:r>
              <a:rPr lang="ja-JP" altLang="en-US" sz="2800" dirty="0"/>
              <a:t>の導出は省略する。</a:t>
            </a:r>
            <a:endParaRPr kumimoji="1" lang="ja-JP" altLang="en-US" sz="2800" dirty="0"/>
          </a:p>
        </p:txBody>
      </p:sp>
      <p:sp>
        <p:nvSpPr>
          <p:cNvPr id="9" name="テキスト ボックス 8"/>
          <p:cNvSpPr txBox="1"/>
          <p:nvPr/>
        </p:nvSpPr>
        <p:spPr>
          <a:xfrm>
            <a:off x="974415" y="4313615"/>
            <a:ext cx="7506269" cy="1384995"/>
          </a:xfrm>
          <a:prstGeom prst="rect">
            <a:avLst/>
          </a:prstGeom>
          <a:noFill/>
        </p:spPr>
        <p:txBody>
          <a:bodyPr wrap="square" rtlCol="0">
            <a:spAutoFit/>
          </a:bodyPr>
          <a:lstStyle/>
          <a:p>
            <a:r>
              <a:rPr lang="ja-JP" altLang="en-US" sz="2800" dirty="0"/>
              <a:t>「このプログラムを実行すると、</a:t>
            </a:r>
            <a:r>
              <a:rPr lang="en-US" altLang="ja-JP" sz="2800" dirty="0"/>
              <a:t>x </a:t>
            </a:r>
            <a:r>
              <a:rPr lang="ja-JP" altLang="en-US" sz="2800" dirty="0"/>
              <a:t>を</a:t>
            </a:r>
            <a:r>
              <a:rPr lang="en-US" altLang="ja-JP" sz="2800" dirty="0"/>
              <a:t>y</a:t>
            </a:r>
            <a:r>
              <a:rPr lang="ja-JP" altLang="en-US" sz="2800" dirty="0"/>
              <a:t>で割ったときの商と余りが</a:t>
            </a:r>
            <a:r>
              <a:rPr lang="en-US" altLang="ja-JP" sz="2800" dirty="0"/>
              <a:t>q</a:t>
            </a:r>
            <a:r>
              <a:rPr lang="ja-JP" altLang="en-US" sz="2800" dirty="0"/>
              <a:t>と</a:t>
            </a:r>
            <a:r>
              <a:rPr lang="en-US" altLang="ja-JP" sz="2800" dirty="0"/>
              <a:t>r</a:t>
            </a:r>
            <a:r>
              <a:rPr lang="ja-JP" altLang="en-US" sz="2800" dirty="0"/>
              <a:t>に格納された状態になる」ということをこの</a:t>
            </a:r>
            <a:r>
              <a:rPr lang="en-US" altLang="ja-JP" sz="2800" dirty="0"/>
              <a:t>Hoare triple</a:t>
            </a:r>
            <a:r>
              <a:rPr lang="ja-JP" altLang="en-US" sz="2800" dirty="0"/>
              <a:t>は表している。</a:t>
            </a:r>
            <a:endParaRPr kumimoji="1" lang="ja-JP" altLang="en-US" sz="2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a:t>Assertion</a:t>
            </a:r>
            <a:r>
              <a:rPr lang="ja-JP" altLang="en-US" dirty="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a:t>Assertion</a:t>
            </a:r>
            <a:r>
              <a:rPr kumimoji="1" lang="ja-JP" altLang="en-US" sz="2800" dirty="0"/>
              <a:t>に何を書いてよいかを定める必要があるが、</a:t>
            </a:r>
            <a:r>
              <a:rPr lang="ja-JP" altLang="en-US" sz="2800" dirty="0"/>
              <a:t>この講義では、</a:t>
            </a:r>
            <a:r>
              <a:rPr lang="en-US" altLang="ja-JP" sz="2800" dirty="0"/>
              <a:t>true, false, </a:t>
            </a:r>
            <a:r>
              <a:rPr lang="ja-JP" altLang="en-US" sz="2800" dirty="0"/>
              <a:t>変数、整数、和</a:t>
            </a:r>
            <a:r>
              <a:rPr lang="en-US" altLang="ja-JP" sz="2800" dirty="0"/>
              <a:t>(+), </a:t>
            </a:r>
            <a:r>
              <a:rPr lang="ja-JP" altLang="en-US" sz="2800" dirty="0"/>
              <a:t>差</a:t>
            </a:r>
            <a:r>
              <a:rPr lang="en-US" altLang="ja-JP" sz="2800" dirty="0"/>
              <a:t>(-), </a:t>
            </a:r>
            <a:r>
              <a:rPr lang="ja-JP" altLang="en-US" sz="2800" dirty="0"/>
              <a:t>積</a:t>
            </a:r>
            <a:r>
              <a:rPr lang="en-US" altLang="ja-JP" sz="2800" dirty="0"/>
              <a:t>(*)</a:t>
            </a:r>
            <a:r>
              <a:rPr lang="ja-JP" altLang="en-US" sz="2800" dirty="0" err="1"/>
              <a:t>、</a:t>
            </a:r>
            <a:r>
              <a:rPr lang="ja-JP" altLang="en-US" sz="2800" dirty="0"/>
              <a:t>大小比較</a:t>
            </a:r>
            <a:r>
              <a:rPr lang="en-US" altLang="ja-JP" sz="2800" dirty="0"/>
              <a:t>(&lt;, &gt;, </a:t>
            </a:r>
            <a:r>
              <a:rPr lang="en-US" altLang="ja-JP" sz="2800" dirty="0">
                <a:sym typeface="Symbol"/>
              </a:rPr>
              <a:t>, </a:t>
            </a:r>
            <a:r>
              <a:rPr lang="en-US" altLang="ja-JP" sz="2800" dirty="0">
                <a:solidFill>
                  <a:prstClr val="black"/>
                </a:solidFill>
                <a:sym typeface="Symbol"/>
              </a:rPr>
              <a:t></a:t>
            </a:r>
            <a:r>
              <a:rPr lang="en-US" altLang="ja-JP" sz="2800" dirty="0"/>
              <a:t>)</a:t>
            </a:r>
            <a:r>
              <a:rPr lang="ja-JP" altLang="en-US" sz="2800" dirty="0" err="1"/>
              <a:t>、</a:t>
            </a:r>
            <a:r>
              <a:rPr lang="ja-JP" altLang="en-US" sz="2800" dirty="0"/>
              <a:t>等しさの判定</a:t>
            </a:r>
            <a:r>
              <a:rPr lang="en-US" altLang="ja-JP" sz="2800" dirty="0"/>
              <a:t>(=)</a:t>
            </a:r>
            <a:r>
              <a:rPr lang="ja-JP" altLang="en-US" sz="2800" dirty="0" err="1"/>
              <a:t>、</a:t>
            </a:r>
            <a:r>
              <a:rPr lang="ja-JP" altLang="en-US" sz="2800" dirty="0"/>
              <a:t>論理演算</a:t>
            </a:r>
            <a:r>
              <a:rPr lang="en-US" altLang="ja-JP" sz="2800" dirty="0"/>
              <a:t>(</a:t>
            </a:r>
            <a:r>
              <a:rPr lang="en-US" altLang="ja-JP" sz="2800" dirty="0">
                <a:sym typeface="Symbol"/>
              </a:rPr>
              <a:t>, , , </a:t>
            </a:r>
            <a:r>
              <a:rPr lang="en-US" altLang="ja-JP" sz="2800" dirty="0"/>
              <a:t>)</a:t>
            </a:r>
            <a:r>
              <a:rPr lang="ja-JP" altLang="en-US" sz="2800" dirty="0"/>
              <a:t>を使ってよいものとする。さらに</a:t>
            </a:r>
            <a:r>
              <a:rPr lang="ja-JP" altLang="en-US" sz="2800" dirty="0">
                <a:sym typeface="Symbol"/>
              </a:rPr>
              <a:t></a:t>
            </a:r>
            <a:r>
              <a:rPr lang="en-US" altLang="ja-JP" sz="2800" dirty="0">
                <a:sym typeface="Symbol"/>
              </a:rPr>
              <a:t>, </a:t>
            </a:r>
            <a:r>
              <a:rPr lang="ja-JP" altLang="en-US" sz="2800" dirty="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a:t>（参考文献１） </a:t>
            </a:r>
            <a:r>
              <a:rPr kumimoji="1" lang="en-US" altLang="ja-JP" sz="2800" dirty="0"/>
              <a:t>Glynn </a:t>
            </a:r>
            <a:r>
              <a:rPr kumimoji="1" lang="en-US" altLang="ja-JP" sz="2800" dirty="0" err="1"/>
              <a:t>Winskel</a:t>
            </a:r>
            <a:r>
              <a:rPr kumimoji="1" lang="en-US" altLang="ja-JP" sz="2800" dirty="0"/>
              <a:t>, “</a:t>
            </a:r>
            <a:r>
              <a:rPr kumimoji="1" lang="en-US" altLang="ja-JP" sz="2800" i="1" dirty="0"/>
              <a:t>The formal semantics of programming languages</a:t>
            </a:r>
            <a:r>
              <a:rPr kumimoji="1" lang="en-US" altLang="ja-JP" sz="2800" dirty="0"/>
              <a:t>”, 1993,</a:t>
            </a:r>
            <a:r>
              <a:rPr lang="ja-JP" altLang="en-US" sz="2800" dirty="0"/>
              <a:t> </a:t>
            </a:r>
            <a:r>
              <a:rPr lang="en-US" altLang="ja-JP" sz="2800" dirty="0"/>
              <a:t>MIT Press.  </a:t>
            </a:r>
            <a:r>
              <a:rPr lang="ja-JP" altLang="en-US" sz="2800" dirty="0"/>
              <a:t>の第</a:t>
            </a:r>
            <a:r>
              <a:rPr lang="en-US" altLang="ja-JP" sz="2800" dirty="0"/>
              <a:t>6</a:t>
            </a:r>
            <a:r>
              <a:rPr lang="ja-JP" altLang="en-US" sz="2800" dirty="0"/>
              <a:t>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a:t>（参考文献２）</a:t>
            </a:r>
            <a:r>
              <a:rPr lang="en-US" altLang="ja-JP" sz="2800" dirty="0"/>
              <a:t> C. A. R. Hoare, "An axiomatic basis for computer programming“, </a:t>
            </a:r>
            <a:r>
              <a:rPr lang="en-US" altLang="ja-JP" sz="2800" i="1" dirty="0"/>
              <a:t>Communications of the ACM</a:t>
            </a:r>
            <a:r>
              <a:rPr lang="en-US" altLang="ja-JP" sz="2800" dirty="0"/>
              <a:t>, 12(10):576–580,583, 1969.</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a:t>Hoare</a:t>
            </a:r>
            <a:r>
              <a:rPr kumimoji="1" lang="ja-JP" altLang="en-US" dirty="0"/>
              <a:t>論理の練習問題</a:t>
            </a:r>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a:t>以下の</a:t>
            </a:r>
            <a:r>
              <a:rPr lang="en-US" altLang="ja-JP" sz="2800" dirty="0"/>
              <a:t>Hoare Triple</a:t>
            </a:r>
            <a:r>
              <a:rPr lang="ja-JP" altLang="en-US" sz="2800" dirty="0"/>
              <a:t>を推論規則を使って導け。</a:t>
            </a:r>
            <a:endParaRPr lang="en-US" altLang="ja-JP" sz="2800" dirty="0"/>
          </a:p>
          <a:p>
            <a:pPr marL="514350" indent="-514350">
              <a:buFontTx/>
              <a:buAutoNum type="arabicParenBoth"/>
            </a:pPr>
            <a:r>
              <a:rPr lang="en-US" altLang="ja-JP" sz="2800" dirty="0"/>
              <a:t>{ a = 0 }  a := a + 2  { a = 2 }</a:t>
            </a:r>
          </a:p>
          <a:p>
            <a:pPr marL="514350" indent="-514350">
              <a:buFontTx/>
              <a:buAutoNum type="arabicParenBoth"/>
            </a:pPr>
            <a:r>
              <a:rPr lang="en-US" altLang="ja-JP" sz="2800" dirty="0"/>
              <a:t>{ a = 3 } </a:t>
            </a:r>
            <a:r>
              <a:rPr lang="en-US" altLang="ja-JP" sz="2800" b="1" dirty="0"/>
              <a:t>if</a:t>
            </a:r>
            <a:r>
              <a:rPr lang="en-US" altLang="ja-JP" sz="2800" dirty="0"/>
              <a:t>  a = 3  </a:t>
            </a:r>
            <a:r>
              <a:rPr lang="en-US" altLang="ja-JP" sz="2800" b="1" dirty="0"/>
              <a:t>then</a:t>
            </a:r>
            <a:r>
              <a:rPr lang="en-US" altLang="ja-JP" sz="2800" dirty="0"/>
              <a:t>  a := a + 1</a:t>
            </a:r>
            <a:r>
              <a:rPr lang="en-US" altLang="ja-JP" sz="2800" baseline="-25000" dirty="0"/>
              <a:t>  </a:t>
            </a:r>
            <a:r>
              <a:rPr lang="en-US" altLang="ja-JP" sz="2800" b="1" dirty="0"/>
              <a:t>else</a:t>
            </a:r>
            <a:r>
              <a:rPr lang="en-US" altLang="ja-JP" sz="2800" b="1" baseline="-25000" dirty="0"/>
              <a:t> </a:t>
            </a:r>
            <a:r>
              <a:rPr lang="en-US" altLang="ja-JP" sz="2800" baseline="-25000" dirty="0"/>
              <a:t> </a:t>
            </a:r>
            <a:r>
              <a:rPr lang="en-US" altLang="ja-JP" sz="2800" dirty="0"/>
              <a:t>a := a – 1 { a = 4 }</a:t>
            </a:r>
            <a:endParaRPr lang="ja-JP" altLang="en-US" sz="2800" dirty="0"/>
          </a:p>
          <a:p>
            <a:pPr marL="514350" indent="-514350">
              <a:buAutoNum type="arabicParenBoth"/>
            </a:pPr>
            <a:r>
              <a:rPr lang="en-US" altLang="ja-JP" sz="2800" dirty="0"/>
              <a:t>{ a = 1 } </a:t>
            </a:r>
            <a:r>
              <a:rPr lang="en-US" altLang="ja-JP" sz="2800" b="1" dirty="0"/>
              <a:t>while</a:t>
            </a:r>
            <a:r>
              <a:rPr lang="en-US" altLang="ja-JP" sz="2800" dirty="0"/>
              <a:t> a &lt; 5 </a:t>
            </a:r>
            <a:r>
              <a:rPr lang="en-US" altLang="ja-JP" sz="2800" b="1" dirty="0"/>
              <a:t>do</a:t>
            </a:r>
            <a:r>
              <a:rPr lang="en-US" altLang="ja-JP" sz="2800" dirty="0"/>
              <a:t> a := a + 1 </a:t>
            </a:r>
            <a:r>
              <a:rPr lang="ja-JP" altLang="en-US" sz="2800" dirty="0"/>
              <a:t> </a:t>
            </a:r>
            <a:r>
              <a:rPr lang="en-US" altLang="ja-JP" sz="2800" dirty="0"/>
              <a:t>{ a = 5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a:t>基本データ型は範囲は有限であり、それに対応した規則が実際には必要である。</a:t>
            </a:r>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a:t>（例）</a:t>
            </a:r>
            <a:r>
              <a:rPr lang="en-US" altLang="ja-JP" sz="2800" dirty="0"/>
              <a:t>0</a:t>
            </a:r>
            <a:r>
              <a:rPr lang="ja-JP" altLang="en-US" sz="2800" dirty="0"/>
              <a:t>以上の整数の型の場合のオーバーフローの扱い</a:t>
            </a:r>
            <a:endParaRPr lang="en-US" altLang="ja-JP" sz="2800" dirty="0"/>
          </a:p>
          <a:p>
            <a:r>
              <a:rPr kumimoji="1" lang="en-US" altLang="ja-JP" sz="2800" dirty="0"/>
              <a:t> (1) </a:t>
            </a:r>
            <a:r>
              <a:rPr kumimoji="1" lang="ja-JP" altLang="en-US" sz="2800" dirty="0"/>
              <a:t>オーバーフローが起こるとプログラムがエラーで終了する。</a:t>
            </a:r>
            <a:r>
              <a:rPr lang="en-US" altLang="ja-JP" sz="2800" dirty="0"/>
              <a:t> </a:t>
            </a:r>
          </a:p>
          <a:p>
            <a:r>
              <a:rPr kumimoji="1" lang="en-US" altLang="ja-JP" sz="2800" dirty="0"/>
              <a:t>           </a:t>
            </a:r>
            <a:r>
              <a:rPr kumimoji="1" lang="en-US" altLang="ja-JP" sz="2800" dirty="0">
                <a:sym typeface="Symbol"/>
              </a:rPr>
              <a:t> x (x = max + 1)</a:t>
            </a:r>
            <a:endParaRPr kumimoji="1" lang="en-US" altLang="ja-JP" sz="2800" dirty="0"/>
          </a:p>
          <a:p>
            <a:r>
              <a:rPr lang="en-US" altLang="ja-JP" sz="2800" dirty="0"/>
              <a:t> (2) </a:t>
            </a:r>
            <a:r>
              <a:rPr lang="ja-JP" altLang="en-US" sz="2800" dirty="0"/>
              <a:t>オーバーフローの場合は最大値を値とする。</a:t>
            </a:r>
            <a:endParaRPr lang="en-US" altLang="ja-JP" sz="2800" dirty="0"/>
          </a:p>
          <a:p>
            <a:r>
              <a:rPr lang="en-US" altLang="ja-JP" sz="2800" dirty="0"/>
              <a:t>          max + 1 = max</a:t>
            </a:r>
          </a:p>
          <a:p>
            <a:r>
              <a:rPr kumimoji="1" lang="en-US" altLang="ja-JP" sz="2800" dirty="0"/>
              <a:t> (3) </a:t>
            </a:r>
            <a:r>
              <a:rPr kumimoji="1" lang="ja-JP" altLang="en-US" sz="2800" dirty="0"/>
              <a:t>最大値での割り算の余りとする。</a:t>
            </a:r>
            <a:endParaRPr kumimoji="1" lang="en-US" altLang="ja-JP" sz="2800" dirty="0"/>
          </a:p>
          <a:p>
            <a:r>
              <a:rPr lang="en-US" altLang="ja-JP" sz="2800" dirty="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1263</TotalTime>
  <Words>2638</Words>
  <Application>Microsoft Macintosh PowerPoint</Application>
  <PresentationFormat>画面に合わせる (4:3)</PresentationFormat>
  <Paragraphs>214</Paragraphs>
  <Slides>23</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23</vt:i4>
      </vt:variant>
    </vt:vector>
  </HeadingPairs>
  <TitlesOfParts>
    <vt:vector size="27" baseType="lpstr">
      <vt:lpstr>Arial</vt:lpstr>
      <vt:lpstr>Calibri</vt:lpstr>
      <vt:lpstr>Symbol</vt:lpstr>
      <vt:lpstr>Office テーマ</vt:lpstr>
      <vt:lpstr>プログラミング言語論 第3回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表明（assertion）</vt:lpstr>
      <vt:lpstr>不変表明（invariant）</vt:lpstr>
      <vt:lpstr>表明の例</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参考</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Isao Sasano</cp:lastModifiedBy>
  <cp:revision>613</cp:revision>
  <dcterms:created xsi:type="dcterms:W3CDTF">2009-10-18T07:18:34Z</dcterms:created>
  <dcterms:modified xsi:type="dcterms:W3CDTF">2026-09-28T12:07:39Z</dcterms:modified>
</cp:coreProperties>
</file>