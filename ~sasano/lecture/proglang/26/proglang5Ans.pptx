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68" r:id="rId4"/>
    <p:sldId id="271" r:id="rId5"/>
    <p:sldId id="272" r:id="rId6"/>
    <p:sldId id="278" r:id="rId7"/>
    <p:sldId id="279" r:id="rId8"/>
    <p:sldId id="283" r:id="rId9"/>
    <p:sldId id="284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26"/>
  </p:normalViewPr>
  <p:slideViewPr>
    <p:cSldViewPr snapToGrid="0">
      <p:cViewPr varScale="1">
        <p:scale>
          <a:sx n="121" d="100"/>
          <a:sy n="121" d="100"/>
        </p:scale>
        <p:origin x="19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80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2F0947-2102-4407-AB99-F1F40C7FFFC5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EC3F88-AE40-4385-9B82-713F48DC2DA7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DBDCB-BB51-467F-A4B2-3D2863522DA5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8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第</a:t>
            </a:r>
            <a:r>
              <a:rPr lang="en-US" altLang="ja-JP" sz="3200" dirty="0"/>
              <a:t>5</a:t>
            </a:r>
            <a:r>
              <a:rPr kumimoji="1" lang="ja-JP" altLang="en-US" sz="3200" dirty="0"/>
              <a:t>回練習問題解答例</a:t>
            </a:r>
            <a:endParaRPr kumimoji="1" lang="en-US" altLang="ja-JP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14477" y="5099338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篠埜　</a:t>
            </a:r>
            <a:r>
              <a:rPr kumimoji="1" lang="ja-JP" altLang="en-US" sz="2800" dirty="0"/>
              <a:t>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練習問題</a:t>
            </a: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解答</a:t>
            </a:r>
          </a:p>
        </p:txBody>
      </p:sp>
      <p:sp>
        <p:nvSpPr>
          <p:cNvPr id="26627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65589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という算術式を評価する。</a:t>
            </a:r>
            <a:endParaRPr lang="en-US" altLang="ja-JP" sz="2800" b="0" dirty="0"/>
          </a:p>
        </p:txBody>
      </p:sp>
      <p:sp>
        <p:nvSpPr>
          <p:cNvPr id="26628" name="テキスト ボックス 6"/>
          <p:cNvSpPr txBox="1">
            <a:spLocks noChangeArrowheads="1"/>
          </p:cNvSpPr>
          <p:nvPr/>
        </p:nvSpPr>
        <p:spPr bwMode="auto">
          <a:xfrm>
            <a:off x="1978025" y="4143380"/>
            <a:ext cx="49199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((4 + Y) * (5 + Z)),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432 </a:t>
            </a:r>
            <a:endParaRPr lang="ja-JP" altLang="en-US" sz="2800" b="0" dirty="0"/>
          </a:p>
        </p:txBody>
      </p:sp>
      <p:cxnSp>
        <p:nvCxnSpPr>
          <p:cNvPr id="26629" name="直線コネクタ 10"/>
          <p:cNvCxnSpPr>
            <a:cxnSpLocks noChangeShapeType="1"/>
          </p:cNvCxnSpPr>
          <p:nvPr/>
        </p:nvCxnSpPr>
        <p:spPr bwMode="auto">
          <a:xfrm>
            <a:off x="928662" y="4143380"/>
            <a:ext cx="750093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0" name="テキスト ボックス 11"/>
          <p:cNvSpPr txBox="1">
            <a:spLocks noChangeArrowheads="1"/>
          </p:cNvSpPr>
          <p:nvPr/>
        </p:nvSpPr>
        <p:spPr bwMode="auto">
          <a:xfrm>
            <a:off x="1000125" y="3643314"/>
            <a:ext cx="31822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(4 + Y),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24</a:t>
            </a:r>
            <a:endParaRPr lang="ja-JP" altLang="en-US" sz="2800" b="0" dirty="0"/>
          </a:p>
        </p:txBody>
      </p:sp>
      <p:cxnSp>
        <p:nvCxnSpPr>
          <p:cNvPr id="26631" name="直線コネクタ 14"/>
          <p:cNvCxnSpPr>
            <a:cxnSpLocks noChangeShapeType="1"/>
          </p:cNvCxnSpPr>
          <p:nvPr/>
        </p:nvCxnSpPr>
        <p:spPr bwMode="auto">
          <a:xfrm>
            <a:off x="4722812" y="3714752"/>
            <a:ext cx="420690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2" name="テキスト ボックス 18"/>
          <p:cNvSpPr txBox="1">
            <a:spLocks noChangeArrowheads="1"/>
          </p:cNvSpPr>
          <p:nvPr/>
        </p:nvSpPr>
        <p:spPr bwMode="auto">
          <a:xfrm>
            <a:off x="4643438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5</a:t>
            </a:r>
            <a:endParaRPr lang="ja-JP" altLang="en-US" sz="2800" b="0" dirty="0"/>
          </a:p>
        </p:txBody>
      </p:sp>
      <p:sp>
        <p:nvSpPr>
          <p:cNvPr id="26633" name="テキスト ボックス 19"/>
          <p:cNvSpPr txBox="1">
            <a:spLocks noChangeArrowheads="1"/>
          </p:cNvSpPr>
          <p:nvPr/>
        </p:nvSpPr>
        <p:spPr bwMode="auto">
          <a:xfrm>
            <a:off x="6732586" y="3214686"/>
            <a:ext cx="21467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Z,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13</a:t>
            </a:r>
            <a:endParaRPr lang="ja-JP" altLang="en-US" sz="2800" b="0" dirty="0"/>
          </a:p>
        </p:txBody>
      </p:sp>
      <p:sp>
        <p:nvSpPr>
          <p:cNvPr id="26634" name="テキスト ボックス 12"/>
          <p:cNvSpPr txBox="1">
            <a:spLocks noChangeArrowheads="1"/>
          </p:cNvSpPr>
          <p:nvPr/>
        </p:nvSpPr>
        <p:spPr bwMode="auto">
          <a:xfrm>
            <a:off x="5357812" y="3643314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+ Z),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18</a:t>
            </a:r>
            <a:endParaRPr lang="ja-JP" altLang="en-US" sz="2800" b="0" dirty="0"/>
          </a:p>
        </p:txBody>
      </p:sp>
      <p:cxnSp>
        <p:nvCxnSpPr>
          <p:cNvPr id="26635" name="直線コネクタ 13"/>
          <p:cNvCxnSpPr>
            <a:cxnSpLocks noChangeShapeType="1"/>
          </p:cNvCxnSpPr>
          <p:nvPr/>
        </p:nvCxnSpPr>
        <p:spPr bwMode="auto">
          <a:xfrm>
            <a:off x="214282" y="3714752"/>
            <a:ext cx="4286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6" name="テキスト ボックス 15"/>
          <p:cNvSpPr txBox="1">
            <a:spLocks noChangeArrowheads="1"/>
          </p:cNvSpPr>
          <p:nvPr/>
        </p:nvSpPr>
        <p:spPr bwMode="auto">
          <a:xfrm>
            <a:off x="285720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</a:t>
            </a:r>
            <a:endParaRPr lang="ja-JP" altLang="en-US" sz="2800" b="0" dirty="0"/>
          </a:p>
        </p:txBody>
      </p:sp>
      <p:sp>
        <p:nvSpPr>
          <p:cNvPr id="26637" name="テキスト ボックス 16"/>
          <p:cNvSpPr txBox="1">
            <a:spLocks noChangeArrowheads="1"/>
          </p:cNvSpPr>
          <p:nvPr/>
        </p:nvSpPr>
        <p:spPr bwMode="auto">
          <a:xfrm>
            <a:off x="2357422" y="3214686"/>
            <a:ext cx="2108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Y,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20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練習問題</a:t>
            </a: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{ (X, 10), (Y, 20), (Z, 30) } </a:t>
            </a:r>
            <a:r>
              <a:rPr lang="ja-JP" altLang="en-US" sz="2800" dirty="0">
                <a:sym typeface="Symbol" pitchFamily="18" charset="2"/>
              </a:rPr>
              <a:t>のとき、</a:t>
            </a:r>
            <a:endParaRPr lang="en-US" altLang="ja-JP" sz="2800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>
                <a:sym typeface="Symbol" pitchFamily="18" charset="2"/>
              </a:rPr>
              <a:t>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[ 40 / X ] </a:t>
            </a:r>
            <a:r>
              <a:rPr lang="ja-JP" altLang="en-US" sz="2800" dirty="0">
                <a:sym typeface="Symbol" pitchFamily="18" charset="2"/>
              </a:rPr>
              <a:t> はどういう状態か。</a:t>
            </a:r>
            <a:endParaRPr lang="en-US" altLang="ja-JP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解答</a:t>
            </a:r>
          </a:p>
        </p:txBody>
      </p:sp>
      <p:sp>
        <p:nvSpPr>
          <p:cNvPr id="30723" name="コンテンツ プレースホルダ 13"/>
          <p:cNvSpPr>
            <a:spLocks noGrp="1"/>
          </p:cNvSpPr>
          <p:nvPr>
            <p:ph idx="1"/>
          </p:nvPr>
        </p:nvSpPr>
        <p:spPr>
          <a:xfrm>
            <a:off x="1314450" y="1643063"/>
            <a:ext cx="6100763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{ (X, 10), (Y, 20), (Z, 30) } </a:t>
            </a:r>
            <a:r>
              <a:rPr lang="ja-JP" altLang="en-US" sz="2800" dirty="0">
                <a:sym typeface="Symbol" pitchFamily="18" charset="2"/>
              </a:rPr>
              <a:t>のとき、</a:t>
            </a:r>
            <a:endParaRPr lang="en-US" altLang="ja-JP" sz="2800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>
                <a:sym typeface="Symbol" pitchFamily="18" charset="2"/>
              </a:rPr>
              <a:t>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[ 40 / X ] </a:t>
            </a:r>
            <a:r>
              <a:rPr lang="ja-JP" altLang="en-US" sz="2800" dirty="0">
                <a:sym typeface="Symbol" pitchFamily="18" charset="2"/>
              </a:rPr>
              <a:t> はどういう状態か。</a:t>
            </a:r>
            <a:endParaRPr lang="en-US" altLang="ja-JP" sz="2800" dirty="0"/>
          </a:p>
        </p:txBody>
      </p:sp>
      <p:sp>
        <p:nvSpPr>
          <p:cNvPr id="30724" name="テキスト ボックス 3"/>
          <p:cNvSpPr txBox="1">
            <a:spLocks noChangeArrowheads="1"/>
          </p:cNvSpPr>
          <p:nvPr/>
        </p:nvSpPr>
        <p:spPr bwMode="auto">
          <a:xfrm>
            <a:off x="1028700" y="3514725"/>
            <a:ext cx="70166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 X</a:t>
            </a:r>
            <a:r>
              <a:rPr lang="ja-JP" altLang="en-US" sz="2800" b="0" dirty="0"/>
              <a:t>以外の値はそのままで、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</a:t>
            </a:r>
            <a:r>
              <a:rPr lang="en-US" altLang="ja-JP" sz="2800" b="0" dirty="0"/>
              <a:t>40</a:t>
            </a:r>
            <a:r>
              <a:rPr lang="ja-JP" altLang="en-US" sz="2800" b="0" dirty="0"/>
              <a:t>なので、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    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X ]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= { (X, 40), (Y, 20), (Z, 30) } </a:t>
            </a:r>
          </a:p>
          <a:p>
            <a:r>
              <a:rPr lang="ja-JP" altLang="en-US" sz="2800" b="0" dirty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練習問題</a:t>
            </a: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56476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(Y + 2); Y = (Y + 30);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解答</a:t>
            </a:r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1000125" y="1571612"/>
            <a:ext cx="709383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(Y + 2); Y = (Y + 3); </a:t>
            </a:r>
            <a:r>
              <a:rPr lang="ja-JP" altLang="en-US" sz="2800" b="0" dirty="0"/>
              <a:t>を実行した</a:t>
            </a:r>
            <a:endParaRPr lang="en-US" altLang="ja-JP" sz="2800" b="0" dirty="0"/>
          </a:p>
          <a:p>
            <a:r>
              <a:rPr lang="ja-JP" altLang="en-US" sz="2800" b="0" dirty="0"/>
              <a:t>ら状態はどうなるか。規則を使って導出せよ。</a:t>
            </a:r>
            <a:endParaRPr lang="en-US" altLang="ja-JP" sz="2800" b="0" dirty="0"/>
          </a:p>
        </p:txBody>
      </p:sp>
      <p:sp>
        <p:nvSpPr>
          <p:cNvPr id="37892" name="テキスト ボックス 3"/>
          <p:cNvSpPr txBox="1">
            <a:spLocks noChangeArrowheads="1"/>
          </p:cNvSpPr>
          <p:nvPr/>
        </p:nvSpPr>
        <p:spPr bwMode="auto">
          <a:xfrm>
            <a:off x="77794" y="3357562"/>
            <a:ext cx="9066206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dirty="0"/>
              <a:t>   </a:t>
            </a:r>
            <a:r>
              <a:rPr lang="en-US" altLang="ja-JP" sz="2400" b="0" dirty="0"/>
              <a:t>&lt; Y,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&gt;  20  &lt; 2,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&gt;  2  </a:t>
            </a:r>
            <a:endParaRPr lang="ja-JP" altLang="en-US" sz="2400" b="0" dirty="0"/>
          </a:p>
          <a:p>
            <a:r>
              <a:rPr lang="ja-JP" altLang="en-US" sz="2400" b="0" dirty="0"/>
              <a:t>  </a:t>
            </a:r>
            <a:r>
              <a:rPr lang="en-US" altLang="ja-JP" sz="2400" b="0" dirty="0"/>
              <a:t>  </a:t>
            </a:r>
            <a:r>
              <a:rPr lang="ja-JP" altLang="en-US" sz="2400" b="0" dirty="0"/>
              <a:t>    </a:t>
            </a:r>
            <a:r>
              <a:rPr lang="en-US" altLang="ja-JP" sz="2800" b="0" dirty="0"/>
              <a:t>&lt; (Y + 2),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22</a:t>
            </a:r>
            <a:r>
              <a:rPr lang="en-US" altLang="ja-JP" sz="2400" b="0" dirty="0">
                <a:sym typeface="Symbol" pitchFamily="18" charset="2"/>
              </a:rPr>
              <a:t>               </a:t>
            </a:r>
            <a:r>
              <a:rPr lang="en-US" altLang="ja-JP" sz="2800" b="0" dirty="0">
                <a:sym typeface="Symbol" pitchFamily="18" charset="2"/>
              </a:rPr>
              <a:t>&lt;(Y + 3),  [ 22 / X ] &gt;  23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b="0" dirty="0"/>
              <a:t>&lt; X = (Y + 2);,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&gt; 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[ 22 / X ] </a:t>
            </a:r>
            <a:r>
              <a:rPr lang="en-US" altLang="ja-JP" sz="2000" b="0" dirty="0">
                <a:sym typeface="Symbol" pitchFamily="18" charset="2"/>
              </a:rPr>
              <a:t> &lt;Y = (Y + 3);, 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]&gt;  (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]) [23 / Y]    </a:t>
            </a:r>
            <a:endParaRPr lang="en-US" altLang="ja-JP" sz="2400" b="0" dirty="0"/>
          </a:p>
          <a:p>
            <a:r>
              <a:rPr lang="en-US" altLang="ja-JP" sz="2400" b="0" dirty="0"/>
              <a:t>           </a:t>
            </a:r>
            <a:r>
              <a:rPr lang="en-US" altLang="ja-JP" sz="2800" b="0" dirty="0"/>
              <a:t>&lt; X = (Y + 2); Y = (Y + 3);,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(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[ 22 / X ] ) [ 23 / Y ]</a:t>
            </a:r>
            <a:endParaRPr lang="en-US" altLang="ja-JP" sz="2800" b="0" dirty="0"/>
          </a:p>
        </p:txBody>
      </p:sp>
      <p:cxnSp>
        <p:nvCxnSpPr>
          <p:cNvPr id="37893" name="直線コネクタ 4"/>
          <p:cNvCxnSpPr>
            <a:cxnSpLocks noChangeShapeType="1"/>
          </p:cNvCxnSpPr>
          <p:nvPr/>
        </p:nvCxnSpPr>
        <p:spPr bwMode="auto">
          <a:xfrm>
            <a:off x="185738" y="4629158"/>
            <a:ext cx="8880468" cy="1363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4" name="直線コネクタ 9"/>
          <p:cNvCxnSpPr>
            <a:cxnSpLocks noChangeShapeType="1"/>
          </p:cNvCxnSpPr>
          <p:nvPr/>
        </p:nvCxnSpPr>
        <p:spPr bwMode="auto">
          <a:xfrm flipV="1">
            <a:off x="134563" y="4213837"/>
            <a:ext cx="3851875" cy="841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7895" name="正方形/長方形 15"/>
          <p:cNvSpPr>
            <a:spLocks noChangeArrowheads="1"/>
          </p:cNvSpPr>
          <p:nvPr/>
        </p:nvSpPr>
        <p:spPr bwMode="auto">
          <a:xfrm>
            <a:off x="4214810" y="5548986"/>
            <a:ext cx="3828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l-PL" altLang="ja-JP" sz="2800" b="0" dirty="0"/>
              <a:t> { (X, </a:t>
            </a:r>
            <a:r>
              <a:rPr lang="en-US" altLang="ja-JP" sz="2800" b="0" dirty="0"/>
              <a:t>22</a:t>
            </a:r>
            <a:r>
              <a:rPr lang="pl-PL" altLang="ja-JP" sz="2800" b="0" dirty="0"/>
              <a:t>), (Y, 2</a:t>
            </a:r>
            <a:r>
              <a:rPr lang="en-US" altLang="ja-JP" sz="2800" b="0" dirty="0"/>
              <a:t>3</a:t>
            </a:r>
            <a:r>
              <a:rPr lang="pl-PL" altLang="ja-JP" sz="2800" b="0" dirty="0"/>
              <a:t>), (Z, 30) } </a:t>
            </a:r>
            <a:endParaRPr lang="ja-JP" altLang="en-US" sz="2800" b="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6015050" y="5157802"/>
            <a:ext cx="485775" cy="34290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>
              <a:ea typeface="ＭＳ Ｐゴシック" pitchFamily="48" charset="-128"/>
            </a:endParaRPr>
          </a:p>
        </p:txBody>
      </p:sp>
      <p:cxnSp>
        <p:nvCxnSpPr>
          <p:cNvPr id="37897" name="直線コネクタ 21"/>
          <p:cNvCxnSpPr>
            <a:cxnSpLocks noChangeShapeType="1"/>
          </p:cNvCxnSpPr>
          <p:nvPr/>
        </p:nvCxnSpPr>
        <p:spPr bwMode="auto">
          <a:xfrm>
            <a:off x="378455" y="3810116"/>
            <a:ext cx="3465007" cy="84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8" name="直線コネクタ 22"/>
          <p:cNvCxnSpPr>
            <a:cxnSpLocks noChangeShapeType="1"/>
          </p:cNvCxnSpPr>
          <p:nvPr/>
        </p:nvCxnSpPr>
        <p:spPr bwMode="auto">
          <a:xfrm>
            <a:off x="4077936" y="4246321"/>
            <a:ext cx="4914904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直線コネクタ 21"/>
          <p:cNvCxnSpPr>
            <a:cxnSpLocks noChangeShapeType="1"/>
          </p:cNvCxnSpPr>
          <p:nvPr/>
        </p:nvCxnSpPr>
        <p:spPr bwMode="auto">
          <a:xfrm>
            <a:off x="4201583" y="3820583"/>
            <a:ext cx="4799541" cy="2022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テキスト ボックス 12"/>
          <p:cNvSpPr txBox="1"/>
          <p:nvPr/>
        </p:nvSpPr>
        <p:spPr>
          <a:xfrm>
            <a:off x="4188204" y="3404374"/>
            <a:ext cx="4955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&lt;Y, </a:t>
            </a:r>
            <a:r>
              <a:rPr kumimoji="1" lang="en-US" altLang="ja-JP" sz="2400" dirty="0" err="1"/>
              <a:t>σ</a:t>
            </a:r>
            <a:r>
              <a:rPr kumimoji="1" lang="en-US" altLang="ja-JP" sz="2400" dirty="0"/>
              <a:t> [22/X]&gt; </a:t>
            </a:r>
            <a:r>
              <a:rPr lang="en-US" altLang="ja-JP" sz="2400" dirty="0">
                <a:sym typeface="Symbol" pitchFamily="18" charset="2"/>
              </a:rPr>
              <a:t></a:t>
            </a:r>
            <a:r>
              <a:rPr kumimoji="1" lang="en-US" altLang="ja-JP" sz="2400" dirty="0"/>
              <a:t> 20  &lt;3, σ [22/X]&gt;</a:t>
            </a:r>
            <a:r>
              <a:rPr lang="en-US" altLang="ja-JP" sz="2400" dirty="0">
                <a:sym typeface="Symbol" pitchFamily="18" charset="2"/>
              </a:rPr>
              <a:t>  3</a:t>
            </a:r>
            <a:r>
              <a:rPr kumimoji="1" lang="en-US" altLang="ja-JP" sz="2400" dirty="0"/>
              <a:t> 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/>
              <a:t>練習問題</a:t>
            </a:r>
            <a:r>
              <a:rPr lang="en-US" altLang="ja-JP" dirty="0"/>
              <a:t>4</a:t>
            </a:r>
            <a:endParaRPr lang="ja-JP" altLang="en-US" dirty="0"/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} </a:t>
            </a:r>
            <a:r>
              <a:rPr lang="ja-JP" altLang="en-US" sz="2800" b="0" dirty="0"/>
              <a:t>において、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(Y – 20); }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/>
              <a:t>解答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58824" y="1581152"/>
            <a:ext cx="2838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別紙で説明する。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622</Words>
  <Application>Microsoft Macintosh PowerPoint</Application>
  <PresentationFormat>画面に合わせる (4:3)</PresentationFormat>
  <Paragraphs>53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ＭＳ Ｐゴシック</vt:lpstr>
      <vt:lpstr>Arial</vt:lpstr>
      <vt:lpstr>Calibri</vt:lpstr>
      <vt:lpstr>Symbol</vt:lpstr>
      <vt:lpstr>Office テーマ</vt:lpstr>
      <vt:lpstr>プログラミング言語論</vt:lpstr>
      <vt:lpstr>練習問題1</vt:lpstr>
      <vt:lpstr>解答</vt:lpstr>
      <vt:lpstr>練習問題2</vt:lpstr>
      <vt:lpstr>解答</vt:lpstr>
      <vt:lpstr>練習問題3</vt:lpstr>
      <vt:lpstr>解答</vt:lpstr>
      <vt:lpstr>練習問題4</vt:lpstr>
      <vt:lpstr>解答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Isao Sasano</cp:lastModifiedBy>
  <cp:revision>210</cp:revision>
  <dcterms:created xsi:type="dcterms:W3CDTF">2009-12-10T02:30:43Z</dcterms:created>
  <dcterms:modified xsi:type="dcterms:W3CDTF">2026-09-28T12:12:15Z</dcterms:modified>
</cp:coreProperties>
</file>