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86" r:id="rId4"/>
    <p:sldId id="291" r:id="rId5"/>
    <p:sldId id="287" r:id="rId6"/>
    <p:sldId id="290" r:id="rId7"/>
    <p:sldId id="292" r:id="rId8"/>
    <p:sldId id="288" r:id="rId9"/>
    <p:sldId id="293" r:id="rId10"/>
    <p:sldId id="270" r:id="rId11"/>
    <p:sldId id="289" r:id="rId12"/>
    <p:sldId id="280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10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プログラミング言語論</a:t>
            </a:r>
            <a:br>
              <a:rPr kumimoji="1" lang="en-US" altLang="ja-JP" dirty="0"/>
            </a:br>
            <a:r>
              <a:rPr lang="en-US" altLang="en-US" dirty="0"/>
              <a:t>第</a:t>
            </a:r>
            <a:r>
              <a:rPr lang="ja-JP" altLang="en-US" dirty="0"/>
              <a:t>９回</a:t>
            </a:r>
            <a:br>
              <a:rPr kumimoji="1" lang="en-US" altLang="ja-JP" dirty="0"/>
            </a:br>
            <a:r>
              <a:rPr lang="ja-JP" altLang="en-US" dirty="0"/>
              <a:t>練習問題解答例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821634" y="5157192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篠埜　</a:t>
            </a:r>
            <a:r>
              <a:rPr kumimoji="1" lang="ja-JP" altLang="en-US" sz="2800" dirty="0"/>
              <a:t>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練習問題１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（問１） ラムダ式 </a:t>
            </a:r>
            <a:r>
              <a:rPr lang="en-US" altLang="ja-JP" sz="2800" dirty="0">
                <a:sym typeface="Symbol" pitchFamily="18" charset="2"/>
              </a:rPr>
              <a:t>(z. z) w </a:t>
            </a:r>
            <a:r>
              <a:rPr lang="ja-JP" altLang="en-US" sz="2800" dirty="0">
                <a:sym typeface="Symbol" pitchFamily="18" charset="2"/>
              </a:rPr>
              <a:t>中の自由変数を求めよ。</a:t>
            </a:r>
            <a:endParaRPr lang="en-US" altLang="ja-JP" sz="2800" dirty="0">
              <a:sym typeface="Symbol" pitchFamily="18" charset="2"/>
            </a:endParaRPr>
          </a:p>
          <a:p>
            <a:r>
              <a:rPr lang="ja-JP" altLang="en-US" sz="2800" dirty="0">
                <a:sym typeface="Symbol" pitchFamily="18" charset="2"/>
              </a:rPr>
              <a:t>（問２） ラムダ式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 y) ((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z) w) </a:t>
            </a:r>
            <a:r>
              <a:rPr lang="ja-JP" altLang="en-US" sz="2800" dirty="0">
                <a:sym typeface="Symbol" pitchFamily="18" charset="2"/>
              </a:rPr>
              <a:t>中の自由変数を求めよ。</a:t>
            </a:r>
            <a:endParaRPr lang="en-US" altLang="ja-JP" sz="28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練習問題１解答例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6764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（問１） ラムダ式 </a:t>
            </a:r>
            <a:r>
              <a:rPr lang="en-US" altLang="ja-JP" sz="2400" dirty="0">
                <a:sym typeface="Symbol" pitchFamily="18" charset="2"/>
              </a:rPr>
              <a:t>(z. z) w </a:t>
            </a:r>
            <a:r>
              <a:rPr lang="ja-JP" altLang="en-US" sz="2400" dirty="0">
                <a:sym typeface="Symbol" pitchFamily="18" charset="2"/>
              </a:rPr>
              <a:t>中の自由変数を求めよ。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FV((z. z) w) = FV((z. z))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FV (w)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(FV (z) \ {z})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{w}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({z} \ {z})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{w}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{ }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{w}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{w}</a:t>
            </a:r>
          </a:p>
          <a:p>
            <a:r>
              <a:rPr lang="ja-JP" altLang="en-US" sz="2400" dirty="0">
                <a:sym typeface="Symbol" pitchFamily="18" charset="2"/>
              </a:rPr>
              <a:t>（問２） ラムダ式 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w) </a:t>
            </a:r>
            <a:r>
              <a:rPr lang="ja-JP" altLang="en-US" sz="2400" dirty="0">
                <a:sym typeface="Symbol" pitchFamily="18" charset="2"/>
              </a:rPr>
              <a:t>中の自由変数を求めよ。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FV((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w)) = FV(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</a:t>
            </a:r>
            <a:r>
              <a:rPr lang="en-US" altLang="ja-JP" sz="2400" dirty="0">
                <a:sym typeface="Symbol"/>
              </a:rPr>
              <a:t> FV</a:t>
            </a:r>
            <a:r>
              <a:rPr lang="en-US" altLang="ja-JP" sz="2400" dirty="0">
                <a:sym typeface="Symbol" pitchFamily="18" charset="2"/>
              </a:rPr>
              <a:t>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w) 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(FV (z y) \ {z}) </a:t>
            </a:r>
            <a:r>
              <a:rPr lang="en-US" altLang="ja-JP" sz="2400" dirty="0">
                <a:sym typeface="Symbol"/>
              </a:rPr>
              <a:t> (FV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en-US" altLang="ja-JP" sz="2400" dirty="0">
                <a:sym typeface="Symbol"/>
              </a:rPr>
              <a:t> FV(</a:t>
            </a:r>
            <a:r>
              <a:rPr lang="en-US" altLang="ja-JP" sz="2400" dirty="0">
                <a:sym typeface="Symbol" pitchFamily="18" charset="2"/>
              </a:rPr>
              <a:t>w))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((FV (z) </a:t>
            </a:r>
            <a:r>
              <a:rPr lang="en-US" altLang="ja-JP" sz="2400" dirty="0">
                <a:sym typeface="Symbol"/>
              </a:rPr>
              <a:t> FV(y)) \ {z})  ((FV</a:t>
            </a:r>
            <a:r>
              <a:rPr lang="en-US" altLang="ja-JP" sz="2400" dirty="0">
                <a:sym typeface="Symbol" pitchFamily="18" charset="2"/>
              </a:rPr>
              <a:t>(z) \ {z}) </a:t>
            </a:r>
            <a:r>
              <a:rPr lang="en-US" altLang="ja-JP" sz="2400" dirty="0">
                <a:sym typeface="Symbol"/>
              </a:rPr>
              <a:t> {</a:t>
            </a:r>
            <a:r>
              <a:rPr lang="en-US" altLang="ja-JP" sz="2400" dirty="0">
                <a:sym typeface="Symbol" pitchFamily="18" charset="2"/>
              </a:rPr>
              <a:t>w})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(({z} </a:t>
            </a:r>
            <a:r>
              <a:rPr lang="en-US" altLang="ja-JP" sz="2400" dirty="0">
                <a:sym typeface="Symbol"/>
              </a:rPr>
              <a:t> {y}) \ {z})  (({z} \ {z})  {</a:t>
            </a:r>
            <a:r>
              <a:rPr lang="en-US" altLang="ja-JP" sz="2400" dirty="0">
                <a:sym typeface="Symbol" pitchFamily="18" charset="2"/>
              </a:rPr>
              <a:t>w})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({</a:t>
            </a:r>
            <a:r>
              <a:rPr lang="en-US" altLang="ja-JP" sz="2400" dirty="0" err="1">
                <a:sym typeface="Symbol" pitchFamily="18" charset="2"/>
              </a:rPr>
              <a:t>z,y</a:t>
            </a:r>
            <a:r>
              <a:rPr lang="en-US" altLang="ja-JP" sz="2400" dirty="0">
                <a:sym typeface="Symbol" pitchFamily="18" charset="2"/>
              </a:rPr>
              <a:t>} \ {z}) </a:t>
            </a:r>
            <a:r>
              <a:rPr lang="en-US" altLang="ja-JP" sz="2400" dirty="0">
                <a:sym typeface="Symbol"/>
              </a:rPr>
              <a:t> ({ }  {</a:t>
            </a:r>
            <a:r>
              <a:rPr lang="en-US" altLang="ja-JP" sz="2400" dirty="0">
                <a:sym typeface="Symbol" pitchFamily="18" charset="2"/>
              </a:rPr>
              <a:t>w})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{y} </a:t>
            </a:r>
            <a:r>
              <a:rPr lang="en-US" altLang="ja-JP" sz="2400" dirty="0">
                <a:sym typeface="Symbol"/>
              </a:rPr>
              <a:t> {w}</a:t>
            </a:r>
          </a:p>
          <a:p>
            <a:r>
              <a:rPr lang="en-US" altLang="ja-JP" sz="2400" dirty="0">
                <a:sym typeface="Symbol"/>
              </a:rPr>
              <a:t>                                        = {y, w}</a:t>
            </a:r>
            <a:endParaRPr lang="en-US" altLang="ja-JP" sz="24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ym typeface="Symbol" pitchFamily="18" charset="2"/>
              </a:rPr>
              <a:t>（問１） 置換</a:t>
            </a:r>
            <a:r>
              <a:rPr lang="en-US" altLang="ja-JP" sz="2800" dirty="0">
                <a:sym typeface="Symbol" pitchFamily="18" charset="2"/>
              </a:rPr>
              <a:t> (x y) [z/x] </a:t>
            </a:r>
            <a:r>
              <a:rPr lang="ja-JP" altLang="en-US" sz="2800" dirty="0">
                <a:sym typeface="Symbol" pitchFamily="18" charset="2"/>
              </a:rPr>
              <a:t>を求めよ。</a:t>
            </a:r>
            <a:endParaRPr kumimoji="1" lang="en-US" altLang="ja-JP" sz="2800" dirty="0">
              <a:sym typeface="Symbol" pitchFamily="18" charset="2"/>
            </a:endParaRPr>
          </a:p>
          <a:p>
            <a:r>
              <a:rPr lang="ja-JP" altLang="en-US" sz="2800" dirty="0">
                <a:sym typeface="Symbol" pitchFamily="18" charset="2"/>
              </a:rPr>
              <a:t>（問２） 置換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[z/x] </a:t>
            </a:r>
            <a:r>
              <a:rPr lang="ja-JP" altLang="en-US" sz="2800" dirty="0">
                <a:sym typeface="Symbol" pitchFamily="18" charset="2"/>
              </a:rPr>
              <a:t>を求めよ。</a:t>
            </a:r>
            <a:endParaRPr lang="en-US" altLang="ja-JP" sz="2800" dirty="0">
              <a:sym typeface="Symbol" pitchFamily="18" charset="2"/>
            </a:endParaRPr>
          </a:p>
          <a:p>
            <a:r>
              <a:rPr lang="ja-JP" altLang="en-US" sz="2800" dirty="0">
                <a:sym typeface="Symbol" pitchFamily="18" charset="2"/>
              </a:rPr>
              <a:t>（問３） 置換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[y/x] </a:t>
            </a:r>
            <a:r>
              <a:rPr lang="ja-JP" altLang="en-US" sz="2800" dirty="0">
                <a:sym typeface="Symbol" pitchFamily="18" charset="2"/>
              </a:rPr>
              <a:t>を求めよ。</a:t>
            </a:r>
            <a:endParaRPr lang="en-US" altLang="ja-JP" sz="2800" dirty="0">
              <a:sym typeface="Symbol" pitchFamily="18" charset="2"/>
            </a:endParaRPr>
          </a:p>
          <a:p>
            <a:r>
              <a:rPr lang="ja-JP" altLang="en-US" sz="2800" dirty="0">
                <a:sym typeface="Symbol" pitchFamily="18" charset="2"/>
              </a:rPr>
              <a:t>（問４） 置換</a:t>
            </a:r>
            <a:r>
              <a:rPr lang="en-US" altLang="ja-JP" sz="2800" dirty="0">
                <a:sym typeface="Symbol" pitchFamily="18" charset="2"/>
              </a:rPr>
              <a:t> 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 y/x] </a:t>
            </a:r>
            <a:r>
              <a:rPr lang="ja-JP" altLang="en-US" sz="2800" dirty="0">
                <a:sym typeface="Symbol" pitchFamily="18" charset="2"/>
              </a:rPr>
              <a:t>を求めよ。</a:t>
            </a:r>
            <a:endParaRPr lang="en-US" altLang="ja-JP" sz="28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9305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ym typeface="Symbol" pitchFamily="18" charset="2"/>
              </a:rPr>
              <a:t>（問１） 置換</a:t>
            </a:r>
            <a:r>
              <a:rPr lang="en-US" altLang="ja-JP" sz="2400" dirty="0">
                <a:sym typeface="Symbol" pitchFamily="18" charset="2"/>
              </a:rPr>
              <a:t> (x y) [z/x] </a:t>
            </a:r>
            <a:r>
              <a:rPr lang="ja-JP" altLang="en-US" sz="2400" dirty="0">
                <a:sym typeface="Symbol" pitchFamily="18" charset="2"/>
              </a:rPr>
              <a:t>を求めよ。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(x y) [z/x] = (x [z/x]) (y [z/x])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= z y</a:t>
            </a:r>
            <a:endParaRPr kumimoji="1" lang="en-US" altLang="ja-JP" sz="2400" dirty="0">
              <a:sym typeface="Symbol" pitchFamily="18" charset="2"/>
            </a:endParaRPr>
          </a:p>
          <a:p>
            <a:r>
              <a:rPr lang="ja-JP" altLang="en-US" sz="2400" dirty="0">
                <a:sym typeface="Symbol" pitchFamily="18" charset="2"/>
              </a:rPr>
              <a:t>（問２） 置換 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[z/x] </a:t>
            </a:r>
            <a:r>
              <a:rPr lang="ja-JP" altLang="en-US" sz="2400" dirty="0">
                <a:sym typeface="Symbol" pitchFamily="18" charset="2"/>
              </a:rPr>
              <a:t>を求めよ。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[z/x] = 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((x y) [z/x])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((x [z/x]) (y [z/x]))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(z y)</a:t>
            </a:r>
            <a:r>
              <a:rPr lang="ja-JP" altLang="en-US" sz="2400" dirty="0">
                <a:sym typeface="Symbol" pitchFamily="18" charset="2"/>
              </a:rPr>
              <a:t>     （括弧は省略可）</a:t>
            </a:r>
            <a:endParaRPr lang="en-US" altLang="ja-JP" sz="2400" dirty="0">
              <a:sym typeface="Symbol" pitchFamily="18" charset="2"/>
            </a:endParaRPr>
          </a:p>
          <a:p>
            <a:r>
              <a:rPr lang="ja-JP" altLang="en-US" sz="2400" dirty="0">
                <a:sym typeface="Symbol" pitchFamily="18" charset="2"/>
              </a:rPr>
              <a:t>（問３） 置換 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[y/x] </a:t>
            </a:r>
            <a:r>
              <a:rPr lang="ja-JP" altLang="en-US" sz="2400" dirty="0">
                <a:sym typeface="Symbol" pitchFamily="18" charset="2"/>
              </a:rPr>
              <a:t>を求めよ。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[y/x]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y) [z/y]) [y/x])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[z/y]) (y [z/y])) [y/x])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z) [y/x])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[y/x]) (z [y/x]))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(y z)      </a:t>
            </a:r>
            <a:r>
              <a:rPr lang="ja-JP" altLang="en-US" sz="2400" dirty="0">
                <a:sym typeface="Symbol" pitchFamily="18" charset="2"/>
              </a:rPr>
              <a:t>（括弧は省略可）</a:t>
            </a:r>
            <a:endParaRPr lang="en-US" altLang="ja-JP" sz="24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練習問題２解答例（続き）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148071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ym typeface="Symbol" pitchFamily="18" charset="2"/>
              </a:rPr>
              <a:t>（問４） 置換</a:t>
            </a:r>
            <a:r>
              <a:rPr lang="en-US" altLang="ja-JP" sz="2400" dirty="0">
                <a:sym typeface="Symbol" pitchFamily="18" charset="2"/>
              </a:rPr>
              <a:t> 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 </a:t>
            </a:r>
            <a:r>
              <a:rPr lang="ja-JP" altLang="en-US" sz="2400" dirty="0">
                <a:sym typeface="Symbol" pitchFamily="18" charset="2"/>
              </a:rPr>
              <a:t>を求めよ。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(((x y) [w/y])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(((x [w/y]) (y [w/y]))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((x w)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((x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 (w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w)     </a:t>
            </a:r>
            <a:r>
              <a:rPr lang="ja-JP" altLang="en-US" sz="2400" dirty="0">
                <a:sym typeface="Symbol" pitchFamily="18" charset="2"/>
              </a:rPr>
              <a:t>（外側の括弧は省略可）</a:t>
            </a:r>
            <a:endParaRPr lang="en-US" altLang="ja-JP" sz="24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練習問題３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44789" y="1484784"/>
            <a:ext cx="82316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（問１） ラムダ式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y) 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z) </a:t>
            </a:r>
            <a:r>
              <a:rPr lang="ja-JP" altLang="en-US" sz="2800" dirty="0">
                <a:sym typeface="Symbol" pitchFamily="18" charset="2"/>
              </a:rPr>
              <a:t>に</a:t>
            </a:r>
            <a:r>
              <a:rPr lang="en-US" altLang="ja-JP" sz="2800" dirty="0">
                <a:sym typeface="Symbol" pitchFamily="18" charset="2"/>
              </a:rPr>
              <a:t>β</a:t>
            </a:r>
            <a:r>
              <a:rPr lang="ja-JP" altLang="en-US" sz="2800" dirty="0">
                <a:sym typeface="Symbol" pitchFamily="18" charset="2"/>
              </a:rPr>
              <a:t>変換を</a:t>
            </a:r>
            <a:r>
              <a:rPr lang="en-US" altLang="ja-JP" sz="2800" dirty="0">
                <a:sym typeface="Symbol" pitchFamily="18" charset="2"/>
              </a:rPr>
              <a:t>1</a:t>
            </a:r>
            <a:r>
              <a:rPr lang="ja-JP" altLang="en-US" sz="2800" dirty="0">
                <a:sym typeface="Symbol" pitchFamily="18" charset="2"/>
              </a:rPr>
              <a:t>回適用せよ。</a:t>
            </a:r>
            <a:endParaRPr lang="en-US" altLang="ja-JP" sz="2800" dirty="0">
              <a:sym typeface="Symbol" pitchFamily="18" charset="2"/>
            </a:endParaRPr>
          </a:p>
          <a:p>
            <a:r>
              <a:rPr kumimoji="1" lang="ja-JP" altLang="en-US" sz="2800" dirty="0">
                <a:sym typeface="Symbol" pitchFamily="18" charset="2"/>
              </a:rPr>
              <a:t>（問２） ラムダ式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kumimoji="1" lang="en-US" altLang="ja-JP" sz="2800" dirty="0" err="1">
                <a:sym typeface="Symbol" pitchFamily="18" charset="2"/>
              </a:rPr>
              <a:t>λx</a:t>
            </a:r>
            <a:r>
              <a:rPr kumimoji="1" lang="en-US" altLang="ja-JP" sz="2800" dirty="0">
                <a:sym typeface="Symbol" pitchFamily="18" charset="2"/>
              </a:rPr>
              <a:t>. (</a:t>
            </a:r>
            <a:r>
              <a:rPr kumimoji="1" lang="en-US" altLang="ja-JP" sz="2800" dirty="0" err="1">
                <a:sym typeface="Symbol" pitchFamily="18" charset="2"/>
              </a:rPr>
              <a:t>λy</a:t>
            </a:r>
            <a:r>
              <a:rPr kumimoji="1" lang="en-US" altLang="ja-JP" sz="2800" dirty="0">
                <a:sym typeface="Symbol" pitchFamily="18" charset="2"/>
              </a:rPr>
              <a:t>. x </a:t>
            </a:r>
            <a:r>
              <a:rPr lang="en-US" altLang="ja-JP" sz="2800" dirty="0">
                <a:sym typeface="Symbol" pitchFamily="18" charset="2"/>
              </a:rPr>
              <a:t>y</a:t>
            </a:r>
            <a:r>
              <a:rPr kumimoji="1" lang="en-US" altLang="ja-JP" sz="2800" dirty="0">
                <a:sym typeface="Symbol" pitchFamily="18" charset="2"/>
              </a:rPr>
              <a:t>)) (</a:t>
            </a:r>
            <a:r>
              <a:rPr kumimoji="1" lang="en-US" altLang="ja-JP" sz="2800" dirty="0" err="1">
                <a:sym typeface="Symbol" pitchFamily="18" charset="2"/>
              </a:rPr>
              <a:t>λz</a:t>
            </a:r>
            <a:r>
              <a:rPr kumimoji="1" lang="en-US" altLang="ja-JP" sz="2800" dirty="0">
                <a:sym typeface="Symbol" pitchFamily="18" charset="2"/>
              </a:rPr>
              <a:t>. </a:t>
            </a:r>
            <a:r>
              <a:rPr lang="en-US" altLang="ja-JP" sz="2800" dirty="0">
                <a:sym typeface="Symbol" pitchFamily="18" charset="2"/>
              </a:rPr>
              <a:t>y z</a:t>
            </a:r>
            <a:r>
              <a:rPr kumimoji="1" lang="en-US" altLang="ja-JP" sz="2800" dirty="0">
                <a:sym typeface="Symbol" pitchFamily="18" charset="2"/>
              </a:rPr>
              <a:t>) </a:t>
            </a:r>
            <a:r>
              <a:rPr kumimoji="1" lang="ja-JP" altLang="en-US" sz="2800" dirty="0">
                <a:sym typeface="Symbol" pitchFamily="18" charset="2"/>
              </a:rPr>
              <a:t>に</a:t>
            </a:r>
            <a:r>
              <a:rPr kumimoji="1" lang="en-US" altLang="ja-JP" sz="2800" dirty="0">
                <a:sym typeface="Symbol" pitchFamily="18" charset="2"/>
              </a:rPr>
              <a:t>β</a:t>
            </a:r>
            <a:r>
              <a:rPr kumimoji="1" lang="ja-JP" altLang="en-US" sz="2800" dirty="0">
                <a:sym typeface="Symbol" pitchFamily="18" charset="2"/>
              </a:rPr>
              <a:t>変換を</a:t>
            </a:r>
            <a:r>
              <a:rPr kumimoji="1" lang="en-US" altLang="ja-JP" sz="2800" dirty="0">
                <a:sym typeface="Symbol" pitchFamily="18" charset="2"/>
              </a:rPr>
              <a:t>1</a:t>
            </a:r>
            <a:r>
              <a:rPr kumimoji="1" lang="ja-JP" altLang="en-US" sz="2800" dirty="0">
                <a:sym typeface="Symbol" pitchFamily="18" charset="2"/>
              </a:rPr>
              <a:t>回適用せよ。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049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練習問題３解答例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5197" y="1484784"/>
            <a:ext cx="845450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（問１） ラムダ式 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λx</a:t>
            </a:r>
            <a:r>
              <a:rPr lang="en-US" altLang="ja-JP" sz="2400" dirty="0">
                <a:sym typeface="Symbol" pitchFamily="18" charset="2"/>
              </a:rPr>
              <a:t>. x</a:t>
            </a:r>
            <a:r>
              <a:rPr lang="ja-JP" altLang="en-US" sz="2400" dirty="0">
                <a:sym typeface="Symbol" pitchFamily="18" charset="2"/>
              </a:rPr>
              <a:t> </a:t>
            </a:r>
            <a:r>
              <a:rPr lang="en-US" altLang="ja-JP" sz="2400" dirty="0">
                <a:sym typeface="Symbol" pitchFamily="18" charset="2"/>
              </a:rPr>
              <a:t>y) 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ja-JP" altLang="en-US" sz="2400" dirty="0">
                <a:sym typeface="Symbol" pitchFamily="18" charset="2"/>
              </a:rPr>
              <a:t>に</a:t>
            </a:r>
            <a:r>
              <a:rPr lang="en-US" altLang="ja-JP" sz="2400" dirty="0">
                <a:sym typeface="Symbol" pitchFamily="18" charset="2"/>
              </a:rPr>
              <a:t>β</a:t>
            </a:r>
            <a:r>
              <a:rPr lang="ja-JP" altLang="en-US" sz="2400" dirty="0">
                <a:sym typeface="Symbol" pitchFamily="18" charset="2"/>
              </a:rPr>
              <a:t>変換を</a:t>
            </a:r>
            <a:r>
              <a:rPr lang="en-US" altLang="ja-JP" sz="2400" dirty="0">
                <a:sym typeface="Symbol" pitchFamily="18" charset="2"/>
              </a:rPr>
              <a:t>1</a:t>
            </a:r>
            <a:r>
              <a:rPr lang="ja-JP" altLang="en-US" sz="2400" dirty="0">
                <a:sym typeface="Symbol" pitchFamily="18" charset="2"/>
              </a:rPr>
              <a:t>回適用せよ。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λx</a:t>
            </a:r>
            <a:r>
              <a:rPr lang="en-US" altLang="ja-JP" sz="2400" dirty="0">
                <a:sym typeface="Symbol" pitchFamily="18" charset="2"/>
              </a:rPr>
              <a:t>. x</a:t>
            </a:r>
            <a:r>
              <a:rPr lang="ja-JP" altLang="en-US" sz="2400" dirty="0">
                <a:sym typeface="Symbol" pitchFamily="18" charset="2"/>
              </a:rPr>
              <a:t> </a:t>
            </a:r>
            <a:r>
              <a:rPr lang="en-US" altLang="ja-JP" sz="2400" dirty="0">
                <a:sym typeface="Symbol" pitchFamily="18" charset="2"/>
              </a:rPr>
              <a:t>y) 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en-US" altLang="ja-JP" sz="2400" dirty="0">
                <a:sym typeface="Symbol"/>
              </a:rPr>
              <a:t> (x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z/x]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= </a:t>
            </a:r>
            <a:r>
              <a:rPr lang="en-US" altLang="ja-JP" sz="2400" dirty="0">
                <a:sym typeface="Symbol"/>
              </a:rPr>
              <a:t>(x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z/x]) (</a:t>
            </a:r>
            <a:r>
              <a:rPr lang="en-US" altLang="ja-JP" sz="2400" dirty="0">
                <a:sym typeface="Symbol"/>
              </a:rPr>
              <a:t>y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z/x]</a:t>
            </a:r>
            <a:r>
              <a:rPr lang="en-US" altLang="ja-JP" sz="2400" dirty="0">
                <a:sym typeface="Symbol"/>
              </a:rPr>
              <a:t>)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                           = </a:t>
            </a:r>
            <a:r>
              <a:rPr lang="en-US" altLang="ja-JP" sz="2400" dirty="0">
                <a:sym typeface="Symbol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en-US" altLang="ja-JP" sz="2400" dirty="0">
                <a:sym typeface="Symbol"/>
              </a:rPr>
              <a:t>y</a:t>
            </a:r>
            <a:r>
              <a:rPr lang="ja-JP" altLang="en-US" sz="2400" dirty="0">
                <a:sym typeface="Symbol"/>
              </a:rPr>
              <a:t>    </a:t>
            </a:r>
            <a:endParaRPr lang="en-US" altLang="ja-JP" sz="2400" dirty="0">
              <a:sym typeface="Symbol"/>
            </a:endParaRPr>
          </a:p>
          <a:p>
            <a:r>
              <a:rPr lang="ja-JP" altLang="en-US" sz="2400" dirty="0">
                <a:sym typeface="Symbol"/>
              </a:rPr>
              <a:t>                            （さらにもう一度</a:t>
            </a:r>
            <a:r>
              <a:rPr lang="en-US" altLang="ja-JP" sz="2400" dirty="0">
                <a:sym typeface="Symbol"/>
              </a:rPr>
              <a:t>β</a:t>
            </a:r>
            <a:r>
              <a:rPr lang="ja-JP" altLang="en-US" sz="2400" dirty="0">
                <a:sym typeface="Symbol"/>
              </a:rPr>
              <a:t>変換は適用可能）</a:t>
            </a:r>
            <a:endParaRPr lang="en-US" altLang="ja-JP" sz="2400" dirty="0">
              <a:sym typeface="Symbol" pitchFamily="18" charset="2"/>
            </a:endParaRPr>
          </a:p>
          <a:p>
            <a:r>
              <a:rPr kumimoji="1" lang="ja-JP" altLang="en-US" sz="2400" dirty="0">
                <a:sym typeface="Symbol" pitchFamily="18" charset="2"/>
              </a:rPr>
              <a:t>（問２） ラムダ式 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kumimoji="1" lang="en-US" altLang="ja-JP" sz="2400" dirty="0" err="1">
                <a:sym typeface="Symbol" pitchFamily="18" charset="2"/>
              </a:rPr>
              <a:t>λx</a:t>
            </a:r>
            <a:r>
              <a:rPr kumimoji="1" lang="en-US" altLang="ja-JP" sz="2400" dirty="0">
                <a:sym typeface="Symbol" pitchFamily="18" charset="2"/>
              </a:rPr>
              <a:t>. (</a:t>
            </a:r>
            <a:r>
              <a:rPr kumimoji="1" lang="en-US" altLang="ja-JP" sz="2400" dirty="0" err="1">
                <a:sym typeface="Symbol" pitchFamily="18" charset="2"/>
              </a:rPr>
              <a:t>λy</a:t>
            </a:r>
            <a:r>
              <a:rPr kumimoji="1" lang="en-US" altLang="ja-JP" sz="2400" dirty="0">
                <a:sym typeface="Symbol" pitchFamily="18" charset="2"/>
              </a:rPr>
              <a:t>. x </a:t>
            </a:r>
            <a:r>
              <a:rPr lang="en-US" altLang="ja-JP" sz="2400" dirty="0">
                <a:sym typeface="Symbol" pitchFamily="18" charset="2"/>
              </a:rPr>
              <a:t>y</a:t>
            </a:r>
            <a:r>
              <a:rPr kumimoji="1" lang="en-US" altLang="ja-JP" sz="2400" dirty="0">
                <a:sym typeface="Symbol" pitchFamily="18" charset="2"/>
              </a:rPr>
              <a:t>)) (</a:t>
            </a:r>
            <a:r>
              <a:rPr kumimoji="1" lang="en-US" altLang="ja-JP" sz="2400" dirty="0" err="1">
                <a:sym typeface="Symbol" pitchFamily="18" charset="2"/>
              </a:rPr>
              <a:t>λz</a:t>
            </a:r>
            <a:r>
              <a:rPr kumimoji="1" lang="en-US" altLang="ja-JP" sz="2400" dirty="0">
                <a:sym typeface="Symbol" pitchFamily="18" charset="2"/>
              </a:rPr>
              <a:t>. </a:t>
            </a:r>
            <a:r>
              <a:rPr lang="en-US" altLang="ja-JP" sz="2400" dirty="0">
                <a:sym typeface="Symbol" pitchFamily="18" charset="2"/>
              </a:rPr>
              <a:t>y z</a:t>
            </a:r>
            <a:r>
              <a:rPr kumimoji="1" lang="en-US" altLang="ja-JP" sz="2400" dirty="0">
                <a:sym typeface="Symbol" pitchFamily="18" charset="2"/>
              </a:rPr>
              <a:t>) </a:t>
            </a:r>
            <a:r>
              <a:rPr kumimoji="1" lang="ja-JP" altLang="en-US" sz="2400" dirty="0">
                <a:sym typeface="Symbol" pitchFamily="18" charset="2"/>
              </a:rPr>
              <a:t>に</a:t>
            </a:r>
            <a:r>
              <a:rPr kumimoji="1" lang="en-US" altLang="ja-JP" sz="2400" dirty="0">
                <a:sym typeface="Symbol" pitchFamily="18" charset="2"/>
              </a:rPr>
              <a:t>β</a:t>
            </a:r>
            <a:r>
              <a:rPr kumimoji="1" lang="ja-JP" altLang="en-US" sz="2400" dirty="0">
                <a:sym typeface="Symbol" pitchFamily="18" charset="2"/>
              </a:rPr>
              <a:t>変換を</a:t>
            </a:r>
            <a:r>
              <a:rPr kumimoji="1" lang="en-US" altLang="ja-JP" sz="2400" dirty="0">
                <a:sym typeface="Symbol" pitchFamily="18" charset="2"/>
              </a:rPr>
              <a:t>1</a:t>
            </a:r>
            <a:r>
              <a:rPr kumimoji="1" lang="ja-JP" altLang="en-US" sz="2400" dirty="0">
                <a:sym typeface="Symbol" pitchFamily="18" charset="2"/>
              </a:rPr>
              <a:t>回適用せよ。</a:t>
            </a:r>
            <a:endParaRPr kumimoji="1"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λx</a:t>
            </a:r>
            <a:r>
              <a:rPr lang="en-US" altLang="ja-JP" sz="2400" dirty="0">
                <a:sym typeface="Symbol" pitchFamily="18" charset="2"/>
              </a:rPr>
              <a:t>. 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y)) 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z) </a:t>
            </a:r>
            <a:r>
              <a:rPr lang="en-US" altLang="ja-JP" sz="2400" dirty="0">
                <a:sym typeface="Symbol"/>
              </a:rPr>
              <a:t></a:t>
            </a:r>
            <a:r>
              <a:rPr lang="en-US" altLang="ja-JP" sz="2400" dirty="0">
                <a:sym typeface="Symbol" pitchFamily="18" charset="2"/>
              </a:rPr>
              <a:t> 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y) [z/y])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[z/y]) (y [z/y]))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z)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 (z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z) z) </a:t>
            </a:r>
            <a:r>
              <a:rPr lang="ja-JP" altLang="en-US" sz="2400" dirty="0">
                <a:sym typeface="Symbol" pitchFamily="18" charset="2"/>
              </a:rPr>
              <a:t>（外側の括弧は省略可）</a:t>
            </a:r>
            <a:endParaRPr lang="en-US" altLang="ja-JP" sz="2400" dirty="0">
              <a:sym typeface="Symbol" pitchFamily="18" charset="2"/>
            </a:endParaRPr>
          </a:p>
          <a:p>
            <a:r>
              <a:rPr lang="ja-JP" altLang="en-US" sz="2400" dirty="0">
                <a:sym typeface="Symbol"/>
              </a:rPr>
              <a:t>                                      （さらにもう一度</a:t>
            </a:r>
            <a:r>
              <a:rPr lang="en-US" altLang="ja-JP" sz="2400" dirty="0">
                <a:sym typeface="Symbol"/>
              </a:rPr>
              <a:t>β</a:t>
            </a:r>
            <a:r>
              <a:rPr lang="ja-JP" altLang="en-US" sz="2400" dirty="0">
                <a:sym typeface="Symbol"/>
              </a:rPr>
              <a:t>変換は適用可能）</a:t>
            </a:r>
            <a:r>
              <a:rPr kumimoji="1" lang="en-US" altLang="ja-JP" sz="2400" dirty="0">
                <a:sym typeface="Symbol" pitchFamily="18" charset="2"/>
              </a:rPr>
              <a:t>        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>
                <a:sym typeface="Symbol" pitchFamily="18" charset="2"/>
              </a:rPr>
              <a:t>練習問題４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115616" y="1700808"/>
            <a:ext cx="66247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/>
              <a:t>ラムダ式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(</a:t>
            </a:r>
            <a:r>
              <a:rPr lang="en-US" altLang="ja-JP" sz="2800" dirty="0" err="1"/>
              <a:t>λz</a:t>
            </a:r>
            <a:r>
              <a:rPr lang="en-US" altLang="ja-JP" sz="2800" dirty="0"/>
              <a:t>. z) w </a:t>
            </a:r>
            <a:r>
              <a:rPr lang="ja-JP" altLang="en-US" sz="2800" dirty="0"/>
              <a:t>は、何度か</a:t>
            </a:r>
            <a:r>
              <a:rPr lang="en-US" altLang="ja-JP" sz="2800" dirty="0"/>
              <a:t>β</a:t>
            </a:r>
            <a:r>
              <a:rPr lang="ja-JP" altLang="en-US" sz="2800" dirty="0"/>
              <a:t>変換を行うことによって</a:t>
            </a:r>
            <a:r>
              <a:rPr lang="en-US" altLang="ja-JP" sz="2800" dirty="0"/>
              <a:t>w</a:t>
            </a:r>
            <a:r>
              <a:rPr lang="ja-JP" altLang="en-US" sz="2800" dirty="0"/>
              <a:t>に変換できるが、その過程を示せ。</a:t>
            </a:r>
          </a:p>
        </p:txBody>
      </p:sp>
    </p:spTree>
    <p:extLst>
      <p:ext uri="{BB962C8B-B14F-4D97-AF65-F5344CB8AC3E}">
        <p14:creationId xmlns:p14="http://schemas.microsoft.com/office/powerpoint/2010/main" val="157984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>
                <a:sym typeface="Symbol" pitchFamily="18" charset="2"/>
              </a:rPr>
              <a:t>練習問題４解答例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/>
              <a:t>(</a:t>
            </a:r>
            <a:r>
              <a:rPr lang="en-US" altLang="ja-JP" sz="2800" dirty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w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00100" y="3571876"/>
            <a:ext cx="3208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dirty="0"/>
              <a:t>または</a:t>
            </a:r>
            <a:endParaRPr lang="en-US" altLang="ja-JP" sz="2800" dirty="0"/>
          </a:p>
          <a:p>
            <a:pPr marL="457200" indent="-457200"/>
            <a:r>
              <a:rPr lang="en-US" altLang="ja-JP" sz="2800" dirty="0"/>
              <a:t>(</a:t>
            </a:r>
            <a:r>
              <a:rPr lang="en-US" altLang="ja-JP" sz="2800" dirty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w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6021288"/>
            <a:ext cx="765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（注意）上記において、置換を用いた記述は省略している。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>
                <a:sym typeface="Symbol" pitchFamily="18" charset="2"/>
              </a:rPr>
              <a:t>練習問題５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55576" y="1484784"/>
            <a:ext cx="77048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/>
              <a:t>ラムダ式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 y) w</a:t>
            </a:r>
            <a:r>
              <a:rPr lang="ja-JP" altLang="en-US" sz="2800" dirty="0"/>
              <a:t>に対して、</a:t>
            </a:r>
            <a:r>
              <a:rPr lang="en-US" altLang="ja-JP" sz="2800" dirty="0"/>
              <a:t>β</a:t>
            </a:r>
            <a:r>
              <a:rPr lang="ja-JP" altLang="en-US" sz="2800" dirty="0"/>
              <a:t>変換を適用する箇所のないラムダ式になるまで</a:t>
            </a:r>
            <a:r>
              <a:rPr lang="en-US" altLang="ja-JP" sz="2800" dirty="0"/>
              <a:t>β</a:t>
            </a:r>
            <a:r>
              <a:rPr lang="ja-JP" altLang="en-US" sz="2800" dirty="0"/>
              <a:t>変換を適用せよ。また、この例では途中で、２通りの適用可能性のあるラムダ式が出てくる。２通りの</a:t>
            </a:r>
            <a:r>
              <a:rPr lang="en-US" altLang="ja-JP" sz="2800" dirty="0"/>
              <a:t>β</a:t>
            </a:r>
            <a:r>
              <a:rPr lang="ja-JP" altLang="en-US" sz="2800" dirty="0"/>
              <a:t>変換列を示せ。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>
                <a:sym typeface="Symbol" pitchFamily="18" charset="2"/>
              </a:rPr>
              <a:t>練習問題５解答例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57224" y="1643050"/>
            <a:ext cx="70913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/>
              </a:rPr>
              <a:t> (</a:t>
            </a:r>
            <a:r>
              <a:rPr lang="en-US" altLang="ja-JP" sz="2800" b="0" dirty="0" err="1">
                <a:sym typeface="Symbol"/>
              </a:rPr>
              <a:t>λz</a:t>
            </a:r>
            <a:r>
              <a:rPr lang="en-US" altLang="ja-JP" sz="2800" b="0" dirty="0">
                <a:sym typeface="Symbol"/>
              </a:rPr>
              <a:t>. (</a:t>
            </a:r>
            <a:r>
              <a:rPr lang="en-US" altLang="ja-JP" sz="2800" b="0" dirty="0" err="1">
                <a:sym typeface="Symbol"/>
              </a:rPr>
              <a:t>λx</a:t>
            </a:r>
            <a:r>
              <a:rPr lang="en-US" altLang="ja-JP" sz="2800" b="0" dirty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 w y</a:t>
            </a:r>
          </a:p>
          <a:p>
            <a:pPr marL="457200" indent="-457200"/>
            <a:r>
              <a:rPr lang="ja-JP" altLang="en-US" sz="2800" dirty="0">
                <a:sym typeface="Symbol"/>
              </a:rPr>
              <a:t>または、</a:t>
            </a:r>
            <a:endParaRPr lang="en-US" altLang="ja-JP" sz="2800" dirty="0">
              <a:sym typeface="Symbol"/>
            </a:endParaRPr>
          </a:p>
          <a:p>
            <a:pPr marL="457200" indent="-457200"/>
            <a:r>
              <a:rPr lang="en-US" altLang="ja-JP" sz="2800" dirty="0"/>
              <a:t>(</a:t>
            </a:r>
            <a:r>
              <a:rPr lang="en-US" altLang="ja-JP" sz="2800" dirty="0">
                <a:sym typeface="Symbol" pitchFamily="18" charset="2"/>
              </a:rPr>
              <a:t>x. y. x y)  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λx</a:t>
            </a:r>
            <a:r>
              <a:rPr lang="en-US" altLang="ja-JP" sz="2800" dirty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 (</a:t>
            </a:r>
            <a:r>
              <a:rPr lang="en-US" altLang="ja-JP" sz="2800" dirty="0" err="1">
                <a:sym typeface="Symbol"/>
              </a:rPr>
              <a:t>λx</a:t>
            </a:r>
            <a:r>
              <a:rPr lang="en-US" altLang="ja-JP" sz="2800" dirty="0">
                <a:sym typeface="Symbol"/>
              </a:rPr>
              <a:t>. x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 w y</a:t>
            </a:r>
            <a:endParaRPr lang="ja-JP" altLang="en-US" sz="2800" b="0" dirty="0">
              <a:sym typeface="Symbol" pitchFamily="18" charset="2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6021288"/>
            <a:ext cx="765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（注意）上記において、置換を用いた記述は省略している。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1426</Words>
  <Application>Microsoft Macintosh PowerPoint</Application>
  <PresentationFormat>画面に合わせる (4:3)</PresentationFormat>
  <Paragraphs>93</Paragraphs>
  <Slides>12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ＭＳ Ｐゴシック</vt:lpstr>
      <vt:lpstr>Arial</vt:lpstr>
      <vt:lpstr>Calibri</vt:lpstr>
      <vt:lpstr>Symbol</vt:lpstr>
      <vt:lpstr>Office テーマ</vt:lpstr>
      <vt:lpstr>プログラミング言語論 第９回 練習問題解答例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練習問題４</vt:lpstr>
      <vt:lpstr>練習問題４解答例</vt:lpstr>
      <vt:lpstr>練習問題５</vt:lpstr>
      <vt:lpstr>練習問題５解答例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Isao Sasano</cp:lastModifiedBy>
  <cp:revision>117</cp:revision>
  <dcterms:created xsi:type="dcterms:W3CDTF">2009-12-20T09:26:10Z</dcterms:created>
  <dcterms:modified xsi:type="dcterms:W3CDTF">2026-09-28T12:17:03Z</dcterms:modified>
</cp:coreProperties>
</file>