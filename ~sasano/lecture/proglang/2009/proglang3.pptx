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7" r:id="rId20"/>
    <p:sldId id="288" r:id="rId21"/>
    <p:sldId id="283" r:id="rId22"/>
    <p:sldId id="284" r:id="rId23"/>
    <p:sldId id="285" r:id="rId24"/>
    <p:sldId id="286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6B714-4FF8-4850-A494-C1304B97CAC2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11D5E-E3EB-4CA1-A4E1-2CC7D9942153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7042ED-EDAC-4194-AE51-21B63FA2F301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6E5740-F705-470C-863F-0EEAF3700C39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6F5A4D-7047-45A2-9565-B4FB6E95E001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C6D620-4571-4544-BEB0-81A1BB7837C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9C58F-D4A7-4696-9015-76B9BD2C8003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F4EEC2-85B8-4B40-83EB-4A62B414DAF1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8B03C4-5773-40B6-8DA5-F8CBCA050A7C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E59BE1-AC10-45DC-B571-1F9D65F0796C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501E6-EA68-48B8-8D38-B849333A6B08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7F76-DC80-43F1-AC05-9E316CF2EFB5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2483C-F1FA-4586-9A5C-60D81A5E51A5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A03C36-4141-4229-81D9-8A206E62D787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669127-19F3-437A-B77D-C1877C71E827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76603-45CB-41D8-ADC0-FC8829175E56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984D3-F31D-4784-B0DE-25BB5A9BFD0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580DBF-EA86-4D84-9DD1-218F668FC3E7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8F3181-C8CA-4380-B4CC-AB6D018DC3A7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42D61C-CF05-4D94-B93B-E2FD1EFA02E6}" type="slidenum">
              <a:rPr lang="en-US" altLang="ja-JP" smtClean="0">
                <a:ea typeface="ＭＳ Ｐゴシック" charset="-128"/>
              </a:rPr>
              <a:pPr/>
              <a:t>22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2009/10/9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43852" cy="1941517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第３回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BNF</a:t>
            </a:r>
            <a:r>
              <a:rPr lang="ja-JP" altLang="en-US" dirty="0" smtClean="0"/>
              <a:t>記法について（演習付き）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857620" y="5000636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篠埜　功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構文の記述</a:t>
            </a:r>
          </a:p>
        </p:txBody>
      </p:sp>
      <p:sp>
        <p:nvSpPr>
          <p:cNvPr id="16387" name="テキスト ボックス 7"/>
          <p:cNvSpPr txBox="1">
            <a:spLocks noChangeArrowheads="1"/>
          </p:cNvSpPr>
          <p:nvPr/>
        </p:nvSpPr>
        <p:spPr bwMode="auto">
          <a:xfrm>
            <a:off x="785813" y="1714500"/>
            <a:ext cx="7566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400"/>
              <a:t>プログラミング言語の構文はどのように定式化できるか？</a:t>
            </a:r>
          </a:p>
        </p:txBody>
      </p:sp>
      <p:sp>
        <p:nvSpPr>
          <p:cNvPr id="16388" name="テキスト ボックス 8"/>
          <p:cNvSpPr txBox="1">
            <a:spLocks noChangeArrowheads="1"/>
          </p:cNvSpPr>
          <p:nvPr/>
        </p:nvSpPr>
        <p:spPr bwMode="auto">
          <a:xfrm>
            <a:off x="1357313" y="2928938"/>
            <a:ext cx="556577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000"/>
              <a:t>例１</a:t>
            </a:r>
            <a:r>
              <a:rPr lang="en-US" altLang="ja-JP" sz="2000"/>
              <a:t>: </a:t>
            </a:r>
            <a:r>
              <a:rPr lang="ja-JP" altLang="en-US" sz="2000"/>
              <a:t> </a:t>
            </a:r>
            <a:r>
              <a:rPr lang="en-US" altLang="ja-JP" sz="2000"/>
              <a:t>for</a:t>
            </a:r>
            <a:r>
              <a:rPr lang="ja-JP" altLang="en-US" sz="2000"/>
              <a:t>ループの中に</a:t>
            </a:r>
            <a:r>
              <a:rPr lang="en-US" altLang="ja-JP" sz="2000"/>
              <a:t>for</a:t>
            </a:r>
            <a:r>
              <a:rPr lang="ja-JP" altLang="en-US" sz="2000"/>
              <a:t>ループが書ける。</a:t>
            </a:r>
            <a:endParaRPr lang="en-US" altLang="ja-JP" sz="2000"/>
          </a:p>
          <a:p>
            <a:r>
              <a:rPr lang="en-US" altLang="ja-JP" sz="2000"/>
              <a:t>      for (i=0; i&lt;= 10; i++) {</a:t>
            </a:r>
          </a:p>
          <a:p>
            <a:r>
              <a:rPr lang="en-US" altLang="ja-JP" sz="2000"/>
              <a:t>           for (j=0; j&lt;=20; j++) { …</a:t>
            </a:r>
          </a:p>
          <a:p>
            <a:r>
              <a:rPr lang="en-US" altLang="ja-JP" sz="2000"/>
              <a:t> </a:t>
            </a:r>
            <a:r>
              <a:rPr lang="ja-JP" altLang="en-US" sz="2000"/>
              <a:t>例</a:t>
            </a:r>
            <a:r>
              <a:rPr lang="en-US" altLang="ja-JP" sz="2000"/>
              <a:t>2:   </a:t>
            </a:r>
            <a:r>
              <a:rPr lang="ja-JP" altLang="en-US" sz="2000"/>
              <a:t>算術式の中で、</a:t>
            </a:r>
            <a:r>
              <a:rPr lang="en-US" altLang="ja-JP" sz="2000"/>
              <a:t>(…) </a:t>
            </a:r>
            <a:r>
              <a:rPr lang="ja-JP" altLang="en-US" sz="2000"/>
              <a:t>の中で、</a:t>
            </a:r>
            <a:r>
              <a:rPr lang="en-US" altLang="ja-JP" sz="2000"/>
              <a:t>(…)</a:t>
            </a:r>
            <a:r>
              <a:rPr lang="ja-JP" altLang="en-US" sz="2000"/>
              <a:t>を書ける。</a:t>
            </a:r>
            <a:endParaRPr lang="en-US" altLang="ja-JP" sz="2000"/>
          </a:p>
          <a:p>
            <a:r>
              <a:rPr lang="en-US" altLang="ja-JP" sz="2000"/>
              <a:t>       1 + (2 * (3+ 4) )       </a:t>
            </a:r>
            <a:endParaRPr lang="ja-JP" altLang="en-US" sz="2000"/>
          </a:p>
        </p:txBody>
      </p:sp>
      <p:sp>
        <p:nvSpPr>
          <p:cNvPr id="16389" name="テキスト ボックス 9"/>
          <p:cNvSpPr txBox="1">
            <a:spLocks noChangeArrowheads="1"/>
          </p:cNvSpPr>
          <p:nvPr/>
        </p:nvSpPr>
        <p:spPr bwMode="auto">
          <a:xfrm>
            <a:off x="1071563" y="2500313"/>
            <a:ext cx="5418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プログラミング言語の特徴</a:t>
            </a:r>
            <a:r>
              <a:rPr lang="en-US" altLang="ja-JP" sz="2000"/>
              <a:t>: </a:t>
            </a:r>
            <a:r>
              <a:rPr lang="ja-JP" altLang="en-US" sz="2000"/>
              <a:t>入れ子構造</a:t>
            </a:r>
            <a:r>
              <a:rPr lang="en-US" altLang="ja-JP" sz="2000"/>
              <a:t>(nesting)</a:t>
            </a:r>
            <a:endParaRPr lang="ja-JP" altLang="en-US" sz="2000"/>
          </a:p>
        </p:txBody>
      </p:sp>
      <p:sp>
        <p:nvSpPr>
          <p:cNvPr id="16390" name="テキスト ボックス 10"/>
          <p:cNvSpPr txBox="1">
            <a:spLocks noChangeArrowheads="1"/>
          </p:cNvSpPr>
          <p:nvPr/>
        </p:nvSpPr>
        <p:spPr bwMode="auto">
          <a:xfrm>
            <a:off x="1214438" y="4643438"/>
            <a:ext cx="556101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400"/>
              <a:t>このような構造は、文脈自由文法で表す。</a:t>
            </a:r>
            <a:endParaRPr lang="en-US" altLang="ja-JP" sz="2400"/>
          </a:p>
          <a:p>
            <a:r>
              <a:rPr lang="ja-JP" altLang="en-US" sz="2400"/>
              <a:t>（正規表現では表すことができない。）</a:t>
            </a:r>
          </a:p>
        </p:txBody>
      </p:sp>
      <p:sp>
        <p:nvSpPr>
          <p:cNvPr id="16391" name="テキスト ボックス 12"/>
          <p:cNvSpPr txBox="1">
            <a:spLocks noChangeArrowheads="1"/>
          </p:cNvSpPr>
          <p:nvPr/>
        </p:nvSpPr>
        <p:spPr bwMode="auto">
          <a:xfrm>
            <a:off x="785813" y="5715000"/>
            <a:ext cx="7643812" cy="830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400"/>
              <a:t>文脈自由文法を表記するためのメタ言語である</a:t>
            </a:r>
            <a:r>
              <a:rPr lang="en-US" altLang="ja-JP" sz="2400"/>
              <a:t>BNF</a:t>
            </a:r>
            <a:r>
              <a:rPr lang="ja-JP" altLang="en-US" sz="2400"/>
              <a:t>記法を紹介する。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</a:t>
            </a:r>
          </a:p>
        </p:txBody>
      </p:sp>
      <p:sp>
        <p:nvSpPr>
          <p:cNvPr id="47124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571500" y="1428750"/>
            <a:ext cx="8229600" cy="5072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ja-JP" dirty="0" smtClean="0"/>
              <a:t>Backus Normal Form</a:t>
            </a:r>
            <a:r>
              <a:rPr lang="ja-JP" altLang="en-US" dirty="0" smtClean="0"/>
              <a:t> </a:t>
            </a:r>
            <a:r>
              <a:rPr lang="en-US" altLang="ja-JP" dirty="0" smtClean="0"/>
              <a:t>(Backus </a:t>
            </a:r>
            <a:r>
              <a:rPr lang="en-US" altLang="ja-JP" dirty="0" err="1" smtClean="0"/>
              <a:t>Naur</a:t>
            </a:r>
            <a:r>
              <a:rPr lang="en-US" altLang="ja-JP" dirty="0" smtClean="0"/>
              <a:t> Form)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sz="3200" dirty="0" smtClean="0"/>
              <a:t>集合を定義する際の記述法（言語）。集合を帰納的に定義する。（帰納的定義  </a:t>
            </a:r>
            <a:r>
              <a:rPr lang="en-US" altLang="ja-JP" sz="3200" dirty="0" smtClean="0"/>
              <a:t>inductive definition</a:t>
            </a:r>
            <a:r>
              <a:rPr lang="ja-JP" altLang="en-US" sz="3200" dirty="0" smtClean="0"/>
              <a:t>）（再帰的定義  </a:t>
            </a:r>
            <a:r>
              <a:rPr lang="en-US" altLang="ja-JP" sz="3200" dirty="0" smtClean="0"/>
              <a:t>recursive definition</a:t>
            </a:r>
            <a:r>
              <a:rPr lang="ja-JP" altLang="en-US" sz="3200" dirty="0" smtClean="0"/>
              <a:t>ともいう） </a:t>
            </a:r>
            <a:endParaRPr lang="en-US" altLang="ja-JP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sz="3200" dirty="0" smtClean="0"/>
              <a:t>規則を「非終端記号（</a:t>
            </a:r>
            <a:r>
              <a:rPr lang="en-US" altLang="ja-JP" sz="3200" dirty="0" smtClean="0"/>
              <a:t>non-terminal symbol</a:t>
            </a:r>
            <a:r>
              <a:rPr lang="ja-JP" altLang="en-US" sz="3200" dirty="0" smtClean="0"/>
              <a:t>）」と「終端記号（</a:t>
            </a:r>
            <a:r>
              <a:rPr lang="en-US" altLang="ja-JP" sz="3200" dirty="0" smtClean="0"/>
              <a:t>terminal symbol</a:t>
            </a:r>
            <a:r>
              <a:rPr lang="ja-JP" altLang="en-US" sz="3200" dirty="0" smtClean="0"/>
              <a:t>）」で表す。</a:t>
            </a:r>
            <a:endParaRPr lang="en-US" altLang="ja-JP" sz="32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dirty="0" smtClean="0"/>
              <a:t>文脈自由文法（</a:t>
            </a:r>
            <a:r>
              <a:rPr lang="en-US" altLang="ja-JP" dirty="0" smtClean="0"/>
              <a:t>context free grammar</a:t>
            </a:r>
            <a:r>
              <a:rPr lang="ja-JP" altLang="en-US" dirty="0" smtClean="0"/>
              <a:t>）の構文規則を記述する際に用いられる。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ja-JP" altLang="en-US" dirty="0" smtClean="0"/>
              <a:t>構文規則＝文を構成するための規則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非終端記号と終端記号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 smtClean="0"/>
              <a:t>非終端記号（</a:t>
            </a:r>
            <a:r>
              <a:rPr lang="en-US" altLang="ja-JP" smtClean="0"/>
              <a:t>non-terminal symbol</a:t>
            </a:r>
            <a:r>
              <a:rPr lang="ja-JP" altLang="en-US" smtClean="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 smtClean="0"/>
              <a:t>非終端記号または終端記号からなる列に展開される。</a:t>
            </a:r>
            <a:r>
              <a:rPr lang="en-US" altLang="ja-JP" smtClean="0"/>
              <a:t>&lt;&gt;</a:t>
            </a:r>
            <a:r>
              <a:rPr lang="ja-JP" altLang="en-US" smtClean="0"/>
              <a:t>で囲む。</a:t>
            </a:r>
          </a:p>
          <a:p>
            <a:pPr eaLnBrk="1" hangingPunct="1">
              <a:lnSpc>
                <a:spcPct val="90000"/>
              </a:lnSpc>
            </a:pPr>
            <a:r>
              <a:rPr lang="ja-JP" altLang="en-US" smtClean="0"/>
              <a:t>終端記号（</a:t>
            </a:r>
            <a:r>
              <a:rPr lang="en-US" altLang="ja-JP" smtClean="0"/>
              <a:t>terminal symbol</a:t>
            </a:r>
            <a:r>
              <a:rPr lang="ja-JP" altLang="en-US" smtClean="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 smtClean="0"/>
              <a:t>文字列、数値、</a:t>
            </a:r>
            <a:r>
              <a:rPr lang="en-US" altLang="ja-JP" smtClean="0"/>
              <a:t>= </a:t>
            </a:r>
            <a:r>
              <a:rPr lang="ja-JP" altLang="en-US" smtClean="0"/>
              <a:t>など それ以上他の要素の組み合わせで置き換えることができないもの</a:t>
            </a:r>
            <a:endParaRPr lang="en-US" altLang="ja-JP" smtClean="0"/>
          </a:p>
          <a:p>
            <a:pPr lvl="1" eaLnBrk="1" hangingPunct="1">
              <a:lnSpc>
                <a:spcPct val="90000"/>
              </a:lnSpc>
            </a:pPr>
            <a:r>
              <a:rPr lang="en-US" altLang="ja-JP" smtClean="0"/>
              <a:t> ’  ’</a:t>
            </a:r>
            <a:r>
              <a:rPr lang="ja-JP" altLang="en-US" smtClean="0"/>
              <a:t>等で囲んで表すこともある。</a:t>
            </a:r>
          </a:p>
          <a:p>
            <a:pPr lvl="1" eaLnBrk="1" hangingPunct="1">
              <a:lnSpc>
                <a:spcPct val="90000"/>
              </a:lnSpc>
              <a:buFont typeface="Wingdings" pitchFamily="80" charset="2"/>
              <a:buNone/>
            </a:pPr>
            <a:endParaRPr lang="ja-JP" altLang="en-US" smtClean="0"/>
          </a:p>
          <a:p>
            <a:pPr lvl="1" eaLnBrk="1" hangingPunct="1">
              <a:lnSpc>
                <a:spcPct val="90000"/>
              </a:lnSpc>
            </a:pPr>
            <a:endParaRPr lang="en-US" altLang="ja-JP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dirty="0" smtClean="0"/>
              <a:t>BNF</a:t>
            </a:r>
            <a:r>
              <a:rPr lang="ja-JP" altLang="en-US" dirty="0" smtClean="0"/>
              <a:t>記法による規則の書き方（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記法の定義）</a:t>
            </a:r>
            <a:endParaRPr lang="en-US" altLang="ja-JP" dirty="0" smtClean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304956" y="4786312"/>
            <a:ext cx="662463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0000"/>
                </a:solidFill>
              </a:rPr>
              <a:t>&lt;</a:t>
            </a:r>
            <a:r>
              <a:rPr lang="ja-JP" altLang="en-US" sz="3200" dirty="0">
                <a:solidFill>
                  <a:srgbClr val="000000"/>
                </a:solidFill>
              </a:rPr>
              <a:t>不等式</a:t>
            </a:r>
            <a:r>
              <a:rPr lang="en-US" altLang="ja-JP" sz="3200" dirty="0">
                <a:solidFill>
                  <a:srgbClr val="000000"/>
                </a:solidFill>
              </a:rPr>
              <a:t>&gt; ::= &lt;</a:t>
            </a:r>
            <a:r>
              <a:rPr lang="ja-JP" altLang="en-US" sz="3200" dirty="0">
                <a:solidFill>
                  <a:srgbClr val="000000"/>
                </a:solidFill>
              </a:rPr>
              <a:t>式</a:t>
            </a:r>
            <a:r>
              <a:rPr lang="en-US" altLang="ja-JP" sz="3200" dirty="0">
                <a:solidFill>
                  <a:srgbClr val="000000"/>
                </a:solidFill>
              </a:rPr>
              <a:t>&gt;&lt;</a:t>
            </a:r>
            <a:r>
              <a:rPr lang="ja-JP" altLang="en-US" sz="3200" dirty="0">
                <a:solidFill>
                  <a:srgbClr val="000000"/>
                </a:solidFill>
              </a:rPr>
              <a:t>不等号記号</a:t>
            </a:r>
            <a:r>
              <a:rPr lang="en-US" altLang="ja-JP" sz="3200" dirty="0">
                <a:solidFill>
                  <a:srgbClr val="000000"/>
                </a:solidFill>
              </a:rPr>
              <a:t>&gt;&lt;</a:t>
            </a:r>
            <a:r>
              <a:rPr lang="ja-JP" altLang="en-US" sz="3200" dirty="0">
                <a:solidFill>
                  <a:srgbClr val="000000"/>
                </a:solidFill>
              </a:rPr>
              <a:t>式</a:t>
            </a:r>
            <a:r>
              <a:rPr lang="en-US" altLang="ja-JP" sz="3200" dirty="0">
                <a:solidFill>
                  <a:srgbClr val="000000"/>
                </a:solidFill>
              </a:rPr>
              <a:t>&gt;</a:t>
            </a:r>
          </a:p>
          <a:p>
            <a:r>
              <a:rPr lang="en-US" altLang="ja-JP" sz="3200" dirty="0">
                <a:solidFill>
                  <a:srgbClr val="000000"/>
                </a:solidFill>
              </a:rPr>
              <a:t>&lt;</a:t>
            </a:r>
            <a:r>
              <a:rPr lang="ja-JP" altLang="en-US" sz="3200" dirty="0">
                <a:solidFill>
                  <a:srgbClr val="000000"/>
                </a:solidFill>
              </a:rPr>
              <a:t>不等号記号</a:t>
            </a:r>
            <a:r>
              <a:rPr lang="en-US" altLang="ja-JP" sz="3200" dirty="0">
                <a:solidFill>
                  <a:srgbClr val="000000"/>
                </a:solidFill>
              </a:rPr>
              <a:t>&gt; </a:t>
            </a:r>
            <a:r>
              <a:rPr lang="en-US" altLang="ja-JP" sz="3200" dirty="0" smtClean="0">
                <a:solidFill>
                  <a:srgbClr val="000000"/>
                </a:solidFill>
              </a:rPr>
              <a:t> ::=  </a:t>
            </a:r>
            <a:r>
              <a:rPr lang="en-US" altLang="ja-JP" sz="3200" dirty="0">
                <a:solidFill>
                  <a:srgbClr val="000000"/>
                </a:solidFill>
              </a:rPr>
              <a:t>’&gt;’ </a:t>
            </a:r>
            <a:r>
              <a:rPr lang="en-US" altLang="ja-JP" sz="3200" dirty="0" smtClean="0">
                <a:solidFill>
                  <a:srgbClr val="000000"/>
                </a:solidFill>
              </a:rPr>
              <a:t> </a:t>
            </a:r>
            <a:r>
              <a:rPr lang="ja-JP" altLang="en-US" sz="3200" dirty="0" smtClean="0">
                <a:solidFill>
                  <a:srgbClr val="000000"/>
                </a:solidFill>
              </a:rPr>
              <a:t> </a:t>
            </a:r>
            <a:r>
              <a:rPr lang="en-US" altLang="ja-JP" sz="3200" dirty="0" smtClean="0">
                <a:solidFill>
                  <a:srgbClr val="000000"/>
                </a:solidFill>
              </a:rPr>
              <a:t>|   </a:t>
            </a:r>
            <a:r>
              <a:rPr lang="en-US" altLang="ja-JP" sz="3200" dirty="0">
                <a:solidFill>
                  <a:srgbClr val="000000"/>
                </a:solidFill>
              </a:rPr>
              <a:t>’&lt;’</a:t>
            </a:r>
            <a:endParaRPr lang="ja-JP" altLang="en-US" sz="3200" dirty="0">
              <a:solidFill>
                <a:srgbClr val="000000"/>
              </a:solidFill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90551" y="4214818"/>
            <a:ext cx="4285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</a:t>
            </a:r>
            <a:r>
              <a:rPr lang="en-US" altLang="ja-JP" sz="2800" dirty="0" smtClean="0"/>
              <a:t>BNF</a:t>
            </a:r>
            <a:r>
              <a:rPr lang="ja-JP" altLang="en-US" sz="2800" dirty="0" smtClean="0"/>
              <a:t>記法の例および意味）</a:t>
            </a:r>
            <a:endParaRPr lang="en-US" altLang="ja-JP" sz="2800" dirty="0"/>
          </a:p>
        </p:txBody>
      </p:sp>
      <p:sp>
        <p:nvSpPr>
          <p:cNvPr id="19464" name="テキスト ボックス 9"/>
          <p:cNvSpPr txBox="1">
            <a:spLocks noChangeArrowheads="1"/>
          </p:cNvSpPr>
          <p:nvPr/>
        </p:nvSpPr>
        <p:spPr bwMode="auto">
          <a:xfrm>
            <a:off x="3590947" y="5857892"/>
            <a:ext cx="1193800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 can be</a:t>
            </a:r>
            <a:endParaRPr lang="ja-JP" altLang="en-US" sz="2400"/>
          </a:p>
        </p:txBody>
      </p:sp>
      <p:sp>
        <p:nvSpPr>
          <p:cNvPr id="19465" name="テキスト ボックス 10"/>
          <p:cNvSpPr txBox="1">
            <a:spLocks noChangeArrowheads="1"/>
          </p:cNvSpPr>
          <p:nvPr/>
        </p:nvSpPr>
        <p:spPr bwMode="auto">
          <a:xfrm>
            <a:off x="5162583" y="5857892"/>
            <a:ext cx="458787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/>
              <a:t>or</a:t>
            </a:r>
            <a:endParaRPr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714348" y="3071810"/>
            <a:ext cx="5460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 smtClean="0"/>
              <a:t>が一つの規則であり、それを並べて書く。</a:t>
            </a:r>
            <a:endParaRPr lang="ja-JP" altLang="en-US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642910" y="1714488"/>
            <a:ext cx="821537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非終端記号 （１つ）のあとに </a:t>
            </a:r>
            <a:r>
              <a:rPr lang="en-US" altLang="ja-JP" sz="2400" dirty="0" smtClean="0"/>
              <a:t>::= </a:t>
            </a:r>
            <a:r>
              <a:rPr lang="ja-JP" altLang="en-US" sz="2400" dirty="0" smtClean="0"/>
              <a:t>を書き、その後に非終端記号または終端記号からなる列を縦棒 </a:t>
            </a:r>
            <a:r>
              <a:rPr lang="en-US" altLang="ja-JP" sz="2400" dirty="0" smtClean="0"/>
              <a:t>| </a:t>
            </a:r>
            <a:r>
              <a:rPr lang="ja-JP" altLang="en-US" sz="2400" dirty="0" smtClean="0"/>
              <a:t>で区切って並べたもの（縦棒はなくてもよいし、２つ以上あってもよい）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記法の意味</a:t>
            </a:r>
            <a:endParaRPr lang="en-US" altLang="ja-JP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1612"/>
            <a:ext cx="8229600" cy="3019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 sz="2800" dirty="0" smtClean="0"/>
              <a:t>非終端記号は集合に対応</a:t>
            </a:r>
            <a:endParaRPr lang="en-US" altLang="ja-JP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ja-JP" altLang="en-US" sz="2400" dirty="0" smtClean="0"/>
              <a:t>非終端記号は、それに対応する集合の任意の要素を表していると見てもよい。</a:t>
            </a:r>
            <a:endParaRPr lang="en-US" altLang="ja-JP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ja-JP" altLang="en-US" sz="2400" dirty="0" smtClean="0"/>
              <a:t>この見方では、複数回表れる同じ名前の非終端記号は一般に別の要素を表す。</a:t>
            </a:r>
            <a:endParaRPr lang="ja-JP" alt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ja-JP" altLang="en-US" sz="2800" dirty="0" smtClean="0"/>
              <a:t>同じ名前の終端記号は同じものを表す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62000" y="5286375"/>
            <a:ext cx="7696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不等式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式</a:t>
            </a:r>
            <a:r>
              <a:rPr lang="en-US" altLang="ja-JP" sz="3600">
                <a:solidFill>
                  <a:srgbClr val="000000"/>
                </a:solidFill>
              </a:rPr>
              <a:t>&gt;&lt;</a:t>
            </a:r>
            <a:r>
              <a:rPr lang="ja-JP" altLang="en-US" sz="3600">
                <a:solidFill>
                  <a:srgbClr val="000000"/>
                </a:solidFill>
              </a:rPr>
              <a:t>不等号記号</a:t>
            </a:r>
            <a:r>
              <a:rPr lang="en-US" altLang="ja-JP" sz="3600">
                <a:solidFill>
                  <a:srgbClr val="000000"/>
                </a:solidFill>
              </a:rPr>
              <a:t>&gt;&lt;</a:t>
            </a:r>
            <a:r>
              <a:rPr lang="ja-JP" altLang="en-US" sz="3600">
                <a:solidFill>
                  <a:srgbClr val="000000"/>
                </a:solidFill>
              </a:rPr>
              <a:t>式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</a:p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不等号記号</a:t>
            </a:r>
            <a:r>
              <a:rPr lang="en-US" altLang="ja-JP" sz="3600">
                <a:solidFill>
                  <a:srgbClr val="000000"/>
                </a:solidFill>
              </a:rPr>
              <a:t>&gt; ::=  ’&gt;’ </a:t>
            </a:r>
            <a:r>
              <a:rPr lang="ja-JP" altLang="en-US" sz="3600">
                <a:solidFill>
                  <a:srgbClr val="000000"/>
                </a:solidFill>
              </a:rPr>
              <a:t> </a:t>
            </a:r>
            <a:r>
              <a:rPr lang="en-US" altLang="ja-JP" sz="3600">
                <a:solidFill>
                  <a:srgbClr val="000000"/>
                </a:solidFill>
              </a:rPr>
              <a:t>|  ’&lt;’</a:t>
            </a:r>
            <a:endParaRPr lang="ja-JP" altLang="en-US" sz="3600">
              <a:solidFill>
                <a:srgbClr val="000000"/>
              </a:solidFill>
            </a:endParaRPr>
          </a:p>
        </p:txBody>
      </p:sp>
      <p:sp>
        <p:nvSpPr>
          <p:cNvPr id="20485" name="Line 6"/>
          <p:cNvSpPr>
            <a:spLocks noChangeShapeType="1"/>
          </p:cNvSpPr>
          <p:nvPr/>
        </p:nvSpPr>
        <p:spPr bwMode="auto">
          <a:xfrm flipH="1">
            <a:off x="4114800" y="4953000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6" name="Line 7"/>
          <p:cNvSpPr>
            <a:spLocks noChangeShapeType="1"/>
          </p:cNvSpPr>
          <p:nvPr/>
        </p:nvSpPr>
        <p:spPr bwMode="auto">
          <a:xfrm>
            <a:off x="5738813" y="4953000"/>
            <a:ext cx="1619269" cy="4048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7" name="Text Box 8"/>
          <p:cNvSpPr txBox="1">
            <a:spLocks noChangeArrowheads="1"/>
          </p:cNvSpPr>
          <p:nvPr/>
        </p:nvSpPr>
        <p:spPr bwMode="auto">
          <a:xfrm>
            <a:off x="3143240" y="4221312"/>
            <a:ext cx="533992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000" dirty="0"/>
              <a:t>&lt;</a:t>
            </a:r>
            <a:r>
              <a:rPr lang="ja-JP" altLang="en-US" sz="2000" dirty="0"/>
              <a:t>式</a:t>
            </a:r>
            <a:r>
              <a:rPr lang="en-US" altLang="ja-JP" sz="2000" dirty="0"/>
              <a:t>&gt;</a:t>
            </a:r>
            <a:r>
              <a:rPr lang="ja-JP" altLang="en-US" sz="2000" dirty="0"/>
              <a:t>は、式の集合に対応する。</a:t>
            </a:r>
            <a:endParaRPr lang="en-US" altLang="ja-JP" sz="2000" dirty="0"/>
          </a:p>
          <a:p>
            <a:r>
              <a:rPr lang="ja-JP" altLang="en-US" sz="2000" dirty="0" smtClean="0"/>
              <a:t>（式の集合中</a:t>
            </a:r>
            <a:r>
              <a:rPr lang="ja-JP" altLang="en-US" sz="2000" dirty="0"/>
              <a:t>の任意の要素を表すと見てもよい）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記法の意味</a:t>
            </a:r>
            <a:endParaRPr lang="en-US" altLang="ja-JP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857375"/>
            <a:ext cx="8229600" cy="3886200"/>
          </a:xfrm>
        </p:spPr>
        <p:txBody>
          <a:bodyPr/>
          <a:lstStyle/>
          <a:p>
            <a:pPr eaLnBrk="1" hangingPunct="1"/>
            <a:r>
              <a:rPr lang="ja-JP" altLang="en-US" sz="2800" smtClean="0"/>
              <a:t>複数の選択候補がある場合は「｜」を使って表現</a:t>
            </a:r>
          </a:p>
          <a:p>
            <a:pPr eaLnBrk="1" hangingPunct="1">
              <a:buFont typeface="Wingdings" pitchFamily="80" charset="2"/>
              <a:buNone/>
            </a:pPr>
            <a:endParaRPr lang="ja-JP" altLang="en-US" smtClean="0"/>
          </a:p>
          <a:p>
            <a:pPr eaLnBrk="1" hangingPunct="1">
              <a:buFont typeface="Wingdings" pitchFamily="80" charset="2"/>
              <a:buNone/>
            </a:pPr>
            <a:endParaRPr lang="ja-JP" altLang="en-US" smtClean="0"/>
          </a:p>
          <a:p>
            <a:pPr eaLnBrk="1" hangingPunct="1"/>
            <a:endParaRPr lang="en-US" altLang="ja-JP" smtClean="0"/>
          </a:p>
          <a:p>
            <a:pPr eaLnBrk="1" hangingPunct="1"/>
            <a:r>
              <a:rPr lang="ja-JP" altLang="en-US" sz="2800" smtClean="0"/>
              <a:t>再帰的定義 </a:t>
            </a:r>
            <a:r>
              <a:rPr lang="en-US" altLang="ja-JP" sz="2800" smtClean="0"/>
              <a:t>recursive definition</a:t>
            </a:r>
            <a:r>
              <a:rPr lang="ja-JP" altLang="en-US" sz="2800" smtClean="0"/>
              <a:t>（帰納的定義 </a:t>
            </a:r>
            <a:r>
              <a:rPr lang="en-US" altLang="ja-JP" sz="2800" smtClean="0"/>
              <a:t>inductive definition</a:t>
            </a:r>
            <a:r>
              <a:rPr lang="ja-JP" altLang="en-US" sz="2800" smtClean="0"/>
              <a:t>）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357313" y="2571750"/>
            <a:ext cx="57070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000000"/>
                </a:solidFill>
              </a:rPr>
              <a:t>&lt;</a:t>
            </a:r>
            <a:r>
              <a:rPr lang="ja-JP" altLang="en-US" sz="3600" dirty="0">
                <a:solidFill>
                  <a:srgbClr val="000000"/>
                </a:solidFill>
              </a:rPr>
              <a:t>不等号記号</a:t>
            </a:r>
            <a:r>
              <a:rPr lang="en-US" altLang="ja-JP" sz="3600" dirty="0">
                <a:solidFill>
                  <a:srgbClr val="000000"/>
                </a:solidFill>
              </a:rPr>
              <a:t>&gt; </a:t>
            </a:r>
            <a:r>
              <a:rPr lang="ja-JP" altLang="en-US" sz="3600" dirty="0" smtClean="0">
                <a:solidFill>
                  <a:srgbClr val="000000"/>
                </a:solidFill>
              </a:rPr>
              <a:t> </a:t>
            </a:r>
            <a:r>
              <a:rPr lang="en-US" altLang="ja-JP" sz="3600" dirty="0" smtClean="0">
                <a:solidFill>
                  <a:srgbClr val="000000"/>
                </a:solidFill>
              </a:rPr>
              <a:t>::=   ’&gt;’ </a:t>
            </a:r>
            <a:r>
              <a:rPr lang="ja-JP" altLang="en-US" sz="3600" dirty="0" smtClean="0">
                <a:solidFill>
                  <a:srgbClr val="000000"/>
                </a:solidFill>
              </a:rPr>
              <a:t>  </a:t>
            </a:r>
            <a:r>
              <a:rPr lang="en-US" altLang="ja-JP" sz="3600" dirty="0">
                <a:solidFill>
                  <a:srgbClr val="000000"/>
                </a:solidFill>
              </a:rPr>
              <a:t>| </a:t>
            </a:r>
            <a:r>
              <a:rPr lang="en-US" altLang="ja-JP" sz="3600" dirty="0" smtClean="0">
                <a:solidFill>
                  <a:srgbClr val="000000"/>
                </a:solidFill>
              </a:rPr>
              <a:t>  </a:t>
            </a:r>
            <a:r>
              <a:rPr lang="en-US" altLang="ja-JP" sz="3600" dirty="0">
                <a:solidFill>
                  <a:srgbClr val="000000"/>
                </a:solidFill>
              </a:rPr>
              <a:t>’&lt;’</a:t>
            </a:r>
            <a:endParaRPr lang="ja-JP" altLang="en-US" dirty="0">
              <a:solidFill>
                <a:srgbClr val="000000"/>
              </a:solidFill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357313" y="5143500"/>
            <a:ext cx="70373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  <a:r>
              <a:rPr lang="ja-JP" altLang="en-US" sz="3600">
                <a:solidFill>
                  <a:srgbClr val="000000"/>
                </a:solidFill>
              </a:rPr>
              <a:t> </a:t>
            </a:r>
            <a:r>
              <a:rPr lang="en-US" altLang="ja-JP" sz="3600">
                <a:solidFill>
                  <a:srgbClr val="000000"/>
                </a:solidFill>
              </a:rPr>
              <a:t> | 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928813" y="5857875"/>
            <a:ext cx="54895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「文章は文あるいは、文と文章が並んだものある」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857500" y="3746500"/>
            <a:ext cx="3997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 dirty="0"/>
              <a:t>「不等号記号は</a:t>
            </a:r>
            <a:r>
              <a:rPr lang="en-US" altLang="ja-JP" sz="2000" dirty="0"/>
              <a:t>’&gt;’</a:t>
            </a:r>
            <a:r>
              <a:rPr lang="ja-JP" altLang="en-US" sz="2000" dirty="0"/>
              <a:t>または</a:t>
            </a:r>
            <a:r>
              <a:rPr lang="en-US" altLang="ja-JP" sz="2000" dirty="0"/>
              <a:t> ’&lt;’</a:t>
            </a:r>
            <a:r>
              <a:rPr lang="ja-JP" altLang="en-US" sz="2000" dirty="0"/>
              <a:t>である」</a:t>
            </a:r>
          </a:p>
        </p:txBody>
      </p:sp>
      <p:sp>
        <p:nvSpPr>
          <p:cNvPr id="21512" name="テキスト ボックス 9"/>
          <p:cNvSpPr txBox="1">
            <a:spLocks noChangeArrowheads="1"/>
          </p:cNvSpPr>
          <p:nvPr/>
        </p:nvSpPr>
        <p:spPr bwMode="auto">
          <a:xfrm>
            <a:off x="3929063" y="3214688"/>
            <a:ext cx="1193800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 can be</a:t>
            </a:r>
            <a:endParaRPr lang="ja-JP" altLang="en-US" sz="2400"/>
          </a:p>
        </p:txBody>
      </p:sp>
      <p:sp>
        <p:nvSpPr>
          <p:cNvPr id="21513" name="テキスト ボックス 10"/>
          <p:cNvSpPr txBox="1">
            <a:spLocks noChangeArrowheads="1"/>
          </p:cNvSpPr>
          <p:nvPr/>
        </p:nvSpPr>
        <p:spPr bwMode="auto">
          <a:xfrm>
            <a:off x="5827724" y="3214686"/>
            <a:ext cx="458788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or</a:t>
            </a:r>
            <a:endParaRPr lang="ja-JP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構文木</a:t>
            </a:r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1000125" y="1571625"/>
            <a:ext cx="7072313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式</a:t>
            </a:r>
            <a:r>
              <a:rPr lang="en-US" altLang="ja-JP" sz="2400"/>
              <a:t>&gt; ::= &lt;</a:t>
            </a:r>
            <a:r>
              <a:rPr lang="ja-JP" altLang="en-US" sz="2400"/>
              <a:t>数字</a:t>
            </a:r>
            <a:r>
              <a:rPr lang="en-US" altLang="ja-JP" sz="2400"/>
              <a:t>&gt;&lt;</a:t>
            </a:r>
            <a:r>
              <a:rPr lang="ja-JP" altLang="en-US" sz="2400"/>
              <a:t>論理記号</a:t>
            </a:r>
            <a:r>
              <a:rPr lang="en-US" altLang="ja-JP" sz="2400"/>
              <a:t>&gt;&lt;</a:t>
            </a:r>
            <a:r>
              <a:rPr lang="ja-JP" altLang="en-US" sz="2400"/>
              <a:t>数字</a:t>
            </a:r>
            <a:r>
              <a:rPr lang="en-US" altLang="ja-JP" sz="2400"/>
              <a:t>&gt;&lt;</a:t>
            </a:r>
            <a:r>
              <a:rPr lang="ja-JP" altLang="en-US" sz="2400"/>
              <a:t>等号</a:t>
            </a:r>
            <a:r>
              <a:rPr lang="en-US" altLang="ja-JP" sz="2400"/>
              <a:t>&gt;&lt;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 ::= ‘0’ | ‘1’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論理記号</a:t>
            </a:r>
            <a:r>
              <a:rPr lang="en-US" altLang="ja-JP" sz="2400"/>
              <a:t>&gt; ::= ‘and’ | ‘or’ 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等号</a:t>
            </a:r>
            <a:r>
              <a:rPr lang="en-US" altLang="ja-JP" sz="2400"/>
              <a:t>&gt; ::= ‘=’</a:t>
            </a:r>
          </a:p>
        </p:txBody>
      </p: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4038600" y="38100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式</a:t>
            </a:r>
            <a:r>
              <a:rPr lang="en-US" altLang="ja-JP" sz="2400"/>
              <a:t>&gt;</a:t>
            </a:r>
          </a:p>
        </p:txBody>
      </p:sp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928688" y="5786438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‘1’</a:t>
            </a:r>
          </a:p>
        </p:txBody>
      </p:sp>
      <p:sp>
        <p:nvSpPr>
          <p:cNvPr id="22534" name="Rectangle 11"/>
          <p:cNvSpPr>
            <a:spLocks noChangeArrowheads="1"/>
          </p:cNvSpPr>
          <p:nvPr/>
        </p:nvSpPr>
        <p:spPr bwMode="auto">
          <a:xfrm>
            <a:off x="571500" y="4953000"/>
            <a:ext cx="1166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35" name="AutoShape 12"/>
          <p:cNvCxnSpPr>
            <a:cxnSpLocks noChangeShapeType="1"/>
            <a:stCxn id="22532" idx="2"/>
            <a:endCxn id="22534" idx="0"/>
          </p:cNvCxnSpPr>
          <p:nvPr/>
        </p:nvCxnSpPr>
        <p:spPr bwMode="auto">
          <a:xfrm rot="5400000">
            <a:off x="2482057" y="2939256"/>
            <a:ext cx="685800" cy="3341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36" name="AutoShape 14"/>
          <p:cNvCxnSpPr>
            <a:cxnSpLocks noChangeShapeType="1"/>
          </p:cNvCxnSpPr>
          <p:nvPr/>
        </p:nvCxnSpPr>
        <p:spPr bwMode="auto">
          <a:xfrm rot="5400000">
            <a:off x="992982" y="5560218"/>
            <a:ext cx="3048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7" name="Rectangle 15"/>
          <p:cNvSpPr>
            <a:spLocks noChangeArrowheads="1"/>
          </p:cNvSpPr>
          <p:nvPr/>
        </p:nvSpPr>
        <p:spPr bwMode="auto">
          <a:xfrm>
            <a:off x="2814638" y="5757863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‘or’ </a:t>
            </a:r>
          </a:p>
        </p:txBody>
      </p:sp>
      <p:sp>
        <p:nvSpPr>
          <p:cNvPr id="22538" name="Rectangle 16"/>
          <p:cNvSpPr>
            <a:spLocks noChangeArrowheads="1"/>
          </p:cNvSpPr>
          <p:nvPr/>
        </p:nvSpPr>
        <p:spPr bwMode="auto">
          <a:xfrm>
            <a:off x="2209800" y="4953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論理記号</a:t>
            </a:r>
            <a:r>
              <a:rPr lang="en-US" altLang="ja-JP" sz="2400"/>
              <a:t>&gt;</a:t>
            </a:r>
          </a:p>
        </p:txBody>
      </p:sp>
      <p:cxnSp>
        <p:nvCxnSpPr>
          <p:cNvPr id="22539" name="AutoShape 17"/>
          <p:cNvCxnSpPr>
            <a:cxnSpLocks noChangeShapeType="1"/>
            <a:stCxn id="22532" idx="2"/>
            <a:endCxn id="22538" idx="0"/>
          </p:cNvCxnSpPr>
          <p:nvPr/>
        </p:nvCxnSpPr>
        <p:spPr bwMode="auto">
          <a:xfrm flipH="1">
            <a:off x="3162300" y="4267200"/>
            <a:ext cx="13335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0" name="AutoShape 19"/>
          <p:cNvCxnSpPr>
            <a:cxnSpLocks noChangeShapeType="1"/>
            <a:stCxn id="22538" idx="2"/>
            <a:endCxn id="22537" idx="0"/>
          </p:cNvCxnSpPr>
          <p:nvPr/>
        </p:nvCxnSpPr>
        <p:spPr bwMode="auto">
          <a:xfrm rot="5400000">
            <a:off x="2986087" y="5581651"/>
            <a:ext cx="347663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1" name="Rectangle 20"/>
          <p:cNvSpPr>
            <a:spLocks noChangeArrowheads="1"/>
          </p:cNvSpPr>
          <p:nvPr/>
        </p:nvSpPr>
        <p:spPr bwMode="auto">
          <a:xfrm>
            <a:off x="4500563" y="5757863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‘0’</a:t>
            </a:r>
          </a:p>
        </p:txBody>
      </p:sp>
      <p:sp>
        <p:nvSpPr>
          <p:cNvPr id="22542" name="Rectangle 22"/>
          <p:cNvSpPr>
            <a:spLocks noChangeArrowheads="1"/>
          </p:cNvSpPr>
          <p:nvPr/>
        </p:nvSpPr>
        <p:spPr bwMode="auto">
          <a:xfrm>
            <a:off x="4200525" y="4953000"/>
            <a:ext cx="11572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43" name="AutoShape 23"/>
          <p:cNvCxnSpPr>
            <a:cxnSpLocks noChangeShapeType="1"/>
            <a:stCxn id="22542" idx="2"/>
            <a:endCxn id="22541" idx="0"/>
          </p:cNvCxnSpPr>
          <p:nvPr/>
        </p:nvCxnSpPr>
        <p:spPr bwMode="auto">
          <a:xfrm rot="5400000">
            <a:off x="4602163" y="5580063"/>
            <a:ext cx="3429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4" name="AutoShape 25"/>
          <p:cNvCxnSpPr>
            <a:cxnSpLocks noChangeShapeType="1"/>
            <a:stCxn id="22532" idx="2"/>
            <a:endCxn id="22542" idx="0"/>
          </p:cNvCxnSpPr>
          <p:nvPr/>
        </p:nvCxnSpPr>
        <p:spPr bwMode="auto">
          <a:xfrm rot="16200000" flipH="1">
            <a:off x="4294982" y="4468018"/>
            <a:ext cx="685800" cy="284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5" name="Rectangle 27"/>
          <p:cNvSpPr>
            <a:spLocks noChangeArrowheads="1"/>
          </p:cNvSpPr>
          <p:nvPr/>
        </p:nvSpPr>
        <p:spPr bwMode="auto">
          <a:xfrm>
            <a:off x="7786688" y="58293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‘1’</a:t>
            </a:r>
          </a:p>
        </p:txBody>
      </p:sp>
      <p:sp>
        <p:nvSpPr>
          <p:cNvPr id="22546" name="Rectangle 28"/>
          <p:cNvSpPr>
            <a:spLocks noChangeArrowheads="1"/>
          </p:cNvSpPr>
          <p:nvPr/>
        </p:nvSpPr>
        <p:spPr bwMode="auto">
          <a:xfrm>
            <a:off x="7429500" y="4972050"/>
            <a:ext cx="12144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47" name="AutoShape 30"/>
          <p:cNvCxnSpPr>
            <a:cxnSpLocks noChangeShapeType="1"/>
            <a:stCxn id="22546" idx="2"/>
            <a:endCxn id="22545" idx="0"/>
          </p:cNvCxnSpPr>
          <p:nvPr/>
        </p:nvCxnSpPr>
        <p:spPr bwMode="auto">
          <a:xfrm rot="16200000" flipH="1">
            <a:off x="7847807" y="5623719"/>
            <a:ext cx="395287" cy="15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8" name="Text Box 31"/>
          <p:cNvSpPr txBox="1">
            <a:spLocks noChangeArrowheads="1"/>
          </p:cNvSpPr>
          <p:nvPr/>
        </p:nvSpPr>
        <p:spPr bwMode="auto">
          <a:xfrm>
            <a:off x="5702300" y="4953000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等号</a:t>
            </a:r>
            <a:r>
              <a:rPr lang="en-US" altLang="ja-JP" sz="2400"/>
              <a:t>&gt;</a:t>
            </a:r>
          </a:p>
        </p:txBody>
      </p:sp>
      <p:sp>
        <p:nvSpPr>
          <p:cNvPr id="22549" name="Text Box 32"/>
          <p:cNvSpPr txBox="1">
            <a:spLocks noChangeArrowheads="1"/>
          </p:cNvSpPr>
          <p:nvPr/>
        </p:nvSpPr>
        <p:spPr bwMode="auto">
          <a:xfrm>
            <a:off x="6019800" y="5757863"/>
            <a:ext cx="496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‘=’</a:t>
            </a:r>
          </a:p>
        </p:txBody>
      </p:sp>
      <p:cxnSp>
        <p:nvCxnSpPr>
          <p:cNvPr id="22550" name="AutoShape 33"/>
          <p:cNvCxnSpPr>
            <a:cxnSpLocks noChangeShapeType="1"/>
            <a:stCxn id="22548" idx="2"/>
            <a:endCxn id="22549" idx="0"/>
          </p:cNvCxnSpPr>
          <p:nvPr/>
        </p:nvCxnSpPr>
        <p:spPr bwMode="auto">
          <a:xfrm rot="5400000">
            <a:off x="6099175" y="5580063"/>
            <a:ext cx="347663" cy="7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1" name="AutoShape 34"/>
          <p:cNvCxnSpPr>
            <a:cxnSpLocks noChangeShapeType="1"/>
            <a:stCxn id="22532" idx="2"/>
            <a:endCxn id="22548" idx="0"/>
          </p:cNvCxnSpPr>
          <p:nvPr/>
        </p:nvCxnSpPr>
        <p:spPr bwMode="auto">
          <a:xfrm>
            <a:off x="4495800" y="4267200"/>
            <a:ext cx="178117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2" name="AutoShape 35"/>
          <p:cNvCxnSpPr>
            <a:cxnSpLocks noChangeShapeType="1"/>
            <a:stCxn id="22532" idx="2"/>
            <a:endCxn id="22546" idx="0"/>
          </p:cNvCxnSpPr>
          <p:nvPr/>
        </p:nvCxnSpPr>
        <p:spPr bwMode="auto">
          <a:xfrm rot="16200000" flipH="1">
            <a:off x="5914232" y="2848768"/>
            <a:ext cx="704850" cy="3541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53" name="AutoShape 36"/>
          <p:cNvSpPr>
            <a:spLocks noChangeArrowheads="1"/>
          </p:cNvSpPr>
          <p:nvPr/>
        </p:nvSpPr>
        <p:spPr bwMode="auto">
          <a:xfrm>
            <a:off x="228600" y="5562600"/>
            <a:ext cx="8610600" cy="990600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2554" name="AutoShape 37"/>
          <p:cNvSpPr>
            <a:spLocks noChangeArrowheads="1"/>
          </p:cNvSpPr>
          <p:nvPr/>
        </p:nvSpPr>
        <p:spPr bwMode="auto">
          <a:xfrm>
            <a:off x="285750" y="3743325"/>
            <a:ext cx="8610600" cy="1828800"/>
          </a:xfrm>
          <a:prstGeom prst="roundRect">
            <a:avLst>
              <a:gd name="adj" fmla="val 16667"/>
            </a:avLst>
          </a:prstGeom>
          <a:solidFill>
            <a:srgbClr val="FFCC99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2555" name="Text Box 38"/>
          <p:cNvSpPr txBox="1">
            <a:spLocks noChangeArrowheads="1"/>
          </p:cNvSpPr>
          <p:nvPr/>
        </p:nvSpPr>
        <p:spPr bwMode="auto">
          <a:xfrm>
            <a:off x="6515100" y="6118225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>
                <a:solidFill>
                  <a:schemeClr val="bg2"/>
                </a:solidFill>
              </a:rPr>
              <a:t>終端記号</a:t>
            </a:r>
          </a:p>
        </p:txBody>
      </p:sp>
      <p:sp>
        <p:nvSpPr>
          <p:cNvPr id="22556" name="Text Box 40"/>
          <p:cNvSpPr txBox="1">
            <a:spLocks noChangeArrowheads="1"/>
          </p:cNvSpPr>
          <p:nvPr/>
        </p:nvSpPr>
        <p:spPr bwMode="auto">
          <a:xfrm>
            <a:off x="6332538" y="3817938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>
                <a:solidFill>
                  <a:schemeClr val="bg2"/>
                </a:solidFill>
              </a:rPr>
              <a:t>非終端記号</a:t>
            </a:r>
          </a:p>
        </p:txBody>
      </p:sp>
      <p:sp>
        <p:nvSpPr>
          <p:cNvPr id="22557" name="テキスト ボックス 37"/>
          <p:cNvSpPr txBox="1">
            <a:spLocks noChangeArrowheads="1"/>
          </p:cNvSpPr>
          <p:nvPr/>
        </p:nvSpPr>
        <p:spPr bwMode="auto">
          <a:xfrm>
            <a:off x="571500" y="3071813"/>
            <a:ext cx="3670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（例） </a:t>
            </a:r>
            <a:r>
              <a:rPr lang="en-US" altLang="ja-JP" sz="2800"/>
              <a:t>1or0=1 </a:t>
            </a:r>
            <a:r>
              <a:rPr lang="ja-JP" altLang="en-US" sz="2800"/>
              <a:t>の構文木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457200"/>
            <a:ext cx="8686800" cy="1371600"/>
          </a:xfrm>
        </p:spPr>
        <p:txBody>
          <a:bodyPr/>
          <a:lstStyle/>
          <a:p>
            <a:pPr eaLnBrk="1" hangingPunct="1"/>
            <a:r>
              <a:rPr lang="ja-JP" altLang="en-US" smtClean="0"/>
              <a:t>拡張</a:t>
            </a:r>
            <a:r>
              <a:rPr lang="en-US" altLang="ja-JP" smtClean="0"/>
              <a:t>BNF</a:t>
            </a:r>
            <a:r>
              <a:rPr lang="ja-JP" altLang="en-US" smtClean="0"/>
              <a:t>記法（</a:t>
            </a:r>
            <a:r>
              <a:rPr lang="en-US" altLang="ja-JP" smtClean="0"/>
              <a:t>extended BNF</a:t>
            </a:r>
            <a:r>
              <a:rPr lang="ja-JP" altLang="en-US" smtClean="0"/>
              <a:t>）</a:t>
            </a:r>
            <a:r>
              <a:rPr lang="en-US" altLang="ja-JP" smtClean="0"/>
              <a:t>(1)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記法を読みやすいように拡張</a:t>
            </a:r>
          </a:p>
          <a:p>
            <a:pPr lvl="1" eaLnBrk="1" hangingPunct="1"/>
            <a:r>
              <a:rPr lang="ja-JP" altLang="en-US" smtClean="0"/>
              <a:t>次の式は「文章は一つ以上の文で構成される」ということを再帰的に表現</a:t>
            </a:r>
          </a:p>
          <a:p>
            <a:pPr lvl="1" eaLnBrk="1" hangingPunct="1"/>
            <a:endParaRPr lang="ja-JP" altLang="en-US" smtClean="0"/>
          </a:p>
          <a:p>
            <a:pPr lvl="1" eaLnBrk="1" hangingPunct="1"/>
            <a:endParaRPr lang="ja-JP" altLang="en-US" smtClean="0"/>
          </a:p>
          <a:p>
            <a:pPr lvl="1" eaLnBrk="1" hangingPunct="1"/>
            <a:r>
              <a:rPr lang="ja-JP" altLang="en-US" smtClean="0"/>
              <a:t>これをもっと簡潔に書きたい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571625" y="3497263"/>
            <a:ext cx="678021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 | 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571625" y="5214938"/>
            <a:ext cx="3576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  <a:r>
              <a:rPr lang="en-US" altLang="ja-JP" sz="3600" baseline="30000">
                <a:solidFill>
                  <a:srgbClr val="000000"/>
                </a:solidFill>
              </a:rPr>
              <a:t>+</a:t>
            </a:r>
            <a:endParaRPr lang="en-US" altLang="ja-JP" sz="3600">
              <a:solidFill>
                <a:srgbClr val="000000"/>
              </a:solidFill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4267200" y="6124575"/>
            <a:ext cx="4008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+</a:t>
            </a:r>
            <a:r>
              <a:rPr lang="ja-JP" altLang="en-US" sz="2400"/>
              <a:t>は１つ以上の繰り返しを表す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357188"/>
            <a:ext cx="8229600" cy="1000125"/>
          </a:xfrm>
        </p:spPr>
        <p:txBody>
          <a:bodyPr/>
          <a:lstStyle/>
          <a:p>
            <a:pPr eaLnBrk="1" hangingPunct="1"/>
            <a:r>
              <a:rPr lang="ja-JP" altLang="en-US" smtClean="0"/>
              <a:t>拡張</a:t>
            </a:r>
            <a:r>
              <a:rPr lang="en-US" altLang="ja-JP" smtClean="0"/>
              <a:t>BNF</a:t>
            </a:r>
            <a:r>
              <a:rPr lang="ja-JP" altLang="en-US" smtClean="0"/>
              <a:t>記法</a:t>
            </a:r>
            <a:r>
              <a:rPr lang="en-US" altLang="ja-JP" smtClean="0"/>
              <a:t>(2)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57313"/>
            <a:ext cx="8401050" cy="52863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ja-JP" sz="2800" dirty="0" smtClean="0"/>
              <a:t>A | B 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または</a:t>
            </a:r>
            <a:r>
              <a:rPr lang="en-US" altLang="ja-JP" sz="2800" dirty="0" smtClean="0"/>
              <a:t>B</a:t>
            </a:r>
            <a:r>
              <a:rPr lang="ja-JP" altLang="en-US" sz="2800" dirty="0" err="1" smtClean="0"/>
              <a:t>。</a:t>
            </a:r>
            <a:endParaRPr lang="en-US" altLang="ja-JP" sz="28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{A}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回以上の繰り返しを表す。</a:t>
            </a:r>
          </a:p>
          <a:p>
            <a:pPr lvl="1" eaLnBrk="1" hangingPunct="1">
              <a:defRPr/>
            </a:pPr>
            <a:r>
              <a:rPr lang="ja-JP" altLang="en-US" sz="2400" dirty="0" smtClean="0"/>
              <a:t>（例） </a:t>
            </a:r>
            <a:r>
              <a:rPr lang="en-US" altLang="ja-JP" sz="2400" dirty="0" smtClean="0"/>
              <a:t>{</a:t>
            </a:r>
            <a:r>
              <a:rPr lang="en-US" altLang="ja-JP" sz="2400" dirty="0" err="1" smtClean="0"/>
              <a:t>ab</a:t>
            </a:r>
            <a:r>
              <a:rPr lang="en-US" altLang="ja-JP" sz="2400" dirty="0" smtClean="0"/>
              <a:t>}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ε,</a:t>
            </a:r>
            <a:r>
              <a:rPr lang="ja-JP" altLang="en-US" sz="2400" dirty="0" smtClean="0"/>
              <a:t> </a:t>
            </a:r>
            <a:r>
              <a:rPr lang="en-US" altLang="ja-JP" sz="2400" dirty="0" err="1" smtClean="0"/>
              <a:t>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abababab</a:t>
            </a:r>
            <a:r>
              <a:rPr lang="en-US" altLang="ja-JP" sz="2400" dirty="0" smtClean="0"/>
              <a:t>, …</a:t>
            </a:r>
            <a:r>
              <a:rPr lang="ja-JP" altLang="en-US" sz="2400" dirty="0" smtClean="0"/>
              <a:t>を表す。</a:t>
            </a:r>
            <a:endParaRPr lang="en-US" altLang="ja-JP" sz="2400" dirty="0" smtClean="0"/>
          </a:p>
          <a:p>
            <a:pPr eaLnBrk="1" hangingPunct="1">
              <a:defRPr/>
            </a:pPr>
            <a:r>
              <a:rPr lang="ja-JP" altLang="en-US" sz="2800" dirty="0" smtClean="0"/>
              <a:t>（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）は、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をひとまとめにする。</a:t>
            </a:r>
            <a:endParaRPr lang="en-US" altLang="ja-JP" sz="2800" dirty="0" smtClean="0"/>
          </a:p>
          <a:p>
            <a:pPr lvl="1" eaLnBrk="1" hangingPunct="1">
              <a:defRPr/>
            </a:pPr>
            <a:r>
              <a:rPr lang="ja-JP" altLang="en-US" sz="2400" dirty="0" smtClean="0"/>
              <a:t>（例） （</a:t>
            </a:r>
            <a:r>
              <a:rPr lang="en-US" altLang="ja-JP" sz="2400" dirty="0" err="1" smtClean="0"/>
              <a:t>a|b</a:t>
            </a:r>
            <a:r>
              <a:rPr lang="ja-JP" altLang="en-US" sz="2400" dirty="0" smtClean="0"/>
              <a:t>）</a:t>
            </a:r>
            <a:r>
              <a:rPr lang="en-US" altLang="ja-JP" sz="2400" dirty="0" smtClean="0"/>
              <a:t>c 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ac</a:t>
            </a:r>
            <a:r>
              <a:rPr lang="ja-JP" altLang="en-US" sz="2400" dirty="0" smtClean="0"/>
              <a:t>または</a:t>
            </a:r>
            <a:r>
              <a:rPr lang="en-US" altLang="ja-JP" sz="2400" dirty="0" err="1" smtClean="0"/>
              <a:t>bc</a:t>
            </a:r>
            <a:r>
              <a:rPr lang="ja-JP" altLang="en-US" sz="2400" dirty="0" smtClean="0"/>
              <a:t>を表す。</a:t>
            </a:r>
            <a:endParaRPr lang="en-US" altLang="ja-JP" sz="24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[A]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または空を表す。</a:t>
            </a:r>
            <a:r>
              <a:rPr lang="ja-JP" altLang="en-US" sz="2400" dirty="0" smtClean="0"/>
              <a:t>（例） </a:t>
            </a:r>
            <a:r>
              <a:rPr lang="en-US" altLang="ja-JP" sz="2400" dirty="0" smtClean="0"/>
              <a:t>[a]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ε</a:t>
            </a:r>
            <a:r>
              <a:rPr lang="ja-JP" altLang="en-US" sz="2400" dirty="0" smtClean="0"/>
              <a:t>または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を表す。</a:t>
            </a:r>
            <a:endParaRPr lang="ja-JP" altLang="en-US" sz="28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(A)</a:t>
            </a:r>
            <a:r>
              <a:rPr lang="en-US" altLang="ja-JP" sz="2800" baseline="30000" dirty="0" smtClean="0"/>
              <a:t>+</a:t>
            </a:r>
            <a:r>
              <a:rPr lang="ja-JP" altLang="en-US" sz="2800" baseline="30000" dirty="0" smtClean="0"/>
              <a:t>　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の１回以上の繰り返しを表す。</a:t>
            </a:r>
          </a:p>
          <a:p>
            <a:pPr eaLnBrk="1" hangingPunct="1">
              <a:defRPr/>
            </a:pPr>
            <a:r>
              <a:rPr lang="en-US" altLang="ja-JP" sz="2800" dirty="0" smtClean="0"/>
              <a:t>(A)</a:t>
            </a:r>
            <a:r>
              <a:rPr lang="en-US" altLang="ja-JP" sz="2800" baseline="30000" dirty="0" smtClean="0"/>
              <a:t>*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回以上の繰り返しを表す。（</a:t>
            </a:r>
            <a:r>
              <a:rPr lang="en-US" altLang="ja-JP" sz="2800" dirty="0" smtClean="0"/>
              <a:t>{A}</a:t>
            </a:r>
            <a:r>
              <a:rPr lang="ja-JP" altLang="en-US" sz="2800" dirty="0" smtClean="0"/>
              <a:t>と同じ）</a:t>
            </a:r>
            <a:endParaRPr lang="ja-JP" altLang="en-US" dirty="0" smtClean="0"/>
          </a:p>
          <a:p>
            <a:pPr lvl="1" eaLnBrk="1" hangingPunct="1">
              <a:defRPr/>
            </a:pPr>
            <a:r>
              <a:rPr lang="ja-JP" altLang="en-US" dirty="0" smtClean="0"/>
              <a:t> （例） </a:t>
            </a:r>
            <a:r>
              <a:rPr lang="en-US" altLang="ja-JP" dirty="0" smtClean="0"/>
              <a:t>a</a:t>
            </a:r>
            <a:r>
              <a:rPr lang="en-US" altLang="ja-JP" sz="2400" baseline="30000" dirty="0" smtClean="0"/>
              <a:t>+ 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a, </a:t>
            </a:r>
            <a:r>
              <a:rPr lang="en-US" altLang="ja-JP" sz="2400" dirty="0" err="1" smtClean="0"/>
              <a:t>aa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aaa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aaaa</a:t>
            </a:r>
            <a:r>
              <a:rPr lang="en-US" altLang="ja-JP" sz="2400" dirty="0" smtClean="0"/>
              <a:t>, ….</a:t>
            </a:r>
            <a:r>
              <a:rPr lang="ja-JP" altLang="en-US" sz="2400" dirty="0" smtClean="0"/>
              <a:t>を表す。 </a:t>
            </a:r>
            <a:r>
              <a:rPr lang="en-US" altLang="ja-JP" sz="2400" dirty="0" err="1" smtClean="0"/>
              <a:t>aa</a:t>
            </a:r>
            <a:r>
              <a:rPr lang="en-US" altLang="ja-JP" sz="2400" baseline="30000" dirty="0" smtClean="0"/>
              <a:t>*</a:t>
            </a:r>
            <a:r>
              <a:rPr lang="ja-JP" altLang="en-US" sz="2400" dirty="0" smtClean="0"/>
              <a:t>と同じ。</a:t>
            </a:r>
            <a:endParaRPr lang="ja-JP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【</a:t>
            </a:r>
            <a:r>
              <a:rPr lang="ja-JP" altLang="en-US" smtClean="0"/>
              <a:t>参考</a:t>
            </a:r>
            <a:r>
              <a:rPr lang="en-US" altLang="ja-JP" smtClean="0"/>
              <a:t>】Chomsky</a:t>
            </a:r>
            <a:r>
              <a:rPr lang="ja-JP" altLang="en-US" smtClean="0"/>
              <a:t>の言語階層</a:t>
            </a:r>
          </a:p>
        </p:txBody>
      </p:sp>
      <p:sp>
        <p:nvSpPr>
          <p:cNvPr id="26627" name="テキスト ボックス 2"/>
          <p:cNvSpPr txBox="1">
            <a:spLocks noChangeArrowheads="1"/>
          </p:cNvSpPr>
          <p:nvPr/>
        </p:nvSpPr>
        <p:spPr bwMode="auto">
          <a:xfrm>
            <a:off x="642910" y="1785926"/>
            <a:ext cx="760490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Noam Chomsky</a:t>
            </a:r>
            <a:r>
              <a:rPr lang="ja-JP" altLang="en-US" sz="2800" dirty="0"/>
              <a:t>の言語階層</a:t>
            </a:r>
            <a:endParaRPr lang="en-US" altLang="ja-JP" sz="2800" dirty="0"/>
          </a:p>
          <a:p>
            <a:r>
              <a:rPr lang="en-US" altLang="ja-JP" sz="2800" dirty="0"/>
              <a:t>  Type 0 </a:t>
            </a:r>
            <a:r>
              <a:rPr lang="ja-JP" altLang="en-US" sz="2800" dirty="0"/>
              <a:t>制限なし</a:t>
            </a:r>
            <a:endParaRPr lang="en-US" altLang="ja-JP" sz="2800" dirty="0"/>
          </a:p>
          <a:p>
            <a:r>
              <a:rPr lang="en-US" altLang="ja-JP" sz="2800" dirty="0"/>
              <a:t>  Type 1</a:t>
            </a:r>
            <a:r>
              <a:rPr lang="ja-JP" altLang="en-US" sz="2800" dirty="0"/>
              <a:t> 文脈依存文法</a:t>
            </a:r>
            <a:r>
              <a:rPr lang="en-US" altLang="ja-JP" sz="2800" dirty="0"/>
              <a:t>(context sensitive grammar)</a:t>
            </a:r>
          </a:p>
          <a:p>
            <a:r>
              <a:rPr lang="en-US" altLang="ja-JP" sz="2800" dirty="0"/>
              <a:t>  Type 2 </a:t>
            </a:r>
            <a:r>
              <a:rPr lang="ja-JP" altLang="en-US" sz="2800" dirty="0"/>
              <a:t>文脈自由文法</a:t>
            </a:r>
            <a:r>
              <a:rPr lang="en-US" altLang="ja-JP" sz="2800" dirty="0"/>
              <a:t>(context free grammar)</a:t>
            </a:r>
          </a:p>
          <a:p>
            <a:r>
              <a:rPr lang="en-US" altLang="ja-JP" sz="2800" dirty="0"/>
              <a:t>  Type 3 </a:t>
            </a:r>
            <a:r>
              <a:rPr lang="ja-JP" altLang="en-US" sz="2800" dirty="0"/>
              <a:t>正規文法</a:t>
            </a:r>
            <a:r>
              <a:rPr lang="en-US" altLang="ja-JP" sz="2800" dirty="0"/>
              <a:t>(regular grammar)</a:t>
            </a:r>
            <a:endParaRPr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4500570"/>
            <a:ext cx="52966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(</a:t>
            </a:r>
            <a:r>
              <a:rPr lang="ja-JP" altLang="en-US" sz="2800" dirty="0" smtClean="0"/>
              <a:t>１年後期 形式言語とオートマトン</a:t>
            </a:r>
            <a:r>
              <a:rPr lang="en-US" altLang="ja-JP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</a:t>
            </a:r>
            <a:r>
              <a:rPr lang="en-US" altLang="ja-JP" smtClean="0"/>
              <a:t>1</a:t>
            </a:r>
            <a:r>
              <a:rPr lang="ja-JP" altLang="en-US" smtClean="0"/>
              <a:t>問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614486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ビット列を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記法を利用して定義せよ</a:t>
            </a:r>
            <a:r>
              <a:rPr lang="en-US" altLang="ja-JP" dirty="0" smtClean="0"/>
              <a:t>. </a:t>
            </a:r>
            <a:r>
              <a:rPr lang="ja-JP" altLang="en-US" dirty="0" smtClean="0"/>
              <a:t>また拡張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記法で書くとどうなるか</a:t>
            </a:r>
            <a:r>
              <a:rPr lang="en-US" altLang="ja-JP" dirty="0" smtClean="0"/>
              <a:t>.</a:t>
            </a:r>
          </a:p>
          <a:p>
            <a:pPr lvl="1" eaLnBrk="1" hangingPunct="1"/>
            <a:r>
              <a:rPr lang="ja-JP" altLang="en-US" dirty="0" smtClean="0"/>
              <a:t>以下の非終端記号を利用せよ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000100" y="3500438"/>
            <a:ext cx="735811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2800" dirty="0" smtClean="0"/>
              <a:t>ビット列用の非終端記号 </a:t>
            </a:r>
            <a:r>
              <a:rPr lang="en-US" altLang="ja-JP" sz="2800" dirty="0" smtClean="0"/>
              <a:t>--- </a:t>
            </a:r>
            <a:r>
              <a:rPr lang="ja-JP" altLang="en-US" sz="2800" b="0" dirty="0" smtClean="0"/>
              <a:t>＜</a:t>
            </a:r>
            <a:r>
              <a:rPr lang="ja-JP" altLang="en-US" sz="2800" b="0" dirty="0"/>
              <a:t>ビット列＞ </a:t>
            </a:r>
            <a:endParaRPr lang="en-US" altLang="ja-JP" sz="2800" dirty="0" smtClean="0"/>
          </a:p>
          <a:p>
            <a:pPr>
              <a:spcBef>
                <a:spcPct val="50000"/>
              </a:spcBef>
            </a:pPr>
            <a:r>
              <a:rPr lang="ja-JP" altLang="en-US" sz="2800" b="0" dirty="0" smtClean="0"/>
              <a:t>ビット用の非終端記号 </a:t>
            </a:r>
            <a:r>
              <a:rPr lang="en-US" altLang="ja-JP" sz="2800" b="0" dirty="0" smtClean="0"/>
              <a:t>--- </a:t>
            </a:r>
            <a:r>
              <a:rPr lang="ja-JP" altLang="en-US" sz="2800" b="0" dirty="0" smtClean="0"/>
              <a:t>＜</a:t>
            </a:r>
            <a:r>
              <a:rPr lang="ja-JP" altLang="en-US" sz="2800" b="0" dirty="0"/>
              <a:t>ビット＞ 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1071538" y="5286388"/>
            <a:ext cx="62424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（ビット列の例）</a:t>
            </a:r>
            <a:endParaRPr lang="en-US" altLang="ja-JP" sz="2800" dirty="0" smtClean="0"/>
          </a:p>
          <a:p>
            <a:r>
              <a:rPr lang="en-US" altLang="ja-JP" sz="2800" b="0" dirty="0" smtClean="0"/>
              <a:t>       10010111001011100010100  </a:t>
            </a:r>
            <a:r>
              <a:rPr lang="ja-JP" altLang="en-US" sz="2800" b="0" dirty="0" smtClean="0"/>
              <a:t>など。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第２問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162050"/>
          </a:xfrm>
        </p:spPr>
        <p:txBody>
          <a:bodyPr/>
          <a:lstStyle/>
          <a:p>
            <a:pPr eaLnBrk="1" hangingPunct="1"/>
            <a:r>
              <a:rPr lang="en-US" altLang="ja-JP" smtClean="0"/>
              <a:t> a</a:t>
            </a:r>
            <a:r>
              <a:rPr lang="ja-JP" altLang="en-US" smtClean="0"/>
              <a:t>が偶数個</a:t>
            </a:r>
            <a:r>
              <a:rPr lang="en-US" altLang="ja-JP" smtClean="0"/>
              <a:t>(</a:t>
            </a:r>
            <a:r>
              <a:rPr lang="ja-JP" altLang="en-US" smtClean="0"/>
              <a:t>０個は除く</a:t>
            </a:r>
            <a:r>
              <a:rPr lang="en-US" altLang="ja-JP" smtClean="0"/>
              <a:t>)</a:t>
            </a:r>
            <a:r>
              <a:rPr lang="ja-JP" altLang="en-US" smtClean="0"/>
              <a:t>並んだ文字列を</a:t>
            </a:r>
            <a:r>
              <a:rPr lang="en-US" altLang="ja-JP" smtClean="0"/>
              <a:t>BNF</a:t>
            </a:r>
            <a:r>
              <a:rPr lang="ja-JP" altLang="en-US" smtClean="0"/>
              <a:t>記法、拡張</a:t>
            </a:r>
            <a:r>
              <a:rPr lang="en-US" altLang="ja-JP" smtClean="0"/>
              <a:t>BNF</a:t>
            </a:r>
            <a:r>
              <a:rPr lang="ja-JP" altLang="en-US" smtClean="0"/>
              <a:t>記法で定義せよ。</a:t>
            </a: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1142976" y="3643314"/>
            <a:ext cx="48574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（例）</a:t>
            </a:r>
            <a:r>
              <a:rPr lang="en-US" altLang="ja-JP" sz="3200" b="0" dirty="0" smtClean="0"/>
              <a:t> </a:t>
            </a:r>
            <a:r>
              <a:rPr lang="en-US" altLang="ja-JP" sz="3200" b="0" dirty="0" err="1" smtClean="0"/>
              <a:t>aa</a:t>
            </a:r>
            <a:r>
              <a:rPr lang="en-US" altLang="ja-JP" sz="3200" b="0" dirty="0" smtClean="0"/>
              <a:t> </a:t>
            </a:r>
            <a:r>
              <a:rPr lang="ja-JP" altLang="en-US" sz="3200" b="0" dirty="0" smtClean="0"/>
              <a:t>や </a:t>
            </a:r>
            <a:r>
              <a:rPr lang="en-US" altLang="ja-JP" sz="3200" b="0" dirty="0" err="1" smtClean="0"/>
              <a:t>aaaaaaaa</a:t>
            </a:r>
            <a:r>
              <a:rPr lang="en-US" altLang="ja-JP" sz="3200" b="0" dirty="0" smtClean="0"/>
              <a:t> </a:t>
            </a:r>
            <a:r>
              <a:rPr lang="ja-JP" altLang="en-US" sz="3200" b="0" dirty="0" smtClean="0"/>
              <a:t>など。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第３問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193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ja-JP" dirty="0" smtClean="0"/>
              <a:t> </a:t>
            </a:r>
            <a:r>
              <a:rPr lang="ja-JP" altLang="en-US" dirty="0" smtClean="0"/>
              <a:t>自然数リストは、</a:t>
            </a:r>
            <a:r>
              <a:rPr lang="en-US" altLang="ja-JP" dirty="0" smtClean="0"/>
              <a:t>(</a:t>
            </a:r>
            <a:r>
              <a:rPr lang="ja-JP" altLang="en-US" dirty="0" smtClean="0"/>
              <a:t>　</a:t>
            </a:r>
            <a:r>
              <a:rPr lang="en-US" altLang="ja-JP" dirty="0" smtClean="0"/>
              <a:t>)</a:t>
            </a:r>
            <a:r>
              <a:rPr lang="ja-JP" altLang="en-US" dirty="0" smtClean="0"/>
              <a:t>であるか、あるいは自然数リストと自然数を</a:t>
            </a:r>
            <a:r>
              <a:rPr lang="en-US" altLang="ja-JP" dirty="0" smtClean="0"/>
              <a:t>(</a:t>
            </a:r>
            <a:r>
              <a:rPr lang="ja-JP" altLang="en-US" dirty="0" smtClean="0"/>
              <a:t>自然数 </a:t>
            </a:r>
            <a:r>
              <a:rPr lang="en-US" altLang="ja-JP" dirty="0" smtClean="0"/>
              <a:t>. </a:t>
            </a:r>
            <a:r>
              <a:rPr lang="ja-JP" altLang="en-US" dirty="0" smtClean="0"/>
              <a:t>自然数リスト</a:t>
            </a:r>
            <a:r>
              <a:rPr lang="en-US" altLang="ja-JP" dirty="0" smtClean="0"/>
              <a:t>) </a:t>
            </a:r>
            <a:r>
              <a:rPr lang="ja-JP" altLang="en-US" dirty="0" err="1" smtClean="0"/>
              <a:t>のように</a:t>
            </a:r>
            <a:r>
              <a:rPr lang="ja-JP" altLang="en-US" dirty="0" smtClean="0"/>
              <a:t>してペアにしたものであるとする。これを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記法で表せ。ただし自然数は</a:t>
            </a:r>
            <a:r>
              <a:rPr lang="en-US" altLang="ja-JP" dirty="0" smtClean="0"/>
              <a:t>&lt;</a:t>
            </a:r>
            <a:r>
              <a:rPr lang="en-US" altLang="ja-JP" dirty="0" err="1" smtClean="0"/>
              <a:t>nat</a:t>
            </a:r>
            <a:r>
              <a:rPr lang="en-US" altLang="ja-JP" dirty="0" smtClean="0"/>
              <a:t>&gt;</a:t>
            </a:r>
            <a:r>
              <a:rPr lang="ja-JP" altLang="en-US" dirty="0" smtClean="0"/>
              <a:t>で既に定義されているものとする。</a:t>
            </a:r>
            <a:endParaRPr lang="en-US" altLang="ja-JP" dirty="0" smtClean="0"/>
          </a:p>
          <a:p>
            <a:pPr eaLnBrk="1" hangingPunct="1">
              <a:buFontTx/>
              <a:buNone/>
            </a:pP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4643446"/>
            <a:ext cx="6143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（例）</a:t>
            </a:r>
            <a:endParaRPr lang="en-US" altLang="ja-JP" sz="3200" dirty="0" smtClean="0"/>
          </a:p>
          <a:p>
            <a:r>
              <a:rPr kumimoji="1" lang="en-US" altLang="ja-JP" sz="3200" dirty="0" smtClean="0"/>
              <a:t>       (2 . (30 . (5 . ( ) ) ) )</a:t>
            </a:r>
            <a:r>
              <a:rPr lang="ja-JP" altLang="en-US" sz="3200" dirty="0" smtClean="0"/>
              <a:t>  など。</a:t>
            </a:r>
            <a:endParaRPr kumimoji="1" lang="en-US" altLang="ja-JP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第４問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1620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対応のとれた括弧からなる文字列を</a:t>
            </a:r>
            <a:r>
              <a:rPr lang="en-US" altLang="ja-JP" smtClean="0"/>
              <a:t>BNF</a:t>
            </a:r>
            <a:r>
              <a:rPr lang="ja-JP" altLang="en-US" smtClean="0"/>
              <a:t>記法で定義せよ。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1071563" y="3643313"/>
            <a:ext cx="414248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3600" dirty="0" smtClean="0"/>
              <a:t>（例）</a:t>
            </a:r>
            <a:endParaRPr lang="en-US" altLang="ja-JP" sz="3600" dirty="0" smtClean="0"/>
          </a:p>
          <a:p>
            <a:r>
              <a:rPr lang="en-US" altLang="ja-JP" sz="3600" b="0" dirty="0" smtClean="0"/>
              <a:t>      ()  </a:t>
            </a:r>
            <a:r>
              <a:rPr lang="ja-JP" altLang="en-US" sz="3600" b="0" dirty="0" smtClean="0"/>
              <a:t>や </a:t>
            </a:r>
            <a:r>
              <a:rPr lang="en-US" altLang="ja-JP" sz="3600" b="0" dirty="0" smtClean="0"/>
              <a:t> ()(())  </a:t>
            </a:r>
            <a:r>
              <a:rPr lang="ja-JP" altLang="en-US" sz="3600" b="0" dirty="0" smtClean="0"/>
              <a:t>など。</a:t>
            </a:r>
            <a:endParaRPr lang="en-US" altLang="ja-JP" sz="36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第５問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7335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対応のとれた括弧で、３段階以上のネストは許さないような文字列を</a:t>
            </a:r>
            <a:r>
              <a:rPr lang="en-US" altLang="ja-JP" smtClean="0"/>
              <a:t>BNF</a:t>
            </a:r>
            <a:r>
              <a:rPr lang="ja-JP" altLang="en-US" smtClean="0"/>
              <a:t>記法で記述せよ。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1071563" y="3857625"/>
            <a:ext cx="4724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 b="0"/>
              <a:t>(), (()), ()(), ()(()),  ……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071563" y="4643438"/>
            <a:ext cx="7500937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3200" b="0"/>
              <a:t>()((())) </a:t>
            </a:r>
            <a:r>
              <a:rPr lang="ja-JP" altLang="en-US" sz="3200" b="0"/>
              <a:t>など、ネストが３段階以上のものは除く。</a:t>
            </a:r>
            <a:endParaRPr lang="en-US" altLang="ja-JP" sz="3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第６問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7335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問５の文字列は正規表現で記述できるか。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3200" dirty="0" smtClean="0"/>
              <a:t>（</a:t>
            </a:r>
            <a:r>
              <a:rPr lang="en-US" altLang="ja-JP" sz="3200" dirty="0" smtClean="0"/>
              <a:t>syntax graph</a:t>
            </a:r>
            <a:r>
              <a:rPr lang="ja-JP" altLang="en-US" sz="3200" dirty="0" smtClean="0"/>
              <a:t>あるいは</a:t>
            </a:r>
            <a:r>
              <a:rPr lang="en-US" altLang="ja-JP" sz="3200" dirty="0" smtClean="0"/>
              <a:t>syntax diagram</a:t>
            </a:r>
            <a:r>
              <a:rPr lang="ja-JP" altLang="en-US" sz="3200" dirty="0" smtClean="0"/>
              <a:t>）</a:t>
            </a:r>
            <a:endParaRPr lang="ja-JP" altLang="en-US" dirty="0" smtClean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85720" y="2786058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（さきほどの例） </a:t>
            </a:r>
            <a:r>
              <a:rPr lang="en-US" altLang="ja-JP" sz="2400" dirty="0" smtClean="0"/>
              <a:t>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::= ’0’ | ’1</a:t>
            </a:r>
            <a:r>
              <a:rPr lang="en-US" altLang="ja-JP" sz="2400" dirty="0" smtClean="0"/>
              <a:t>’  </a:t>
            </a:r>
            <a:endParaRPr lang="en-US" altLang="ja-JP" sz="2400" dirty="0"/>
          </a:p>
          <a:p>
            <a:r>
              <a:rPr lang="en-US" altLang="ja-JP" sz="2400" dirty="0" smtClean="0"/>
              <a:t>                              &lt;</a:t>
            </a:r>
            <a:r>
              <a:rPr lang="ja-JP" altLang="en-US" sz="2400" dirty="0"/>
              <a:t>式</a:t>
            </a:r>
            <a:r>
              <a:rPr lang="en-US" altLang="ja-JP" sz="2400" dirty="0"/>
              <a:t>&gt; ::=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</a:t>
            </a:r>
            <a:r>
              <a:rPr lang="ja-JP" altLang="en-US" sz="2400" dirty="0"/>
              <a:t>（</a:t>
            </a:r>
            <a:r>
              <a:rPr lang="en-US" altLang="ja-JP" sz="2400" dirty="0"/>
              <a:t>’and’ | ’or’</a:t>
            </a:r>
            <a:r>
              <a:rPr lang="ja-JP" altLang="en-US" sz="2400" dirty="0"/>
              <a:t>）</a:t>
            </a:r>
            <a:r>
              <a:rPr lang="en-US" altLang="ja-JP" sz="2400" dirty="0"/>
              <a:t>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’=’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85720" y="3771912"/>
            <a:ext cx="696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数字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1723995" y="40005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1</a:t>
            </a: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1723995" y="46863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0</a:t>
            </a:r>
          </a:p>
        </p:txBody>
      </p:sp>
      <p:cxnSp>
        <p:nvCxnSpPr>
          <p:cNvPr id="18439" name="AutoShape 7"/>
          <p:cNvCxnSpPr>
            <a:cxnSpLocks noChangeShapeType="1"/>
            <a:endCxn id="18437" idx="1"/>
          </p:cNvCxnSpPr>
          <p:nvPr/>
        </p:nvCxnSpPr>
        <p:spPr bwMode="auto">
          <a:xfrm>
            <a:off x="733395" y="4229112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0" name="AutoShape 8"/>
          <p:cNvCxnSpPr>
            <a:cxnSpLocks noChangeShapeType="1"/>
            <a:endCxn id="18438" idx="1"/>
          </p:cNvCxnSpPr>
          <p:nvPr/>
        </p:nvCxnSpPr>
        <p:spPr bwMode="auto">
          <a:xfrm>
            <a:off x="733395" y="4233875"/>
            <a:ext cx="990600" cy="6810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41" name="AutoShape 9"/>
          <p:cNvCxnSpPr>
            <a:cxnSpLocks noChangeShapeType="1"/>
            <a:stCxn id="18437" idx="3"/>
          </p:cNvCxnSpPr>
          <p:nvPr/>
        </p:nvCxnSpPr>
        <p:spPr bwMode="auto">
          <a:xfrm>
            <a:off x="2638395" y="4229112"/>
            <a:ext cx="99060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2" name="AutoShape 10"/>
          <p:cNvCxnSpPr>
            <a:cxnSpLocks noChangeShapeType="1"/>
            <a:stCxn id="18438" idx="3"/>
          </p:cNvCxnSpPr>
          <p:nvPr/>
        </p:nvCxnSpPr>
        <p:spPr bwMode="auto">
          <a:xfrm flipV="1">
            <a:off x="2638395" y="4229112"/>
            <a:ext cx="304800" cy="685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357188" y="5267348"/>
            <a:ext cx="441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 dirty="0"/>
              <a:t>式</a:t>
            </a:r>
          </a:p>
        </p:txBody>
      </p:sp>
      <p:cxnSp>
        <p:nvCxnSpPr>
          <p:cNvPr id="18444" name="AutoShape 12"/>
          <p:cNvCxnSpPr>
            <a:cxnSpLocks noChangeShapeType="1"/>
            <a:endCxn id="18445" idx="1"/>
          </p:cNvCxnSpPr>
          <p:nvPr/>
        </p:nvCxnSpPr>
        <p:spPr bwMode="auto">
          <a:xfrm flipV="1">
            <a:off x="762000" y="5800748"/>
            <a:ext cx="5334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1295400" y="5534048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2667000" y="55721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and</a:t>
            </a:r>
          </a:p>
        </p:txBody>
      </p:sp>
      <p:cxnSp>
        <p:nvCxnSpPr>
          <p:cNvPr id="18447" name="AutoShape 15"/>
          <p:cNvCxnSpPr>
            <a:cxnSpLocks noChangeShapeType="1"/>
            <a:stCxn id="18445" idx="3"/>
            <a:endCxn id="18446" idx="1"/>
          </p:cNvCxnSpPr>
          <p:nvPr/>
        </p:nvCxnSpPr>
        <p:spPr bwMode="auto">
          <a:xfrm>
            <a:off x="2057400" y="580074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8" name="AutoShape 16"/>
          <p:cNvCxnSpPr>
            <a:cxnSpLocks noChangeShapeType="1"/>
            <a:stCxn id="18445" idx="3"/>
            <a:endCxn id="18451" idx="1"/>
          </p:cNvCxnSpPr>
          <p:nvPr/>
        </p:nvCxnSpPr>
        <p:spPr bwMode="auto">
          <a:xfrm>
            <a:off x="2057400" y="5800748"/>
            <a:ext cx="609600" cy="685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49" name="AutoShape 17"/>
          <p:cNvCxnSpPr>
            <a:cxnSpLocks noChangeShapeType="1"/>
            <a:stCxn id="18446" idx="3"/>
            <a:endCxn id="18452" idx="1"/>
          </p:cNvCxnSpPr>
          <p:nvPr/>
        </p:nvCxnSpPr>
        <p:spPr bwMode="auto">
          <a:xfrm>
            <a:off x="3581400" y="5800748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50" name="AutoShape 18"/>
          <p:cNvCxnSpPr>
            <a:cxnSpLocks noChangeShapeType="1"/>
          </p:cNvCxnSpPr>
          <p:nvPr/>
        </p:nvCxnSpPr>
        <p:spPr bwMode="auto">
          <a:xfrm flipV="1">
            <a:off x="3581400" y="5800748"/>
            <a:ext cx="304800" cy="685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2667000" y="62579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or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4314825" y="5538811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715000" y="55721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2800"/>
              <a:t>=</a:t>
            </a:r>
          </a:p>
        </p:txBody>
      </p:sp>
      <p:cxnSp>
        <p:nvCxnSpPr>
          <p:cNvPr id="18454" name="AutoShape 22"/>
          <p:cNvCxnSpPr>
            <a:cxnSpLocks noChangeShapeType="1"/>
            <a:stCxn id="18452" idx="3"/>
            <a:endCxn id="18453" idx="1"/>
          </p:cNvCxnSpPr>
          <p:nvPr/>
        </p:nvCxnSpPr>
        <p:spPr bwMode="auto">
          <a:xfrm flipV="1">
            <a:off x="5076825" y="5800748"/>
            <a:ext cx="63817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55" name="AutoShape 23"/>
          <p:cNvCxnSpPr>
            <a:cxnSpLocks noChangeShapeType="1"/>
            <a:stCxn id="18453" idx="3"/>
            <a:endCxn id="18456" idx="1"/>
          </p:cNvCxnSpPr>
          <p:nvPr/>
        </p:nvCxnSpPr>
        <p:spPr bwMode="auto">
          <a:xfrm flipV="1">
            <a:off x="6629400" y="5795986"/>
            <a:ext cx="457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7086600" y="5529286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cxnSp>
        <p:nvCxnSpPr>
          <p:cNvPr id="18457" name="AutoShape 28"/>
          <p:cNvCxnSpPr>
            <a:cxnSpLocks noChangeShapeType="1"/>
            <a:stCxn id="18456" idx="3"/>
          </p:cNvCxnSpPr>
          <p:nvPr/>
        </p:nvCxnSpPr>
        <p:spPr bwMode="auto">
          <a:xfrm>
            <a:off x="7848600" y="5795986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8" name="正方形/長方形 29"/>
          <p:cNvSpPr>
            <a:spLocks noChangeArrowheads="1"/>
          </p:cNvSpPr>
          <p:nvPr/>
        </p:nvSpPr>
        <p:spPr bwMode="auto">
          <a:xfrm>
            <a:off x="642910" y="1643050"/>
            <a:ext cx="757242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文脈自由文法の構文規則を表す際に</a:t>
            </a:r>
            <a:r>
              <a:rPr lang="ja-JP" altLang="en-US" sz="2800" dirty="0" smtClean="0"/>
              <a:t>用いられる</a:t>
            </a:r>
            <a:r>
              <a:rPr lang="en-US" altLang="ja-JP" sz="2800" dirty="0" smtClean="0"/>
              <a:t>graphical</a:t>
            </a:r>
            <a:r>
              <a:rPr lang="ja-JP" altLang="en-US" sz="2800" dirty="0" smtClean="0"/>
              <a:t>な言語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143008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28662" y="1428736"/>
            <a:ext cx="185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終端記号 </a:t>
            </a:r>
            <a:r>
              <a:rPr kumimoji="1" lang="en-US" altLang="ja-JP" sz="2800" dirty="0" smtClean="0"/>
              <a:t>x</a:t>
            </a:r>
            <a:endParaRPr kumimoji="1" lang="ja-JP" altLang="en-US" sz="2800" dirty="0"/>
          </a:p>
        </p:txBody>
      </p:sp>
      <p:sp>
        <p:nvSpPr>
          <p:cNvPr id="28" name="AutoShape 14"/>
          <p:cNvSpPr>
            <a:spLocks noChangeArrowheads="1"/>
          </p:cNvSpPr>
          <p:nvPr/>
        </p:nvSpPr>
        <p:spPr bwMode="auto">
          <a:xfrm>
            <a:off x="2428860" y="2143116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dirty="0" smtClean="0"/>
              <a:t>x</a:t>
            </a:r>
            <a:endParaRPr lang="en-US" altLang="ja-JP" dirty="0"/>
          </a:p>
        </p:txBody>
      </p:sp>
      <p:cxnSp>
        <p:nvCxnSpPr>
          <p:cNvPr id="29" name="AutoShape 15"/>
          <p:cNvCxnSpPr>
            <a:cxnSpLocks noChangeShapeType="1"/>
            <a:endCxn id="28" idx="1"/>
          </p:cNvCxnSpPr>
          <p:nvPr/>
        </p:nvCxnSpPr>
        <p:spPr bwMode="auto">
          <a:xfrm>
            <a:off x="1819260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0" name="AutoShape 17"/>
          <p:cNvCxnSpPr>
            <a:cxnSpLocks noChangeShapeType="1"/>
            <a:stCxn id="28" idx="3"/>
          </p:cNvCxnSpPr>
          <p:nvPr/>
        </p:nvCxnSpPr>
        <p:spPr bwMode="auto">
          <a:xfrm>
            <a:off x="3343260" y="2371716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" name="テキスト ボックス 30"/>
          <p:cNvSpPr txBox="1"/>
          <p:nvPr/>
        </p:nvSpPr>
        <p:spPr>
          <a:xfrm>
            <a:off x="928662" y="2857496"/>
            <a:ext cx="2629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非終端記号 </a:t>
            </a:r>
            <a:r>
              <a:rPr lang="en-US" altLang="ja-JP" sz="2800" dirty="0" smtClean="0"/>
              <a:t>&lt;A&gt;</a:t>
            </a:r>
            <a:endParaRPr kumimoji="1" lang="ja-JP" altLang="en-US" sz="2800" dirty="0"/>
          </a:p>
        </p:txBody>
      </p:sp>
      <p:cxnSp>
        <p:nvCxnSpPr>
          <p:cNvPr id="32" name="AutoShape 17"/>
          <p:cNvCxnSpPr>
            <a:cxnSpLocks noChangeShapeType="1"/>
            <a:endCxn id="33" idx="1"/>
          </p:cNvCxnSpPr>
          <p:nvPr/>
        </p:nvCxnSpPr>
        <p:spPr bwMode="auto">
          <a:xfrm>
            <a:off x="1790691" y="3714752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524116" y="3452815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dirty="0" smtClean="0"/>
              <a:t>A</a:t>
            </a:r>
            <a:endParaRPr lang="ja-JP" altLang="en-US" dirty="0"/>
          </a:p>
        </p:txBody>
      </p:sp>
      <p:cxnSp>
        <p:nvCxnSpPr>
          <p:cNvPr id="34" name="AutoShape 22"/>
          <p:cNvCxnSpPr>
            <a:cxnSpLocks noChangeShapeType="1"/>
            <a:stCxn id="33" idx="3"/>
          </p:cNvCxnSpPr>
          <p:nvPr/>
        </p:nvCxnSpPr>
        <p:spPr bwMode="auto">
          <a:xfrm flipV="1">
            <a:off x="3286116" y="3714752"/>
            <a:ext cx="63817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5" name="テキスト ボックス 44"/>
          <p:cNvSpPr txBox="1"/>
          <p:nvPr/>
        </p:nvSpPr>
        <p:spPr>
          <a:xfrm>
            <a:off x="1000100" y="4143380"/>
            <a:ext cx="1955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繰り返し </a:t>
            </a:r>
            <a:r>
              <a:rPr lang="en-US" altLang="ja-JP" sz="2800" dirty="0" smtClean="0"/>
              <a:t>{α}</a:t>
            </a:r>
            <a:endParaRPr kumimoji="1" lang="ja-JP" altLang="en-US" sz="2800" dirty="0"/>
          </a:p>
        </p:txBody>
      </p:sp>
      <p:cxnSp>
        <p:nvCxnSpPr>
          <p:cNvPr id="46" name="直線矢印コネクタ 45"/>
          <p:cNvCxnSpPr/>
          <p:nvPr/>
        </p:nvCxnSpPr>
        <p:spPr>
          <a:xfrm>
            <a:off x="1857356" y="5000636"/>
            <a:ext cx="44291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3143240" y="5715016"/>
            <a:ext cx="146546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α</a:t>
            </a:r>
            <a:r>
              <a:rPr lang="ja-JP" altLang="en-US" sz="2800" dirty="0" smtClean="0"/>
              <a:t>の図式</a:t>
            </a:r>
            <a:endParaRPr kumimoji="1" lang="ja-JP" altLang="en-US" sz="2800" dirty="0"/>
          </a:p>
        </p:txBody>
      </p:sp>
      <p:cxnSp>
        <p:nvCxnSpPr>
          <p:cNvPr id="48" name="直線コネクタ 47"/>
          <p:cNvCxnSpPr/>
          <p:nvPr/>
        </p:nvCxnSpPr>
        <p:spPr>
          <a:xfrm rot="5400000">
            <a:off x="5072066" y="5500702"/>
            <a:ext cx="1000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 rot="10800000">
            <a:off x="4572000" y="6000768"/>
            <a:ext cx="100013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 rot="10800000">
            <a:off x="2214546" y="6000768"/>
            <a:ext cx="9286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/>
          <p:cNvCxnSpPr/>
          <p:nvPr/>
        </p:nvCxnSpPr>
        <p:spPr>
          <a:xfrm rot="5400000" flipH="1" flipV="1">
            <a:off x="1714480" y="5500702"/>
            <a:ext cx="1000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143008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28662" y="1428736"/>
            <a:ext cx="2525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並び </a:t>
            </a:r>
            <a:r>
              <a:rPr lang="en-US" altLang="ja-JP" sz="2800" dirty="0" smtClean="0"/>
              <a:t>α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 α</a:t>
            </a:r>
            <a:r>
              <a:rPr lang="en-US" altLang="ja-JP" sz="2800" baseline="-25000" dirty="0" smtClean="0"/>
              <a:t>2</a:t>
            </a:r>
            <a:r>
              <a:rPr lang="en-US" altLang="ja-JP" sz="2800" dirty="0" smtClean="0"/>
              <a:t> … α</a:t>
            </a:r>
            <a:r>
              <a:rPr lang="en-US" altLang="ja-JP" sz="2800" i="1" baseline="-25000" dirty="0" smtClean="0"/>
              <a:t>n</a:t>
            </a:r>
            <a:endParaRPr kumimoji="1" lang="ja-JP" altLang="en-US" sz="2800" i="1" baseline="-25000" dirty="0"/>
          </a:p>
        </p:txBody>
      </p:sp>
      <p:cxnSp>
        <p:nvCxnSpPr>
          <p:cNvPr id="29" name="AutoShape 15"/>
          <p:cNvCxnSpPr>
            <a:cxnSpLocks noChangeShapeType="1"/>
          </p:cNvCxnSpPr>
          <p:nvPr/>
        </p:nvCxnSpPr>
        <p:spPr bwMode="auto">
          <a:xfrm>
            <a:off x="1428728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" name="テキスト ボックス 15"/>
          <p:cNvSpPr txBox="1"/>
          <p:nvPr/>
        </p:nvSpPr>
        <p:spPr>
          <a:xfrm>
            <a:off x="2109766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1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7" name="AutoShape 15"/>
          <p:cNvCxnSpPr>
            <a:cxnSpLocks noChangeShapeType="1"/>
          </p:cNvCxnSpPr>
          <p:nvPr/>
        </p:nvCxnSpPr>
        <p:spPr bwMode="auto">
          <a:xfrm>
            <a:off x="3428992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テキスト ボックス 17"/>
          <p:cNvSpPr txBox="1"/>
          <p:nvPr/>
        </p:nvSpPr>
        <p:spPr>
          <a:xfrm>
            <a:off x="4110030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2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5538790" y="2000240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/>
              <a:t>…</a:t>
            </a:r>
            <a:endParaRPr kumimoji="1" lang="ja-JP" altLang="en-US" sz="3200" dirty="0"/>
          </a:p>
        </p:txBody>
      </p:sp>
      <p:cxnSp>
        <p:nvCxnSpPr>
          <p:cNvPr id="98" name="AutoShape 15"/>
          <p:cNvCxnSpPr>
            <a:cxnSpLocks noChangeShapeType="1"/>
          </p:cNvCxnSpPr>
          <p:nvPr/>
        </p:nvCxnSpPr>
        <p:spPr bwMode="auto">
          <a:xfrm>
            <a:off x="6072198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9" name="テキスト ボックス 98"/>
          <p:cNvSpPr txBox="1"/>
          <p:nvPr/>
        </p:nvSpPr>
        <p:spPr>
          <a:xfrm>
            <a:off x="6753236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i="1" baseline="-25000" dirty="0" smtClean="0"/>
              <a:t>n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100" name="テキスト ボックス 99"/>
          <p:cNvSpPr txBox="1"/>
          <p:nvPr/>
        </p:nvSpPr>
        <p:spPr>
          <a:xfrm>
            <a:off x="1000100" y="2928934"/>
            <a:ext cx="3414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選択 </a:t>
            </a:r>
            <a:r>
              <a:rPr lang="en-US" altLang="ja-JP" sz="2800" dirty="0" smtClean="0"/>
              <a:t>α</a:t>
            </a:r>
            <a:r>
              <a:rPr lang="en-US" altLang="ja-JP" sz="2800" baseline="-25000" dirty="0" smtClean="0"/>
              <a:t>1 </a:t>
            </a:r>
            <a:r>
              <a:rPr lang="en-US" altLang="ja-JP" sz="2800" dirty="0" smtClean="0"/>
              <a:t>| α</a:t>
            </a:r>
            <a:r>
              <a:rPr lang="en-US" altLang="ja-JP" sz="2800" baseline="-25000" dirty="0" smtClean="0"/>
              <a:t>2</a:t>
            </a:r>
            <a:r>
              <a:rPr lang="en-US" altLang="ja-JP" sz="2800" dirty="0" smtClean="0"/>
              <a:t> | … |  α</a:t>
            </a:r>
            <a:r>
              <a:rPr lang="en-US" altLang="ja-JP" sz="2800" i="1" baseline="-25000" dirty="0" smtClean="0"/>
              <a:t>n</a:t>
            </a:r>
            <a:endParaRPr kumimoji="1" lang="ja-JP" altLang="en-US" sz="2800" i="1" baseline="-25000" dirty="0"/>
          </a:p>
        </p:txBody>
      </p:sp>
      <p:cxnSp>
        <p:nvCxnSpPr>
          <p:cNvPr id="101" name="AutoShape 15"/>
          <p:cNvCxnSpPr>
            <a:cxnSpLocks noChangeShapeType="1"/>
          </p:cNvCxnSpPr>
          <p:nvPr/>
        </p:nvCxnSpPr>
        <p:spPr bwMode="auto">
          <a:xfrm>
            <a:off x="1214414" y="4786322"/>
            <a:ext cx="114300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" name="テキスト ボックス 101"/>
          <p:cNvSpPr txBox="1"/>
          <p:nvPr/>
        </p:nvSpPr>
        <p:spPr>
          <a:xfrm>
            <a:off x="2428860" y="4538971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2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06" name="直線コネクタ 105"/>
          <p:cNvCxnSpPr/>
          <p:nvPr/>
        </p:nvCxnSpPr>
        <p:spPr>
          <a:xfrm rot="5400000">
            <a:off x="964381" y="4893479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AutoShape 15"/>
          <p:cNvCxnSpPr>
            <a:cxnSpLocks noChangeShapeType="1"/>
          </p:cNvCxnSpPr>
          <p:nvPr/>
        </p:nvCxnSpPr>
        <p:spPr bwMode="auto">
          <a:xfrm>
            <a:off x="1714480" y="415766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2" name="テキスト ボックス 111"/>
          <p:cNvSpPr txBox="1"/>
          <p:nvPr/>
        </p:nvSpPr>
        <p:spPr>
          <a:xfrm>
            <a:off x="2470702" y="392906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1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13" name="AutoShape 15"/>
          <p:cNvCxnSpPr>
            <a:cxnSpLocks noChangeShapeType="1"/>
          </p:cNvCxnSpPr>
          <p:nvPr/>
        </p:nvCxnSpPr>
        <p:spPr bwMode="auto">
          <a:xfrm>
            <a:off x="1714480" y="5657864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4" name="テキスト ボックス 113"/>
          <p:cNvSpPr txBox="1"/>
          <p:nvPr/>
        </p:nvSpPr>
        <p:spPr>
          <a:xfrm>
            <a:off x="2428860" y="5429264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i="1" baseline="-25000" dirty="0" smtClean="0"/>
              <a:t>n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2571736" y="4786322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/>
              <a:t>…</a:t>
            </a:r>
            <a:endParaRPr kumimoji="1" lang="ja-JP" altLang="en-US" sz="3200" dirty="0"/>
          </a:p>
        </p:txBody>
      </p:sp>
      <p:cxnSp>
        <p:nvCxnSpPr>
          <p:cNvPr id="20" name="AutoShape 15"/>
          <p:cNvCxnSpPr>
            <a:cxnSpLocks noChangeShapeType="1"/>
          </p:cNvCxnSpPr>
          <p:nvPr/>
        </p:nvCxnSpPr>
        <p:spPr bwMode="auto">
          <a:xfrm>
            <a:off x="3786182" y="4786322"/>
            <a:ext cx="114300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直線コネクタ 20"/>
          <p:cNvCxnSpPr/>
          <p:nvPr/>
        </p:nvCxnSpPr>
        <p:spPr>
          <a:xfrm rot="5400000">
            <a:off x="3679025" y="4893479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utoShape 15"/>
          <p:cNvCxnSpPr>
            <a:cxnSpLocks noChangeShapeType="1"/>
          </p:cNvCxnSpPr>
          <p:nvPr/>
        </p:nvCxnSpPr>
        <p:spPr bwMode="auto">
          <a:xfrm>
            <a:off x="3819524" y="414338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3" name="AutoShape 15"/>
          <p:cNvCxnSpPr>
            <a:cxnSpLocks noChangeShapeType="1"/>
          </p:cNvCxnSpPr>
          <p:nvPr/>
        </p:nvCxnSpPr>
        <p:spPr bwMode="auto">
          <a:xfrm>
            <a:off x="3819524" y="564357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4" name="AutoShape 15"/>
          <p:cNvCxnSpPr>
            <a:cxnSpLocks noChangeShapeType="1"/>
          </p:cNvCxnSpPr>
          <p:nvPr/>
        </p:nvCxnSpPr>
        <p:spPr bwMode="auto">
          <a:xfrm>
            <a:off x="8143868" y="235743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第７問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ja-JP" altLang="en-US" sz="2600" smtClean="0"/>
              <a:t>次の構成図が与えられたとき，この構成図で表現できる文字列として正しいものを①～⑤から全て選べ．ただし，英字は</a:t>
            </a:r>
            <a:r>
              <a:rPr lang="en-US" altLang="ja-JP" sz="2600" smtClean="0"/>
              <a:t>a, b, </a:t>
            </a:r>
            <a:r>
              <a:rPr lang="ja-JP" altLang="en-US" sz="2600" smtClean="0"/>
              <a:t>・・・，</a:t>
            </a:r>
            <a:r>
              <a:rPr lang="en-US" altLang="ja-JP" sz="2600" smtClean="0"/>
              <a:t>z, A, B, </a:t>
            </a:r>
            <a:r>
              <a:rPr lang="ja-JP" altLang="en-US" sz="2600" smtClean="0"/>
              <a:t>・・・，</a:t>
            </a:r>
            <a:r>
              <a:rPr lang="en-US" altLang="ja-JP" sz="2600" smtClean="0"/>
              <a:t>Z</a:t>
            </a:r>
            <a:r>
              <a:rPr lang="ja-JP" altLang="en-US" sz="2600" smtClean="0"/>
              <a:t>のいずれか，数字は</a:t>
            </a:r>
            <a:r>
              <a:rPr lang="en-US" altLang="ja-JP" sz="2600" smtClean="0"/>
              <a:t>0</a:t>
            </a:r>
            <a:r>
              <a:rPr lang="ja-JP" altLang="en-US" sz="2600" smtClean="0"/>
              <a:t>，</a:t>
            </a:r>
            <a:r>
              <a:rPr lang="en-US" altLang="ja-JP" sz="2600" smtClean="0"/>
              <a:t>1</a:t>
            </a:r>
            <a:r>
              <a:rPr lang="ja-JP" altLang="en-US" sz="2600" smtClean="0"/>
              <a:t>，・・・，</a:t>
            </a:r>
            <a:r>
              <a:rPr lang="en-US" altLang="ja-JP" sz="2600" smtClean="0"/>
              <a:t>9</a:t>
            </a:r>
            <a:r>
              <a:rPr lang="ja-JP" altLang="en-US" sz="2600" smtClean="0"/>
              <a:t>のいずれかであるとする．</a:t>
            </a:r>
            <a:endParaRPr lang="ja-JP" altLang="en-US" smtClean="0"/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2438400" y="4648200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4876800" y="4648200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数字</a:t>
            </a: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2438400" y="5638800"/>
            <a:ext cx="1600200" cy="7620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ja-JP">
                <a:ea typeface="ＭＳ Ｐゴシック" pitchFamily="80" charset="-128"/>
              </a:rPr>
              <a:t>‘#’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16002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4038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5" name="Freeform 9"/>
          <p:cNvSpPr>
            <a:spLocks/>
          </p:cNvSpPr>
          <p:nvPr/>
        </p:nvSpPr>
        <p:spPr bwMode="auto">
          <a:xfrm>
            <a:off x="1981200" y="5029200"/>
            <a:ext cx="457200" cy="990600"/>
          </a:xfrm>
          <a:custGeom>
            <a:avLst/>
            <a:gdLst>
              <a:gd name="T0" fmla="*/ 0 w 288"/>
              <a:gd name="T1" fmla="*/ 0 h 624"/>
              <a:gd name="T2" fmla="*/ 0 w 288"/>
              <a:gd name="T3" fmla="*/ 2147483647 h 624"/>
              <a:gd name="T4" fmla="*/ 2147483647 w 288"/>
              <a:gd name="T5" fmla="*/ 2147483647 h 624"/>
              <a:gd name="T6" fmla="*/ 0 60000 65536"/>
              <a:gd name="T7" fmla="*/ 0 60000 65536"/>
              <a:gd name="T8" fmla="*/ 0 60000 65536"/>
              <a:gd name="T9" fmla="*/ 0 w 288"/>
              <a:gd name="T10" fmla="*/ 0 h 624"/>
              <a:gd name="T11" fmla="*/ 288 w 28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624">
                <a:moveTo>
                  <a:pt x="0" y="0"/>
                </a:moveTo>
                <a:lnTo>
                  <a:pt x="0" y="624"/>
                </a:lnTo>
                <a:lnTo>
                  <a:pt x="288" y="62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6" name="Freeform 11"/>
          <p:cNvSpPr>
            <a:spLocks/>
          </p:cNvSpPr>
          <p:nvPr/>
        </p:nvSpPr>
        <p:spPr bwMode="auto">
          <a:xfrm>
            <a:off x="4038600" y="5029200"/>
            <a:ext cx="533400" cy="990600"/>
          </a:xfrm>
          <a:custGeom>
            <a:avLst/>
            <a:gdLst>
              <a:gd name="T0" fmla="*/ 0 w 336"/>
              <a:gd name="T1" fmla="*/ 2147483647 h 624"/>
              <a:gd name="T2" fmla="*/ 2147483647 w 336"/>
              <a:gd name="T3" fmla="*/ 2147483647 h 624"/>
              <a:gd name="T4" fmla="*/ 2147483647 w 336"/>
              <a:gd name="T5" fmla="*/ 0 h 624"/>
              <a:gd name="T6" fmla="*/ 0 60000 65536"/>
              <a:gd name="T7" fmla="*/ 0 60000 65536"/>
              <a:gd name="T8" fmla="*/ 0 60000 65536"/>
              <a:gd name="T9" fmla="*/ 0 w 336"/>
              <a:gd name="T10" fmla="*/ 0 h 624"/>
              <a:gd name="T11" fmla="*/ 336 w 336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624">
                <a:moveTo>
                  <a:pt x="0" y="624"/>
                </a:moveTo>
                <a:lnTo>
                  <a:pt x="336" y="624"/>
                </a:lnTo>
                <a:lnTo>
                  <a:pt x="3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64770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1357290" y="3571876"/>
            <a:ext cx="55721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800" dirty="0"/>
              <a:t>①</a:t>
            </a:r>
            <a:r>
              <a:rPr lang="ja-JP" altLang="en-US" sz="2800" dirty="0"/>
              <a:t>　</a:t>
            </a:r>
            <a:r>
              <a:rPr lang="en-US" altLang="ja-JP" sz="2800" dirty="0"/>
              <a:t>A3  ②</a:t>
            </a:r>
            <a:r>
              <a:rPr lang="ja-JP" altLang="en-US" sz="2800" dirty="0"/>
              <a:t>　</a:t>
            </a:r>
            <a:r>
              <a:rPr lang="en-US" altLang="ja-JP" sz="2800" dirty="0"/>
              <a:t>BB  ③ A#   ④ #9  ⑤ 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第８問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58204" cy="1828800"/>
          </a:xfrm>
        </p:spPr>
        <p:txBody>
          <a:bodyPr/>
          <a:lstStyle/>
          <a:p>
            <a:pPr eaLnBrk="1" hangingPunct="1"/>
            <a:r>
              <a:rPr lang="ja-JP" altLang="en-US" sz="2600" dirty="0" smtClean="0"/>
              <a:t>あるプログラミング言語で使える変数名は，次の構文図で規定されているものとする。このとき，変数名として使えないものを選べ。ただし，英字は</a:t>
            </a:r>
            <a:r>
              <a:rPr lang="en-US" altLang="ja-JP" sz="2600" dirty="0" smtClean="0"/>
              <a:t>a, b 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z</a:t>
            </a:r>
            <a:r>
              <a:rPr lang="ja-JP" altLang="en-US" sz="2600" dirty="0" err="1" smtClean="0"/>
              <a:t>，</a:t>
            </a:r>
            <a:r>
              <a:rPr lang="en-US" altLang="ja-JP" sz="2600" dirty="0" smtClean="0"/>
              <a:t>A, B,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Z</a:t>
            </a:r>
            <a:r>
              <a:rPr lang="ja-JP" altLang="en-US" sz="2600" dirty="0" smtClean="0"/>
              <a:t>のどれか，数字は</a:t>
            </a:r>
            <a:r>
              <a:rPr lang="en-US" altLang="ja-JP" sz="2600" dirty="0" smtClean="0"/>
              <a:t>0, 1,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9</a:t>
            </a:r>
            <a:r>
              <a:rPr lang="ja-JP" altLang="en-US" sz="2600" dirty="0" smtClean="0"/>
              <a:t>のどれかである。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642910" y="3786190"/>
            <a:ext cx="7449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b="0" dirty="0"/>
              <a:t>① A</a:t>
            </a:r>
            <a:r>
              <a:rPr lang="ja-JP" altLang="en-US" sz="2400" b="0" dirty="0"/>
              <a:t>　　　② </a:t>
            </a:r>
            <a:r>
              <a:rPr lang="en-US" altLang="ja-JP" sz="2400" b="0" dirty="0"/>
              <a:t>name</a:t>
            </a:r>
            <a:r>
              <a:rPr lang="ja-JP" altLang="en-US" sz="2400" b="0" dirty="0"/>
              <a:t>　　　③ </a:t>
            </a:r>
            <a:r>
              <a:rPr lang="en-US" altLang="ja-JP" sz="2400" b="0" dirty="0"/>
              <a:t>B740</a:t>
            </a:r>
            <a:r>
              <a:rPr lang="ja-JP" altLang="en-US" sz="2400" b="0" dirty="0"/>
              <a:t>　　　④ </a:t>
            </a:r>
            <a:r>
              <a:rPr lang="en-US" altLang="ja-JP" sz="2400" b="0" dirty="0"/>
              <a:t>C6H6</a:t>
            </a:r>
            <a:r>
              <a:rPr lang="ja-JP" altLang="en-US" sz="2400" b="0" dirty="0"/>
              <a:t>　　　⑤ </a:t>
            </a:r>
            <a:r>
              <a:rPr lang="en-US" altLang="ja-JP" sz="2400" b="0" dirty="0"/>
              <a:t>11PM</a:t>
            </a:r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2286000" y="51054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>
            <a:off x="4724400" y="45720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数字</a:t>
            </a:r>
          </a:p>
        </p:txBody>
      </p:sp>
      <p:sp>
        <p:nvSpPr>
          <p:cNvPr id="20487" name="Line 8"/>
          <p:cNvSpPr>
            <a:spLocks noChangeShapeType="1"/>
          </p:cNvSpPr>
          <p:nvPr/>
        </p:nvSpPr>
        <p:spPr bwMode="auto">
          <a:xfrm>
            <a:off x="1447800" y="548640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8" name="Line 13"/>
          <p:cNvSpPr>
            <a:spLocks noChangeShapeType="1"/>
          </p:cNvSpPr>
          <p:nvPr/>
        </p:nvSpPr>
        <p:spPr bwMode="auto">
          <a:xfrm>
            <a:off x="3886200" y="5486408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9" name="Freeform 14"/>
          <p:cNvSpPr>
            <a:spLocks/>
          </p:cNvSpPr>
          <p:nvPr/>
        </p:nvSpPr>
        <p:spPr bwMode="auto">
          <a:xfrm>
            <a:off x="6324600" y="4953008"/>
            <a:ext cx="381000" cy="533400"/>
          </a:xfrm>
          <a:custGeom>
            <a:avLst/>
            <a:gdLst>
              <a:gd name="T0" fmla="*/ 2147483647 w 432"/>
              <a:gd name="T1" fmla="*/ 2147483647 h 336"/>
              <a:gd name="T2" fmla="*/ 2147483647 w 432"/>
              <a:gd name="T3" fmla="*/ 0 h 336"/>
              <a:gd name="T4" fmla="*/ 0 w 432"/>
              <a:gd name="T5" fmla="*/ 0 h 336"/>
              <a:gd name="T6" fmla="*/ 0 60000 65536"/>
              <a:gd name="T7" fmla="*/ 0 60000 65536"/>
              <a:gd name="T8" fmla="*/ 0 60000 65536"/>
              <a:gd name="T9" fmla="*/ 0 w 432"/>
              <a:gd name="T10" fmla="*/ 0 h 336"/>
              <a:gd name="T11" fmla="*/ 432 w 43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336">
                <a:moveTo>
                  <a:pt x="432" y="336"/>
                </a:move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90" name="Freeform 15"/>
          <p:cNvSpPr>
            <a:spLocks/>
          </p:cNvSpPr>
          <p:nvPr/>
        </p:nvSpPr>
        <p:spPr bwMode="auto">
          <a:xfrm>
            <a:off x="4343400" y="4953008"/>
            <a:ext cx="381000" cy="533400"/>
          </a:xfrm>
          <a:custGeom>
            <a:avLst/>
            <a:gdLst>
              <a:gd name="T0" fmla="*/ 2147483647 w 240"/>
              <a:gd name="T1" fmla="*/ 0 h 336"/>
              <a:gd name="T2" fmla="*/ 0 w 240"/>
              <a:gd name="T3" fmla="*/ 0 h 336"/>
              <a:gd name="T4" fmla="*/ 0 w 240"/>
              <a:gd name="T5" fmla="*/ 2147483647 h 336"/>
              <a:gd name="T6" fmla="*/ 0 60000 65536"/>
              <a:gd name="T7" fmla="*/ 0 60000 65536"/>
              <a:gd name="T8" fmla="*/ 0 60000 65536"/>
              <a:gd name="T9" fmla="*/ 0 w 240"/>
              <a:gd name="T10" fmla="*/ 0 h 336"/>
              <a:gd name="T11" fmla="*/ 240 w 2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336">
                <a:moveTo>
                  <a:pt x="240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6640" name="AutoShape 16"/>
          <p:cNvSpPr>
            <a:spLocks noChangeArrowheads="1"/>
          </p:cNvSpPr>
          <p:nvPr/>
        </p:nvSpPr>
        <p:spPr bwMode="auto">
          <a:xfrm>
            <a:off x="4724400" y="56388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0492" name="Freeform 17"/>
          <p:cNvSpPr>
            <a:spLocks/>
          </p:cNvSpPr>
          <p:nvPr/>
        </p:nvSpPr>
        <p:spPr bwMode="auto">
          <a:xfrm>
            <a:off x="6324600" y="5486408"/>
            <a:ext cx="381000" cy="533400"/>
          </a:xfrm>
          <a:custGeom>
            <a:avLst/>
            <a:gdLst>
              <a:gd name="T0" fmla="*/ 2147483647 w 240"/>
              <a:gd name="T1" fmla="*/ 0 h 336"/>
              <a:gd name="T2" fmla="*/ 2147483647 w 240"/>
              <a:gd name="T3" fmla="*/ 2147483647 h 336"/>
              <a:gd name="T4" fmla="*/ 0 w 240"/>
              <a:gd name="T5" fmla="*/ 2147483647 h 336"/>
              <a:gd name="T6" fmla="*/ 0 60000 65536"/>
              <a:gd name="T7" fmla="*/ 0 60000 65536"/>
              <a:gd name="T8" fmla="*/ 0 60000 65536"/>
              <a:gd name="T9" fmla="*/ 0 w 240"/>
              <a:gd name="T10" fmla="*/ 0 h 336"/>
              <a:gd name="T11" fmla="*/ 240 w 2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336">
                <a:moveTo>
                  <a:pt x="240" y="0"/>
                </a:moveTo>
                <a:lnTo>
                  <a:pt x="240" y="336"/>
                </a:lnTo>
                <a:lnTo>
                  <a:pt x="0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93" name="Freeform 19"/>
          <p:cNvSpPr>
            <a:spLocks/>
          </p:cNvSpPr>
          <p:nvPr/>
        </p:nvSpPr>
        <p:spPr bwMode="auto">
          <a:xfrm>
            <a:off x="4343400" y="5486408"/>
            <a:ext cx="381000" cy="533400"/>
          </a:xfrm>
          <a:custGeom>
            <a:avLst/>
            <a:gdLst>
              <a:gd name="T0" fmla="*/ 2147483647 w 240"/>
              <a:gd name="T1" fmla="*/ 2147483647 h 288"/>
              <a:gd name="T2" fmla="*/ 0 w 240"/>
              <a:gd name="T3" fmla="*/ 2147483647 h 288"/>
              <a:gd name="T4" fmla="*/ 0 w 240"/>
              <a:gd name="T5" fmla="*/ 0 h 288"/>
              <a:gd name="T6" fmla="*/ 0 60000 65536"/>
              <a:gd name="T7" fmla="*/ 0 60000 65536"/>
              <a:gd name="T8" fmla="*/ 0 60000 65536"/>
              <a:gd name="T9" fmla="*/ 0 w 240"/>
              <a:gd name="T10" fmla="*/ 0 h 288"/>
              <a:gd name="T11" fmla="*/ 240 w 24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88">
                <a:moveTo>
                  <a:pt x="240" y="288"/>
                </a:move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r>
              <a:rPr lang="en-US" altLang="ja-JP" dirty="0" smtClean="0"/>
              <a:t>: </a:t>
            </a:r>
            <a:r>
              <a:rPr lang="ja-JP" altLang="en-US" dirty="0" smtClean="0"/>
              <a:t>文法とは（１）</a:t>
            </a:r>
          </a:p>
        </p:txBody>
      </p:sp>
      <p:sp>
        <p:nvSpPr>
          <p:cNvPr id="4099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10" y="1643050"/>
            <a:ext cx="8029575" cy="4662488"/>
          </a:xfrm>
        </p:spPr>
        <p:txBody>
          <a:bodyPr>
            <a:normAutofit lnSpcReduction="10000"/>
          </a:bodyPr>
          <a:lstStyle/>
          <a:p>
            <a:r>
              <a:rPr lang="ja-JP" altLang="en-US" sz="2800" dirty="0" smtClean="0"/>
              <a:t>文法とは、</a:t>
            </a:r>
            <a:r>
              <a:rPr lang="en-US" altLang="ja-JP" sz="2800" dirty="0" smtClean="0"/>
              <a:t> (</a:t>
            </a:r>
            <a:r>
              <a:rPr lang="en-US" altLang="ja-JP" sz="2800" i="1" dirty="0" smtClean="0"/>
              <a:t>N, T, P, S</a:t>
            </a:r>
            <a:r>
              <a:rPr lang="en-US" altLang="ja-JP" sz="2800" dirty="0" smtClean="0"/>
              <a:t>)</a:t>
            </a:r>
          </a:p>
          <a:p>
            <a:pPr>
              <a:buFontTx/>
              <a:buNone/>
            </a:pPr>
            <a:r>
              <a:rPr lang="en-US" altLang="ja-JP" sz="2800" dirty="0" smtClean="0"/>
              <a:t>   </a:t>
            </a:r>
            <a:r>
              <a:rPr lang="en-US" altLang="ja-JP" sz="2800" i="1" dirty="0" smtClean="0"/>
              <a:t>N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は記号の有限集合。非終端記号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nonterminal</a:t>
            </a:r>
            <a:r>
              <a:rPr lang="en-US" altLang="ja-JP" sz="2800" dirty="0" smtClean="0"/>
              <a:t> symbol)</a:t>
            </a:r>
            <a:r>
              <a:rPr lang="ja-JP" altLang="en-US" sz="2800" dirty="0" smtClean="0"/>
              <a:t>と呼ぶ。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en-US" altLang="ja-JP" sz="2800" dirty="0" smtClean="0"/>
              <a:t>   </a:t>
            </a:r>
            <a:r>
              <a:rPr lang="en-US" altLang="ja-JP" sz="2800" i="1" dirty="0" smtClean="0"/>
              <a:t>T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は</a:t>
            </a:r>
            <a:r>
              <a:rPr lang="en-US" altLang="ja-JP" sz="2800" i="1" dirty="0" smtClean="0"/>
              <a:t>N</a:t>
            </a:r>
            <a:r>
              <a:rPr lang="ja-JP" altLang="en-US" sz="2800" dirty="0" smtClean="0"/>
              <a:t>とは重なりのない記号の有限集合。終端記号</a:t>
            </a:r>
            <a:r>
              <a:rPr lang="en-US" altLang="ja-JP" sz="2800" dirty="0" smtClean="0"/>
              <a:t>(terminal symbol)</a:t>
            </a:r>
            <a:r>
              <a:rPr lang="ja-JP" altLang="en-US" sz="2800" dirty="0" smtClean="0"/>
              <a:t>と呼ぶ。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en-US" altLang="ja-JP" sz="2800" dirty="0" smtClean="0"/>
              <a:t>   </a:t>
            </a:r>
            <a:r>
              <a:rPr lang="en-US" altLang="ja-JP" sz="2800" i="1" dirty="0" smtClean="0"/>
              <a:t>P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(</a:t>
            </a:r>
            <a:r>
              <a:rPr lang="en-US" altLang="ja-JP" sz="2800" i="1" dirty="0" smtClean="0"/>
              <a:t>N</a:t>
            </a:r>
            <a:r>
              <a:rPr lang="en-US" altLang="ja-JP" sz="2800" dirty="0" smtClean="0"/>
              <a:t> </a:t>
            </a:r>
            <a:r>
              <a:rPr lang="en-US" altLang="ja-JP" sz="2800" dirty="0" smtClean="0">
                <a:sym typeface="Symbol" pitchFamily="18" charset="2"/>
              </a:rPr>
              <a:t> </a:t>
            </a:r>
            <a:r>
              <a:rPr lang="en-US" altLang="ja-JP" sz="2800" i="1" dirty="0" smtClean="0">
                <a:sym typeface="Symbol" pitchFamily="18" charset="2"/>
              </a:rPr>
              <a:t>T</a:t>
            </a:r>
            <a:r>
              <a:rPr lang="en-US" altLang="ja-JP" sz="2800" dirty="0" smtClean="0"/>
              <a:t>)* </a:t>
            </a:r>
            <a:r>
              <a:rPr lang="en-US" altLang="ja-JP" sz="2800" i="1" dirty="0" smtClean="0"/>
              <a:t>N</a:t>
            </a:r>
            <a:r>
              <a:rPr lang="en-US" altLang="ja-JP" sz="2800" dirty="0" smtClean="0"/>
              <a:t> (</a:t>
            </a:r>
            <a:r>
              <a:rPr lang="en-US" altLang="ja-JP" sz="2800" i="1" dirty="0" smtClean="0"/>
              <a:t>N</a:t>
            </a:r>
            <a:r>
              <a:rPr lang="en-US" altLang="ja-JP" sz="2800" dirty="0" smtClean="0"/>
              <a:t> </a:t>
            </a:r>
            <a:r>
              <a:rPr lang="en-US" altLang="ja-JP" sz="2800" dirty="0" smtClean="0">
                <a:sym typeface="Symbol" pitchFamily="18" charset="2"/>
              </a:rPr>
              <a:t> </a:t>
            </a:r>
            <a:r>
              <a:rPr lang="en-US" altLang="ja-JP" sz="2800" i="1" dirty="0" smtClean="0">
                <a:sym typeface="Symbol" pitchFamily="18" charset="2"/>
              </a:rPr>
              <a:t>T</a:t>
            </a:r>
            <a:r>
              <a:rPr lang="en-US" altLang="ja-JP" sz="2800" dirty="0" smtClean="0"/>
              <a:t>)* </a:t>
            </a:r>
            <a:r>
              <a:rPr lang="en-US" altLang="ja-JP" sz="2800" dirty="0" smtClean="0">
                <a:sym typeface="Symbol" pitchFamily="18" charset="2"/>
              </a:rPr>
              <a:t> </a:t>
            </a:r>
            <a:r>
              <a:rPr lang="en-US" altLang="ja-JP" sz="2800" dirty="0" smtClean="0"/>
              <a:t>(</a:t>
            </a:r>
            <a:r>
              <a:rPr lang="en-US" altLang="ja-JP" sz="2800" i="1" dirty="0" smtClean="0"/>
              <a:t>N</a:t>
            </a:r>
            <a:r>
              <a:rPr lang="en-US" altLang="ja-JP" sz="2800" dirty="0" smtClean="0"/>
              <a:t> </a:t>
            </a:r>
            <a:r>
              <a:rPr lang="en-US" altLang="ja-JP" sz="2800" dirty="0" smtClean="0">
                <a:sym typeface="Symbol" pitchFamily="18" charset="2"/>
              </a:rPr>
              <a:t> </a:t>
            </a:r>
            <a:r>
              <a:rPr lang="en-US" altLang="ja-JP" sz="2800" i="1" dirty="0" smtClean="0">
                <a:sym typeface="Symbol" pitchFamily="18" charset="2"/>
              </a:rPr>
              <a:t>T</a:t>
            </a:r>
            <a:r>
              <a:rPr lang="en-US" altLang="ja-JP" sz="2800" dirty="0" smtClean="0"/>
              <a:t>)*</a:t>
            </a:r>
            <a:r>
              <a:rPr lang="ja-JP" altLang="en-US" sz="2800" dirty="0" smtClean="0"/>
              <a:t>の有限部分集合</a:t>
            </a:r>
            <a:r>
              <a:rPr lang="ja-JP" altLang="en-US" sz="2800" dirty="0" smtClean="0"/>
              <a:t>。</a:t>
            </a:r>
            <a:r>
              <a:rPr lang="en-US" altLang="ja-JP" sz="2800" i="1" dirty="0" smtClean="0"/>
              <a:t>P</a:t>
            </a:r>
            <a:r>
              <a:rPr lang="ja-JP" altLang="en-US" sz="2800" dirty="0" smtClean="0"/>
              <a:t>の要素を生成</a:t>
            </a:r>
            <a:r>
              <a:rPr lang="ja-JP" altLang="en-US" sz="2800" dirty="0" smtClean="0"/>
              <a:t>規則</a:t>
            </a:r>
            <a:r>
              <a:rPr lang="en-US" altLang="ja-JP" sz="2800" dirty="0" smtClean="0"/>
              <a:t>(production)</a:t>
            </a:r>
            <a:r>
              <a:rPr lang="ja-JP" altLang="en-US" sz="2800" dirty="0" smtClean="0"/>
              <a:t>あるいは書き換え規則</a:t>
            </a:r>
            <a:r>
              <a:rPr lang="en-US" altLang="ja-JP" sz="2800" dirty="0" smtClean="0"/>
              <a:t>(rewriting rule)</a:t>
            </a:r>
            <a:r>
              <a:rPr lang="ja-JP" altLang="en-US" sz="2800" dirty="0" smtClean="0"/>
              <a:t>と呼ぶ</a:t>
            </a:r>
            <a:r>
              <a:rPr lang="ja-JP" altLang="en-US" sz="2800" dirty="0" smtClean="0"/>
              <a:t>。</a:t>
            </a:r>
            <a:r>
              <a:rPr lang="en-US" altLang="ja-JP" sz="2800" dirty="0" smtClean="0"/>
              <a:t>(</a:t>
            </a:r>
            <a:r>
              <a:rPr lang="en-US" altLang="ja-JP" sz="2800" i="1" dirty="0" err="1" smtClean="0"/>
              <a:t>u</a:t>
            </a:r>
            <a:r>
              <a:rPr lang="en-US" altLang="ja-JP" sz="2800" dirty="0" err="1" smtClean="0"/>
              <a:t>,</a:t>
            </a:r>
            <a:r>
              <a:rPr lang="en-US" altLang="ja-JP" sz="2800" i="1" dirty="0" err="1" smtClean="0"/>
              <a:t>v</a:t>
            </a:r>
            <a:r>
              <a:rPr lang="en-US" altLang="ja-JP" sz="2800" dirty="0" smtClean="0"/>
              <a:t>) </a:t>
            </a:r>
            <a:r>
              <a:rPr lang="en-US" altLang="ja-JP" sz="2800" dirty="0" smtClean="0">
                <a:sym typeface="Symbol"/>
              </a:rPr>
              <a:t> </a:t>
            </a:r>
            <a:r>
              <a:rPr lang="en-US" altLang="ja-JP" sz="2800" i="1" dirty="0" smtClean="0">
                <a:sym typeface="Symbol"/>
              </a:rPr>
              <a:t>P</a:t>
            </a:r>
            <a:r>
              <a:rPr lang="ja-JP" altLang="en-US" sz="2800" dirty="0" smtClean="0">
                <a:sym typeface="Symbol"/>
              </a:rPr>
              <a:t>は</a:t>
            </a:r>
            <a:r>
              <a:rPr lang="ja-JP" altLang="en-US" sz="2800" dirty="0" smtClean="0">
                <a:sym typeface="Symbol"/>
              </a:rPr>
              <a:t>文字列</a:t>
            </a:r>
            <a:r>
              <a:rPr lang="en-US" altLang="ja-JP" sz="2800" i="1" dirty="0" smtClean="0">
                <a:sym typeface="Symbol"/>
              </a:rPr>
              <a:t>u</a:t>
            </a:r>
            <a:r>
              <a:rPr lang="ja-JP" altLang="en-US" sz="2800" dirty="0" smtClean="0">
                <a:sym typeface="Symbol"/>
              </a:rPr>
              <a:t>を文字列</a:t>
            </a:r>
            <a:r>
              <a:rPr lang="en-US" altLang="ja-JP" sz="2800" i="1" dirty="0" smtClean="0">
                <a:sym typeface="Symbol"/>
              </a:rPr>
              <a:t>v</a:t>
            </a:r>
            <a:r>
              <a:rPr lang="ja-JP" altLang="en-US" sz="2800" dirty="0" smtClean="0">
                <a:sym typeface="Symbol"/>
              </a:rPr>
              <a:t>に書き換えてもよいことを表すルールであり、通常 </a:t>
            </a:r>
            <a:r>
              <a:rPr lang="en-US" altLang="ja-JP" sz="2800" i="1" dirty="0" smtClean="0">
                <a:sym typeface="Symbol"/>
              </a:rPr>
              <a:t>u</a:t>
            </a:r>
            <a:r>
              <a:rPr lang="en-US" altLang="ja-JP" sz="2800" dirty="0" smtClean="0">
                <a:sym typeface="Symbol"/>
              </a:rPr>
              <a:t> </a:t>
            </a:r>
            <a:r>
              <a:rPr lang="en-US" altLang="ja-JP" sz="2800" i="1" dirty="0" smtClean="0">
                <a:sym typeface="Symbol"/>
              </a:rPr>
              <a:t>v</a:t>
            </a:r>
            <a:r>
              <a:rPr lang="ja-JP" altLang="en-US" sz="2800" dirty="0" smtClean="0">
                <a:sym typeface="Symbol"/>
              </a:rPr>
              <a:t>と書く。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en-US" altLang="ja-JP" sz="2800" dirty="0" smtClean="0"/>
              <a:t>   </a:t>
            </a:r>
            <a:r>
              <a:rPr lang="en-US" altLang="ja-JP" sz="2800" i="1" dirty="0" smtClean="0"/>
              <a:t>S</a:t>
            </a:r>
            <a:r>
              <a:rPr lang="ja-JP" altLang="en-US" sz="2800" dirty="0" smtClean="0"/>
              <a:t>は</a:t>
            </a:r>
            <a:r>
              <a:rPr lang="en-US" altLang="ja-JP" sz="2800" i="1" dirty="0" smtClean="0"/>
              <a:t>N</a:t>
            </a:r>
            <a:r>
              <a:rPr lang="ja-JP" altLang="en-US" sz="2800" dirty="0" smtClean="0"/>
              <a:t>の要素で、開始記号</a:t>
            </a:r>
            <a:r>
              <a:rPr lang="en-US" altLang="ja-JP" sz="2800" dirty="0" smtClean="0"/>
              <a:t>(start symbol)</a:t>
            </a:r>
            <a:r>
              <a:rPr lang="ja-JP" altLang="en-US" sz="2800" dirty="0" smtClean="0"/>
              <a:t>と呼ぶ。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r>
              <a:rPr lang="en-US" altLang="ja-JP" dirty="0" smtClean="0"/>
              <a:t>: </a:t>
            </a:r>
            <a:r>
              <a:rPr lang="ja-JP" altLang="en-US" dirty="0" smtClean="0"/>
              <a:t>文法とは（２）</a:t>
            </a:r>
          </a:p>
        </p:txBody>
      </p:sp>
      <p:sp>
        <p:nvSpPr>
          <p:cNvPr id="5123" name="コンテンツ プレースホルダ 2"/>
          <p:cNvSpPr>
            <a:spLocks noGrp="1"/>
          </p:cNvSpPr>
          <p:nvPr>
            <p:ph idx="1"/>
          </p:nvPr>
        </p:nvSpPr>
        <p:spPr>
          <a:xfrm>
            <a:off x="685800" y="1981200"/>
            <a:ext cx="8029575" cy="4162444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i="1" dirty="0" smtClean="0">
                <a:sym typeface="Symbol" pitchFamily="18" charset="2"/>
              </a:rPr>
              <a:t>u</a:t>
            </a:r>
            <a:r>
              <a:rPr lang="en-US" altLang="ja-JP" sz="2800" dirty="0" smtClean="0">
                <a:sym typeface="Symbol" pitchFamily="18" charset="2"/>
              </a:rPr>
              <a:t>  </a:t>
            </a:r>
            <a:r>
              <a:rPr lang="en-US" altLang="ja-JP" sz="2800" i="1" dirty="0" smtClean="0">
                <a:sym typeface="Symbol" pitchFamily="18" charset="2"/>
              </a:rPr>
              <a:t>v</a:t>
            </a:r>
            <a:r>
              <a:rPr lang="ja-JP" altLang="en-US" sz="2800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が生成規則で、</a:t>
            </a:r>
            <a:r>
              <a:rPr lang="en-US" altLang="ja-JP" sz="2800" i="1" dirty="0" smtClean="0">
                <a:sym typeface="Symbol" pitchFamily="18" charset="2"/>
              </a:rPr>
              <a:t>u</a:t>
            </a:r>
            <a:r>
              <a:rPr lang="ja-JP" altLang="en-US" sz="2800" dirty="0" smtClean="0">
                <a:sym typeface="Symbol" pitchFamily="18" charset="2"/>
              </a:rPr>
              <a:t>が文字列</a:t>
            </a:r>
            <a:r>
              <a:rPr lang="ja-JP" altLang="en-US" sz="2800" i="1" dirty="0" smtClean="0">
                <a:sym typeface="Symbol" pitchFamily="18" charset="2"/>
              </a:rPr>
              <a:t></a:t>
            </a:r>
            <a:r>
              <a:rPr lang="ja-JP" altLang="en-US" sz="2800" dirty="0" smtClean="0">
                <a:sym typeface="Symbol" pitchFamily="18" charset="2"/>
              </a:rPr>
              <a:t>の部分文字列であるとき（</a:t>
            </a:r>
            <a:r>
              <a:rPr lang="ja-JP" altLang="en-US" sz="2800" i="1" dirty="0" smtClean="0">
                <a:sym typeface="Symbol" pitchFamily="18" charset="2"/>
              </a:rPr>
              <a:t>   </a:t>
            </a:r>
            <a:r>
              <a:rPr lang="en-US" altLang="ja-JP" sz="2800" i="1" dirty="0" smtClean="0">
                <a:sym typeface="Symbol" pitchFamily="18" charset="2"/>
              </a:rPr>
              <a:t>=  u  </a:t>
            </a:r>
            <a:r>
              <a:rPr lang="ja-JP" altLang="en-US" sz="2800" i="1" dirty="0" smtClean="0">
                <a:sym typeface="Symbol" pitchFamily="18" charset="2"/>
              </a:rPr>
              <a:t>となる </a:t>
            </a:r>
            <a:r>
              <a:rPr lang="en-US" altLang="ja-JP" sz="2800" i="1" dirty="0" smtClean="0">
                <a:sym typeface="Symbol" pitchFamily="18" charset="2"/>
              </a:rPr>
              <a:t> ,  </a:t>
            </a:r>
            <a:r>
              <a:rPr lang="en-US" altLang="ja-JP" sz="2800" dirty="0" smtClean="0">
                <a:sym typeface="Symbol" pitchFamily="18" charset="2"/>
              </a:rPr>
              <a:t> (</a:t>
            </a:r>
            <a:r>
              <a:rPr lang="en-US" altLang="ja-JP" sz="2800" i="1" dirty="0" smtClean="0">
                <a:sym typeface="Symbol" pitchFamily="18" charset="2"/>
              </a:rPr>
              <a:t>N </a:t>
            </a:r>
            <a:r>
              <a:rPr lang="en-US" altLang="ja-JP" sz="2800" dirty="0" smtClean="0">
                <a:sym typeface="Symbol" pitchFamily="18" charset="2"/>
              </a:rPr>
              <a:t></a:t>
            </a:r>
            <a:r>
              <a:rPr lang="en-US" altLang="ja-JP" sz="2800" i="1" dirty="0" smtClean="0">
                <a:sym typeface="Symbol" pitchFamily="18" charset="2"/>
              </a:rPr>
              <a:t> T</a:t>
            </a:r>
            <a:r>
              <a:rPr lang="en-US" altLang="ja-JP" sz="2800" dirty="0" smtClean="0">
                <a:sym typeface="Symbol" pitchFamily="18" charset="2"/>
              </a:rPr>
              <a:t>)* </a:t>
            </a:r>
            <a:r>
              <a:rPr lang="ja-JP" altLang="en-US" sz="2800" dirty="0" smtClean="0">
                <a:sym typeface="Symbol" pitchFamily="18" charset="2"/>
              </a:rPr>
              <a:t>が存在）、 文字列</a:t>
            </a:r>
            <a:r>
              <a:rPr lang="ja-JP" altLang="en-US" sz="2800" i="1" dirty="0" smtClean="0">
                <a:sym typeface="Symbol" pitchFamily="18" charset="2"/>
              </a:rPr>
              <a:t></a:t>
            </a:r>
            <a:r>
              <a:rPr lang="ja-JP" altLang="en-US" sz="2800" dirty="0" smtClean="0">
                <a:sym typeface="Symbol" pitchFamily="18" charset="2"/>
              </a:rPr>
              <a:t>の中の</a:t>
            </a:r>
            <a:r>
              <a:rPr lang="en-US" altLang="ja-JP" sz="2800" i="1" dirty="0" smtClean="0">
                <a:sym typeface="Symbol" pitchFamily="18" charset="2"/>
              </a:rPr>
              <a:t>u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i="1" dirty="0" smtClean="0">
                <a:sym typeface="Symbol" pitchFamily="18" charset="2"/>
              </a:rPr>
              <a:t>v</a:t>
            </a:r>
            <a:r>
              <a:rPr lang="ja-JP" altLang="en-US" sz="2800" dirty="0" smtClean="0">
                <a:sym typeface="Symbol" pitchFamily="18" charset="2"/>
              </a:rPr>
              <a:t>に書き換えてよい（</a:t>
            </a:r>
            <a:r>
              <a:rPr lang="ja-JP" altLang="en-US" sz="2800" i="1" dirty="0" smtClean="0">
                <a:sym typeface="Symbol" pitchFamily="18" charset="2"/>
              </a:rPr>
              <a:t> </a:t>
            </a:r>
            <a:r>
              <a:rPr lang="en-US" altLang="ja-JP" sz="2800" i="1" dirty="0" smtClean="0">
                <a:sym typeface="Symbol" pitchFamily="18" charset="2"/>
              </a:rPr>
              <a:t>’</a:t>
            </a:r>
            <a:r>
              <a:rPr lang="ja-JP" altLang="en-US" sz="2800" i="1" dirty="0" smtClean="0">
                <a:sym typeface="Symbol" pitchFamily="18" charset="2"/>
              </a:rPr>
              <a:t>  </a:t>
            </a:r>
            <a:r>
              <a:rPr lang="en-US" altLang="ja-JP" sz="2800" i="1" dirty="0" smtClean="0">
                <a:sym typeface="Symbol" pitchFamily="18" charset="2"/>
              </a:rPr>
              <a:t>=  v  </a:t>
            </a:r>
            <a:r>
              <a:rPr lang="ja-JP" altLang="en-US" sz="2800" dirty="0" smtClean="0">
                <a:sym typeface="Symbol" pitchFamily="18" charset="2"/>
              </a:rPr>
              <a:t>が得られる）。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ja-JP" altLang="en-US" sz="2800" dirty="0" smtClean="0">
                <a:sym typeface="Symbol" pitchFamily="18" charset="2"/>
              </a:rPr>
              <a:t>これを　 </a:t>
            </a:r>
            <a:r>
              <a:rPr lang="ja-JP" altLang="en-US" sz="2800" i="1" dirty="0" smtClean="0">
                <a:sym typeface="Symbol" pitchFamily="18" charset="2"/>
              </a:rPr>
              <a:t>  </a:t>
            </a:r>
            <a:r>
              <a:rPr lang="ja-JP" altLang="en-US" sz="2800" dirty="0" smtClean="0">
                <a:sym typeface="Symbol" pitchFamily="18" charset="2"/>
              </a:rPr>
              <a:t></a:t>
            </a:r>
            <a:r>
              <a:rPr lang="ja-JP" altLang="en-US" sz="2800" i="1" dirty="0" smtClean="0">
                <a:sym typeface="Symbol" pitchFamily="18" charset="2"/>
              </a:rPr>
              <a:t> </a:t>
            </a:r>
            <a:r>
              <a:rPr lang="en-US" altLang="ja-JP" sz="2800" i="1" dirty="0" smtClean="0">
                <a:sym typeface="Symbol" pitchFamily="18" charset="2"/>
              </a:rPr>
              <a:t>’</a:t>
            </a:r>
            <a:r>
              <a:rPr lang="ja-JP" altLang="en-US" sz="2800" i="1" dirty="0" smtClean="0">
                <a:sym typeface="Symbol" pitchFamily="18" charset="2"/>
              </a:rPr>
              <a:t> 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{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 </a:t>
            </a:r>
            <a:r>
              <a:rPr lang="en-US" altLang="ja-JP" sz="2800" i="1" dirty="0" smtClean="0">
                <a:sym typeface="Symbol" pitchFamily="18" charset="2"/>
              </a:rPr>
              <a:t>T</a:t>
            </a:r>
            <a:r>
              <a:rPr lang="en-US" altLang="ja-JP" sz="2800" dirty="0" smtClean="0">
                <a:sym typeface="Symbol" pitchFamily="18" charset="2"/>
              </a:rPr>
              <a:t>* | </a:t>
            </a:r>
            <a:r>
              <a:rPr lang="en-US" altLang="ja-JP" sz="2800" i="1" dirty="0" smtClean="0">
                <a:sym typeface="Symbol" pitchFamily="18" charset="2"/>
              </a:rPr>
              <a:t>S </a:t>
            </a:r>
            <a:r>
              <a:rPr lang="ja-JP" altLang="en-US" sz="2800" dirty="0" smtClean="0">
                <a:sym typeface="Symbol" pitchFamily="18" charset="2"/>
              </a:rPr>
              <a:t></a:t>
            </a:r>
            <a:r>
              <a:rPr lang="en-US" altLang="ja-JP" sz="2800" dirty="0" smtClean="0">
                <a:sym typeface="Symbol" pitchFamily="18" charset="2"/>
              </a:rPr>
              <a:t>*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} </a:t>
            </a:r>
            <a:r>
              <a:rPr lang="ja-JP" altLang="en-US" sz="2800" dirty="0" smtClean="0">
                <a:sym typeface="Symbol" pitchFamily="18" charset="2"/>
              </a:rPr>
              <a:t>が、</a:t>
            </a:r>
            <a:r>
              <a:rPr lang="en-US" altLang="ja-JP" sz="2800" dirty="0" smtClean="0"/>
              <a:t> (</a:t>
            </a:r>
            <a:r>
              <a:rPr lang="en-US" altLang="ja-JP" sz="2800" i="1" dirty="0" smtClean="0"/>
              <a:t>N, T, P, S</a:t>
            </a:r>
            <a:r>
              <a:rPr lang="en-US" altLang="ja-JP" sz="2800" dirty="0" smtClean="0"/>
              <a:t>) </a:t>
            </a:r>
            <a:r>
              <a:rPr lang="ja-JP" altLang="en-US" sz="2800" dirty="0" smtClean="0">
                <a:sym typeface="Symbol" pitchFamily="18" charset="2"/>
              </a:rPr>
              <a:t>によって生成される言語</a:t>
            </a:r>
            <a:r>
              <a:rPr lang="ja-JP" altLang="en-US" sz="2800" dirty="0" smtClean="0">
                <a:sym typeface="Symbol" pitchFamily="18" charset="2"/>
              </a:rPr>
              <a:t>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1638</Words>
  <Application>Microsoft Office PowerPoint</Application>
  <PresentationFormat>画面に合わせる (4:3)</PresentationFormat>
  <Paragraphs>199</Paragraphs>
  <Slides>24</Slides>
  <Notes>21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 第３回 BNF記法について（演習付き）</vt:lpstr>
      <vt:lpstr>構文の記述</vt:lpstr>
      <vt:lpstr>BNF記法</vt:lpstr>
      <vt:lpstr>非終端記号と終端記号</vt:lpstr>
      <vt:lpstr>BNF記法による規則の書き方（BNF記法の定義）</vt:lpstr>
      <vt:lpstr>BNF記法の意味</vt:lpstr>
      <vt:lpstr>BNF記法の意味</vt:lpstr>
      <vt:lpstr>構文木</vt:lpstr>
      <vt:lpstr>拡張BNF記法（extended BNF）(1)</vt:lpstr>
      <vt:lpstr>拡張BNF記法(2)</vt:lpstr>
      <vt:lpstr>【参考】Chomskyの言語階層</vt:lpstr>
      <vt:lpstr>第1問</vt:lpstr>
      <vt:lpstr>第２問</vt:lpstr>
      <vt:lpstr>第３問</vt:lpstr>
      <vt:lpstr>第４問</vt:lpstr>
      <vt:lpstr>第５問</vt:lpstr>
      <vt:lpstr>第６問</vt:lpstr>
      <vt:lpstr>構文図式 （syntax graphあるいはsyntax diagram）</vt:lpstr>
      <vt:lpstr>構文図式</vt:lpstr>
      <vt:lpstr>構文図式</vt:lpstr>
      <vt:lpstr>第７問</vt:lpstr>
      <vt:lpstr>第８問</vt:lpstr>
      <vt:lpstr>補足: 文法とは（１）</vt:lpstr>
      <vt:lpstr>補足: 文法とは（２）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sasano</cp:lastModifiedBy>
  <cp:revision>98</cp:revision>
  <dcterms:created xsi:type="dcterms:W3CDTF">2009-09-26T10:21:26Z</dcterms:created>
  <dcterms:modified xsi:type="dcterms:W3CDTF">2009-10-09T09:32:13Z</dcterms:modified>
</cp:coreProperties>
</file>