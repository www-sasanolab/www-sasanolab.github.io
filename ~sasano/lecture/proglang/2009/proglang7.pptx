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4" r:id="rId3"/>
    <p:sldId id="281" r:id="rId4"/>
    <p:sldId id="261" r:id="rId5"/>
    <p:sldId id="258" r:id="rId6"/>
    <p:sldId id="260" r:id="rId7"/>
    <p:sldId id="262" r:id="rId8"/>
    <p:sldId id="282" r:id="rId9"/>
    <p:sldId id="283" r:id="rId10"/>
    <p:sldId id="263" r:id="rId11"/>
    <p:sldId id="265" r:id="rId12"/>
    <p:sldId id="266" r:id="rId13"/>
    <p:sldId id="267" r:id="rId14"/>
    <p:sldId id="269" r:id="rId15"/>
    <p:sldId id="257" r:id="rId16"/>
    <p:sldId id="272" r:id="rId17"/>
    <p:sldId id="273" r:id="rId18"/>
    <p:sldId id="268" r:id="rId19"/>
    <p:sldId id="274" r:id="rId20"/>
    <p:sldId id="270" r:id="rId21"/>
    <p:sldId id="275" r:id="rId22"/>
    <p:sldId id="284" r:id="rId23"/>
    <p:sldId id="278" r:id="rId24"/>
    <p:sldId id="285"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7" autoAdjust="0"/>
    <p:restoredTop sz="94660"/>
  </p:normalViewPr>
  <p:slideViewPr>
    <p:cSldViewPr snapToGrid="0">
      <p:cViewPr varScale="1">
        <p:scale>
          <a:sx n="70" d="100"/>
          <a:sy n="70" d="100"/>
        </p:scale>
        <p:origin x="-51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2009/11/23</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21</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第７回</a:t>
            </a:r>
            <a:r>
              <a:rPr lang="en-US" altLang="ja-JP" dirty="0" smtClean="0"/>
              <a:t/>
            </a:r>
            <a:br>
              <a:rPr lang="en-US" altLang="ja-JP" dirty="0" smtClean="0"/>
            </a:br>
            <a:r>
              <a:rPr lang="ja-JP" altLang="en-US" dirty="0" smtClean="0"/>
              <a:t>文の翻訳</a:t>
            </a:r>
            <a:r>
              <a:rPr lang="en-US" altLang="ja-JP" dirty="0" smtClean="0"/>
              <a:t/>
            </a:r>
            <a:br>
              <a:rPr lang="en-US" altLang="ja-JP" dirty="0" smtClean="0"/>
            </a:br>
            <a:r>
              <a:rPr lang="en-US" altLang="ja-JP" dirty="0" smtClean="0"/>
              <a:t>C</a:t>
            </a:r>
            <a:r>
              <a:rPr lang="ja-JP" altLang="en-US" dirty="0" smtClean="0"/>
              <a:t>言語の文</a:t>
            </a:r>
            <a:r>
              <a:rPr lang="en-US" altLang="ja-JP" dirty="0" smtClean="0"/>
              <a:t/>
            </a:r>
            <a:br>
              <a:rPr lang="en-US" altLang="ja-JP" dirty="0" smtClean="0"/>
            </a:br>
            <a:r>
              <a:rPr lang="ja-JP" altLang="en-US" dirty="0" smtClean="0"/>
              <a:t>表明</a:t>
            </a:r>
            <a:r>
              <a:rPr lang="en-US" altLang="ja-JP" dirty="0" smtClean="0"/>
              <a:t/>
            </a:r>
            <a:br>
              <a:rPr lang="en-US" altLang="ja-JP" dirty="0" smtClean="0"/>
            </a:br>
            <a:r>
              <a:rPr lang="en-US" altLang="ja-JP" dirty="0" smtClean="0"/>
              <a:t>Hoare</a:t>
            </a:r>
            <a:r>
              <a:rPr lang="ja-JP" altLang="en-US" dirty="0" smtClean="0"/>
              <a:t>論理</a:t>
            </a:r>
            <a:endParaRPr kumimoji="1" lang="ja-JP" altLang="en-US" dirty="0"/>
          </a:p>
        </p:txBody>
      </p:sp>
      <p:sp>
        <p:nvSpPr>
          <p:cNvPr id="4" name="テキスト ボックス 3"/>
          <p:cNvSpPr txBox="1"/>
          <p:nvPr/>
        </p:nvSpPr>
        <p:spPr>
          <a:xfrm>
            <a:off x="2442508" y="5447813"/>
            <a:ext cx="4112023" cy="584775"/>
          </a:xfrm>
          <a:prstGeom prst="rect">
            <a:avLst/>
          </a:prstGeom>
          <a:noFill/>
        </p:spPr>
        <p:txBody>
          <a:bodyPr wrap="none" rtlCol="0">
            <a:spAutoFit/>
          </a:bodyPr>
          <a:lstStyle/>
          <a:p>
            <a:r>
              <a:rPr kumimoji="1" lang="ja-JP" altLang="en-US" sz="3200" dirty="0" smtClean="0"/>
              <a:t>情報工学科</a:t>
            </a:r>
            <a:r>
              <a:rPr lang="ja-JP" altLang="en-US" sz="3200" dirty="0" smtClean="0"/>
              <a:t>    </a:t>
            </a:r>
            <a:r>
              <a:rPr kumimoji="1" lang="ja-JP" altLang="en-US" sz="3200" dirty="0" smtClean="0"/>
              <a:t>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4" name="テキスト ボックス 3"/>
          <p:cNvSpPr txBox="1"/>
          <p:nvPr/>
        </p:nvSpPr>
        <p:spPr>
          <a:xfrm>
            <a:off x="928662" y="1571612"/>
            <a:ext cx="7429552" cy="1815882"/>
          </a:xfrm>
          <a:prstGeom prst="rect">
            <a:avLst/>
          </a:prstGeom>
          <a:noFill/>
        </p:spPr>
        <p:txBody>
          <a:bodyPr wrap="square" rtlCol="0">
            <a:spAutoFit/>
          </a:bodyPr>
          <a:lstStyle/>
          <a:p>
            <a:r>
              <a:rPr lang="en-US" altLang="ja-JP" sz="2800" dirty="0" smtClean="0"/>
              <a:t>11/16(</a:t>
            </a:r>
            <a:r>
              <a:rPr lang="ja-JP" altLang="en-US" sz="2800" dirty="0" smtClean="0"/>
              <a:t>月</a:t>
            </a:r>
            <a:r>
              <a:rPr lang="en-US" altLang="ja-JP" sz="2800" dirty="0" smtClean="0"/>
              <a:t>) </a:t>
            </a:r>
            <a:r>
              <a:rPr lang="ja-JP" altLang="en-US" sz="2800" dirty="0" smtClean="0"/>
              <a:t>２限 中間試験 斎藤記念館（大教室）</a:t>
            </a:r>
            <a:endParaRPr lang="en-US" altLang="ja-JP" sz="2800" dirty="0" smtClean="0"/>
          </a:p>
          <a:p>
            <a:r>
              <a:rPr lang="ja-JP" altLang="en-US" sz="2800" dirty="0" smtClean="0"/>
              <a:t>持ち込み不可</a:t>
            </a:r>
            <a:endParaRPr lang="en-US" altLang="ja-JP" sz="2800" dirty="0" smtClean="0"/>
          </a:p>
          <a:p>
            <a:endParaRPr lang="en-US" altLang="ja-JP" sz="2800" dirty="0" smtClean="0"/>
          </a:p>
          <a:p>
            <a:r>
              <a:rPr lang="ja-JP" altLang="en-US" sz="2800" dirty="0" smtClean="0"/>
              <a:t>出題範囲  配布資料の第１回から第５回まで</a:t>
            </a:r>
            <a:endParaRPr lang="en-US" altLang="ja-JP"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文の翻訳について</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smtClean="0"/>
              <a:t>w</a:t>
            </a:r>
            <a:r>
              <a:rPr kumimoji="1" lang="en-US" altLang="ja-JP" sz="2800" dirty="0" smtClean="0"/>
              <a:t>hile</a:t>
            </a:r>
            <a:r>
              <a:rPr kumimoji="1" lang="ja-JP" altLang="en-US" sz="2800" dirty="0" smtClean="0"/>
              <a:t>文などは</a:t>
            </a:r>
            <a:r>
              <a:rPr lang="ja-JP" altLang="en-US" sz="2800" dirty="0" smtClean="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9"/>
        </p:xfrm>
        <a:graphic>
          <a:graphicData uri="http://schemas.openxmlformats.org/drawingml/2006/table">
            <a:tbl>
              <a:tblPr>
                <a:tableStyleId>{5C22544A-7EE6-4342-B048-85BDC9FD1C3A}</a:tableStyleId>
              </a:tblPr>
              <a:tblGrid>
                <a:gridCol w="4408221"/>
              </a:tblGrid>
              <a:tr h="523915">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8225">
                <a:tc>
                  <a:txBody>
                    <a:bodyPr/>
                    <a:lstStyle/>
                    <a:p>
                      <a:pPr algn="ctr"/>
                      <a:r>
                        <a:rPr kumimoji="1" lang="en-US" altLang="ja-JP" sz="2800" dirty="0" smtClean="0"/>
                        <a:t>E</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E</a:t>
                      </a:r>
                      <a:r>
                        <a:rPr kumimoji="1" lang="ja-JP" altLang="en-US" sz="2800" dirty="0" smtClean="0"/>
                        <a:t>の値が</a:t>
                      </a:r>
                      <a:r>
                        <a:rPr kumimoji="1" lang="en-US" altLang="ja-JP" sz="2800" dirty="0" smtClean="0"/>
                        <a:t>false</a:t>
                      </a:r>
                      <a:r>
                        <a:rPr kumimoji="1" lang="ja-JP" altLang="en-US" sz="2800" dirty="0" smtClean="0"/>
                        <a:t>の場合</a:t>
                      </a: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98439">
                <a:tc>
                  <a:txBody>
                    <a:bodyPr/>
                    <a:lstStyle/>
                    <a:p>
                      <a:pPr algn="ctr"/>
                      <a:r>
                        <a:rPr kumimoji="1" lang="en-US" altLang="ja-JP" sz="2800" dirty="0" smtClean="0"/>
                        <a:t>S</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9190">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smtClean="0"/>
              <a:t> </a:t>
            </a:r>
            <a:r>
              <a:rPr lang="en-US" altLang="ja-JP" sz="2800" dirty="0" smtClean="0"/>
              <a:t>while</a:t>
            </a:r>
            <a:r>
              <a:rPr lang="ja-JP" altLang="en-US" sz="2800" dirty="0" smtClean="0"/>
              <a:t>文</a:t>
            </a:r>
            <a:endParaRPr lang="en-US" altLang="ja-JP" sz="2800" dirty="0" smtClean="0"/>
          </a:p>
          <a:p>
            <a:pPr algn="ctr"/>
            <a:r>
              <a:rPr lang="en-US" altLang="ja-JP" sz="2800" b="1" dirty="0" smtClean="0"/>
              <a:t>while </a:t>
            </a:r>
            <a:r>
              <a:rPr lang="en-US" altLang="ja-JP" sz="2800" dirty="0" smtClean="0"/>
              <a:t>E </a:t>
            </a:r>
            <a:r>
              <a:rPr lang="en-US" altLang="ja-JP" sz="2800" b="1" dirty="0" smtClean="0"/>
              <a:t>do</a:t>
            </a:r>
            <a:r>
              <a:rPr lang="en-US" altLang="ja-JP" sz="2800" dirty="0" smtClean="0"/>
              <a:t> S</a:t>
            </a:r>
          </a:p>
          <a:p>
            <a:pPr algn="ctr"/>
            <a:r>
              <a:rPr lang="ja-JP" altLang="en-US" sz="2800" dirty="0" smtClean="0"/>
              <a:t>の翻訳</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smtClean="0"/>
              <a:t>選択文の</a:t>
            </a:r>
            <a:r>
              <a:rPr lang="ja-JP" altLang="en-US" dirty="0" smtClean="0"/>
              <a:t>翻訳</a:t>
            </a:r>
            <a:endParaRPr kumimoji="1" lang="ja-JP" altLang="en-US" dirty="0"/>
          </a:p>
        </p:txBody>
      </p:sp>
      <p:sp>
        <p:nvSpPr>
          <p:cNvPr id="4" name="テキスト ボックス 3"/>
          <p:cNvSpPr txBox="1"/>
          <p:nvPr/>
        </p:nvSpPr>
        <p:spPr>
          <a:xfrm>
            <a:off x="600499" y="1323828"/>
            <a:ext cx="8352430" cy="4832092"/>
          </a:xfrm>
          <a:prstGeom prst="rect">
            <a:avLst/>
          </a:prstGeom>
          <a:noFill/>
        </p:spPr>
        <p:txBody>
          <a:bodyPr wrap="square" rtlCol="0">
            <a:spAutoFit/>
          </a:bodyPr>
          <a:lstStyle/>
          <a:p>
            <a:r>
              <a:rPr lang="ja-JP" altLang="en-US" sz="2800" dirty="0" smtClean="0"/>
              <a:t>選択文</a:t>
            </a:r>
            <a:r>
              <a:rPr lang="en-US" altLang="ja-JP" sz="2800" dirty="0" smtClean="0"/>
              <a:t>(C</a:t>
            </a:r>
            <a:r>
              <a:rPr lang="ja-JP" altLang="en-US" sz="2800" dirty="0" smtClean="0"/>
              <a:t>における</a:t>
            </a:r>
            <a:r>
              <a:rPr lang="en-US" altLang="ja-JP" sz="2800" dirty="0" smtClean="0"/>
              <a:t>switch</a:t>
            </a:r>
            <a:r>
              <a:rPr lang="ja-JP" altLang="en-US" sz="2800" dirty="0" smtClean="0"/>
              <a:t>文など</a:t>
            </a:r>
            <a:r>
              <a:rPr lang="en-US" altLang="ja-JP" sz="2800" dirty="0" smtClean="0"/>
              <a:t>)</a:t>
            </a:r>
            <a:r>
              <a:rPr lang="ja-JP" altLang="en-US" sz="2800" dirty="0" smtClean="0"/>
              <a:t>は、さまざまな実装方法があり得るので、実装によって使い方に影響がある。</a:t>
            </a:r>
            <a:endParaRPr lang="en-US" altLang="ja-JP" sz="2800" dirty="0" smtClean="0"/>
          </a:p>
          <a:p>
            <a:endParaRPr lang="en-US" altLang="ja-JP" sz="2800" dirty="0" smtClean="0"/>
          </a:p>
          <a:p>
            <a:r>
              <a:rPr lang="ja-JP" altLang="en-US" sz="2800" dirty="0" smtClean="0"/>
              <a:t>（実装例１）ジャンプテーブルで決め打ちし、連続した定数のみを分岐先指定に用いるように推奨する。</a:t>
            </a:r>
            <a:endParaRPr lang="en-US" altLang="ja-JP" sz="2800" dirty="0" smtClean="0"/>
          </a:p>
          <a:p>
            <a:endParaRPr lang="en-US" altLang="ja-JP" sz="2800" dirty="0" smtClean="0"/>
          </a:p>
          <a:p>
            <a:r>
              <a:rPr lang="ja-JP" altLang="en-US" sz="2800" dirty="0" smtClean="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smtClean="0"/>
              <a:t>C</a:t>
            </a:r>
            <a:r>
              <a:rPr kumimoji="1" lang="ja-JP" altLang="en-US" sz="3600" dirty="0" smtClean="0"/>
              <a:t>言語の文の構文</a:t>
            </a:r>
            <a:endParaRPr kumimoji="1" lang="ja-JP" altLang="en-US" sz="3600" dirty="0"/>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smtClean="0"/>
              <a:t>C</a:t>
            </a:r>
            <a:r>
              <a:rPr kumimoji="1" lang="ja-JP" altLang="en-US" sz="2400" dirty="0" smtClean="0"/>
              <a:t>言語の文の構文は拡張</a:t>
            </a:r>
            <a:r>
              <a:rPr kumimoji="1" lang="en-US" altLang="ja-JP" sz="2400" dirty="0" smtClean="0"/>
              <a:t>BNF</a:t>
            </a:r>
            <a:r>
              <a:rPr kumimoji="1" lang="ja-JP" altLang="en-US" sz="2400" dirty="0" smtClean="0"/>
              <a:t>記法で以下のように定義される。</a:t>
            </a:r>
            <a:endParaRPr kumimoji="1" lang="en-US" altLang="ja-JP" sz="2400" dirty="0" smtClean="0"/>
          </a:p>
          <a:p>
            <a:r>
              <a:rPr lang="en-US" altLang="ja-JP" sz="2400" dirty="0" smtClean="0"/>
              <a:t>&lt;stmt&gt; ::= ;</a:t>
            </a:r>
          </a:p>
          <a:p>
            <a:r>
              <a:rPr kumimoji="1" lang="en-US" altLang="ja-JP" sz="2400" dirty="0" smtClean="0"/>
              <a:t>                | &lt;exp&gt;;</a:t>
            </a:r>
          </a:p>
          <a:p>
            <a:r>
              <a:rPr lang="en-US" altLang="ja-JP" sz="2400" dirty="0" smtClean="0"/>
              <a:t>                | { &lt;stmt-list&gt; }</a:t>
            </a:r>
          </a:p>
          <a:p>
            <a:r>
              <a:rPr kumimoji="1" lang="en-US" altLang="ja-JP" sz="2400" dirty="0" smtClean="0"/>
              <a:t>                | if (&lt;exp&gt;)  &lt;stmt&gt;  | </a:t>
            </a:r>
            <a:r>
              <a:rPr lang="en-US" altLang="ja-JP" sz="2400" dirty="0" smtClean="0"/>
              <a:t>if (&lt;exp&gt;) &lt;stmt&gt; else &lt;stmt&gt;</a:t>
            </a:r>
          </a:p>
          <a:p>
            <a:r>
              <a:rPr kumimoji="1" lang="en-US" altLang="ja-JP" sz="2400" dirty="0" smtClean="0"/>
              <a:t>                | while ( &lt;expression&gt; ) &lt;statement&gt;</a:t>
            </a:r>
          </a:p>
          <a:p>
            <a:r>
              <a:rPr lang="en-US" altLang="ja-JP" sz="2400" dirty="0" smtClean="0"/>
              <a:t>                | do &lt;statement&gt; while (&lt;expression&gt;) ;</a:t>
            </a:r>
          </a:p>
          <a:p>
            <a:r>
              <a:rPr kumimoji="1" lang="en-US" altLang="ja-JP" sz="2400" dirty="0" smtClean="0"/>
              <a:t>                | for (&lt;opt-</a:t>
            </a:r>
            <a:r>
              <a:rPr kumimoji="1" lang="en-US" altLang="ja-JP" sz="2400" dirty="0" err="1" smtClean="0"/>
              <a:t>expr</a:t>
            </a:r>
            <a:r>
              <a:rPr lang="en-US" altLang="ja-JP" sz="2400" dirty="0" smtClean="0"/>
              <a:t>&gt;; &lt;opt-</a:t>
            </a:r>
            <a:r>
              <a:rPr lang="en-US" altLang="ja-JP" sz="2400" dirty="0" err="1" smtClean="0"/>
              <a:t>expr</a:t>
            </a:r>
            <a:r>
              <a:rPr lang="en-US" altLang="ja-JP" sz="2400" dirty="0" smtClean="0"/>
              <a:t>&gt;; &lt;opt-</a:t>
            </a:r>
            <a:r>
              <a:rPr lang="en-US" altLang="ja-JP" sz="2400" dirty="0" err="1" smtClean="0"/>
              <a:t>expr</a:t>
            </a:r>
            <a:r>
              <a:rPr lang="en-US" altLang="ja-JP" sz="2400" dirty="0" smtClean="0"/>
              <a:t>&gt;) &lt;statement&gt;</a:t>
            </a:r>
          </a:p>
          <a:p>
            <a:r>
              <a:rPr kumimoji="1" lang="en-US" altLang="ja-JP" sz="2400" dirty="0" smtClean="0"/>
              <a:t>                | switch ( &lt;</a:t>
            </a:r>
            <a:r>
              <a:rPr kumimoji="1" lang="en-US" altLang="ja-JP" sz="2400" dirty="0" err="1" smtClean="0"/>
              <a:t>expr</a:t>
            </a:r>
            <a:r>
              <a:rPr lang="en-US" altLang="ja-JP" sz="2400" dirty="0" smtClean="0"/>
              <a:t>&gt; ) &lt;stmt&gt;</a:t>
            </a:r>
          </a:p>
          <a:p>
            <a:r>
              <a:rPr kumimoji="1" lang="en-US" altLang="ja-JP" sz="2400" dirty="0" smtClean="0"/>
              <a:t>                | case &lt;const-</a:t>
            </a:r>
            <a:r>
              <a:rPr kumimoji="1" lang="en-US" altLang="ja-JP" sz="2400" dirty="0" err="1" smtClean="0"/>
              <a:t>expr</a:t>
            </a:r>
            <a:r>
              <a:rPr kumimoji="1" lang="en-US" altLang="ja-JP" sz="2400" dirty="0" smtClean="0"/>
              <a:t>&gt; : &lt;stmt&gt;</a:t>
            </a:r>
          </a:p>
          <a:p>
            <a:r>
              <a:rPr lang="en-US" altLang="ja-JP" sz="2400" dirty="0" smtClean="0"/>
              <a:t>                | default : &lt;stmt&gt;</a:t>
            </a:r>
          </a:p>
          <a:p>
            <a:r>
              <a:rPr kumimoji="1" lang="en-US" altLang="ja-JP" sz="2400" dirty="0" smtClean="0"/>
              <a:t>                | break;</a:t>
            </a:r>
            <a:r>
              <a:rPr lang="en-US" altLang="ja-JP" sz="2400" dirty="0" smtClean="0"/>
              <a:t>    | continue;</a:t>
            </a:r>
            <a:r>
              <a:rPr kumimoji="1" lang="en-US" altLang="ja-JP" sz="2400" dirty="0" smtClean="0"/>
              <a:t>   | return;   | return &lt;exp&gt;;</a:t>
            </a:r>
          </a:p>
          <a:p>
            <a:r>
              <a:rPr lang="en-US" altLang="ja-JP" sz="2400" dirty="0" smtClean="0"/>
              <a:t>                | </a:t>
            </a:r>
            <a:r>
              <a:rPr lang="en-US" altLang="ja-JP" sz="2400" dirty="0" err="1" smtClean="0"/>
              <a:t>goto</a:t>
            </a:r>
            <a:r>
              <a:rPr lang="en-US" altLang="ja-JP" sz="2400" dirty="0" smtClean="0"/>
              <a:t> &lt;label&gt;;  |  &lt;label&gt; : &lt;stmt&gt;</a:t>
            </a:r>
          </a:p>
          <a:p>
            <a:r>
              <a:rPr kumimoji="1" lang="en-US" altLang="ja-JP" sz="2400" dirty="0" smtClean="0"/>
              <a:t>&lt;stmt-list&gt; ::= </a:t>
            </a:r>
            <a:r>
              <a:rPr lang="en-US" altLang="ja-JP" sz="2400" dirty="0" smtClean="0">
                <a:sym typeface="Symbol"/>
              </a:rPr>
              <a:t>&lt;stmt&gt; *</a:t>
            </a:r>
          </a:p>
          <a:p>
            <a:r>
              <a:rPr kumimoji="1" lang="en-US" altLang="ja-JP" sz="2400" dirty="0" smtClean="0">
                <a:sym typeface="Symbol"/>
              </a:rPr>
              <a:t>&lt;opt-</a:t>
            </a:r>
            <a:r>
              <a:rPr kumimoji="1" lang="en-US" altLang="ja-JP" sz="2400" dirty="0" err="1" smtClean="0">
                <a:sym typeface="Symbol"/>
              </a:rPr>
              <a:t>expr</a:t>
            </a:r>
            <a:r>
              <a:rPr kumimoji="1" lang="en-US" altLang="ja-JP" sz="2400" dirty="0" smtClean="0">
                <a:sym typeface="Symbol"/>
              </a:rPr>
              <a:t>&gt; ::= </a:t>
            </a:r>
            <a:r>
              <a:rPr lang="en-US" altLang="ja-JP" sz="2400" dirty="0" smtClean="0">
                <a:sym typeface="Symbol"/>
              </a:rPr>
              <a:t> | &lt;</a:t>
            </a:r>
            <a:r>
              <a:rPr lang="en-US" altLang="ja-JP" sz="2400" dirty="0" err="1" smtClean="0">
                <a:sym typeface="Symbol"/>
              </a:rPr>
              <a:t>expr</a:t>
            </a:r>
            <a:r>
              <a:rPr lang="en-US" altLang="ja-JP" sz="2400" dirty="0" smtClean="0">
                <a:sym typeface="Symbol"/>
              </a:rPr>
              <a:t>&gt;</a:t>
            </a:r>
            <a:endParaRPr kumimoji="1" lang="en-US" altLang="ja-JP" sz="2400" dirty="0" smtClean="0">
              <a:sym typeface="Symbo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言語に</a:t>
            </a:r>
            <a:r>
              <a:rPr lang="ja-JP" altLang="en-US" dirty="0" smtClean="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smtClean="0"/>
              <a:t>基本型にブール型はない。</a:t>
            </a:r>
            <a:r>
              <a:rPr kumimoji="1" lang="en-US" altLang="ja-JP" sz="2800" dirty="0" smtClean="0"/>
              <a:t>0</a:t>
            </a:r>
            <a:r>
              <a:rPr kumimoji="1" lang="ja-JP" altLang="en-US" sz="2800" dirty="0" smtClean="0"/>
              <a:t>以外の値を</a:t>
            </a:r>
            <a:r>
              <a:rPr kumimoji="1" lang="en-US" altLang="ja-JP" sz="2800" dirty="0" smtClean="0"/>
              <a:t>true, 0</a:t>
            </a:r>
            <a:r>
              <a:rPr lang="ja-JP" altLang="en-US" sz="2800" dirty="0" smtClean="0"/>
              <a:t>を</a:t>
            </a:r>
            <a:r>
              <a:rPr lang="en-US" altLang="ja-JP" sz="2800" dirty="0" smtClean="0"/>
              <a:t>false</a:t>
            </a:r>
            <a:r>
              <a:rPr lang="ja-JP" altLang="en-US" sz="2800" dirty="0" smtClean="0"/>
              <a:t>として扱う。</a:t>
            </a:r>
            <a:endParaRPr lang="en-US" altLang="ja-JP" sz="2800" dirty="0" smtClean="0"/>
          </a:p>
          <a:p>
            <a:r>
              <a:rPr lang="ja-JP" altLang="en-US" sz="2800" dirty="0" smtClean="0"/>
              <a:t>代入演算子は</a:t>
            </a:r>
            <a:r>
              <a:rPr lang="en-US" altLang="ja-JP" sz="2800" dirty="0" smtClean="0"/>
              <a:t>=, </a:t>
            </a:r>
            <a:r>
              <a:rPr lang="ja-JP" altLang="en-US" sz="2800" dirty="0" smtClean="0"/>
              <a:t>比較演算子は</a:t>
            </a:r>
            <a:r>
              <a:rPr lang="en-US" altLang="ja-JP" sz="2800" dirty="0" smtClean="0"/>
              <a:t>==, !=</a:t>
            </a:r>
            <a:r>
              <a:rPr lang="ja-JP" altLang="en-US" sz="2800" dirty="0" smtClean="0"/>
              <a:t>である。</a:t>
            </a:r>
            <a:endParaRPr lang="en-US" altLang="ja-JP" sz="2800" dirty="0" smtClean="0"/>
          </a:p>
          <a:p>
            <a:r>
              <a:rPr lang="en-US" altLang="ja-JP" sz="2800" dirty="0" smtClean="0"/>
              <a:t>while</a:t>
            </a:r>
            <a:r>
              <a:rPr lang="ja-JP" altLang="en-US" sz="2800" dirty="0" smtClean="0"/>
              <a:t>文の条件部分は括弧で囲まなければならない。</a:t>
            </a:r>
            <a:endParaRPr lang="en-US" altLang="ja-JP" sz="2800" dirty="0" smtClean="0"/>
          </a:p>
          <a:p>
            <a:r>
              <a:rPr lang="en-US" altLang="ja-JP" sz="2800" dirty="0" smtClean="0"/>
              <a:t>begin, end</a:t>
            </a:r>
            <a:r>
              <a:rPr lang="ja-JP" altLang="en-US" sz="2800" dirty="0" smtClean="0"/>
              <a:t>の代わりに中括弧</a:t>
            </a:r>
            <a:r>
              <a:rPr lang="en-US" altLang="ja-JP" sz="2800" dirty="0" smtClean="0"/>
              <a:t>{, }</a:t>
            </a:r>
            <a:r>
              <a:rPr lang="ja-JP" altLang="en-US" sz="2800" dirty="0" smtClean="0"/>
              <a:t>を用いる。</a:t>
            </a:r>
            <a:endParaRPr lang="en-US" altLang="ja-JP" sz="2800" dirty="0" smtClean="0"/>
          </a:p>
          <a:p>
            <a:r>
              <a:rPr lang="ja-JP" altLang="en-US" sz="2800" dirty="0" smtClean="0"/>
              <a:t>論理</a:t>
            </a:r>
            <a:r>
              <a:rPr lang="en-US" altLang="ja-JP" sz="2800" dirty="0" smtClean="0"/>
              <a:t>and</a:t>
            </a:r>
            <a:r>
              <a:rPr lang="ja-JP" altLang="en-US" sz="2800" dirty="0" smtClean="0"/>
              <a:t>と論理</a:t>
            </a:r>
            <a:r>
              <a:rPr lang="en-US" altLang="ja-JP" sz="2800" dirty="0" smtClean="0"/>
              <a:t>or</a:t>
            </a:r>
            <a:r>
              <a:rPr lang="ja-JP" altLang="en-US" sz="2800" dirty="0" smtClean="0"/>
              <a:t>演算子は</a:t>
            </a:r>
            <a:r>
              <a:rPr lang="en-US" altLang="ja-JP" sz="2800" dirty="0" smtClean="0"/>
              <a:t>&amp;&amp;</a:t>
            </a:r>
            <a:r>
              <a:rPr lang="ja-JP" altLang="en-US" sz="2800" dirty="0" smtClean="0"/>
              <a:t>と</a:t>
            </a:r>
            <a:r>
              <a:rPr lang="en-US" altLang="ja-JP" sz="2800" dirty="0" smtClean="0"/>
              <a:t>||</a:t>
            </a:r>
            <a:r>
              <a:rPr lang="ja-JP" altLang="en-US" sz="2800" dirty="0" smtClean="0"/>
              <a:t>であり、短絡評価</a:t>
            </a:r>
            <a:r>
              <a:rPr lang="en-US" altLang="ja-JP" sz="2800" dirty="0" smtClean="0"/>
              <a:t>(short circuit evaluation)</a:t>
            </a:r>
            <a:r>
              <a:rPr lang="ja-JP" altLang="en-US" sz="2800" dirty="0" smtClean="0"/>
              <a:t>を行う。</a:t>
            </a:r>
            <a:endParaRPr lang="en-US" altLang="ja-JP" sz="2800" dirty="0" smtClean="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smtClean="0"/>
              <a:t>C</a:t>
            </a:r>
            <a:r>
              <a:rPr kumimoji="1" lang="ja-JP" altLang="en-US" sz="2800" dirty="0" smtClean="0"/>
              <a:t>言語は、</a:t>
            </a:r>
            <a:r>
              <a:rPr lang="ja-JP" altLang="en-US" sz="2800" dirty="0" smtClean="0"/>
              <a:t>講義で説明のために使っている命令型</a:t>
            </a:r>
            <a:r>
              <a:rPr kumimoji="1" lang="ja-JP" altLang="en-US" sz="2800" dirty="0" smtClean="0"/>
              <a:t>言語と以下のような違いがある。</a:t>
            </a:r>
            <a:endParaRPr kumimoji="1"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短絡評価</a:t>
            </a:r>
            <a:r>
              <a:rPr lang="en-US" altLang="ja-JP" dirty="0" smtClean="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smtClean="0"/>
              <a:t>C</a:t>
            </a:r>
            <a:r>
              <a:rPr lang="ja-JP" altLang="en-US" sz="2800" dirty="0" smtClean="0"/>
              <a:t>言語</a:t>
            </a:r>
            <a:r>
              <a:rPr lang="en-US" altLang="ja-JP" sz="2800" dirty="0" smtClean="0"/>
              <a:t>(</a:t>
            </a:r>
            <a:r>
              <a:rPr lang="ja-JP" altLang="en-US" sz="2800" dirty="0" smtClean="0"/>
              <a:t>や</a:t>
            </a:r>
            <a:r>
              <a:rPr lang="en-US" altLang="ja-JP" sz="2800" dirty="0" smtClean="0"/>
              <a:t>Modula2, </a:t>
            </a:r>
            <a:r>
              <a:rPr lang="en-US" altLang="ja-JP" sz="2800" dirty="0" err="1" smtClean="0"/>
              <a:t>Paslcal</a:t>
            </a:r>
            <a:r>
              <a:rPr lang="ja-JP" altLang="en-US" sz="2800" dirty="0" smtClean="0"/>
              <a:t>等</a:t>
            </a:r>
            <a:r>
              <a:rPr lang="en-US" altLang="ja-JP" sz="2800" dirty="0" smtClean="0"/>
              <a:t>)</a:t>
            </a:r>
            <a:r>
              <a:rPr lang="ja-JP" altLang="en-US" sz="2800" dirty="0" smtClean="0"/>
              <a:t>では</a:t>
            </a:r>
            <a:r>
              <a:rPr lang="en-US" altLang="ja-JP" sz="2800" dirty="0" smtClean="0"/>
              <a:t>and, or</a:t>
            </a:r>
            <a:r>
              <a:rPr lang="ja-JP" altLang="en-US" sz="2800" dirty="0" smtClean="0"/>
              <a:t>式ついて短絡評価を行う。</a:t>
            </a:r>
            <a:endParaRPr lang="en-US" altLang="ja-JP" sz="2800" dirty="0" smtClean="0"/>
          </a:p>
          <a:p>
            <a:r>
              <a:rPr kumimoji="1" lang="ja-JP" altLang="en-US" sz="2800" dirty="0" smtClean="0"/>
              <a:t>短絡評価 </a:t>
            </a:r>
            <a:r>
              <a:rPr kumimoji="1" lang="en-US" altLang="ja-JP" sz="2800" dirty="0" smtClean="0"/>
              <a:t>--- </a:t>
            </a:r>
            <a:r>
              <a:rPr kumimoji="1" lang="ja-JP" altLang="en-US" sz="2800" dirty="0" smtClean="0"/>
              <a:t>第２引数は必要な場合のみ評価。</a:t>
            </a:r>
            <a:endParaRPr kumimoji="1" lang="ja-JP" altLang="en-US" sz="2800" dirty="0"/>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dirty="0" smtClean="0"/>
              <a:t> </a:t>
            </a:r>
            <a:r>
              <a:rPr lang="en-US" altLang="ja-JP" sz="2800" dirty="0" smtClean="0"/>
              <a:t>x = 1;</a:t>
            </a:r>
          </a:p>
          <a:p>
            <a:r>
              <a:rPr lang="en-US" altLang="ja-JP" sz="2800" dirty="0" smtClean="0"/>
              <a:t> if (x == 1 || y == 2)</a:t>
            </a:r>
          </a:p>
          <a:p>
            <a:r>
              <a:rPr lang="en-US" altLang="ja-JP" sz="2800" dirty="0" smtClean="0"/>
              <a:t>     …</a:t>
            </a:r>
          </a:p>
          <a:p>
            <a:r>
              <a:rPr lang="ja-JP" altLang="en-US" sz="2800" dirty="0" err="1" smtClean="0"/>
              <a:t>のような</a:t>
            </a:r>
            <a:r>
              <a:rPr lang="ja-JP" altLang="en-US" sz="2800" dirty="0" smtClean="0"/>
              <a:t>例の場合、</a:t>
            </a:r>
            <a:r>
              <a:rPr lang="en-US" altLang="ja-JP" sz="2800" dirty="0" smtClean="0"/>
              <a:t>x==1</a:t>
            </a:r>
            <a:r>
              <a:rPr lang="ja-JP" altLang="en-US" sz="2800" dirty="0" smtClean="0"/>
              <a:t>が真であり、</a:t>
            </a:r>
            <a:r>
              <a:rPr lang="en-US" altLang="ja-JP" sz="2800" dirty="0" smtClean="0"/>
              <a:t>if</a:t>
            </a:r>
            <a:r>
              <a:rPr lang="ja-JP" altLang="en-US" sz="2800" dirty="0" smtClean="0"/>
              <a:t>文の条件式は</a:t>
            </a:r>
            <a:r>
              <a:rPr lang="en-US" altLang="ja-JP" sz="2800" dirty="0" smtClean="0"/>
              <a:t>y==2</a:t>
            </a:r>
            <a:r>
              <a:rPr lang="ja-JP" altLang="en-US" sz="2800" dirty="0" smtClean="0"/>
              <a:t>の値に係わらず真であるので、</a:t>
            </a:r>
            <a:r>
              <a:rPr lang="en-US" altLang="ja-JP" sz="2800" dirty="0" smtClean="0"/>
              <a:t>y==2</a:t>
            </a:r>
            <a:r>
              <a:rPr lang="ja-JP" altLang="en-US" sz="2800" dirty="0" err="1" smtClean="0"/>
              <a:t>を評</a:t>
            </a:r>
            <a:r>
              <a:rPr lang="ja-JP" altLang="en-US" sz="2800" dirty="0" smtClean="0"/>
              <a:t>価せず</a:t>
            </a:r>
            <a:r>
              <a:rPr lang="en-US" altLang="ja-JP" sz="2800" dirty="0" smtClean="0"/>
              <a:t>if</a:t>
            </a:r>
            <a:r>
              <a:rPr lang="ja-JP" altLang="en-US" sz="2800" dirty="0" smtClean="0"/>
              <a:t>文の本体を実行する。</a:t>
            </a:r>
            <a:endParaRPr lang="en-US" altLang="ja-JP" sz="28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smtClean="0"/>
              <a:t>短絡評価の場合の制御フロー</a:t>
            </a:r>
            <a:endParaRPr kumimoji="1" lang="ja-JP" altLang="en-US" dirty="0"/>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x = x + 1;</a:t>
            </a:r>
          </a:p>
          <a:p>
            <a:r>
              <a:rPr kumimoji="1" lang="ja-JP" altLang="en-US" sz="2800" dirty="0" smtClean="0"/>
              <a:t>の制御フロー</a:t>
            </a:r>
            <a:endParaRPr kumimoji="1" lang="en-US" altLang="ja-JP" sz="2800" dirty="0" smtClean="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1" name="テキスト ボックス 10"/>
          <p:cNvSpPr txBox="1"/>
          <p:nvPr/>
        </p:nvSpPr>
        <p:spPr>
          <a:xfrm>
            <a:off x="5033471" y="240946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2" name="テキスト ボックス 11"/>
          <p:cNvSpPr txBox="1"/>
          <p:nvPr/>
        </p:nvSpPr>
        <p:spPr>
          <a:xfrm>
            <a:off x="7065085" y="2423117"/>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smtClean="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a:t>
            </a:r>
            <a:r>
              <a:rPr kumimoji="1" lang="en-US" altLang="ja-JP" sz="2800" dirty="0" smtClean="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3178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51950" y="41586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smtClean="0"/>
              <a:t>短絡</a:t>
            </a:r>
            <a:r>
              <a:rPr lang="ja-JP" altLang="en-US" sz="2800" dirty="0" smtClean="0"/>
              <a:t>評価により制御フローは複雑になるが、実行効率が良くなる。</a:t>
            </a:r>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smtClean="0"/>
              <a:t>参考</a:t>
            </a:r>
            <a:endParaRPr kumimoji="1" lang="ja-JP" altLang="en-US" dirty="0"/>
          </a:p>
        </p:txBody>
      </p:sp>
      <p:sp>
        <p:nvSpPr>
          <p:cNvPr id="4" name="テキスト ボックス 3"/>
          <p:cNvSpPr txBox="1"/>
          <p:nvPr/>
        </p:nvSpPr>
        <p:spPr>
          <a:xfrm>
            <a:off x="641443" y="777915"/>
            <a:ext cx="8202305" cy="4832092"/>
          </a:xfrm>
          <a:prstGeom prst="rect">
            <a:avLst/>
          </a:prstGeom>
          <a:noFill/>
        </p:spPr>
        <p:txBody>
          <a:bodyPr wrap="square" rtlCol="0">
            <a:spAutoFit/>
          </a:bodyPr>
          <a:lstStyle/>
          <a:p>
            <a:r>
              <a:rPr kumimoji="1" lang="ja-JP" altLang="en-US" sz="2800" dirty="0" smtClean="0"/>
              <a:t>制御フローを図示したものはグラフ構造を成す。制御フローグラフは、</a:t>
            </a:r>
            <a:r>
              <a:rPr kumimoji="1" lang="en-US" altLang="ja-JP" sz="2800" dirty="0" err="1" smtClean="0"/>
              <a:t>goto</a:t>
            </a:r>
            <a:r>
              <a:rPr kumimoji="1" lang="ja-JP" altLang="en-US" sz="2800" dirty="0" smtClean="0"/>
              <a:t>文がない場合、複雑さが、ある尺度</a:t>
            </a:r>
            <a:r>
              <a:rPr kumimoji="1" lang="en-US" altLang="ja-JP" sz="2800" dirty="0" smtClean="0"/>
              <a:t>(</a:t>
            </a:r>
            <a:r>
              <a:rPr lang="ja-JP" altLang="en-US" sz="2800" dirty="0" smtClean="0"/>
              <a:t>木幅 </a:t>
            </a:r>
            <a:r>
              <a:rPr lang="en-US" altLang="ja-JP" sz="2800" dirty="0" smtClean="0"/>
              <a:t>tree-width</a:t>
            </a:r>
            <a:r>
              <a:rPr kumimoji="1" lang="en-US" altLang="ja-JP" sz="2800" dirty="0" smtClean="0"/>
              <a:t>)</a:t>
            </a:r>
            <a:r>
              <a:rPr kumimoji="1" lang="ja-JP" altLang="en-US" sz="2800" dirty="0" smtClean="0"/>
              <a:t>に関して一定値以下になる</a:t>
            </a:r>
            <a:r>
              <a:rPr lang="ja-JP" altLang="en-US" sz="2800" dirty="0" smtClean="0"/>
              <a:t>ことが知られている。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err="1" smtClean="0"/>
              <a:t>Algol</a:t>
            </a:r>
            <a:r>
              <a:rPr lang="en-US" altLang="ja-JP" sz="2800" dirty="0" smtClean="0"/>
              <a:t>, </a:t>
            </a:r>
            <a:r>
              <a:rPr lang="en-US" altLang="ja-JP" sz="2800" dirty="0" err="1" smtClean="0"/>
              <a:t>goto</a:t>
            </a:r>
            <a:r>
              <a:rPr lang="ja-JP" altLang="en-US" sz="2800" dirty="0" smtClean="0"/>
              <a:t>文無しの</a:t>
            </a:r>
            <a:r>
              <a:rPr lang="en-US" altLang="ja-JP" sz="2800" dirty="0" smtClean="0"/>
              <a:t>Pascal --- 3</a:t>
            </a:r>
            <a:r>
              <a:rPr lang="ja-JP" altLang="en-US" sz="2800" dirty="0" smtClean="0"/>
              <a:t>以下</a:t>
            </a:r>
            <a:endParaRPr lang="en-US" altLang="ja-JP" sz="2800" dirty="0" smtClean="0"/>
          </a:p>
          <a:p>
            <a:pPr lvl="1">
              <a:buFont typeface="Arial" pitchFamily="34" charset="0"/>
              <a:buChar char="•"/>
            </a:pPr>
            <a:r>
              <a:rPr lang="en-US" altLang="ja-JP" sz="2800" dirty="0" smtClean="0"/>
              <a:t>  Modula-2 --- 5</a:t>
            </a:r>
            <a:r>
              <a:rPr lang="ja-JP" altLang="en-US" sz="2800" dirty="0" smtClean="0"/>
              <a:t>以下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smtClean="0"/>
              <a:t>C --- 6</a:t>
            </a:r>
            <a:r>
              <a:rPr lang="ja-JP" altLang="en-US" sz="2800" dirty="0" smtClean="0"/>
              <a:t>以下</a:t>
            </a:r>
            <a:endParaRPr lang="en-US" altLang="ja-JP" sz="2800" dirty="0" smtClean="0"/>
          </a:p>
          <a:p>
            <a:r>
              <a:rPr lang="ja-JP" altLang="en-US" sz="2800" dirty="0" smtClean="0"/>
              <a:t>短絡評価がなければ上記の木幅は１ずつ減少。</a:t>
            </a:r>
            <a:endParaRPr lang="en-US" altLang="ja-JP" sz="2800" dirty="0" smtClean="0"/>
          </a:p>
          <a:p>
            <a:r>
              <a:rPr lang="en-US" altLang="ja-JP" sz="2800" dirty="0" err="1" smtClean="0"/>
              <a:t>Algol</a:t>
            </a:r>
            <a:r>
              <a:rPr lang="en-US" altLang="ja-JP" sz="2800" dirty="0" smtClean="0"/>
              <a:t>, Pascal</a:t>
            </a:r>
            <a:r>
              <a:rPr lang="ja-JP" altLang="en-US" sz="2800" dirty="0" smtClean="0"/>
              <a:t>に比べ、</a:t>
            </a:r>
            <a:r>
              <a:rPr lang="en-US" altLang="ja-JP" sz="2800" dirty="0" smtClean="0"/>
              <a:t>Modula-2</a:t>
            </a:r>
            <a:r>
              <a:rPr lang="ja-JP" altLang="en-US" sz="2800" dirty="0" smtClean="0"/>
              <a:t>はループについて複数個所での終了</a:t>
            </a:r>
            <a:r>
              <a:rPr lang="en-US" altLang="ja-JP" sz="2800" dirty="0" smtClean="0"/>
              <a:t>(break)</a:t>
            </a:r>
            <a:r>
              <a:rPr lang="ja-JP" altLang="en-US" sz="2800" dirty="0" smtClean="0"/>
              <a:t>を許し、関数も複数個所での終了</a:t>
            </a:r>
            <a:r>
              <a:rPr lang="en-US" altLang="ja-JP" sz="2800" dirty="0" smtClean="0"/>
              <a:t>(return)</a:t>
            </a:r>
            <a:r>
              <a:rPr lang="ja-JP" altLang="en-US" sz="2800" dirty="0" smtClean="0"/>
              <a:t>を許す。</a:t>
            </a:r>
            <a:r>
              <a:rPr lang="en-US" altLang="ja-JP" sz="2800" dirty="0" smtClean="0"/>
              <a:t>C</a:t>
            </a:r>
            <a:r>
              <a:rPr lang="ja-JP" altLang="en-US" sz="2800" dirty="0" smtClean="0"/>
              <a:t>ではさらに</a:t>
            </a:r>
            <a:r>
              <a:rPr lang="en-US" altLang="ja-JP" sz="2800" dirty="0" smtClean="0"/>
              <a:t>continue</a:t>
            </a:r>
            <a:r>
              <a:rPr lang="ja-JP" altLang="en-US" sz="2800" dirty="0" smtClean="0"/>
              <a:t>文がある。</a:t>
            </a:r>
            <a:endParaRPr lang="en-US" altLang="ja-JP" sz="2800" dirty="0" smtClean="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smtClean="0"/>
              <a:t>（参考文献） </a:t>
            </a:r>
            <a:r>
              <a:rPr kumimoji="1" lang="en-US" altLang="ja-JP" sz="2400" dirty="0" err="1" smtClean="0"/>
              <a:t>Mikkel</a:t>
            </a:r>
            <a:r>
              <a:rPr kumimoji="1" lang="en-US" altLang="ja-JP" sz="2400" dirty="0" smtClean="0"/>
              <a:t> </a:t>
            </a:r>
            <a:r>
              <a:rPr kumimoji="1" lang="en-US" altLang="ja-JP" sz="2400" dirty="0" err="1" smtClean="0"/>
              <a:t>Thorup</a:t>
            </a:r>
            <a:r>
              <a:rPr kumimoji="1" lang="en-US" altLang="ja-JP" sz="2400" dirty="0" smtClean="0"/>
              <a:t>, “All structured programs have small tree-width and good register allocation”,</a:t>
            </a:r>
            <a:r>
              <a:rPr kumimoji="1" lang="en-US" altLang="ja-JP" sz="2400" i="1" dirty="0" smtClean="0"/>
              <a:t> Information and Computation</a:t>
            </a:r>
            <a:r>
              <a:rPr kumimoji="1" lang="en-US" altLang="ja-JP" sz="2400" dirty="0" smtClean="0"/>
              <a:t>, </a:t>
            </a:r>
            <a:r>
              <a:rPr lang="en-US" altLang="ja-JP" sz="2400" dirty="0" smtClean="0"/>
              <a:t>Vol. 142, pp. 159–181, 1998.</a:t>
            </a:r>
            <a:endParaRPr kumimoji="1" lang="ja-JP"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a:t>
            </a:r>
            <a:endParaRPr kumimoji="1" lang="ja-JP" altLang="en-US" dirty="0"/>
          </a:p>
        </p:txBody>
      </p:sp>
      <p:sp>
        <p:nvSpPr>
          <p:cNvPr id="3" name="テキスト ボックス 2"/>
          <p:cNvSpPr txBox="1"/>
          <p:nvPr/>
        </p:nvSpPr>
        <p:spPr>
          <a:xfrm>
            <a:off x="655093" y="1514901"/>
            <a:ext cx="7855861" cy="954107"/>
          </a:xfrm>
          <a:prstGeom prst="rect">
            <a:avLst/>
          </a:prstGeom>
          <a:noFill/>
        </p:spPr>
        <p:txBody>
          <a:bodyPr wrap="square" rtlCol="0">
            <a:spAutoFit/>
          </a:bodyPr>
          <a:lstStyle/>
          <a:p>
            <a:r>
              <a:rPr lang="ja-JP" altLang="en-US" sz="2800" dirty="0" smtClean="0"/>
              <a:t>（１）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4" name="テキスト ボックス 3"/>
          <p:cNvSpPr txBox="1"/>
          <p:nvPr/>
        </p:nvSpPr>
        <p:spPr>
          <a:xfrm>
            <a:off x="1333701" y="2433082"/>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if (x &gt; 0)</a:t>
            </a:r>
          </a:p>
          <a:p>
            <a:r>
              <a:rPr kumimoji="1" lang="en-US" altLang="ja-JP" sz="2800" dirty="0" smtClean="0"/>
              <a:t>         x = x + 1;</a:t>
            </a:r>
          </a:p>
        </p:txBody>
      </p:sp>
      <p:sp>
        <p:nvSpPr>
          <p:cNvPr id="5" name="テキスト ボックス 4"/>
          <p:cNvSpPr txBox="1"/>
          <p:nvPr/>
        </p:nvSpPr>
        <p:spPr>
          <a:xfrm>
            <a:off x="561834" y="3905535"/>
            <a:ext cx="7991324" cy="954107"/>
          </a:xfrm>
          <a:prstGeom prst="rect">
            <a:avLst/>
          </a:prstGeom>
          <a:noFill/>
        </p:spPr>
        <p:txBody>
          <a:bodyPr wrap="square" rtlCol="0">
            <a:spAutoFit/>
          </a:bodyPr>
          <a:lstStyle/>
          <a:p>
            <a:r>
              <a:rPr lang="ja-JP" altLang="en-US" sz="2800" dirty="0" smtClean="0"/>
              <a:t>（２）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6" name="テキスト ボックス 5"/>
          <p:cNvSpPr txBox="1"/>
          <p:nvPr/>
        </p:nvSpPr>
        <p:spPr>
          <a:xfrm>
            <a:off x="1352983" y="4908122"/>
            <a:ext cx="2991525" cy="1384995"/>
          </a:xfrm>
          <a:prstGeom prst="rect">
            <a:avLst/>
          </a:prstGeom>
          <a:noFill/>
        </p:spPr>
        <p:txBody>
          <a:bodyPr wrap="none" rtlCol="0">
            <a:spAutoFit/>
          </a:bodyPr>
          <a:lstStyle/>
          <a:p>
            <a:r>
              <a:rPr kumimoji="1" lang="en-US" altLang="ja-JP" sz="2800" dirty="0" smtClean="0"/>
              <a:t> while (x &gt; 0)</a:t>
            </a:r>
          </a:p>
          <a:p>
            <a:r>
              <a:rPr lang="en-US" altLang="ja-JP" sz="2800" dirty="0" smtClean="0"/>
              <a:t>    </a:t>
            </a:r>
            <a:r>
              <a:rPr kumimoji="1" lang="en-US" altLang="ja-JP" sz="2800" dirty="0" smtClean="0"/>
              <a:t> if (x==1 || x!=3) </a:t>
            </a:r>
          </a:p>
          <a:p>
            <a:r>
              <a:rPr lang="en-US" altLang="ja-JP" sz="2800" dirty="0" smtClean="0"/>
              <a:t>     </a:t>
            </a:r>
            <a:r>
              <a:rPr kumimoji="1" lang="en-US" altLang="ja-JP" sz="2800" dirty="0" smtClean="0"/>
              <a:t>     x = x - 1;</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不変表明（</a:t>
            </a:r>
            <a:r>
              <a:rPr lang="en-US" altLang="ja-JP" dirty="0" smtClean="0"/>
              <a:t>invariant</a:t>
            </a:r>
            <a:r>
              <a:rPr lang="ja-JP" altLang="en-US" dirty="0" smtClean="0"/>
              <a:t>）</a:t>
            </a:r>
            <a:endParaRPr kumimoji="1" lang="ja-JP" altLang="en-US" dirty="0"/>
          </a:p>
        </p:txBody>
      </p:sp>
      <p:sp>
        <p:nvSpPr>
          <p:cNvPr id="12" name="テキスト ボックス 11"/>
          <p:cNvSpPr txBox="1"/>
          <p:nvPr/>
        </p:nvSpPr>
        <p:spPr>
          <a:xfrm>
            <a:off x="500034" y="1428736"/>
            <a:ext cx="4286280" cy="2677656"/>
          </a:xfrm>
          <a:prstGeom prst="rect">
            <a:avLst/>
          </a:prstGeom>
          <a:noFill/>
        </p:spPr>
        <p:txBody>
          <a:bodyPr wrap="square" rtlCol="0">
            <a:spAutoFit/>
          </a:bodyPr>
          <a:lstStyle/>
          <a:p>
            <a:r>
              <a:rPr kumimoji="1" lang="ja-JP" altLang="en-US" sz="2800" dirty="0" smtClean="0"/>
              <a:t>プログラム中のある地点において、そこに制御が到達したときに</a:t>
            </a:r>
            <a:r>
              <a:rPr lang="ja-JP" altLang="en-US" sz="2800" dirty="0" smtClean="0"/>
              <a:t>は</a:t>
            </a:r>
            <a:r>
              <a:rPr kumimoji="1" lang="ja-JP" altLang="en-US" sz="2800" dirty="0" smtClean="0"/>
              <a:t>ある条件式が必ず成り立つ場合、その条件式を不変表明</a:t>
            </a:r>
            <a:r>
              <a:rPr kumimoji="1" lang="en-US" altLang="ja-JP" sz="2800" dirty="0" smtClean="0"/>
              <a:t>(invariant)</a:t>
            </a:r>
            <a:r>
              <a:rPr kumimoji="1" lang="ja-JP" altLang="en-US" sz="2800" dirty="0" smtClean="0"/>
              <a:t>という</a:t>
            </a:r>
            <a:r>
              <a:rPr lang="ja-JP" altLang="en-US" sz="2800" dirty="0" smtClean="0"/>
              <a:t>。</a:t>
            </a:r>
            <a:endParaRPr kumimoji="1" lang="ja-JP" altLang="en-US" sz="2800" dirty="0"/>
          </a:p>
        </p:txBody>
      </p:sp>
      <p:sp>
        <p:nvSpPr>
          <p:cNvPr id="13" name="テキスト ボックス 12"/>
          <p:cNvSpPr txBox="1"/>
          <p:nvPr/>
        </p:nvSpPr>
        <p:spPr>
          <a:xfrm>
            <a:off x="642910" y="4000504"/>
            <a:ext cx="2222083" cy="2246769"/>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x := 10;</a:t>
            </a:r>
          </a:p>
          <a:p>
            <a:r>
              <a:rPr lang="en-US" altLang="ja-JP" sz="2800" dirty="0" smtClean="0"/>
              <a:t> y := 2;</a:t>
            </a:r>
          </a:p>
          <a:p>
            <a:r>
              <a:rPr kumimoji="1" lang="en-US" altLang="ja-JP" sz="2800" b="1" dirty="0" smtClean="0"/>
              <a:t>while</a:t>
            </a:r>
            <a:r>
              <a:rPr kumimoji="1" lang="en-US" altLang="ja-JP" sz="2800" dirty="0" smtClean="0"/>
              <a:t> x </a:t>
            </a:r>
            <a:r>
              <a:rPr kumimoji="1" lang="en-US" altLang="ja-JP" sz="2800" dirty="0" smtClean="0">
                <a:sym typeface="Symbol"/>
              </a:rPr>
              <a:t></a:t>
            </a:r>
            <a:r>
              <a:rPr kumimoji="1" lang="en-US" altLang="ja-JP" sz="2800" dirty="0" smtClean="0"/>
              <a:t> y </a:t>
            </a:r>
            <a:r>
              <a:rPr kumimoji="1" lang="en-US" altLang="ja-JP" sz="2800" b="1" dirty="0" smtClean="0"/>
              <a:t>do</a:t>
            </a:r>
            <a:endParaRPr lang="en-US" altLang="ja-JP" sz="2800" b="1" dirty="0" smtClean="0"/>
          </a:p>
          <a:p>
            <a:r>
              <a:rPr kumimoji="1" lang="en-US" altLang="ja-JP" sz="2800" dirty="0" smtClean="0"/>
              <a:t>     x := x – y</a:t>
            </a:r>
            <a:r>
              <a:rPr lang="en-US" altLang="ja-JP" sz="2800" dirty="0" smtClean="0"/>
              <a:t> </a:t>
            </a:r>
            <a:r>
              <a:rPr kumimoji="1" lang="en-US" altLang="ja-JP" sz="2800" dirty="0" smtClean="0"/>
              <a:t> </a:t>
            </a:r>
          </a:p>
        </p:txBody>
      </p:sp>
      <p:cxnSp>
        <p:nvCxnSpPr>
          <p:cNvPr id="14" name="直線矢印コネクタ 13"/>
          <p:cNvCxnSpPr/>
          <p:nvPr/>
        </p:nvCxnSpPr>
        <p:spPr>
          <a:xfrm rot="16200000" flipH="1">
            <a:off x="7027804" y="3262620"/>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429614" y="3570231"/>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 </a:t>
            </a:r>
            <a:r>
              <a:rPr lang="en-US" altLang="ja-JP" sz="2800" dirty="0" smtClean="0">
                <a:solidFill>
                  <a:schemeClr val="tx1"/>
                </a:solidFill>
                <a:sym typeface="Symbol"/>
              </a:rPr>
              <a:t></a:t>
            </a:r>
            <a:r>
              <a:rPr lang="en-US" altLang="ja-JP" sz="2800" dirty="0" smtClean="0">
                <a:solidFill>
                  <a:schemeClr val="tx1"/>
                </a:solidFill>
              </a:rPr>
              <a:t> y</a:t>
            </a:r>
            <a:endParaRPr kumimoji="1" lang="ja-JP" altLang="en-US" sz="2800" dirty="0">
              <a:solidFill>
                <a:schemeClr val="tx1"/>
              </a:solidFill>
            </a:endParaRPr>
          </a:p>
        </p:txBody>
      </p:sp>
      <p:cxnSp>
        <p:nvCxnSpPr>
          <p:cNvPr id="17" name="図形 16"/>
          <p:cNvCxnSpPr>
            <a:stCxn id="16" idx="3"/>
          </p:cNvCxnSpPr>
          <p:nvPr/>
        </p:nvCxnSpPr>
        <p:spPr>
          <a:xfrm>
            <a:off x="8215564" y="3927421"/>
            <a:ext cx="341597" cy="198206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7025080" y="4582120"/>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71171" y="4740694"/>
            <a:ext cx="1289135" cy="523220"/>
          </a:xfrm>
          <a:prstGeom prst="rect">
            <a:avLst/>
          </a:prstGeom>
          <a:noFill/>
        </p:spPr>
        <p:txBody>
          <a:bodyPr wrap="none" rtlCol="0">
            <a:spAutoFit/>
          </a:bodyPr>
          <a:lstStyle/>
          <a:p>
            <a:r>
              <a:rPr kumimoji="1" lang="en-US" altLang="ja-JP" sz="2800" dirty="0" smtClean="0"/>
              <a:t> x := x-y</a:t>
            </a:r>
            <a:endParaRPr kumimoji="1" lang="ja-JP" altLang="en-US" sz="2800" dirty="0"/>
          </a:p>
        </p:txBody>
      </p:sp>
      <p:cxnSp>
        <p:nvCxnSpPr>
          <p:cNvPr id="20" name="図形 19"/>
          <p:cNvCxnSpPr/>
          <p:nvPr/>
        </p:nvCxnSpPr>
        <p:spPr>
          <a:xfrm rot="5400000">
            <a:off x="6542980" y="4849943"/>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67807" y="4421887"/>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56861" y="3248211"/>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rot="10800000">
            <a:off x="7344217" y="5923168"/>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rot="5400000">
            <a:off x="7064438" y="618929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73422" y="419737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6" name="テキスト ボックス 25"/>
          <p:cNvSpPr txBox="1"/>
          <p:nvPr/>
        </p:nvSpPr>
        <p:spPr>
          <a:xfrm>
            <a:off x="7994849" y="3555926"/>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44" name="テキスト ボックス 43"/>
          <p:cNvSpPr txBox="1"/>
          <p:nvPr/>
        </p:nvSpPr>
        <p:spPr>
          <a:xfrm>
            <a:off x="6851189" y="2442946"/>
            <a:ext cx="968535" cy="523220"/>
          </a:xfrm>
          <a:prstGeom prst="rect">
            <a:avLst/>
          </a:prstGeom>
          <a:noFill/>
        </p:spPr>
        <p:txBody>
          <a:bodyPr wrap="none" rtlCol="0">
            <a:spAutoFit/>
          </a:bodyPr>
          <a:lstStyle/>
          <a:p>
            <a:r>
              <a:rPr lang="en-US" altLang="ja-JP" sz="2800" dirty="0" smtClean="0"/>
              <a:t>y</a:t>
            </a:r>
            <a:r>
              <a:rPr kumimoji="1" lang="en-US" altLang="ja-JP" sz="2800" dirty="0" smtClean="0"/>
              <a:t> := 2</a:t>
            </a:r>
            <a:endParaRPr kumimoji="1" lang="ja-JP" altLang="en-US" sz="2800" dirty="0"/>
          </a:p>
        </p:txBody>
      </p:sp>
      <p:sp>
        <p:nvSpPr>
          <p:cNvPr id="48" name="正方形/長方形 47"/>
          <p:cNvSpPr/>
          <p:nvPr/>
        </p:nvSpPr>
        <p:spPr>
          <a:xfrm>
            <a:off x="6777826" y="1756727"/>
            <a:ext cx="1144865" cy="523220"/>
          </a:xfrm>
          <a:prstGeom prst="rect">
            <a:avLst/>
          </a:prstGeom>
        </p:spPr>
        <p:txBody>
          <a:bodyPr wrap="none">
            <a:spAutoFit/>
          </a:bodyPr>
          <a:lstStyle/>
          <a:p>
            <a:r>
              <a:rPr lang="en-US" altLang="ja-JP" sz="2800" dirty="0" smtClean="0">
                <a:solidFill>
                  <a:prstClr val="black"/>
                </a:solidFill>
              </a:rPr>
              <a:t>x := 10</a:t>
            </a:r>
            <a:endParaRPr lang="ja-JP" altLang="en-US" dirty="0"/>
          </a:p>
        </p:txBody>
      </p:sp>
      <p:cxnSp>
        <p:nvCxnSpPr>
          <p:cNvPr id="49" name="直線矢印コネクタ 48"/>
          <p:cNvCxnSpPr/>
          <p:nvPr/>
        </p:nvCxnSpPr>
        <p:spPr>
          <a:xfrm rot="5400000">
            <a:off x="7144589" y="238153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7146864" y="1633185"/>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flipV="1">
            <a:off x="5213445" y="4587233"/>
            <a:ext cx="2142713" cy="12062"/>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111678" y="3944198"/>
            <a:ext cx="2088119" cy="2246769"/>
          </a:xfrm>
          <a:prstGeom prst="rect">
            <a:avLst/>
          </a:prstGeom>
          <a:noFill/>
          <a:ln>
            <a:solidFill>
              <a:schemeClr val="tx1"/>
            </a:solidFill>
          </a:ln>
        </p:spPr>
        <p:txBody>
          <a:bodyPr wrap="square" rtlCol="0">
            <a:spAutoFit/>
          </a:bodyPr>
          <a:lstStyle/>
          <a:p>
            <a:r>
              <a:rPr lang="ja-JP" altLang="en-US" sz="2800" dirty="0" smtClean="0">
                <a:solidFill>
                  <a:prstClr val="black"/>
                </a:solidFill>
              </a:rPr>
              <a:t>この地点では</a:t>
            </a:r>
            <a:r>
              <a:rPr lang="en-US" altLang="ja-JP" sz="2800" dirty="0" smtClean="0">
                <a:solidFill>
                  <a:prstClr val="black"/>
                </a:solidFill>
              </a:rPr>
              <a:t>x </a:t>
            </a:r>
            <a:r>
              <a:rPr lang="en-US" altLang="ja-JP" sz="2800" dirty="0" smtClean="0">
                <a:solidFill>
                  <a:prstClr val="black"/>
                </a:solidFill>
                <a:sym typeface="Symbol"/>
              </a:rPr>
              <a:t></a:t>
            </a:r>
            <a:r>
              <a:rPr lang="en-US" altLang="ja-JP" sz="2800" dirty="0" smtClean="0">
                <a:solidFill>
                  <a:prstClr val="black"/>
                </a:solidFill>
              </a:rPr>
              <a:t> y </a:t>
            </a:r>
            <a:r>
              <a:rPr lang="ja-JP" altLang="en-US" sz="2800" dirty="0" smtClean="0">
                <a:solidFill>
                  <a:prstClr val="black"/>
                </a:solidFill>
              </a:rPr>
              <a:t>という条件式が必ず成り立つ。</a:t>
            </a:r>
            <a:endParaRPr kumimoji="1" lang="ja-JP"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表明（</a:t>
            </a:r>
            <a:r>
              <a:rPr kumimoji="1" lang="en-US" altLang="ja-JP" dirty="0" smtClean="0"/>
              <a:t>assertion</a:t>
            </a:r>
            <a:r>
              <a:rPr kumimoji="1" lang="ja-JP" altLang="en-US" dirty="0" smtClean="0"/>
              <a:t>）</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smtClean="0"/>
              <a:t>表明</a:t>
            </a:r>
            <a:r>
              <a:rPr kumimoji="1" lang="en-US" altLang="ja-JP" sz="2800" dirty="0" smtClean="0"/>
              <a:t>(assertion)</a:t>
            </a:r>
            <a:r>
              <a:rPr lang="ja-JP" altLang="en-US" sz="2800" dirty="0" smtClean="0"/>
              <a:t> </a:t>
            </a:r>
            <a:r>
              <a:rPr lang="en-US" altLang="ja-JP" sz="2800" dirty="0" smtClean="0"/>
              <a:t>--- </a:t>
            </a:r>
            <a:r>
              <a:rPr lang="ja-JP" altLang="en-US" sz="2800" dirty="0" smtClean="0"/>
              <a:t>条件式。</a:t>
            </a:r>
            <a:endParaRPr lang="en-US" altLang="ja-JP" sz="2800" dirty="0" smtClean="0"/>
          </a:p>
          <a:p>
            <a:endParaRPr lang="en-US" altLang="ja-JP" sz="2800" dirty="0" smtClean="0"/>
          </a:p>
          <a:p>
            <a:r>
              <a:rPr lang="en-US" altLang="ja-JP" sz="2800" dirty="0" smtClean="0"/>
              <a:t>Java</a:t>
            </a:r>
            <a:r>
              <a:rPr lang="ja-JP" altLang="en-US" sz="2800" dirty="0" smtClean="0"/>
              <a:t>では表明を記述するための構文がある。</a:t>
            </a:r>
            <a:endParaRPr lang="en-US" altLang="ja-JP" sz="2800" dirty="0" smtClean="0"/>
          </a:p>
          <a:p>
            <a:r>
              <a:rPr kumimoji="1" lang="en-US" altLang="ja-JP" sz="2800" dirty="0" smtClean="0"/>
              <a:t>C++</a:t>
            </a:r>
            <a:r>
              <a:rPr kumimoji="1" lang="ja-JP" altLang="en-US" sz="2800" dirty="0" smtClean="0"/>
              <a:t>では</a:t>
            </a:r>
            <a:r>
              <a:rPr lang="ja-JP" altLang="en-US" sz="2800" dirty="0" smtClean="0"/>
              <a:t>、</a:t>
            </a:r>
            <a:r>
              <a:rPr lang="en-US" altLang="ja-JP" sz="2800" dirty="0" err="1" smtClean="0"/>
              <a:t>assert.h</a:t>
            </a:r>
            <a:r>
              <a:rPr lang="ja-JP" altLang="en-US" sz="2800" dirty="0" smtClean="0"/>
              <a:t>をインクルードすることにより、</a:t>
            </a:r>
            <a:r>
              <a:rPr lang="en-US" altLang="ja-JP" sz="2800" dirty="0" smtClean="0"/>
              <a:t>assert</a:t>
            </a:r>
            <a:r>
              <a:rPr lang="ja-JP" altLang="en-US" sz="2800" dirty="0" smtClean="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smtClean="0"/>
              <a:t>（</a:t>
            </a:r>
            <a:r>
              <a:rPr kumimoji="1" lang="en-US" altLang="ja-JP" sz="2800" dirty="0" smtClean="0"/>
              <a:t>Java</a:t>
            </a:r>
            <a:r>
              <a:rPr kumimoji="1" lang="ja-JP" altLang="en-US" sz="2800" dirty="0" smtClean="0"/>
              <a:t>の例）</a:t>
            </a:r>
            <a:endParaRPr kumimoji="1" lang="en-US" altLang="ja-JP" sz="2800" dirty="0" smtClean="0"/>
          </a:p>
          <a:p>
            <a:r>
              <a:rPr lang="en-US" altLang="ja-JP"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endParaRPr kumimoji="1" lang="en-US" altLang="ja-JP" sz="2800" dirty="0" smtClean="0"/>
          </a:p>
          <a:p>
            <a:r>
              <a:rPr lang="en-US" altLang="ja-JP" sz="2800" dirty="0" smtClean="0"/>
              <a:t>        </a:t>
            </a:r>
            <a:r>
              <a:rPr lang="en-US" altLang="ja-JP" sz="2800" dirty="0" smtClean="0">
                <a:solidFill>
                  <a:srgbClr val="FF0000"/>
                </a:solidFill>
              </a:rPr>
              <a:t>assert (n &gt; 0);</a:t>
            </a:r>
          </a:p>
          <a:p>
            <a:r>
              <a:rPr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smtClean="0"/>
              <a:t>s</a:t>
            </a:r>
            <a:r>
              <a:rPr kumimoji="1" lang="en-US" altLang="ja-JP" sz="2800" dirty="0" smtClean="0"/>
              <a:t>um</a:t>
            </a:r>
            <a:r>
              <a:rPr kumimoji="1" lang="ja-JP" altLang="en-US" sz="2800" dirty="0" smtClean="0"/>
              <a:t>というメソッドの呼び出しでは引数には正の</a:t>
            </a:r>
            <a:r>
              <a:rPr kumimoji="1" lang="en-US" altLang="ja-JP" sz="2800" dirty="0" err="1" smtClean="0"/>
              <a:t>int</a:t>
            </a:r>
            <a:r>
              <a:rPr kumimoji="1" lang="ja-JP" altLang="en-US" sz="2800" dirty="0" smtClean="0"/>
              <a:t>型の値しか渡されないという場合にこのような</a:t>
            </a:r>
            <a:r>
              <a:rPr kumimoji="1" lang="en-US" altLang="ja-JP" sz="2800" dirty="0" smtClean="0"/>
              <a:t>assertion</a:t>
            </a:r>
            <a:r>
              <a:rPr kumimoji="1" lang="ja-JP" altLang="en-US" sz="2800" dirty="0" smtClean="0"/>
              <a:t>を記述しておけば、バグの発見に役立つ。</a:t>
            </a:r>
            <a:endParaRPr lang="en-US" altLang="ja-JP" sz="28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endParaRPr kumimoji="1" lang="ja-JP" altLang="en-US" dirty="0"/>
          </a:p>
        </p:txBody>
      </p:sp>
      <p:sp>
        <p:nvSpPr>
          <p:cNvPr id="5" name="テキスト ボックス 4"/>
          <p:cNvSpPr txBox="1"/>
          <p:nvPr/>
        </p:nvSpPr>
        <p:spPr>
          <a:xfrm>
            <a:off x="629259" y="1230002"/>
            <a:ext cx="5735866" cy="523220"/>
          </a:xfrm>
          <a:prstGeom prst="rect">
            <a:avLst/>
          </a:prstGeom>
          <a:noFill/>
        </p:spPr>
        <p:txBody>
          <a:bodyPr wrap="none" rtlCol="0">
            <a:spAutoFit/>
          </a:bodyPr>
          <a:lstStyle/>
          <a:p>
            <a:r>
              <a:rPr lang="ja-JP" altLang="en-US" sz="2800" dirty="0" smtClean="0"/>
              <a:t>ここでは表明を</a:t>
            </a:r>
            <a:r>
              <a:rPr lang="en-US" altLang="ja-JP" sz="2800" dirty="0" smtClean="0"/>
              <a:t>{ }</a:t>
            </a:r>
            <a:r>
              <a:rPr lang="ja-JP" altLang="en-US" sz="2800" dirty="0" smtClean="0"/>
              <a:t>で囲んで記述する。</a:t>
            </a:r>
            <a:endParaRPr lang="en-US" altLang="ja-JP" sz="2800" dirty="0" smtClean="0"/>
          </a:p>
        </p:txBody>
      </p:sp>
      <p:sp>
        <p:nvSpPr>
          <p:cNvPr id="6" name="正方形/長方形 5"/>
          <p:cNvSpPr/>
          <p:nvPr/>
        </p:nvSpPr>
        <p:spPr>
          <a:xfrm>
            <a:off x="3678072" y="1916450"/>
            <a:ext cx="2845559" cy="1384995"/>
          </a:xfrm>
          <a:prstGeom prst="rect">
            <a:avLst/>
          </a:prstGeom>
        </p:spPr>
        <p:txBody>
          <a:bodyPr wrap="square">
            <a:spAutoFit/>
          </a:bodyPr>
          <a:lstStyle/>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7" name="テキスト ボックス 6"/>
          <p:cNvSpPr txBox="1"/>
          <p:nvPr/>
        </p:nvSpPr>
        <p:spPr>
          <a:xfrm>
            <a:off x="614144" y="3398283"/>
            <a:ext cx="8311488" cy="954107"/>
          </a:xfrm>
          <a:prstGeom prst="rect">
            <a:avLst/>
          </a:prstGeom>
          <a:noFill/>
        </p:spPr>
        <p:txBody>
          <a:bodyPr wrap="square" rtlCol="0">
            <a:spAutoFit/>
          </a:bodyPr>
          <a:lstStyle/>
          <a:p>
            <a:r>
              <a:rPr lang="ja-JP" altLang="en-US" sz="2800" dirty="0" smtClean="0"/>
              <a:t>もしこの</a:t>
            </a:r>
            <a:r>
              <a:rPr lang="en-US" altLang="ja-JP" sz="2800" dirty="0" smtClean="0"/>
              <a:t>while</a:t>
            </a:r>
            <a:r>
              <a:rPr lang="ja-JP" altLang="en-US" sz="2800" dirty="0" smtClean="0"/>
              <a:t>文に来る直前の地点で</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r>
              <a:rPr lang="ja-JP" altLang="en-US" sz="2800" dirty="0" smtClean="0"/>
              <a:t>という</a:t>
            </a:r>
            <a:r>
              <a:rPr lang="en-US" altLang="ja-JP" sz="2800" dirty="0" smtClean="0"/>
              <a:t> </a:t>
            </a:r>
            <a:r>
              <a:rPr lang="ja-JP" altLang="en-US" sz="2800" dirty="0" smtClean="0"/>
              <a:t>表明が不変表明であるとする。その場合、</a:t>
            </a:r>
            <a:endParaRPr lang="en-US" altLang="ja-JP" sz="2800" dirty="0" smtClean="0"/>
          </a:p>
        </p:txBody>
      </p:sp>
      <p:sp>
        <p:nvSpPr>
          <p:cNvPr id="8" name="テキスト ボックス 7"/>
          <p:cNvSpPr txBox="1"/>
          <p:nvPr/>
        </p:nvSpPr>
        <p:spPr>
          <a:xfrm>
            <a:off x="1173712" y="1924321"/>
            <a:ext cx="2517036" cy="523220"/>
          </a:xfrm>
          <a:prstGeom prst="rect">
            <a:avLst/>
          </a:prstGeom>
          <a:noFill/>
        </p:spPr>
        <p:txBody>
          <a:bodyPr wrap="none" rtlCol="0">
            <a:spAutoFit/>
          </a:bodyPr>
          <a:lstStyle/>
          <a:p>
            <a:r>
              <a:rPr kumimoji="1" lang="ja-JP" altLang="en-US" sz="2800" dirty="0" smtClean="0"/>
              <a:t>（さきほどの例）</a:t>
            </a:r>
            <a:endParaRPr kumimoji="1" lang="ja-JP" altLang="en-US" sz="2800" dirty="0"/>
          </a:p>
        </p:txBody>
      </p:sp>
      <p:sp>
        <p:nvSpPr>
          <p:cNvPr id="9" name="正方形/長方形 8"/>
          <p:cNvSpPr/>
          <p:nvPr/>
        </p:nvSpPr>
        <p:spPr>
          <a:xfrm>
            <a:off x="1660478" y="4375344"/>
            <a:ext cx="3634853" cy="1815882"/>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10" name="テキスト ボックス 9"/>
          <p:cNvSpPr txBox="1"/>
          <p:nvPr/>
        </p:nvSpPr>
        <p:spPr>
          <a:xfrm>
            <a:off x="655089" y="6168785"/>
            <a:ext cx="6853158" cy="523220"/>
          </a:xfrm>
          <a:prstGeom prst="rect">
            <a:avLst/>
          </a:prstGeom>
          <a:noFill/>
        </p:spPr>
        <p:txBody>
          <a:bodyPr wrap="none" rtlCol="0">
            <a:spAutoFit/>
          </a:bodyPr>
          <a:lstStyle/>
          <a:p>
            <a:r>
              <a:rPr lang="ja-JP" altLang="en-US" sz="2800" dirty="0" smtClean="0"/>
              <a:t>の中の </a:t>
            </a:r>
            <a:r>
              <a:rPr lang="en-US" altLang="ja-JP" sz="2800" dirty="0" smtClean="0">
                <a:solidFill>
                  <a:srgbClr val="FF0000"/>
                </a:solidFill>
              </a:rPr>
              <a:t>{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r>
              <a:rPr lang="ja-JP" altLang="en-US" sz="2800" dirty="0" smtClean="0">
                <a:solidFill>
                  <a:srgbClr val="FF0000"/>
                </a:solidFill>
              </a:rPr>
              <a:t> </a:t>
            </a:r>
            <a:r>
              <a:rPr lang="ja-JP" altLang="en-US" sz="2800" dirty="0" smtClean="0"/>
              <a:t>も不変表明となる。</a:t>
            </a:r>
            <a:endParaRPr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r>
              <a:rPr lang="ja-JP" altLang="en-US" dirty="0" smtClean="0"/>
              <a:t>（続き）</a:t>
            </a:r>
            <a:endParaRPr kumimoji="1" lang="ja-JP" altLang="en-US" dirty="0"/>
          </a:p>
        </p:txBody>
      </p:sp>
      <p:sp>
        <p:nvSpPr>
          <p:cNvPr id="9" name="正方形/長方形 8"/>
          <p:cNvSpPr/>
          <p:nvPr/>
        </p:nvSpPr>
        <p:spPr>
          <a:xfrm>
            <a:off x="896203" y="1263655"/>
            <a:ext cx="3634853" cy="2246769"/>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a:p>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p:txBody>
      </p:sp>
      <p:sp>
        <p:nvSpPr>
          <p:cNvPr id="10" name="テキスト ボックス 9"/>
          <p:cNvSpPr txBox="1"/>
          <p:nvPr/>
        </p:nvSpPr>
        <p:spPr>
          <a:xfrm>
            <a:off x="689317" y="3736125"/>
            <a:ext cx="7799589" cy="1815882"/>
          </a:xfrm>
          <a:prstGeom prst="rect">
            <a:avLst/>
          </a:prstGeom>
          <a:noFill/>
        </p:spPr>
        <p:txBody>
          <a:bodyPr wrap="square" rtlCol="0">
            <a:spAutoFit/>
          </a:bodyPr>
          <a:lstStyle/>
          <a:p>
            <a:r>
              <a:rPr lang="ja-JP" altLang="en-US" sz="2800" dirty="0" smtClean="0"/>
              <a:t>上記の</a:t>
            </a:r>
            <a:r>
              <a:rPr lang="en-US" altLang="ja-JP" sz="2800" dirty="0" smtClean="0"/>
              <a:t>while</a:t>
            </a:r>
            <a:r>
              <a:rPr lang="ja-JP" altLang="en-US" sz="2800" dirty="0" smtClean="0"/>
              <a:t>文の直前の表明が不変表明の場合、３か所の表明はすべて不変表明となる</a:t>
            </a:r>
            <a:r>
              <a:rPr lang="ja-JP" altLang="en-US" sz="2800" dirty="0" smtClean="0"/>
              <a:t>。</a:t>
            </a:r>
            <a:endParaRPr lang="en-US" altLang="ja-JP" sz="2800" dirty="0" smtClean="0"/>
          </a:p>
          <a:p>
            <a:r>
              <a:rPr lang="ja-JP" altLang="en-US" sz="2800" dirty="0" smtClean="0"/>
              <a:t>特に、表明</a:t>
            </a:r>
            <a:r>
              <a:rPr lang="en-US" altLang="ja-JP" sz="2800" dirty="0" smtClean="0"/>
              <a:t> </a:t>
            </a:r>
            <a:r>
              <a:rPr lang="en-US" altLang="ja-JP" sz="2800" dirty="0" smtClean="0"/>
              <a:t>{ x </a:t>
            </a:r>
            <a:r>
              <a:rPr lang="en-US" altLang="ja-JP" sz="2800" dirty="0" smtClean="0">
                <a:sym typeface="Symbol"/>
              </a:rPr>
              <a:t></a:t>
            </a:r>
            <a:r>
              <a:rPr lang="en-US" altLang="ja-JP" sz="2800" dirty="0" smtClean="0"/>
              <a:t> 0 </a:t>
            </a:r>
            <a:r>
              <a:rPr lang="en-US" altLang="ja-JP" sz="2800" b="1" dirty="0" smtClean="0"/>
              <a:t>and </a:t>
            </a:r>
            <a:r>
              <a:rPr lang="en-US" altLang="ja-JP" sz="2800" dirty="0" smtClean="0"/>
              <a:t>y &gt; 0 </a:t>
            </a:r>
            <a:r>
              <a:rPr lang="en-US" altLang="ja-JP" sz="2800" dirty="0" smtClean="0"/>
              <a:t>} </a:t>
            </a:r>
            <a:r>
              <a:rPr lang="ja-JP" altLang="en-US" sz="2800" dirty="0" smtClean="0"/>
              <a:t>は、ループのどの繰り返しの回でも成り立つのでループ不変表明という。</a:t>
            </a:r>
            <a:endParaRPr lang="en-US" altLang="ja-JP"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smtClean="0"/>
              <a:t>Single entry/single exit</a:t>
            </a:r>
            <a:r>
              <a:rPr kumimoji="1" lang="ja-JP" altLang="en-US" sz="2800" dirty="0" smtClean="0"/>
              <a:t>の構成要素からなるプログラムの場合、プログラム中の文の振る舞いはそ</a:t>
            </a:r>
            <a:r>
              <a:rPr lang="ja-JP" altLang="en-US" sz="2800" dirty="0" smtClean="0"/>
              <a:t>の文の</a:t>
            </a:r>
            <a:r>
              <a:rPr kumimoji="1" lang="ja-JP" altLang="en-US" sz="2800" dirty="0" smtClean="0"/>
              <a:t>入口と出口における</a:t>
            </a:r>
            <a:r>
              <a:rPr lang="ja-JP" altLang="en-US" sz="2800" dirty="0" smtClean="0"/>
              <a:t>表明</a:t>
            </a:r>
            <a:r>
              <a:rPr kumimoji="1" lang="ja-JP" altLang="en-US" sz="2800" dirty="0" smtClean="0"/>
              <a:t>によって特徴付けることができる</a:t>
            </a:r>
            <a:r>
              <a:rPr lang="ja-JP" altLang="en-US" sz="2800" dirty="0" smtClean="0"/>
              <a:t>。（命令型言語のプログラム（文）の意味は、文の実行による状態の変化なので。）</a:t>
            </a:r>
            <a:endParaRPr kumimoji="1" lang="en-US" altLang="ja-JP" sz="2800" dirty="0" smtClean="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smtClean="0">
                <a:solidFill>
                  <a:schemeClr val="tx1"/>
                </a:solidFill>
              </a:rPr>
              <a:t>文</a:t>
            </a:r>
            <a:r>
              <a:rPr kumimoji="1" lang="en-US" altLang="ja-JP" sz="2800" dirty="0" smtClean="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smtClean="0"/>
              <a:t>文の出口における表明（事後条件、</a:t>
            </a:r>
            <a:r>
              <a:rPr lang="en-US" altLang="ja-JP" sz="2800" dirty="0" err="1" smtClean="0"/>
              <a:t>postcondition</a:t>
            </a:r>
            <a:r>
              <a:rPr lang="ja-JP" altLang="en-US" sz="2800" dirty="0" smtClean="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smtClean="0"/>
              <a:t>文の入口における表明（事前条件、</a:t>
            </a:r>
            <a:r>
              <a:rPr lang="en-US" altLang="ja-JP" sz="2800" dirty="0" smtClean="0"/>
              <a:t>precondition</a:t>
            </a:r>
            <a:r>
              <a:rPr lang="ja-JP" altLang="en-US"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smtClean="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smtClean="0"/>
              <a:t>文の前後に表明を記述することにより命令型言語のプログラムの意味を記述できる。この考えを提唱したのが</a:t>
            </a:r>
            <a:r>
              <a:rPr lang="en-US" altLang="ja-JP" sz="2800" dirty="0" smtClean="0"/>
              <a:t>Charles Antony Richard Hoare</a:t>
            </a:r>
            <a:r>
              <a:rPr lang="ja-JP" altLang="en-US" sz="2800" dirty="0" smtClean="0"/>
              <a:t>（略して</a:t>
            </a:r>
            <a:r>
              <a:rPr lang="en-US" altLang="ja-JP" sz="2800" dirty="0" smtClean="0"/>
              <a:t>Tony Hoare</a:t>
            </a:r>
            <a:r>
              <a:rPr lang="ja-JP" altLang="en-US" sz="2800" dirty="0" smtClean="0"/>
              <a:t>）である。表明を</a:t>
            </a:r>
            <a:r>
              <a:rPr lang="en-US" altLang="ja-JP" sz="2800" dirty="0" smtClean="0"/>
              <a:t>{ }</a:t>
            </a:r>
            <a:r>
              <a:rPr lang="ja-JP" altLang="en-US" sz="2800" dirty="0" smtClean="0"/>
              <a:t>で囲んで表し、文の前後に書いたものを</a:t>
            </a:r>
            <a:r>
              <a:rPr lang="en-US" altLang="ja-JP" sz="2800" dirty="0" smtClean="0"/>
              <a:t>Hoare triple</a:t>
            </a:r>
            <a:r>
              <a:rPr lang="ja-JP" altLang="en-US" sz="2800" dirty="0" smtClean="0"/>
              <a:t>という。</a:t>
            </a:r>
            <a:endParaRPr lang="en-US" altLang="ja-JP" sz="2800" dirty="0" smtClean="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smtClean="0"/>
              <a:t>Hoare triple</a:t>
            </a:r>
          </a:p>
          <a:p>
            <a:r>
              <a:rPr lang="en-US" altLang="ja-JP" sz="2800" dirty="0" smtClean="0"/>
              <a:t>{P}  S  {Q}</a:t>
            </a:r>
          </a:p>
          <a:p>
            <a:r>
              <a:rPr lang="ja-JP" altLang="en-US" sz="2800" dirty="0" smtClean="0"/>
              <a:t>の意味</a:t>
            </a:r>
            <a:endParaRPr kumimoji="1" lang="en-US" altLang="ja-JP" sz="2800" dirty="0" smtClean="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smtClean="0">
                <a:solidFill>
                  <a:prstClr val="black"/>
                </a:solidFill>
              </a:rPr>
              <a:t>P</a:t>
            </a:r>
            <a:r>
              <a:rPr lang="ja-JP" altLang="en-US" sz="2800" dirty="0" smtClean="0">
                <a:solidFill>
                  <a:prstClr val="black"/>
                </a:solidFill>
              </a:rPr>
              <a:t>が成り立つ任意の状態</a:t>
            </a:r>
            <a:r>
              <a:rPr lang="ja-JP" altLang="en-US" sz="2800" dirty="0" smtClean="0">
                <a:solidFill>
                  <a:prstClr val="black"/>
                </a:solidFill>
                <a:sym typeface="Symbol"/>
              </a:rPr>
              <a:t>において</a:t>
            </a:r>
            <a:r>
              <a:rPr lang="ja-JP" altLang="en-US" sz="2800" dirty="0" smtClean="0">
                <a:solidFill>
                  <a:prstClr val="black"/>
                </a:solidFill>
              </a:rPr>
              <a:t>文</a:t>
            </a:r>
            <a:r>
              <a:rPr lang="en-US" altLang="ja-JP" sz="2800" dirty="0" smtClean="0">
                <a:solidFill>
                  <a:prstClr val="black"/>
                </a:solidFill>
              </a:rPr>
              <a:t>S</a:t>
            </a:r>
            <a:r>
              <a:rPr lang="ja-JP" altLang="en-US" sz="2800" dirty="0" smtClean="0">
                <a:solidFill>
                  <a:prstClr val="black"/>
                </a:solidFill>
              </a:rPr>
              <a:t>を実行し、状態</a:t>
            </a:r>
            <a:r>
              <a:rPr lang="ja-JP" altLang="en-US" sz="2800" dirty="0" smtClean="0">
                <a:solidFill>
                  <a:prstClr val="black"/>
                </a:solidFill>
                <a:sym typeface="Symbol"/>
              </a:rPr>
              <a:t></a:t>
            </a:r>
            <a:r>
              <a:rPr lang="en-US" altLang="ja-JP" sz="2800" dirty="0" smtClean="0">
                <a:solidFill>
                  <a:prstClr val="black"/>
                </a:solidFill>
                <a:sym typeface="Symbol"/>
              </a:rPr>
              <a:t>’</a:t>
            </a:r>
            <a:r>
              <a:rPr lang="ja-JP" altLang="en-US" sz="2800" dirty="0" smtClean="0">
                <a:solidFill>
                  <a:prstClr val="black"/>
                </a:solidFill>
                <a:sym typeface="Symbol"/>
              </a:rPr>
              <a:t>で終了したら、 </a:t>
            </a:r>
            <a:r>
              <a:rPr lang="en-US" altLang="ja-JP" sz="2800" dirty="0" smtClean="0">
                <a:solidFill>
                  <a:prstClr val="black"/>
                </a:solidFill>
                <a:sym typeface="Symbol"/>
              </a:rPr>
              <a:t>’ </a:t>
            </a:r>
            <a:r>
              <a:rPr lang="ja-JP" altLang="en-US" sz="2800" dirty="0" smtClean="0">
                <a:solidFill>
                  <a:prstClr val="black"/>
                </a:solidFill>
                <a:sym typeface="Symbol"/>
              </a:rPr>
              <a:t>において</a:t>
            </a:r>
            <a:r>
              <a:rPr lang="en-US" altLang="ja-JP" sz="2800" dirty="0" smtClean="0">
                <a:solidFill>
                  <a:prstClr val="black"/>
                </a:solidFill>
              </a:rPr>
              <a:t>Q</a:t>
            </a:r>
            <a:r>
              <a:rPr lang="ja-JP" altLang="en-US" sz="2800" dirty="0" smtClean="0">
                <a:solidFill>
                  <a:prstClr val="black"/>
                </a:solidFill>
              </a:rPr>
              <a:t>が成り立つ。</a:t>
            </a:r>
            <a:endParaRPr lang="ja-JP"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Hoare triple</a:t>
            </a:r>
            <a:r>
              <a:rPr lang="ja-JP" altLang="en-US" dirty="0" smtClean="0"/>
              <a:t>の例</a:t>
            </a:r>
            <a:endParaRPr kumimoji="1" lang="ja-JP" altLang="en-US" dirty="0"/>
          </a:p>
        </p:txBody>
      </p:sp>
      <p:sp>
        <p:nvSpPr>
          <p:cNvPr id="4" name="テキスト ボックス 3"/>
          <p:cNvSpPr txBox="1"/>
          <p:nvPr/>
        </p:nvSpPr>
        <p:spPr>
          <a:xfrm>
            <a:off x="658241" y="1436357"/>
            <a:ext cx="4679486" cy="523220"/>
          </a:xfrm>
          <a:prstGeom prst="rect">
            <a:avLst/>
          </a:prstGeom>
          <a:noFill/>
        </p:spPr>
        <p:txBody>
          <a:bodyPr wrap="none" rtlCol="0">
            <a:spAutoFit/>
          </a:bodyPr>
          <a:lstStyle/>
          <a:p>
            <a:r>
              <a:rPr lang="ja-JP" altLang="en-US" sz="2800" dirty="0" smtClean="0"/>
              <a:t>  </a:t>
            </a:r>
            <a:r>
              <a:rPr lang="en-US" altLang="ja-JP" sz="2800" dirty="0" smtClean="0"/>
              <a:t>{ a + 1 = 1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smtClean="0"/>
              <a:t>a + 1 = 1</a:t>
            </a:r>
            <a:r>
              <a:rPr lang="ja-JP" altLang="en-US" sz="2800" dirty="0" smtClean="0"/>
              <a:t>が成り立っている状態で </a:t>
            </a:r>
            <a:r>
              <a:rPr lang="en-US" altLang="ja-JP" sz="2800" dirty="0" smtClean="0"/>
              <a:t>a := a + 1 </a:t>
            </a:r>
            <a:r>
              <a:rPr lang="ja-JP" altLang="en-US" sz="2800" dirty="0" smtClean="0"/>
              <a:t>を実行すると、実行後の状態では </a:t>
            </a:r>
            <a:r>
              <a:rPr lang="en-US" altLang="ja-JP" sz="2800" dirty="0" smtClean="0"/>
              <a:t>a = 1</a:t>
            </a:r>
            <a:r>
              <a:rPr lang="ja-JP" altLang="en-US" sz="2800" dirty="0" smtClean="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smtClean="0"/>
              <a:t>  </a:t>
            </a:r>
            <a:r>
              <a:rPr lang="en-US" altLang="ja-JP" sz="2800" dirty="0" smtClean="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smtClean="0"/>
              <a:t>a = 1</a:t>
            </a:r>
            <a:r>
              <a:rPr lang="ja-JP" altLang="en-US" sz="2800" dirty="0" smtClean="0"/>
              <a:t>が成り立っている状態で </a:t>
            </a:r>
            <a:r>
              <a:rPr lang="en-US" altLang="ja-JP" sz="2800" dirty="0" smtClean="0"/>
              <a:t>a := a – 1; a := a + 1 </a:t>
            </a:r>
            <a:r>
              <a:rPr lang="ja-JP" altLang="en-US" sz="2800" dirty="0" smtClean="0"/>
              <a:t>を実行すると、 実行後の状態では</a:t>
            </a:r>
            <a:r>
              <a:rPr lang="en-US" altLang="ja-JP" sz="2800" dirty="0" smtClean="0"/>
              <a:t>a = 1</a:t>
            </a:r>
            <a:r>
              <a:rPr lang="ja-JP" altLang="en-US" sz="2800" dirty="0" smtClean="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smtClean="0"/>
              <a:t>  </a:t>
            </a:r>
            <a:r>
              <a:rPr lang="en-US" altLang="ja-JP" sz="2800" dirty="0" smtClean="0"/>
              <a:t>{ a = 5 }  </a:t>
            </a:r>
            <a:r>
              <a:rPr lang="en-US" altLang="ja-JP" sz="2800" b="1" dirty="0" smtClean="0"/>
              <a:t>while</a:t>
            </a:r>
            <a:r>
              <a:rPr lang="en-US" altLang="ja-JP" sz="2800" dirty="0" smtClean="0"/>
              <a:t> (a &gt; 0) </a:t>
            </a:r>
            <a:r>
              <a:rPr lang="en-US" altLang="ja-JP" sz="2800" b="1" dirty="0" smtClean="0"/>
              <a:t>do</a:t>
            </a:r>
            <a:r>
              <a:rPr lang="en-US" altLang="ja-JP" sz="2800" dirty="0" smtClean="0"/>
              <a:t> a := a - 1 </a:t>
            </a:r>
            <a:r>
              <a:rPr lang="ja-JP" altLang="en-US" sz="2800" dirty="0" smtClean="0"/>
              <a:t> </a:t>
            </a:r>
            <a:r>
              <a:rPr lang="en-US" altLang="ja-JP" sz="2800" dirty="0" smtClean="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smtClean="0"/>
              <a:t>a = 5</a:t>
            </a:r>
            <a:r>
              <a:rPr lang="ja-JP" altLang="en-US" sz="2800" dirty="0" smtClean="0"/>
              <a:t>が成り立っている状態でこの</a:t>
            </a:r>
            <a:r>
              <a:rPr lang="en-US" altLang="ja-JP" sz="2800" dirty="0" smtClean="0"/>
              <a:t>while</a:t>
            </a:r>
            <a:r>
              <a:rPr lang="ja-JP" altLang="en-US" sz="2800" dirty="0" smtClean="0"/>
              <a:t>文を実行すると、 実行後の状態では</a:t>
            </a:r>
            <a:r>
              <a:rPr lang="en-US" altLang="ja-JP" sz="2800" dirty="0" smtClean="0"/>
              <a:t>a = 0</a:t>
            </a:r>
            <a:r>
              <a:rPr lang="ja-JP" altLang="en-US" sz="2800" dirty="0" smtClean="0"/>
              <a:t>が成り立つ。</a:t>
            </a:r>
            <a:endParaRPr kumimoji="1" lang="ja-JP"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smtClean="0"/>
              <a:t>部分正当性</a:t>
            </a:r>
            <a:endParaRPr kumimoji="1" lang="ja-JP" altLang="en-US" dirty="0"/>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smtClean="0"/>
              <a:t>Hoare</a:t>
            </a:r>
            <a:r>
              <a:rPr lang="ja-JP" altLang="en-US" sz="2800" dirty="0" smtClean="0"/>
              <a:t> </a:t>
            </a:r>
            <a:r>
              <a:rPr lang="en-US" altLang="ja-JP" sz="2800" dirty="0" smtClean="0"/>
              <a:t>triple</a:t>
            </a:r>
            <a:r>
              <a:rPr lang="ja-JP" altLang="en-US" sz="2800" dirty="0" smtClean="0"/>
              <a:t>では、文</a:t>
            </a:r>
            <a:r>
              <a:rPr lang="en-US" altLang="ja-JP" sz="2800" dirty="0" smtClean="0"/>
              <a:t>S</a:t>
            </a:r>
            <a:r>
              <a:rPr lang="ja-JP" altLang="en-US" sz="2800" dirty="0" smtClean="0"/>
              <a:t>が停止することは言っていない（</a:t>
            </a:r>
            <a:r>
              <a:rPr lang="en-US" altLang="ja-JP" sz="2800" dirty="0" smtClean="0"/>
              <a:t>while</a:t>
            </a:r>
            <a:r>
              <a:rPr lang="ja-JP" altLang="en-US" sz="2800" dirty="0" smtClean="0"/>
              <a:t>文は停止しない場合もあるので）。停止性は別途示す必要がある。</a:t>
            </a:r>
            <a:r>
              <a:rPr lang="en-US" altLang="ja-JP" sz="2800" dirty="0" smtClean="0"/>
              <a:t>Hoare</a:t>
            </a:r>
            <a:r>
              <a:rPr lang="ja-JP" altLang="en-US" sz="2800" dirty="0" smtClean="0"/>
              <a:t> </a:t>
            </a:r>
            <a:r>
              <a:rPr lang="en-US" altLang="ja-JP" sz="2800" dirty="0" smtClean="0"/>
              <a:t>triple</a:t>
            </a:r>
            <a:r>
              <a:rPr lang="ja-JP" altLang="en-US" sz="2800" dirty="0" smtClean="0"/>
              <a:t>は「部分正当性の表明</a:t>
            </a:r>
            <a:r>
              <a:rPr lang="en-US" altLang="ja-JP" sz="2800" dirty="0" smtClean="0"/>
              <a:t>(partial correctness assertion)</a:t>
            </a:r>
            <a:r>
              <a:rPr lang="ja-JP" altLang="en-US" sz="2800" dirty="0" smtClean="0"/>
              <a:t>」と言われる。</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smtClean="0"/>
              <a:t>（参考） </a:t>
            </a:r>
            <a:r>
              <a:rPr kumimoji="1" lang="en-US" altLang="ja-JP" sz="2800" dirty="0" smtClean="0"/>
              <a:t>while rule</a:t>
            </a:r>
            <a:r>
              <a:rPr kumimoji="1" lang="ja-JP" altLang="en-US" sz="2800" dirty="0" smtClean="0"/>
              <a:t>を拡張することにより、</a:t>
            </a:r>
            <a:r>
              <a:rPr kumimoji="1" lang="en-US" altLang="ja-JP" sz="2800" dirty="0" smtClean="0"/>
              <a:t>Hoare triple</a:t>
            </a:r>
            <a:r>
              <a:rPr kumimoji="1" lang="ja-JP" altLang="en-US" sz="2800" dirty="0" smtClean="0"/>
              <a:t>が</a:t>
            </a:r>
            <a:r>
              <a:rPr kumimoji="1" lang="en-US" altLang="ja-JP" sz="2800" dirty="0" smtClean="0"/>
              <a:t>total correctness</a:t>
            </a:r>
            <a:r>
              <a:rPr kumimoji="1" lang="ja-JP" altLang="en-US" sz="2800" dirty="0" smtClean="0"/>
              <a:t>を示すようにすることができる。</a:t>
            </a:r>
            <a:endParaRPr kumimoji="1" lang="ja-JP" altLang="en-US" sz="2800" dirty="0"/>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smtClean="0"/>
              <a:t>停止しない例</a:t>
            </a:r>
            <a:r>
              <a:rPr lang="en-US" altLang="ja-JP" sz="2800" dirty="0" smtClean="0"/>
              <a:t>:  </a:t>
            </a:r>
            <a:r>
              <a:rPr lang="en-US" altLang="ja-JP" sz="2800" b="1" dirty="0" smtClean="0"/>
              <a:t>while</a:t>
            </a:r>
            <a:r>
              <a:rPr lang="en-US" altLang="ja-JP" sz="2800" dirty="0" smtClean="0"/>
              <a:t> true </a:t>
            </a:r>
            <a:r>
              <a:rPr lang="en-US" altLang="ja-JP" sz="2800" b="1" dirty="0" smtClean="0"/>
              <a:t>do</a:t>
            </a:r>
            <a:r>
              <a:rPr lang="en-US" altLang="ja-JP" sz="2800" dirty="0" smtClean="0"/>
              <a:t> x := 1</a:t>
            </a:r>
          </a:p>
          <a:p>
            <a:r>
              <a:rPr kumimoji="1" lang="en-US" altLang="ja-JP" sz="2800" dirty="0" smtClean="0"/>
              <a:t>{true}</a:t>
            </a:r>
            <a:r>
              <a:rPr lang="ja-JP" altLang="en-US" sz="2800" dirty="0" smtClean="0"/>
              <a:t>  </a:t>
            </a:r>
            <a:r>
              <a:rPr lang="en-US" altLang="ja-JP" sz="2800" b="1" dirty="0" smtClean="0"/>
              <a:t>while</a:t>
            </a:r>
            <a:r>
              <a:rPr kumimoji="1" lang="en-US" altLang="ja-JP" sz="2800" dirty="0" smtClean="0"/>
              <a:t> true </a:t>
            </a:r>
            <a:r>
              <a:rPr kumimoji="1" lang="en-US" altLang="ja-JP" sz="2800" b="1" dirty="0" smtClean="0"/>
              <a:t>do</a:t>
            </a:r>
            <a:r>
              <a:rPr kumimoji="1" lang="en-US" altLang="ja-JP" sz="2800" dirty="0" smtClean="0"/>
              <a:t> x := 1  {false} --- </a:t>
            </a:r>
            <a:r>
              <a:rPr kumimoji="1" lang="ja-JP" altLang="en-US" sz="2800" dirty="0" smtClean="0"/>
              <a:t>この</a:t>
            </a:r>
            <a:r>
              <a:rPr lang="en-US" altLang="ja-JP" sz="2800" dirty="0" smtClean="0"/>
              <a:t>Hoare triple</a:t>
            </a:r>
            <a:r>
              <a:rPr lang="ja-JP" altLang="en-US" sz="2800" dirty="0" smtClean="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smtClean="0"/>
              <a:t>（参考）完全正当性（</a:t>
            </a:r>
            <a:r>
              <a:rPr lang="en-US" altLang="ja-JP" sz="2800" dirty="0" smtClean="0"/>
              <a:t>total correctness</a:t>
            </a:r>
            <a:r>
              <a:rPr lang="ja-JP" altLang="en-US" sz="2800" dirty="0" smtClean="0"/>
              <a:t>）</a:t>
            </a:r>
            <a:endParaRPr lang="en-US" altLang="ja-JP" sz="2800" dirty="0" smtClean="0"/>
          </a:p>
          <a:p>
            <a:r>
              <a:rPr lang="en-US" altLang="ja-JP" sz="2800" dirty="0" smtClean="0"/>
              <a:t>                       </a:t>
            </a:r>
            <a:r>
              <a:rPr lang="ja-JP" altLang="en-US" sz="2800" dirty="0" smtClean="0"/>
              <a:t>          </a:t>
            </a:r>
            <a:r>
              <a:rPr lang="en-US" altLang="ja-JP" sz="2800" dirty="0" smtClean="0"/>
              <a:t>--- </a:t>
            </a:r>
            <a:r>
              <a:rPr lang="ja-JP" altLang="en-US" sz="2800" dirty="0" smtClean="0"/>
              <a:t>部分正当性 </a:t>
            </a:r>
            <a:r>
              <a:rPr lang="en-US" altLang="ja-JP" sz="2800" dirty="0" smtClean="0"/>
              <a:t>+ </a:t>
            </a:r>
            <a:r>
              <a:rPr lang="ja-JP" altLang="en-US" sz="2800" dirty="0" smtClean="0"/>
              <a:t>停止性</a:t>
            </a:r>
            <a:endParaRPr lang="en-US" altLang="ja-JP" sz="2800" dirty="0" smtClean="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smtClean="0"/>
              <a:t>完全正当性の表明は、</a:t>
            </a:r>
            <a:r>
              <a:rPr lang="en-US" altLang="ja-JP" sz="2800" dirty="0" smtClean="0"/>
              <a:t>[P] S [Q] </a:t>
            </a:r>
            <a:r>
              <a:rPr lang="ja-JP" altLang="en-US" sz="2800" dirty="0" err="1" smtClean="0"/>
              <a:t>のように</a:t>
            </a:r>
            <a:r>
              <a:rPr lang="en-US" altLang="ja-JP" sz="2800" dirty="0" smtClean="0"/>
              <a:t>[ ]</a:t>
            </a:r>
            <a:r>
              <a:rPr lang="ja-JP" altLang="en-US" sz="2800" dirty="0" smtClean="0"/>
              <a:t>で表すこともある。</a:t>
            </a:r>
            <a:endParaRPr lang="ja-JP"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smtClean="0"/>
              <a:t>Hoare</a:t>
            </a:r>
            <a:r>
              <a:rPr kumimoji="1" lang="ja-JP" altLang="en-US" dirty="0" smtClean="0"/>
              <a:t>論理</a:t>
            </a:r>
            <a:endParaRPr kumimoji="1" lang="ja-JP" altLang="en-US" dirty="0"/>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smtClean="0"/>
              <a:t>文に対する</a:t>
            </a:r>
            <a:r>
              <a:rPr kumimoji="1" lang="en-US" altLang="ja-JP" sz="2800" dirty="0" smtClean="0"/>
              <a:t>Hoare</a:t>
            </a:r>
            <a:r>
              <a:rPr lang="ja-JP" altLang="en-US" sz="2800" dirty="0" smtClean="0"/>
              <a:t> </a:t>
            </a:r>
            <a:r>
              <a:rPr lang="en-US" altLang="ja-JP" sz="2800" dirty="0" smtClean="0"/>
              <a:t>Triple</a:t>
            </a:r>
            <a:r>
              <a:rPr lang="ja-JP" altLang="en-US" sz="2800" dirty="0" smtClean="0"/>
              <a:t>は、文の構造に従って規則的に構築することができる。各構文要素（</a:t>
            </a:r>
            <a:r>
              <a:rPr lang="en-US" altLang="ja-JP" sz="2800" dirty="0" smtClean="0"/>
              <a:t>construct)</a:t>
            </a:r>
            <a:r>
              <a:rPr lang="ja-JP" altLang="en-US" sz="2800" dirty="0" smtClean="0"/>
              <a:t>に対応する規則があり、それを集めたものを</a:t>
            </a:r>
            <a:r>
              <a:rPr kumimoji="1" lang="en-US" altLang="ja-JP" sz="2800" dirty="0" smtClean="0"/>
              <a:t>Hoare</a:t>
            </a:r>
            <a:r>
              <a:rPr kumimoji="1" lang="ja-JP" altLang="en-US" sz="2800" dirty="0" smtClean="0"/>
              <a:t>論理</a:t>
            </a:r>
            <a:r>
              <a:rPr kumimoji="1" lang="en-US" altLang="ja-JP" sz="2800" dirty="0" smtClean="0"/>
              <a:t>(Hoare logic)</a:t>
            </a:r>
            <a:r>
              <a:rPr kumimoji="1" lang="ja-JP" altLang="en-US" sz="2800" dirty="0" smtClean="0"/>
              <a:t>という。</a:t>
            </a:r>
            <a:r>
              <a:rPr kumimoji="1" lang="en-US" altLang="ja-JP" sz="2800" dirty="0" smtClean="0"/>
              <a:t>Hoare</a:t>
            </a:r>
            <a:r>
              <a:rPr kumimoji="1" lang="ja-JP" altLang="en-US" sz="2800" dirty="0" smtClean="0"/>
              <a:t>論理は公理</a:t>
            </a:r>
            <a:r>
              <a:rPr kumimoji="1" lang="en-US" altLang="ja-JP" sz="2800" dirty="0" smtClean="0"/>
              <a:t>(axiom)</a:t>
            </a:r>
            <a:r>
              <a:rPr kumimoji="1" lang="ja-JP" altLang="en-US" sz="2800" dirty="0" smtClean="0"/>
              <a:t>から推論規則</a:t>
            </a:r>
            <a:r>
              <a:rPr kumimoji="1" lang="en-US" altLang="ja-JP" sz="2800" dirty="0" smtClean="0"/>
              <a:t>(inference rule)</a:t>
            </a:r>
            <a:r>
              <a:rPr kumimoji="1" lang="ja-JP" altLang="en-US" sz="2800" dirty="0" smtClean="0"/>
              <a:t>に従って導く形になっており、公理的意味論</a:t>
            </a:r>
            <a:r>
              <a:rPr kumimoji="1" lang="en-US" altLang="ja-JP" sz="2800" dirty="0" smtClean="0"/>
              <a:t>(axiomatic semantics)</a:t>
            </a:r>
            <a:r>
              <a:rPr kumimoji="1" lang="ja-JP" altLang="en-US" sz="2800" dirty="0" smtClean="0"/>
              <a:t>である。</a:t>
            </a:r>
            <a:r>
              <a:rPr lang="en-US" altLang="ja-JP" sz="2800" dirty="0" smtClean="0"/>
              <a:t>(</a:t>
            </a:r>
            <a:r>
              <a:rPr lang="ja-JP" altLang="en-US" sz="2800" dirty="0" smtClean="0"/>
              <a:t>公理的意味論には様々な形がある。</a:t>
            </a:r>
            <a:r>
              <a:rPr lang="en-US" altLang="ja-JP" sz="2800" dirty="0" smtClean="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smtClean="0"/>
              <a:t>（参考） </a:t>
            </a:r>
            <a:r>
              <a:rPr kumimoji="1" lang="en-US" altLang="ja-JP" sz="2400" dirty="0" err="1" smtClean="0"/>
              <a:t>flowchard</a:t>
            </a:r>
            <a:r>
              <a:rPr kumimoji="1" lang="ja-JP" altLang="en-US" sz="2400" dirty="0" smtClean="0"/>
              <a:t>上で</a:t>
            </a:r>
            <a:r>
              <a:rPr kumimoji="1" lang="en-US" altLang="ja-JP" sz="2400" dirty="0" smtClean="0"/>
              <a:t>Floyd</a:t>
            </a:r>
            <a:r>
              <a:rPr kumimoji="1" lang="ja-JP" altLang="en-US" sz="2400" dirty="0" smtClean="0"/>
              <a:t>が同様のことを考えている。</a:t>
            </a:r>
            <a:endParaRPr kumimoji="1" lang="en-US" altLang="ja-JP" sz="2400" dirty="0" smtClean="0"/>
          </a:p>
          <a:p>
            <a:r>
              <a:rPr lang="ja-JP" altLang="en-US" sz="2400" dirty="0" smtClean="0"/>
              <a:t>（参考文献１）</a:t>
            </a:r>
            <a:r>
              <a:rPr lang="en-US" altLang="ja-JP" sz="2400" dirty="0" smtClean="0"/>
              <a:t> C. A. R. Hoare, "An axiomatic basis for computer programming“, </a:t>
            </a:r>
            <a:r>
              <a:rPr lang="en-US" altLang="ja-JP" sz="2400" i="1" dirty="0" smtClean="0"/>
              <a:t>Communications of the ACM</a:t>
            </a:r>
            <a:r>
              <a:rPr lang="en-US" altLang="ja-JP" sz="2400" dirty="0" smtClean="0"/>
              <a:t>, 12(10):576–580,583, 1969.</a:t>
            </a:r>
          </a:p>
          <a:p>
            <a:r>
              <a:rPr lang="ja-JP" altLang="en-US" sz="2400" dirty="0" smtClean="0"/>
              <a:t>（参考文献２） </a:t>
            </a:r>
            <a:r>
              <a:rPr lang="en-US" altLang="ja-JP" sz="2400" dirty="0" smtClean="0"/>
              <a:t>R. W. Floyd, “Assigning meanings to programs”, </a:t>
            </a:r>
            <a:r>
              <a:rPr lang="en-US" altLang="ja-JP" sz="2400" i="1" dirty="0" smtClean="0"/>
              <a:t>Proceedings of the American Mathematical Society Symposium on Applied Mathematics,</a:t>
            </a:r>
            <a:r>
              <a:rPr lang="en-US" altLang="ja-JP" sz="2400" dirty="0" smtClean="0"/>
              <a:t> Vol. 19, pp. 19–32. 1967.</a:t>
            </a:r>
            <a:endParaRPr kumimoji="1" lang="ja-JP"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smtClean="0"/>
              <a:t>Hoare</a:t>
            </a:r>
            <a:r>
              <a:rPr lang="ja-JP" altLang="en-US" dirty="0" smtClean="0"/>
              <a:t>論理の規則</a:t>
            </a:r>
            <a:endParaRPr kumimoji="1" lang="ja-JP" altLang="en-US" dirty="0"/>
          </a:p>
        </p:txBody>
      </p:sp>
      <p:sp>
        <p:nvSpPr>
          <p:cNvPr id="4" name="テキスト ボックス 3"/>
          <p:cNvSpPr txBox="1"/>
          <p:nvPr/>
        </p:nvSpPr>
        <p:spPr>
          <a:xfrm>
            <a:off x="4679707" y="1176639"/>
            <a:ext cx="2865143" cy="523220"/>
          </a:xfrm>
          <a:prstGeom prst="rect">
            <a:avLst/>
          </a:prstGeom>
          <a:noFill/>
        </p:spPr>
        <p:txBody>
          <a:bodyPr wrap="none" rtlCol="0">
            <a:spAutoFit/>
          </a:bodyPr>
          <a:lstStyle/>
          <a:p>
            <a:r>
              <a:rPr kumimoji="1" lang="en-US" altLang="ja-JP" sz="2800" dirty="0" smtClean="0"/>
              <a:t>(composition </a:t>
            </a:r>
            <a:r>
              <a:rPr lang="en-US" altLang="ja-JP" sz="2800" dirty="0" smtClean="0"/>
              <a:t>r</a:t>
            </a:r>
            <a:r>
              <a:rPr kumimoji="1" lang="en-US" altLang="ja-JP" sz="2800" dirty="0" smtClean="0"/>
              <a:t>ule)</a:t>
            </a:r>
            <a:endParaRPr kumimoji="1" lang="ja-JP" altLang="en-US" sz="2800" dirty="0"/>
          </a:p>
        </p:txBody>
      </p:sp>
      <p:graphicFrame>
        <p:nvGraphicFramePr>
          <p:cNvPr id="5" name="表 4"/>
          <p:cNvGraphicFramePr>
            <a:graphicFrameLocks noGrp="1"/>
          </p:cNvGraphicFramePr>
          <p:nvPr/>
        </p:nvGraphicFramePr>
        <p:xfrm>
          <a:off x="791577" y="953959"/>
          <a:ext cx="3662148" cy="1036320"/>
        </p:xfrm>
        <a:graphic>
          <a:graphicData uri="http://schemas.openxmlformats.org/drawingml/2006/table">
            <a:tbl>
              <a:tblPr>
                <a:tableStyleId>{5C22544A-7EE6-4342-B048-85BDC9FD1C3A}</a:tableStyleId>
              </a:tblPr>
              <a:tblGrid>
                <a:gridCol w="3662148"/>
              </a:tblGrid>
              <a:tr h="454736">
                <a:tc>
                  <a:txBody>
                    <a:bodyPr/>
                    <a:lstStyle/>
                    <a:p>
                      <a:r>
                        <a:rPr kumimoji="1" lang="en-US" altLang="ja-JP" sz="2800" dirty="0" smtClean="0"/>
                        <a:t>{P} S</a:t>
                      </a:r>
                      <a:r>
                        <a:rPr kumimoji="1" lang="en-US" altLang="ja-JP" sz="2800" baseline="-25000" dirty="0" smtClean="0"/>
                        <a:t>1</a:t>
                      </a:r>
                      <a:r>
                        <a:rPr kumimoji="1" lang="en-US" altLang="ja-JP" sz="2800" dirty="0" smtClean="0"/>
                        <a:t> {Q},  {Q} S</a:t>
                      </a:r>
                      <a:r>
                        <a:rPr kumimoji="1" lang="en-US" altLang="ja-JP" sz="2800" baseline="-25000" dirty="0" smtClean="0"/>
                        <a:t>2</a:t>
                      </a:r>
                      <a:r>
                        <a:rPr kumimoji="1" lang="en-US" altLang="ja-JP" sz="2800" dirty="0" smtClean="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736">
                <a:tc>
                  <a:txBody>
                    <a:bodyPr/>
                    <a:lstStyle/>
                    <a:p>
                      <a:r>
                        <a:rPr kumimoji="1" lang="en-US" altLang="ja-JP" sz="2800" dirty="0" smtClean="0"/>
                        <a:t>{P} (S</a:t>
                      </a:r>
                      <a:r>
                        <a:rPr kumimoji="1" lang="en-US" altLang="ja-JP" sz="2800" baseline="-25000" dirty="0" smtClean="0"/>
                        <a:t>1</a:t>
                      </a:r>
                      <a:r>
                        <a:rPr kumimoji="1" lang="en-US" altLang="ja-JP" sz="2800" dirty="0" smtClean="0"/>
                        <a:t>; S</a:t>
                      </a:r>
                      <a:r>
                        <a:rPr kumimoji="1" lang="en-US" altLang="ja-JP" sz="2800" baseline="-25000" dirty="0" smtClean="0"/>
                        <a:t>2</a:t>
                      </a:r>
                      <a:r>
                        <a:rPr kumimoji="1" lang="en-US" altLang="ja-JP" sz="2800" baseline="0" dirty="0" smtClean="0"/>
                        <a:t>)</a:t>
                      </a:r>
                      <a:r>
                        <a:rPr kumimoji="1" lang="en-US" altLang="ja-JP" sz="2800" dirty="0" smtClean="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6" name="テキスト ボックス 5"/>
          <p:cNvSpPr txBox="1"/>
          <p:nvPr/>
        </p:nvSpPr>
        <p:spPr>
          <a:xfrm>
            <a:off x="5985102" y="2271144"/>
            <a:ext cx="2690417" cy="523220"/>
          </a:xfrm>
          <a:prstGeom prst="rect">
            <a:avLst/>
          </a:prstGeom>
          <a:noFill/>
        </p:spPr>
        <p:txBody>
          <a:bodyPr wrap="none" rtlCol="0">
            <a:spAutoFit/>
          </a:bodyPr>
          <a:lstStyle/>
          <a:p>
            <a:r>
              <a:rPr kumimoji="1" lang="en-US" altLang="ja-JP" sz="2800" dirty="0" smtClean="0"/>
              <a:t>(conditional rule)</a:t>
            </a:r>
            <a:endParaRPr kumimoji="1" lang="ja-JP" altLang="en-US" sz="2800" dirty="0"/>
          </a:p>
        </p:txBody>
      </p:sp>
      <p:graphicFrame>
        <p:nvGraphicFramePr>
          <p:cNvPr id="7" name="表 6"/>
          <p:cNvGraphicFramePr>
            <a:graphicFrameLocks noGrp="1"/>
          </p:cNvGraphicFramePr>
          <p:nvPr/>
        </p:nvGraphicFramePr>
        <p:xfrm>
          <a:off x="739257" y="2034396"/>
          <a:ext cx="5106547" cy="1036320"/>
        </p:xfrm>
        <a:graphic>
          <a:graphicData uri="http://schemas.openxmlformats.org/drawingml/2006/table">
            <a:tbl>
              <a:tblPr>
                <a:tableStyleId>{5C22544A-7EE6-4342-B048-85BDC9FD1C3A}</a:tableStyleId>
              </a:tblPr>
              <a:tblGrid>
                <a:gridCol w="5106547"/>
              </a:tblGrid>
              <a:tr h="480897">
                <a:tc>
                  <a:txBody>
                    <a:bodyPr/>
                    <a:lstStyle/>
                    <a:p>
                      <a:r>
                        <a:rPr kumimoji="1" lang="en-US" altLang="ja-JP" sz="2800" dirty="0" smtClean="0"/>
                        <a:t>{P </a:t>
                      </a:r>
                      <a:r>
                        <a:rPr kumimoji="1" lang="en-US" altLang="ja-JP" sz="2800" dirty="0" smtClean="0">
                          <a:sym typeface="Symbol"/>
                        </a:rPr>
                        <a:t> E</a:t>
                      </a:r>
                      <a:r>
                        <a:rPr kumimoji="1" lang="en-US" altLang="ja-JP" sz="2800" dirty="0" smtClean="0"/>
                        <a:t>}  S</a:t>
                      </a:r>
                      <a:r>
                        <a:rPr kumimoji="1" lang="en-US" altLang="ja-JP" sz="2800" baseline="-25000" dirty="0" smtClean="0"/>
                        <a:t>1</a:t>
                      </a:r>
                      <a:r>
                        <a:rPr kumimoji="1" lang="en-US" altLang="ja-JP" sz="2800" dirty="0" smtClean="0"/>
                        <a:t>  {Q},  {P</a:t>
                      </a:r>
                      <a:r>
                        <a:rPr kumimoji="1" lang="en-US" altLang="ja-JP" sz="2800" baseline="0" dirty="0" smtClean="0"/>
                        <a:t> </a:t>
                      </a:r>
                      <a:r>
                        <a:rPr kumimoji="1" lang="en-US" altLang="ja-JP" sz="2800" baseline="0" dirty="0" smtClean="0">
                          <a:sym typeface="Symbol"/>
                        </a:rPr>
                        <a:t>  E</a:t>
                      </a:r>
                      <a:r>
                        <a:rPr kumimoji="1" lang="en-US" altLang="ja-JP" sz="2800" dirty="0" smtClean="0"/>
                        <a:t>}  S</a:t>
                      </a:r>
                      <a:r>
                        <a:rPr kumimoji="1" lang="en-US" altLang="ja-JP" sz="2800" baseline="-25000" dirty="0" smtClean="0"/>
                        <a:t>2 </a:t>
                      </a:r>
                      <a:r>
                        <a:rPr kumimoji="1" lang="en-US" altLang="ja-JP" sz="2800" dirty="0" smtClean="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897">
                <a:tc>
                  <a:txBody>
                    <a:bodyPr/>
                    <a:lstStyle/>
                    <a:p>
                      <a:r>
                        <a:rPr kumimoji="1" lang="en-US" altLang="ja-JP" sz="2800" dirty="0" smtClean="0"/>
                        <a:t>{P}  </a:t>
                      </a:r>
                      <a:r>
                        <a:rPr kumimoji="1" lang="en-US" altLang="ja-JP" sz="2800" b="1" dirty="0" smtClean="0"/>
                        <a:t>if</a:t>
                      </a:r>
                      <a:r>
                        <a:rPr kumimoji="1" lang="en-US" altLang="ja-JP" sz="2800" dirty="0" smtClean="0"/>
                        <a:t>  E  </a:t>
                      </a:r>
                      <a:r>
                        <a:rPr kumimoji="1" lang="en-US" altLang="ja-JP" sz="2800" b="1" dirty="0" smtClean="0"/>
                        <a:t>then</a:t>
                      </a:r>
                      <a:r>
                        <a:rPr kumimoji="1" lang="en-US" altLang="ja-JP" sz="2800" dirty="0" smtClean="0"/>
                        <a:t>  S</a:t>
                      </a:r>
                      <a:r>
                        <a:rPr kumimoji="1" lang="en-US" altLang="ja-JP" sz="2800" baseline="-25000" dirty="0" smtClean="0"/>
                        <a:t>1  </a:t>
                      </a:r>
                      <a:r>
                        <a:rPr kumimoji="1" lang="en-US" altLang="ja-JP" sz="2800" b="1" baseline="0" dirty="0" smtClean="0"/>
                        <a:t>else</a:t>
                      </a:r>
                      <a:r>
                        <a:rPr kumimoji="1" lang="en-US" altLang="ja-JP" sz="2800" b="1" baseline="-25000" dirty="0" smtClean="0"/>
                        <a:t> </a:t>
                      </a:r>
                      <a:r>
                        <a:rPr kumimoji="1" lang="en-US" altLang="ja-JP" sz="2800" baseline="-25000" dirty="0" smtClean="0"/>
                        <a:t> </a:t>
                      </a:r>
                      <a:r>
                        <a:rPr kumimoji="1" lang="en-US" altLang="ja-JP" sz="2800" dirty="0" smtClean="0"/>
                        <a:t>S</a:t>
                      </a:r>
                      <a:r>
                        <a:rPr kumimoji="1" lang="en-US" altLang="ja-JP" sz="2800" baseline="-25000" dirty="0" smtClean="0"/>
                        <a:t>2</a:t>
                      </a:r>
                      <a:r>
                        <a:rPr kumimoji="1" lang="en-US" altLang="ja-JP" sz="2800" dirty="0" smtClean="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8" name="テキスト ボックス 7"/>
          <p:cNvSpPr txBox="1"/>
          <p:nvPr/>
        </p:nvSpPr>
        <p:spPr>
          <a:xfrm>
            <a:off x="5382216" y="3310633"/>
            <a:ext cx="1875835" cy="523220"/>
          </a:xfrm>
          <a:prstGeom prst="rect">
            <a:avLst/>
          </a:prstGeom>
          <a:noFill/>
        </p:spPr>
        <p:txBody>
          <a:bodyPr wrap="none" rtlCol="0">
            <a:spAutoFit/>
          </a:bodyPr>
          <a:lstStyle/>
          <a:p>
            <a:r>
              <a:rPr kumimoji="1" lang="en-US" altLang="ja-JP" sz="2800" dirty="0" smtClean="0"/>
              <a:t>(while rule)</a:t>
            </a:r>
            <a:endParaRPr kumimoji="1" lang="ja-JP" altLang="en-US" sz="2800" dirty="0"/>
          </a:p>
        </p:txBody>
      </p:sp>
      <p:graphicFrame>
        <p:nvGraphicFramePr>
          <p:cNvPr id="9" name="表 8"/>
          <p:cNvGraphicFramePr>
            <a:graphicFrameLocks noGrp="1"/>
          </p:cNvGraphicFramePr>
          <p:nvPr/>
        </p:nvGraphicFramePr>
        <p:xfrm>
          <a:off x="725614" y="3087533"/>
          <a:ext cx="4574280" cy="1036320"/>
        </p:xfrm>
        <a:graphic>
          <a:graphicData uri="http://schemas.openxmlformats.org/drawingml/2006/table">
            <a:tbl>
              <a:tblPr>
                <a:tableStyleId>{5C22544A-7EE6-4342-B048-85BDC9FD1C3A}</a:tableStyleId>
              </a:tblPr>
              <a:tblGrid>
                <a:gridCol w="4574280"/>
              </a:tblGrid>
              <a:tr h="507059">
                <a:tc>
                  <a:txBody>
                    <a:bodyPr/>
                    <a:lstStyle/>
                    <a:p>
                      <a:r>
                        <a:rPr kumimoji="1" lang="en-US" altLang="ja-JP" sz="2800" dirty="0" smtClean="0"/>
                        <a:t>{P </a:t>
                      </a:r>
                      <a:r>
                        <a:rPr kumimoji="1" lang="en-US" altLang="ja-JP" sz="2800" dirty="0" smtClean="0">
                          <a:sym typeface="Symbol"/>
                        </a:rPr>
                        <a:t> E</a:t>
                      </a:r>
                      <a:r>
                        <a:rPr kumimoji="1" lang="en-US" altLang="ja-JP" sz="2800" dirty="0" smtClean="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7059">
                <a:tc>
                  <a:txBody>
                    <a:bodyPr/>
                    <a:lstStyle/>
                    <a:p>
                      <a:r>
                        <a:rPr kumimoji="1" lang="en-US" altLang="ja-JP" sz="2800" dirty="0" smtClean="0"/>
                        <a:t>{P}  </a:t>
                      </a:r>
                      <a:r>
                        <a:rPr kumimoji="1" lang="en-US" altLang="ja-JP" sz="2800" b="1" dirty="0" smtClean="0"/>
                        <a:t>while</a:t>
                      </a:r>
                      <a:r>
                        <a:rPr kumimoji="1" lang="en-US" altLang="ja-JP" sz="2800" dirty="0" smtClean="0"/>
                        <a:t>  E  </a:t>
                      </a:r>
                      <a:r>
                        <a:rPr kumimoji="1" lang="en-US" altLang="ja-JP" sz="2800" b="1" dirty="0" smtClean="0"/>
                        <a:t>do</a:t>
                      </a:r>
                      <a:r>
                        <a:rPr kumimoji="1" lang="en-US" altLang="ja-JP" sz="2800" dirty="0" smtClean="0"/>
                        <a:t> S</a:t>
                      </a:r>
                      <a:r>
                        <a:rPr kumimoji="1" lang="en-US" altLang="ja-JP" sz="2800" baseline="0" dirty="0" smtClean="0"/>
                        <a:t>  </a:t>
                      </a:r>
                      <a:r>
                        <a:rPr kumimoji="1" lang="en-US" altLang="ja-JP" sz="2800" dirty="0" smtClean="0"/>
                        <a:t>{P</a:t>
                      </a:r>
                      <a:r>
                        <a:rPr kumimoji="1" lang="en-US" altLang="ja-JP" sz="2800" baseline="0" dirty="0" smtClean="0"/>
                        <a:t> </a:t>
                      </a:r>
                      <a:r>
                        <a:rPr kumimoji="1" lang="en-US" altLang="ja-JP" sz="2800" baseline="0" dirty="0" smtClean="0">
                          <a:sym typeface="Symbol"/>
                        </a:rPr>
                        <a:t>  E</a:t>
                      </a:r>
                      <a:r>
                        <a:rPr kumimoji="1" lang="en-US" altLang="ja-JP" sz="2800" dirty="0" smtClean="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0" name="テキスト ボックス 9"/>
          <p:cNvSpPr txBox="1"/>
          <p:nvPr/>
        </p:nvSpPr>
        <p:spPr>
          <a:xfrm>
            <a:off x="696029" y="4271731"/>
            <a:ext cx="2991973" cy="523220"/>
          </a:xfrm>
          <a:prstGeom prst="rect">
            <a:avLst/>
          </a:prstGeom>
          <a:noFill/>
        </p:spPr>
        <p:txBody>
          <a:bodyPr wrap="none" rtlCol="0">
            <a:spAutoFit/>
          </a:bodyPr>
          <a:lstStyle/>
          <a:p>
            <a:r>
              <a:rPr kumimoji="1" lang="en-US" altLang="ja-JP" sz="2800" dirty="0" smtClean="0"/>
              <a:t>{ Q[E/x] } x := E  {Q}</a:t>
            </a:r>
            <a:endParaRPr kumimoji="1" lang="ja-JP" altLang="en-US" sz="2800" dirty="0"/>
          </a:p>
        </p:txBody>
      </p:sp>
      <p:sp>
        <p:nvSpPr>
          <p:cNvPr id="11" name="テキスト ボックス 10"/>
          <p:cNvSpPr txBox="1"/>
          <p:nvPr/>
        </p:nvSpPr>
        <p:spPr>
          <a:xfrm>
            <a:off x="3803735" y="4265986"/>
            <a:ext cx="3029740" cy="523220"/>
          </a:xfrm>
          <a:prstGeom prst="rect">
            <a:avLst/>
          </a:prstGeom>
          <a:noFill/>
        </p:spPr>
        <p:txBody>
          <a:bodyPr wrap="none" rtlCol="0">
            <a:spAutoFit/>
          </a:bodyPr>
          <a:lstStyle/>
          <a:p>
            <a:r>
              <a:rPr kumimoji="1" lang="en-US" altLang="ja-JP" sz="2800" dirty="0" smtClean="0"/>
              <a:t>(assignment </a:t>
            </a:r>
            <a:r>
              <a:rPr lang="en-US" altLang="ja-JP" sz="2800" dirty="0" smtClean="0"/>
              <a:t>a</a:t>
            </a:r>
            <a:r>
              <a:rPr kumimoji="1" lang="en-US" altLang="ja-JP" sz="2800" dirty="0" smtClean="0"/>
              <a:t>xiom)</a:t>
            </a:r>
            <a:endParaRPr kumimoji="1" lang="ja-JP" altLang="en-US" sz="2800" dirty="0"/>
          </a:p>
        </p:txBody>
      </p:sp>
      <p:graphicFrame>
        <p:nvGraphicFramePr>
          <p:cNvPr id="12" name="表 11"/>
          <p:cNvGraphicFramePr>
            <a:graphicFrameLocks noGrp="1"/>
          </p:cNvGraphicFramePr>
          <p:nvPr/>
        </p:nvGraphicFramePr>
        <p:xfrm>
          <a:off x="673293" y="4834453"/>
          <a:ext cx="4458266" cy="1036320"/>
        </p:xfrm>
        <a:graphic>
          <a:graphicData uri="http://schemas.openxmlformats.org/drawingml/2006/table">
            <a:tbl>
              <a:tblPr>
                <a:tableStyleId>{5C22544A-7EE6-4342-B048-85BDC9FD1C3A}</a:tableStyleId>
              </a:tblPr>
              <a:tblGrid>
                <a:gridCol w="4458266"/>
              </a:tblGrid>
              <a:tr h="482916">
                <a:tc>
                  <a:txBody>
                    <a:bodyPr/>
                    <a:lstStyle/>
                    <a:p>
                      <a:r>
                        <a:rPr kumimoji="1" lang="en-US" altLang="ja-JP" sz="2800" dirty="0" smtClean="0"/>
                        <a:t>P </a:t>
                      </a:r>
                      <a:r>
                        <a:rPr kumimoji="1" lang="en-US" altLang="ja-JP" sz="2800" dirty="0" smtClean="0">
                          <a:sym typeface="Symbol"/>
                        </a:rPr>
                        <a:t> P’,  </a:t>
                      </a:r>
                      <a:r>
                        <a:rPr kumimoji="1" lang="en-US" altLang="ja-JP" sz="2800" dirty="0" smtClean="0"/>
                        <a:t>{P’}  S  {Q’},  Q’ </a:t>
                      </a:r>
                      <a:r>
                        <a:rPr kumimoji="1" lang="en-US" altLang="ja-JP" sz="2800" dirty="0" smtClean="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2916">
                <a:tc>
                  <a:txBody>
                    <a:bodyPr/>
                    <a:lstStyle/>
                    <a:p>
                      <a:r>
                        <a:rPr kumimoji="1" lang="en-US" altLang="ja-JP" sz="2800" dirty="0" smtClean="0"/>
                        <a:t>{P}</a:t>
                      </a:r>
                      <a:r>
                        <a:rPr kumimoji="1" lang="en-US" altLang="ja-JP" sz="2800" baseline="0" dirty="0" smtClean="0"/>
                        <a:t>  </a:t>
                      </a:r>
                      <a:r>
                        <a:rPr kumimoji="1" lang="en-US" altLang="ja-JP" sz="2800" dirty="0" smtClean="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3" name="テキスト ボックス 12"/>
          <p:cNvSpPr txBox="1"/>
          <p:nvPr/>
        </p:nvSpPr>
        <p:spPr>
          <a:xfrm>
            <a:off x="5378017" y="5082164"/>
            <a:ext cx="2980560" cy="523220"/>
          </a:xfrm>
          <a:prstGeom prst="rect">
            <a:avLst/>
          </a:prstGeom>
          <a:noFill/>
        </p:spPr>
        <p:txBody>
          <a:bodyPr wrap="none" rtlCol="0">
            <a:spAutoFit/>
          </a:bodyPr>
          <a:lstStyle/>
          <a:p>
            <a:r>
              <a:rPr kumimoji="1" lang="en-US" altLang="ja-JP" sz="2800" dirty="0" smtClean="0"/>
              <a:t>(consequence </a:t>
            </a:r>
            <a:r>
              <a:rPr lang="en-US" altLang="ja-JP" sz="2800" dirty="0" smtClean="0"/>
              <a:t>r</a:t>
            </a:r>
            <a:r>
              <a:rPr kumimoji="1" lang="en-US" altLang="ja-JP" sz="2800" dirty="0" smtClean="0"/>
              <a:t>ule)</a:t>
            </a:r>
            <a:endParaRPr kumimoji="1" lang="ja-JP" altLang="en-US" sz="2800" dirty="0"/>
          </a:p>
        </p:txBody>
      </p:sp>
      <p:sp>
        <p:nvSpPr>
          <p:cNvPr id="14" name="テキスト ボックス 13"/>
          <p:cNvSpPr txBox="1"/>
          <p:nvPr/>
        </p:nvSpPr>
        <p:spPr>
          <a:xfrm>
            <a:off x="313898" y="5849578"/>
            <a:ext cx="8611737" cy="954107"/>
          </a:xfrm>
          <a:prstGeom prst="rect">
            <a:avLst/>
          </a:prstGeom>
          <a:noFill/>
        </p:spPr>
        <p:txBody>
          <a:bodyPr wrap="square" rtlCol="0">
            <a:spAutoFit/>
          </a:bodyPr>
          <a:lstStyle/>
          <a:p>
            <a:r>
              <a:rPr kumimoji="1" lang="ja-JP" altLang="en-US" sz="2800" dirty="0" smtClean="0"/>
              <a:t>（注意） ここでは、文の構文定義が少し変わっており、</a:t>
            </a:r>
            <a:r>
              <a:rPr kumimoji="1" lang="en-US" altLang="ja-JP" sz="2800" dirty="0" smtClean="0"/>
              <a:t>(S</a:t>
            </a:r>
            <a:r>
              <a:rPr kumimoji="1" lang="en-US" altLang="ja-JP" sz="2800" baseline="-25000" dirty="0" smtClean="0"/>
              <a:t>1</a:t>
            </a:r>
            <a:r>
              <a:rPr kumimoji="1" lang="en-US" altLang="ja-JP" sz="2800" dirty="0" smtClean="0"/>
              <a:t>; S</a:t>
            </a:r>
            <a:r>
              <a:rPr kumimoji="1" lang="en-US" altLang="ja-JP" sz="2800" baseline="-25000" dirty="0" smtClean="0"/>
              <a:t>2</a:t>
            </a:r>
            <a:r>
              <a:rPr kumimoji="1" lang="en-US" altLang="ja-JP" sz="2800" dirty="0" smtClean="0"/>
              <a:t>)</a:t>
            </a:r>
            <a:r>
              <a:rPr kumimoji="1" lang="ja-JP" altLang="en-US" sz="2800" dirty="0" smtClean="0"/>
              <a:t>は複合文である。以下では</a:t>
            </a:r>
            <a:r>
              <a:rPr kumimoji="1" lang="en-US" altLang="ja-JP" sz="2800" dirty="0" smtClean="0"/>
              <a:t>()</a:t>
            </a:r>
            <a:r>
              <a:rPr lang="ja-JP" altLang="en-US" sz="2800" dirty="0" smtClean="0"/>
              <a:t>は省略することもある。</a:t>
            </a:r>
            <a:endParaRPr kumimoji="1" lang="ja-JP"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99069"/>
          </a:xfrm>
        </p:spPr>
        <p:txBody>
          <a:bodyPr/>
          <a:lstStyle/>
          <a:p>
            <a:r>
              <a:rPr lang="ja-JP" altLang="en-US" dirty="0" smtClean="0"/>
              <a:t>例</a:t>
            </a:r>
            <a:endParaRPr kumimoji="1" lang="ja-JP" altLang="en-US" dirty="0"/>
          </a:p>
        </p:txBody>
      </p:sp>
      <p:sp>
        <p:nvSpPr>
          <p:cNvPr id="4" name="テキスト ボックス 3"/>
          <p:cNvSpPr txBox="1"/>
          <p:nvPr/>
        </p:nvSpPr>
        <p:spPr>
          <a:xfrm>
            <a:off x="450376" y="1337479"/>
            <a:ext cx="8502555" cy="954107"/>
          </a:xfrm>
          <a:prstGeom prst="rect">
            <a:avLst/>
          </a:prstGeom>
          <a:noFill/>
        </p:spPr>
        <p:txBody>
          <a:bodyPr wrap="square" rtlCol="0">
            <a:spAutoFit/>
          </a:bodyPr>
          <a:lstStyle/>
          <a:p>
            <a:r>
              <a:rPr lang="en-US" altLang="ja-JP" sz="2800" dirty="0" smtClean="0"/>
              <a:t>Hoare triple </a:t>
            </a:r>
            <a:r>
              <a:rPr lang="ja-JP" altLang="en-US" sz="2800" dirty="0" smtClean="0"/>
              <a:t>  </a:t>
            </a:r>
            <a:r>
              <a:rPr lang="en-US" altLang="ja-JP" sz="2800" dirty="0" smtClean="0"/>
              <a:t>{ x </a:t>
            </a:r>
            <a:r>
              <a:rPr lang="en-US" altLang="ja-JP" sz="2800" dirty="0" smtClean="0">
                <a:sym typeface="Symbol"/>
              </a:rPr>
              <a:t> 0 } </a:t>
            </a:r>
            <a:r>
              <a:rPr lang="en-US" altLang="ja-JP" sz="2800" b="1" dirty="0" smtClean="0">
                <a:sym typeface="Symbol"/>
              </a:rPr>
              <a:t>while</a:t>
            </a:r>
            <a:r>
              <a:rPr lang="en-US" altLang="ja-JP" sz="2800" dirty="0" smtClean="0">
                <a:sym typeface="Symbol"/>
              </a:rPr>
              <a:t> x &gt; 0 </a:t>
            </a:r>
            <a:r>
              <a:rPr lang="en-US" altLang="ja-JP" sz="2800" b="1" dirty="0" smtClean="0">
                <a:sym typeface="Symbol"/>
              </a:rPr>
              <a:t>do</a:t>
            </a:r>
            <a:r>
              <a:rPr lang="en-US" altLang="ja-JP" sz="2800" dirty="0" smtClean="0">
                <a:sym typeface="Symbol"/>
              </a:rPr>
              <a:t> x := x – 1 {x = 0}</a:t>
            </a:r>
          </a:p>
          <a:p>
            <a:r>
              <a:rPr lang="ja-JP" altLang="en-US" sz="2800" dirty="0" smtClean="0">
                <a:sym typeface="Symbol"/>
              </a:rPr>
              <a:t>は成り立つが、これを規則を使って導くことができる。</a:t>
            </a:r>
            <a:endParaRPr lang="en-US" altLang="ja-JP" sz="2800" dirty="0" smtClean="0">
              <a:sym typeface="Symbol"/>
            </a:endParaRPr>
          </a:p>
        </p:txBody>
      </p:sp>
      <p:sp>
        <p:nvSpPr>
          <p:cNvPr id="6" name="正方形/長方形 5"/>
          <p:cNvSpPr/>
          <p:nvPr/>
        </p:nvSpPr>
        <p:spPr>
          <a:xfrm>
            <a:off x="1072802" y="4609086"/>
            <a:ext cx="5745484" cy="523220"/>
          </a:xfrm>
          <a:prstGeom prst="rect">
            <a:avLst/>
          </a:prstGeom>
        </p:spPr>
        <p:txBody>
          <a:bodyPr wrap="none">
            <a:spAutoFit/>
          </a:bodyPr>
          <a:lstStyle/>
          <a:p>
            <a:pPr lvl="0" algn="ctr">
              <a:defRPr/>
            </a:pPr>
            <a:r>
              <a:rPr lang="en-US" altLang="ja-JP" sz="2800" dirty="0" smtClean="0">
                <a:solidFill>
                  <a:prstClr val="black"/>
                </a:solidFill>
              </a:rPr>
              <a:t>{ x </a:t>
            </a:r>
            <a:r>
              <a:rPr lang="en-US" altLang="ja-JP" sz="2800" dirty="0" smtClean="0">
                <a:solidFill>
                  <a:prstClr val="black"/>
                </a:solidFill>
                <a:sym typeface="Symbol"/>
              </a:rPr>
              <a:t> 0 } </a:t>
            </a:r>
            <a:r>
              <a:rPr lang="en-US" altLang="ja-JP" sz="2800" b="1" dirty="0" smtClean="0">
                <a:solidFill>
                  <a:prstClr val="black"/>
                </a:solidFill>
                <a:sym typeface="Symbol"/>
              </a:rPr>
              <a:t>while</a:t>
            </a:r>
            <a:r>
              <a:rPr lang="en-US" altLang="ja-JP" sz="2800" dirty="0" smtClean="0">
                <a:solidFill>
                  <a:prstClr val="black"/>
                </a:solidFill>
                <a:sym typeface="Symbol"/>
              </a:rPr>
              <a:t> x &gt; 0 </a:t>
            </a:r>
            <a:r>
              <a:rPr lang="en-US" altLang="ja-JP" sz="2800" b="1" dirty="0" smtClean="0">
                <a:solidFill>
                  <a:prstClr val="black"/>
                </a:solidFill>
                <a:sym typeface="Symbol"/>
              </a:rPr>
              <a:t>do</a:t>
            </a:r>
            <a:r>
              <a:rPr lang="en-US" altLang="ja-JP" sz="2800" dirty="0" smtClean="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61291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4102098"/>
            <a:ext cx="9253181" cy="461665"/>
          </a:xfrm>
          <a:prstGeom prst="rect">
            <a:avLst/>
          </a:prstGeom>
        </p:spPr>
        <p:txBody>
          <a:bodyPr wrap="square">
            <a:spAutoFit/>
          </a:bodyPr>
          <a:lstStyle/>
          <a:p>
            <a:pPr lvl="0" algn="ctr">
              <a:defRPr/>
            </a:pPr>
            <a:r>
              <a:rPr lang="en-US" altLang="ja-JP" sz="2400" dirty="0" smtClean="0">
                <a:solidFill>
                  <a:prstClr val="black"/>
                </a:solidFill>
              </a:rPr>
              <a:t>{ x </a:t>
            </a:r>
            <a:r>
              <a:rPr lang="en-US" altLang="ja-JP" sz="2400" dirty="0" smtClean="0">
                <a:solidFill>
                  <a:prstClr val="black"/>
                </a:solidFill>
                <a:sym typeface="Symbol"/>
              </a:rPr>
              <a:t> 0 } </a:t>
            </a:r>
            <a:r>
              <a:rPr lang="en-US" altLang="ja-JP" sz="2400" b="1" dirty="0" smtClean="0">
                <a:solidFill>
                  <a:prstClr val="black"/>
                </a:solidFill>
                <a:sym typeface="Symbol"/>
              </a:rPr>
              <a:t>while</a:t>
            </a:r>
            <a:r>
              <a:rPr lang="en-US" altLang="ja-JP" sz="2400" dirty="0" smtClean="0">
                <a:solidFill>
                  <a:prstClr val="black"/>
                </a:solidFill>
                <a:sym typeface="Symbol"/>
              </a:rPr>
              <a:t> x &gt; 0 </a:t>
            </a:r>
            <a:r>
              <a:rPr lang="en-US" altLang="ja-JP" sz="2400" b="1" dirty="0" smtClean="0">
                <a:solidFill>
                  <a:prstClr val="black"/>
                </a:solidFill>
                <a:sym typeface="Symbol"/>
              </a:rPr>
              <a:t>do</a:t>
            </a:r>
            <a:r>
              <a:rPr lang="en-US" altLang="ja-JP" sz="2400" dirty="0" smtClean="0">
                <a:solidFill>
                  <a:prstClr val="black"/>
                </a:solidFill>
                <a:sym typeface="Symbol"/>
              </a:rPr>
              <a:t> x := x – 1 { x  0   x &gt; 0}, </a:t>
            </a:r>
            <a:r>
              <a:rPr lang="ja-JP" altLang="en-US" sz="2400" dirty="0" smtClean="0">
                <a:solidFill>
                  <a:prstClr val="black"/>
                </a:solidFill>
                <a:sym typeface="Symbol"/>
              </a:rPr>
              <a:t> </a:t>
            </a:r>
            <a:r>
              <a:rPr lang="en-US" altLang="ja-JP" sz="2400" dirty="0" smtClean="0">
                <a:solidFill>
                  <a:prstClr val="black"/>
                </a:solidFill>
                <a:sym typeface="Symbol"/>
              </a:rPr>
              <a:t>x </a:t>
            </a:r>
            <a:r>
              <a:rPr lang="en-US" altLang="ja-JP" sz="2400" dirty="0" smtClean="0">
                <a:solidFill>
                  <a:prstClr val="black"/>
                </a:solidFill>
                <a:sym typeface="Symbol"/>
              </a:rPr>
              <a:t> 0   x &gt; 0  x = 0</a:t>
            </a:r>
            <a:endParaRPr lang="ja-JP" altLang="en-US" dirty="0">
              <a:solidFill>
                <a:prstClr val="black"/>
              </a:solidFill>
            </a:endParaRPr>
          </a:p>
        </p:txBody>
      </p:sp>
      <p:cxnSp>
        <p:nvCxnSpPr>
          <p:cNvPr id="12" name="直線コネクタ 11"/>
          <p:cNvCxnSpPr/>
          <p:nvPr/>
        </p:nvCxnSpPr>
        <p:spPr>
          <a:xfrm flipV="1">
            <a:off x="111452" y="401241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509475"/>
            <a:ext cx="4278312" cy="461665"/>
          </a:xfrm>
          <a:prstGeom prst="rect">
            <a:avLst/>
          </a:prstGeom>
        </p:spPr>
        <p:txBody>
          <a:bodyPr wrap="square">
            <a:spAutoFit/>
          </a:bodyPr>
          <a:lstStyle/>
          <a:p>
            <a:r>
              <a:rPr lang="en-US" altLang="ja-JP" sz="2400" dirty="0" smtClean="0">
                <a:solidFill>
                  <a:prstClr val="black"/>
                </a:solidFill>
              </a:rPr>
              <a:t>{ x </a:t>
            </a:r>
            <a:r>
              <a:rPr lang="en-US" altLang="ja-JP" sz="2400" dirty="0" smtClean="0">
                <a:solidFill>
                  <a:prstClr val="black"/>
                </a:solidFill>
                <a:sym typeface="Symbol"/>
              </a:rPr>
              <a:t> 0  x &gt; 0} </a:t>
            </a:r>
            <a:r>
              <a:rPr lang="en-US" altLang="ja-JP" sz="2400" dirty="0" smtClean="0">
                <a:solidFill>
                  <a:prstClr val="black"/>
                </a:solidFill>
                <a:sym typeface="Symbol"/>
              </a:rPr>
              <a:t> </a:t>
            </a:r>
            <a:r>
              <a:rPr lang="en-US" altLang="ja-JP" sz="2400" dirty="0" smtClean="0">
                <a:solidFill>
                  <a:prstClr val="black"/>
                </a:solidFill>
                <a:sym typeface="Symbol"/>
              </a:rPr>
              <a:t>x := x – 1 { x </a:t>
            </a:r>
            <a:r>
              <a:rPr lang="en-US" altLang="ja-JP" sz="2400" dirty="0" smtClean="0">
                <a:solidFill>
                  <a:prstClr val="black"/>
                </a:solidFill>
                <a:sym typeface="Symbol"/>
              </a:rPr>
              <a:t> </a:t>
            </a:r>
            <a:r>
              <a:rPr lang="en-US" altLang="ja-JP" sz="2400" dirty="0" smtClean="0">
                <a:solidFill>
                  <a:prstClr val="black"/>
                </a:solidFill>
                <a:sym typeface="Symbol"/>
              </a:rPr>
              <a:t>0 }</a:t>
            </a:r>
            <a:endParaRPr lang="ja-JP" altLang="en-US" dirty="0"/>
          </a:p>
        </p:txBody>
      </p:sp>
      <p:cxnSp>
        <p:nvCxnSpPr>
          <p:cNvPr id="21" name="直線コネクタ 20"/>
          <p:cNvCxnSpPr/>
          <p:nvPr/>
        </p:nvCxnSpPr>
        <p:spPr>
          <a:xfrm flipV="1">
            <a:off x="261580" y="343922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889713"/>
            <a:ext cx="3525621" cy="461665"/>
          </a:xfrm>
          <a:prstGeom prst="rect">
            <a:avLst/>
          </a:prstGeom>
        </p:spPr>
        <p:txBody>
          <a:bodyPr wrap="square">
            <a:spAutoFit/>
          </a:bodyPr>
          <a:lstStyle/>
          <a:p>
            <a:r>
              <a:rPr lang="en-US" altLang="ja-JP" sz="2400" dirty="0" smtClean="0">
                <a:solidFill>
                  <a:prstClr val="black"/>
                </a:solidFill>
              </a:rPr>
              <a:t>{ x-1 </a:t>
            </a:r>
            <a:r>
              <a:rPr lang="en-US" altLang="ja-JP" sz="2400" dirty="0" smtClean="0">
                <a:solidFill>
                  <a:prstClr val="black"/>
                </a:solidFill>
                <a:sym typeface="Symbol"/>
              </a:rPr>
              <a:t> 0 } x := x – 1 { x  0 }</a:t>
            </a:r>
            <a:endParaRPr lang="ja-JP" altLang="en-US" dirty="0"/>
          </a:p>
        </p:txBody>
      </p:sp>
      <p:sp>
        <p:nvSpPr>
          <p:cNvPr id="23" name="正方形/長方形 22"/>
          <p:cNvSpPr/>
          <p:nvPr/>
        </p:nvSpPr>
        <p:spPr>
          <a:xfrm>
            <a:off x="191072" y="2889462"/>
            <a:ext cx="3183885" cy="461665"/>
          </a:xfrm>
          <a:prstGeom prst="rect">
            <a:avLst/>
          </a:prstGeom>
        </p:spPr>
        <p:txBody>
          <a:bodyPr wrap="none">
            <a:spAutoFit/>
          </a:bodyPr>
          <a:lstStyle/>
          <a:p>
            <a:r>
              <a:rPr lang="en-US" altLang="ja-JP" sz="2400" dirty="0" smtClean="0">
                <a:solidFill>
                  <a:prstClr val="black"/>
                </a:solidFill>
              </a:rPr>
              <a:t>x </a:t>
            </a:r>
            <a:r>
              <a:rPr lang="en-US" altLang="ja-JP" sz="2400" dirty="0" smtClean="0">
                <a:solidFill>
                  <a:prstClr val="black"/>
                </a:solidFill>
                <a:sym typeface="Symbol"/>
              </a:rPr>
              <a:t> 0  x &gt; 0  x-1  0,  </a:t>
            </a:r>
            <a:endParaRPr lang="ja-JP" altLang="en-US" sz="2400" dirty="0"/>
          </a:p>
        </p:txBody>
      </p:sp>
      <p:cxnSp>
        <p:nvCxnSpPr>
          <p:cNvPr id="49" name="直線コネクタ 48"/>
          <p:cNvCxnSpPr/>
          <p:nvPr/>
        </p:nvCxnSpPr>
        <p:spPr>
          <a:xfrm flipV="1">
            <a:off x="3184477" y="285237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5227079"/>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55" name="テキスト ボックス 54"/>
          <p:cNvSpPr txBox="1"/>
          <p:nvPr/>
        </p:nvSpPr>
        <p:spPr>
          <a:xfrm>
            <a:off x="6020499" y="3749186"/>
            <a:ext cx="1047082" cy="461665"/>
          </a:xfrm>
          <a:prstGeom prst="rect">
            <a:avLst/>
          </a:prstGeom>
          <a:noFill/>
        </p:spPr>
        <p:txBody>
          <a:bodyPr wrap="none" rtlCol="0">
            <a:spAutoFit/>
          </a:bodyPr>
          <a:lstStyle/>
          <a:p>
            <a:r>
              <a:rPr kumimoji="1" lang="en-US" altLang="ja-JP" sz="2400" dirty="0" smtClean="0"/>
              <a:t>(while)</a:t>
            </a:r>
            <a:endParaRPr kumimoji="1" lang="ja-JP" altLang="en-US" sz="2400" dirty="0"/>
          </a:p>
        </p:txBody>
      </p:sp>
      <p:sp>
        <p:nvSpPr>
          <p:cNvPr id="57" name="テキスト ボックス 56"/>
          <p:cNvSpPr txBox="1"/>
          <p:nvPr/>
        </p:nvSpPr>
        <p:spPr>
          <a:xfrm>
            <a:off x="6656894" y="3178255"/>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63" name="テキスト ボックス 62"/>
          <p:cNvSpPr txBox="1"/>
          <p:nvPr/>
        </p:nvSpPr>
        <p:spPr>
          <a:xfrm>
            <a:off x="6693174" y="2602769"/>
            <a:ext cx="1796004" cy="461665"/>
          </a:xfrm>
          <a:prstGeom prst="rect">
            <a:avLst/>
          </a:prstGeom>
          <a:noFill/>
        </p:spPr>
        <p:txBody>
          <a:bodyPr wrap="none" rtlCol="0">
            <a:spAutoFit/>
          </a:bodyPr>
          <a:lstStyle/>
          <a:p>
            <a:r>
              <a:rPr kumimoji="1" lang="en-US" altLang="ja-JP" sz="2400" dirty="0" smtClean="0"/>
              <a:t>(assignment)</a:t>
            </a:r>
            <a:endParaRPr kumimoji="1" lang="ja-JP" altLang="en-US" sz="2400" dirty="0"/>
          </a:p>
        </p:txBody>
      </p:sp>
      <p:sp>
        <p:nvSpPr>
          <p:cNvPr id="64" name="下矢印 63"/>
          <p:cNvSpPr/>
          <p:nvPr/>
        </p:nvSpPr>
        <p:spPr>
          <a:xfrm rot="10800000">
            <a:off x="8366074" y="462657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78482" y="5729792"/>
            <a:ext cx="8897278" cy="954107"/>
          </a:xfrm>
          <a:prstGeom prst="rect">
            <a:avLst/>
          </a:prstGeom>
        </p:spPr>
        <p:txBody>
          <a:bodyPr wrap="square">
            <a:spAutoFit/>
          </a:bodyPr>
          <a:lstStyle/>
          <a:p>
            <a:r>
              <a:rPr lang="ja-JP" altLang="en-US" sz="2800" dirty="0" smtClean="0">
                <a:sym typeface="Symbol"/>
              </a:rPr>
              <a:t>（</a:t>
            </a:r>
            <a:r>
              <a:rPr lang="ja-JP" altLang="en-US" sz="2800" dirty="0" smtClean="0">
                <a:sym typeface="Symbol"/>
              </a:rPr>
              <a:t>補足</a:t>
            </a:r>
            <a:r>
              <a:rPr lang="ja-JP" altLang="en-US" sz="2800" dirty="0" smtClean="0">
                <a:sym typeface="Symbol"/>
              </a:rPr>
              <a:t>）</a:t>
            </a:r>
            <a:r>
              <a:rPr lang="ja-JP" altLang="en-US" sz="2800" dirty="0" smtClean="0">
                <a:sym typeface="Symbol"/>
              </a:rPr>
              <a:t>一つの文に対して成立する</a:t>
            </a:r>
            <a:r>
              <a:rPr lang="en-US" altLang="ja-JP" sz="2800" dirty="0" smtClean="0">
                <a:sym typeface="Symbol"/>
              </a:rPr>
              <a:t>Hoare triple</a:t>
            </a:r>
            <a:r>
              <a:rPr lang="ja-JP" altLang="en-US" sz="2800" dirty="0" smtClean="0">
                <a:sym typeface="Symbol"/>
              </a:rPr>
              <a:t>は複数存在する</a:t>
            </a:r>
            <a:r>
              <a:rPr lang="ja-JP" altLang="en-US" sz="2800" dirty="0" smtClean="0">
                <a:sym typeface="Symbol"/>
              </a:rPr>
              <a:t>。</a:t>
            </a:r>
            <a:r>
              <a:rPr lang="en-US" altLang="ja-JP" sz="2800" dirty="0" smtClean="0">
                <a:sym typeface="Symbol"/>
              </a:rPr>
              <a:t>Consequence</a:t>
            </a:r>
            <a:r>
              <a:rPr lang="ja-JP" altLang="en-US" sz="2800" dirty="0" smtClean="0">
                <a:sym typeface="Symbol"/>
              </a:rPr>
              <a:t>について、一方だけの適用も可とする。</a:t>
            </a:r>
            <a:endParaRPr lang="ja-JP" alt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複雑な例</a:t>
            </a:r>
            <a:endParaRPr kumimoji="1" lang="ja-JP" altLang="en-US" dirty="0"/>
          </a:p>
        </p:txBody>
      </p:sp>
      <p:sp>
        <p:nvSpPr>
          <p:cNvPr id="5" name="テキスト ボックス 4"/>
          <p:cNvSpPr txBox="1"/>
          <p:nvPr/>
        </p:nvSpPr>
        <p:spPr>
          <a:xfrm>
            <a:off x="2279177" y="1897038"/>
            <a:ext cx="3635932" cy="1384995"/>
          </a:xfrm>
          <a:prstGeom prst="rect">
            <a:avLst/>
          </a:prstGeom>
          <a:noFill/>
        </p:spPr>
        <p:txBody>
          <a:bodyPr wrap="none" rtlCol="0">
            <a:spAutoFit/>
          </a:bodyPr>
          <a:lstStyle/>
          <a:p>
            <a:r>
              <a:rPr kumimoji="1" lang="en-US" altLang="ja-JP" sz="2800" dirty="0" smtClean="0"/>
              <a:t>(( r := x; q := 0); </a:t>
            </a:r>
          </a:p>
          <a:p>
            <a:r>
              <a:rPr lang="en-US" altLang="ja-JP" sz="2800" dirty="0" smtClean="0"/>
              <a:t>  while y </a:t>
            </a:r>
            <a:r>
              <a:rPr lang="en-US" altLang="ja-JP" sz="2800" dirty="0" smtClean="0">
                <a:sym typeface="Symbol"/>
              </a:rPr>
              <a:t> r do </a:t>
            </a:r>
          </a:p>
          <a:p>
            <a:r>
              <a:rPr lang="en-US" altLang="ja-JP" sz="2800" dirty="0" smtClean="0">
                <a:sym typeface="Symbol"/>
              </a:rPr>
              <a:t>     (r := r – y; q := 1 + 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smtClean="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smtClean="0"/>
              <a:t>{ </a:t>
            </a:r>
            <a:r>
              <a:rPr kumimoji="1" lang="en-US" altLang="ja-JP" sz="2800" dirty="0" smtClean="0">
                <a:sym typeface="Symbol"/>
              </a:rPr>
              <a:t> y</a:t>
            </a:r>
            <a:r>
              <a:rPr lang="en-US" altLang="ja-JP" sz="2800" dirty="0" smtClean="0">
                <a:sym typeface="Symbol"/>
              </a:rPr>
              <a:t>  r </a:t>
            </a:r>
          </a:p>
          <a:p>
            <a:r>
              <a:rPr lang="en-US" altLang="ja-JP" sz="2800" dirty="0" smtClean="0">
                <a:sym typeface="Symbol"/>
              </a:rPr>
              <a:t>     </a:t>
            </a:r>
          </a:p>
          <a:p>
            <a:r>
              <a:rPr lang="en-US" altLang="ja-JP" sz="2800" dirty="0" smtClean="0">
                <a:sym typeface="Symbol"/>
              </a:rPr>
              <a:t>  x = r + y * q }</a:t>
            </a:r>
            <a:r>
              <a:rPr kumimoji="1" lang="en-US" altLang="ja-JP" sz="2800" dirty="0" smtClean="0">
                <a:sym typeface="Symbol"/>
              </a:rPr>
              <a:t> </a:t>
            </a:r>
            <a:endParaRPr kumimoji="1" lang="ja-JP" altLang="en-US" sz="2800" dirty="0"/>
          </a:p>
        </p:txBody>
      </p:sp>
      <p:sp>
        <p:nvSpPr>
          <p:cNvPr id="8" name="テキスト ボックス 7"/>
          <p:cNvSpPr txBox="1"/>
          <p:nvPr/>
        </p:nvSpPr>
        <p:spPr>
          <a:xfrm>
            <a:off x="1323833" y="5650173"/>
            <a:ext cx="5901039" cy="523220"/>
          </a:xfrm>
          <a:prstGeom prst="rect">
            <a:avLst/>
          </a:prstGeom>
          <a:noFill/>
        </p:spPr>
        <p:txBody>
          <a:bodyPr wrap="none" rtlCol="0">
            <a:spAutoFit/>
          </a:bodyPr>
          <a:lstStyle/>
          <a:p>
            <a:r>
              <a:rPr lang="ja-JP" altLang="en-US" sz="2800" dirty="0" smtClean="0"/>
              <a:t>この</a:t>
            </a:r>
            <a:r>
              <a:rPr lang="en-US" altLang="ja-JP" sz="2800" dirty="0" smtClean="0"/>
              <a:t>Hoare triple</a:t>
            </a:r>
            <a:r>
              <a:rPr lang="ja-JP" altLang="en-US" sz="2800" dirty="0" smtClean="0"/>
              <a:t>の導出は黒板で行う。</a:t>
            </a:r>
            <a:endParaRPr kumimoji="1" lang="ja-JP" altLang="en-US" sz="2800" dirty="0"/>
          </a:p>
        </p:txBody>
      </p:sp>
      <p:sp>
        <p:nvSpPr>
          <p:cNvPr id="9" name="テキスト ボックス 8"/>
          <p:cNvSpPr txBox="1"/>
          <p:nvPr/>
        </p:nvSpPr>
        <p:spPr>
          <a:xfrm>
            <a:off x="955342" y="3698543"/>
            <a:ext cx="7506269" cy="1384995"/>
          </a:xfrm>
          <a:prstGeom prst="rect">
            <a:avLst/>
          </a:prstGeom>
          <a:noFill/>
        </p:spPr>
        <p:txBody>
          <a:bodyPr wrap="square" rtlCol="0">
            <a:spAutoFit/>
          </a:bodyPr>
          <a:lstStyle/>
          <a:p>
            <a:r>
              <a:rPr lang="ja-JP" altLang="en-US" sz="2800" dirty="0" smtClean="0"/>
              <a:t>「このプログラムを実行すると、</a:t>
            </a:r>
            <a:r>
              <a:rPr lang="en-US" altLang="ja-JP" sz="2800" dirty="0" smtClean="0"/>
              <a:t>x </a:t>
            </a:r>
            <a:r>
              <a:rPr lang="ja-JP" altLang="en-US" sz="2800" dirty="0" smtClean="0"/>
              <a:t>を</a:t>
            </a:r>
            <a:r>
              <a:rPr lang="en-US" altLang="ja-JP" sz="2800" dirty="0" smtClean="0"/>
              <a:t>y</a:t>
            </a:r>
            <a:r>
              <a:rPr lang="ja-JP" altLang="en-US" sz="2800" dirty="0" smtClean="0"/>
              <a:t>で割ったときの商と余りが</a:t>
            </a:r>
            <a:r>
              <a:rPr lang="en-US" altLang="ja-JP" sz="2800" dirty="0" smtClean="0"/>
              <a:t>q</a:t>
            </a:r>
            <a:r>
              <a:rPr lang="ja-JP" altLang="en-US" sz="2800" dirty="0" smtClean="0"/>
              <a:t>と</a:t>
            </a:r>
            <a:r>
              <a:rPr lang="en-US" altLang="ja-JP" sz="2800" dirty="0" smtClean="0"/>
              <a:t>r</a:t>
            </a:r>
            <a:r>
              <a:rPr lang="ja-JP" altLang="en-US" sz="2800" dirty="0" smtClean="0"/>
              <a:t>に格納された状態になる」ということをこの</a:t>
            </a:r>
            <a:r>
              <a:rPr lang="en-US" altLang="ja-JP" sz="2800" dirty="0" smtClean="0"/>
              <a:t>Hoare triple</a:t>
            </a:r>
            <a:r>
              <a:rPr lang="ja-JP" altLang="en-US" sz="2800" dirty="0" smtClean="0"/>
              <a:t>は表している。</a:t>
            </a:r>
            <a:endParaRPr kumimoji="1"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smtClean="0"/>
              <a:t>Assertion</a:t>
            </a:r>
            <a:r>
              <a:rPr lang="ja-JP" altLang="en-US" dirty="0" smtClean="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smtClean="0"/>
              <a:t>Assertion</a:t>
            </a:r>
            <a:r>
              <a:rPr kumimoji="1" lang="ja-JP" altLang="en-US" sz="2800" dirty="0" smtClean="0"/>
              <a:t>に何を書いてよいかを定める必要があるが、</a:t>
            </a:r>
            <a:r>
              <a:rPr lang="ja-JP" altLang="en-US" sz="2800" dirty="0" smtClean="0"/>
              <a:t>この講義では、</a:t>
            </a:r>
            <a:r>
              <a:rPr lang="en-US" altLang="ja-JP" sz="2800" dirty="0" smtClean="0"/>
              <a:t>true, false, </a:t>
            </a:r>
            <a:r>
              <a:rPr lang="ja-JP" altLang="en-US" sz="2800" dirty="0" smtClean="0"/>
              <a:t>変数、自然数、和</a:t>
            </a:r>
            <a:r>
              <a:rPr lang="en-US" altLang="ja-JP" sz="2800" dirty="0" smtClean="0"/>
              <a:t>(+), </a:t>
            </a:r>
            <a:r>
              <a:rPr lang="ja-JP" altLang="en-US" sz="2800" dirty="0" smtClean="0"/>
              <a:t>差</a:t>
            </a:r>
            <a:r>
              <a:rPr lang="en-US" altLang="ja-JP" sz="2800" dirty="0" smtClean="0"/>
              <a:t>(-), </a:t>
            </a:r>
            <a:r>
              <a:rPr lang="ja-JP" altLang="en-US" sz="2800" dirty="0" smtClean="0"/>
              <a:t>積</a:t>
            </a:r>
            <a:r>
              <a:rPr lang="en-US" altLang="ja-JP" sz="2800" dirty="0" smtClean="0"/>
              <a:t>(*)</a:t>
            </a:r>
            <a:r>
              <a:rPr lang="ja-JP" altLang="en-US" sz="2800" dirty="0" err="1" smtClean="0"/>
              <a:t>、</a:t>
            </a:r>
            <a:r>
              <a:rPr lang="ja-JP" altLang="en-US" sz="2800" dirty="0" smtClean="0"/>
              <a:t>大小比較</a:t>
            </a:r>
            <a:r>
              <a:rPr lang="en-US" altLang="ja-JP" sz="2800" dirty="0" smtClean="0"/>
              <a:t>(&lt;, &gt;, </a:t>
            </a:r>
            <a:r>
              <a:rPr lang="en-US" altLang="ja-JP" sz="2800" dirty="0" smtClean="0">
                <a:sym typeface="Symbol"/>
              </a:rPr>
              <a:t>, </a:t>
            </a:r>
            <a:r>
              <a:rPr lang="en-US" altLang="ja-JP" sz="2800" dirty="0" smtClean="0"/>
              <a:t>)</a:t>
            </a:r>
            <a:r>
              <a:rPr lang="ja-JP" altLang="en-US" sz="2800" dirty="0" err="1" smtClean="0"/>
              <a:t>、</a:t>
            </a:r>
            <a:r>
              <a:rPr lang="ja-JP" altLang="en-US" sz="2800" dirty="0" smtClean="0"/>
              <a:t>等しさの判定</a:t>
            </a:r>
            <a:r>
              <a:rPr lang="en-US" altLang="ja-JP" sz="2800" dirty="0" smtClean="0"/>
              <a:t>(=)</a:t>
            </a:r>
            <a:r>
              <a:rPr lang="ja-JP" altLang="en-US" sz="2800" dirty="0" err="1" smtClean="0"/>
              <a:t>、</a:t>
            </a:r>
            <a:r>
              <a:rPr lang="ja-JP" altLang="en-US" sz="2800" dirty="0" smtClean="0"/>
              <a:t>論理演算</a:t>
            </a:r>
            <a:r>
              <a:rPr lang="en-US" altLang="ja-JP" sz="2800" dirty="0" smtClean="0"/>
              <a:t>(</a:t>
            </a:r>
            <a:r>
              <a:rPr lang="en-US" altLang="ja-JP" sz="2800" dirty="0" smtClean="0">
                <a:sym typeface="Symbol"/>
              </a:rPr>
              <a:t>, , , </a:t>
            </a:r>
            <a:r>
              <a:rPr lang="en-US" altLang="ja-JP" sz="2800" dirty="0" smtClean="0"/>
              <a:t>)</a:t>
            </a:r>
            <a:r>
              <a:rPr lang="ja-JP" altLang="en-US" sz="2800" dirty="0" smtClean="0"/>
              <a:t>を使ってよいものとする。さらに</a:t>
            </a:r>
            <a:r>
              <a:rPr lang="ja-JP" altLang="en-US" sz="2800" dirty="0" smtClean="0">
                <a:sym typeface="Symbol"/>
              </a:rPr>
              <a:t></a:t>
            </a:r>
            <a:r>
              <a:rPr lang="en-US" altLang="ja-JP" sz="2800" dirty="0" smtClean="0">
                <a:sym typeface="Symbol"/>
              </a:rPr>
              <a:t>, </a:t>
            </a:r>
            <a:r>
              <a:rPr lang="ja-JP" altLang="en-US" sz="2800" dirty="0" smtClean="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smtClean="0"/>
              <a:t>（参考文献１） </a:t>
            </a:r>
            <a:r>
              <a:rPr kumimoji="1" lang="en-US" altLang="ja-JP" sz="2800" dirty="0" smtClean="0"/>
              <a:t>Glynn </a:t>
            </a:r>
            <a:r>
              <a:rPr kumimoji="1" lang="en-US" altLang="ja-JP" sz="2800" dirty="0" err="1" smtClean="0"/>
              <a:t>Winskel</a:t>
            </a:r>
            <a:r>
              <a:rPr kumimoji="1" lang="en-US" altLang="ja-JP" sz="2800" dirty="0" smtClean="0"/>
              <a:t>, “</a:t>
            </a:r>
            <a:r>
              <a:rPr kumimoji="1" lang="en-US" altLang="ja-JP" sz="2800" i="1" dirty="0" smtClean="0"/>
              <a:t>The formal semantics of programming languages</a:t>
            </a:r>
            <a:r>
              <a:rPr kumimoji="1" lang="en-US" altLang="ja-JP" sz="2800" dirty="0" smtClean="0"/>
              <a:t>”, 1993,</a:t>
            </a:r>
            <a:r>
              <a:rPr lang="ja-JP" altLang="en-US" sz="2800" dirty="0" smtClean="0"/>
              <a:t> </a:t>
            </a:r>
            <a:r>
              <a:rPr lang="en-US" altLang="ja-JP" sz="2800" dirty="0" smtClean="0"/>
              <a:t>MIT Press.  </a:t>
            </a:r>
            <a:r>
              <a:rPr lang="ja-JP" altLang="en-US" sz="2800" dirty="0" smtClean="0"/>
              <a:t>の第６章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smtClean="0"/>
              <a:t>（参考文献２）</a:t>
            </a:r>
            <a:r>
              <a:rPr lang="en-US" altLang="ja-JP" sz="2800" dirty="0" smtClean="0"/>
              <a:t> C. A. R. Hoare, "An axiomatic basis for computer programming“, </a:t>
            </a:r>
            <a:r>
              <a:rPr lang="en-US" altLang="ja-JP" sz="2800" i="1" dirty="0" smtClean="0"/>
              <a:t>Communications of the ACM</a:t>
            </a:r>
            <a:r>
              <a:rPr lang="en-US" altLang="ja-JP" sz="2800" dirty="0" smtClean="0"/>
              <a:t>, 12(10):576–580,583, 1969.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smtClean="0"/>
              <a:t>基本データ型は範囲は有限であり、それに対応した規則が場合によっては必要になる。</a:t>
            </a:r>
            <a:endParaRPr kumimoji="1" lang="ja-JP" altLang="en-US" sz="2800" dirty="0"/>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smtClean="0"/>
              <a:t>（例）０以上の整数の型の場合のオーバーフローの扱い</a:t>
            </a:r>
            <a:endParaRPr lang="en-US" altLang="ja-JP" sz="2800" dirty="0" smtClean="0"/>
          </a:p>
          <a:p>
            <a:r>
              <a:rPr kumimoji="1" lang="en-US" altLang="ja-JP" sz="2800" dirty="0" smtClean="0"/>
              <a:t> (1) </a:t>
            </a:r>
            <a:r>
              <a:rPr kumimoji="1" lang="ja-JP" altLang="en-US" sz="2800" dirty="0" smtClean="0"/>
              <a:t>オーバーフローが起こるとプログラムがエラーで終了する。</a:t>
            </a:r>
            <a:r>
              <a:rPr lang="en-US" altLang="ja-JP" sz="2800" dirty="0" smtClean="0"/>
              <a:t> </a:t>
            </a:r>
          </a:p>
          <a:p>
            <a:r>
              <a:rPr kumimoji="1" lang="en-US" altLang="ja-JP" sz="2800" dirty="0" smtClean="0"/>
              <a:t>           </a:t>
            </a:r>
            <a:r>
              <a:rPr kumimoji="1" lang="en-US" altLang="ja-JP" sz="2800" dirty="0" smtClean="0">
                <a:sym typeface="Symbol"/>
              </a:rPr>
              <a:t> x (x = max + 1)</a:t>
            </a:r>
            <a:endParaRPr kumimoji="1" lang="en-US" altLang="ja-JP" sz="2800" dirty="0" smtClean="0"/>
          </a:p>
          <a:p>
            <a:r>
              <a:rPr lang="en-US" altLang="ja-JP" sz="2800" dirty="0" smtClean="0"/>
              <a:t> (2) </a:t>
            </a:r>
            <a:r>
              <a:rPr lang="ja-JP" altLang="en-US" sz="2800" dirty="0" smtClean="0"/>
              <a:t>オーバーフローの場合は最大値を値とする。</a:t>
            </a:r>
            <a:endParaRPr lang="en-US" altLang="ja-JP" sz="2800" dirty="0" smtClean="0"/>
          </a:p>
          <a:p>
            <a:r>
              <a:rPr lang="en-US" altLang="ja-JP" sz="2800" dirty="0" smtClean="0"/>
              <a:t>          max + 1 = max</a:t>
            </a:r>
          </a:p>
          <a:p>
            <a:r>
              <a:rPr kumimoji="1" lang="en-US" altLang="ja-JP" sz="2800" dirty="0" smtClean="0"/>
              <a:t> (3) </a:t>
            </a:r>
            <a:r>
              <a:rPr kumimoji="1" lang="ja-JP" altLang="en-US" sz="2800" dirty="0" smtClean="0"/>
              <a:t>最大値での割り算の余りとする。</a:t>
            </a:r>
            <a:endParaRPr kumimoji="1" lang="en-US" altLang="ja-JP" sz="2800" dirty="0" smtClean="0"/>
          </a:p>
          <a:p>
            <a:r>
              <a:rPr lang="en-US" altLang="ja-JP" sz="2800" dirty="0" smtClean="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1097</TotalTime>
  <Words>2717</Words>
  <Application>Microsoft Office PowerPoint</Application>
  <PresentationFormat>画面に合わせる (4:3)</PresentationFormat>
  <Paragraphs>215</Paragraphs>
  <Slides>24</Slides>
  <Notes>1</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第７回 文の翻訳 C言語の文 表明 Hoare論理</vt:lpstr>
      <vt:lpstr>中間試験について</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不変表明（invariant）</vt:lpstr>
      <vt:lpstr>表明（assertion）</vt:lpstr>
      <vt:lpstr>表明の例</vt:lpstr>
      <vt:lpstr>表明の例（続き）</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参考</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500</cp:revision>
  <dcterms:created xsi:type="dcterms:W3CDTF">2009-10-18T07:18:34Z</dcterms:created>
  <dcterms:modified xsi:type="dcterms:W3CDTF">2009-11-23T03:52:17Z</dcterms:modified>
</cp:coreProperties>
</file>