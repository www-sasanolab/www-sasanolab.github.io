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61" r:id="rId3"/>
    <p:sldId id="262" r:id="rId4"/>
    <p:sldId id="263" r:id="rId5"/>
    <p:sldId id="264" r:id="rId6"/>
    <p:sldId id="257" r:id="rId7"/>
    <p:sldId id="266" r:id="rId8"/>
    <p:sldId id="265" r:id="rId9"/>
    <p:sldId id="267" r:id="rId10"/>
    <p:sldId id="268" r:id="rId11"/>
    <p:sldId id="269" r:id="rId12"/>
    <p:sldId id="270" r:id="rId13"/>
    <p:sldId id="271" r:id="rId14"/>
    <p:sldId id="272" r:id="rId15"/>
    <p:sldId id="273" r:id="rId16"/>
    <p:sldId id="274" r:id="rId17"/>
    <p:sldId id="275" r:id="rId18"/>
    <p:sldId id="276" r:id="rId19"/>
    <p:sldId id="277" r:id="rId20"/>
    <p:sldId id="279" r:id="rId21"/>
    <p:sldId id="280" r:id="rId22"/>
    <p:sldId id="281" r:id="rId23"/>
    <p:sldId id="278" r:id="rId24"/>
    <p:sldId id="282"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60"/>
  </p:normalViewPr>
  <p:slideViewPr>
    <p:cSldViewPr>
      <p:cViewPr varScale="1">
        <p:scale>
          <a:sx n="69" d="100"/>
          <a:sy n="69" d="100"/>
        </p:scale>
        <p:origin x="-1416"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CE8F3F-0A2D-40E0-A6E3-F946466A3D63}" type="datetimeFigureOut">
              <a:rPr kumimoji="1" lang="ja-JP" altLang="en-US" smtClean="0"/>
              <a:pPr/>
              <a:t>2009/9/26</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159E61-542A-470C-8378-EC17405A3C7E}"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3</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4</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5</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20</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21</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22</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2009/9/26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2009/9/26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2009/9/26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2009/9/26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2009/9/26</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2009/9/26</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2009/9/26</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2009/9/26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2009/9/26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2009/9/26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2009/9/26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2009/9/26</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quilting.about.com/"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57364"/>
            <a:ext cx="7815290" cy="1941517"/>
          </a:xfrm>
        </p:spPr>
        <p:txBody>
          <a:bodyPr>
            <a:normAutofit/>
          </a:bodyPr>
          <a:lstStyle/>
          <a:p>
            <a:r>
              <a:rPr lang="ja-JP" altLang="en-US" dirty="0" smtClean="0"/>
              <a:t>プログラミング言語論</a:t>
            </a:r>
            <a:r>
              <a:rPr lang="en-US" altLang="ja-JP" dirty="0" smtClean="0"/>
              <a:t/>
            </a:r>
            <a:br>
              <a:rPr lang="en-US" altLang="ja-JP" dirty="0" smtClean="0"/>
            </a:br>
            <a:r>
              <a:rPr lang="ja-JP" altLang="en-US" dirty="0" smtClean="0"/>
              <a:t>第２回</a:t>
            </a:r>
            <a:endParaRPr kumimoji="1" lang="ja-JP" altLang="en-US" dirty="0"/>
          </a:p>
        </p:txBody>
      </p:sp>
      <p:sp>
        <p:nvSpPr>
          <p:cNvPr id="4" name="テキスト ボックス 3"/>
          <p:cNvSpPr txBox="1"/>
          <p:nvPr/>
        </p:nvSpPr>
        <p:spPr>
          <a:xfrm>
            <a:off x="3714744" y="4929198"/>
            <a:ext cx="1875835" cy="646331"/>
          </a:xfrm>
          <a:prstGeom prst="rect">
            <a:avLst/>
          </a:prstGeom>
          <a:noFill/>
        </p:spPr>
        <p:txBody>
          <a:bodyPr wrap="none" rtlCol="0">
            <a:spAutoFit/>
          </a:bodyPr>
          <a:lstStyle/>
          <a:p>
            <a:r>
              <a:rPr lang="ja-JP" altLang="en-US" sz="3600" dirty="0" smtClean="0"/>
              <a:t>篠埜　功</a:t>
            </a:r>
            <a:endParaRPr kumimoji="1" lang="ja-JP" altLang="en-US" sz="3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機械語</a:t>
            </a:r>
            <a:r>
              <a:rPr lang="en-US" altLang="ja-JP" dirty="0" smtClean="0"/>
              <a:t>(machine language)</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kumimoji="1" lang="ja-JP" altLang="en-US" dirty="0" smtClean="0"/>
              <a:t>フォンノイマンマシン</a:t>
            </a:r>
            <a:r>
              <a:rPr kumimoji="1" lang="en-US" altLang="ja-JP" dirty="0" smtClean="0"/>
              <a:t>(von Neumann machine)</a:t>
            </a:r>
            <a:endParaRPr lang="en-US" altLang="ja-JP" dirty="0" smtClean="0"/>
          </a:p>
          <a:p>
            <a:pPr lvl="1"/>
            <a:r>
              <a:rPr kumimoji="1" lang="en-US" altLang="ja-JP" dirty="0" smtClean="0"/>
              <a:t>1946</a:t>
            </a:r>
            <a:r>
              <a:rPr kumimoji="1" lang="ja-JP" altLang="en-US" dirty="0" smtClean="0"/>
              <a:t>年にプリンストン高等研究所で</a:t>
            </a:r>
            <a:r>
              <a:rPr lang="ja-JP" altLang="en-US" dirty="0" smtClean="0"/>
              <a:t>設計。</a:t>
            </a:r>
            <a:endParaRPr lang="en-US" altLang="ja-JP" dirty="0" smtClean="0"/>
          </a:p>
          <a:p>
            <a:pPr lvl="1"/>
            <a:r>
              <a:rPr kumimoji="1" lang="en-US" altLang="ja-JP" dirty="0" smtClean="0"/>
              <a:t>Turing machine</a:t>
            </a:r>
            <a:r>
              <a:rPr kumimoji="1" lang="ja-JP" altLang="en-US" dirty="0" smtClean="0"/>
              <a:t>をランダムアクセスマシンにし、入出力装置を追加したものに相当。</a:t>
            </a:r>
            <a:endParaRPr kumimoji="1" lang="en-US" altLang="ja-JP" dirty="0" smtClean="0"/>
          </a:p>
          <a:p>
            <a:r>
              <a:rPr lang="ja-JP" altLang="en-US" dirty="0" smtClean="0"/>
              <a:t>機械語</a:t>
            </a:r>
            <a:r>
              <a:rPr lang="en-US" altLang="ja-JP" dirty="0" smtClean="0"/>
              <a:t>(machine language)</a:t>
            </a:r>
            <a:r>
              <a:rPr lang="ja-JP" altLang="en-US" dirty="0" smtClean="0"/>
              <a:t>はもっとも低レベルの言語。コンピュータが直接解釈実行する。機械語は最初、コード</a:t>
            </a:r>
            <a:r>
              <a:rPr lang="en-US" altLang="ja-JP" dirty="0" smtClean="0"/>
              <a:t>(code)</a:t>
            </a:r>
            <a:r>
              <a:rPr lang="ja-JP" altLang="en-US" dirty="0" smtClean="0"/>
              <a:t>と呼ばれた。（今日では高級言語のプログラムのこともコードと言う。）</a:t>
            </a:r>
            <a:endParaRPr kumimoji="1" lang="en-US" altLang="ja-JP" dirty="0" smtClean="0"/>
          </a:p>
          <a:p>
            <a:pPr>
              <a:buNone/>
            </a:pP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機械語</a:t>
            </a:r>
            <a:r>
              <a:rPr lang="en-US" altLang="ja-JP" sz="3900" dirty="0" smtClean="0"/>
              <a:t>(machine language)</a:t>
            </a:r>
            <a:endParaRPr lang="ja-JP" altLang="en-US" sz="3900" dirty="0" smtClean="0"/>
          </a:p>
        </p:txBody>
      </p:sp>
      <p:sp>
        <p:nvSpPr>
          <p:cNvPr id="28675" name="テキスト ボックス 11"/>
          <p:cNvSpPr txBox="1">
            <a:spLocks noChangeArrowheads="1"/>
          </p:cNvSpPr>
          <p:nvPr/>
        </p:nvSpPr>
        <p:spPr bwMode="auto">
          <a:xfrm>
            <a:off x="500034" y="1164134"/>
            <a:ext cx="7929562" cy="5693866"/>
          </a:xfrm>
          <a:prstGeom prst="rect">
            <a:avLst/>
          </a:prstGeom>
          <a:noFill/>
          <a:ln w="9525">
            <a:noFill/>
            <a:miter lim="800000"/>
            <a:headEnd/>
            <a:tailEnd/>
          </a:ln>
        </p:spPr>
        <p:txBody>
          <a:bodyPr>
            <a:spAutoFit/>
          </a:bodyPr>
          <a:lstStyle/>
          <a:p>
            <a:r>
              <a:rPr lang="ja-JP" altLang="en-US" sz="2800" dirty="0" smtClean="0"/>
              <a:t>数字の列であらわされる。</a:t>
            </a:r>
            <a:endParaRPr lang="en-US" altLang="ja-JP" sz="2800" dirty="0" smtClean="0"/>
          </a:p>
          <a:p>
            <a:r>
              <a:rPr lang="en-US" altLang="ja-JP" sz="2800" dirty="0" smtClean="0"/>
              <a:t>[1946</a:t>
            </a:r>
            <a:r>
              <a:rPr lang="ja-JP" altLang="en-US" sz="2800" dirty="0" smtClean="0"/>
              <a:t>年に設計された</a:t>
            </a:r>
            <a:r>
              <a:rPr lang="en-US" altLang="ja-JP" sz="2800" dirty="0" smtClean="0"/>
              <a:t>von Neumann machine</a:t>
            </a:r>
            <a:r>
              <a:rPr lang="ja-JP" altLang="en-US" sz="2800" dirty="0" smtClean="0"/>
              <a:t>の機械語の断片例</a:t>
            </a:r>
            <a:r>
              <a:rPr lang="en-US" altLang="ja-JP" sz="2800" dirty="0" smtClean="0"/>
              <a:t>]</a:t>
            </a:r>
          </a:p>
          <a:p>
            <a:r>
              <a:rPr lang="en-US" altLang="ja-JP" sz="2800" dirty="0" smtClean="0"/>
              <a:t>00000010101111001010</a:t>
            </a:r>
          </a:p>
          <a:p>
            <a:r>
              <a:rPr lang="en-US" altLang="ja-JP" sz="2800" dirty="0" smtClean="0"/>
              <a:t>00000010111111001000</a:t>
            </a:r>
          </a:p>
          <a:p>
            <a:r>
              <a:rPr lang="en-US" altLang="ja-JP" sz="2800" dirty="0" smtClean="0"/>
              <a:t>00000011001110101000</a:t>
            </a:r>
          </a:p>
          <a:p>
            <a:r>
              <a:rPr lang="ja-JP" altLang="en-US" sz="2800" dirty="0" smtClean="0"/>
              <a:t>（</a:t>
            </a:r>
            <a:r>
              <a:rPr lang="en-US" altLang="ja-JP" sz="2800" dirty="0" smtClean="0"/>
              <a:t>10</a:t>
            </a:r>
            <a:r>
              <a:rPr lang="ja-JP" altLang="en-US" sz="2800" dirty="0" smtClean="0"/>
              <a:t>番地と</a:t>
            </a:r>
            <a:r>
              <a:rPr lang="en-US" altLang="ja-JP" sz="2800" dirty="0" smtClean="0"/>
              <a:t>11</a:t>
            </a:r>
            <a:r>
              <a:rPr lang="ja-JP" altLang="en-US" sz="2800" dirty="0" smtClean="0"/>
              <a:t>番地の値を足し、その結果を</a:t>
            </a:r>
            <a:r>
              <a:rPr lang="en-US" altLang="ja-JP" sz="2800" dirty="0" smtClean="0"/>
              <a:t>12</a:t>
            </a:r>
            <a:r>
              <a:rPr lang="ja-JP" altLang="en-US" sz="2800" dirty="0" smtClean="0"/>
              <a:t>番地に</a:t>
            </a:r>
            <a:endParaRPr lang="en-US" altLang="ja-JP" sz="2800" dirty="0" smtClean="0"/>
          </a:p>
          <a:p>
            <a:r>
              <a:rPr lang="ja-JP" altLang="en-US" sz="2800" dirty="0" smtClean="0"/>
              <a:t>保存する）</a:t>
            </a:r>
            <a:endParaRPr lang="en-US" altLang="ja-JP" sz="2800" dirty="0" smtClean="0"/>
          </a:p>
          <a:p>
            <a:r>
              <a:rPr lang="ja-JP" altLang="en-US" sz="2800" dirty="0" smtClean="0"/>
              <a:t>現代のコンピュータも原理的には</a:t>
            </a:r>
            <a:r>
              <a:rPr lang="en-US" altLang="ja-JP" sz="2800" dirty="0" smtClean="0"/>
              <a:t>von Neumann</a:t>
            </a:r>
            <a:r>
              <a:rPr lang="ja-JP" altLang="en-US" sz="2800" dirty="0" smtClean="0"/>
              <a:t> </a:t>
            </a:r>
            <a:r>
              <a:rPr lang="en-US" altLang="ja-JP" sz="2800" dirty="0" smtClean="0"/>
              <a:t>machine</a:t>
            </a:r>
            <a:r>
              <a:rPr lang="ja-JP" altLang="en-US" sz="2800" dirty="0" smtClean="0"/>
              <a:t>と同じであり、</a:t>
            </a:r>
            <a:r>
              <a:rPr lang="en-US" altLang="ja-JP" sz="2800" dirty="0" smtClean="0"/>
              <a:t>”von Neumann architecture”</a:t>
            </a:r>
            <a:r>
              <a:rPr lang="ja-JP" altLang="en-US" sz="2800" dirty="0" smtClean="0"/>
              <a:t>のコンピュータと言われる。</a:t>
            </a:r>
            <a:endParaRPr lang="en-US" altLang="ja-JP" sz="2800" dirty="0" smtClean="0"/>
          </a:p>
          <a:p>
            <a:r>
              <a:rPr lang="ja-JP" altLang="en-US" sz="2800" dirty="0" smtClean="0"/>
              <a:t>アセンブリ言語</a:t>
            </a:r>
            <a:r>
              <a:rPr lang="en-US" altLang="ja-JP" sz="2800" dirty="0" smtClean="0"/>
              <a:t>(assembly language)</a:t>
            </a:r>
            <a:r>
              <a:rPr lang="ja-JP" altLang="en-US" sz="2800" dirty="0" smtClean="0"/>
              <a:t>は機械語の命令を記号で表す。</a:t>
            </a:r>
            <a:endParaRPr lang="ja-JP"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プログラミング言語</a:t>
            </a:r>
          </a:p>
        </p:txBody>
      </p:sp>
      <p:sp>
        <p:nvSpPr>
          <p:cNvPr id="4" name="テキスト ボックス 3"/>
          <p:cNvSpPr txBox="1"/>
          <p:nvPr/>
        </p:nvSpPr>
        <p:spPr>
          <a:xfrm>
            <a:off x="714349" y="1500174"/>
            <a:ext cx="7786742" cy="954107"/>
          </a:xfrm>
          <a:prstGeom prst="rect">
            <a:avLst/>
          </a:prstGeom>
          <a:noFill/>
        </p:spPr>
        <p:txBody>
          <a:bodyPr wrap="square" rtlCol="0">
            <a:spAutoFit/>
          </a:bodyPr>
          <a:lstStyle/>
          <a:p>
            <a:r>
              <a:rPr lang="ja-JP" altLang="en-US" sz="2800" dirty="0" smtClean="0"/>
              <a:t>プログラミング言語は特定の機械に依存しないことが（通常は）望まれる（高水準言語）。</a:t>
            </a:r>
            <a:endParaRPr lang="en-US" altLang="ja-JP" sz="2800" dirty="0" smtClean="0"/>
          </a:p>
        </p:txBody>
      </p:sp>
      <p:sp>
        <p:nvSpPr>
          <p:cNvPr id="5" name="テキスト ボックス 3"/>
          <p:cNvSpPr txBox="1">
            <a:spLocks noChangeArrowheads="1"/>
          </p:cNvSpPr>
          <p:nvPr/>
        </p:nvSpPr>
        <p:spPr bwMode="auto">
          <a:xfrm>
            <a:off x="928662" y="2928934"/>
            <a:ext cx="7000875" cy="3416320"/>
          </a:xfrm>
          <a:prstGeom prst="rect">
            <a:avLst/>
          </a:prstGeom>
          <a:noFill/>
          <a:ln w="9525">
            <a:noFill/>
            <a:miter lim="800000"/>
            <a:headEnd/>
            <a:tailEnd/>
          </a:ln>
        </p:spPr>
        <p:txBody>
          <a:bodyPr>
            <a:spAutoFit/>
          </a:bodyPr>
          <a:lstStyle/>
          <a:p>
            <a:r>
              <a:rPr lang="ja-JP" altLang="en-US" sz="2400" dirty="0"/>
              <a:t>プログラミング言語が持つべき</a:t>
            </a:r>
            <a:r>
              <a:rPr lang="ja-JP" altLang="en-US" sz="2400" dirty="0" smtClean="0"/>
              <a:t>性質</a:t>
            </a:r>
            <a:endParaRPr lang="en-US" altLang="ja-JP" sz="2400" dirty="0"/>
          </a:p>
          <a:p>
            <a:pPr>
              <a:buFont typeface="Wingdings" pitchFamily="2" charset="2"/>
              <a:buChar char="Ø"/>
            </a:pPr>
            <a:r>
              <a:rPr lang="ja-JP" altLang="en-US" sz="2400" dirty="0"/>
              <a:t> 高水準の記述能力</a:t>
            </a:r>
            <a:endParaRPr lang="en-US" altLang="ja-JP" sz="2400" dirty="0"/>
          </a:p>
          <a:p>
            <a:pPr lvl="1">
              <a:buFont typeface="Arial" charset="0"/>
              <a:buChar char="•"/>
            </a:pPr>
            <a:r>
              <a:rPr lang="ja-JP" altLang="en-US" sz="2400" dirty="0"/>
              <a:t> プログラムの論理構造を簡潔に記述</a:t>
            </a:r>
            <a:endParaRPr lang="en-US" altLang="ja-JP" sz="2400" dirty="0"/>
          </a:p>
          <a:p>
            <a:pPr>
              <a:buFont typeface="Wingdings" pitchFamily="2" charset="2"/>
              <a:buChar char="Ø"/>
            </a:pPr>
            <a:r>
              <a:rPr lang="ja-JP" altLang="en-US" sz="2400" dirty="0"/>
              <a:t> 厳密な意味の定義</a:t>
            </a:r>
            <a:endParaRPr lang="en-US" altLang="ja-JP" sz="2400" dirty="0"/>
          </a:p>
          <a:p>
            <a:pPr lvl="1">
              <a:buFont typeface="Arial" charset="0"/>
              <a:buChar char="•"/>
            </a:pPr>
            <a:r>
              <a:rPr lang="ja-JP" altLang="en-US" sz="2400" dirty="0"/>
              <a:t> その言語で記述可能なすべてのプログラムの意味（動作）を完全に規定</a:t>
            </a:r>
            <a:endParaRPr lang="en-US" altLang="ja-JP" sz="2400" dirty="0"/>
          </a:p>
          <a:p>
            <a:pPr>
              <a:buFont typeface="Wingdings" pitchFamily="2" charset="2"/>
              <a:buChar char="Ø"/>
            </a:pPr>
            <a:r>
              <a:rPr lang="ja-JP" altLang="en-US" sz="2400" dirty="0"/>
              <a:t> 効率的実装</a:t>
            </a:r>
            <a:endParaRPr lang="en-US" altLang="ja-JP" sz="2400" dirty="0"/>
          </a:p>
          <a:p>
            <a:pPr lvl="1">
              <a:buFont typeface="Arial" charset="0"/>
              <a:buChar char="•"/>
            </a:pPr>
            <a:r>
              <a:rPr lang="ja-JP" altLang="en-US" sz="2400" dirty="0"/>
              <a:t> その言語で記述可能なすべてのプログラムを、効率のよい機械語に変換</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高水準言語の利点</a:t>
            </a:r>
          </a:p>
        </p:txBody>
      </p:sp>
      <p:sp>
        <p:nvSpPr>
          <p:cNvPr id="4" name="テキスト ボックス 3"/>
          <p:cNvSpPr txBox="1"/>
          <p:nvPr/>
        </p:nvSpPr>
        <p:spPr>
          <a:xfrm>
            <a:off x="785786" y="1142984"/>
            <a:ext cx="7786742" cy="954107"/>
          </a:xfrm>
          <a:prstGeom prst="rect">
            <a:avLst/>
          </a:prstGeom>
          <a:noFill/>
        </p:spPr>
        <p:txBody>
          <a:bodyPr wrap="square" rtlCol="0">
            <a:spAutoFit/>
          </a:bodyPr>
          <a:lstStyle/>
          <a:p>
            <a:r>
              <a:rPr lang="ja-JP" altLang="en-US" sz="2800" dirty="0" smtClean="0"/>
              <a:t>機械語、アセンブリ言語はほとんどすべての領域において高水準言語にとってかわられた。</a:t>
            </a:r>
            <a:endParaRPr lang="en-US" altLang="ja-JP" sz="2800" dirty="0" smtClean="0"/>
          </a:p>
        </p:txBody>
      </p:sp>
      <p:sp>
        <p:nvSpPr>
          <p:cNvPr id="6" name="テキスト ボックス 5"/>
          <p:cNvSpPr txBox="1"/>
          <p:nvPr/>
        </p:nvSpPr>
        <p:spPr>
          <a:xfrm>
            <a:off x="1428728" y="2214554"/>
            <a:ext cx="6479659" cy="1569660"/>
          </a:xfrm>
          <a:prstGeom prst="rect">
            <a:avLst/>
          </a:prstGeom>
          <a:noFill/>
        </p:spPr>
        <p:txBody>
          <a:bodyPr wrap="none" rtlCol="0">
            <a:spAutoFit/>
          </a:bodyPr>
          <a:lstStyle/>
          <a:p>
            <a:pPr>
              <a:buFont typeface="Arial" pitchFamily="34" charset="0"/>
              <a:buChar char="•"/>
            </a:pPr>
            <a:r>
              <a:rPr kumimoji="1" lang="ja-JP" altLang="en-US" sz="2400" dirty="0" smtClean="0"/>
              <a:t>  人間に</a:t>
            </a:r>
            <a:r>
              <a:rPr lang="ja-JP" altLang="en-US" sz="2400" dirty="0" smtClean="0"/>
              <a:t>とって読みやすい</a:t>
            </a:r>
            <a:endParaRPr lang="en-US" altLang="ja-JP" sz="2400" dirty="0" smtClean="0"/>
          </a:p>
          <a:p>
            <a:pPr>
              <a:buFont typeface="Arial" pitchFamily="34" charset="0"/>
              <a:buChar char="•"/>
            </a:pPr>
            <a:r>
              <a:rPr lang="ja-JP" altLang="en-US" sz="2400" dirty="0" smtClean="0"/>
              <a:t>  </a:t>
            </a:r>
            <a:r>
              <a:rPr kumimoji="1" lang="ja-JP" altLang="en-US" sz="2400" dirty="0" smtClean="0"/>
              <a:t>特定の機械に依存しない </a:t>
            </a:r>
            <a:r>
              <a:rPr kumimoji="1" lang="en-US" altLang="ja-JP" sz="2400" dirty="0" smtClean="0"/>
              <a:t>(portable)</a:t>
            </a:r>
          </a:p>
          <a:p>
            <a:pPr>
              <a:buFont typeface="Arial" pitchFamily="34" charset="0"/>
              <a:buChar char="•"/>
            </a:pPr>
            <a:r>
              <a:rPr lang="en-US" altLang="ja-JP" sz="2400" dirty="0" smtClean="0"/>
              <a:t>  </a:t>
            </a:r>
            <a:r>
              <a:rPr lang="ja-JP" altLang="en-US" sz="2400" dirty="0" smtClean="0"/>
              <a:t>ライブラリが使える</a:t>
            </a:r>
            <a:endParaRPr lang="en-US" altLang="ja-JP" sz="2400" dirty="0" smtClean="0"/>
          </a:p>
          <a:p>
            <a:pPr>
              <a:buFont typeface="Arial" pitchFamily="34" charset="0"/>
              <a:buChar char="•"/>
            </a:pPr>
            <a:r>
              <a:rPr lang="en-US" altLang="ja-JP" sz="2400" dirty="0" smtClean="0"/>
              <a:t>  </a:t>
            </a:r>
            <a:r>
              <a:rPr lang="ja-JP" altLang="en-US" sz="2400" dirty="0" smtClean="0"/>
              <a:t>構文チェック、型チェックなどの検査機構がある</a:t>
            </a:r>
            <a:endParaRPr lang="en-US" altLang="ja-JP" sz="2400" dirty="0" smtClean="0"/>
          </a:p>
        </p:txBody>
      </p:sp>
      <p:sp>
        <p:nvSpPr>
          <p:cNvPr id="7" name="テキスト ボックス 6"/>
          <p:cNvSpPr txBox="1"/>
          <p:nvPr/>
        </p:nvSpPr>
        <p:spPr>
          <a:xfrm>
            <a:off x="571472" y="3714752"/>
            <a:ext cx="8072494" cy="523220"/>
          </a:xfrm>
          <a:prstGeom prst="rect">
            <a:avLst/>
          </a:prstGeom>
          <a:noFill/>
        </p:spPr>
        <p:txBody>
          <a:bodyPr wrap="square" rtlCol="0">
            <a:spAutoFit/>
          </a:bodyPr>
          <a:lstStyle/>
          <a:p>
            <a:r>
              <a:rPr lang="ja-JP" altLang="en-US" sz="2800" dirty="0" smtClean="0"/>
              <a:t>例</a:t>
            </a:r>
            <a:r>
              <a:rPr lang="en-US" altLang="ja-JP" sz="2800" dirty="0" smtClean="0"/>
              <a:t>: C</a:t>
            </a:r>
            <a:r>
              <a:rPr lang="ja-JP" altLang="en-US" sz="2800" dirty="0" smtClean="0"/>
              <a:t>言語</a:t>
            </a:r>
            <a:endParaRPr kumimoji="1" lang="ja-JP" altLang="en-US" sz="2800" dirty="0"/>
          </a:p>
        </p:txBody>
      </p:sp>
      <p:sp>
        <p:nvSpPr>
          <p:cNvPr id="8" name="テキスト ボックス 7"/>
          <p:cNvSpPr txBox="1"/>
          <p:nvPr/>
        </p:nvSpPr>
        <p:spPr>
          <a:xfrm>
            <a:off x="1214414" y="4286256"/>
            <a:ext cx="7286676" cy="2308324"/>
          </a:xfrm>
          <a:prstGeom prst="rect">
            <a:avLst/>
          </a:prstGeom>
          <a:noFill/>
        </p:spPr>
        <p:txBody>
          <a:bodyPr wrap="square" rtlCol="0">
            <a:spAutoFit/>
          </a:bodyPr>
          <a:lstStyle/>
          <a:p>
            <a:pPr lvl="0">
              <a:buFont typeface="Arial" pitchFamily="34" charset="0"/>
              <a:buChar char="•"/>
            </a:pPr>
            <a:r>
              <a:rPr lang="en-US" altLang="ja-JP" sz="2400" dirty="0" smtClean="0">
                <a:solidFill>
                  <a:prstClr val="black"/>
                </a:solidFill>
              </a:rPr>
              <a:t> 1973</a:t>
            </a:r>
            <a:r>
              <a:rPr lang="ja-JP" altLang="en-US" sz="2400" dirty="0" smtClean="0">
                <a:solidFill>
                  <a:prstClr val="black"/>
                </a:solidFill>
              </a:rPr>
              <a:t>年に開発</a:t>
            </a:r>
            <a:r>
              <a:rPr lang="en-US" altLang="ja-JP" sz="2400" dirty="0" smtClean="0">
                <a:solidFill>
                  <a:prstClr val="black"/>
                </a:solidFill>
              </a:rPr>
              <a:t>, UNIX</a:t>
            </a:r>
            <a:r>
              <a:rPr lang="ja-JP" altLang="en-US" sz="2400" dirty="0" smtClean="0">
                <a:solidFill>
                  <a:prstClr val="black"/>
                </a:solidFill>
              </a:rPr>
              <a:t>の</a:t>
            </a:r>
            <a:r>
              <a:rPr lang="en-US" altLang="ja-JP" sz="2400" dirty="0" smtClean="0">
                <a:solidFill>
                  <a:prstClr val="black"/>
                </a:solidFill>
              </a:rPr>
              <a:t>kernel</a:t>
            </a:r>
            <a:r>
              <a:rPr lang="ja-JP" altLang="en-US" sz="2400" dirty="0" smtClean="0">
                <a:solidFill>
                  <a:prstClr val="black"/>
                </a:solidFill>
              </a:rPr>
              <a:t>を</a:t>
            </a:r>
            <a:r>
              <a:rPr lang="en-US" altLang="ja-JP" sz="2400" dirty="0" smtClean="0">
                <a:solidFill>
                  <a:prstClr val="black"/>
                </a:solidFill>
              </a:rPr>
              <a:t>C</a:t>
            </a:r>
            <a:r>
              <a:rPr lang="ja-JP" altLang="en-US" sz="2400" dirty="0" smtClean="0">
                <a:solidFill>
                  <a:prstClr val="black"/>
                </a:solidFill>
              </a:rPr>
              <a:t>で書き換えた</a:t>
            </a:r>
            <a:endParaRPr lang="en-US" altLang="ja-JP" sz="2400" dirty="0" smtClean="0">
              <a:solidFill>
                <a:prstClr val="black"/>
              </a:solidFill>
            </a:endParaRPr>
          </a:p>
          <a:p>
            <a:pPr lvl="0">
              <a:buFont typeface="Arial" pitchFamily="34" charset="0"/>
              <a:buChar char="•"/>
            </a:pPr>
            <a:r>
              <a:rPr lang="ja-JP" altLang="en-US" sz="2400" dirty="0" smtClean="0">
                <a:solidFill>
                  <a:prstClr val="black"/>
                </a:solidFill>
              </a:rPr>
              <a:t>　アセンブリで書かれていたころより修正や、新しいデバイスの追加に対する拡張などがはるかに容易になった</a:t>
            </a:r>
            <a:endParaRPr lang="en-US" altLang="ja-JP" sz="2400" dirty="0" smtClean="0">
              <a:solidFill>
                <a:prstClr val="black"/>
              </a:solidFill>
            </a:endParaRPr>
          </a:p>
          <a:p>
            <a:pPr lvl="0">
              <a:buFont typeface="Arial" pitchFamily="34" charset="0"/>
              <a:buChar char="•"/>
            </a:pPr>
            <a:r>
              <a:rPr lang="en-US" altLang="ja-JP" sz="2400" dirty="0" smtClean="0">
                <a:solidFill>
                  <a:prstClr val="black"/>
                </a:solidFill>
              </a:rPr>
              <a:t>  </a:t>
            </a:r>
            <a:r>
              <a:rPr lang="ja-JP" altLang="en-US" sz="2400" dirty="0" smtClean="0">
                <a:solidFill>
                  <a:prstClr val="black"/>
                </a:solidFill>
              </a:rPr>
              <a:t>異なるハードウェア</a:t>
            </a:r>
            <a:r>
              <a:rPr lang="en-US" altLang="ja-JP" sz="2400" dirty="0" smtClean="0">
                <a:solidFill>
                  <a:prstClr val="black"/>
                </a:solidFill>
              </a:rPr>
              <a:t>(PDP-11</a:t>
            </a:r>
            <a:r>
              <a:rPr lang="ja-JP" altLang="en-US" sz="2400" dirty="0" smtClean="0">
                <a:solidFill>
                  <a:prstClr val="black"/>
                </a:solidFill>
              </a:rPr>
              <a:t>以外</a:t>
            </a:r>
            <a:r>
              <a:rPr lang="en-US" altLang="ja-JP" sz="2400" dirty="0" smtClean="0">
                <a:solidFill>
                  <a:prstClr val="black"/>
                </a:solidFill>
              </a:rPr>
              <a:t>)</a:t>
            </a:r>
            <a:r>
              <a:rPr lang="ja-JP" altLang="en-US" sz="2400" dirty="0" smtClean="0">
                <a:solidFill>
                  <a:prstClr val="black"/>
                </a:solidFill>
              </a:rPr>
              <a:t>に対する</a:t>
            </a:r>
            <a:r>
              <a:rPr lang="en-US" altLang="ja-JP" sz="2400" dirty="0" smtClean="0">
                <a:solidFill>
                  <a:prstClr val="black"/>
                </a:solidFill>
              </a:rPr>
              <a:t>UNIX OS</a:t>
            </a:r>
            <a:r>
              <a:rPr lang="ja-JP" altLang="en-US" sz="2400" dirty="0" smtClean="0">
                <a:solidFill>
                  <a:prstClr val="black"/>
                </a:solidFill>
              </a:rPr>
              <a:t>も、コードの大部分を変えることなく作れた。</a:t>
            </a:r>
            <a:endParaRPr kumimoji="1" lang="ja-JP" altLang="en-US" sz="16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プログラミング言語の分類</a:t>
            </a:r>
            <a:endParaRPr kumimoji="1" lang="ja-JP" altLang="en-US" dirty="0"/>
          </a:p>
        </p:txBody>
      </p:sp>
      <p:sp>
        <p:nvSpPr>
          <p:cNvPr id="3" name="コンテンツ プレースホルダ 2"/>
          <p:cNvSpPr>
            <a:spLocks noGrp="1"/>
          </p:cNvSpPr>
          <p:nvPr>
            <p:ph idx="1"/>
          </p:nvPr>
        </p:nvSpPr>
        <p:spPr>
          <a:xfrm>
            <a:off x="500034" y="3000372"/>
            <a:ext cx="8143932" cy="3500462"/>
          </a:xfrm>
        </p:spPr>
        <p:txBody>
          <a:bodyPr>
            <a:noAutofit/>
          </a:bodyPr>
          <a:lstStyle/>
          <a:p>
            <a:r>
              <a:rPr lang="ja-JP" altLang="en-US" sz="2800" dirty="0" smtClean="0"/>
              <a:t>命令型言語</a:t>
            </a:r>
            <a:r>
              <a:rPr lang="en-US" altLang="ja-JP" sz="2800" dirty="0" smtClean="0"/>
              <a:t>(imperative language)</a:t>
            </a:r>
            <a:r>
              <a:rPr lang="ja-JP" altLang="en-US" sz="2800" dirty="0" smtClean="0"/>
              <a:t>あるいは手続き型言語</a:t>
            </a:r>
            <a:r>
              <a:rPr lang="en-US" altLang="ja-JP" sz="2800" dirty="0" smtClean="0"/>
              <a:t>(procedural language)</a:t>
            </a:r>
          </a:p>
          <a:p>
            <a:r>
              <a:rPr lang="ja-JP" altLang="en-US" sz="2800" dirty="0" smtClean="0"/>
              <a:t>関数型言語</a:t>
            </a:r>
            <a:r>
              <a:rPr lang="en-US" altLang="ja-JP" sz="2800" dirty="0" smtClean="0"/>
              <a:t>(functional language)</a:t>
            </a:r>
          </a:p>
          <a:p>
            <a:pPr marL="342900" lvl="1" indent="-342900">
              <a:buFont typeface="Arial" pitchFamily="34" charset="0"/>
              <a:buChar char="•"/>
            </a:pPr>
            <a:r>
              <a:rPr lang="ja-JP" altLang="en-US" dirty="0" smtClean="0"/>
              <a:t>オブジェクト指向言語</a:t>
            </a:r>
            <a:r>
              <a:rPr lang="en-US" altLang="ja-JP" dirty="0" smtClean="0"/>
              <a:t>(object oriented language)</a:t>
            </a:r>
          </a:p>
          <a:p>
            <a:r>
              <a:rPr lang="ja-JP" altLang="en-US" sz="2800" dirty="0" smtClean="0"/>
              <a:t>論理型言語</a:t>
            </a:r>
            <a:r>
              <a:rPr lang="en-US" altLang="ja-JP" sz="2800" dirty="0" smtClean="0"/>
              <a:t>(logic programming language)</a:t>
            </a:r>
          </a:p>
        </p:txBody>
      </p:sp>
      <p:sp>
        <p:nvSpPr>
          <p:cNvPr id="4" name="正方形/長方形 3"/>
          <p:cNvSpPr/>
          <p:nvPr/>
        </p:nvSpPr>
        <p:spPr>
          <a:xfrm>
            <a:off x="571472" y="1571612"/>
            <a:ext cx="8001056" cy="954107"/>
          </a:xfrm>
          <a:prstGeom prst="rect">
            <a:avLst/>
          </a:prstGeom>
        </p:spPr>
        <p:txBody>
          <a:bodyPr wrap="square">
            <a:spAutoFit/>
          </a:bodyPr>
          <a:lstStyle/>
          <a:p>
            <a:r>
              <a:rPr lang="ja-JP" altLang="en-US" sz="2800" dirty="0" smtClean="0"/>
              <a:t>プログラミング言語は計算モデルにより以下のように分類される。</a:t>
            </a:r>
            <a:endParaRPr lang="en-US" altLang="ja-JP" sz="28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言語の実装</a:t>
            </a:r>
            <a:endParaRPr kumimoji="1" lang="ja-JP" altLang="en-US" dirty="0"/>
          </a:p>
        </p:txBody>
      </p:sp>
      <p:sp>
        <p:nvSpPr>
          <p:cNvPr id="3" name="コンテンツ プレースホルダ 2"/>
          <p:cNvSpPr>
            <a:spLocks noGrp="1"/>
          </p:cNvSpPr>
          <p:nvPr>
            <p:ph idx="1"/>
          </p:nvPr>
        </p:nvSpPr>
        <p:spPr>
          <a:xfrm>
            <a:off x="642910" y="2571744"/>
            <a:ext cx="8143932" cy="3500462"/>
          </a:xfrm>
        </p:spPr>
        <p:txBody>
          <a:bodyPr>
            <a:noAutofit/>
          </a:bodyPr>
          <a:lstStyle/>
          <a:p>
            <a:r>
              <a:rPr lang="ja-JP" altLang="en-US" sz="2800" dirty="0" smtClean="0"/>
              <a:t>コンパイラ</a:t>
            </a:r>
            <a:r>
              <a:rPr lang="en-US" altLang="ja-JP" sz="2800" dirty="0" smtClean="0"/>
              <a:t>(compiler)</a:t>
            </a:r>
          </a:p>
          <a:p>
            <a:pPr lvl="1"/>
            <a:r>
              <a:rPr lang="ja-JP" altLang="en-US" sz="2400" dirty="0" smtClean="0"/>
              <a:t>ある言語のプログラムを別の言語のプログラムに翻訳する</a:t>
            </a:r>
            <a:r>
              <a:rPr lang="en-US" altLang="ja-JP" sz="2400" dirty="0" smtClean="0"/>
              <a:t>(translate)</a:t>
            </a:r>
            <a:r>
              <a:rPr lang="ja-JP" altLang="en-US" sz="2400" dirty="0" smtClean="0"/>
              <a:t>ソフトウェア。</a:t>
            </a:r>
            <a:endParaRPr lang="en-US" altLang="ja-JP" sz="2400" dirty="0" smtClean="0"/>
          </a:p>
          <a:p>
            <a:r>
              <a:rPr lang="ja-JP" altLang="en-US" sz="2800" dirty="0" smtClean="0"/>
              <a:t>インタープリタ</a:t>
            </a:r>
            <a:r>
              <a:rPr lang="en-US" altLang="ja-JP" sz="2800" dirty="0" smtClean="0"/>
              <a:t>(interpreter)</a:t>
            </a:r>
          </a:p>
          <a:p>
            <a:pPr lvl="1"/>
            <a:r>
              <a:rPr lang="ja-JP" altLang="en-US" sz="2400" dirty="0" smtClean="0"/>
              <a:t>ある言語のプログラムを解釈実行する。ある言語のインタープリタは、その言語を解釈実行する機械（であるように振る舞うソフトウェア）。</a:t>
            </a:r>
            <a:endParaRPr lang="en-US" altLang="ja-JP" sz="2400" dirty="0" smtClean="0"/>
          </a:p>
        </p:txBody>
      </p:sp>
      <p:sp>
        <p:nvSpPr>
          <p:cNvPr id="4" name="正方形/長方形 3"/>
          <p:cNvSpPr/>
          <p:nvPr/>
        </p:nvSpPr>
        <p:spPr>
          <a:xfrm>
            <a:off x="571472" y="1571612"/>
            <a:ext cx="8001056" cy="523220"/>
          </a:xfrm>
          <a:prstGeom prst="rect">
            <a:avLst/>
          </a:prstGeom>
        </p:spPr>
        <p:txBody>
          <a:bodyPr wrap="square">
            <a:spAutoFit/>
          </a:bodyPr>
          <a:lstStyle/>
          <a:p>
            <a:r>
              <a:rPr lang="ja-JP" altLang="en-US" sz="2800" dirty="0" smtClean="0"/>
              <a:t>プログラミング言語の実装は２通りある。</a:t>
            </a:r>
            <a:endParaRPr lang="en-US" altLang="ja-JP" sz="28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コンパイル方式とインタープリタ方式</a:t>
            </a:r>
            <a:r>
              <a:rPr lang="ja-JP" altLang="en-US" dirty="0" smtClean="0"/>
              <a:t>の比較</a:t>
            </a:r>
            <a:endParaRPr kumimoji="1" lang="ja-JP" altLang="en-US" dirty="0"/>
          </a:p>
        </p:txBody>
      </p:sp>
      <p:sp>
        <p:nvSpPr>
          <p:cNvPr id="3" name="コンテンツ プレースホルダ 2"/>
          <p:cNvSpPr>
            <a:spLocks noGrp="1"/>
          </p:cNvSpPr>
          <p:nvPr>
            <p:ph idx="1"/>
          </p:nvPr>
        </p:nvSpPr>
        <p:spPr>
          <a:xfrm>
            <a:off x="571472" y="1571612"/>
            <a:ext cx="8072494" cy="2928958"/>
          </a:xfrm>
        </p:spPr>
        <p:txBody>
          <a:bodyPr>
            <a:noAutofit/>
          </a:bodyPr>
          <a:lstStyle/>
          <a:p>
            <a:r>
              <a:rPr lang="ja-JP" altLang="en-US" sz="2800" dirty="0" smtClean="0"/>
              <a:t>コンパイル方式</a:t>
            </a:r>
            <a:endParaRPr lang="en-US" altLang="ja-JP" sz="2800" dirty="0" smtClean="0"/>
          </a:p>
          <a:p>
            <a:pPr lvl="1"/>
            <a:r>
              <a:rPr lang="ja-JP" altLang="en-US" sz="2400" dirty="0" smtClean="0"/>
              <a:t>コンパイル後のコードの実行の方が、インタープリタで解釈実行するよりも速い。同じプログラムを何度も実行する場合、コンパイル後のコードを使えばよい。</a:t>
            </a:r>
            <a:endParaRPr lang="en-US" altLang="ja-JP" sz="2400" dirty="0" smtClean="0"/>
          </a:p>
          <a:p>
            <a:r>
              <a:rPr lang="ja-JP" altLang="en-US" sz="2800" dirty="0" smtClean="0"/>
              <a:t>インタープリタ方式</a:t>
            </a:r>
            <a:endParaRPr lang="en-US" altLang="ja-JP" sz="2800" dirty="0" smtClean="0"/>
          </a:p>
          <a:p>
            <a:pPr lvl="1"/>
            <a:r>
              <a:rPr lang="ja-JP" altLang="en-US" sz="2400" dirty="0" smtClean="0"/>
              <a:t>プログラムを書いたら即実行できる。修正して実行するというサイクルを繰り返す場合に速い。</a:t>
            </a:r>
            <a:endParaRPr lang="en-US" altLang="ja-JP" sz="2400" dirty="0" smtClean="0"/>
          </a:p>
        </p:txBody>
      </p:sp>
      <p:sp>
        <p:nvSpPr>
          <p:cNvPr id="5" name="テキスト ボックス 4"/>
          <p:cNvSpPr txBox="1"/>
          <p:nvPr/>
        </p:nvSpPr>
        <p:spPr>
          <a:xfrm>
            <a:off x="928662" y="5286388"/>
            <a:ext cx="7429552" cy="830997"/>
          </a:xfrm>
          <a:prstGeom prst="rect">
            <a:avLst/>
          </a:prstGeom>
          <a:noFill/>
        </p:spPr>
        <p:txBody>
          <a:bodyPr wrap="square" rtlCol="0">
            <a:spAutoFit/>
          </a:bodyPr>
          <a:lstStyle/>
          <a:p>
            <a:r>
              <a:rPr lang="ja-JP" altLang="en-US" sz="2400" dirty="0" smtClean="0"/>
              <a:t>（参考）</a:t>
            </a:r>
            <a:r>
              <a:rPr lang="en-US" altLang="ja-JP" sz="2400" dirty="0" smtClean="0"/>
              <a:t>Java</a:t>
            </a:r>
            <a:r>
              <a:rPr lang="ja-JP" altLang="en-US" sz="2400" dirty="0" smtClean="0"/>
              <a:t>の</a:t>
            </a:r>
            <a:r>
              <a:rPr lang="en-US" altLang="ja-JP" sz="2400" dirty="0" smtClean="0"/>
              <a:t>Just in time compiler:  </a:t>
            </a:r>
            <a:r>
              <a:rPr lang="ja-JP" altLang="en-US" sz="2400" dirty="0" smtClean="0"/>
              <a:t>外からはインタープリタに見えるが内部ではコンパイルしてから実行を行う。</a:t>
            </a:r>
            <a:endParaRPr kumimoji="1" lang="ja-JP" alt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言語が提供するもの（１）</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kumimoji="1" lang="ja-JP" altLang="en-US" dirty="0" smtClean="0"/>
              <a:t>計算モデル</a:t>
            </a:r>
            <a:endParaRPr kumimoji="1" lang="en-US" altLang="ja-JP" dirty="0" smtClean="0"/>
          </a:p>
          <a:p>
            <a:r>
              <a:rPr lang="ja-JP" altLang="en-US" dirty="0" smtClean="0"/>
              <a:t>データ型（とその操作）</a:t>
            </a:r>
            <a:endParaRPr lang="en-US" altLang="ja-JP" dirty="0" smtClean="0"/>
          </a:p>
          <a:p>
            <a:pPr lvl="1"/>
            <a:r>
              <a:rPr lang="ja-JP" altLang="en-US" dirty="0" smtClean="0"/>
              <a:t>（例） </a:t>
            </a:r>
            <a:r>
              <a:rPr lang="en-US" altLang="ja-JP" dirty="0" smtClean="0"/>
              <a:t>C</a:t>
            </a:r>
            <a:r>
              <a:rPr lang="ja-JP" altLang="en-US" dirty="0" smtClean="0"/>
              <a:t>言語では構造体、ポインタ、共用体等、データを組み合わせて大きな構造のデータを作る仕組みが提供される。</a:t>
            </a:r>
            <a:r>
              <a:rPr lang="en-US" altLang="ja-JP" dirty="0" err="1" smtClean="0"/>
              <a:t>Int</a:t>
            </a:r>
            <a:r>
              <a:rPr lang="ja-JP" altLang="en-US" dirty="0" smtClean="0"/>
              <a:t>型</a:t>
            </a:r>
            <a:r>
              <a:rPr lang="en-US" altLang="ja-JP" dirty="0" smtClean="0"/>
              <a:t>, string</a:t>
            </a:r>
            <a:r>
              <a:rPr lang="ja-JP" altLang="en-US" dirty="0" smtClean="0"/>
              <a:t>型</a:t>
            </a:r>
            <a:r>
              <a:rPr lang="en-US" altLang="ja-JP" dirty="0" smtClean="0"/>
              <a:t>, double</a:t>
            </a:r>
            <a:r>
              <a:rPr lang="ja-JP" altLang="en-US" dirty="0" smtClean="0"/>
              <a:t>型などの基本型のデータをそれらで組み合わせることにより、複雑な構造のデータを組み立てることができる。また、構造体等に対し、その部分構造を得る操作関数（構造体のメンバ演算子など）が提供される。</a:t>
            </a:r>
            <a:endParaRPr lang="en-US" altLang="ja-JP"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言語が提供するもの（２）</a:t>
            </a:r>
            <a:endParaRPr kumimoji="1" lang="ja-JP" altLang="en-US" dirty="0"/>
          </a:p>
        </p:txBody>
      </p:sp>
      <p:sp>
        <p:nvSpPr>
          <p:cNvPr id="3" name="コンテンツ プレースホルダ 2"/>
          <p:cNvSpPr>
            <a:spLocks noGrp="1"/>
          </p:cNvSpPr>
          <p:nvPr>
            <p:ph idx="1"/>
          </p:nvPr>
        </p:nvSpPr>
        <p:spPr/>
        <p:txBody>
          <a:bodyPr>
            <a:normAutofit/>
          </a:bodyPr>
          <a:lstStyle/>
          <a:p>
            <a:r>
              <a:rPr lang="ja-JP" altLang="en-US" dirty="0" smtClean="0"/>
              <a:t>抽象化機構</a:t>
            </a:r>
            <a:endParaRPr lang="en-US" altLang="ja-JP" dirty="0" smtClean="0"/>
          </a:p>
          <a:p>
            <a:pPr lvl="1"/>
            <a:r>
              <a:rPr lang="ja-JP" altLang="en-US" dirty="0" smtClean="0"/>
              <a:t>（例１）</a:t>
            </a:r>
            <a:r>
              <a:rPr lang="en-US" altLang="ja-JP" dirty="0" smtClean="0"/>
              <a:t> C</a:t>
            </a:r>
            <a:r>
              <a:rPr lang="ja-JP" altLang="en-US" dirty="0" smtClean="0"/>
              <a:t>言語の関数</a:t>
            </a:r>
            <a:endParaRPr lang="en-US" altLang="ja-JP" dirty="0" smtClean="0"/>
          </a:p>
          <a:p>
            <a:pPr lvl="2"/>
            <a:r>
              <a:rPr lang="ja-JP" altLang="en-US" dirty="0" smtClean="0"/>
              <a:t>関数の定義は計算を抽象化している</a:t>
            </a:r>
            <a:endParaRPr lang="en-US" altLang="ja-JP" dirty="0" smtClean="0"/>
          </a:p>
          <a:p>
            <a:pPr lvl="2"/>
            <a:r>
              <a:rPr lang="ja-JP" altLang="en-US" dirty="0" smtClean="0"/>
              <a:t>関数適用は具体化（仮引数に実引数を当てはめる）</a:t>
            </a:r>
            <a:endParaRPr lang="en-US" altLang="ja-JP" dirty="0" smtClean="0"/>
          </a:p>
          <a:p>
            <a:pPr lvl="1"/>
            <a:r>
              <a:rPr lang="ja-JP" altLang="en-US" dirty="0" smtClean="0"/>
              <a:t>（例２） </a:t>
            </a:r>
            <a:r>
              <a:rPr lang="en-US" altLang="ja-JP" dirty="0" smtClean="0"/>
              <a:t>[</a:t>
            </a:r>
            <a:r>
              <a:rPr lang="ja-JP" altLang="en-US" dirty="0" smtClean="0"/>
              <a:t>参考</a:t>
            </a:r>
            <a:r>
              <a:rPr lang="en-US" altLang="ja-JP" dirty="0" smtClean="0"/>
              <a:t>] Standard ML</a:t>
            </a:r>
            <a:r>
              <a:rPr lang="ja-JP" altLang="en-US" dirty="0" smtClean="0"/>
              <a:t>などにおける多相型</a:t>
            </a:r>
            <a:endParaRPr lang="en-US" altLang="ja-JP" dirty="0" smtClean="0"/>
          </a:p>
          <a:p>
            <a:pPr lvl="2"/>
            <a:r>
              <a:rPr lang="ja-JP" altLang="en-US" dirty="0" smtClean="0"/>
              <a:t>型を抽象化、具体化。</a:t>
            </a:r>
            <a:endParaRPr lang="en-US" altLang="ja-JP" dirty="0" smtClean="0"/>
          </a:p>
          <a:p>
            <a:r>
              <a:rPr lang="ja-JP" altLang="en-US" dirty="0" smtClean="0"/>
              <a:t>検査機構</a:t>
            </a:r>
            <a:endParaRPr lang="en-US" altLang="ja-JP" dirty="0" smtClean="0"/>
          </a:p>
          <a:p>
            <a:pPr lvl="1"/>
            <a:r>
              <a:rPr lang="ja-JP" altLang="en-US" dirty="0" smtClean="0"/>
              <a:t>（例）構文チェック、型検査</a:t>
            </a:r>
            <a:endParaRPr lang="en-US" altLang="ja-JP" dirty="0" smtClean="0"/>
          </a:p>
          <a:p>
            <a:pPr lvl="2"/>
            <a:r>
              <a:rPr lang="ja-JP" altLang="en-US" dirty="0" smtClean="0"/>
              <a:t>コンパイル時構文エラー、型エラーを発見できる。</a:t>
            </a:r>
            <a:endParaRPr lang="en-US" altLang="ja-JP" dirty="0" smtClean="0"/>
          </a:p>
          <a:p>
            <a:pPr lvl="1"/>
            <a:endParaRPr lang="en-US" altLang="ja-JP" dirty="0" smtClean="0"/>
          </a:p>
          <a:p>
            <a:pPr lvl="1">
              <a:buNone/>
            </a:pPr>
            <a:endParaRPr lang="en-US" altLang="ja-JP"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プログラミング言語の構文</a:t>
            </a:r>
            <a:endParaRPr kumimoji="1" lang="ja-JP" altLang="en-US" dirty="0"/>
          </a:p>
        </p:txBody>
      </p:sp>
      <p:sp>
        <p:nvSpPr>
          <p:cNvPr id="3" name="コンテンツ プレースホルダ 2"/>
          <p:cNvSpPr>
            <a:spLocks noGrp="1"/>
          </p:cNvSpPr>
          <p:nvPr>
            <p:ph idx="1"/>
          </p:nvPr>
        </p:nvSpPr>
        <p:spPr/>
        <p:txBody>
          <a:bodyPr/>
          <a:lstStyle/>
          <a:p>
            <a:r>
              <a:rPr kumimoji="1" lang="en-US" altLang="ja-JP" dirty="0" smtClean="0"/>
              <a:t>(</a:t>
            </a:r>
            <a:r>
              <a:rPr kumimoji="1" lang="ja-JP" altLang="en-US" dirty="0" smtClean="0"/>
              <a:t>例） </a:t>
            </a:r>
            <a:r>
              <a:rPr kumimoji="1" lang="en-US" altLang="ja-JP" dirty="0" smtClean="0"/>
              <a:t>BNF</a:t>
            </a:r>
            <a:r>
              <a:rPr kumimoji="1" lang="ja-JP" altLang="en-US" dirty="0" smtClean="0"/>
              <a:t>記法による数字列言語の構文定義</a:t>
            </a:r>
            <a:endParaRPr lang="en-US" altLang="ja-JP" dirty="0" smtClean="0"/>
          </a:p>
          <a:p>
            <a:pPr>
              <a:buNone/>
            </a:pPr>
            <a:r>
              <a:rPr lang="en-US" altLang="ja-JP" dirty="0" smtClean="0"/>
              <a:t>    &lt;d&gt; ::= 0|1|2|3|4|5|6|7|8|9</a:t>
            </a:r>
          </a:p>
          <a:p>
            <a:pPr>
              <a:buNone/>
            </a:pPr>
            <a:r>
              <a:rPr kumimoji="1" lang="en-US" altLang="ja-JP" dirty="0" smtClean="0"/>
              <a:t>    &lt;</a:t>
            </a:r>
            <a:r>
              <a:rPr kumimoji="1" lang="en-US" altLang="ja-JP" dirty="0" err="1" smtClean="0"/>
              <a:t>digit_seq</a:t>
            </a:r>
            <a:r>
              <a:rPr kumimoji="1" lang="en-US" altLang="ja-JP" dirty="0" smtClean="0"/>
              <a:t>&gt; </a:t>
            </a:r>
            <a:r>
              <a:rPr lang="en-US" altLang="ja-JP" dirty="0" smtClean="0"/>
              <a:t>::= &lt;d&gt;</a:t>
            </a:r>
          </a:p>
          <a:p>
            <a:pPr>
              <a:buNone/>
            </a:pPr>
            <a:r>
              <a:rPr kumimoji="1" lang="en-US" altLang="ja-JP" dirty="0" smtClean="0"/>
              <a:t>                          |   &lt;d&gt;&lt;digit-</a:t>
            </a:r>
            <a:r>
              <a:rPr kumimoji="1" lang="en-US" altLang="ja-JP" dirty="0" err="1" smtClean="0"/>
              <a:t>seq</a:t>
            </a:r>
            <a:r>
              <a:rPr kumimoji="1" lang="en-US" altLang="ja-JP" dirty="0" smtClean="0"/>
              <a:t>&gt;</a:t>
            </a:r>
          </a:p>
          <a:p>
            <a:pPr>
              <a:buNone/>
            </a:pPr>
            <a:r>
              <a:rPr lang="en-US" altLang="ja-JP" dirty="0" smtClean="0"/>
              <a:t>    &lt;real-number&gt; ::= &lt;digit-</a:t>
            </a:r>
            <a:r>
              <a:rPr lang="en-US" altLang="ja-JP" dirty="0" err="1" smtClean="0"/>
              <a:t>seq</a:t>
            </a:r>
            <a:r>
              <a:rPr lang="en-US" altLang="ja-JP" dirty="0" smtClean="0"/>
              <a:t>&gt; . &lt;digit-</a:t>
            </a:r>
            <a:r>
              <a:rPr lang="en-US" altLang="ja-JP" dirty="0" err="1" smtClean="0"/>
              <a:t>seq</a:t>
            </a:r>
            <a:r>
              <a:rPr lang="en-US" altLang="ja-JP" dirty="0" smtClean="0"/>
              <a:t>&gt;</a:t>
            </a:r>
            <a:endParaRPr kumimoji="1" lang="en-US" altLang="ja-JP" dirty="0" smtClean="0"/>
          </a:p>
          <a:p>
            <a:pPr>
              <a:buNone/>
            </a:pPr>
            <a:endParaRPr kumimoji="1" lang="ja-JP" altLang="en-US" dirty="0"/>
          </a:p>
        </p:txBody>
      </p:sp>
      <p:sp>
        <p:nvSpPr>
          <p:cNvPr id="4" name="テキスト ボックス 3"/>
          <p:cNvSpPr txBox="1"/>
          <p:nvPr/>
        </p:nvSpPr>
        <p:spPr>
          <a:xfrm>
            <a:off x="500034" y="4714884"/>
            <a:ext cx="8295861" cy="1815882"/>
          </a:xfrm>
          <a:prstGeom prst="rect">
            <a:avLst/>
          </a:prstGeom>
          <a:noFill/>
        </p:spPr>
        <p:txBody>
          <a:bodyPr wrap="none" rtlCol="0">
            <a:spAutoFit/>
          </a:bodyPr>
          <a:lstStyle/>
          <a:p>
            <a:r>
              <a:rPr kumimoji="1" lang="ja-JP" altLang="en-US" sz="2800" dirty="0" smtClean="0"/>
              <a:t>通常、プログラミング言語の文法は</a:t>
            </a:r>
            <a:endParaRPr kumimoji="1" lang="en-US" altLang="ja-JP" sz="2800" dirty="0" smtClean="0"/>
          </a:p>
          <a:p>
            <a:r>
              <a:rPr kumimoji="1" lang="ja-JP" altLang="en-US" sz="2800" dirty="0" smtClean="0"/>
              <a:t>文脈自由文法</a:t>
            </a:r>
            <a:r>
              <a:rPr kumimoji="1" lang="en-US" altLang="ja-JP" sz="2800" dirty="0" smtClean="0"/>
              <a:t>(context-free grammar)</a:t>
            </a:r>
            <a:r>
              <a:rPr kumimoji="1" lang="ja-JP" altLang="en-US" sz="2800" dirty="0" smtClean="0"/>
              <a:t>に属する。</a:t>
            </a:r>
            <a:endParaRPr kumimoji="1" lang="en-US" altLang="ja-JP" sz="2800" dirty="0" smtClean="0"/>
          </a:p>
          <a:p>
            <a:r>
              <a:rPr lang="ja-JP" altLang="en-US" sz="2800" dirty="0" smtClean="0"/>
              <a:t>文脈自由文法に属する文法は</a:t>
            </a:r>
            <a:r>
              <a:rPr lang="en-US" altLang="ja-JP" sz="2800" dirty="0" smtClean="0"/>
              <a:t>BNF</a:t>
            </a:r>
            <a:r>
              <a:rPr lang="ja-JP" altLang="en-US" sz="2800" dirty="0" smtClean="0"/>
              <a:t>記法で記述できる。</a:t>
            </a:r>
            <a:endParaRPr lang="en-US" altLang="ja-JP" sz="2800" dirty="0" smtClean="0"/>
          </a:p>
          <a:p>
            <a:r>
              <a:rPr kumimoji="1" lang="en-US" altLang="ja-JP" sz="2800" dirty="0" smtClean="0"/>
              <a:t>BNF</a:t>
            </a:r>
            <a:r>
              <a:rPr kumimoji="1" lang="ja-JP" altLang="en-US" sz="2800" dirty="0" smtClean="0"/>
              <a:t>記法について、次回詳しく解説する。</a:t>
            </a:r>
            <a:endParaRPr kumimoji="1" lang="en-US" altLang="ja-JP" sz="28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プログラミング言語の意味</a:t>
            </a:r>
            <a:endParaRPr kumimoji="1" lang="ja-JP" altLang="en-US" dirty="0"/>
          </a:p>
        </p:txBody>
      </p:sp>
      <p:sp>
        <p:nvSpPr>
          <p:cNvPr id="3" name="コンテンツ プレースホルダ 2"/>
          <p:cNvSpPr>
            <a:spLocks noGrp="1"/>
          </p:cNvSpPr>
          <p:nvPr>
            <p:ph idx="1"/>
          </p:nvPr>
        </p:nvSpPr>
        <p:spPr/>
        <p:txBody>
          <a:bodyPr/>
          <a:lstStyle/>
          <a:p>
            <a:pPr>
              <a:buNone/>
            </a:pPr>
            <a:r>
              <a:rPr kumimoji="1" lang="ja-JP" altLang="en-US" dirty="0" smtClean="0"/>
              <a:t>（例） 日付を表す言語の構文</a:t>
            </a:r>
            <a:endParaRPr kumimoji="1" lang="en-US" altLang="ja-JP" dirty="0" smtClean="0"/>
          </a:p>
          <a:p>
            <a:pPr>
              <a:buNone/>
            </a:pPr>
            <a:r>
              <a:rPr kumimoji="1" lang="en-US" altLang="ja-JP" dirty="0" smtClean="0"/>
              <a:t>&lt;date&gt; ::= &lt;d&gt;&lt;d&gt; / &lt;d&gt;&lt;d&gt; / &lt;d&gt;&lt;d&gt;&lt;d&gt;&lt;d&gt;</a:t>
            </a:r>
          </a:p>
          <a:p>
            <a:pPr>
              <a:buNone/>
            </a:pPr>
            <a:endParaRPr kumimoji="1" lang="en-US" altLang="ja-JP" dirty="0" smtClean="0"/>
          </a:p>
          <a:p>
            <a:pPr>
              <a:buNone/>
            </a:pPr>
            <a:r>
              <a:rPr kumimoji="1" lang="en-US" altLang="ja-JP" dirty="0" smtClean="0"/>
              <a:t>01/02/2001</a:t>
            </a:r>
          </a:p>
          <a:p>
            <a:pPr>
              <a:buNone/>
            </a:pPr>
            <a:r>
              <a:rPr lang="ja-JP" altLang="en-US" dirty="0" smtClean="0"/>
              <a:t>  アメリカでは</a:t>
            </a:r>
            <a:r>
              <a:rPr lang="en-US" altLang="ja-JP" dirty="0" smtClean="0"/>
              <a:t>2001</a:t>
            </a:r>
            <a:r>
              <a:rPr lang="ja-JP" altLang="en-US" dirty="0" smtClean="0"/>
              <a:t>年</a:t>
            </a:r>
            <a:r>
              <a:rPr lang="en-US" altLang="ja-JP" dirty="0" smtClean="0"/>
              <a:t>1</a:t>
            </a:r>
            <a:r>
              <a:rPr lang="ja-JP" altLang="en-US" dirty="0" smtClean="0"/>
              <a:t>月</a:t>
            </a:r>
            <a:r>
              <a:rPr lang="en-US" altLang="ja-JP" dirty="0" smtClean="0"/>
              <a:t>2</a:t>
            </a:r>
            <a:r>
              <a:rPr lang="ja-JP" altLang="en-US" dirty="0" smtClean="0"/>
              <a:t>日を表す。</a:t>
            </a:r>
            <a:endParaRPr lang="en-US" altLang="ja-JP" dirty="0" smtClean="0"/>
          </a:p>
          <a:p>
            <a:pPr>
              <a:buNone/>
            </a:pPr>
            <a:r>
              <a:rPr kumimoji="1" lang="en-US" altLang="ja-JP" dirty="0" smtClean="0"/>
              <a:t>  2001</a:t>
            </a:r>
            <a:r>
              <a:rPr kumimoji="1" lang="ja-JP" altLang="en-US" dirty="0" smtClean="0"/>
              <a:t>年</a:t>
            </a:r>
            <a:r>
              <a:rPr lang="en-US" altLang="ja-JP" dirty="0" smtClean="0"/>
              <a:t>2</a:t>
            </a:r>
            <a:r>
              <a:rPr lang="ja-JP" altLang="en-US" dirty="0" smtClean="0"/>
              <a:t>月</a:t>
            </a:r>
            <a:r>
              <a:rPr lang="en-US" altLang="ja-JP" dirty="0" smtClean="0"/>
              <a:t>1</a:t>
            </a:r>
            <a:r>
              <a:rPr lang="ja-JP" altLang="en-US" dirty="0" smtClean="0"/>
              <a:t>日を表す国もある。</a:t>
            </a:r>
            <a:endParaRPr kumimoji="1" lang="en-US" altLang="ja-JP" dirty="0" smtClean="0"/>
          </a:p>
          <a:p>
            <a:pPr>
              <a:buNone/>
            </a:pPr>
            <a:endParaRPr kumimoji="1" lang="ja-JP" altLang="en-US" dirty="0"/>
          </a:p>
        </p:txBody>
      </p:sp>
      <p:sp>
        <p:nvSpPr>
          <p:cNvPr id="6" name="テキスト ボックス 5"/>
          <p:cNvSpPr txBox="1"/>
          <p:nvPr/>
        </p:nvSpPr>
        <p:spPr>
          <a:xfrm>
            <a:off x="1000100" y="5643578"/>
            <a:ext cx="6786610" cy="830997"/>
          </a:xfrm>
          <a:prstGeom prst="rect">
            <a:avLst/>
          </a:prstGeom>
          <a:noFill/>
          <a:ln>
            <a:solidFill>
              <a:schemeClr val="tx1"/>
            </a:solidFill>
          </a:ln>
        </p:spPr>
        <p:txBody>
          <a:bodyPr wrap="square" rtlCol="0">
            <a:spAutoFit/>
          </a:bodyPr>
          <a:lstStyle/>
          <a:p>
            <a:r>
              <a:rPr lang="ja-JP" altLang="en-US" sz="2400" dirty="0" smtClean="0"/>
              <a:t>プログラミング言語は構文と意味を定義することにより定義される。</a:t>
            </a:r>
            <a:endParaRPr kumimoji="1" lang="ja-JP" alt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プログラミング言語の定義、説明</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チュートリアル</a:t>
            </a:r>
            <a:r>
              <a:rPr lang="en-US" altLang="ja-JP" dirty="0" smtClean="0"/>
              <a:t>(Tutorial)</a:t>
            </a:r>
          </a:p>
          <a:p>
            <a:pPr lvl="1"/>
            <a:r>
              <a:rPr kumimoji="1" lang="ja-JP" altLang="en-US" dirty="0" smtClean="0"/>
              <a:t>言語の</a:t>
            </a:r>
            <a:r>
              <a:rPr lang="ja-JP" altLang="en-US" dirty="0" smtClean="0"/>
              <a:t>概略を紹介。</a:t>
            </a:r>
            <a:endParaRPr lang="en-US" altLang="ja-JP" dirty="0" smtClean="0"/>
          </a:p>
          <a:p>
            <a:r>
              <a:rPr kumimoji="1" lang="ja-JP" altLang="en-US" dirty="0" smtClean="0"/>
              <a:t>レファレンスマニュアル</a:t>
            </a:r>
            <a:r>
              <a:rPr kumimoji="1" lang="en-US" altLang="ja-JP" dirty="0" smtClean="0"/>
              <a:t>(Reference Manual)</a:t>
            </a:r>
          </a:p>
          <a:p>
            <a:pPr lvl="1"/>
            <a:r>
              <a:rPr lang="ja-JP" altLang="en-US" dirty="0" smtClean="0"/>
              <a:t>構文と意味を記述。</a:t>
            </a:r>
            <a:r>
              <a:rPr lang="en-US" altLang="ja-JP" dirty="0" smtClean="0"/>
              <a:t>BNF</a:t>
            </a:r>
            <a:r>
              <a:rPr lang="ja-JP" altLang="en-US" dirty="0" smtClean="0"/>
              <a:t>による構文定義と英語などの自然言語による意味の説明。</a:t>
            </a:r>
            <a:endParaRPr lang="en-US" altLang="ja-JP" dirty="0" smtClean="0"/>
          </a:p>
          <a:p>
            <a:r>
              <a:rPr kumimoji="1" lang="ja-JP" altLang="en-US" dirty="0" smtClean="0"/>
              <a:t>形式的定義</a:t>
            </a:r>
            <a:r>
              <a:rPr kumimoji="1" lang="en-US" altLang="ja-JP" dirty="0" smtClean="0"/>
              <a:t>(formal definition)</a:t>
            </a:r>
          </a:p>
          <a:p>
            <a:pPr lvl="1"/>
            <a:r>
              <a:rPr lang="ja-JP" altLang="en-US" dirty="0" smtClean="0"/>
              <a:t>英語などの自然言語ではなく、操作的意味など、形式的な議論に耐える意味の記述。</a:t>
            </a:r>
            <a:endParaRPr kumimoji="1" lang="en-US" altLang="ja-JP"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プログラミング言語の基礎（第２章）</a:t>
            </a:r>
            <a:endParaRPr kumimoji="1" lang="ja-JP" altLang="en-US" dirty="0"/>
          </a:p>
        </p:txBody>
      </p:sp>
      <p:sp>
        <p:nvSpPr>
          <p:cNvPr id="4" name="コンテンツ プレースホルダ 3"/>
          <p:cNvSpPr>
            <a:spLocks noGrp="1"/>
          </p:cNvSpPr>
          <p:nvPr>
            <p:ph idx="1"/>
          </p:nvPr>
        </p:nvSpPr>
        <p:spPr>
          <a:xfrm>
            <a:off x="500034" y="1500174"/>
            <a:ext cx="8229600" cy="614354"/>
          </a:xfrm>
        </p:spPr>
        <p:txBody>
          <a:bodyPr/>
          <a:lstStyle/>
          <a:p>
            <a:r>
              <a:rPr kumimoji="1" lang="ja-JP" altLang="en-US" dirty="0" smtClean="0"/>
              <a:t>簡単な言語の</a:t>
            </a:r>
            <a:r>
              <a:rPr lang="ja-JP" altLang="en-US" dirty="0" smtClean="0"/>
              <a:t>例</a:t>
            </a:r>
            <a:r>
              <a:rPr lang="en-US" altLang="ja-JP" dirty="0" smtClean="0"/>
              <a:t>---Little Quilt</a:t>
            </a:r>
            <a:endParaRPr kumimoji="1" lang="ja-JP" altLang="en-US" dirty="0"/>
          </a:p>
        </p:txBody>
      </p:sp>
      <p:pic>
        <p:nvPicPr>
          <p:cNvPr id="1026" name="Picture 2" descr="C:\Users\sasano\Desktop\baby_orchards_quilt.jpg"/>
          <p:cNvPicPr>
            <a:picLocks noChangeAspect="1" noChangeArrowheads="1"/>
          </p:cNvPicPr>
          <p:nvPr/>
        </p:nvPicPr>
        <p:blipFill>
          <a:blip r:embed="rId2" cstate="print"/>
          <a:srcRect/>
          <a:stretch>
            <a:fillRect/>
          </a:stretch>
        </p:blipFill>
        <p:spPr bwMode="auto">
          <a:xfrm rot="16200000">
            <a:off x="2797957" y="1559705"/>
            <a:ext cx="2905144" cy="4357718"/>
          </a:xfrm>
          <a:prstGeom prst="rect">
            <a:avLst/>
          </a:prstGeom>
          <a:noFill/>
        </p:spPr>
      </p:pic>
      <p:sp>
        <p:nvSpPr>
          <p:cNvPr id="6" name="テキスト ボックス 5"/>
          <p:cNvSpPr txBox="1"/>
          <p:nvPr/>
        </p:nvSpPr>
        <p:spPr>
          <a:xfrm>
            <a:off x="1714480" y="5429264"/>
            <a:ext cx="5715040" cy="830997"/>
          </a:xfrm>
          <a:prstGeom prst="rect">
            <a:avLst/>
          </a:prstGeom>
          <a:noFill/>
        </p:spPr>
        <p:txBody>
          <a:bodyPr wrap="square" rtlCol="0">
            <a:spAutoFit/>
          </a:bodyPr>
          <a:lstStyle/>
          <a:p>
            <a:r>
              <a:rPr kumimoji="1" lang="en-US" altLang="ja-JP" sz="2400" dirty="0" smtClean="0"/>
              <a:t>Quilt</a:t>
            </a:r>
            <a:r>
              <a:rPr kumimoji="1" lang="ja-JP" altLang="en-US" sz="2400" dirty="0" smtClean="0"/>
              <a:t>の例</a:t>
            </a:r>
            <a:endParaRPr kumimoji="1" lang="en-US" altLang="ja-JP" sz="2400" dirty="0" smtClean="0"/>
          </a:p>
          <a:p>
            <a:r>
              <a:rPr lang="en-US" altLang="ja-JP" sz="2400" dirty="0" smtClean="0">
                <a:hlinkClick r:id="rId3"/>
              </a:rPr>
              <a:t>http://quilting.about.com/</a:t>
            </a:r>
            <a:r>
              <a:rPr lang="en-US" altLang="ja-JP" sz="2400" dirty="0" smtClean="0"/>
              <a:t>  </a:t>
            </a:r>
            <a:r>
              <a:rPr kumimoji="1" lang="ja-JP" altLang="en-US" sz="2400" dirty="0" smtClean="0"/>
              <a:t>から引用</a:t>
            </a:r>
            <a:endParaRPr kumimoji="1" lang="en-US" altLang="ja-JP" sz="24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Little </a:t>
            </a:r>
            <a:r>
              <a:rPr kumimoji="1" lang="en-US" altLang="ja-JP" dirty="0" err="1" smtClean="0"/>
              <a:t>Quil</a:t>
            </a:r>
            <a:r>
              <a:rPr kumimoji="1" lang="ja-JP" altLang="en-US" dirty="0" err="1" smtClean="0"/>
              <a:t>ｔ</a:t>
            </a:r>
            <a:r>
              <a:rPr kumimoji="1" lang="ja-JP" altLang="en-US" dirty="0" smtClean="0"/>
              <a:t>言語</a:t>
            </a:r>
            <a:endParaRPr kumimoji="1" lang="ja-JP" altLang="en-US" dirty="0"/>
          </a:p>
        </p:txBody>
      </p:sp>
      <p:sp>
        <p:nvSpPr>
          <p:cNvPr id="7" name="コンテンツ プレースホルダ 6"/>
          <p:cNvSpPr>
            <a:spLocks noGrp="1"/>
          </p:cNvSpPr>
          <p:nvPr>
            <p:ph idx="1"/>
          </p:nvPr>
        </p:nvSpPr>
        <p:spPr/>
        <p:txBody>
          <a:bodyPr/>
          <a:lstStyle/>
          <a:p>
            <a:r>
              <a:rPr lang="ja-JP" altLang="en-US" dirty="0" smtClean="0"/>
              <a:t>２つの基本図形（正方形）を組み合わせて</a:t>
            </a:r>
            <a:r>
              <a:rPr lang="en-US" altLang="ja-JP" dirty="0" smtClean="0"/>
              <a:t>quilt</a:t>
            </a:r>
            <a:r>
              <a:rPr lang="ja-JP" altLang="en-US" dirty="0" smtClean="0"/>
              <a:t>を作成する言語</a:t>
            </a:r>
            <a:endParaRPr kumimoji="1" lang="ja-JP" altLang="en-US" dirty="0"/>
          </a:p>
        </p:txBody>
      </p:sp>
      <p:sp>
        <p:nvSpPr>
          <p:cNvPr id="9" name="正方形/長方形 8"/>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弧 9"/>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1" name="円弧 10"/>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円弧 11"/>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nvGrpSpPr>
          <p:cNvPr id="27" name="グループ化 26"/>
          <p:cNvGrpSpPr/>
          <p:nvPr/>
        </p:nvGrpSpPr>
        <p:grpSpPr>
          <a:xfrm>
            <a:off x="4429124" y="3571876"/>
            <a:ext cx="1071570" cy="1071570"/>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テキスト ボックス 23"/>
          <p:cNvSpPr txBox="1"/>
          <p:nvPr/>
        </p:nvSpPr>
        <p:spPr>
          <a:xfrm>
            <a:off x="1714480" y="4714884"/>
            <a:ext cx="381836" cy="584775"/>
          </a:xfrm>
          <a:prstGeom prst="rect">
            <a:avLst/>
          </a:prstGeom>
          <a:noFill/>
        </p:spPr>
        <p:txBody>
          <a:bodyPr wrap="none" rtlCol="0">
            <a:spAutoFit/>
          </a:bodyPr>
          <a:lstStyle/>
          <a:p>
            <a:r>
              <a:rPr kumimoji="1" lang="en-US" altLang="ja-JP" sz="3200" dirty="0" smtClean="0"/>
              <a:t>a</a:t>
            </a:r>
            <a:endParaRPr kumimoji="1" lang="ja-JP" altLang="en-US" sz="3200" dirty="0"/>
          </a:p>
        </p:txBody>
      </p:sp>
      <p:sp>
        <p:nvSpPr>
          <p:cNvPr id="25" name="テキスト ボックス 24"/>
          <p:cNvSpPr txBox="1"/>
          <p:nvPr/>
        </p:nvSpPr>
        <p:spPr>
          <a:xfrm>
            <a:off x="4786314" y="4786322"/>
            <a:ext cx="401072" cy="584775"/>
          </a:xfrm>
          <a:prstGeom prst="rect">
            <a:avLst/>
          </a:prstGeom>
          <a:noFill/>
        </p:spPr>
        <p:txBody>
          <a:bodyPr wrap="none" rtlCol="0">
            <a:spAutoFit/>
          </a:bodyPr>
          <a:lstStyle/>
          <a:p>
            <a:r>
              <a:rPr kumimoji="1" lang="en-US" altLang="ja-JP" sz="3200" dirty="0" smtClean="0"/>
              <a:t>b</a:t>
            </a:r>
            <a:endParaRPr kumimoji="1" lang="ja-JP" altLang="en-US" sz="32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Little </a:t>
            </a:r>
            <a:r>
              <a:rPr kumimoji="1" lang="en-US" altLang="ja-JP" dirty="0" err="1" smtClean="0"/>
              <a:t>Quil</a:t>
            </a:r>
            <a:r>
              <a:rPr kumimoji="1" lang="ja-JP" altLang="en-US" dirty="0" err="1" smtClean="0"/>
              <a:t>ｔ</a:t>
            </a:r>
            <a:r>
              <a:rPr kumimoji="1" lang="ja-JP" altLang="en-US" dirty="0" smtClean="0"/>
              <a:t>言語</a:t>
            </a:r>
            <a:r>
              <a:rPr lang="ja-JP" altLang="en-US" dirty="0" smtClean="0"/>
              <a:t>の式の定義</a:t>
            </a:r>
            <a:endParaRPr kumimoji="1" lang="ja-JP" altLang="en-US" dirty="0"/>
          </a:p>
        </p:txBody>
      </p:sp>
      <p:sp>
        <p:nvSpPr>
          <p:cNvPr id="7" name="コンテンツ プレースホルダ 6"/>
          <p:cNvSpPr>
            <a:spLocks noGrp="1"/>
          </p:cNvSpPr>
          <p:nvPr>
            <p:ph idx="1"/>
          </p:nvPr>
        </p:nvSpPr>
        <p:spPr>
          <a:xfrm>
            <a:off x="1000100" y="1643050"/>
            <a:ext cx="6715172" cy="2500330"/>
          </a:xfrm>
        </p:spPr>
        <p:txBody>
          <a:bodyPr>
            <a:noAutofit/>
          </a:bodyPr>
          <a:lstStyle/>
          <a:p>
            <a:pPr>
              <a:buNone/>
            </a:pPr>
            <a:r>
              <a:rPr lang="en-US" altLang="ja-JP" dirty="0" smtClean="0"/>
              <a:t>&lt;exp&gt; ::= </a:t>
            </a:r>
            <a:r>
              <a:rPr lang="ja-JP" altLang="en-US" dirty="0"/>
              <a:t> </a:t>
            </a:r>
            <a:r>
              <a:rPr lang="en-US" altLang="ja-JP" dirty="0" smtClean="0"/>
              <a:t>a</a:t>
            </a:r>
          </a:p>
          <a:p>
            <a:pPr>
              <a:buNone/>
            </a:pPr>
            <a:r>
              <a:rPr kumimoji="1" lang="en-US" altLang="ja-JP" dirty="0" smtClean="0"/>
              <a:t>              |  b</a:t>
            </a:r>
          </a:p>
          <a:p>
            <a:pPr>
              <a:buNone/>
            </a:pPr>
            <a:r>
              <a:rPr lang="en-US" altLang="ja-JP" dirty="0" smtClean="0"/>
              <a:t>              | turn (&lt;exp&gt;)</a:t>
            </a:r>
          </a:p>
          <a:p>
            <a:pPr>
              <a:buNone/>
            </a:pPr>
            <a:r>
              <a:rPr kumimoji="1" lang="en-US" altLang="ja-JP" dirty="0" smtClean="0"/>
              <a:t>              | sew (&lt;exp&gt;, &lt;exp&gt;)</a:t>
            </a:r>
          </a:p>
        </p:txBody>
      </p:sp>
      <p:sp>
        <p:nvSpPr>
          <p:cNvPr id="28" name="テキスト ボックス 27"/>
          <p:cNvSpPr txBox="1"/>
          <p:nvPr/>
        </p:nvSpPr>
        <p:spPr>
          <a:xfrm>
            <a:off x="428596" y="4500570"/>
            <a:ext cx="8429684" cy="1384995"/>
          </a:xfrm>
          <a:prstGeom prst="rect">
            <a:avLst/>
          </a:prstGeom>
          <a:noFill/>
        </p:spPr>
        <p:txBody>
          <a:bodyPr wrap="square" rtlCol="0">
            <a:spAutoFit/>
          </a:bodyPr>
          <a:lstStyle/>
          <a:p>
            <a:r>
              <a:rPr kumimoji="1" lang="en-US" altLang="ja-JP" sz="2800" dirty="0" smtClean="0"/>
              <a:t> turn (e) --- </a:t>
            </a:r>
            <a:r>
              <a:rPr kumimoji="1" lang="ja-JP" altLang="en-US" sz="2800" dirty="0" smtClean="0"/>
              <a:t>キルト</a:t>
            </a:r>
            <a:r>
              <a:rPr kumimoji="1" lang="en-US" altLang="ja-JP" sz="2800" dirty="0" smtClean="0"/>
              <a:t>e</a:t>
            </a:r>
            <a:r>
              <a:rPr kumimoji="1" lang="ja-JP" altLang="en-US" sz="2800" dirty="0" smtClean="0"/>
              <a:t>を９０度右回転させたキルトを表す。</a:t>
            </a:r>
            <a:endParaRPr kumimoji="1" lang="en-US" altLang="ja-JP" sz="2800" dirty="0" smtClean="0"/>
          </a:p>
          <a:p>
            <a:r>
              <a:rPr lang="en-US" altLang="ja-JP" sz="2800" dirty="0" smtClean="0"/>
              <a:t> sew (e1, e2) --- </a:t>
            </a:r>
            <a:r>
              <a:rPr lang="ja-JP" altLang="en-US" sz="2800" dirty="0" smtClean="0"/>
              <a:t>高さが同じキルト</a:t>
            </a:r>
            <a:r>
              <a:rPr lang="en-US" altLang="ja-JP" sz="2800" dirty="0" smtClean="0"/>
              <a:t>e1, e2</a:t>
            </a:r>
            <a:r>
              <a:rPr lang="ja-JP" altLang="en-US" sz="2800" dirty="0" smtClean="0"/>
              <a:t>を左右に並べ、縫い合わせる</a:t>
            </a:r>
            <a:r>
              <a:rPr lang="en-US" altLang="ja-JP" sz="2800" dirty="0" smtClean="0"/>
              <a:t> (</a:t>
            </a:r>
            <a:r>
              <a:rPr lang="ja-JP" altLang="en-US" sz="2800" dirty="0" smtClean="0"/>
              <a:t>左が</a:t>
            </a:r>
            <a:r>
              <a:rPr lang="en-US" altLang="ja-JP" sz="2800" dirty="0" smtClean="0"/>
              <a:t>e1</a:t>
            </a:r>
            <a:r>
              <a:rPr lang="ja-JP" altLang="en-US" sz="2800" dirty="0" err="1" smtClean="0"/>
              <a:t>、</a:t>
            </a:r>
            <a:r>
              <a:rPr lang="ja-JP" altLang="en-US" sz="2800" dirty="0" smtClean="0"/>
              <a:t>右が</a:t>
            </a:r>
            <a:r>
              <a:rPr lang="en-US" altLang="ja-JP" sz="2800" dirty="0" smtClean="0"/>
              <a:t>e2)</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Little Quilt</a:t>
            </a:r>
            <a:r>
              <a:rPr lang="ja-JP" altLang="en-US" dirty="0" smtClean="0"/>
              <a:t>言語の式の</a:t>
            </a:r>
            <a:r>
              <a:rPr kumimoji="1" lang="ja-JP" altLang="en-US" dirty="0" smtClean="0"/>
              <a:t>例</a:t>
            </a:r>
            <a:endParaRPr kumimoji="1" lang="ja-JP" altLang="en-US" dirty="0"/>
          </a:p>
        </p:txBody>
      </p:sp>
      <p:graphicFrame>
        <p:nvGraphicFramePr>
          <p:cNvPr id="18" name="表 17"/>
          <p:cNvGraphicFramePr>
            <a:graphicFrameLocks noGrp="1"/>
          </p:cNvGraphicFramePr>
          <p:nvPr/>
        </p:nvGraphicFramePr>
        <p:xfrm>
          <a:off x="1071538" y="1785926"/>
          <a:ext cx="7429552" cy="4071966"/>
        </p:xfrm>
        <a:graphic>
          <a:graphicData uri="http://schemas.openxmlformats.org/drawingml/2006/table">
            <a:tbl>
              <a:tblPr firstRow="1" bandRow="1">
                <a:tableStyleId>{5C22544A-7EE6-4342-B048-85BDC9FD1C3A}</a:tableStyleId>
              </a:tblPr>
              <a:tblGrid>
                <a:gridCol w="4221336"/>
                <a:gridCol w="3208216"/>
              </a:tblGrid>
              <a:tr h="678661">
                <a:tc>
                  <a:txBody>
                    <a:bodyPr/>
                    <a:lstStyle/>
                    <a:p>
                      <a:r>
                        <a:rPr kumimoji="1" lang="ja-JP" altLang="en-US" sz="3200" dirty="0" smtClean="0">
                          <a:solidFill>
                            <a:schemeClr val="tx1"/>
                          </a:solidFill>
                        </a:rPr>
                        <a:t>式</a:t>
                      </a:r>
                      <a:endParaRPr kumimoji="1" lang="ja-JP" altLang="en-US" sz="32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en-US" altLang="ja-JP" sz="3200" baseline="0" dirty="0" smtClean="0">
                          <a:solidFill>
                            <a:schemeClr val="tx1"/>
                          </a:solidFill>
                        </a:rPr>
                        <a:t>quilt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baseline="0" dirty="0" smtClean="0"/>
                        <a:t>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turn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sew</a:t>
                      </a:r>
                      <a:r>
                        <a:rPr kumimoji="1" lang="en-US" altLang="ja-JP" sz="3200" baseline="0" dirty="0" smtClean="0"/>
                        <a:t> (turn (turn (b)),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3" name="グループ化 20"/>
          <p:cNvGrpSpPr/>
          <p:nvPr/>
        </p:nvGrpSpPr>
        <p:grpSpPr>
          <a:xfrm>
            <a:off x="5500694" y="2571744"/>
            <a:ext cx="571504" cy="571504"/>
            <a:chOff x="4429124" y="3571876"/>
            <a:chExt cx="1071570" cy="1071570"/>
          </a:xfrm>
        </p:grpSpPr>
        <p:sp>
          <p:nvSpPr>
            <p:cNvPr id="22" name="正方形/長方形 2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グループ化 20"/>
          <p:cNvGrpSpPr/>
          <p:nvPr/>
        </p:nvGrpSpPr>
        <p:grpSpPr>
          <a:xfrm rot="5400000">
            <a:off x="5500694" y="3214686"/>
            <a:ext cx="571504" cy="571504"/>
            <a:chOff x="4429124" y="3571876"/>
            <a:chExt cx="1071570" cy="1071570"/>
          </a:xfrm>
        </p:grpSpPr>
        <p:sp>
          <p:nvSpPr>
            <p:cNvPr id="12" name="正方形/長方形 1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グループ化 20"/>
          <p:cNvGrpSpPr/>
          <p:nvPr/>
        </p:nvGrpSpPr>
        <p:grpSpPr>
          <a:xfrm rot="10800000">
            <a:off x="5500694" y="3857628"/>
            <a:ext cx="571504" cy="571504"/>
            <a:chOff x="4429124" y="3571876"/>
            <a:chExt cx="1071570" cy="1071570"/>
          </a:xfrm>
        </p:grpSpPr>
        <p:sp>
          <p:nvSpPr>
            <p:cNvPr id="17" name="正方形/長方形 16"/>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グループ化 23"/>
          <p:cNvGrpSpPr/>
          <p:nvPr/>
        </p:nvGrpSpPr>
        <p:grpSpPr>
          <a:xfrm>
            <a:off x="5000628" y="4572008"/>
            <a:ext cx="1071570" cy="1143008"/>
            <a:chOff x="428596" y="3500438"/>
            <a:chExt cx="2000264" cy="2143140"/>
          </a:xfrm>
        </p:grpSpPr>
        <p:sp>
          <p:nvSpPr>
            <p:cNvPr id="25" name="正方形/長方形 24"/>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弧 2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9" name="円弧 2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0" name="円弧 2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31" name="グループ化 20"/>
          <p:cNvGrpSpPr/>
          <p:nvPr/>
        </p:nvGrpSpPr>
        <p:grpSpPr>
          <a:xfrm rot="10800000">
            <a:off x="5500694" y="5214950"/>
            <a:ext cx="571504" cy="571504"/>
            <a:chOff x="4429124" y="3571876"/>
            <a:chExt cx="1071570" cy="1071570"/>
          </a:xfrm>
        </p:grpSpPr>
        <p:sp>
          <p:nvSpPr>
            <p:cNvPr id="32" name="正方形/長方形 3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グループ化 35"/>
          <p:cNvGrpSpPr/>
          <p:nvPr/>
        </p:nvGrpSpPr>
        <p:grpSpPr>
          <a:xfrm>
            <a:off x="5572132" y="5214950"/>
            <a:ext cx="1071570" cy="1143008"/>
            <a:chOff x="428596" y="3500438"/>
            <a:chExt cx="2000264" cy="2143140"/>
          </a:xfrm>
        </p:grpSpPr>
        <p:sp>
          <p:nvSpPr>
            <p:cNvPr id="37" name="正方形/長方形 36"/>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弧 3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9" name="円弧 3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0" name="円弧 3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関数宣言の導入</a:t>
            </a:r>
            <a:endParaRPr kumimoji="1" lang="ja-JP" altLang="en-US" dirty="0"/>
          </a:p>
        </p:txBody>
      </p:sp>
      <p:sp>
        <p:nvSpPr>
          <p:cNvPr id="36" name="テキスト ボックス 35"/>
          <p:cNvSpPr txBox="1"/>
          <p:nvPr/>
        </p:nvSpPr>
        <p:spPr>
          <a:xfrm>
            <a:off x="642910" y="1571612"/>
            <a:ext cx="8143932" cy="3108543"/>
          </a:xfrm>
          <a:prstGeom prst="rect">
            <a:avLst/>
          </a:prstGeom>
          <a:noFill/>
        </p:spPr>
        <p:txBody>
          <a:bodyPr wrap="square" rtlCol="0">
            <a:spAutoFit/>
          </a:bodyPr>
          <a:lstStyle/>
          <a:p>
            <a:r>
              <a:rPr lang="en-US" altLang="ja-JP" sz="2800" b="1" dirty="0" smtClean="0"/>
              <a:t> fun </a:t>
            </a:r>
            <a:r>
              <a:rPr lang="en-US" altLang="ja-JP" sz="2800" dirty="0" err="1" smtClean="0"/>
              <a:t>unturn</a:t>
            </a:r>
            <a:r>
              <a:rPr lang="en-US" altLang="ja-JP" sz="2800" dirty="0" smtClean="0"/>
              <a:t> (x) = turn (turn (turn (x)))</a:t>
            </a:r>
          </a:p>
          <a:p>
            <a:r>
              <a:rPr kumimoji="1" lang="en-US" altLang="ja-JP" sz="2800" dirty="0" smtClean="0"/>
              <a:t>      </a:t>
            </a:r>
            <a:r>
              <a:rPr kumimoji="1" lang="ja-JP" altLang="en-US" sz="2800" dirty="0" smtClean="0"/>
              <a:t>左回転操作</a:t>
            </a:r>
            <a:endParaRPr lang="en-US" altLang="ja-JP" sz="2800" dirty="0" smtClean="0"/>
          </a:p>
          <a:p>
            <a:r>
              <a:rPr lang="en-US" altLang="ja-JP" sz="2800" b="1" dirty="0" smtClean="0"/>
              <a:t> fun </a:t>
            </a:r>
            <a:r>
              <a:rPr lang="en-US" altLang="ja-JP" sz="2800" dirty="0" smtClean="0"/>
              <a:t>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kumimoji="1" lang="en-US" altLang="ja-JP" sz="2800" dirty="0" smtClean="0"/>
              <a:t>      </a:t>
            </a:r>
            <a:r>
              <a:rPr kumimoji="1" lang="ja-JP" altLang="en-US" sz="2800" dirty="0" smtClean="0"/>
              <a:t>幅の等しい</a:t>
            </a:r>
            <a:r>
              <a:rPr lang="ja-JP" altLang="en-US" sz="2800" dirty="0" smtClean="0"/>
              <a:t>キルト</a:t>
            </a:r>
            <a:r>
              <a:rPr kumimoji="1" lang="en-US" altLang="ja-JP" sz="2800" dirty="0" smtClean="0"/>
              <a:t> x</a:t>
            </a:r>
            <a:r>
              <a:rPr kumimoji="1" lang="ja-JP" altLang="en-US" sz="2800" dirty="0" smtClean="0"/>
              <a:t>と</a:t>
            </a:r>
            <a:r>
              <a:rPr kumimoji="1" lang="en-US" altLang="ja-JP" sz="2800" dirty="0" smtClean="0"/>
              <a:t>y</a:t>
            </a:r>
            <a:r>
              <a:rPr kumimoji="1" lang="ja-JP" altLang="en-US" sz="2800" dirty="0" smtClean="0"/>
              <a:t>を上下に並べて縫い合わせる</a:t>
            </a:r>
            <a:r>
              <a:rPr lang="en-US" altLang="ja-JP" sz="2800" dirty="0" smtClean="0"/>
              <a:t>(</a:t>
            </a:r>
            <a:r>
              <a:rPr lang="ja-JP" altLang="en-US" sz="2800" dirty="0" smtClean="0"/>
              <a:t>上が</a:t>
            </a:r>
            <a:r>
              <a:rPr lang="en-US" altLang="ja-JP" sz="2800" dirty="0" smtClean="0"/>
              <a:t>x, </a:t>
            </a:r>
            <a:r>
              <a:rPr lang="ja-JP" altLang="en-US" sz="2800" dirty="0" smtClean="0"/>
              <a:t>下が</a:t>
            </a:r>
            <a:r>
              <a:rPr lang="en-US" altLang="ja-JP" sz="2800" dirty="0" smtClean="0"/>
              <a:t>y)</a:t>
            </a:r>
          </a:p>
          <a:p>
            <a:r>
              <a:rPr kumimoji="1" lang="ja-JP" altLang="en-US" sz="2800" dirty="0" smtClean="0"/>
              <a:t>このように、よく使う計算パターンに名前を付けることができると便利。</a:t>
            </a:r>
            <a:endParaRPr kumimoji="1" lang="en-US" altLang="ja-JP" sz="2800" dirty="0" smtClean="0"/>
          </a:p>
        </p:txBody>
      </p:sp>
      <p:sp>
        <p:nvSpPr>
          <p:cNvPr id="41" name="正方形/長方形 40"/>
          <p:cNvSpPr/>
          <p:nvPr/>
        </p:nvSpPr>
        <p:spPr>
          <a:xfrm>
            <a:off x="1000100" y="4714884"/>
            <a:ext cx="6501395" cy="1384995"/>
          </a:xfrm>
          <a:prstGeom prst="rect">
            <a:avLst/>
          </a:prstGeom>
          <a:ln>
            <a:solidFill>
              <a:schemeClr val="tx1"/>
            </a:solidFill>
          </a:ln>
        </p:spPr>
        <p:txBody>
          <a:bodyPr wrap="none">
            <a:spAutoFit/>
          </a:bodyPr>
          <a:lstStyle/>
          <a:p>
            <a:r>
              <a:rPr lang="ja-JP" altLang="en-US" sz="2800" dirty="0" smtClean="0"/>
              <a:t>関数宣言の構文</a:t>
            </a:r>
            <a:endParaRPr lang="en-US" altLang="ja-JP" sz="2800" dirty="0" smtClean="0"/>
          </a:p>
          <a:p>
            <a:r>
              <a:rPr lang="en-US" altLang="ja-JP" sz="2800" b="1" dirty="0" smtClean="0"/>
              <a:t>     fun</a:t>
            </a:r>
            <a:r>
              <a:rPr lang="en-US" altLang="ja-JP" sz="2800" dirty="0" smtClean="0"/>
              <a:t> &lt;name&gt; (&lt;formals&gt;) = &lt;exp&gt;</a:t>
            </a:r>
          </a:p>
          <a:p>
            <a:r>
              <a:rPr lang="en-US" altLang="ja-JP" sz="2800" dirty="0" smtClean="0"/>
              <a:t>&lt;formals&gt; ::= &lt;name&gt; | &lt;name&gt;, &lt;formals&gt;</a:t>
            </a:r>
          </a:p>
        </p:txBody>
      </p:sp>
      <p:sp>
        <p:nvSpPr>
          <p:cNvPr id="42" name="正方形/長方形 41"/>
          <p:cNvSpPr/>
          <p:nvPr/>
        </p:nvSpPr>
        <p:spPr>
          <a:xfrm>
            <a:off x="357158" y="6143644"/>
            <a:ext cx="8572528" cy="461665"/>
          </a:xfrm>
          <a:prstGeom prst="rect">
            <a:avLst/>
          </a:prstGeom>
        </p:spPr>
        <p:txBody>
          <a:bodyPr wrap="square">
            <a:spAutoFit/>
          </a:bodyPr>
          <a:lstStyle/>
          <a:p>
            <a:r>
              <a:rPr lang="ja-JP" altLang="en-US" sz="2400" dirty="0" smtClean="0"/>
              <a:t>ただし、</a:t>
            </a:r>
            <a:r>
              <a:rPr lang="en-US" altLang="ja-JP" sz="2400" dirty="0" smtClean="0"/>
              <a:t>&lt;exp&gt;</a:t>
            </a:r>
            <a:r>
              <a:rPr lang="ja-JP" altLang="en-US" sz="2400" dirty="0" smtClean="0"/>
              <a:t>の定義に</a:t>
            </a:r>
            <a:r>
              <a:rPr lang="en-US" altLang="ja-JP" sz="2400" dirty="0" smtClean="0"/>
              <a:t>&lt;name&gt;</a:t>
            </a:r>
            <a:r>
              <a:rPr lang="ja-JP" altLang="en-US" sz="2400" dirty="0" smtClean="0"/>
              <a:t>と関数適用式を追加する。（後述）</a:t>
            </a:r>
            <a:endParaRPr lang="en-US" altLang="ja-JP" sz="24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局所宣言</a:t>
            </a:r>
            <a:r>
              <a:rPr kumimoji="1" lang="en-US" altLang="ja-JP" dirty="0" smtClean="0"/>
              <a:t>(let</a:t>
            </a:r>
            <a:r>
              <a:rPr kumimoji="1" lang="ja-JP" altLang="en-US" dirty="0" smtClean="0"/>
              <a:t>式</a:t>
            </a:r>
            <a:r>
              <a:rPr kumimoji="1" lang="en-US" altLang="ja-JP" dirty="0" smtClean="0"/>
              <a:t>)</a:t>
            </a:r>
            <a:r>
              <a:rPr kumimoji="1" lang="ja-JP" altLang="en-US" dirty="0" smtClean="0"/>
              <a:t>の導入</a:t>
            </a:r>
            <a:endParaRPr kumimoji="1" lang="ja-JP" altLang="en-US" dirty="0"/>
          </a:p>
        </p:txBody>
      </p:sp>
      <p:sp>
        <p:nvSpPr>
          <p:cNvPr id="36" name="テキスト ボックス 35"/>
          <p:cNvSpPr txBox="1"/>
          <p:nvPr/>
        </p:nvSpPr>
        <p:spPr>
          <a:xfrm>
            <a:off x="500034" y="1214422"/>
            <a:ext cx="7500990" cy="3108543"/>
          </a:xfrm>
          <a:prstGeom prst="rect">
            <a:avLst/>
          </a:prstGeom>
          <a:noFill/>
        </p:spPr>
        <p:txBody>
          <a:bodyPr wrap="square" rtlCol="0">
            <a:spAutoFit/>
          </a:bodyPr>
          <a:lstStyle/>
          <a:p>
            <a:r>
              <a:rPr lang="ja-JP" altLang="en-US" sz="2800" dirty="0" smtClean="0"/>
              <a:t>（例）</a:t>
            </a:r>
            <a:endParaRPr lang="en-US" altLang="ja-JP" sz="2800" dirty="0" smtClean="0"/>
          </a:p>
          <a:p>
            <a:r>
              <a:rPr lang="ja-JP" altLang="en-US" sz="2800" b="1" dirty="0" smtClean="0"/>
              <a:t> </a:t>
            </a:r>
            <a:r>
              <a:rPr lang="en-US" altLang="ja-JP" sz="2800" b="1" dirty="0" smtClean="0"/>
              <a:t>let </a:t>
            </a:r>
          </a:p>
          <a:p>
            <a:r>
              <a:rPr lang="en-US" altLang="ja-JP" sz="2800" dirty="0" smtClean="0"/>
              <a:t>    fun </a:t>
            </a:r>
            <a:r>
              <a:rPr lang="en-US" altLang="ja-JP" sz="2800" dirty="0" err="1" smtClean="0"/>
              <a:t>unturn</a:t>
            </a:r>
            <a:r>
              <a:rPr lang="en-US" altLang="ja-JP" sz="2800" dirty="0" smtClean="0"/>
              <a:t> (x) = turn (turn (turn (x)))</a:t>
            </a:r>
          </a:p>
          <a:p>
            <a:r>
              <a:rPr kumimoji="1" lang="en-US" altLang="ja-JP" sz="2800" dirty="0" smtClean="0"/>
              <a:t>    </a:t>
            </a:r>
            <a:r>
              <a:rPr lang="en-US" altLang="ja-JP" sz="2800" dirty="0" smtClean="0"/>
              <a:t>fun 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kumimoji="1" lang="en-US" altLang="ja-JP" sz="2800" b="1" dirty="0" smtClean="0"/>
              <a:t> in</a:t>
            </a:r>
          </a:p>
          <a:p>
            <a:r>
              <a:rPr lang="en-US" altLang="ja-JP" sz="2800" dirty="0" smtClean="0"/>
              <a:t>     pile (</a:t>
            </a:r>
            <a:r>
              <a:rPr lang="en-US" altLang="ja-JP" sz="2800" dirty="0" err="1" smtClean="0"/>
              <a:t>unturn</a:t>
            </a:r>
            <a:r>
              <a:rPr lang="en-US" altLang="ja-JP" sz="2800" dirty="0" smtClean="0"/>
              <a:t> (b), turn (b))</a:t>
            </a:r>
          </a:p>
          <a:p>
            <a:r>
              <a:rPr lang="en-US" altLang="ja-JP" sz="2800" b="1" dirty="0" smtClean="0"/>
              <a:t> end</a:t>
            </a:r>
            <a:endParaRPr kumimoji="1" lang="en-US" altLang="ja-JP" sz="2800" b="1" dirty="0" smtClean="0"/>
          </a:p>
        </p:txBody>
      </p:sp>
      <p:sp>
        <p:nvSpPr>
          <p:cNvPr id="4" name="テキスト ボックス 3"/>
          <p:cNvSpPr txBox="1"/>
          <p:nvPr/>
        </p:nvSpPr>
        <p:spPr>
          <a:xfrm>
            <a:off x="642910" y="4357694"/>
            <a:ext cx="4217950" cy="954107"/>
          </a:xfrm>
          <a:prstGeom prst="rect">
            <a:avLst/>
          </a:prstGeom>
          <a:noFill/>
          <a:ln>
            <a:solidFill>
              <a:schemeClr val="tx1"/>
            </a:solidFill>
          </a:ln>
        </p:spPr>
        <p:txBody>
          <a:bodyPr wrap="none" rtlCol="0">
            <a:spAutoFit/>
          </a:bodyPr>
          <a:lstStyle/>
          <a:p>
            <a:r>
              <a:rPr kumimoji="1" lang="en-US" altLang="ja-JP" sz="2800" dirty="0" smtClean="0"/>
              <a:t> let</a:t>
            </a:r>
            <a:r>
              <a:rPr kumimoji="1" lang="ja-JP" altLang="en-US" sz="2800" dirty="0" smtClean="0"/>
              <a:t>式の構文</a:t>
            </a:r>
            <a:endParaRPr kumimoji="1" lang="en-US" altLang="ja-JP" sz="2800" dirty="0" smtClean="0"/>
          </a:p>
          <a:p>
            <a:r>
              <a:rPr lang="en-US" altLang="ja-JP" sz="2800" dirty="0" smtClean="0"/>
              <a:t>      </a:t>
            </a:r>
            <a:r>
              <a:rPr lang="en-US" altLang="ja-JP" sz="2800" b="1" dirty="0" smtClean="0"/>
              <a:t>let</a:t>
            </a:r>
            <a:r>
              <a:rPr lang="en-US" altLang="ja-JP" sz="2800" dirty="0" smtClean="0"/>
              <a:t> &lt;</a:t>
            </a:r>
            <a:r>
              <a:rPr lang="en-US" altLang="ja-JP" sz="2800" dirty="0" err="1" smtClean="0"/>
              <a:t>decls</a:t>
            </a:r>
            <a:r>
              <a:rPr lang="en-US" altLang="ja-JP" sz="2800" dirty="0" smtClean="0"/>
              <a:t>&gt; </a:t>
            </a:r>
            <a:r>
              <a:rPr lang="en-US" altLang="ja-JP" sz="2800" b="1" dirty="0" smtClean="0"/>
              <a:t>in</a:t>
            </a:r>
            <a:r>
              <a:rPr lang="en-US" altLang="ja-JP" sz="2800" dirty="0" smtClean="0"/>
              <a:t> &lt;exp&gt; </a:t>
            </a:r>
            <a:r>
              <a:rPr lang="en-US" altLang="ja-JP" sz="2800" b="1" dirty="0" smtClean="0"/>
              <a:t>end</a:t>
            </a:r>
          </a:p>
        </p:txBody>
      </p:sp>
      <p:sp>
        <p:nvSpPr>
          <p:cNvPr id="5" name="正方形/長方形 4"/>
          <p:cNvSpPr/>
          <p:nvPr/>
        </p:nvSpPr>
        <p:spPr>
          <a:xfrm>
            <a:off x="571472" y="5429264"/>
            <a:ext cx="7929586" cy="1200329"/>
          </a:xfrm>
          <a:prstGeom prst="rect">
            <a:avLst/>
          </a:prstGeom>
        </p:spPr>
        <p:txBody>
          <a:bodyPr wrap="square">
            <a:spAutoFit/>
          </a:bodyPr>
          <a:lstStyle/>
          <a:p>
            <a:r>
              <a:rPr lang="en-US" altLang="ja-JP" sz="2400" dirty="0" smtClean="0"/>
              <a:t>&lt;</a:t>
            </a:r>
            <a:r>
              <a:rPr lang="en-US" altLang="ja-JP" sz="2400" dirty="0" err="1" smtClean="0"/>
              <a:t>decls</a:t>
            </a:r>
            <a:r>
              <a:rPr lang="en-US" altLang="ja-JP" sz="2400" dirty="0" smtClean="0"/>
              <a:t>&gt;</a:t>
            </a:r>
            <a:r>
              <a:rPr lang="ja-JP" altLang="en-US" sz="2400" dirty="0" smtClean="0"/>
              <a:t>で宣言された関数名の有効範囲は、</a:t>
            </a:r>
            <a:r>
              <a:rPr lang="en-US" altLang="ja-JP" sz="2400" dirty="0" smtClean="0"/>
              <a:t>&lt;</a:t>
            </a:r>
            <a:r>
              <a:rPr lang="en-US" altLang="ja-JP" sz="2400" dirty="0" err="1" smtClean="0"/>
              <a:t>decls</a:t>
            </a:r>
            <a:r>
              <a:rPr lang="en-US" altLang="ja-JP" sz="2400" dirty="0" smtClean="0"/>
              <a:t>&gt;</a:t>
            </a:r>
            <a:r>
              <a:rPr lang="ja-JP" altLang="en-US" sz="2400" dirty="0" smtClean="0"/>
              <a:t>内のその宣言以降および</a:t>
            </a:r>
            <a:r>
              <a:rPr lang="en-US" altLang="ja-JP" sz="2400" dirty="0" smtClean="0"/>
              <a:t>in</a:t>
            </a:r>
            <a:r>
              <a:rPr lang="ja-JP" altLang="en-US" sz="2400" dirty="0" smtClean="0"/>
              <a:t>と</a:t>
            </a:r>
            <a:r>
              <a:rPr lang="en-US" altLang="ja-JP" sz="2400" dirty="0" smtClean="0"/>
              <a:t>end</a:t>
            </a:r>
            <a:r>
              <a:rPr lang="ja-JP" altLang="en-US" sz="2400" dirty="0" smtClean="0"/>
              <a:t>の間。ただし、その範囲内で同じ名前が導入された場合はその名前の有効範囲を</a:t>
            </a:r>
            <a:r>
              <a:rPr lang="ja-JP" altLang="en-US" sz="2400" dirty="0" smtClean="0"/>
              <a:t>除いた部分。</a:t>
            </a:r>
            <a:endParaRPr lang="en-US" altLang="ja-JP" sz="2400" dirty="0" smtClean="0"/>
          </a:p>
        </p:txBody>
      </p:sp>
      <p:sp>
        <p:nvSpPr>
          <p:cNvPr id="6" name="正方形/長方形 5"/>
          <p:cNvSpPr/>
          <p:nvPr/>
        </p:nvSpPr>
        <p:spPr>
          <a:xfrm>
            <a:off x="5072066" y="4643446"/>
            <a:ext cx="3676006" cy="461665"/>
          </a:xfrm>
          <a:prstGeom prst="rect">
            <a:avLst/>
          </a:prstGeom>
        </p:spPr>
        <p:txBody>
          <a:bodyPr wrap="none">
            <a:spAutoFit/>
          </a:bodyPr>
          <a:lstStyle/>
          <a:p>
            <a:r>
              <a:rPr lang="en-US" altLang="ja-JP" sz="2400" dirty="0" smtClean="0"/>
              <a:t>&lt;</a:t>
            </a:r>
            <a:r>
              <a:rPr lang="en-US" altLang="ja-JP" sz="2400" dirty="0" err="1" smtClean="0"/>
              <a:t>decls</a:t>
            </a:r>
            <a:r>
              <a:rPr lang="en-US" altLang="ja-JP" sz="2400" dirty="0" smtClean="0"/>
              <a:t>&gt;</a:t>
            </a:r>
            <a:r>
              <a:rPr lang="ja-JP" altLang="en-US" sz="2400" dirty="0" smtClean="0"/>
              <a:t>の定義は後で行う。</a:t>
            </a:r>
            <a:endParaRPr lang="en-US" altLang="ja-JP" sz="2400" dirty="0" smtClean="0"/>
          </a:p>
        </p:txBody>
      </p:sp>
      <p:grpSp>
        <p:nvGrpSpPr>
          <p:cNvPr id="7" name="グループ化 20"/>
          <p:cNvGrpSpPr/>
          <p:nvPr/>
        </p:nvGrpSpPr>
        <p:grpSpPr>
          <a:xfrm rot="5400000">
            <a:off x="7858148" y="3286124"/>
            <a:ext cx="571504" cy="571504"/>
            <a:chOff x="4429124" y="3571876"/>
            <a:chExt cx="1071570" cy="1071570"/>
          </a:xfrm>
        </p:grpSpPr>
        <p:sp>
          <p:nvSpPr>
            <p:cNvPr id="8" name="正方形/長方形 7"/>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グループ化 20"/>
          <p:cNvGrpSpPr/>
          <p:nvPr/>
        </p:nvGrpSpPr>
        <p:grpSpPr>
          <a:xfrm rot="16200000">
            <a:off x="7858148" y="2714620"/>
            <a:ext cx="571504" cy="571504"/>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値に名前を付ける</a:t>
            </a:r>
            <a:r>
              <a:rPr lang="ja-JP" altLang="en-US" dirty="0" smtClean="0"/>
              <a:t>構文の導入</a:t>
            </a:r>
            <a:endParaRPr kumimoji="1" lang="ja-JP" altLang="en-US" dirty="0"/>
          </a:p>
        </p:txBody>
      </p:sp>
      <p:sp>
        <p:nvSpPr>
          <p:cNvPr id="4" name="テキスト ボックス 3"/>
          <p:cNvSpPr txBox="1"/>
          <p:nvPr/>
        </p:nvSpPr>
        <p:spPr>
          <a:xfrm>
            <a:off x="714348" y="1714488"/>
            <a:ext cx="3398110" cy="3108543"/>
          </a:xfrm>
          <a:prstGeom prst="rect">
            <a:avLst/>
          </a:prstGeom>
          <a:noFill/>
        </p:spPr>
        <p:txBody>
          <a:bodyPr wrap="none" rtlCol="0">
            <a:spAutoFit/>
          </a:bodyPr>
          <a:lstStyle/>
          <a:p>
            <a:r>
              <a:rPr lang="en-US" altLang="ja-JP" sz="2800" dirty="0" smtClean="0"/>
              <a:t>(</a:t>
            </a:r>
            <a:r>
              <a:rPr lang="ja-JP" altLang="en-US" sz="2800" dirty="0" smtClean="0"/>
              <a:t>例</a:t>
            </a:r>
            <a:r>
              <a:rPr lang="en-US" altLang="ja-JP" sz="2800" dirty="0" smtClean="0"/>
              <a:t>)   </a:t>
            </a:r>
          </a:p>
          <a:p>
            <a:r>
              <a:rPr lang="en-US" altLang="ja-JP" sz="2800" b="1" dirty="0" smtClean="0"/>
              <a:t>   let</a:t>
            </a:r>
            <a:r>
              <a:rPr lang="en-US" altLang="ja-JP" sz="2800" dirty="0" smtClean="0"/>
              <a:t> </a:t>
            </a:r>
          </a:p>
          <a:p>
            <a:r>
              <a:rPr lang="ja-JP" altLang="en-US" sz="2800" dirty="0" smtClean="0"/>
              <a:t>         </a:t>
            </a:r>
            <a:r>
              <a:rPr lang="en-US" altLang="ja-JP" sz="2800" dirty="0" err="1" smtClean="0"/>
              <a:t>val</a:t>
            </a:r>
            <a:r>
              <a:rPr lang="en-US" altLang="ja-JP" sz="2800" dirty="0" smtClean="0"/>
              <a:t> x = </a:t>
            </a:r>
            <a:r>
              <a:rPr lang="en-US" altLang="ja-JP" sz="2800" dirty="0" err="1" smtClean="0"/>
              <a:t>unturn</a:t>
            </a:r>
            <a:r>
              <a:rPr lang="en-US" altLang="ja-JP" sz="2800" dirty="0" smtClean="0"/>
              <a:t> (b)</a:t>
            </a:r>
          </a:p>
          <a:p>
            <a:r>
              <a:rPr lang="en-US" altLang="ja-JP" sz="2800" dirty="0" smtClean="0"/>
              <a:t>         </a:t>
            </a:r>
            <a:r>
              <a:rPr lang="en-US" altLang="ja-JP" sz="2800" dirty="0" err="1" smtClean="0"/>
              <a:t>val</a:t>
            </a:r>
            <a:r>
              <a:rPr lang="en-US" altLang="ja-JP" sz="2800" dirty="0" smtClean="0"/>
              <a:t> y = turn (b)</a:t>
            </a:r>
          </a:p>
          <a:p>
            <a:r>
              <a:rPr lang="en-US" altLang="ja-JP" sz="2800" b="1" dirty="0" smtClean="0"/>
              <a:t>   in</a:t>
            </a:r>
          </a:p>
          <a:p>
            <a:r>
              <a:rPr lang="en-US" altLang="ja-JP" sz="2800" dirty="0" smtClean="0"/>
              <a:t>         sew (</a:t>
            </a:r>
            <a:r>
              <a:rPr lang="en-US" altLang="ja-JP" sz="2800" dirty="0" err="1" smtClean="0"/>
              <a:t>x,y</a:t>
            </a:r>
            <a:r>
              <a:rPr lang="en-US" altLang="ja-JP" sz="2800" dirty="0" smtClean="0"/>
              <a:t>)</a:t>
            </a:r>
          </a:p>
          <a:p>
            <a:r>
              <a:rPr lang="en-US" altLang="ja-JP" sz="2800" b="1" dirty="0" smtClean="0"/>
              <a:t>   end</a:t>
            </a:r>
          </a:p>
        </p:txBody>
      </p:sp>
      <p:grpSp>
        <p:nvGrpSpPr>
          <p:cNvPr id="5" name="グループ化 4"/>
          <p:cNvGrpSpPr/>
          <p:nvPr/>
        </p:nvGrpSpPr>
        <p:grpSpPr>
          <a:xfrm rot="16200000">
            <a:off x="5286380" y="3143249"/>
            <a:ext cx="1071570" cy="1071570"/>
            <a:chOff x="4429124" y="3571876"/>
            <a:chExt cx="1071570" cy="1071570"/>
          </a:xfrm>
        </p:grpSpPr>
        <p:sp>
          <p:nvSpPr>
            <p:cNvPr id="6" name="正方形/長方形 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グループ化 9"/>
          <p:cNvGrpSpPr/>
          <p:nvPr/>
        </p:nvGrpSpPr>
        <p:grpSpPr>
          <a:xfrm rot="5400000">
            <a:off x="6357950" y="3143248"/>
            <a:ext cx="1071570" cy="1071570"/>
            <a:chOff x="4429124" y="3571876"/>
            <a:chExt cx="1071570" cy="1071570"/>
          </a:xfrm>
        </p:grpSpPr>
        <p:sp>
          <p:nvSpPr>
            <p:cNvPr id="11" name="正方形/長方形 1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正方形/長方形 14"/>
          <p:cNvSpPr/>
          <p:nvPr/>
        </p:nvSpPr>
        <p:spPr>
          <a:xfrm>
            <a:off x="1214414" y="5072074"/>
            <a:ext cx="6420412" cy="954107"/>
          </a:xfrm>
          <a:prstGeom prst="rect">
            <a:avLst/>
          </a:prstGeom>
          <a:ln>
            <a:solidFill>
              <a:schemeClr val="tx1"/>
            </a:solidFill>
          </a:ln>
        </p:spPr>
        <p:txBody>
          <a:bodyPr wrap="none">
            <a:spAutoFit/>
          </a:bodyPr>
          <a:lstStyle/>
          <a:p>
            <a:r>
              <a:rPr lang="ja-JP" altLang="en-US" sz="2800" dirty="0" smtClean="0"/>
              <a:t>値に名前を付ける構文（</a:t>
            </a:r>
            <a:r>
              <a:rPr lang="en-US" altLang="ja-JP" sz="2800" dirty="0" smtClean="0"/>
              <a:t>value declaration)</a:t>
            </a:r>
          </a:p>
          <a:p>
            <a:r>
              <a:rPr lang="en-US" altLang="ja-JP" sz="2800" dirty="0" smtClean="0"/>
              <a:t>    </a:t>
            </a:r>
            <a:r>
              <a:rPr lang="en-US" altLang="ja-JP" sz="2800" b="1" dirty="0" err="1" smtClean="0"/>
              <a:t>val</a:t>
            </a:r>
            <a:r>
              <a:rPr lang="en-US" altLang="ja-JP" sz="2800" dirty="0" smtClean="0"/>
              <a:t> &lt;name&gt; = &lt;exp&gt;</a:t>
            </a:r>
          </a:p>
        </p:txBody>
      </p:sp>
      <p:sp>
        <p:nvSpPr>
          <p:cNvPr id="16" name="テキスト ボックス 15"/>
          <p:cNvSpPr txBox="1"/>
          <p:nvPr/>
        </p:nvSpPr>
        <p:spPr>
          <a:xfrm>
            <a:off x="1071538" y="6143644"/>
            <a:ext cx="7164141" cy="400110"/>
          </a:xfrm>
          <a:prstGeom prst="rect">
            <a:avLst/>
          </a:prstGeom>
          <a:noFill/>
        </p:spPr>
        <p:txBody>
          <a:bodyPr wrap="none" rtlCol="0">
            <a:spAutoFit/>
          </a:bodyPr>
          <a:lstStyle/>
          <a:p>
            <a:r>
              <a:rPr kumimoji="1" lang="ja-JP" altLang="en-US" sz="2000" dirty="0" smtClean="0"/>
              <a:t>この構文についても、名前の有効範囲は関数宣言の場合と同じ。</a:t>
            </a:r>
            <a:endParaRPr kumimoji="1" lang="ja-JP" altLang="en-US"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少し大きな例</a:t>
            </a:r>
            <a:endParaRPr kumimoji="1" lang="ja-JP" altLang="en-US" dirty="0"/>
          </a:p>
        </p:txBody>
      </p:sp>
      <p:sp>
        <p:nvSpPr>
          <p:cNvPr id="4" name="テキスト ボックス 3"/>
          <p:cNvSpPr txBox="1"/>
          <p:nvPr/>
        </p:nvSpPr>
        <p:spPr>
          <a:xfrm>
            <a:off x="357158" y="1428736"/>
            <a:ext cx="8429652" cy="4401205"/>
          </a:xfrm>
          <a:prstGeom prst="rect">
            <a:avLst/>
          </a:prstGeom>
          <a:noFill/>
        </p:spPr>
        <p:txBody>
          <a:bodyPr wrap="square" rtlCol="0">
            <a:spAutoFit/>
          </a:bodyPr>
          <a:lstStyle/>
          <a:p>
            <a:r>
              <a:rPr kumimoji="1" lang="en-US" altLang="ja-JP" sz="2800" b="1" dirty="0" smtClean="0"/>
              <a:t> </a:t>
            </a:r>
            <a:r>
              <a:rPr lang="ja-JP" altLang="en-US" sz="2800" b="1" dirty="0" smtClean="0"/>
              <a:t> </a:t>
            </a:r>
            <a:r>
              <a:rPr lang="en-US" altLang="ja-JP" sz="2800" b="1" dirty="0" smtClean="0"/>
              <a:t>let  </a:t>
            </a:r>
            <a:endParaRPr lang="en-US" altLang="ja-JP" sz="2800" b="1" dirty="0" smtClean="0"/>
          </a:p>
          <a:p>
            <a:r>
              <a:rPr lang="ja-JP" altLang="en-US" sz="2800" b="1" dirty="0" smtClean="0"/>
              <a:t>         </a:t>
            </a:r>
            <a:r>
              <a:rPr lang="en-US" altLang="ja-JP" sz="2800" b="1" dirty="0" smtClean="0"/>
              <a:t>fun</a:t>
            </a:r>
            <a:r>
              <a:rPr lang="en-US" altLang="ja-JP" sz="2800" dirty="0" smtClean="0"/>
              <a:t>  </a:t>
            </a:r>
            <a:r>
              <a:rPr lang="en-US" altLang="ja-JP" sz="2800" dirty="0" err="1" smtClean="0"/>
              <a:t>unturn</a:t>
            </a:r>
            <a:r>
              <a:rPr lang="en-US" altLang="ja-JP" sz="2800" dirty="0" smtClean="0"/>
              <a:t> (x) = turn (turn (turn (x)))</a:t>
            </a:r>
          </a:p>
          <a:p>
            <a:r>
              <a:rPr lang="en-US" altLang="ja-JP" sz="2800" b="1" dirty="0" smtClean="0"/>
              <a:t>         fun </a:t>
            </a:r>
            <a:r>
              <a:rPr lang="en-US" altLang="ja-JP" sz="2800" dirty="0" smtClean="0"/>
              <a:t>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lang="en-US" altLang="ja-JP" sz="2800" b="1" dirty="0" smtClean="0"/>
              <a:t>         </a:t>
            </a:r>
            <a:r>
              <a:rPr lang="en-US" altLang="ja-JP" sz="2800" b="1" dirty="0" err="1" smtClean="0"/>
              <a:t>val</a:t>
            </a:r>
            <a:r>
              <a:rPr lang="en-US" altLang="ja-JP" sz="2800" b="1" dirty="0" smtClean="0"/>
              <a:t>  </a:t>
            </a:r>
            <a:r>
              <a:rPr lang="en-US" altLang="ja-JP" sz="2800" dirty="0" err="1" smtClean="0"/>
              <a:t>aa</a:t>
            </a:r>
            <a:r>
              <a:rPr lang="en-US" altLang="ja-JP" sz="2800" dirty="0" smtClean="0"/>
              <a:t> = pile (a, turn (turn (a)))</a:t>
            </a:r>
          </a:p>
          <a:p>
            <a:r>
              <a:rPr lang="en-US" altLang="ja-JP" sz="2800" b="1" dirty="0" smtClean="0"/>
              <a:t>         </a:t>
            </a:r>
            <a:r>
              <a:rPr lang="en-US" altLang="ja-JP" sz="2800" b="1" dirty="0" err="1" smtClean="0"/>
              <a:t>val</a:t>
            </a:r>
            <a:r>
              <a:rPr lang="en-US" altLang="ja-JP" sz="2800" b="1" dirty="0" smtClean="0"/>
              <a:t>  </a:t>
            </a:r>
            <a:r>
              <a:rPr lang="en-US" altLang="ja-JP" sz="2800" dirty="0" smtClean="0"/>
              <a:t>bb = pile (</a:t>
            </a:r>
            <a:r>
              <a:rPr lang="en-US" altLang="ja-JP" sz="2800" dirty="0" err="1" smtClean="0"/>
              <a:t>unturn</a:t>
            </a:r>
            <a:r>
              <a:rPr lang="en-US" altLang="ja-JP" sz="2800" dirty="0" smtClean="0"/>
              <a:t> (b), turn (b))</a:t>
            </a:r>
          </a:p>
          <a:p>
            <a:r>
              <a:rPr lang="en-US" altLang="ja-JP" sz="2800" b="1" dirty="0" smtClean="0"/>
              <a:t>         </a:t>
            </a:r>
            <a:r>
              <a:rPr lang="en-US" altLang="ja-JP" sz="2800" b="1" dirty="0" err="1" smtClean="0"/>
              <a:t>val</a:t>
            </a:r>
            <a:r>
              <a:rPr lang="en-US" altLang="ja-JP" sz="2800" b="1" dirty="0" smtClean="0"/>
              <a:t>  </a:t>
            </a:r>
            <a:r>
              <a:rPr lang="en-US" altLang="ja-JP" sz="2800" dirty="0" smtClean="0"/>
              <a:t>p = sew (bb, </a:t>
            </a:r>
            <a:r>
              <a:rPr lang="en-US" altLang="ja-JP" sz="2800" dirty="0" err="1" smtClean="0"/>
              <a:t>aa</a:t>
            </a:r>
            <a:r>
              <a:rPr lang="en-US" altLang="ja-JP" sz="2800" dirty="0" smtClean="0"/>
              <a:t>)</a:t>
            </a:r>
          </a:p>
          <a:p>
            <a:r>
              <a:rPr lang="en-US" altLang="ja-JP" sz="2800" b="1" dirty="0" smtClean="0"/>
              <a:t>         </a:t>
            </a:r>
            <a:r>
              <a:rPr lang="en-US" altLang="ja-JP" sz="2800" b="1" dirty="0" err="1" smtClean="0"/>
              <a:t>val</a:t>
            </a:r>
            <a:r>
              <a:rPr lang="en-US" altLang="ja-JP" sz="2800" b="1" dirty="0" smtClean="0"/>
              <a:t>  </a:t>
            </a:r>
            <a:r>
              <a:rPr lang="en-US" altLang="ja-JP" sz="2800" dirty="0" smtClean="0"/>
              <a:t>q = sew (</a:t>
            </a:r>
            <a:r>
              <a:rPr lang="en-US" altLang="ja-JP" sz="2800" dirty="0" err="1" smtClean="0"/>
              <a:t>aa</a:t>
            </a:r>
            <a:r>
              <a:rPr lang="en-US" altLang="ja-JP" sz="2800" dirty="0" smtClean="0"/>
              <a:t>, bb)</a:t>
            </a:r>
          </a:p>
          <a:p>
            <a:r>
              <a:rPr lang="en-US" altLang="ja-JP" sz="2800" b="1" dirty="0" smtClean="0"/>
              <a:t>  in</a:t>
            </a:r>
          </a:p>
          <a:p>
            <a:r>
              <a:rPr lang="en-US" altLang="ja-JP" sz="2800" b="1" dirty="0" smtClean="0"/>
              <a:t>         </a:t>
            </a:r>
            <a:r>
              <a:rPr lang="en-US" altLang="ja-JP" sz="2800" dirty="0" smtClean="0"/>
              <a:t>pile (</a:t>
            </a:r>
            <a:r>
              <a:rPr lang="en-US" altLang="ja-JP" sz="2800" dirty="0" err="1" smtClean="0"/>
              <a:t>p,q</a:t>
            </a:r>
            <a:r>
              <a:rPr lang="en-US" altLang="ja-JP" sz="2800" dirty="0" smtClean="0"/>
              <a:t>)</a:t>
            </a:r>
          </a:p>
          <a:p>
            <a:r>
              <a:rPr lang="en-US" altLang="ja-JP" sz="2800" b="1" dirty="0" smtClean="0"/>
              <a:t> </a:t>
            </a:r>
            <a:r>
              <a:rPr lang="ja-JP" altLang="en-US" sz="2800" b="1" dirty="0" smtClean="0"/>
              <a:t> </a:t>
            </a:r>
            <a:r>
              <a:rPr lang="en-US" altLang="ja-JP" sz="2800" b="1" dirty="0" smtClean="0"/>
              <a:t>end</a:t>
            </a:r>
          </a:p>
        </p:txBody>
      </p:sp>
      <p:grpSp>
        <p:nvGrpSpPr>
          <p:cNvPr id="15" name="グループ化 14"/>
          <p:cNvGrpSpPr/>
          <p:nvPr/>
        </p:nvGrpSpPr>
        <p:grpSpPr>
          <a:xfrm>
            <a:off x="6429388" y="3929065"/>
            <a:ext cx="1071570" cy="1143008"/>
            <a:chOff x="428596" y="3500438"/>
            <a:chExt cx="2000264" cy="2143140"/>
          </a:xfrm>
        </p:grpSpPr>
        <p:sp>
          <p:nvSpPr>
            <p:cNvPr id="16" name="正方形/長方形 1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弧 1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8" name="円弧 1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9" name="円弧 1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0" name="グループ化 19"/>
          <p:cNvGrpSpPr/>
          <p:nvPr/>
        </p:nvGrpSpPr>
        <p:grpSpPr>
          <a:xfrm rot="10800000">
            <a:off x="6929454" y="3929065"/>
            <a:ext cx="1071570" cy="1143008"/>
            <a:chOff x="428596" y="3500438"/>
            <a:chExt cx="2000264" cy="2143140"/>
          </a:xfrm>
        </p:grpSpPr>
        <p:sp>
          <p:nvSpPr>
            <p:cNvPr id="21" name="正方形/長方形 2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弧 2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3" name="円弧 2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円弧 2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5" name="グループ化 20"/>
          <p:cNvGrpSpPr/>
          <p:nvPr/>
        </p:nvGrpSpPr>
        <p:grpSpPr>
          <a:xfrm rot="5400000">
            <a:off x="6357950" y="4500569"/>
            <a:ext cx="571504" cy="571504"/>
            <a:chOff x="4429124" y="3571876"/>
            <a:chExt cx="1071570" cy="1071570"/>
          </a:xfrm>
        </p:grpSpPr>
        <p:sp>
          <p:nvSpPr>
            <p:cNvPr id="26" name="正方形/長方形 2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グループ化 20"/>
          <p:cNvGrpSpPr/>
          <p:nvPr/>
        </p:nvGrpSpPr>
        <p:grpSpPr>
          <a:xfrm rot="16200000">
            <a:off x="6357950" y="3929065"/>
            <a:ext cx="571504" cy="571504"/>
            <a:chOff x="4429124" y="3571876"/>
            <a:chExt cx="1071570" cy="1071570"/>
          </a:xfrm>
        </p:grpSpPr>
        <p:sp>
          <p:nvSpPr>
            <p:cNvPr id="31" name="正方形/長方形 3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グループ化 20"/>
          <p:cNvGrpSpPr/>
          <p:nvPr/>
        </p:nvGrpSpPr>
        <p:grpSpPr>
          <a:xfrm rot="5400000">
            <a:off x="6929454" y="5643577"/>
            <a:ext cx="571504" cy="571504"/>
            <a:chOff x="4429124" y="3571876"/>
            <a:chExt cx="1071570" cy="1071570"/>
          </a:xfrm>
        </p:grpSpPr>
        <p:sp>
          <p:nvSpPr>
            <p:cNvPr id="36" name="正方形/長方形 3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コネクタ 3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グループ化 20"/>
          <p:cNvGrpSpPr/>
          <p:nvPr/>
        </p:nvGrpSpPr>
        <p:grpSpPr>
          <a:xfrm rot="16200000">
            <a:off x="6929454" y="5072073"/>
            <a:ext cx="571504" cy="571504"/>
            <a:chOff x="4429124" y="3571876"/>
            <a:chExt cx="1071570" cy="1071570"/>
          </a:xfrm>
        </p:grpSpPr>
        <p:sp>
          <p:nvSpPr>
            <p:cNvPr id="41" name="正方形/長方形 4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コネクタ 4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グループ化 64"/>
          <p:cNvGrpSpPr/>
          <p:nvPr/>
        </p:nvGrpSpPr>
        <p:grpSpPr>
          <a:xfrm>
            <a:off x="5857884" y="5072073"/>
            <a:ext cx="1071570" cy="1143008"/>
            <a:chOff x="428596" y="3500438"/>
            <a:chExt cx="2000264" cy="2143140"/>
          </a:xfrm>
        </p:grpSpPr>
        <p:sp>
          <p:nvSpPr>
            <p:cNvPr id="66" name="正方形/長方形 6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弧 6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8" name="円弧 6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9" name="円弧 6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70" name="グループ化 69"/>
          <p:cNvGrpSpPr/>
          <p:nvPr/>
        </p:nvGrpSpPr>
        <p:grpSpPr>
          <a:xfrm rot="10800000">
            <a:off x="6357950" y="5072073"/>
            <a:ext cx="1071570" cy="1143008"/>
            <a:chOff x="428596" y="3500438"/>
            <a:chExt cx="2000264" cy="2143140"/>
          </a:xfrm>
        </p:grpSpPr>
        <p:sp>
          <p:nvSpPr>
            <p:cNvPr id="71" name="正方形/長方形 7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弧 7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3" name="円弧 7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4" name="円弧 7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57158" y="1571612"/>
            <a:ext cx="8143932" cy="3539430"/>
          </a:xfrm>
          <a:prstGeom prst="rect">
            <a:avLst/>
          </a:prstGeom>
          <a:noFill/>
        </p:spPr>
        <p:txBody>
          <a:bodyPr wrap="square" rtlCol="0">
            <a:spAutoFit/>
          </a:bodyPr>
          <a:lstStyle/>
          <a:p>
            <a:r>
              <a:rPr kumimoji="1" lang="en-US" altLang="ja-JP" sz="2800" dirty="0" smtClean="0"/>
              <a:t> </a:t>
            </a:r>
            <a:r>
              <a:rPr lang="ja-JP" altLang="en-US" sz="2800" dirty="0" smtClean="0"/>
              <a:t> </a:t>
            </a:r>
            <a:r>
              <a:rPr lang="en-US" altLang="ja-JP" sz="2800" dirty="0" smtClean="0"/>
              <a:t>&lt;exp&gt; ::= a | b | &lt;name&gt; | &lt;name&gt; ( &lt;</a:t>
            </a:r>
            <a:r>
              <a:rPr lang="en-US" altLang="ja-JP" sz="2800" dirty="0" err="1" smtClean="0"/>
              <a:t>actuals</a:t>
            </a:r>
            <a:r>
              <a:rPr lang="en-US" altLang="ja-JP" sz="2800" dirty="0" smtClean="0"/>
              <a:t>&gt;)</a:t>
            </a:r>
          </a:p>
          <a:p>
            <a:r>
              <a:rPr lang="en-US" altLang="ja-JP" sz="2800" dirty="0" smtClean="0"/>
              <a:t>               | turn (&lt;exp&gt;) | sew (&lt;exp&gt;, &lt;exp&gt;)</a:t>
            </a:r>
          </a:p>
          <a:p>
            <a:r>
              <a:rPr lang="en-US" altLang="ja-JP" sz="2800" dirty="0" smtClean="0"/>
              <a:t>               | </a:t>
            </a:r>
            <a:r>
              <a:rPr lang="en-US" altLang="ja-JP" sz="2800" b="1" dirty="0" smtClean="0"/>
              <a:t>let</a:t>
            </a:r>
            <a:r>
              <a:rPr lang="en-US" altLang="ja-JP" sz="2800" dirty="0" smtClean="0"/>
              <a:t> &lt;</a:t>
            </a:r>
            <a:r>
              <a:rPr lang="en-US" altLang="ja-JP" sz="2800" dirty="0" err="1" smtClean="0"/>
              <a:t>decls</a:t>
            </a:r>
            <a:r>
              <a:rPr lang="en-US" altLang="ja-JP" sz="2800" dirty="0" smtClean="0"/>
              <a:t>&gt; </a:t>
            </a:r>
            <a:r>
              <a:rPr lang="en-US" altLang="ja-JP" sz="2800" b="1" dirty="0" smtClean="0"/>
              <a:t>in</a:t>
            </a:r>
            <a:r>
              <a:rPr lang="en-US" altLang="ja-JP" sz="2800" dirty="0" smtClean="0"/>
              <a:t> &lt;exp&gt; </a:t>
            </a:r>
            <a:r>
              <a:rPr lang="en-US" altLang="ja-JP" sz="2800" b="1" dirty="0" smtClean="0"/>
              <a:t>end</a:t>
            </a:r>
          </a:p>
          <a:p>
            <a:r>
              <a:rPr lang="en-US" altLang="ja-JP" sz="2800" dirty="0" smtClean="0"/>
              <a:t>  &lt;</a:t>
            </a:r>
            <a:r>
              <a:rPr lang="en-US" altLang="ja-JP" sz="2800" dirty="0" err="1" smtClean="0"/>
              <a:t>actuals</a:t>
            </a:r>
            <a:r>
              <a:rPr lang="en-US" altLang="ja-JP" sz="2800" dirty="0" smtClean="0"/>
              <a:t>&gt; ::=  &lt;exp&gt;  |  &lt;exp&gt; ,  &lt;</a:t>
            </a:r>
            <a:r>
              <a:rPr lang="en-US" altLang="ja-JP" sz="2800" dirty="0" err="1" smtClean="0"/>
              <a:t>actuals</a:t>
            </a:r>
            <a:r>
              <a:rPr lang="en-US" altLang="ja-JP" sz="2800" dirty="0" smtClean="0"/>
              <a:t>&gt;</a:t>
            </a:r>
          </a:p>
          <a:p>
            <a:r>
              <a:rPr lang="en-US" altLang="ja-JP" sz="2800" dirty="0" smtClean="0"/>
              <a:t>  &lt;</a:t>
            </a:r>
            <a:r>
              <a:rPr lang="en-US" altLang="ja-JP" sz="2800" dirty="0" err="1" smtClean="0"/>
              <a:t>decls</a:t>
            </a:r>
            <a:r>
              <a:rPr lang="en-US" altLang="ja-JP" sz="2800" dirty="0" smtClean="0"/>
              <a:t>&gt; ::= &lt;</a:t>
            </a:r>
            <a:r>
              <a:rPr lang="en-US" altLang="ja-JP" sz="2800" dirty="0" err="1" smtClean="0"/>
              <a:t>decl</a:t>
            </a:r>
            <a:r>
              <a:rPr lang="en-US" altLang="ja-JP" sz="2800" dirty="0" smtClean="0"/>
              <a:t>&gt; | &lt;</a:t>
            </a:r>
            <a:r>
              <a:rPr lang="en-US" altLang="ja-JP" sz="2800" dirty="0" err="1" smtClean="0"/>
              <a:t>decl</a:t>
            </a:r>
            <a:r>
              <a:rPr lang="en-US" altLang="ja-JP" sz="2800" dirty="0" smtClean="0"/>
              <a:t>&gt; &lt;</a:t>
            </a:r>
            <a:r>
              <a:rPr lang="en-US" altLang="ja-JP" sz="2800" dirty="0" err="1" smtClean="0"/>
              <a:t>decls</a:t>
            </a:r>
            <a:r>
              <a:rPr lang="en-US" altLang="ja-JP" sz="2800" dirty="0" smtClean="0"/>
              <a:t>&gt;</a:t>
            </a:r>
          </a:p>
          <a:p>
            <a:r>
              <a:rPr lang="en-US" altLang="ja-JP" sz="2800" dirty="0" smtClean="0"/>
              <a:t>  &lt;</a:t>
            </a:r>
            <a:r>
              <a:rPr lang="en-US" altLang="ja-JP" sz="2800" dirty="0" err="1" smtClean="0"/>
              <a:t>decl</a:t>
            </a:r>
            <a:r>
              <a:rPr lang="en-US" altLang="ja-JP" sz="2800" dirty="0" smtClean="0"/>
              <a:t>&gt; ::= </a:t>
            </a:r>
            <a:r>
              <a:rPr lang="en-US" altLang="ja-JP" sz="2800" b="1" dirty="0" smtClean="0"/>
              <a:t>fun</a:t>
            </a:r>
            <a:r>
              <a:rPr lang="en-US" altLang="ja-JP" sz="2800" dirty="0" smtClean="0"/>
              <a:t> &lt;name&gt; (&lt;formals&gt;) = &lt;exp&gt;</a:t>
            </a:r>
          </a:p>
          <a:p>
            <a:r>
              <a:rPr lang="en-US" altLang="ja-JP" sz="2800" dirty="0" smtClean="0"/>
              <a:t>                  | </a:t>
            </a:r>
            <a:r>
              <a:rPr lang="en-US" altLang="ja-JP" sz="2800" b="1" dirty="0" err="1" smtClean="0"/>
              <a:t>val</a:t>
            </a:r>
            <a:r>
              <a:rPr lang="en-US" altLang="ja-JP" sz="2800" dirty="0" smtClean="0"/>
              <a:t> &lt;name&gt; = &lt;exp&gt;</a:t>
            </a:r>
          </a:p>
          <a:p>
            <a:r>
              <a:rPr lang="en-US" altLang="ja-JP" sz="2800" dirty="0" smtClean="0"/>
              <a:t>  &lt;formals&gt; ::= &lt;name&gt; | &lt;name&gt;, &lt;formals&gt;</a:t>
            </a:r>
          </a:p>
        </p:txBody>
      </p:sp>
      <p:sp>
        <p:nvSpPr>
          <p:cNvPr id="45" name="タイトル 44"/>
          <p:cNvSpPr>
            <a:spLocks noGrp="1"/>
          </p:cNvSpPr>
          <p:nvPr>
            <p:ph type="title"/>
          </p:nvPr>
        </p:nvSpPr>
        <p:spPr/>
        <p:txBody>
          <a:bodyPr/>
          <a:lstStyle/>
          <a:p>
            <a:r>
              <a:rPr kumimoji="1" lang="en-US" altLang="ja-JP" dirty="0" smtClean="0"/>
              <a:t>Little Quilt</a:t>
            </a:r>
            <a:r>
              <a:rPr kumimoji="1" lang="ja-JP" altLang="en-US" dirty="0" smtClean="0"/>
              <a:t>言語の構文定義</a:t>
            </a:r>
            <a:endParaRPr kumimoji="1" lang="ja-JP" altLang="en-US" dirty="0"/>
          </a:p>
        </p:txBody>
      </p:sp>
      <p:sp>
        <p:nvSpPr>
          <p:cNvPr id="46" name="正方形/長方形 45"/>
          <p:cNvSpPr/>
          <p:nvPr/>
        </p:nvSpPr>
        <p:spPr>
          <a:xfrm>
            <a:off x="1214414" y="5357826"/>
            <a:ext cx="7072362" cy="1200329"/>
          </a:xfrm>
          <a:prstGeom prst="rect">
            <a:avLst/>
          </a:prstGeom>
        </p:spPr>
        <p:txBody>
          <a:bodyPr wrap="square">
            <a:spAutoFit/>
          </a:bodyPr>
          <a:lstStyle/>
          <a:p>
            <a:r>
              <a:rPr lang="en-US" altLang="ja-JP" sz="2400" dirty="0" smtClean="0"/>
              <a:t> &lt;name&gt;</a:t>
            </a:r>
            <a:r>
              <a:rPr lang="ja-JP" altLang="en-US" sz="2400" dirty="0" smtClean="0"/>
              <a:t>は文字列など。通常、字句解析で処理する。</a:t>
            </a:r>
            <a:r>
              <a:rPr lang="en-US" altLang="ja-JP" sz="2400" b="1" dirty="0" smtClean="0"/>
              <a:t> </a:t>
            </a:r>
          </a:p>
          <a:p>
            <a:r>
              <a:rPr lang="en-US" altLang="ja-JP" sz="2400" b="1" dirty="0" smtClean="0"/>
              <a:t>  </a:t>
            </a:r>
            <a:r>
              <a:rPr lang="en-US" altLang="ja-JP" sz="2400" dirty="0" smtClean="0"/>
              <a:t>&lt;name&gt; ::= &lt;c&gt; | &lt;c&gt;&lt;name&gt;</a:t>
            </a:r>
          </a:p>
          <a:p>
            <a:r>
              <a:rPr lang="en-US" altLang="ja-JP" sz="2400" dirty="0" smtClean="0"/>
              <a:t>  &lt;c&gt; ::= a | b | c | d | e …  </a:t>
            </a:r>
            <a:r>
              <a:rPr lang="ja-JP" altLang="en-US" sz="2400" dirty="0" smtClean="0"/>
              <a:t>などで定義できる。</a:t>
            </a:r>
            <a:endParaRPr lang="ja-JP" alt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補足１</a:t>
            </a:r>
            <a:endParaRPr kumimoji="1" lang="ja-JP" altLang="en-US" dirty="0"/>
          </a:p>
        </p:txBody>
      </p:sp>
      <p:sp>
        <p:nvSpPr>
          <p:cNvPr id="36" name="テキスト ボックス 35"/>
          <p:cNvSpPr txBox="1"/>
          <p:nvPr/>
        </p:nvSpPr>
        <p:spPr>
          <a:xfrm>
            <a:off x="500034" y="1643050"/>
            <a:ext cx="7643866" cy="4401205"/>
          </a:xfrm>
          <a:prstGeom prst="rect">
            <a:avLst/>
          </a:prstGeom>
          <a:noFill/>
        </p:spPr>
        <p:txBody>
          <a:bodyPr wrap="square" rtlCol="0">
            <a:spAutoFit/>
          </a:bodyPr>
          <a:lstStyle/>
          <a:p>
            <a:r>
              <a:rPr lang="en-US" altLang="ja-JP" sz="2800" dirty="0" smtClean="0"/>
              <a:t> Little </a:t>
            </a:r>
            <a:r>
              <a:rPr lang="en-US" altLang="ja-JP" sz="2800" dirty="0" smtClean="0"/>
              <a:t>Quilt</a:t>
            </a:r>
            <a:r>
              <a:rPr lang="ja-JP" altLang="en-US" sz="2800" dirty="0" smtClean="0"/>
              <a:t>言語の構文定義では、</a:t>
            </a:r>
            <a:endParaRPr lang="en-US" altLang="ja-JP" sz="2800" dirty="0" smtClean="0"/>
          </a:p>
          <a:p>
            <a:pPr lvl="1">
              <a:buFont typeface="Arial" pitchFamily="34" charset="0"/>
              <a:buChar char="•"/>
            </a:pPr>
            <a:r>
              <a:rPr lang="en-US" altLang="ja-JP" sz="2800" dirty="0" smtClean="0"/>
              <a:t> sew</a:t>
            </a:r>
            <a:r>
              <a:rPr lang="ja-JP" altLang="en-US" sz="2800" dirty="0" smtClean="0"/>
              <a:t> </a:t>
            </a:r>
            <a:r>
              <a:rPr lang="en-US" altLang="ja-JP" sz="2800" dirty="0" smtClean="0"/>
              <a:t>(e1,e2)</a:t>
            </a:r>
            <a:r>
              <a:rPr lang="ja-JP" altLang="en-US" sz="2800" dirty="0" smtClean="0"/>
              <a:t>において</a:t>
            </a:r>
            <a:r>
              <a:rPr lang="en-US" altLang="ja-JP" sz="2800" dirty="0" smtClean="0"/>
              <a:t>e1</a:t>
            </a:r>
            <a:r>
              <a:rPr lang="ja-JP" altLang="en-US" sz="2800" dirty="0" smtClean="0"/>
              <a:t>と</a:t>
            </a:r>
            <a:r>
              <a:rPr lang="en-US" altLang="ja-JP" sz="2800" dirty="0" smtClean="0"/>
              <a:t>e2</a:t>
            </a:r>
            <a:r>
              <a:rPr lang="ja-JP" altLang="en-US" sz="2800" dirty="0" smtClean="0"/>
              <a:t>の高さが同じにならないような式も許す。</a:t>
            </a:r>
            <a:endParaRPr lang="en-US" altLang="ja-JP" sz="2800" dirty="0" smtClean="0"/>
          </a:p>
          <a:p>
            <a:pPr lvl="1">
              <a:buFont typeface="Arial" pitchFamily="34" charset="0"/>
              <a:buChar char="•"/>
            </a:pPr>
            <a:r>
              <a:rPr lang="ja-JP" altLang="en-US" sz="2800" dirty="0" smtClean="0"/>
              <a:t> </a:t>
            </a:r>
            <a:r>
              <a:rPr lang="ja-JP" altLang="en-US" sz="2800" dirty="0" smtClean="0"/>
              <a:t>未定義</a:t>
            </a:r>
            <a:r>
              <a:rPr lang="ja-JP" altLang="en-US" sz="2800" dirty="0" smtClean="0"/>
              <a:t>の名前を</a:t>
            </a:r>
            <a:r>
              <a:rPr lang="ja-JP" altLang="en-US" sz="2800" dirty="0" smtClean="0"/>
              <a:t>使用する</a:t>
            </a:r>
            <a:r>
              <a:rPr lang="ja-JP" altLang="en-US" sz="2800" dirty="0" smtClean="0"/>
              <a:t>式</a:t>
            </a:r>
            <a:r>
              <a:rPr lang="ja-JP" altLang="en-US" sz="2800" dirty="0" smtClean="0"/>
              <a:t>も許す</a:t>
            </a:r>
            <a:r>
              <a:rPr lang="ja-JP" altLang="en-US" sz="2800" dirty="0" smtClean="0"/>
              <a:t>。</a:t>
            </a:r>
            <a:endParaRPr lang="en-US" altLang="ja-JP" sz="2800" dirty="0" smtClean="0"/>
          </a:p>
          <a:p>
            <a:pPr lvl="1">
              <a:buFont typeface="Arial" pitchFamily="34" charset="0"/>
              <a:buChar char="•"/>
            </a:pPr>
            <a:r>
              <a:rPr lang="en-US" altLang="ja-JP" sz="2800" dirty="0" smtClean="0"/>
              <a:t> </a:t>
            </a:r>
            <a:r>
              <a:rPr lang="ja-JP" altLang="en-US" sz="2800" dirty="0" smtClean="0"/>
              <a:t>関数適用式において引数</a:t>
            </a:r>
            <a:r>
              <a:rPr lang="ja-JP" altLang="en-US" sz="2800" dirty="0" smtClean="0"/>
              <a:t>の個数が合っていない式も許す。</a:t>
            </a:r>
            <a:endParaRPr lang="en-US" altLang="ja-JP" sz="2800" dirty="0" smtClean="0"/>
          </a:p>
          <a:p>
            <a:endParaRPr lang="en-US" altLang="ja-JP" sz="2800" dirty="0" smtClean="0"/>
          </a:p>
          <a:p>
            <a:r>
              <a:rPr lang="ja-JP" altLang="en-US" sz="2800" dirty="0" smtClean="0"/>
              <a:t>このようなチェックは構文解析フェーズでは</a:t>
            </a:r>
            <a:r>
              <a:rPr lang="ja-JP" altLang="en-US" sz="2800" dirty="0" smtClean="0"/>
              <a:t>行わない。</a:t>
            </a:r>
            <a:r>
              <a:rPr lang="ja-JP" altLang="en-US" sz="2800" dirty="0" smtClean="0"/>
              <a:t>コンパイラーの</a:t>
            </a:r>
            <a:r>
              <a:rPr lang="ja-JP" altLang="en-US" sz="2800" dirty="0" smtClean="0"/>
              <a:t>構文解析より後</a:t>
            </a:r>
            <a:r>
              <a:rPr lang="ja-JP" altLang="en-US" sz="2800" dirty="0" smtClean="0"/>
              <a:t>の</a:t>
            </a:r>
            <a:r>
              <a:rPr lang="ja-JP" altLang="en-US" sz="2800" dirty="0" smtClean="0"/>
              <a:t>フェーズでチェックするか、あるいは実行</a:t>
            </a:r>
            <a:r>
              <a:rPr lang="ja-JP" altLang="en-US" sz="2800" dirty="0" smtClean="0"/>
              <a:t>時に</a:t>
            </a:r>
            <a:r>
              <a:rPr lang="ja-JP" altLang="en-US" sz="2800" dirty="0" smtClean="0"/>
              <a:t>チェックする。</a:t>
            </a:r>
            <a:endParaRPr kumimoji="1" lang="en-US" altLang="ja-JP" sz="28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補足２</a:t>
            </a:r>
            <a:endParaRPr kumimoji="1" lang="ja-JP" altLang="en-US" dirty="0"/>
          </a:p>
        </p:txBody>
      </p:sp>
      <p:sp>
        <p:nvSpPr>
          <p:cNvPr id="36" name="テキスト ボックス 35"/>
          <p:cNvSpPr txBox="1"/>
          <p:nvPr/>
        </p:nvSpPr>
        <p:spPr>
          <a:xfrm>
            <a:off x="500034" y="1643050"/>
            <a:ext cx="7500990" cy="2246769"/>
          </a:xfrm>
          <a:prstGeom prst="rect">
            <a:avLst/>
          </a:prstGeom>
          <a:noFill/>
        </p:spPr>
        <p:txBody>
          <a:bodyPr wrap="square" rtlCol="0">
            <a:spAutoFit/>
          </a:bodyPr>
          <a:lstStyle/>
          <a:p>
            <a:r>
              <a:rPr lang="en-US" altLang="ja-JP" sz="2800" dirty="0" smtClean="0"/>
              <a:t> Little Quilt</a:t>
            </a:r>
            <a:r>
              <a:rPr lang="ja-JP" altLang="en-US" sz="2800" dirty="0" smtClean="0"/>
              <a:t>言語の組み込み関数</a:t>
            </a:r>
            <a:r>
              <a:rPr lang="en-US" altLang="ja-JP" sz="2800" dirty="0" smtClean="0"/>
              <a:t>sew</a:t>
            </a:r>
            <a:r>
              <a:rPr lang="ja-JP" altLang="en-US" sz="2800" dirty="0" smtClean="0"/>
              <a:t>は前置だが、</a:t>
            </a:r>
            <a:endParaRPr lang="en-US" altLang="ja-JP" sz="2800" dirty="0" smtClean="0"/>
          </a:p>
          <a:p>
            <a:r>
              <a:rPr kumimoji="1" lang="en-US" altLang="ja-JP" sz="2800" dirty="0" smtClean="0"/>
              <a:t>1+2</a:t>
            </a:r>
            <a:r>
              <a:rPr kumimoji="1" lang="ja-JP" altLang="en-US" sz="2800" dirty="0" smtClean="0"/>
              <a:t>に</a:t>
            </a:r>
            <a:r>
              <a:rPr kumimoji="1" lang="ja-JP" altLang="en-US" sz="2800" dirty="0" smtClean="0"/>
              <a:t>おける </a:t>
            </a:r>
            <a:r>
              <a:rPr kumimoji="1" lang="en-US" altLang="ja-JP" sz="2800" dirty="0" smtClean="0"/>
              <a:t>+ </a:t>
            </a:r>
            <a:r>
              <a:rPr kumimoji="1" lang="ja-JP" altLang="en-US" sz="2800" dirty="0" smtClean="0"/>
              <a:t>のように</a:t>
            </a:r>
            <a:r>
              <a:rPr kumimoji="1" lang="ja-JP" altLang="en-US" sz="2800" dirty="0" smtClean="0"/>
              <a:t>、間に書く記法（中置記法）もある。</a:t>
            </a:r>
            <a:endParaRPr kumimoji="1" lang="en-US" altLang="ja-JP" sz="2800" dirty="0" smtClean="0"/>
          </a:p>
          <a:p>
            <a:endParaRPr lang="en-US" altLang="ja-JP" sz="2800" dirty="0" smtClean="0"/>
          </a:p>
          <a:p>
            <a:endParaRPr kumimoji="1" lang="en-US" altLang="ja-JP" sz="28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594</TotalTime>
  <Words>1863</Words>
  <Application>Microsoft Office PowerPoint</Application>
  <PresentationFormat>画面に合わせる (4:3)</PresentationFormat>
  <Paragraphs>188</Paragraphs>
  <Slides>24</Slides>
  <Notes>6</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第２回</vt:lpstr>
      <vt:lpstr>機械語(machine language)</vt:lpstr>
      <vt:lpstr>機械語(machine language)</vt:lpstr>
      <vt:lpstr>プログラミング言語</vt:lpstr>
      <vt:lpstr>高水準言語の利点</vt:lpstr>
      <vt:lpstr>プログラミング言語の分類</vt:lpstr>
      <vt:lpstr>言語の実装</vt:lpstr>
      <vt:lpstr>コンパイル方式とインタープリタ方式の比較</vt:lpstr>
      <vt:lpstr>言語が提供するもの（１）</vt:lpstr>
      <vt:lpstr>言語が提供するもの（２）</vt:lpstr>
      <vt:lpstr>プログラミング言語の構文</vt:lpstr>
      <vt:lpstr>プログラミング言語の意味</vt:lpstr>
      <vt:lpstr>プログラミング言語の定義、説明</vt:lpstr>
      <vt:lpstr>プログラミング言語の基礎（第２章）</vt:lpstr>
      <vt:lpstr>Little Quilｔ言語</vt:lpstr>
      <vt:lpstr>Little Quilｔ言語の式の定義</vt:lpstr>
      <vt:lpstr>Little Quilt言語の式の例</vt:lpstr>
      <vt:lpstr>関数宣言の導入</vt:lpstr>
      <vt:lpstr>局所宣言(let式)の導入</vt:lpstr>
      <vt:lpstr>値に名前を付ける構文の導入</vt:lpstr>
      <vt:lpstr>少し大きな例</vt:lpstr>
      <vt:lpstr>Little Quilt言語の構文定義</vt:lpstr>
      <vt:lpstr>補足１</vt:lpstr>
      <vt:lpstr>補足２</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cp:lastModifiedBy>
  <cp:revision>330</cp:revision>
  <dcterms:created xsi:type="dcterms:W3CDTF">2009-09-11T09:19:03Z</dcterms:created>
  <dcterms:modified xsi:type="dcterms:W3CDTF">2009-09-26T12:43:41Z</dcterms:modified>
</cp:coreProperties>
</file>