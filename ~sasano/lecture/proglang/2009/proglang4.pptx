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56" r:id="rId2"/>
    <p:sldId id="264" r:id="rId3"/>
    <p:sldId id="265" r:id="rId4"/>
    <p:sldId id="266" r:id="rId5"/>
    <p:sldId id="287" r:id="rId6"/>
    <p:sldId id="268" r:id="rId7"/>
    <p:sldId id="269" r:id="rId8"/>
    <p:sldId id="270" r:id="rId9"/>
    <p:sldId id="274" r:id="rId10"/>
    <p:sldId id="275" r:id="rId11"/>
    <p:sldId id="276" r:id="rId12"/>
    <p:sldId id="277" r:id="rId13"/>
    <p:sldId id="272" r:id="rId14"/>
    <p:sldId id="280" r:id="rId15"/>
    <p:sldId id="282" r:id="rId16"/>
    <p:sldId id="271" r:id="rId17"/>
    <p:sldId id="281" r:id="rId18"/>
    <p:sldId id="283" r:id="rId19"/>
    <p:sldId id="279" r:id="rId20"/>
    <p:sldId id="273" r:id="rId21"/>
    <p:sldId id="278" r:id="rId22"/>
    <p:sldId id="284" r:id="rId23"/>
    <p:sldId id="285" r:id="rId24"/>
    <p:sldId id="286" r:id="rId25"/>
  </p:sldIdLst>
  <p:sldSz cx="9144000" cy="6858000" type="screen4x3"/>
  <p:notesSz cx="6735763" cy="97996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18831" cy="489982"/>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sz="quarter" idx="1"/>
          </p:nvPr>
        </p:nvSpPr>
        <p:spPr>
          <a:xfrm>
            <a:off x="3815373" y="0"/>
            <a:ext cx="2918831" cy="489982"/>
          </a:xfrm>
          <a:prstGeom prst="rect">
            <a:avLst/>
          </a:prstGeom>
        </p:spPr>
        <p:txBody>
          <a:bodyPr vert="horz" lIns="91440" tIns="45720" rIns="91440" bIns="45720" rtlCol="0"/>
          <a:lstStyle>
            <a:lvl1pPr algn="r">
              <a:defRPr sz="1200"/>
            </a:lvl1pPr>
          </a:lstStyle>
          <a:p>
            <a:fld id="{09060233-D85C-4ADC-BDAC-F03351DB39A6}" type="datetimeFigureOut">
              <a:rPr kumimoji="1" lang="ja-JP" altLang="en-US" smtClean="0"/>
              <a:pPr/>
              <a:t>2009/10/19</a:t>
            </a:fld>
            <a:endParaRPr kumimoji="1" lang="ja-JP" altLang="en-US"/>
          </a:p>
        </p:txBody>
      </p:sp>
      <p:sp>
        <p:nvSpPr>
          <p:cNvPr id="4" name="フッター プレースホルダ 3"/>
          <p:cNvSpPr>
            <a:spLocks noGrp="1"/>
          </p:cNvSpPr>
          <p:nvPr>
            <p:ph type="ftr" sz="quarter" idx="2"/>
          </p:nvPr>
        </p:nvSpPr>
        <p:spPr>
          <a:xfrm>
            <a:off x="0" y="9307955"/>
            <a:ext cx="2918831" cy="489982"/>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 4"/>
          <p:cNvSpPr>
            <a:spLocks noGrp="1"/>
          </p:cNvSpPr>
          <p:nvPr>
            <p:ph type="sldNum" sz="quarter" idx="3"/>
          </p:nvPr>
        </p:nvSpPr>
        <p:spPr>
          <a:xfrm>
            <a:off x="3815373" y="9307955"/>
            <a:ext cx="2918831" cy="489982"/>
          </a:xfrm>
          <a:prstGeom prst="rect">
            <a:avLst/>
          </a:prstGeom>
        </p:spPr>
        <p:txBody>
          <a:bodyPr vert="horz" lIns="91440" tIns="45720" rIns="91440" bIns="45720" rtlCol="0" anchor="b"/>
          <a:lstStyle>
            <a:lvl1pPr algn="r">
              <a:defRPr sz="1200"/>
            </a:lvl1pPr>
          </a:lstStyle>
          <a:p>
            <a:fld id="{1EE80622-85BB-478F-8F87-F60131BFD677}"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18831" cy="489982"/>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15373" y="0"/>
            <a:ext cx="2918831" cy="489982"/>
          </a:xfrm>
          <a:prstGeom prst="rect">
            <a:avLst/>
          </a:prstGeom>
        </p:spPr>
        <p:txBody>
          <a:bodyPr vert="horz" lIns="91440" tIns="45720" rIns="91440" bIns="45720" rtlCol="0"/>
          <a:lstStyle>
            <a:lvl1pPr algn="r">
              <a:defRPr sz="1200"/>
            </a:lvl1pPr>
          </a:lstStyle>
          <a:p>
            <a:fld id="{D4A92096-75FE-4A45-80F7-8BBA23C5552D}" type="datetimeFigureOut">
              <a:rPr kumimoji="1" lang="ja-JP" altLang="en-US" smtClean="0"/>
              <a:pPr/>
              <a:t>2009/10/19</a:t>
            </a:fld>
            <a:endParaRPr kumimoji="1" lang="ja-JP" altLang="en-US"/>
          </a:p>
        </p:txBody>
      </p:sp>
      <p:sp>
        <p:nvSpPr>
          <p:cNvPr id="4" name="スライド イメージ プレースホルダ 3"/>
          <p:cNvSpPr>
            <a:spLocks noGrp="1" noRot="1" noChangeAspect="1"/>
          </p:cNvSpPr>
          <p:nvPr>
            <p:ph type="sldImg" idx="2"/>
          </p:nvPr>
        </p:nvSpPr>
        <p:spPr>
          <a:xfrm>
            <a:off x="919163" y="735013"/>
            <a:ext cx="4897437" cy="3675062"/>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73577" y="4654828"/>
            <a:ext cx="5388610" cy="4409837"/>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9307955"/>
            <a:ext cx="2918831" cy="48998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15373" y="9307955"/>
            <a:ext cx="2918831" cy="489982"/>
          </a:xfrm>
          <a:prstGeom prst="rect">
            <a:avLst/>
          </a:prstGeom>
        </p:spPr>
        <p:txBody>
          <a:bodyPr vert="horz" lIns="91440" tIns="45720" rIns="91440" bIns="45720" rtlCol="0" anchor="b"/>
          <a:lstStyle>
            <a:lvl1pPr algn="r">
              <a:defRPr sz="1200"/>
            </a:lvl1pPr>
          </a:lstStyle>
          <a:p>
            <a:fld id="{45D1C3DA-1711-41D9-8B26-1C26580770A6}"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2103A60B-7D7B-4B8F-84ED-E6B4751367D4}" type="slidenum">
              <a:rPr lang="en-US" altLang="ja-JP" smtClean="0">
                <a:ea typeface="ＭＳ Ｐゴシック" charset="-128"/>
              </a:rPr>
              <a:pPr/>
              <a:t>2</a:t>
            </a:fld>
            <a:endParaRPr lang="en-US" altLang="ja-JP" smtClean="0">
              <a:ea typeface="ＭＳ Ｐゴシック" charset="-128"/>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3024B6C3-C583-467C-BD85-5F8BC6DB409B}" type="slidenum">
              <a:rPr lang="en-US" altLang="ja-JP" smtClean="0">
                <a:ea typeface="ＭＳ Ｐゴシック" charset="-128"/>
              </a:rPr>
              <a:pPr/>
              <a:t>3</a:t>
            </a:fld>
            <a:endParaRPr lang="en-US" altLang="ja-JP" smtClean="0">
              <a:ea typeface="ＭＳ Ｐゴシック" charset="-128"/>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FE9ECAFD-8FC1-4341-AE11-AB7F7ECF883C}" type="slidenum">
              <a:rPr lang="en-US" altLang="ja-JP" smtClean="0">
                <a:ea typeface="ＭＳ Ｐゴシック" charset="-128"/>
              </a:rPr>
              <a:pPr/>
              <a:t>4</a:t>
            </a:fld>
            <a:endParaRPr lang="en-US" altLang="ja-JP" smtClean="0">
              <a:ea typeface="ＭＳ Ｐゴシック" charset="-128"/>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FE9ECAFD-8FC1-4341-AE11-AB7F7ECF883C}" type="slidenum">
              <a:rPr lang="en-US" altLang="ja-JP" smtClean="0">
                <a:ea typeface="ＭＳ Ｐゴシック" charset="-128"/>
              </a:rPr>
              <a:pPr/>
              <a:t>5</a:t>
            </a:fld>
            <a:endParaRPr lang="en-US" altLang="ja-JP" smtClean="0">
              <a:ea typeface="ＭＳ Ｐゴシック" charset="-128"/>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BD6D212B-7D8B-42F3-910A-5E11841EEFD4}" type="slidenum">
              <a:rPr lang="en-US" altLang="ja-JP" smtClean="0">
                <a:ea typeface="ＭＳ Ｐゴシック" charset="-128"/>
              </a:rPr>
              <a:pPr/>
              <a:t>6</a:t>
            </a:fld>
            <a:endParaRPr lang="en-US" altLang="ja-JP" smtClean="0">
              <a:ea typeface="ＭＳ Ｐゴシック" charset="-128"/>
            </a:endParaRPr>
          </a:p>
        </p:txBody>
      </p:sp>
      <p:sp>
        <p:nvSpPr>
          <p:cNvPr id="33795" name="Rectangle 2"/>
          <p:cNvSpPr>
            <a:spLocks noGrp="1" noRot="1" noChangeAspect="1" noChangeArrowheads="1" noTextEdit="1"/>
          </p:cNvSpPr>
          <p:nvPr>
            <p:ph type="sldImg"/>
          </p:nvPr>
        </p:nvSpPr>
        <p:spPr>
          <a:solidFill>
            <a:srgbClr val="FFFFFF"/>
          </a:solidFill>
          <a:ln/>
        </p:spPr>
      </p:sp>
      <p:sp>
        <p:nvSpPr>
          <p:cNvPr id="3379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ja-JP" altLang="ja-JP" smtClean="0">
              <a:ea typeface="ＭＳ Ｐゴシック"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2009/10/19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2009/10/19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2009/10/19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2009/10/19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2009/10/19</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2009/10/19</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2009/10/19</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2009/10/19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2009/10/19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2009/10/19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2009/10/19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2009/10/19</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815290" cy="2012955"/>
          </a:xfrm>
        </p:spPr>
        <p:txBody>
          <a:bodyPr>
            <a:normAutofit fontScale="90000"/>
          </a:bodyPr>
          <a:lstStyle/>
          <a:p>
            <a:r>
              <a:rPr kumimoji="1" lang="ja-JP" altLang="en-US" dirty="0" smtClean="0"/>
              <a:t>プログラミング言語論</a:t>
            </a:r>
            <a:r>
              <a:rPr kumimoji="1" lang="en-US" altLang="ja-JP" dirty="0" smtClean="0"/>
              <a:t/>
            </a:r>
            <a:br>
              <a:rPr kumimoji="1" lang="en-US" altLang="ja-JP" dirty="0" smtClean="0"/>
            </a:br>
            <a:r>
              <a:rPr lang="ja-JP" altLang="en-US" dirty="0" smtClean="0"/>
              <a:t>第４回</a:t>
            </a:r>
            <a:r>
              <a:rPr lang="en-US" altLang="ja-JP" dirty="0" smtClean="0"/>
              <a:t/>
            </a:r>
            <a:br>
              <a:rPr lang="en-US" altLang="ja-JP" dirty="0" smtClean="0"/>
            </a:br>
            <a:r>
              <a:rPr lang="ja-JP" altLang="en-US" dirty="0" smtClean="0"/>
              <a:t>式の構文、式の評価</a:t>
            </a:r>
            <a:endParaRPr kumimoji="1" lang="ja-JP" altLang="en-US" dirty="0"/>
          </a:p>
        </p:txBody>
      </p:sp>
      <p:sp>
        <p:nvSpPr>
          <p:cNvPr id="4" name="テキスト ボックス 3"/>
          <p:cNvSpPr txBox="1"/>
          <p:nvPr/>
        </p:nvSpPr>
        <p:spPr>
          <a:xfrm>
            <a:off x="3786182" y="5286388"/>
            <a:ext cx="1875835" cy="646331"/>
          </a:xfrm>
          <a:prstGeom prst="rect">
            <a:avLst/>
          </a:prstGeom>
          <a:noFill/>
        </p:spPr>
        <p:txBody>
          <a:bodyPr wrap="none" rtlCol="0">
            <a:spAutoFit/>
          </a:bodyPr>
          <a:lstStyle/>
          <a:p>
            <a:r>
              <a:rPr kumimoji="1" lang="ja-JP" altLang="en-US" sz="3600" dirty="0" smtClean="0"/>
              <a:t>篠埜　功</a:t>
            </a:r>
            <a:endParaRPr kumimoji="1" lang="ja-JP" altLang="en-US" sz="36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ja-JP" altLang="en-US" dirty="0" smtClean="0"/>
              <a:t>（参考）</a:t>
            </a:r>
            <a:r>
              <a:rPr lang="en-US" altLang="ja-JP" dirty="0" smtClean="0"/>
              <a:t>Type 3 </a:t>
            </a:r>
            <a:endParaRPr lang="ja-JP" altLang="en-US" dirty="0" smtClean="0"/>
          </a:p>
        </p:txBody>
      </p:sp>
      <p:sp>
        <p:nvSpPr>
          <p:cNvPr id="6147" name="Rectangle 3"/>
          <p:cNvSpPr>
            <a:spLocks noGrp="1" noChangeArrowheads="1"/>
          </p:cNvSpPr>
          <p:nvPr>
            <p:ph type="body" idx="1"/>
          </p:nvPr>
        </p:nvSpPr>
        <p:spPr>
          <a:xfrm>
            <a:off x="685800" y="1981200"/>
            <a:ext cx="7772400" cy="3519488"/>
          </a:xfrm>
        </p:spPr>
        <p:txBody>
          <a:bodyPr/>
          <a:lstStyle/>
          <a:p>
            <a:pPr eaLnBrk="1" hangingPunct="1"/>
            <a:r>
              <a:rPr lang="ja-JP" altLang="en-US" dirty="0" smtClean="0"/>
              <a:t>右線形文法 </a:t>
            </a:r>
            <a:r>
              <a:rPr lang="en-US" altLang="ja-JP" dirty="0" smtClean="0"/>
              <a:t>(Right-linear grammar)</a:t>
            </a:r>
          </a:p>
          <a:p>
            <a:pPr eaLnBrk="1" hangingPunct="1">
              <a:buFontTx/>
              <a:buNone/>
            </a:pPr>
            <a:r>
              <a:rPr lang="ja-JP" altLang="en-US" dirty="0" smtClean="0"/>
              <a:t>すべての生成規則が</a:t>
            </a:r>
            <a:endParaRPr lang="en-US" altLang="ja-JP" dirty="0" smtClean="0"/>
          </a:p>
          <a:p>
            <a:pPr eaLnBrk="1" hangingPunct="1">
              <a:buFontTx/>
              <a:buNone/>
            </a:pPr>
            <a:r>
              <a:rPr lang="en-US" altLang="ja-JP" dirty="0" smtClean="0"/>
              <a:t>    </a:t>
            </a:r>
            <a:r>
              <a:rPr lang="en-US" altLang="ja-JP" i="1" dirty="0" smtClean="0">
                <a:sym typeface="Symbol" pitchFamily="18" charset="2"/>
              </a:rPr>
              <a:t>X  </a:t>
            </a:r>
            <a:r>
              <a:rPr lang="en-US" altLang="ja-JP" dirty="0" smtClean="0">
                <a:sym typeface="Symbol" pitchFamily="18" charset="2"/>
              </a:rPr>
              <a:t></a:t>
            </a:r>
            <a:r>
              <a:rPr lang="en-US" altLang="ja-JP" i="1" dirty="0" smtClean="0">
                <a:sym typeface="Symbol" pitchFamily="18" charset="2"/>
              </a:rPr>
              <a:t> </a:t>
            </a:r>
            <a:r>
              <a:rPr lang="en-US" altLang="ja-JP" i="1" dirty="0" err="1" smtClean="0">
                <a:sym typeface="Symbol" pitchFamily="18" charset="2"/>
              </a:rPr>
              <a:t>xY</a:t>
            </a:r>
            <a:r>
              <a:rPr lang="en-US" altLang="ja-JP" i="1" dirty="0" smtClean="0">
                <a:sym typeface="Symbol" pitchFamily="18" charset="2"/>
              </a:rPr>
              <a:t>  </a:t>
            </a:r>
            <a:r>
              <a:rPr lang="ja-JP" altLang="en-US" dirty="0" smtClean="0">
                <a:sym typeface="Symbol" pitchFamily="18" charset="2"/>
              </a:rPr>
              <a:t>または </a:t>
            </a:r>
            <a:r>
              <a:rPr lang="ja-JP" altLang="en-US" i="1" dirty="0" smtClean="0">
                <a:sym typeface="Symbol" pitchFamily="18" charset="2"/>
              </a:rPr>
              <a:t> </a:t>
            </a:r>
            <a:r>
              <a:rPr lang="en-US" altLang="ja-JP" i="1" dirty="0" smtClean="0">
                <a:sym typeface="Symbol" pitchFamily="18" charset="2"/>
              </a:rPr>
              <a:t>X  </a:t>
            </a:r>
            <a:r>
              <a:rPr lang="en-US" altLang="ja-JP" dirty="0" smtClean="0">
                <a:sym typeface="Symbol" pitchFamily="18" charset="2"/>
              </a:rPr>
              <a:t></a:t>
            </a:r>
            <a:r>
              <a:rPr lang="en-US" altLang="ja-JP" i="1" dirty="0" smtClean="0">
                <a:sym typeface="Symbol" pitchFamily="18" charset="2"/>
              </a:rPr>
              <a:t> x</a:t>
            </a:r>
          </a:p>
          <a:p>
            <a:pPr eaLnBrk="1" hangingPunct="1">
              <a:buFontTx/>
              <a:buNone/>
            </a:pPr>
            <a:r>
              <a:rPr lang="ja-JP" altLang="en-US" dirty="0" smtClean="0">
                <a:sym typeface="Symbol" pitchFamily="18" charset="2"/>
              </a:rPr>
              <a:t>の形をしている。ただし、</a:t>
            </a:r>
            <a:r>
              <a:rPr lang="en-US" altLang="ja-JP" dirty="0" smtClean="0">
                <a:sym typeface="Symbol" pitchFamily="18" charset="2"/>
              </a:rPr>
              <a:t> </a:t>
            </a:r>
          </a:p>
          <a:p>
            <a:pPr eaLnBrk="1" hangingPunct="1">
              <a:buFontTx/>
              <a:buNone/>
            </a:pPr>
            <a:r>
              <a:rPr lang="en-US" altLang="ja-JP" dirty="0" smtClean="0"/>
              <a:t>            </a:t>
            </a:r>
            <a:r>
              <a:rPr lang="en-US" altLang="ja-JP" i="1" dirty="0" smtClean="0">
                <a:sym typeface="Symbol" pitchFamily="18" charset="2"/>
              </a:rPr>
              <a:t>X, Y </a:t>
            </a:r>
            <a:r>
              <a:rPr lang="ja-JP" altLang="en-US" dirty="0" smtClean="0">
                <a:sym typeface="Symbol" pitchFamily="18" charset="2"/>
              </a:rPr>
              <a:t> </a:t>
            </a:r>
            <a:r>
              <a:rPr lang="en-US" altLang="ja-JP" i="1" dirty="0" smtClean="0">
                <a:sym typeface="Symbol" pitchFamily="18" charset="2"/>
              </a:rPr>
              <a:t>N </a:t>
            </a:r>
            <a:endParaRPr lang="en-US" altLang="ja-JP" dirty="0" smtClean="0">
              <a:sym typeface="Symbol" pitchFamily="18" charset="2"/>
            </a:endParaRPr>
          </a:p>
          <a:p>
            <a:pPr eaLnBrk="1" hangingPunct="1">
              <a:buFontTx/>
              <a:buNone/>
            </a:pPr>
            <a:r>
              <a:rPr lang="en-US" altLang="ja-JP" i="1" dirty="0" smtClean="0">
                <a:sym typeface="Symbol" pitchFamily="18" charset="2"/>
              </a:rPr>
              <a:t>            x</a:t>
            </a:r>
            <a:r>
              <a:rPr lang="en-US" altLang="ja-JP" dirty="0" smtClean="0"/>
              <a:t> </a:t>
            </a:r>
            <a:r>
              <a:rPr lang="ja-JP" altLang="en-US" dirty="0" smtClean="0">
                <a:sym typeface="Symbol" pitchFamily="18" charset="2"/>
              </a:rPr>
              <a:t> </a:t>
            </a:r>
            <a:r>
              <a:rPr lang="en-US" altLang="ja-JP" i="1" dirty="0" smtClean="0">
                <a:sym typeface="Symbol" pitchFamily="18" charset="2"/>
              </a:rPr>
              <a:t>T </a:t>
            </a:r>
            <a:r>
              <a:rPr lang="en-US" altLang="ja-JP" dirty="0" smtClean="0">
                <a:sym typeface="Symbol" pitchFamily="18" charset="2"/>
              </a:rPr>
              <a:t>*</a:t>
            </a:r>
            <a:endParaRPr lang="en-US" altLang="ja-JP" dirty="0" smtClean="0"/>
          </a:p>
        </p:txBody>
      </p:sp>
      <p:sp>
        <p:nvSpPr>
          <p:cNvPr id="6148" name="正方形/長方形 3"/>
          <p:cNvSpPr>
            <a:spLocks noChangeArrowheads="1"/>
          </p:cNvSpPr>
          <p:nvPr/>
        </p:nvSpPr>
        <p:spPr bwMode="auto">
          <a:xfrm>
            <a:off x="785813" y="5857875"/>
            <a:ext cx="3322192" cy="461665"/>
          </a:xfrm>
          <a:prstGeom prst="rect">
            <a:avLst/>
          </a:prstGeom>
          <a:noFill/>
          <a:ln w="9525">
            <a:solidFill>
              <a:srgbClr val="002060"/>
            </a:solidFill>
            <a:miter lim="800000"/>
            <a:headEnd/>
            <a:tailEnd/>
          </a:ln>
        </p:spPr>
        <p:txBody>
          <a:bodyPr wrap="none">
            <a:spAutoFit/>
          </a:bodyPr>
          <a:lstStyle/>
          <a:p>
            <a:r>
              <a:rPr lang="en-US" altLang="ja-JP" sz="2400" b="0" dirty="0"/>
              <a:t>Type3</a:t>
            </a:r>
            <a:r>
              <a:rPr lang="ja-JP" altLang="en-US" sz="2400" b="0" dirty="0"/>
              <a:t>は正規表現と</a:t>
            </a:r>
            <a:r>
              <a:rPr lang="ja-JP" altLang="en-US" sz="2400" b="0" dirty="0" smtClean="0"/>
              <a:t>同等</a:t>
            </a:r>
            <a:endParaRPr lang="en-US" altLang="ja-JP" sz="2400" b="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ja-JP" altLang="en-US" dirty="0" smtClean="0"/>
              <a:t>（参考）</a:t>
            </a:r>
            <a:r>
              <a:rPr lang="en-US" altLang="ja-JP" dirty="0" smtClean="0"/>
              <a:t>Type 2</a:t>
            </a:r>
            <a:endParaRPr lang="ja-JP" altLang="en-US" dirty="0" smtClean="0"/>
          </a:p>
        </p:txBody>
      </p:sp>
      <p:sp>
        <p:nvSpPr>
          <p:cNvPr id="7171" name="Rectangle 3"/>
          <p:cNvSpPr>
            <a:spLocks noGrp="1" noChangeArrowheads="1"/>
          </p:cNvSpPr>
          <p:nvPr>
            <p:ph type="body" idx="1"/>
          </p:nvPr>
        </p:nvSpPr>
        <p:spPr/>
        <p:txBody>
          <a:bodyPr/>
          <a:lstStyle/>
          <a:p>
            <a:pPr eaLnBrk="1" hangingPunct="1"/>
            <a:r>
              <a:rPr lang="ja-JP" altLang="en-US" smtClean="0"/>
              <a:t>文脈自由文法 </a:t>
            </a:r>
            <a:r>
              <a:rPr lang="en-US" altLang="ja-JP" smtClean="0"/>
              <a:t>(Context free grammar)</a:t>
            </a:r>
          </a:p>
          <a:p>
            <a:pPr eaLnBrk="1" hangingPunct="1">
              <a:buFontTx/>
              <a:buNone/>
            </a:pPr>
            <a:r>
              <a:rPr lang="ja-JP" altLang="en-US" smtClean="0"/>
              <a:t>すべての生成規則が</a:t>
            </a:r>
            <a:endParaRPr lang="en-US" altLang="ja-JP" smtClean="0"/>
          </a:p>
          <a:p>
            <a:pPr eaLnBrk="1" hangingPunct="1">
              <a:buFontTx/>
              <a:buNone/>
            </a:pPr>
            <a:r>
              <a:rPr lang="en-US" altLang="ja-JP" smtClean="0"/>
              <a:t>    </a:t>
            </a:r>
            <a:r>
              <a:rPr lang="en-US" altLang="ja-JP" i="1" smtClean="0">
                <a:sym typeface="Symbol" pitchFamily="18" charset="2"/>
              </a:rPr>
              <a:t>X  </a:t>
            </a:r>
            <a:r>
              <a:rPr lang="en-US" altLang="ja-JP" smtClean="0">
                <a:sym typeface="Symbol" pitchFamily="18" charset="2"/>
              </a:rPr>
              <a:t></a:t>
            </a:r>
            <a:r>
              <a:rPr lang="en-US" altLang="ja-JP" i="1" smtClean="0">
                <a:sym typeface="Symbol" pitchFamily="18" charset="2"/>
              </a:rPr>
              <a:t> </a:t>
            </a:r>
          </a:p>
          <a:p>
            <a:pPr eaLnBrk="1" hangingPunct="1">
              <a:buFontTx/>
              <a:buNone/>
            </a:pPr>
            <a:r>
              <a:rPr lang="ja-JP" altLang="en-US" smtClean="0">
                <a:sym typeface="Symbol" pitchFamily="18" charset="2"/>
              </a:rPr>
              <a:t>の形をしている。ただし、</a:t>
            </a:r>
            <a:r>
              <a:rPr lang="en-US" altLang="ja-JP" smtClean="0">
                <a:sym typeface="Symbol" pitchFamily="18" charset="2"/>
              </a:rPr>
              <a:t> </a:t>
            </a:r>
          </a:p>
          <a:p>
            <a:pPr eaLnBrk="1" hangingPunct="1">
              <a:buFontTx/>
              <a:buNone/>
            </a:pPr>
            <a:r>
              <a:rPr lang="en-US" altLang="ja-JP" smtClean="0"/>
              <a:t>            </a:t>
            </a:r>
            <a:r>
              <a:rPr lang="en-US" altLang="ja-JP" i="1" smtClean="0">
                <a:sym typeface="Symbol" pitchFamily="18" charset="2"/>
              </a:rPr>
              <a:t>X</a:t>
            </a:r>
            <a:r>
              <a:rPr lang="ja-JP" altLang="en-US" i="1" smtClean="0">
                <a:sym typeface="Symbol" pitchFamily="18" charset="2"/>
              </a:rPr>
              <a:t> </a:t>
            </a:r>
            <a:r>
              <a:rPr lang="ja-JP" altLang="en-US" smtClean="0">
                <a:sym typeface="Symbol" pitchFamily="18" charset="2"/>
              </a:rPr>
              <a:t> </a:t>
            </a:r>
            <a:r>
              <a:rPr lang="en-US" altLang="ja-JP" i="1" smtClean="0">
                <a:sym typeface="Symbol" pitchFamily="18" charset="2"/>
              </a:rPr>
              <a:t>N </a:t>
            </a:r>
            <a:endParaRPr lang="en-US" altLang="ja-JP" smtClean="0">
              <a:sym typeface="Symbol" pitchFamily="18" charset="2"/>
            </a:endParaRPr>
          </a:p>
          <a:p>
            <a:pPr eaLnBrk="1" hangingPunct="1">
              <a:buFontTx/>
              <a:buNone/>
            </a:pPr>
            <a:r>
              <a:rPr lang="en-US" altLang="ja-JP" i="1" smtClean="0">
                <a:sym typeface="Symbol" pitchFamily="18" charset="2"/>
              </a:rPr>
              <a:t>            </a:t>
            </a:r>
            <a:r>
              <a:rPr lang="en-US" altLang="ja-JP" smtClean="0"/>
              <a:t> </a:t>
            </a:r>
            <a:r>
              <a:rPr lang="ja-JP" altLang="en-US" smtClean="0">
                <a:sym typeface="Symbol" pitchFamily="18" charset="2"/>
              </a:rPr>
              <a:t> </a:t>
            </a:r>
            <a:r>
              <a:rPr lang="en-US" altLang="ja-JP" smtClean="0">
                <a:sym typeface="Symbol" pitchFamily="18" charset="2"/>
              </a:rPr>
              <a:t>(</a:t>
            </a:r>
            <a:r>
              <a:rPr lang="en-US" altLang="ja-JP" i="1" smtClean="0">
                <a:sym typeface="Symbol" pitchFamily="18" charset="2"/>
              </a:rPr>
              <a:t>T</a:t>
            </a:r>
            <a:r>
              <a:rPr lang="en-US" altLang="ja-JP" smtClean="0">
                <a:sym typeface="Symbol" pitchFamily="18" charset="2"/>
              </a:rPr>
              <a:t>  </a:t>
            </a:r>
            <a:r>
              <a:rPr lang="en-US" altLang="ja-JP" i="1" smtClean="0">
                <a:sym typeface="Symbol" pitchFamily="18" charset="2"/>
              </a:rPr>
              <a:t>N</a:t>
            </a:r>
            <a:r>
              <a:rPr lang="en-US" altLang="ja-JP" smtClean="0">
                <a:sym typeface="Symbol" pitchFamily="18" charset="2"/>
              </a:rPr>
              <a:t>)*</a:t>
            </a:r>
            <a:endParaRPr lang="en-US" altLang="ja-JP" smtClean="0"/>
          </a:p>
          <a:p>
            <a:pPr eaLnBrk="1" hangingPunct="1">
              <a:buFontTx/>
              <a:buNone/>
            </a:pPr>
            <a:endParaRPr lang="en-US" altLang="ja-JP" smtClean="0"/>
          </a:p>
        </p:txBody>
      </p:sp>
      <p:sp>
        <p:nvSpPr>
          <p:cNvPr id="7172" name="テキスト ボックス 3"/>
          <p:cNvSpPr txBox="1">
            <a:spLocks noChangeArrowheads="1"/>
          </p:cNvSpPr>
          <p:nvPr/>
        </p:nvSpPr>
        <p:spPr bwMode="auto">
          <a:xfrm>
            <a:off x="928662" y="6000768"/>
            <a:ext cx="3800784" cy="523220"/>
          </a:xfrm>
          <a:prstGeom prst="rect">
            <a:avLst/>
          </a:prstGeom>
          <a:noFill/>
          <a:ln w="9525">
            <a:solidFill>
              <a:srgbClr val="002060"/>
            </a:solidFill>
            <a:miter lim="800000"/>
            <a:headEnd/>
            <a:tailEnd/>
          </a:ln>
        </p:spPr>
        <p:txBody>
          <a:bodyPr wrap="none">
            <a:spAutoFit/>
          </a:bodyPr>
          <a:lstStyle/>
          <a:p>
            <a:r>
              <a:rPr lang="en-US" altLang="ja-JP" sz="2800" b="0" dirty="0"/>
              <a:t>Type 2</a:t>
            </a:r>
            <a:r>
              <a:rPr lang="ja-JP" altLang="en-US" sz="2800" b="0" dirty="0"/>
              <a:t>は</a:t>
            </a:r>
            <a:r>
              <a:rPr lang="en-US" altLang="ja-JP" sz="2800" b="0" dirty="0"/>
              <a:t>BNF</a:t>
            </a:r>
            <a:r>
              <a:rPr lang="ja-JP" altLang="en-US" sz="2800" b="0" dirty="0"/>
              <a:t>記法と同等</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ja-JP" altLang="en-US" dirty="0" smtClean="0"/>
              <a:t>（参考）</a:t>
            </a:r>
            <a:r>
              <a:rPr lang="en-US" altLang="ja-JP" dirty="0" smtClean="0"/>
              <a:t>Type 1</a:t>
            </a:r>
            <a:endParaRPr lang="ja-JP" altLang="en-US" dirty="0" smtClean="0"/>
          </a:p>
        </p:txBody>
      </p:sp>
      <p:sp>
        <p:nvSpPr>
          <p:cNvPr id="8195" name="Rectangle 3"/>
          <p:cNvSpPr>
            <a:spLocks noGrp="1" noChangeArrowheads="1"/>
          </p:cNvSpPr>
          <p:nvPr>
            <p:ph type="body" idx="1"/>
          </p:nvPr>
        </p:nvSpPr>
        <p:spPr>
          <a:xfrm>
            <a:off x="400050" y="1857375"/>
            <a:ext cx="8743950" cy="4114800"/>
          </a:xfrm>
        </p:spPr>
        <p:txBody>
          <a:bodyPr/>
          <a:lstStyle/>
          <a:p>
            <a:pPr eaLnBrk="1" hangingPunct="1"/>
            <a:r>
              <a:rPr lang="ja-JP" altLang="en-US" dirty="0" smtClean="0"/>
              <a:t>文脈依存文法 </a:t>
            </a:r>
            <a:r>
              <a:rPr lang="en-US" altLang="ja-JP" dirty="0" smtClean="0"/>
              <a:t>(Context sensitive grammar)</a:t>
            </a:r>
          </a:p>
          <a:p>
            <a:pPr eaLnBrk="1" hangingPunct="1">
              <a:buFontTx/>
              <a:buNone/>
            </a:pPr>
            <a:r>
              <a:rPr lang="en-US" altLang="ja-JP" dirty="0" smtClean="0"/>
              <a:t>  </a:t>
            </a:r>
            <a:r>
              <a:rPr lang="ja-JP" altLang="en-US" dirty="0" smtClean="0"/>
              <a:t>すべての生成規則が</a:t>
            </a:r>
            <a:endParaRPr lang="en-US" altLang="ja-JP" dirty="0" smtClean="0"/>
          </a:p>
          <a:p>
            <a:pPr eaLnBrk="1" hangingPunct="1">
              <a:buFontTx/>
              <a:buNone/>
            </a:pPr>
            <a:r>
              <a:rPr lang="en-US" altLang="ja-JP" dirty="0" smtClean="0"/>
              <a:t>      </a:t>
            </a:r>
            <a:r>
              <a:rPr lang="en-US" altLang="ja-JP" i="1" dirty="0" smtClean="0">
                <a:sym typeface="Symbol" pitchFamily="18" charset="2"/>
              </a:rPr>
              <a:t> X  </a:t>
            </a:r>
            <a:r>
              <a:rPr lang="en-US" altLang="ja-JP" dirty="0" smtClean="0">
                <a:sym typeface="Symbol" pitchFamily="18" charset="2"/>
              </a:rPr>
              <a:t></a:t>
            </a:r>
            <a:r>
              <a:rPr lang="en-US" altLang="ja-JP" i="1" dirty="0" smtClean="0">
                <a:sym typeface="Symbol" pitchFamily="18" charset="2"/>
              </a:rPr>
              <a:t>    </a:t>
            </a:r>
          </a:p>
          <a:p>
            <a:pPr eaLnBrk="1" hangingPunct="1">
              <a:buFontTx/>
              <a:buNone/>
            </a:pPr>
            <a:r>
              <a:rPr lang="ja-JP" altLang="en-US" dirty="0" smtClean="0"/>
              <a:t>  の形をしている。ただし、</a:t>
            </a:r>
            <a:endParaRPr lang="en-US" altLang="ja-JP" i="1" dirty="0" smtClean="0">
              <a:sym typeface="Symbol" pitchFamily="18" charset="2"/>
            </a:endParaRPr>
          </a:p>
          <a:p>
            <a:pPr>
              <a:buNone/>
            </a:pPr>
            <a:r>
              <a:rPr lang="ja-JP" altLang="en-US" dirty="0" smtClean="0"/>
              <a:t>        </a:t>
            </a:r>
            <a:r>
              <a:rPr lang="en-US" altLang="ja-JP" dirty="0" smtClean="0"/>
              <a:t> </a:t>
            </a:r>
            <a:r>
              <a:rPr lang="en-US" altLang="ja-JP" i="1" dirty="0" smtClean="0">
                <a:sym typeface="Symbol" pitchFamily="18" charset="2"/>
              </a:rPr>
              <a:t> </a:t>
            </a:r>
            <a:r>
              <a:rPr lang="en-US" altLang="ja-JP" dirty="0" smtClean="0">
                <a:sym typeface="Symbol" pitchFamily="18" charset="2"/>
              </a:rPr>
              <a:t>, </a:t>
            </a:r>
            <a:r>
              <a:rPr lang="en-US" altLang="ja-JP" i="1" dirty="0" smtClean="0">
                <a:sym typeface="Symbol" pitchFamily="18" charset="2"/>
              </a:rPr>
              <a:t></a:t>
            </a:r>
            <a:r>
              <a:rPr lang="en-US" altLang="ja-JP" dirty="0" smtClean="0"/>
              <a:t> </a:t>
            </a:r>
            <a:r>
              <a:rPr lang="ja-JP" altLang="en-US" dirty="0" smtClean="0">
                <a:sym typeface="Symbol" pitchFamily="18" charset="2"/>
              </a:rPr>
              <a:t> </a:t>
            </a:r>
            <a:r>
              <a:rPr lang="en-US" altLang="ja-JP" i="1" dirty="0" smtClean="0">
                <a:sym typeface="Symbol" pitchFamily="18" charset="2"/>
              </a:rPr>
              <a:t>N</a:t>
            </a:r>
            <a:r>
              <a:rPr lang="en-US" altLang="ja-JP" dirty="0" smtClean="0">
                <a:sym typeface="Symbol" pitchFamily="18" charset="2"/>
              </a:rPr>
              <a:t>*</a:t>
            </a:r>
          </a:p>
          <a:p>
            <a:pPr>
              <a:buNone/>
            </a:pPr>
            <a:r>
              <a:rPr lang="en-US" altLang="ja-JP" dirty="0" smtClean="0"/>
              <a:t>           </a:t>
            </a:r>
            <a:r>
              <a:rPr lang="en-US" altLang="ja-JP" i="1" dirty="0" smtClean="0">
                <a:sym typeface="Symbol" pitchFamily="18" charset="2"/>
              </a:rPr>
              <a:t>X</a:t>
            </a:r>
            <a:r>
              <a:rPr lang="ja-JP" altLang="en-US" i="1" dirty="0" smtClean="0">
                <a:sym typeface="Symbol" pitchFamily="18" charset="2"/>
              </a:rPr>
              <a:t> </a:t>
            </a:r>
            <a:r>
              <a:rPr lang="ja-JP" altLang="en-US" dirty="0" smtClean="0">
                <a:sym typeface="Symbol" pitchFamily="18" charset="2"/>
              </a:rPr>
              <a:t> </a:t>
            </a:r>
            <a:r>
              <a:rPr lang="en-US" altLang="ja-JP" i="1" dirty="0" smtClean="0">
                <a:sym typeface="Symbol" pitchFamily="18" charset="2"/>
              </a:rPr>
              <a:t>N</a:t>
            </a:r>
            <a:endParaRPr lang="en-US" altLang="ja-JP" dirty="0" smtClean="0">
              <a:sym typeface="Symbol" pitchFamily="18" charset="2"/>
            </a:endParaRPr>
          </a:p>
          <a:p>
            <a:pPr eaLnBrk="1" hangingPunct="1">
              <a:buFontTx/>
              <a:buNone/>
            </a:pPr>
            <a:r>
              <a:rPr lang="en-US" altLang="ja-JP" i="1" dirty="0" smtClean="0">
                <a:sym typeface="Symbol" pitchFamily="18" charset="2"/>
              </a:rPr>
              <a:t>            </a:t>
            </a:r>
            <a:r>
              <a:rPr lang="ja-JP" altLang="en-US" dirty="0" smtClean="0">
                <a:sym typeface="Symbol" pitchFamily="18" charset="2"/>
              </a:rPr>
              <a:t> </a:t>
            </a:r>
            <a:r>
              <a:rPr lang="en-US" altLang="ja-JP" dirty="0" smtClean="0">
                <a:sym typeface="Symbol" pitchFamily="18" charset="2"/>
              </a:rPr>
              <a:t>(</a:t>
            </a:r>
            <a:r>
              <a:rPr lang="en-US" altLang="ja-JP" i="1" dirty="0" smtClean="0">
                <a:sym typeface="Symbol" pitchFamily="18" charset="2"/>
              </a:rPr>
              <a:t>T</a:t>
            </a:r>
            <a:r>
              <a:rPr lang="en-US" altLang="ja-JP" dirty="0" smtClean="0">
                <a:sym typeface="Symbol" pitchFamily="18" charset="2"/>
              </a:rPr>
              <a:t>  </a:t>
            </a:r>
            <a:r>
              <a:rPr lang="en-US" altLang="ja-JP" i="1" dirty="0" smtClean="0">
                <a:sym typeface="Symbol" pitchFamily="18" charset="2"/>
              </a:rPr>
              <a:t>N</a:t>
            </a:r>
            <a:r>
              <a:rPr lang="en-US" altLang="ja-JP" dirty="0" smtClean="0">
                <a:sym typeface="Symbol" pitchFamily="18" charset="2"/>
              </a:rPr>
              <a:t>)</a:t>
            </a:r>
            <a:r>
              <a:rPr lang="en-US" altLang="ja-JP" baseline="30000" dirty="0" smtClean="0">
                <a:sym typeface="Symbol" pitchFamily="18" charset="2"/>
              </a:rPr>
              <a:t>+</a:t>
            </a:r>
            <a:endParaRPr lang="en-US" altLang="ja-JP"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ja-JP" altLang="en-US" dirty="0" smtClean="0"/>
              <a:t>（参考）</a:t>
            </a:r>
            <a:r>
              <a:rPr lang="en-US" altLang="ja-JP" dirty="0" smtClean="0"/>
              <a:t>Type 0</a:t>
            </a:r>
            <a:endParaRPr lang="ja-JP" altLang="en-US" dirty="0" smtClean="0"/>
          </a:p>
        </p:txBody>
      </p:sp>
      <p:sp>
        <p:nvSpPr>
          <p:cNvPr id="8195" name="Rectangle 3"/>
          <p:cNvSpPr>
            <a:spLocks noGrp="1" noChangeArrowheads="1"/>
          </p:cNvSpPr>
          <p:nvPr>
            <p:ph type="body" idx="1"/>
          </p:nvPr>
        </p:nvSpPr>
        <p:spPr>
          <a:xfrm>
            <a:off x="400050" y="1857375"/>
            <a:ext cx="8743950" cy="4114800"/>
          </a:xfrm>
        </p:spPr>
        <p:txBody>
          <a:bodyPr/>
          <a:lstStyle/>
          <a:p>
            <a:pPr eaLnBrk="1" hangingPunct="1"/>
            <a:r>
              <a:rPr lang="ja-JP" altLang="en-US" dirty="0" smtClean="0"/>
              <a:t>文脈依存文法 </a:t>
            </a:r>
            <a:r>
              <a:rPr lang="en-US" altLang="ja-JP" dirty="0" smtClean="0"/>
              <a:t>(Context sensitive grammar)</a:t>
            </a:r>
          </a:p>
          <a:p>
            <a:pPr eaLnBrk="1" hangingPunct="1">
              <a:buFontTx/>
              <a:buNone/>
            </a:pPr>
            <a:r>
              <a:rPr lang="en-US" altLang="ja-JP" dirty="0" smtClean="0"/>
              <a:t>  </a:t>
            </a:r>
            <a:r>
              <a:rPr lang="ja-JP" altLang="en-US" dirty="0" smtClean="0"/>
              <a:t>すべての生成規則が</a:t>
            </a:r>
            <a:endParaRPr lang="en-US" altLang="ja-JP" dirty="0" smtClean="0"/>
          </a:p>
          <a:p>
            <a:pPr eaLnBrk="1" hangingPunct="1">
              <a:buFontTx/>
              <a:buNone/>
            </a:pPr>
            <a:r>
              <a:rPr lang="en-US" altLang="ja-JP" dirty="0" smtClean="0"/>
              <a:t>      </a:t>
            </a:r>
            <a:r>
              <a:rPr lang="en-US" altLang="ja-JP" i="1" dirty="0" smtClean="0">
                <a:sym typeface="Symbol" pitchFamily="18" charset="2"/>
              </a:rPr>
              <a:t> X  </a:t>
            </a:r>
            <a:r>
              <a:rPr lang="en-US" altLang="ja-JP" dirty="0" smtClean="0">
                <a:sym typeface="Symbol" pitchFamily="18" charset="2"/>
              </a:rPr>
              <a:t></a:t>
            </a:r>
            <a:r>
              <a:rPr lang="en-US" altLang="ja-JP" i="1" dirty="0" smtClean="0">
                <a:sym typeface="Symbol" pitchFamily="18" charset="2"/>
              </a:rPr>
              <a:t>    </a:t>
            </a:r>
          </a:p>
          <a:p>
            <a:pPr eaLnBrk="1" hangingPunct="1">
              <a:buFontTx/>
              <a:buNone/>
            </a:pPr>
            <a:r>
              <a:rPr lang="ja-JP" altLang="en-US" dirty="0" smtClean="0"/>
              <a:t>  の形をしている。ただし、</a:t>
            </a:r>
            <a:endParaRPr lang="en-US" altLang="ja-JP" i="1" dirty="0" smtClean="0">
              <a:sym typeface="Symbol" pitchFamily="18" charset="2"/>
            </a:endParaRPr>
          </a:p>
          <a:p>
            <a:pPr>
              <a:buNone/>
            </a:pPr>
            <a:r>
              <a:rPr lang="ja-JP" altLang="en-US" dirty="0" smtClean="0"/>
              <a:t>        </a:t>
            </a:r>
            <a:r>
              <a:rPr lang="en-US" altLang="ja-JP" dirty="0" smtClean="0"/>
              <a:t> </a:t>
            </a:r>
            <a:r>
              <a:rPr lang="en-US" altLang="ja-JP" i="1" dirty="0" smtClean="0">
                <a:sym typeface="Symbol" pitchFamily="18" charset="2"/>
              </a:rPr>
              <a:t> </a:t>
            </a:r>
            <a:r>
              <a:rPr lang="en-US" altLang="ja-JP" dirty="0" smtClean="0">
                <a:sym typeface="Symbol" pitchFamily="18" charset="2"/>
              </a:rPr>
              <a:t>, </a:t>
            </a:r>
            <a:r>
              <a:rPr lang="en-US" altLang="ja-JP" i="1" dirty="0" smtClean="0">
                <a:sym typeface="Symbol" pitchFamily="18" charset="2"/>
              </a:rPr>
              <a:t></a:t>
            </a:r>
            <a:r>
              <a:rPr lang="en-US" altLang="ja-JP" dirty="0" smtClean="0"/>
              <a:t> </a:t>
            </a:r>
            <a:r>
              <a:rPr lang="ja-JP" altLang="en-US" dirty="0" smtClean="0">
                <a:sym typeface="Symbol" pitchFamily="18" charset="2"/>
              </a:rPr>
              <a:t> </a:t>
            </a:r>
            <a:r>
              <a:rPr lang="en-US" altLang="ja-JP" i="1" dirty="0" smtClean="0">
                <a:sym typeface="Symbol" pitchFamily="18" charset="2"/>
              </a:rPr>
              <a:t>N</a:t>
            </a:r>
            <a:r>
              <a:rPr lang="en-US" altLang="ja-JP" dirty="0" smtClean="0">
                <a:sym typeface="Symbol" pitchFamily="18" charset="2"/>
              </a:rPr>
              <a:t>*</a:t>
            </a:r>
          </a:p>
          <a:p>
            <a:pPr>
              <a:buNone/>
            </a:pPr>
            <a:r>
              <a:rPr lang="en-US" altLang="ja-JP" dirty="0" smtClean="0"/>
              <a:t>           </a:t>
            </a:r>
            <a:r>
              <a:rPr lang="en-US" altLang="ja-JP" i="1" dirty="0" smtClean="0">
                <a:sym typeface="Symbol" pitchFamily="18" charset="2"/>
              </a:rPr>
              <a:t>X</a:t>
            </a:r>
            <a:r>
              <a:rPr lang="ja-JP" altLang="en-US" i="1" dirty="0" smtClean="0">
                <a:sym typeface="Symbol" pitchFamily="18" charset="2"/>
              </a:rPr>
              <a:t> </a:t>
            </a:r>
            <a:r>
              <a:rPr lang="ja-JP" altLang="en-US" dirty="0" smtClean="0">
                <a:sym typeface="Symbol" pitchFamily="18" charset="2"/>
              </a:rPr>
              <a:t> </a:t>
            </a:r>
            <a:r>
              <a:rPr lang="en-US" altLang="ja-JP" i="1" dirty="0" smtClean="0">
                <a:sym typeface="Symbol" pitchFamily="18" charset="2"/>
              </a:rPr>
              <a:t>N</a:t>
            </a:r>
            <a:endParaRPr lang="en-US" altLang="ja-JP" dirty="0" smtClean="0">
              <a:sym typeface="Symbol" pitchFamily="18" charset="2"/>
            </a:endParaRPr>
          </a:p>
          <a:p>
            <a:pPr eaLnBrk="1" hangingPunct="1">
              <a:buFontTx/>
              <a:buNone/>
            </a:pPr>
            <a:r>
              <a:rPr lang="en-US" altLang="ja-JP" i="1" dirty="0" smtClean="0">
                <a:sym typeface="Symbol" pitchFamily="18" charset="2"/>
              </a:rPr>
              <a:t>            </a:t>
            </a:r>
            <a:r>
              <a:rPr lang="ja-JP" altLang="en-US" dirty="0" smtClean="0">
                <a:sym typeface="Symbol" pitchFamily="18" charset="2"/>
              </a:rPr>
              <a:t> </a:t>
            </a:r>
            <a:r>
              <a:rPr lang="en-US" altLang="ja-JP" dirty="0" smtClean="0">
                <a:sym typeface="Symbol" pitchFamily="18" charset="2"/>
              </a:rPr>
              <a:t>(</a:t>
            </a:r>
            <a:r>
              <a:rPr lang="en-US" altLang="ja-JP" i="1" dirty="0" smtClean="0">
                <a:sym typeface="Symbol" pitchFamily="18" charset="2"/>
              </a:rPr>
              <a:t>T</a:t>
            </a:r>
            <a:r>
              <a:rPr lang="en-US" altLang="ja-JP" dirty="0" smtClean="0">
                <a:sym typeface="Symbol" pitchFamily="18" charset="2"/>
              </a:rPr>
              <a:t>  </a:t>
            </a:r>
            <a:r>
              <a:rPr lang="en-US" altLang="ja-JP" i="1" dirty="0" smtClean="0">
                <a:sym typeface="Symbol" pitchFamily="18" charset="2"/>
              </a:rPr>
              <a:t>N</a:t>
            </a:r>
            <a:r>
              <a:rPr lang="en-US" altLang="ja-JP" dirty="0" smtClean="0">
                <a:sym typeface="Symbol" pitchFamily="18" charset="2"/>
              </a:rPr>
              <a:t>)</a:t>
            </a:r>
            <a:r>
              <a:rPr lang="en-US" altLang="ja-JP" baseline="30000" dirty="0" smtClean="0">
                <a:sym typeface="Symbol" pitchFamily="18" charset="2"/>
              </a:rPr>
              <a:t>*</a:t>
            </a:r>
            <a:endParaRPr lang="en-US" altLang="ja-JP"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714375" y="214313"/>
            <a:ext cx="7772400" cy="1143000"/>
          </a:xfrm>
        </p:spPr>
        <p:txBody>
          <a:bodyPr/>
          <a:lstStyle/>
          <a:p>
            <a:pPr eaLnBrk="1" hangingPunct="1"/>
            <a:r>
              <a:rPr lang="ja-JP" altLang="en-US" smtClean="0"/>
              <a:t>先週の補足</a:t>
            </a:r>
            <a:r>
              <a:rPr lang="en-US" altLang="ja-JP" smtClean="0"/>
              <a:t>: BNF</a:t>
            </a:r>
            <a:r>
              <a:rPr lang="ja-JP" altLang="en-US" smtClean="0"/>
              <a:t>記法</a:t>
            </a:r>
          </a:p>
        </p:txBody>
      </p:sp>
      <p:sp>
        <p:nvSpPr>
          <p:cNvPr id="10243" name="Rectangle 3"/>
          <p:cNvSpPr>
            <a:spLocks noGrp="1" noChangeArrowheads="1"/>
          </p:cNvSpPr>
          <p:nvPr>
            <p:ph type="body" idx="1"/>
          </p:nvPr>
        </p:nvSpPr>
        <p:spPr>
          <a:xfrm>
            <a:off x="571500" y="1357313"/>
            <a:ext cx="8229600" cy="4929187"/>
          </a:xfrm>
        </p:spPr>
        <p:txBody>
          <a:bodyPr>
            <a:normAutofit lnSpcReduction="10000"/>
          </a:bodyPr>
          <a:lstStyle/>
          <a:p>
            <a:pPr eaLnBrk="1" hangingPunct="1">
              <a:lnSpc>
                <a:spcPct val="90000"/>
              </a:lnSpc>
            </a:pPr>
            <a:r>
              <a:rPr lang="en-US" altLang="ja-JP" sz="2800" dirty="0" smtClean="0"/>
              <a:t>Backus Normal Form</a:t>
            </a:r>
            <a:r>
              <a:rPr lang="ja-JP" altLang="en-US" sz="2800" dirty="0" smtClean="0"/>
              <a:t> </a:t>
            </a:r>
            <a:r>
              <a:rPr lang="en-US" altLang="ja-JP" sz="2800" dirty="0" smtClean="0"/>
              <a:t>(Backus </a:t>
            </a:r>
            <a:r>
              <a:rPr lang="en-US" altLang="ja-JP" sz="2800" dirty="0" err="1" smtClean="0"/>
              <a:t>Naur</a:t>
            </a:r>
            <a:r>
              <a:rPr lang="en-US" altLang="ja-JP" sz="2800" dirty="0" smtClean="0"/>
              <a:t> Form)</a:t>
            </a:r>
          </a:p>
          <a:p>
            <a:pPr eaLnBrk="1" hangingPunct="1">
              <a:lnSpc>
                <a:spcPct val="90000"/>
              </a:lnSpc>
            </a:pPr>
            <a:r>
              <a:rPr lang="ja-JP" altLang="en-US" sz="2800" dirty="0" smtClean="0"/>
              <a:t>文脈自由文法を簡潔に表現する記法</a:t>
            </a:r>
            <a:endParaRPr lang="en-US" altLang="ja-JP" sz="2800" dirty="0" smtClean="0"/>
          </a:p>
          <a:p>
            <a:pPr lvl="1" eaLnBrk="1" hangingPunct="1">
              <a:lnSpc>
                <a:spcPct val="90000"/>
              </a:lnSpc>
            </a:pPr>
            <a:r>
              <a:rPr lang="ja-JP" altLang="en-US" sz="2400" dirty="0" smtClean="0"/>
              <a:t>左辺が同じ非終端記号の規則を、縦棒</a:t>
            </a:r>
            <a:r>
              <a:rPr lang="en-US" altLang="ja-JP" sz="2400" dirty="0" smtClean="0"/>
              <a:t> | </a:t>
            </a:r>
            <a:r>
              <a:rPr lang="ja-JP" altLang="en-US" sz="2400" dirty="0" smtClean="0"/>
              <a:t>を使って、まとめて表す。</a:t>
            </a:r>
            <a:endParaRPr lang="en-US" altLang="ja-JP" sz="2400" dirty="0" smtClean="0"/>
          </a:p>
          <a:p>
            <a:pPr eaLnBrk="1" hangingPunct="1">
              <a:lnSpc>
                <a:spcPct val="90000"/>
              </a:lnSpc>
              <a:buFontTx/>
              <a:buNone/>
            </a:pPr>
            <a:r>
              <a:rPr lang="ja-JP" altLang="en-US" sz="2800" dirty="0" smtClean="0"/>
              <a:t>（例） 文脈自由文法 </a:t>
            </a:r>
            <a:r>
              <a:rPr lang="en-US" altLang="ja-JP" sz="2800" i="1" dirty="0" smtClean="0"/>
              <a:t>G </a:t>
            </a:r>
            <a:r>
              <a:rPr lang="en-US" altLang="ja-JP" sz="2800" dirty="0" smtClean="0"/>
              <a:t>= (</a:t>
            </a:r>
            <a:r>
              <a:rPr lang="en-US" altLang="ja-JP" sz="2800" i="1" dirty="0" smtClean="0"/>
              <a:t>T, N, S, P</a:t>
            </a:r>
            <a:r>
              <a:rPr lang="en-US" altLang="ja-JP" sz="2800" dirty="0" smtClean="0"/>
              <a:t>)</a:t>
            </a:r>
          </a:p>
          <a:p>
            <a:pPr eaLnBrk="1" hangingPunct="1">
              <a:lnSpc>
                <a:spcPct val="90000"/>
              </a:lnSpc>
              <a:buFontTx/>
              <a:buNone/>
            </a:pPr>
            <a:r>
              <a:rPr lang="en-US" altLang="ja-JP" sz="2800" i="1" dirty="0" smtClean="0"/>
              <a:t>          N </a:t>
            </a:r>
            <a:r>
              <a:rPr lang="en-US" altLang="ja-JP" sz="2800" dirty="0" smtClean="0"/>
              <a:t>= {</a:t>
            </a:r>
            <a:r>
              <a:rPr lang="en-US" altLang="ja-JP" sz="2800" i="1" dirty="0" smtClean="0"/>
              <a:t> S </a:t>
            </a:r>
            <a:r>
              <a:rPr lang="en-US" altLang="ja-JP" sz="2800" dirty="0" smtClean="0"/>
              <a:t>}</a:t>
            </a:r>
          </a:p>
          <a:p>
            <a:pPr eaLnBrk="1" hangingPunct="1">
              <a:lnSpc>
                <a:spcPct val="90000"/>
              </a:lnSpc>
              <a:buFontTx/>
              <a:buNone/>
            </a:pPr>
            <a:r>
              <a:rPr lang="en-US" altLang="ja-JP" sz="2800" i="1" dirty="0" smtClean="0"/>
              <a:t>          T </a:t>
            </a:r>
            <a:r>
              <a:rPr lang="en-US" altLang="ja-JP" sz="2800" dirty="0" smtClean="0"/>
              <a:t>= { ( , ) }</a:t>
            </a:r>
          </a:p>
          <a:p>
            <a:pPr eaLnBrk="1" hangingPunct="1">
              <a:lnSpc>
                <a:spcPct val="90000"/>
              </a:lnSpc>
              <a:buFontTx/>
              <a:buNone/>
            </a:pPr>
            <a:r>
              <a:rPr lang="en-US" altLang="ja-JP" sz="2800" i="1" dirty="0" smtClean="0"/>
              <a:t>          P </a:t>
            </a:r>
            <a:r>
              <a:rPr lang="en-US" altLang="ja-JP" sz="2800" dirty="0" smtClean="0"/>
              <a:t>= { </a:t>
            </a:r>
            <a:r>
              <a:rPr lang="en-US" altLang="ja-JP" sz="2800" i="1" dirty="0" smtClean="0"/>
              <a:t>S </a:t>
            </a:r>
            <a:r>
              <a:rPr lang="en-US" altLang="ja-JP" sz="2800" dirty="0" smtClean="0">
                <a:sym typeface="Symbol" pitchFamily="18" charset="2"/>
              </a:rPr>
              <a:t></a:t>
            </a:r>
            <a:r>
              <a:rPr lang="en-US" altLang="ja-JP" sz="2800" dirty="0" smtClean="0"/>
              <a:t> ( ), </a:t>
            </a:r>
            <a:r>
              <a:rPr lang="en-US" altLang="ja-JP" sz="2800" i="1" dirty="0" smtClean="0"/>
              <a:t>S </a:t>
            </a:r>
            <a:r>
              <a:rPr lang="en-US" altLang="ja-JP" sz="2800" dirty="0" smtClean="0">
                <a:sym typeface="Symbol" pitchFamily="18" charset="2"/>
              </a:rPr>
              <a:t></a:t>
            </a:r>
            <a:r>
              <a:rPr lang="en-US" altLang="ja-JP" sz="2800" dirty="0" smtClean="0"/>
              <a:t> (</a:t>
            </a:r>
            <a:r>
              <a:rPr lang="en-US" altLang="ja-JP" sz="2800" i="1" dirty="0" smtClean="0"/>
              <a:t>S</a:t>
            </a:r>
            <a:r>
              <a:rPr lang="en-US" altLang="ja-JP" sz="2800" dirty="0" smtClean="0"/>
              <a:t>), </a:t>
            </a:r>
            <a:r>
              <a:rPr lang="en-US" altLang="ja-JP" sz="2800" i="1" dirty="0" smtClean="0"/>
              <a:t>S </a:t>
            </a:r>
            <a:r>
              <a:rPr lang="en-US" altLang="ja-JP" sz="2800" dirty="0" smtClean="0">
                <a:sym typeface="Symbol" pitchFamily="18" charset="2"/>
              </a:rPr>
              <a:t></a:t>
            </a:r>
            <a:r>
              <a:rPr lang="en-US" altLang="ja-JP" sz="2800" dirty="0" smtClean="0"/>
              <a:t> </a:t>
            </a:r>
            <a:r>
              <a:rPr lang="en-US" altLang="ja-JP" sz="2800" i="1" dirty="0" smtClean="0"/>
              <a:t>SS </a:t>
            </a:r>
            <a:r>
              <a:rPr lang="en-US" altLang="ja-JP" sz="2800" dirty="0" smtClean="0"/>
              <a:t>}</a:t>
            </a:r>
          </a:p>
          <a:p>
            <a:pPr eaLnBrk="1" hangingPunct="1">
              <a:lnSpc>
                <a:spcPct val="90000"/>
              </a:lnSpc>
              <a:buFontTx/>
              <a:buNone/>
            </a:pPr>
            <a:r>
              <a:rPr lang="ja-JP" altLang="en-US" sz="2800" dirty="0" smtClean="0"/>
              <a:t>は、</a:t>
            </a:r>
            <a:r>
              <a:rPr lang="en-US" altLang="ja-JP" sz="2800" dirty="0" smtClean="0"/>
              <a:t>BNF</a:t>
            </a:r>
            <a:r>
              <a:rPr lang="ja-JP" altLang="en-US" sz="2800" dirty="0" smtClean="0"/>
              <a:t>記法では、</a:t>
            </a:r>
            <a:endParaRPr lang="en-US" altLang="ja-JP" sz="2800" dirty="0" smtClean="0"/>
          </a:p>
          <a:p>
            <a:pPr eaLnBrk="1" hangingPunct="1">
              <a:lnSpc>
                <a:spcPct val="90000"/>
              </a:lnSpc>
              <a:buFontTx/>
              <a:buNone/>
            </a:pPr>
            <a:r>
              <a:rPr lang="en-US" altLang="ja-JP" sz="2800" dirty="0" smtClean="0"/>
              <a:t>        &lt;</a:t>
            </a:r>
            <a:r>
              <a:rPr lang="en-US" altLang="ja-JP" sz="2800" dirty="0" err="1" smtClean="0"/>
              <a:t>paren</a:t>
            </a:r>
            <a:r>
              <a:rPr lang="en-US" altLang="ja-JP" sz="2800" dirty="0" smtClean="0"/>
              <a:t>&gt; ::= ( ) | (&lt;</a:t>
            </a:r>
            <a:r>
              <a:rPr lang="en-US" altLang="ja-JP" sz="2800" dirty="0" err="1" smtClean="0"/>
              <a:t>paren</a:t>
            </a:r>
            <a:r>
              <a:rPr lang="en-US" altLang="ja-JP" sz="2800" dirty="0" smtClean="0"/>
              <a:t>&gt;) | &lt;</a:t>
            </a:r>
            <a:r>
              <a:rPr lang="en-US" altLang="ja-JP" sz="2800" dirty="0" err="1" smtClean="0"/>
              <a:t>paren</a:t>
            </a:r>
            <a:r>
              <a:rPr lang="en-US" altLang="ja-JP" sz="2800" dirty="0" smtClean="0"/>
              <a:t>&gt; &lt;</a:t>
            </a:r>
            <a:r>
              <a:rPr lang="en-US" altLang="ja-JP" sz="2800" dirty="0" err="1" smtClean="0"/>
              <a:t>paren</a:t>
            </a:r>
            <a:r>
              <a:rPr lang="en-US" altLang="ja-JP" sz="2800" dirty="0" smtClean="0"/>
              <a:t>&gt;  </a:t>
            </a:r>
          </a:p>
          <a:p>
            <a:pPr eaLnBrk="1" hangingPunct="1">
              <a:lnSpc>
                <a:spcPct val="90000"/>
              </a:lnSpc>
              <a:buFontTx/>
              <a:buNone/>
            </a:pPr>
            <a:r>
              <a:rPr lang="ja-JP" altLang="en-US" sz="2800" dirty="0" smtClean="0"/>
              <a:t>と表せる。</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式について</a:t>
            </a:r>
            <a:endParaRPr kumimoji="1" lang="ja-JP" altLang="en-US" dirty="0"/>
          </a:p>
        </p:txBody>
      </p:sp>
      <p:sp>
        <p:nvSpPr>
          <p:cNvPr id="4" name="テキスト ボックス 3"/>
          <p:cNvSpPr txBox="1"/>
          <p:nvPr/>
        </p:nvSpPr>
        <p:spPr>
          <a:xfrm>
            <a:off x="785786" y="1285860"/>
            <a:ext cx="7786742" cy="3785652"/>
          </a:xfrm>
          <a:prstGeom prst="rect">
            <a:avLst/>
          </a:prstGeom>
          <a:noFill/>
        </p:spPr>
        <p:txBody>
          <a:bodyPr wrap="square" rtlCol="0">
            <a:spAutoFit/>
          </a:bodyPr>
          <a:lstStyle/>
          <a:p>
            <a:r>
              <a:rPr lang="en-US" altLang="ja-JP" sz="2400" dirty="0" smtClean="0"/>
              <a:t>Little Quilt</a:t>
            </a:r>
            <a:r>
              <a:rPr lang="ja-JP" altLang="en-US" sz="2400" dirty="0" smtClean="0"/>
              <a:t>言語のプログラムは１つの式であった。</a:t>
            </a:r>
            <a:endParaRPr lang="en-US" altLang="ja-JP" sz="2400" dirty="0" smtClean="0"/>
          </a:p>
          <a:p>
            <a:r>
              <a:rPr kumimoji="1" lang="ja-JP" altLang="en-US" sz="2400" dirty="0" smtClean="0"/>
              <a:t>（</a:t>
            </a:r>
            <a:r>
              <a:rPr kumimoji="1" lang="en-US" altLang="ja-JP" sz="2400" dirty="0" smtClean="0"/>
              <a:t>C</a:t>
            </a:r>
            <a:r>
              <a:rPr lang="ja-JP" altLang="en-US" sz="2400" dirty="0" smtClean="0"/>
              <a:t>言語には</a:t>
            </a:r>
            <a:r>
              <a:rPr kumimoji="1" lang="ja-JP" altLang="en-US" sz="2400" dirty="0" smtClean="0"/>
              <a:t>文があるが、</a:t>
            </a:r>
            <a:r>
              <a:rPr kumimoji="1" lang="en-US" altLang="ja-JP" sz="2400" dirty="0" smtClean="0"/>
              <a:t>Little Quilt</a:t>
            </a:r>
            <a:r>
              <a:rPr kumimoji="1" lang="ja-JP" altLang="en-US" sz="2400" dirty="0" smtClean="0"/>
              <a:t>言語には文はない。）</a:t>
            </a:r>
            <a:endParaRPr kumimoji="1" lang="en-US" altLang="ja-JP" sz="2400" dirty="0" smtClean="0"/>
          </a:p>
          <a:p>
            <a:endParaRPr lang="en-US" altLang="ja-JP" sz="2400" dirty="0" smtClean="0"/>
          </a:p>
          <a:p>
            <a:r>
              <a:rPr kumimoji="1" lang="ja-JP" altLang="en-US" sz="2400" dirty="0" smtClean="0"/>
              <a:t>式の記法 </a:t>
            </a:r>
            <a:endParaRPr kumimoji="1" lang="en-US" altLang="ja-JP" sz="2400" dirty="0" smtClean="0"/>
          </a:p>
          <a:p>
            <a:r>
              <a:rPr lang="en-US" altLang="ja-JP" sz="2400" dirty="0" smtClean="0"/>
              <a:t>    --- </a:t>
            </a:r>
            <a:r>
              <a:rPr lang="ja-JP" altLang="en-US" sz="2400" dirty="0" smtClean="0"/>
              <a:t>二項演算子は中置記法、前置記法、後置記法がある。</a:t>
            </a:r>
            <a:endParaRPr lang="en-US" altLang="ja-JP" sz="2400" dirty="0" smtClean="0"/>
          </a:p>
          <a:p>
            <a:r>
              <a:rPr lang="en-US" altLang="ja-JP" sz="2400" dirty="0" smtClean="0"/>
              <a:t>    --- </a:t>
            </a:r>
            <a:r>
              <a:rPr lang="ja-JP" altLang="en-US" sz="2400" dirty="0" smtClean="0"/>
              <a:t>結合性、優先順位</a:t>
            </a:r>
            <a:endParaRPr lang="en-US" altLang="ja-JP" sz="2400" dirty="0" smtClean="0"/>
          </a:p>
          <a:p>
            <a:r>
              <a:rPr lang="en-US" altLang="ja-JP" sz="2400" dirty="0" smtClean="0"/>
              <a:t>    --- </a:t>
            </a:r>
            <a:r>
              <a:rPr lang="ja-JP" altLang="en-US" sz="2400" dirty="0" smtClean="0"/>
              <a:t>木表現</a:t>
            </a:r>
            <a:endParaRPr lang="en-US" altLang="ja-JP" sz="2400" dirty="0" smtClean="0"/>
          </a:p>
          <a:p>
            <a:endParaRPr lang="en-US" altLang="ja-JP" sz="2400" dirty="0" smtClean="0"/>
          </a:p>
          <a:p>
            <a:r>
              <a:rPr lang="ja-JP" altLang="en-US" sz="2400" dirty="0" smtClean="0"/>
              <a:t>式の評価</a:t>
            </a:r>
            <a:endParaRPr lang="en-US" altLang="ja-JP" sz="2400" dirty="0" smtClean="0"/>
          </a:p>
          <a:p>
            <a:r>
              <a:rPr lang="en-US" altLang="ja-JP" sz="2400" dirty="0" smtClean="0"/>
              <a:t>    --- </a:t>
            </a:r>
            <a:r>
              <a:rPr lang="ja-JP" altLang="en-US" sz="2400" dirty="0" smtClean="0"/>
              <a:t>スタックによる実現</a:t>
            </a:r>
            <a:endParaRPr lang="en-US" altLang="ja-JP" sz="24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式の記法</a:t>
            </a:r>
            <a:endParaRPr kumimoji="1" lang="ja-JP" altLang="en-US" dirty="0"/>
          </a:p>
        </p:txBody>
      </p:sp>
      <p:sp>
        <p:nvSpPr>
          <p:cNvPr id="4" name="テキスト ボックス 3"/>
          <p:cNvSpPr txBox="1"/>
          <p:nvPr/>
        </p:nvSpPr>
        <p:spPr>
          <a:xfrm>
            <a:off x="571472" y="1500174"/>
            <a:ext cx="8395247" cy="4832092"/>
          </a:xfrm>
          <a:prstGeom prst="rect">
            <a:avLst/>
          </a:prstGeom>
          <a:noFill/>
        </p:spPr>
        <p:txBody>
          <a:bodyPr wrap="none" rtlCol="0">
            <a:spAutoFit/>
          </a:bodyPr>
          <a:lstStyle/>
          <a:p>
            <a:r>
              <a:rPr lang="ja-JP" altLang="en-US" sz="2800" dirty="0" smtClean="0"/>
              <a:t>二項演算子： </a:t>
            </a:r>
            <a:r>
              <a:rPr lang="en-US" altLang="ja-JP" sz="2800" dirty="0" smtClean="0"/>
              <a:t>+ </a:t>
            </a:r>
            <a:r>
              <a:rPr lang="ja-JP" altLang="en-US" sz="2800" dirty="0" smtClean="0"/>
              <a:t>の場合</a:t>
            </a:r>
            <a:endParaRPr lang="en-US" altLang="ja-JP" sz="2800" dirty="0" smtClean="0"/>
          </a:p>
          <a:p>
            <a:r>
              <a:rPr lang="ja-JP" altLang="en-US" sz="2800" dirty="0" smtClean="0"/>
              <a:t>    中置記法 </a:t>
            </a:r>
            <a:r>
              <a:rPr lang="en-US" altLang="ja-JP" sz="2800" dirty="0" smtClean="0"/>
              <a:t>a + b</a:t>
            </a:r>
          </a:p>
          <a:p>
            <a:r>
              <a:rPr lang="en-US" altLang="ja-JP" sz="2800" dirty="0" smtClean="0"/>
              <a:t>    </a:t>
            </a:r>
            <a:r>
              <a:rPr lang="ja-JP" altLang="en-US" sz="2800" dirty="0" smtClean="0"/>
              <a:t>前置記法 </a:t>
            </a:r>
            <a:r>
              <a:rPr lang="en-US" altLang="ja-JP" sz="2800" dirty="0" smtClean="0"/>
              <a:t>+ a b </a:t>
            </a:r>
          </a:p>
          <a:p>
            <a:r>
              <a:rPr lang="en-US" altLang="ja-JP" sz="2800" dirty="0" smtClean="0"/>
              <a:t>    </a:t>
            </a:r>
            <a:r>
              <a:rPr lang="ja-JP" altLang="en-US" sz="2800" dirty="0" smtClean="0"/>
              <a:t>後置記法 </a:t>
            </a:r>
            <a:r>
              <a:rPr lang="en-US" altLang="ja-JP" sz="2800" dirty="0" smtClean="0"/>
              <a:t>a b +</a:t>
            </a:r>
            <a:r>
              <a:rPr lang="ja-JP" altLang="en-US" sz="2800" dirty="0" smtClean="0"/>
              <a:t> </a:t>
            </a:r>
            <a:endParaRPr lang="en-US" altLang="ja-JP" sz="2800" dirty="0" smtClean="0"/>
          </a:p>
          <a:p>
            <a:endParaRPr lang="en-US" altLang="ja-JP" sz="2800" dirty="0" smtClean="0"/>
          </a:p>
          <a:p>
            <a:r>
              <a:rPr lang="ja-JP" altLang="en-US" sz="2800" dirty="0" smtClean="0"/>
              <a:t>前置記法の例１</a:t>
            </a:r>
            <a:r>
              <a:rPr lang="en-US" altLang="ja-JP" sz="2800" dirty="0" smtClean="0"/>
              <a:t>:   * + 20 30 60 = * 50 60 = 3000</a:t>
            </a:r>
          </a:p>
          <a:p>
            <a:r>
              <a:rPr lang="ja-JP" altLang="en-US" sz="2800" dirty="0" smtClean="0"/>
              <a:t>前置記法の例２</a:t>
            </a:r>
            <a:r>
              <a:rPr lang="en-US" altLang="ja-JP" sz="2800" dirty="0" smtClean="0"/>
              <a:t>:   * 20 + 30 60 = * 20 90 = 1800</a:t>
            </a:r>
          </a:p>
          <a:p>
            <a:r>
              <a:rPr lang="ja-JP" altLang="en-US" sz="2800" dirty="0" smtClean="0"/>
              <a:t>（前置記法、後置記法で書かれた式にはあいまいさが</a:t>
            </a:r>
            <a:endParaRPr lang="en-US" altLang="ja-JP" sz="2800" dirty="0" smtClean="0"/>
          </a:p>
          <a:p>
            <a:r>
              <a:rPr lang="ja-JP" altLang="en-US" sz="2800" dirty="0" smtClean="0"/>
              <a:t>なく、括弧が不要。もちろん括弧をつけても良いが。）</a:t>
            </a:r>
            <a:endParaRPr lang="en-US" altLang="ja-JP" sz="2800" dirty="0" smtClean="0"/>
          </a:p>
          <a:p>
            <a:endParaRPr lang="en-US" altLang="ja-JP" sz="2800" dirty="0" smtClean="0"/>
          </a:p>
          <a:p>
            <a:endParaRPr kumimoji="1" lang="ja-JP" alt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前置記法</a:t>
            </a:r>
            <a:r>
              <a:rPr kumimoji="1" lang="en-US" altLang="ja-JP" dirty="0" smtClean="0"/>
              <a:t>(prefix notation)</a:t>
            </a:r>
            <a:endParaRPr kumimoji="1" lang="ja-JP" altLang="en-US" dirty="0"/>
          </a:p>
        </p:txBody>
      </p:sp>
      <p:sp>
        <p:nvSpPr>
          <p:cNvPr id="4" name="テキスト ボックス 3"/>
          <p:cNvSpPr txBox="1"/>
          <p:nvPr/>
        </p:nvSpPr>
        <p:spPr>
          <a:xfrm>
            <a:off x="428596" y="1428736"/>
            <a:ext cx="8572560" cy="1569660"/>
          </a:xfrm>
          <a:prstGeom prst="rect">
            <a:avLst/>
          </a:prstGeom>
          <a:noFill/>
        </p:spPr>
        <p:txBody>
          <a:bodyPr wrap="square" rtlCol="0">
            <a:spAutoFit/>
          </a:bodyPr>
          <a:lstStyle/>
          <a:p>
            <a:pPr>
              <a:buFont typeface="Arial" pitchFamily="34" charset="0"/>
              <a:buChar char="•"/>
            </a:pPr>
            <a:r>
              <a:rPr lang="ja-JP" altLang="en-US" sz="2400" dirty="0" smtClean="0"/>
              <a:t> </a:t>
            </a:r>
            <a:r>
              <a:rPr kumimoji="1" lang="ja-JP" altLang="en-US" sz="2400" dirty="0" smtClean="0"/>
              <a:t>定数、変数の前置記法は、それ自身である。</a:t>
            </a:r>
            <a:endParaRPr kumimoji="1" lang="en-US" altLang="ja-JP" sz="2400" dirty="0" smtClean="0"/>
          </a:p>
          <a:p>
            <a:pPr>
              <a:buFont typeface="Arial" pitchFamily="34" charset="0"/>
              <a:buChar char="•"/>
            </a:pPr>
            <a:r>
              <a:rPr lang="ja-JP" altLang="en-US" sz="2400" dirty="0" smtClean="0"/>
              <a:t> 式</a:t>
            </a:r>
            <a:r>
              <a:rPr lang="en-US" altLang="ja-JP" sz="2400" dirty="0" smtClean="0"/>
              <a:t>E</a:t>
            </a:r>
            <a:r>
              <a:rPr lang="en-US" altLang="ja-JP" sz="2400" baseline="-25000" dirty="0" smtClean="0"/>
              <a:t>1</a:t>
            </a:r>
            <a:r>
              <a:rPr lang="en-US" altLang="ja-JP" sz="2400" dirty="0" smtClean="0"/>
              <a:t>, E</a:t>
            </a:r>
            <a:r>
              <a:rPr lang="en-US" altLang="ja-JP" sz="2400" baseline="-25000" dirty="0" smtClean="0"/>
              <a:t>2</a:t>
            </a:r>
            <a:r>
              <a:rPr lang="ja-JP" altLang="en-US" sz="2400" dirty="0" smtClean="0"/>
              <a:t>が前置記法で書かれていたとする。このとき、演算子</a:t>
            </a:r>
            <a:r>
              <a:rPr lang="en-US" altLang="ja-JP" sz="2400" dirty="0" smtClean="0"/>
              <a:t>op</a:t>
            </a:r>
            <a:r>
              <a:rPr lang="ja-JP" altLang="en-US" sz="2400" dirty="0" smtClean="0"/>
              <a:t>の式</a:t>
            </a:r>
            <a:r>
              <a:rPr lang="en-US" altLang="ja-JP" sz="2400" dirty="0" smtClean="0"/>
              <a:t>E</a:t>
            </a:r>
            <a:r>
              <a:rPr lang="en-US" altLang="ja-JP" sz="2400" baseline="-25000" dirty="0" smtClean="0"/>
              <a:t>1</a:t>
            </a:r>
            <a:r>
              <a:rPr lang="en-US" altLang="ja-JP" sz="2400" dirty="0" smtClean="0"/>
              <a:t>, E</a:t>
            </a:r>
            <a:r>
              <a:rPr lang="en-US" altLang="ja-JP" sz="2400" baseline="-25000" dirty="0" smtClean="0"/>
              <a:t>2</a:t>
            </a:r>
            <a:r>
              <a:rPr lang="ja-JP" altLang="en-US" sz="2400" dirty="0" err="1" smtClean="0"/>
              <a:t>への</a:t>
            </a:r>
            <a:r>
              <a:rPr lang="ja-JP" altLang="en-US" sz="2400" dirty="0" smtClean="0"/>
              <a:t>適用は、前置記法で</a:t>
            </a:r>
            <a:r>
              <a:rPr lang="en-US" altLang="ja-JP" sz="2400" dirty="0" smtClean="0"/>
              <a:t>op E</a:t>
            </a:r>
            <a:r>
              <a:rPr lang="en-US" altLang="ja-JP" sz="2400" baseline="-25000" dirty="0" smtClean="0"/>
              <a:t>1</a:t>
            </a:r>
            <a:r>
              <a:rPr lang="en-US" altLang="ja-JP" sz="2400" dirty="0" smtClean="0"/>
              <a:t> E</a:t>
            </a:r>
            <a:r>
              <a:rPr lang="en-US" altLang="ja-JP" sz="2400" baseline="-25000" dirty="0" smtClean="0"/>
              <a:t>2</a:t>
            </a:r>
            <a:r>
              <a:rPr lang="ja-JP" altLang="en-US" sz="2400" dirty="0" smtClean="0"/>
              <a:t>である。</a:t>
            </a:r>
            <a:endParaRPr lang="en-US" altLang="ja-JP" sz="2400" dirty="0" smtClean="0"/>
          </a:p>
          <a:p>
            <a:endParaRPr lang="en-US" altLang="ja-JP" sz="2400" dirty="0" smtClean="0"/>
          </a:p>
        </p:txBody>
      </p:sp>
      <p:sp>
        <p:nvSpPr>
          <p:cNvPr id="5" name="正方形/長方形 4"/>
          <p:cNvSpPr/>
          <p:nvPr/>
        </p:nvSpPr>
        <p:spPr>
          <a:xfrm>
            <a:off x="714348" y="5145488"/>
            <a:ext cx="7715304" cy="1569660"/>
          </a:xfrm>
          <a:prstGeom prst="rect">
            <a:avLst/>
          </a:prstGeom>
        </p:spPr>
        <p:txBody>
          <a:bodyPr wrap="square">
            <a:spAutoFit/>
          </a:bodyPr>
          <a:lstStyle/>
          <a:p>
            <a:r>
              <a:rPr lang="ja-JP" altLang="en-US" sz="2400" dirty="0" smtClean="0"/>
              <a:t>演算子</a:t>
            </a:r>
            <a:r>
              <a:rPr lang="en-US" altLang="ja-JP" sz="2400" dirty="0" smtClean="0"/>
              <a:t>op</a:t>
            </a:r>
            <a:r>
              <a:rPr lang="ja-JP" altLang="en-US" sz="2400" dirty="0" smtClean="0"/>
              <a:t>の引数が</a:t>
            </a:r>
            <a:r>
              <a:rPr lang="en-US" altLang="ja-JP" sz="2400" dirty="0" smtClean="0"/>
              <a:t>3</a:t>
            </a:r>
            <a:r>
              <a:rPr lang="ja-JP" altLang="en-US" sz="2400" dirty="0" smtClean="0"/>
              <a:t>以上の場合も同様である。 </a:t>
            </a:r>
            <a:endParaRPr lang="en-US" altLang="ja-JP" sz="2400" dirty="0" smtClean="0"/>
          </a:p>
          <a:p>
            <a:pPr>
              <a:buFont typeface="Arial" pitchFamily="34" charset="0"/>
              <a:buChar char="•"/>
            </a:pPr>
            <a:r>
              <a:rPr lang="ja-JP" altLang="en-US" sz="2400" dirty="0" smtClean="0"/>
              <a:t> 定数、変数の前置記法は、それ自身である。</a:t>
            </a:r>
            <a:endParaRPr lang="en-US" altLang="ja-JP" sz="2400" dirty="0" smtClean="0"/>
          </a:p>
          <a:p>
            <a:pPr>
              <a:buFont typeface="Arial" pitchFamily="34" charset="0"/>
              <a:buChar char="•"/>
            </a:pPr>
            <a:r>
              <a:rPr lang="ja-JP" altLang="en-US" sz="2400" dirty="0" smtClean="0"/>
              <a:t>式</a:t>
            </a:r>
            <a:r>
              <a:rPr lang="en-US" altLang="ja-JP" sz="2400" dirty="0" smtClean="0"/>
              <a:t>E</a:t>
            </a:r>
            <a:r>
              <a:rPr lang="en-US" altLang="ja-JP" sz="2400" baseline="-25000" dirty="0" smtClean="0"/>
              <a:t>1</a:t>
            </a:r>
            <a:r>
              <a:rPr lang="en-US" altLang="ja-JP" sz="2400" dirty="0" smtClean="0"/>
              <a:t>, E</a:t>
            </a:r>
            <a:r>
              <a:rPr lang="en-US" altLang="ja-JP" sz="2400" baseline="-25000" dirty="0" smtClean="0"/>
              <a:t>2</a:t>
            </a:r>
            <a:r>
              <a:rPr lang="en-US" altLang="ja-JP" sz="2400" dirty="0" smtClean="0"/>
              <a:t>, … </a:t>
            </a:r>
            <a:r>
              <a:rPr lang="en-US" altLang="ja-JP" sz="2400" dirty="0" err="1" smtClean="0"/>
              <a:t>E</a:t>
            </a:r>
            <a:r>
              <a:rPr lang="en-US" altLang="ja-JP" sz="2400" baseline="-25000" dirty="0" err="1" smtClean="0"/>
              <a:t>k</a:t>
            </a:r>
            <a:r>
              <a:rPr lang="ja-JP" altLang="en-US" sz="2400" dirty="0" smtClean="0"/>
              <a:t>が前置記法で書かれていたとする。演算子</a:t>
            </a:r>
            <a:r>
              <a:rPr lang="en-US" altLang="ja-JP" sz="2400" dirty="0" smtClean="0"/>
              <a:t>op</a:t>
            </a:r>
            <a:r>
              <a:rPr lang="ja-JP" altLang="en-US" sz="2400" dirty="0" smtClean="0"/>
              <a:t>の式</a:t>
            </a:r>
            <a:r>
              <a:rPr lang="en-US" altLang="ja-JP" sz="2400" dirty="0" smtClean="0"/>
              <a:t>E</a:t>
            </a:r>
            <a:r>
              <a:rPr lang="en-US" altLang="ja-JP" sz="2400" baseline="-25000" dirty="0" smtClean="0"/>
              <a:t>1</a:t>
            </a:r>
            <a:r>
              <a:rPr lang="en-US" altLang="ja-JP" sz="2400" dirty="0" smtClean="0"/>
              <a:t>, E</a:t>
            </a:r>
            <a:r>
              <a:rPr lang="en-US" altLang="ja-JP" sz="2400" baseline="-25000" dirty="0" smtClean="0"/>
              <a:t>2</a:t>
            </a:r>
            <a:r>
              <a:rPr lang="en-US" altLang="ja-JP" sz="2400" dirty="0" smtClean="0"/>
              <a:t>, … </a:t>
            </a:r>
            <a:r>
              <a:rPr lang="en-US" altLang="ja-JP" sz="2400" dirty="0" err="1" smtClean="0"/>
              <a:t>E</a:t>
            </a:r>
            <a:r>
              <a:rPr lang="en-US" altLang="ja-JP" sz="2400" baseline="-25000" dirty="0" err="1" smtClean="0"/>
              <a:t>k</a:t>
            </a:r>
            <a:r>
              <a:rPr lang="ja-JP" altLang="en-US" sz="2400" dirty="0" err="1" smtClean="0"/>
              <a:t>への</a:t>
            </a:r>
            <a:r>
              <a:rPr lang="ja-JP" altLang="en-US" sz="2400" dirty="0" smtClean="0"/>
              <a:t>適用は、前置記法で</a:t>
            </a:r>
            <a:r>
              <a:rPr lang="en-US" altLang="ja-JP" sz="2400" dirty="0" smtClean="0"/>
              <a:t>op E</a:t>
            </a:r>
            <a:r>
              <a:rPr lang="en-US" altLang="ja-JP" sz="2400" baseline="-25000" dirty="0" smtClean="0"/>
              <a:t>1</a:t>
            </a:r>
            <a:r>
              <a:rPr lang="en-US" altLang="ja-JP" sz="2400" dirty="0" smtClean="0"/>
              <a:t> E</a:t>
            </a:r>
            <a:r>
              <a:rPr lang="en-US" altLang="ja-JP" sz="2400" baseline="-25000" dirty="0" smtClean="0"/>
              <a:t>2</a:t>
            </a:r>
            <a:r>
              <a:rPr lang="en-US" altLang="ja-JP" sz="2400" dirty="0" smtClean="0"/>
              <a:t> … </a:t>
            </a:r>
            <a:r>
              <a:rPr lang="en-US" altLang="ja-JP" sz="2400" dirty="0" err="1" smtClean="0"/>
              <a:t>E</a:t>
            </a:r>
            <a:r>
              <a:rPr lang="en-US" altLang="ja-JP" sz="2400" baseline="-25000" dirty="0" err="1" smtClean="0"/>
              <a:t>k</a:t>
            </a:r>
            <a:r>
              <a:rPr lang="ja-JP" altLang="en-US" sz="2400" dirty="0" smtClean="0"/>
              <a:t>である。</a:t>
            </a:r>
            <a:endParaRPr lang="en-US" altLang="ja-JP" sz="2400" dirty="0" smtClean="0"/>
          </a:p>
        </p:txBody>
      </p:sp>
      <p:sp>
        <p:nvSpPr>
          <p:cNvPr id="6" name="正方形/長方形 5"/>
          <p:cNvSpPr/>
          <p:nvPr/>
        </p:nvSpPr>
        <p:spPr>
          <a:xfrm>
            <a:off x="928662" y="3857628"/>
            <a:ext cx="4990469" cy="461665"/>
          </a:xfrm>
          <a:prstGeom prst="rect">
            <a:avLst/>
          </a:prstGeom>
        </p:spPr>
        <p:txBody>
          <a:bodyPr wrap="none">
            <a:spAutoFit/>
          </a:bodyPr>
          <a:lstStyle/>
          <a:p>
            <a:r>
              <a:rPr lang="en-US" altLang="ja-JP" sz="2400" dirty="0" smtClean="0"/>
              <a:t> </a:t>
            </a:r>
            <a:r>
              <a:rPr lang="ja-JP" altLang="en-US" sz="2400" dirty="0" smtClean="0"/>
              <a:t>（例２）  </a:t>
            </a:r>
            <a:r>
              <a:rPr lang="en-US" altLang="ja-JP" sz="2400" dirty="0" smtClean="0"/>
              <a:t> * 20 </a:t>
            </a:r>
            <a:r>
              <a:rPr lang="en-US" altLang="ja-JP" sz="2400" dirty="0" smtClean="0">
                <a:solidFill>
                  <a:srgbClr val="FF0000"/>
                </a:solidFill>
              </a:rPr>
              <a:t>+ 30 60 </a:t>
            </a:r>
            <a:r>
              <a:rPr lang="en-US" altLang="ja-JP" sz="2400" dirty="0" smtClean="0"/>
              <a:t>=  * 20 90 = 1800</a:t>
            </a:r>
            <a:endParaRPr lang="ja-JP" altLang="en-US" sz="2400" dirty="0"/>
          </a:p>
        </p:txBody>
      </p:sp>
      <p:sp>
        <p:nvSpPr>
          <p:cNvPr id="7" name="正方形/長方形 6"/>
          <p:cNvSpPr/>
          <p:nvPr/>
        </p:nvSpPr>
        <p:spPr>
          <a:xfrm>
            <a:off x="928662" y="2714620"/>
            <a:ext cx="4990469" cy="461665"/>
          </a:xfrm>
          <a:prstGeom prst="rect">
            <a:avLst/>
          </a:prstGeom>
        </p:spPr>
        <p:txBody>
          <a:bodyPr wrap="none">
            <a:spAutoFit/>
          </a:bodyPr>
          <a:lstStyle/>
          <a:p>
            <a:r>
              <a:rPr lang="en-US" altLang="ja-JP" sz="2400" dirty="0" smtClean="0"/>
              <a:t> </a:t>
            </a:r>
            <a:r>
              <a:rPr lang="ja-JP" altLang="en-US" sz="2400" dirty="0" smtClean="0"/>
              <a:t>（例１）</a:t>
            </a:r>
            <a:r>
              <a:rPr lang="en-US" altLang="ja-JP" sz="2400" dirty="0" smtClean="0"/>
              <a:t>   * </a:t>
            </a:r>
            <a:r>
              <a:rPr lang="en-US" altLang="ja-JP" sz="2400" dirty="0" smtClean="0">
                <a:solidFill>
                  <a:srgbClr val="FF0000"/>
                </a:solidFill>
              </a:rPr>
              <a:t>+ 20 30</a:t>
            </a:r>
            <a:r>
              <a:rPr lang="en-US" altLang="ja-JP" sz="2400" dirty="0" smtClean="0"/>
              <a:t> 60 =  * 50 60 = 3000</a:t>
            </a:r>
            <a:endParaRPr lang="ja-JP" altLang="en-US" sz="2400" dirty="0"/>
          </a:p>
        </p:txBody>
      </p:sp>
      <p:sp>
        <p:nvSpPr>
          <p:cNvPr id="8" name="テキスト ボックス 7"/>
          <p:cNvSpPr txBox="1"/>
          <p:nvPr/>
        </p:nvSpPr>
        <p:spPr>
          <a:xfrm>
            <a:off x="2428860" y="3071810"/>
            <a:ext cx="5929354" cy="830997"/>
          </a:xfrm>
          <a:prstGeom prst="rect">
            <a:avLst/>
          </a:prstGeom>
          <a:noFill/>
        </p:spPr>
        <p:txBody>
          <a:bodyPr wrap="square" rtlCol="0">
            <a:spAutoFit/>
          </a:bodyPr>
          <a:lstStyle/>
          <a:p>
            <a:r>
              <a:rPr kumimoji="1" lang="ja-JP" altLang="en-US" sz="2400" dirty="0" smtClean="0"/>
              <a:t>赤字の部分は</a:t>
            </a:r>
            <a:r>
              <a:rPr kumimoji="1" lang="en-US" altLang="ja-JP" sz="2400" dirty="0" smtClean="0"/>
              <a:t>20+30</a:t>
            </a:r>
            <a:r>
              <a:rPr kumimoji="1" lang="ja-JP" altLang="en-US" sz="2400" dirty="0" smtClean="0"/>
              <a:t>の前置記法による表現であり、</a:t>
            </a:r>
            <a:r>
              <a:rPr kumimoji="1" lang="en-US" altLang="ja-JP" sz="2400" dirty="0" smtClean="0"/>
              <a:t>*</a:t>
            </a:r>
            <a:r>
              <a:rPr kumimoji="1" lang="ja-JP" altLang="en-US" sz="2400" dirty="0" smtClean="0"/>
              <a:t>の１つ目の引数である。</a:t>
            </a:r>
            <a:endParaRPr kumimoji="1" lang="ja-JP" altLang="en-US" sz="2400" dirty="0"/>
          </a:p>
        </p:txBody>
      </p:sp>
      <p:sp>
        <p:nvSpPr>
          <p:cNvPr id="9" name="テキスト ボックス 8"/>
          <p:cNvSpPr txBox="1"/>
          <p:nvPr/>
        </p:nvSpPr>
        <p:spPr>
          <a:xfrm>
            <a:off x="2428860" y="4286256"/>
            <a:ext cx="5857916" cy="830997"/>
          </a:xfrm>
          <a:prstGeom prst="rect">
            <a:avLst/>
          </a:prstGeom>
          <a:noFill/>
        </p:spPr>
        <p:txBody>
          <a:bodyPr wrap="square" rtlCol="0">
            <a:spAutoFit/>
          </a:bodyPr>
          <a:lstStyle/>
          <a:p>
            <a:r>
              <a:rPr kumimoji="1" lang="ja-JP" altLang="en-US" sz="2400" dirty="0" smtClean="0"/>
              <a:t>赤字の部分は</a:t>
            </a:r>
            <a:r>
              <a:rPr kumimoji="1" lang="en-US" altLang="ja-JP" sz="2400" dirty="0" smtClean="0"/>
              <a:t>30+60</a:t>
            </a:r>
            <a:r>
              <a:rPr kumimoji="1" lang="ja-JP" altLang="en-US" sz="2400" dirty="0" smtClean="0"/>
              <a:t>の前置記法による表現であり、</a:t>
            </a:r>
            <a:r>
              <a:rPr kumimoji="1" lang="en-US" altLang="ja-JP" sz="2400" dirty="0" smtClean="0"/>
              <a:t>*</a:t>
            </a:r>
            <a:r>
              <a:rPr kumimoji="1" lang="ja-JP" altLang="en-US" sz="2400" dirty="0" smtClean="0"/>
              <a:t>の</a:t>
            </a:r>
            <a:r>
              <a:rPr lang="ja-JP" altLang="en-US" sz="2400" dirty="0" smtClean="0"/>
              <a:t>２</a:t>
            </a:r>
            <a:r>
              <a:rPr kumimoji="1" lang="ja-JP" altLang="en-US" sz="2400" dirty="0" smtClean="0"/>
              <a:t>つ目の引数である。</a:t>
            </a:r>
            <a:endParaRPr kumimoji="1" lang="ja-JP" alt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前置記法の補足</a:t>
            </a:r>
            <a:endParaRPr kumimoji="1" lang="ja-JP" altLang="en-US" dirty="0"/>
          </a:p>
        </p:txBody>
      </p:sp>
      <p:sp>
        <p:nvSpPr>
          <p:cNvPr id="4" name="正方形/長方形 3"/>
          <p:cNvSpPr/>
          <p:nvPr/>
        </p:nvSpPr>
        <p:spPr>
          <a:xfrm>
            <a:off x="928662" y="1928802"/>
            <a:ext cx="7429552" cy="3108543"/>
          </a:xfrm>
          <a:prstGeom prst="rect">
            <a:avLst/>
          </a:prstGeom>
        </p:spPr>
        <p:txBody>
          <a:bodyPr wrap="square">
            <a:spAutoFit/>
          </a:bodyPr>
          <a:lstStyle/>
          <a:p>
            <a:r>
              <a:rPr lang="ja-JP" altLang="en-US" sz="2800" dirty="0" smtClean="0"/>
              <a:t>演算子の引数を括弧で囲んでコンマで区切ることにすると、演算子の引数の個数を可変にすることが可能。</a:t>
            </a:r>
            <a:endParaRPr lang="en-US" altLang="ja-JP" sz="2800" dirty="0" smtClean="0"/>
          </a:p>
          <a:p>
            <a:r>
              <a:rPr lang="ja-JP" altLang="en-US" sz="2800" dirty="0" smtClean="0"/>
              <a:t>（例） </a:t>
            </a:r>
            <a:r>
              <a:rPr lang="en-US" altLang="ja-JP" sz="2800" dirty="0" err="1" smtClean="0"/>
              <a:t>printf</a:t>
            </a:r>
            <a:r>
              <a:rPr lang="en-US" altLang="ja-JP" sz="2800" dirty="0" smtClean="0"/>
              <a:t> (“hello”)  </a:t>
            </a:r>
            <a:r>
              <a:rPr lang="ja-JP" altLang="en-US" sz="2800" dirty="0" smtClean="0"/>
              <a:t>や </a:t>
            </a:r>
            <a:r>
              <a:rPr lang="en-US" altLang="ja-JP" sz="2800" dirty="0" err="1" smtClean="0"/>
              <a:t>printf</a:t>
            </a:r>
            <a:r>
              <a:rPr lang="en-US" altLang="ja-JP" sz="2800" dirty="0" smtClean="0"/>
              <a:t> (“%</a:t>
            </a:r>
            <a:r>
              <a:rPr lang="en-US" altLang="ja-JP" sz="2800" dirty="0" err="1" smtClean="0"/>
              <a:t>d%d</a:t>
            </a:r>
            <a:r>
              <a:rPr lang="en-US" altLang="ja-JP" sz="2800" dirty="0" smtClean="0"/>
              <a:t>”, x, y)</a:t>
            </a:r>
            <a:r>
              <a:rPr lang="ja-JP" altLang="en-US" sz="2800" dirty="0" smtClean="0"/>
              <a:t>など。</a:t>
            </a:r>
            <a:endParaRPr lang="en-US" altLang="ja-JP" sz="2800" dirty="0" smtClean="0"/>
          </a:p>
          <a:p>
            <a:endParaRPr lang="en-US" altLang="ja-JP" sz="2800" dirty="0" smtClean="0"/>
          </a:p>
          <a:p>
            <a:r>
              <a:rPr lang="ja-JP" altLang="en-US" sz="2800" dirty="0" smtClean="0"/>
              <a:t>演算子も含めて括弧で囲むやり方もある。</a:t>
            </a:r>
            <a:endParaRPr lang="en-US" altLang="ja-JP" sz="2800" dirty="0" smtClean="0"/>
          </a:p>
          <a:p>
            <a:r>
              <a:rPr lang="ja-JP" altLang="en-US" sz="2800" dirty="0" smtClean="0"/>
              <a:t>（例） </a:t>
            </a:r>
            <a:r>
              <a:rPr lang="en-US" altLang="ja-JP" sz="2800" dirty="0" smtClean="0"/>
              <a:t>(+ 1 2)  </a:t>
            </a:r>
            <a:r>
              <a:rPr lang="ja-JP" altLang="en-US" sz="2800" dirty="0" smtClean="0"/>
              <a:t>や</a:t>
            </a:r>
            <a:r>
              <a:rPr lang="en-US" altLang="ja-JP" sz="2800" dirty="0" smtClean="0"/>
              <a:t> (+ 2 3 4) </a:t>
            </a:r>
            <a:r>
              <a:rPr lang="ja-JP" altLang="en-US" sz="2800" dirty="0" smtClean="0"/>
              <a:t>など。</a:t>
            </a:r>
            <a:r>
              <a:rPr lang="en-US" altLang="ja-JP" sz="2800" dirty="0" smtClean="0"/>
              <a:t>(Lisp, Scheme)</a:t>
            </a:r>
            <a:endParaRPr lang="ja-JP" alt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後置記法</a:t>
            </a:r>
            <a:r>
              <a:rPr kumimoji="1" lang="en-US" altLang="ja-JP" dirty="0" smtClean="0"/>
              <a:t>(postfix notation)</a:t>
            </a:r>
            <a:endParaRPr kumimoji="1" lang="ja-JP" altLang="en-US" dirty="0"/>
          </a:p>
        </p:txBody>
      </p:sp>
      <p:sp>
        <p:nvSpPr>
          <p:cNvPr id="4" name="テキスト ボックス 3"/>
          <p:cNvSpPr txBox="1"/>
          <p:nvPr/>
        </p:nvSpPr>
        <p:spPr>
          <a:xfrm>
            <a:off x="428596" y="1500174"/>
            <a:ext cx="8286776" cy="1200329"/>
          </a:xfrm>
          <a:prstGeom prst="rect">
            <a:avLst/>
          </a:prstGeom>
          <a:noFill/>
        </p:spPr>
        <p:txBody>
          <a:bodyPr wrap="square" rtlCol="0">
            <a:spAutoFit/>
          </a:bodyPr>
          <a:lstStyle/>
          <a:p>
            <a:pPr>
              <a:buFont typeface="Arial" pitchFamily="34" charset="0"/>
              <a:buChar char="•"/>
            </a:pPr>
            <a:r>
              <a:rPr lang="ja-JP" altLang="en-US" sz="2400" dirty="0" smtClean="0"/>
              <a:t> </a:t>
            </a:r>
            <a:r>
              <a:rPr kumimoji="1" lang="ja-JP" altLang="en-US" sz="2400" dirty="0" smtClean="0"/>
              <a:t>定数、変数の後置記法は、それ自身である。</a:t>
            </a:r>
            <a:endParaRPr kumimoji="1" lang="en-US" altLang="ja-JP" sz="2400" dirty="0" smtClean="0"/>
          </a:p>
          <a:p>
            <a:pPr>
              <a:buFont typeface="Arial" pitchFamily="34" charset="0"/>
              <a:buChar char="•"/>
            </a:pPr>
            <a:r>
              <a:rPr lang="ja-JP" altLang="en-US" sz="2400" dirty="0" smtClean="0"/>
              <a:t>式</a:t>
            </a:r>
            <a:r>
              <a:rPr lang="en-US" altLang="ja-JP" sz="2400" dirty="0" smtClean="0"/>
              <a:t>E</a:t>
            </a:r>
            <a:r>
              <a:rPr lang="en-US" altLang="ja-JP" sz="2400" baseline="-25000" dirty="0" smtClean="0"/>
              <a:t>1</a:t>
            </a:r>
            <a:r>
              <a:rPr lang="en-US" altLang="ja-JP" sz="2400" dirty="0" smtClean="0"/>
              <a:t>, E</a:t>
            </a:r>
            <a:r>
              <a:rPr lang="en-US" altLang="ja-JP" sz="2400" baseline="-25000" dirty="0" smtClean="0"/>
              <a:t>2</a:t>
            </a:r>
            <a:r>
              <a:rPr lang="ja-JP" altLang="en-US" sz="2400" dirty="0" smtClean="0"/>
              <a:t>が後置記法で書かれていたとする。演算子</a:t>
            </a:r>
            <a:r>
              <a:rPr lang="en-US" altLang="ja-JP" sz="2400" dirty="0" smtClean="0"/>
              <a:t>op</a:t>
            </a:r>
            <a:r>
              <a:rPr lang="ja-JP" altLang="en-US" sz="2400" dirty="0" smtClean="0"/>
              <a:t>の式</a:t>
            </a:r>
            <a:r>
              <a:rPr lang="en-US" altLang="ja-JP" sz="2400" dirty="0" smtClean="0"/>
              <a:t>E</a:t>
            </a:r>
            <a:r>
              <a:rPr lang="en-US" altLang="ja-JP" sz="2400" baseline="-25000" dirty="0" smtClean="0"/>
              <a:t>1</a:t>
            </a:r>
            <a:r>
              <a:rPr lang="en-US" altLang="ja-JP" sz="2400" dirty="0" smtClean="0"/>
              <a:t>, E</a:t>
            </a:r>
            <a:r>
              <a:rPr lang="en-US" altLang="ja-JP" sz="2400" baseline="-25000" dirty="0" smtClean="0"/>
              <a:t>2</a:t>
            </a:r>
            <a:r>
              <a:rPr lang="ja-JP" altLang="en-US" sz="2400" dirty="0" err="1" smtClean="0"/>
              <a:t>への</a:t>
            </a:r>
            <a:r>
              <a:rPr lang="ja-JP" altLang="en-US" sz="2400" dirty="0" smtClean="0"/>
              <a:t>適用は、後置記法で</a:t>
            </a:r>
            <a:r>
              <a:rPr lang="en-US" altLang="ja-JP" sz="2400" dirty="0" smtClean="0"/>
              <a:t>E</a:t>
            </a:r>
            <a:r>
              <a:rPr lang="en-US" altLang="ja-JP" sz="2400" baseline="-25000" dirty="0" smtClean="0"/>
              <a:t>1</a:t>
            </a:r>
            <a:r>
              <a:rPr lang="en-US" altLang="ja-JP" sz="2400" dirty="0" smtClean="0"/>
              <a:t> E</a:t>
            </a:r>
            <a:r>
              <a:rPr lang="en-US" altLang="ja-JP" sz="2400" baseline="-25000" dirty="0" smtClean="0"/>
              <a:t>2</a:t>
            </a:r>
            <a:r>
              <a:rPr lang="ja-JP" altLang="en-US" sz="2400" baseline="-25000" dirty="0" smtClean="0"/>
              <a:t> </a:t>
            </a:r>
            <a:r>
              <a:rPr lang="en-US" altLang="ja-JP" sz="2400" baseline="-25000" dirty="0" smtClean="0"/>
              <a:t> </a:t>
            </a:r>
            <a:r>
              <a:rPr lang="en-US" altLang="ja-JP" sz="2400" dirty="0" smtClean="0"/>
              <a:t>op</a:t>
            </a:r>
            <a:r>
              <a:rPr lang="ja-JP" altLang="en-US" sz="2400" dirty="0" smtClean="0"/>
              <a:t>である。</a:t>
            </a:r>
            <a:r>
              <a:rPr lang="en-US" altLang="ja-JP" sz="2400" dirty="0" smtClean="0"/>
              <a:t>  </a:t>
            </a:r>
          </a:p>
        </p:txBody>
      </p:sp>
      <p:sp>
        <p:nvSpPr>
          <p:cNvPr id="5" name="正方形/長方形 4"/>
          <p:cNvSpPr/>
          <p:nvPr/>
        </p:nvSpPr>
        <p:spPr>
          <a:xfrm>
            <a:off x="857224" y="6000768"/>
            <a:ext cx="7286676" cy="461665"/>
          </a:xfrm>
          <a:prstGeom prst="rect">
            <a:avLst/>
          </a:prstGeom>
          <a:ln>
            <a:solidFill>
              <a:schemeClr val="tx1"/>
            </a:solidFill>
          </a:ln>
        </p:spPr>
        <p:txBody>
          <a:bodyPr wrap="square">
            <a:spAutoFit/>
          </a:bodyPr>
          <a:lstStyle/>
          <a:p>
            <a:r>
              <a:rPr lang="ja-JP" altLang="en-US" sz="2400" dirty="0" smtClean="0"/>
              <a:t>後置記法の場合、スタック構造を用いて直接評価できる。</a:t>
            </a:r>
            <a:endParaRPr lang="en-US" altLang="ja-JP" sz="2400" dirty="0" smtClean="0"/>
          </a:p>
        </p:txBody>
      </p:sp>
      <p:sp>
        <p:nvSpPr>
          <p:cNvPr id="6" name="正方形/長方形 5"/>
          <p:cNvSpPr/>
          <p:nvPr/>
        </p:nvSpPr>
        <p:spPr>
          <a:xfrm>
            <a:off x="1214414" y="3071810"/>
            <a:ext cx="4852610" cy="461665"/>
          </a:xfrm>
          <a:prstGeom prst="rect">
            <a:avLst/>
          </a:prstGeom>
        </p:spPr>
        <p:txBody>
          <a:bodyPr wrap="none">
            <a:spAutoFit/>
          </a:bodyPr>
          <a:lstStyle/>
          <a:p>
            <a:r>
              <a:rPr lang="ja-JP" altLang="en-US" sz="2400" dirty="0" smtClean="0"/>
              <a:t>（例１）</a:t>
            </a:r>
            <a:r>
              <a:rPr lang="en-US" altLang="ja-JP" sz="2400" dirty="0" smtClean="0"/>
              <a:t>   </a:t>
            </a:r>
            <a:r>
              <a:rPr lang="en-US" altLang="ja-JP" sz="2400" dirty="0" smtClean="0">
                <a:solidFill>
                  <a:srgbClr val="FF0000"/>
                </a:solidFill>
              </a:rPr>
              <a:t>20 30 + </a:t>
            </a:r>
            <a:r>
              <a:rPr lang="en-US" altLang="ja-JP" sz="2400" dirty="0" smtClean="0"/>
              <a:t>60 * = 50 60 * = 3000</a:t>
            </a:r>
            <a:endParaRPr lang="ja-JP" altLang="en-US" sz="2400" dirty="0"/>
          </a:p>
        </p:txBody>
      </p:sp>
      <p:sp>
        <p:nvSpPr>
          <p:cNvPr id="7" name="正方形/長方形 6"/>
          <p:cNvSpPr/>
          <p:nvPr/>
        </p:nvSpPr>
        <p:spPr>
          <a:xfrm>
            <a:off x="1214414" y="4429132"/>
            <a:ext cx="4852610" cy="461665"/>
          </a:xfrm>
          <a:prstGeom prst="rect">
            <a:avLst/>
          </a:prstGeom>
        </p:spPr>
        <p:txBody>
          <a:bodyPr wrap="none">
            <a:spAutoFit/>
          </a:bodyPr>
          <a:lstStyle/>
          <a:p>
            <a:r>
              <a:rPr lang="ja-JP" altLang="en-US" sz="2400" dirty="0" smtClean="0"/>
              <a:t>（例２）  </a:t>
            </a:r>
            <a:r>
              <a:rPr lang="en-US" altLang="ja-JP" sz="2400" dirty="0" smtClean="0"/>
              <a:t> 20 </a:t>
            </a:r>
            <a:r>
              <a:rPr lang="en-US" altLang="ja-JP" sz="2400" dirty="0" smtClean="0">
                <a:solidFill>
                  <a:srgbClr val="FF0000"/>
                </a:solidFill>
              </a:rPr>
              <a:t>30 60 + </a:t>
            </a:r>
            <a:r>
              <a:rPr lang="en-US" altLang="ja-JP" sz="2400" dirty="0" smtClean="0"/>
              <a:t>* = 20 90 * = 1800</a:t>
            </a:r>
            <a:endParaRPr lang="ja-JP" altLang="en-US" sz="2400" dirty="0"/>
          </a:p>
        </p:txBody>
      </p:sp>
      <p:sp>
        <p:nvSpPr>
          <p:cNvPr id="8" name="テキスト ボックス 7"/>
          <p:cNvSpPr txBox="1"/>
          <p:nvPr/>
        </p:nvSpPr>
        <p:spPr>
          <a:xfrm>
            <a:off x="2285984" y="3500438"/>
            <a:ext cx="5929354" cy="830997"/>
          </a:xfrm>
          <a:prstGeom prst="rect">
            <a:avLst/>
          </a:prstGeom>
          <a:noFill/>
        </p:spPr>
        <p:txBody>
          <a:bodyPr wrap="square" rtlCol="0">
            <a:spAutoFit/>
          </a:bodyPr>
          <a:lstStyle/>
          <a:p>
            <a:r>
              <a:rPr kumimoji="1" lang="ja-JP" altLang="en-US" sz="2400" dirty="0" smtClean="0"/>
              <a:t>赤字の部分は</a:t>
            </a:r>
            <a:r>
              <a:rPr kumimoji="1" lang="en-US" altLang="ja-JP" sz="2400" dirty="0" smtClean="0"/>
              <a:t>20+30</a:t>
            </a:r>
            <a:r>
              <a:rPr kumimoji="1" lang="ja-JP" altLang="en-US" sz="2400" dirty="0" err="1" smtClean="0"/>
              <a:t>の</a:t>
            </a:r>
            <a:r>
              <a:rPr lang="ja-JP" altLang="en-US" sz="2400" dirty="0" err="1" smtClean="0"/>
              <a:t>後置</a:t>
            </a:r>
            <a:r>
              <a:rPr kumimoji="1" lang="ja-JP" altLang="en-US" sz="2400" dirty="0" smtClean="0"/>
              <a:t>記法による表現であり、</a:t>
            </a:r>
            <a:r>
              <a:rPr kumimoji="1" lang="en-US" altLang="ja-JP" sz="2400" dirty="0" smtClean="0"/>
              <a:t>*</a:t>
            </a:r>
            <a:r>
              <a:rPr kumimoji="1" lang="ja-JP" altLang="en-US" sz="2400" dirty="0" smtClean="0"/>
              <a:t>の１つ目の引数である。</a:t>
            </a:r>
            <a:endParaRPr kumimoji="1" lang="ja-JP" altLang="en-US" sz="2400" dirty="0"/>
          </a:p>
        </p:txBody>
      </p:sp>
      <p:sp>
        <p:nvSpPr>
          <p:cNvPr id="9" name="テキスト ボックス 8"/>
          <p:cNvSpPr txBox="1"/>
          <p:nvPr/>
        </p:nvSpPr>
        <p:spPr>
          <a:xfrm>
            <a:off x="2357422" y="4857760"/>
            <a:ext cx="5929354" cy="830997"/>
          </a:xfrm>
          <a:prstGeom prst="rect">
            <a:avLst/>
          </a:prstGeom>
          <a:noFill/>
        </p:spPr>
        <p:txBody>
          <a:bodyPr wrap="square" rtlCol="0">
            <a:spAutoFit/>
          </a:bodyPr>
          <a:lstStyle/>
          <a:p>
            <a:r>
              <a:rPr kumimoji="1" lang="ja-JP" altLang="en-US" sz="2400" dirty="0" smtClean="0"/>
              <a:t>赤字の部分は</a:t>
            </a:r>
            <a:r>
              <a:rPr kumimoji="1" lang="en-US" altLang="ja-JP" sz="2400" dirty="0" smtClean="0"/>
              <a:t>30+60</a:t>
            </a:r>
            <a:r>
              <a:rPr kumimoji="1" lang="ja-JP" altLang="en-US" sz="2400" dirty="0" err="1" smtClean="0"/>
              <a:t>の後置</a:t>
            </a:r>
            <a:r>
              <a:rPr kumimoji="1" lang="ja-JP" altLang="en-US" sz="2400" dirty="0" smtClean="0"/>
              <a:t>記法による表現であり、</a:t>
            </a:r>
            <a:r>
              <a:rPr kumimoji="1" lang="en-US" altLang="ja-JP" sz="2400" dirty="0" smtClean="0"/>
              <a:t>*</a:t>
            </a:r>
            <a:r>
              <a:rPr kumimoji="1" lang="ja-JP" altLang="en-US" sz="2400" dirty="0" smtClean="0"/>
              <a:t>の２つ目の引数である。</a:t>
            </a:r>
            <a:endParaRPr kumimoji="1" lang="ja-JP" altLang="en-US"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中置記法</a:t>
            </a:r>
            <a:r>
              <a:rPr kumimoji="1" lang="en-US" altLang="ja-JP" dirty="0" smtClean="0"/>
              <a:t>(infix notation)</a:t>
            </a:r>
            <a:endParaRPr kumimoji="1" lang="ja-JP" altLang="en-US" dirty="0"/>
          </a:p>
        </p:txBody>
      </p:sp>
      <p:sp>
        <p:nvSpPr>
          <p:cNvPr id="4" name="正方形/長方形 3"/>
          <p:cNvSpPr/>
          <p:nvPr/>
        </p:nvSpPr>
        <p:spPr>
          <a:xfrm>
            <a:off x="642910" y="1357298"/>
            <a:ext cx="8001056" cy="1569660"/>
          </a:xfrm>
          <a:prstGeom prst="rect">
            <a:avLst/>
          </a:prstGeom>
        </p:spPr>
        <p:txBody>
          <a:bodyPr wrap="square">
            <a:spAutoFit/>
          </a:bodyPr>
          <a:lstStyle/>
          <a:p>
            <a:pPr>
              <a:buFont typeface="Arial" pitchFamily="34" charset="0"/>
              <a:buChar char="•"/>
            </a:pPr>
            <a:r>
              <a:rPr lang="ja-JP" altLang="en-US" sz="2400" dirty="0" smtClean="0"/>
              <a:t> 定数、変数の中置記法は、それ自身である。</a:t>
            </a:r>
            <a:endParaRPr lang="en-US" altLang="ja-JP" sz="2400" dirty="0" smtClean="0"/>
          </a:p>
          <a:p>
            <a:pPr>
              <a:buFont typeface="Arial" pitchFamily="34" charset="0"/>
              <a:buChar char="•"/>
            </a:pPr>
            <a:r>
              <a:rPr lang="ja-JP" altLang="en-US" sz="2400" dirty="0" smtClean="0"/>
              <a:t> 式</a:t>
            </a:r>
            <a:r>
              <a:rPr lang="en-US" altLang="ja-JP" sz="2400" dirty="0" smtClean="0"/>
              <a:t>E</a:t>
            </a:r>
            <a:r>
              <a:rPr lang="en-US" altLang="ja-JP" sz="2400" baseline="-25000" dirty="0" smtClean="0"/>
              <a:t>1</a:t>
            </a:r>
            <a:r>
              <a:rPr lang="en-US" altLang="ja-JP" sz="2400" dirty="0" smtClean="0"/>
              <a:t>, E</a:t>
            </a:r>
            <a:r>
              <a:rPr lang="en-US" altLang="ja-JP" sz="2400" baseline="-25000" dirty="0" smtClean="0"/>
              <a:t>2</a:t>
            </a:r>
            <a:r>
              <a:rPr lang="ja-JP" altLang="en-US" sz="2400" dirty="0" smtClean="0"/>
              <a:t>が中置記法で書かれていたとする。演算子</a:t>
            </a:r>
            <a:r>
              <a:rPr lang="en-US" altLang="ja-JP" sz="2400" dirty="0" smtClean="0"/>
              <a:t>op</a:t>
            </a:r>
            <a:r>
              <a:rPr lang="ja-JP" altLang="en-US" sz="2400" dirty="0" smtClean="0"/>
              <a:t>の式</a:t>
            </a:r>
            <a:r>
              <a:rPr lang="en-US" altLang="ja-JP" sz="2400" dirty="0" smtClean="0"/>
              <a:t>E</a:t>
            </a:r>
            <a:r>
              <a:rPr lang="en-US" altLang="ja-JP" sz="2400" baseline="-25000" dirty="0" smtClean="0"/>
              <a:t>1</a:t>
            </a:r>
            <a:r>
              <a:rPr lang="en-US" altLang="ja-JP" sz="2400" dirty="0" smtClean="0"/>
              <a:t>, E</a:t>
            </a:r>
            <a:r>
              <a:rPr lang="en-US" altLang="ja-JP" sz="2400" baseline="-25000" dirty="0" smtClean="0"/>
              <a:t>2</a:t>
            </a:r>
            <a:r>
              <a:rPr lang="ja-JP" altLang="en-US" sz="2400" dirty="0" err="1" smtClean="0"/>
              <a:t>への</a:t>
            </a:r>
            <a:r>
              <a:rPr lang="ja-JP" altLang="en-US" sz="2400" dirty="0" smtClean="0"/>
              <a:t>適用は、中置記法で</a:t>
            </a:r>
            <a:r>
              <a:rPr lang="en-US" altLang="ja-JP" sz="2400" dirty="0" smtClean="0"/>
              <a:t>E</a:t>
            </a:r>
            <a:r>
              <a:rPr lang="en-US" altLang="ja-JP" sz="2400" baseline="-25000" dirty="0" smtClean="0"/>
              <a:t>1</a:t>
            </a:r>
            <a:r>
              <a:rPr lang="en-US" altLang="ja-JP" sz="2400" dirty="0" smtClean="0"/>
              <a:t> op E</a:t>
            </a:r>
            <a:r>
              <a:rPr lang="en-US" altLang="ja-JP" sz="2400" baseline="-25000" dirty="0" smtClean="0"/>
              <a:t>2 </a:t>
            </a:r>
            <a:r>
              <a:rPr lang="ja-JP" altLang="en-US" sz="2400" dirty="0" smtClean="0"/>
              <a:t>である。</a:t>
            </a:r>
            <a:endParaRPr lang="en-US" altLang="ja-JP" sz="2400" dirty="0" smtClean="0"/>
          </a:p>
          <a:p>
            <a:endParaRPr lang="en-US" altLang="ja-JP" sz="2400" dirty="0" smtClean="0"/>
          </a:p>
        </p:txBody>
      </p:sp>
      <p:sp>
        <p:nvSpPr>
          <p:cNvPr id="5" name="正方形/長方形 4"/>
          <p:cNvSpPr/>
          <p:nvPr/>
        </p:nvSpPr>
        <p:spPr>
          <a:xfrm>
            <a:off x="1928794" y="6000768"/>
            <a:ext cx="5286412" cy="461665"/>
          </a:xfrm>
          <a:prstGeom prst="rect">
            <a:avLst/>
          </a:prstGeom>
          <a:ln>
            <a:solidFill>
              <a:schemeClr val="tx1"/>
            </a:solidFill>
          </a:ln>
        </p:spPr>
        <p:txBody>
          <a:bodyPr wrap="square">
            <a:spAutoFit/>
          </a:bodyPr>
          <a:lstStyle/>
          <a:p>
            <a:r>
              <a:rPr lang="ja-JP" altLang="en-US" sz="2400" dirty="0" smtClean="0"/>
              <a:t>中置記法は人間にとって分かりやすい。</a:t>
            </a:r>
            <a:endParaRPr lang="en-US" altLang="ja-JP" sz="2400" dirty="0" smtClean="0"/>
          </a:p>
        </p:txBody>
      </p:sp>
      <p:sp>
        <p:nvSpPr>
          <p:cNvPr id="6" name="正方形/長方形 5"/>
          <p:cNvSpPr/>
          <p:nvPr/>
        </p:nvSpPr>
        <p:spPr>
          <a:xfrm>
            <a:off x="785786" y="4214818"/>
            <a:ext cx="7072362" cy="1569660"/>
          </a:xfrm>
          <a:prstGeom prst="rect">
            <a:avLst/>
          </a:prstGeom>
        </p:spPr>
        <p:txBody>
          <a:bodyPr wrap="square">
            <a:spAutoFit/>
          </a:bodyPr>
          <a:lstStyle/>
          <a:p>
            <a:r>
              <a:rPr lang="en-US" altLang="ja-JP" sz="2400" dirty="0" smtClean="0"/>
              <a:t>(</a:t>
            </a:r>
            <a:r>
              <a:rPr lang="ja-JP" altLang="en-US" sz="2400" dirty="0" smtClean="0"/>
              <a:t>注意点</a:t>
            </a:r>
            <a:r>
              <a:rPr lang="en-US" altLang="ja-JP" sz="2400" dirty="0" smtClean="0"/>
              <a:t>)</a:t>
            </a:r>
          </a:p>
          <a:p>
            <a:r>
              <a:rPr lang="ja-JP" altLang="en-US" sz="2400" dirty="0" smtClean="0"/>
              <a:t>中置記法においては、たとえば、</a:t>
            </a:r>
            <a:r>
              <a:rPr lang="en-US" altLang="ja-JP" sz="2400" dirty="0" err="1" smtClean="0"/>
              <a:t>a+b</a:t>
            </a:r>
            <a:r>
              <a:rPr lang="en-US" altLang="ja-JP" sz="2400" dirty="0" smtClean="0"/>
              <a:t>*c</a:t>
            </a:r>
            <a:r>
              <a:rPr lang="ja-JP" altLang="en-US" sz="2400" dirty="0" smtClean="0"/>
              <a:t>は、</a:t>
            </a:r>
            <a:r>
              <a:rPr lang="en-US" altLang="ja-JP" sz="2400" dirty="0" smtClean="0"/>
              <a:t>a</a:t>
            </a:r>
            <a:r>
              <a:rPr lang="ja-JP" altLang="en-US" sz="2400" dirty="0" smtClean="0"/>
              <a:t>と</a:t>
            </a:r>
            <a:r>
              <a:rPr lang="en-US" altLang="ja-JP" sz="2400" dirty="0" smtClean="0"/>
              <a:t>b*c</a:t>
            </a:r>
            <a:r>
              <a:rPr lang="ja-JP" altLang="en-US" sz="2400" dirty="0" smtClean="0"/>
              <a:t>の和であるのか、</a:t>
            </a:r>
            <a:r>
              <a:rPr lang="en-US" altLang="ja-JP" sz="2400" dirty="0" err="1" smtClean="0"/>
              <a:t>a+b</a:t>
            </a:r>
            <a:r>
              <a:rPr lang="ja-JP" altLang="en-US" sz="2400" dirty="0" smtClean="0"/>
              <a:t>と</a:t>
            </a:r>
            <a:r>
              <a:rPr lang="en-US" altLang="ja-JP" sz="2400" dirty="0" smtClean="0"/>
              <a:t>c</a:t>
            </a:r>
            <a:r>
              <a:rPr lang="ja-JP" altLang="en-US" sz="2400" dirty="0" smtClean="0"/>
              <a:t>の積なのか、２通りの解釈がある。</a:t>
            </a:r>
            <a:endParaRPr lang="en-US" altLang="ja-JP" sz="2400" dirty="0" smtClean="0"/>
          </a:p>
          <a:p>
            <a:r>
              <a:rPr lang="en-US" altLang="ja-JP" sz="2400" dirty="0" smtClean="0"/>
              <a:t>      --- </a:t>
            </a:r>
            <a:r>
              <a:rPr lang="ja-JP" altLang="en-US" sz="2400" dirty="0" smtClean="0"/>
              <a:t>優先順位、結合性を導入する（後述）。</a:t>
            </a:r>
            <a:endParaRPr lang="en-US" altLang="ja-JP" sz="2400" dirty="0" smtClean="0"/>
          </a:p>
        </p:txBody>
      </p:sp>
      <p:sp>
        <p:nvSpPr>
          <p:cNvPr id="7" name="テキスト ボックス 6"/>
          <p:cNvSpPr txBox="1"/>
          <p:nvPr/>
        </p:nvSpPr>
        <p:spPr>
          <a:xfrm>
            <a:off x="1285852" y="2714620"/>
            <a:ext cx="3142207" cy="461665"/>
          </a:xfrm>
          <a:prstGeom prst="rect">
            <a:avLst/>
          </a:prstGeom>
          <a:noFill/>
        </p:spPr>
        <p:txBody>
          <a:bodyPr wrap="none" rtlCol="0">
            <a:spAutoFit/>
          </a:bodyPr>
          <a:lstStyle/>
          <a:p>
            <a:r>
              <a:rPr kumimoji="1" lang="ja-JP" altLang="en-US" sz="2400" dirty="0" smtClean="0"/>
              <a:t>（例） </a:t>
            </a:r>
            <a:r>
              <a:rPr lang="en-US" altLang="ja-JP" sz="2400" dirty="0" smtClean="0">
                <a:solidFill>
                  <a:srgbClr val="FF0000"/>
                </a:solidFill>
              </a:rPr>
              <a:t>2 + 5 </a:t>
            </a:r>
            <a:r>
              <a:rPr lang="en-US" altLang="ja-JP" sz="2400" dirty="0" smtClean="0"/>
              <a:t>- 4 = 7 - 4 = 3</a:t>
            </a:r>
            <a:endParaRPr kumimoji="1" lang="ja-JP" altLang="en-US" sz="2400" dirty="0"/>
          </a:p>
        </p:txBody>
      </p:sp>
      <p:sp>
        <p:nvSpPr>
          <p:cNvPr id="8" name="テキスト ボックス 7"/>
          <p:cNvSpPr txBox="1"/>
          <p:nvPr/>
        </p:nvSpPr>
        <p:spPr>
          <a:xfrm>
            <a:off x="1714480" y="3214686"/>
            <a:ext cx="7000924" cy="830997"/>
          </a:xfrm>
          <a:prstGeom prst="rect">
            <a:avLst/>
          </a:prstGeom>
          <a:noFill/>
        </p:spPr>
        <p:txBody>
          <a:bodyPr wrap="square" rtlCol="0">
            <a:spAutoFit/>
          </a:bodyPr>
          <a:lstStyle/>
          <a:p>
            <a:r>
              <a:rPr kumimoji="1" lang="ja-JP" altLang="en-US" sz="2400" dirty="0" smtClean="0"/>
              <a:t>赤字の部分は中置記法による</a:t>
            </a:r>
            <a:r>
              <a:rPr kumimoji="1" lang="en-US" altLang="ja-JP" sz="2400" dirty="0" smtClean="0"/>
              <a:t>2</a:t>
            </a:r>
            <a:r>
              <a:rPr kumimoji="1" lang="ja-JP" altLang="en-US" sz="2400" dirty="0" smtClean="0"/>
              <a:t>と</a:t>
            </a:r>
            <a:r>
              <a:rPr kumimoji="1" lang="en-US" altLang="ja-JP" sz="2400" dirty="0" smtClean="0"/>
              <a:t>5</a:t>
            </a:r>
            <a:r>
              <a:rPr kumimoji="1" lang="ja-JP" altLang="en-US" sz="2400" dirty="0" smtClean="0"/>
              <a:t>の和であり、外側の引き算の</a:t>
            </a:r>
            <a:r>
              <a:rPr lang="ja-JP" altLang="en-US" sz="2400" dirty="0" smtClean="0"/>
              <a:t>一つ目の引数である。</a:t>
            </a:r>
            <a:endParaRPr kumimoji="1" lang="ja-JP" altLang="en-US"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式の木表現</a:t>
            </a:r>
            <a:endParaRPr kumimoji="1" lang="ja-JP" altLang="en-US" dirty="0"/>
          </a:p>
        </p:txBody>
      </p:sp>
      <p:sp>
        <p:nvSpPr>
          <p:cNvPr id="4" name="テキスト ボックス 3"/>
          <p:cNvSpPr txBox="1"/>
          <p:nvPr/>
        </p:nvSpPr>
        <p:spPr>
          <a:xfrm>
            <a:off x="642910" y="1500174"/>
            <a:ext cx="4929222" cy="523220"/>
          </a:xfrm>
          <a:prstGeom prst="rect">
            <a:avLst/>
          </a:prstGeom>
          <a:noFill/>
        </p:spPr>
        <p:txBody>
          <a:bodyPr wrap="square" rtlCol="0">
            <a:spAutoFit/>
          </a:bodyPr>
          <a:lstStyle/>
          <a:p>
            <a:r>
              <a:rPr kumimoji="1" lang="ja-JP" altLang="en-US" sz="2800" dirty="0" smtClean="0"/>
              <a:t>（例）  </a:t>
            </a:r>
            <a:r>
              <a:rPr kumimoji="1" lang="en-US" altLang="ja-JP" sz="2800" dirty="0" smtClean="0"/>
              <a:t>b * b – 4 * a * c</a:t>
            </a:r>
            <a:r>
              <a:rPr kumimoji="1" lang="ja-JP" altLang="en-US" sz="2800" dirty="0" smtClean="0"/>
              <a:t>の木表現</a:t>
            </a:r>
            <a:endParaRPr kumimoji="1" lang="ja-JP" altLang="en-US" sz="2800" dirty="0"/>
          </a:p>
        </p:txBody>
      </p:sp>
      <p:sp>
        <p:nvSpPr>
          <p:cNvPr id="5" name="テキスト ボックス 4"/>
          <p:cNvSpPr txBox="1"/>
          <p:nvPr/>
        </p:nvSpPr>
        <p:spPr>
          <a:xfrm>
            <a:off x="2285984" y="2143116"/>
            <a:ext cx="543739" cy="523220"/>
          </a:xfrm>
          <a:prstGeom prst="rect">
            <a:avLst/>
          </a:prstGeom>
          <a:noFill/>
        </p:spPr>
        <p:txBody>
          <a:bodyPr wrap="none" rtlCol="0">
            <a:spAutoFit/>
          </a:bodyPr>
          <a:lstStyle/>
          <a:p>
            <a:r>
              <a:rPr kumimoji="1" lang="ja-JP" altLang="en-US" sz="2800" dirty="0" smtClean="0"/>
              <a:t>－</a:t>
            </a:r>
            <a:endParaRPr kumimoji="1" lang="ja-JP" altLang="en-US" sz="2800" dirty="0"/>
          </a:p>
        </p:txBody>
      </p:sp>
      <p:sp>
        <p:nvSpPr>
          <p:cNvPr id="6" name="テキスト ボックス 5"/>
          <p:cNvSpPr txBox="1"/>
          <p:nvPr/>
        </p:nvSpPr>
        <p:spPr>
          <a:xfrm>
            <a:off x="1285852" y="3071810"/>
            <a:ext cx="571504" cy="523220"/>
          </a:xfrm>
          <a:prstGeom prst="rect">
            <a:avLst/>
          </a:prstGeom>
          <a:noFill/>
        </p:spPr>
        <p:txBody>
          <a:bodyPr wrap="square" rtlCol="0">
            <a:spAutoFit/>
          </a:bodyPr>
          <a:lstStyle/>
          <a:p>
            <a:r>
              <a:rPr kumimoji="1" lang="ja-JP" altLang="en-US" sz="2800" dirty="0" smtClean="0"/>
              <a:t>＊</a:t>
            </a:r>
            <a:endParaRPr kumimoji="1" lang="ja-JP" altLang="en-US" sz="2800" dirty="0"/>
          </a:p>
        </p:txBody>
      </p:sp>
      <p:sp>
        <p:nvSpPr>
          <p:cNvPr id="7" name="テキスト ボックス 6"/>
          <p:cNvSpPr txBox="1"/>
          <p:nvPr/>
        </p:nvSpPr>
        <p:spPr>
          <a:xfrm>
            <a:off x="3286116" y="3214686"/>
            <a:ext cx="571504" cy="523220"/>
          </a:xfrm>
          <a:prstGeom prst="rect">
            <a:avLst/>
          </a:prstGeom>
          <a:noFill/>
        </p:spPr>
        <p:txBody>
          <a:bodyPr wrap="square" rtlCol="0">
            <a:spAutoFit/>
          </a:bodyPr>
          <a:lstStyle/>
          <a:p>
            <a:r>
              <a:rPr kumimoji="1" lang="ja-JP" altLang="en-US" sz="2800" dirty="0" smtClean="0"/>
              <a:t>＊</a:t>
            </a:r>
            <a:endParaRPr kumimoji="1" lang="ja-JP" altLang="en-US" sz="2800" dirty="0"/>
          </a:p>
        </p:txBody>
      </p:sp>
      <p:sp>
        <p:nvSpPr>
          <p:cNvPr id="8" name="テキスト ボックス 7"/>
          <p:cNvSpPr txBox="1"/>
          <p:nvPr/>
        </p:nvSpPr>
        <p:spPr>
          <a:xfrm>
            <a:off x="2571736" y="4286256"/>
            <a:ext cx="571504" cy="523220"/>
          </a:xfrm>
          <a:prstGeom prst="rect">
            <a:avLst/>
          </a:prstGeom>
          <a:noFill/>
        </p:spPr>
        <p:txBody>
          <a:bodyPr wrap="square" rtlCol="0">
            <a:spAutoFit/>
          </a:bodyPr>
          <a:lstStyle/>
          <a:p>
            <a:r>
              <a:rPr kumimoji="1" lang="ja-JP" altLang="en-US" sz="2800" dirty="0" smtClean="0"/>
              <a:t>＊</a:t>
            </a:r>
            <a:endParaRPr kumimoji="1" lang="ja-JP" altLang="en-US" sz="2800" dirty="0"/>
          </a:p>
        </p:txBody>
      </p:sp>
      <p:cxnSp>
        <p:nvCxnSpPr>
          <p:cNvPr id="10" name="直線コネクタ 9"/>
          <p:cNvCxnSpPr/>
          <p:nvPr/>
        </p:nvCxnSpPr>
        <p:spPr>
          <a:xfrm rot="5400000">
            <a:off x="1785918" y="2643182"/>
            <a:ext cx="428628" cy="428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p:nvCxnSpPr>
        <p:spPr>
          <a:xfrm rot="16200000" flipH="1">
            <a:off x="2893207" y="2750339"/>
            <a:ext cx="500066" cy="428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rot="5400000">
            <a:off x="2964645" y="3821909"/>
            <a:ext cx="500066" cy="428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p:nvPr/>
        </p:nvCxnSpPr>
        <p:spPr>
          <a:xfrm rot="5400000">
            <a:off x="2178827" y="4822041"/>
            <a:ext cx="500066" cy="428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p:nvCxnSpPr>
        <p:spPr>
          <a:xfrm rot="16200000" flipH="1">
            <a:off x="3750463" y="3893347"/>
            <a:ext cx="500066" cy="428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rot="16200000" flipH="1">
            <a:off x="2964645" y="4822041"/>
            <a:ext cx="500066" cy="428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rot="16200000" flipH="1">
            <a:off x="1678761" y="3607595"/>
            <a:ext cx="500066" cy="428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p:nvPr/>
        </p:nvCxnSpPr>
        <p:spPr>
          <a:xfrm rot="5400000">
            <a:off x="928662" y="3571876"/>
            <a:ext cx="428628" cy="428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テキスト ボックス 22"/>
          <p:cNvSpPr txBox="1"/>
          <p:nvPr/>
        </p:nvSpPr>
        <p:spPr>
          <a:xfrm>
            <a:off x="642910" y="4048788"/>
            <a:ext cx="373820" cy="523220"/>
          </a:xfrm>
          <a:prstGeom prst="rect">
            <a:avLst/>
          </a:prstGeom>
          <a:noFill/>
        </p:spPr>
        <p:txBody>
          <a:bodyPr wrap="none" rtlCol="0">
            <a:spAutoFit/>
          </a:bodyPr>
          <a:lstStyle/>
          <a:p>
            <a:r>
              <a:rPr kumimoji="1" lang="en-US" altLang="ja-JP" sz="2800" dirty="0" smtClean="0"/>
              <a:t>b</a:t>
            </a:r>
            <a:endParaRPr kumimoji="1" lang="ja-JP" altLang="en-US" sz="2800" dirty="0"/>
          </a:p>
        </p:txBody>
      </p:sp>
      <p:sp>
        <p:nvSpPr>
          <p:cNvPr id="24" name="テキスト ボックス 23"/>
          <p:cNvSpPr txBox="1"/>
          <p:nvPr/>
        </p:nvSpPr>
        <p:spPr>
          <a:xfrm>
            <a:off x="2055040" y="4071942"/>
            <a:ext cx="373820" cy="523220"/>
          </a:xfrm>
          <a:prstGeom prst="rect">
            <a:avLst/>
          </a:prstGeom>
          <a:noFill/>
        </p:spPr>
        <p:txBody>
          <a:bodyPr wrap="none" rtlCol="0">
            <a:spAutoFit/>
          </a:bodyPr>
          <a:lstStyle/>
          <a:p>
            <a:r>
              <a:rPr kumimoji="1" lang="en-US" altLang="ja-JP" sz="2800" dirty="0" smtClean="0"/>
              <a:t>b</a:t>
            </a:r>
            <a:endParaRPr kumimoji="1" lang="ja-JP" altLang="en-US" sz="2800" dirty="0"/>
          </a:p>
        </p:txBody>
      </p:sp>
      <p:sp>
        <p:nvSpPr>
          <p:cNvPr id="25" name="テキスト ボックス 24"/>
          <p:cNvSpPr txBox="1"/>
          <p:nvPr/>
        </p:nvSpPr>
        <p:spPr>
          <a:xfrm>
            <a:off x="1928794" y="5357826"/>
            <a:ext cx="367408" cy="523220"/>
          </a:xfrm>
          <a:prstGeom prst="rect">
            <a:avLst/>
          </a:prstGeom>
          <a:noFill/>
        </p:spPr>
        <p:txBody>
          <a:bodyPr wrap="none" rtlCol="0">
            <a:spAutoFit/>
          </a:bodyPr>
          <a:lstStyle/>
          <a:p>
            <a:r>
              <a:rPr kumimoji="1" lang="en-US" altLang="ja-JP" sz="2800" dirty="0" smtClean="0"/>
              <a:t>4</a:t>
            </a:r>
            <a:endParaRPr kumimoji="1" lang="ja-JP" altLang="en-US" sz="2800" dirty="0"/>
          </a:p>
        </p:txBody>
      </p:sp>
      <p:sp>
        <p:nvSpPr>
          <p:cNvPr id="26" name="テキスト ボックス 25"/>
          <p:cNvSpPr txBox="1"/>
          <p:nvPr/>
        </p:nvSpPr>
        <p:spPr>
          <a:xfrm>
            <a:off x="4235048" y="4286256"/>
            <a:ext cx="336952" cy="523220"/>
          </a:xfrm>
          <a:prstGeom prst="rect">
            <a:avLst/>
          </a:prstGeom>
          <a:noFill/>
        </p:spPr>
        <p:txBody>
          <a:bodyPr wrap="none" rtlCol="0">
            <a:spAutoFit/>
          </a:bodyPr>
          <a:lstStyle/>
          <a:p>
            <a:r>
              <a:rPr kumimoji="1" lang="en-US" altLang="ja-JP" sz="2800" dirty="0" smtClean="0"/>
              <a:t>c</a:t>
            </a:r>
            <a:endParaRPr kumimoji="1" lang="ja-JP" altLang="en-US" sz="2800" dirty="0"/>
          </a:p>
        </p:txBody>
      </p:sp>
      <p:sp>
        <p:nvSpPr>
          <p:cNvPr id="27" name="テキスト ボックス 26"/>
          <p:cNvSpPr txBox="1"/>
          <p:nvPr/>
        </p:nvSpPr>
        <p:spPr>
          <a:xfrm>
            <a:off x="3357554" y="5357826"/>
            <a:ext cx="356188" cy="523220"/>
          </a:xfrm>
          <a:prstGeom prst="rect">
            <a:avLst/>
          </a:prstGeom>
          <a:noFill/>
        </p:spPr>
        <p:txBody>
          <a:bodyPr wrap="none" rtlCol="0">
            <a:spAutoFit/>
          </a:bodyPr>
          <a:lstStyle/>
          <a:p>
            <a:r>
              <a:rPr kumimoji="1" lang="en-US" altLang="ja-JP" sz="2800" dirty="0" smtClean="0"/>
              <a:t>a</a:t>
            </a:r>
            <a:endParaRPr kumimoji="1" lang="ja-JP" altLang="en-US" sz="2800" dirty="0"/>
          </a:p>
        </p:txBody>
      </p:sp>
      <p:sp>
        <p:nvSpPr>
          <p:cNvPr id="28" name="テキスト ボックス 27"/>
          <p:cNvSpPr txBox="1"/>
          <p:nvPr/>
        </p:nvSpPr>
        <p:spPr>
          <a:xfrm>
            <a:off x="4572000" y="2285992"/>
            <a:ext cx="4286313" cy="1200329"/>
          </a:xfrm>
          <a:prstGeom prst="rect">
            <a:avLst/>
          </a:prstGeom>
          <a:noFill/>
          <a:ln>
            <a:solidFill>
              <a:schemeClr val="tx1"/>
            </a:solidFill>
          </a:ln>
        </p:spPr>
        <p:txBody>
          <a:bodyPr wrap="square" rtlCol="0">
            <a:spAutoFit/>
          </a:bodyPr>
          <a:lstStyle/>
          <a:p>
            <a:r>
              <a:rPr lang="ja-JP" altLang="en-US" sz="2400" dirty="0" smtClean="0"/>
              <a:t>抽象構文木（</a:t>
            </a:r>
            <a:r>
              <a:rPr lang="en-US" altLang="ja-JP" sz="2400" dirty="0" smtClean="0"/>
              <a:t>abstract syntax tree</a:t>
            </a:r>
            <a:r>
              <a:rPr lang="ja-JP" altLang="en-US" sz="2400" dirty="0" smtClean="0"/>
              <a:t>）と呼ばれる。（前置、中置などの書き方に依らないので）</a:t>
            </a:r>
            <a:endParaRPr kumimoji="1" lang="ja-JP" altLang="en-US" sz="2400" dirty="0"/>
          </a:p>
        </p:txBody>
      </p:sp>
      <p:sp>
        <p:nvSpPr>
          <p:cNvPr id="29" name="テキスト ボックス 28"/>
          <p:cNvSpPr txBox="1"/>
          <p:nvPr/>
        </p:nvSpPr>
        <p:spPr>
          <a:xfrm>
            <a:off x="5286380" y="4071942"/>
            <a:ext cx="2614818" cy="1384995"/>
          </a:xfrm>
          <a:prstGeom prst="rect">
            <a:avLst/>
          </a:prstGeom>
          <a:noFill/>
        </p:spPr>
        <p:txBody>
          <a:bodyPr wrap="none" rtlCol="0">
            <a:spAutoFit/>
          </a:bodyPr>
          <a:lstStyle/>
          <a:p>
            <a:r>
              <a:rPr kumimoji="1" lang="ja-JP" altLang="en-US" sz="2800" dirty="0" smtClean="0"/>
              <a:t>前置</a:t>
            </a:r>
            <a:r>
              <a:rPr kumimoji="1" lang="en-US" altLang="ja-JP" sz="2800" dirty="0" smtClean="0"/>
              <a:t>: -*bb**4ac</a:t>
            </a:r>
          </a:p>
          <a:p>
            <a:r>
              <a:rPr lang="ja-JP" altLang="en-US" sz="2800" dirty="0" smtClean="0"/>
              <a:t>中置</a:t>
            </a:r>
            <a:r>
              <a:rPr lang="en-US" altLang="ja-JP" sz="2800" dirty="0" smtClean="0"/>
              <a:t>: b*b-4*a*c</a:t>
            </a:r>
          </a:p>
          <a:p>
            <a:r>
              <a:rPr kumimoji="1" lang="ja-JP" altLang="en-US" sz="2800" dirty="0" smtClean="0"/>
              <a:t>後置</a:t>
            </a:r>
            <a:r>
              <a:rPr kumimoji="1" lang="en-US" altLang="ja-JP" sz="2800" dirty="0" smtClean="0"/>
              <a:t>: bb*4a*c*-</a:t>
            </a:r>
            <a:endParaRPr kumimoji="1" lang="ja-JP" altLang="en-US" sz="2800" dirty="0"/>
          </a:p>
        </p:txBody>
      </p:sp>
      <p:sp>
        <p:nvSpPr>
          <p:cNvPr id="30" name="テキスト ボックス 29"/>
          <p:cNvSpPr txBox="1"/>
          <p:nvPr/>
        </p:nvSpPr>
        <p:spPr>
          <a:xfrm>
            <a:off x="571472" y="6000768"/>
            <a:ext cx="6465231" cy="461665"/>
          </a:xfrm>
          <a:prstGeom prst="rect">
            <a:avLst/>
          </a:prstGeom>
          <a:noFill/>
          <a:ln>
            <a:solidFill>
              <a:schemeClr val="tx1"/>
            </a:solidFill>
          </a:ln>
        </p:spPr>
        <p:txBody>
          <a:bodyPr wrap="none" rtlCol="0">
            <a:spAutoFit/>
          </a:bodyPr>
          <a:lstStyle/>
          <a:p>
            <a:r>
              <a:rPr lang="ja-JP" altLang="en-US" sz="2400" dirty="0" smtClean="0"/>
              <a:t>演算子を根、引数をその子とする木によって表現</a:t>
            </a:r>
            <a:endParaRPr kumimoji="1" lang="ja-JP" alt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抽象構文木の例： </a:t>
            </a:r>
            <a:r>
              <a:rPr lang="en-US" altLang="ja-JP" dirty="0" smtClean="0"/>
              <a:t>if</a:t>
            </a:r>
            <a:r>
              <a:rPr lang="ja-JP" altLang="en-US" dirty="0" smtClean="0"/>
              <a:t>式の場合</a:t>
            </a:r>
            <a:endParaRPr kumimoji="1" lang="ja-JP" altLang="en-US" dirty="0"/>
          </a:p>
        </p:txBody>
      </p:sp>
      <p:sp>
        <p:nvSpPr>
          <p:cNvPr id="4" name="テキスト ボックス 3"/>
          <p:cNvSpPr txBox="1"/>
          <p:nvPr/>
        </p:nvSpPr>
        <p:spPr>
          <a:xfrm>
            <a:off x="642910" y="1615377"/>
            <a:ext cx="7929618" cy="1384995"/>
          </a:xfrm>
          <a:prstGeom prst="rect">
            <a:avLst/>
          </a:prstGeom>
          <a:noFill/>
        </p:spPr>
        <p:txBody>
          <a:bodyPr wrap="square" rtlCol="0">
            <a:spAutoFit/>
          </a:bodyPr>
          <a:lstStyle/>
          <a:p>
            <a:r>
              <a:rPr lang="ja-JP" altLang="en-US" sz="2800" dirty="0" smtClean="0"/>
              <a:t>四則演算以外の場合でも同様である。</a:t>
            </a:r>
            <a:endParaRPr lang="en-US" altLang="ja-JP" sz="2800" dirty="0" smtClean="0"/>
          </a:p>
          <a:p>
            <a:r>
              <a:rPr kumimoji="1" lang="ja-JP" altLang="en-US" sz="2800" dirty="0" smtClean="0"/>
              <a:t>（例） </a:t>
            </a:r>
            <a:r>
              <a:rPr kumimoji="1" lang="en-US" altLang="ja-JP" sz="2800" dirty="0" smtClean="0"/>
              <a:t>if</a:t>
            </a:r>
            <a:r>
              <a:rPr lang="ja-JP" altLang="en-US" sz="2800" dirty="0" smtClean="0"/>
              <a:t> </a:t>
            </a:r>
            <a:r>
              <a:rPr lang="en-US" altLang="ja-JP" sz="2800" dirty="0" smtClean="0"/>
              <a:t> a&gt;b  then a else b</a:t>
            </a:r>
            <a:r>
              <a:rPr lang="ja-JP" altLang="en-US" sz="2800" dirty="0" smtClean="0"/>
              <a:t> の抽象構文木は、</a:t>
            </a:r>
            <a:r>
              <a:rPr lang="en-US" altLang="ja-JP" sz="2800" dirty="0" smtClean="0"/>
              <a:t>if-then-else</a:t>
            </a:r>
            <a:r>
              <a:rPr lang="ja-JP" altLang="en-US" sz="2800" dirty="0" smtClean="0"/>
              <a:t>という演算子を作ることによって構成できる。</a:t>
            </a:r>
            <a:endParaRPr lang="en-US" altLang="ja-JP" sz="2800" dirty="0" smtClean="0"/>
          </a:p>
        </p:txBody>
      </p:sp>
      <p:sp>
        <p:nvSpPr>
          <p:cNvPr id="5" name="テキスト ボックス 4"/>
          <p:cNvSpPr txBox="1"/>
          <p:nvPr/>
        </p:nvSpPr>
        <p:spPr>
          <a:xfrm>
            <a:off x="3126610" y="3548722"/>
            <a:ext cx="1933543" cy="523220"/>
          </a:xfrm>
          <a:prstGeom prst="rect">
            <a:avLst/>
          </a:prstGeom>
          <a:noFill/>
        </p:spPr>
        <p:txBody>
          <a:bodyPr wrap="none" rtlCol="0">
            <a:spAutoFit/>
          </a:bodyPr>
          <a:lstStyle/>
          <a:p>
            <a:r>
              <a:rPr kumimoji="1" lang="en-US" altLang="ja-JP" sz="2800" dirty="0" smtClean="0"/>
              <a:t> if-then-else</a:t>
            </a:r>
            <a:endParaRPr kumimoji="1" lang="ja-JP" altLang="en-US" sz="2800" dirty="0"/>
          </a:p>
        </p:txBody>
      </p:sp>
      <p:cxnSp>
        <p:nvCxnSpPr>
          <p:cNvPr id="7" name="直線コネクタ 6"/>
          <p:cNvCxnSpPr/>
          <p:nvPr/>
        </p:nvCxnSpPr>
        <p:spPr>
          <a:xfrm rot="10800000" flipV="1">
            <a:off x="2983734" y="4120226"/>
            <a:ext cx="714380" cy="428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a:off x="4269618" y="4120226"/>
            <a:ext cx="500066" cy="428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p:nvCxnSpPr>
        <p:spPr>
          <a:xfrm>
            <a:off x="4769684" y="4048788"/>
            <a:ext cx="1285884" cy="500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p:cNvSpPr txBox="1"/>
          <p:nvPr/>
        </p:nvSpPr>
        <p:spPr>
          <a:xfrm>
            <a:off x="2690970" y="4477416"/>
            <a:ext cx="364202" cy="523220"/>
          </a:xfrm>
          <a:prstGeom prst="rect">
            <a:avLst/>
          </a:prstGeom>
          <a:noFill/>
        </p:spPr>
        <p:txBody>
          <a:bodyPr wrap="none" rtlCol="0">
            <a:spAutoFit/>
          </a:bodyPr>
          <a:lstStyle/>
          <a:p>
            <a:r>
              <a:rPr kumimoji="1" lang="en-US" altLang="ja-JP" sz="2800" dirty="0" smtClean="0"/>
              <a:t>&gt;</a:t>
            </a:r>
            <a:endParaRPr kumimoji="1" lang="ja-JP" altLang="en-US" sz="2800" dirty="0"/>
          </a:p>
        </p:txBody>
      </p:sp>
      <p:sp>
        <p:nvSpPr>
          <p:cNvPr id="14" name="テキスト ボックス 13"/>
          <p:cNvSpPr txBox="1"/>
          <p:nvPr/>
        </p:nvSpPr>
        <p:spPr>
          <a:xfrm>
            <a:off x="4841122" y="4477416"/>
            <a:ext cx="356188" cy="523220"/>
          </a:xfrm>
          <a:prstGeom prst="rect">
            <a:avLst/>
          </a:prstGeom>
          <a:noFill/>
        </p:spPr>
        <p:txBody>
          <a:bodyPr wrap="none" rtlCol="0">
            <a:spAutoFit/>
          </a:bodyPr>
          <a:lstStyle/>
          <a:p>
            <a:r>
              <a:rPr kumimoji="1" lang="en-US" altLang="ja-JP" sz="2800" dirty="0" smtClean="0"/>
              <a:t>a</a:t>
            </a:r>
            <a:endParaRPr kumimoji="1" lang="ja-JP" altLang="en-US" sz="2800" dirty="0"/>
          </a:p>
        </p:txBody>
      </p:sp>
      <p:sp>
        <p:nvSpPr>
          <p:cNvPr id="15" name="テキスト ボックス 14"/>
          <p:cNvSpPr txBox="1"/>
          <p:nvPr/>
        </p:nvSpPr>
        <p:spPr>
          <a:xfrm>
            <a:off x="6127006" y="4477416"/>
            <a:ext cx="373820" cy="523220"/>
          </a:xfrm>
          <a:prstGeom prst="rect">
            <a:avLst/>
          </a:prstGeom>
          <a:noFill/>
        </p:spPr>
        <p:txBody>
          <a:bodyPr wrap="none" rtlCol="0">
            <a:spAutoFit/>
          </a:bodyPr>
          <a:lstStyle/>
          <a:p>
            <a:r>
              <a:rPr kumimoji="1" lang="en-US" altLang="ja-JP" sz="2800" dirty="0" smtClean="0"/>
              <a:t>b</a:t>
            </a:r>
            <a:endParaRPr kumimoji="1" lang="ja-JP" altLang="en-US" sz="2800" dirty="0"/>
          </a:p>
        </p:txBody>
      </p:sp>
      <p:cxnSp>
        <p:nvCxnSpPr>
          <p:cNvPr id="17" name="直線コネクタ 16"/>
          <p:cNvCxnSpPr/>
          <p:nvPr/>
        </p:nvCxnSpPr>
        <p:spPr>
          <a:xfrm rot="5400000">
            <a:off x="2305073" y="5156077"/>
            <a:ext cx="500066" cy="428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テキスト ボックス 17"/>
          <p:cNvSpPr txBox="1"/>
          <p:nvPr/>
        </p:nvSpPr>
        <p:spPr>
          <a:xfrm>
            <a:off x="2055040" y="5548986"/>
            <a:ext cx="356188" cy="523220"/>
          </a:xfrm>
          <a:prstGeom prst="rect">
            <a:avLst/>
          </a:prstGeom>
          <a:noFill/>
        </p:spPr>
        <p:txBody>
          <a:bodyPr wrap="none" rtlCol="0">
            <a:spAutoFit/>
          </a:bodyPr>
          <a:lstStyle/>
          <a:p>
            <a:r>
              <a:rPr kumimoji="1" lang="en-US" altLang="ja-JP" sz="2800" dirty="0" smtClean="0"/>
              <a:t>a</a:t>
            </a:r>
            <a:endParaRPr kumimoji="1" lang="ja-JP" altLang="en-US" sz="2800" dirty="0"/>
          </a:p>
        </p:txBody>
      </p:sp>
      <p:sp>
        <p:nvSpPr>
          <p:cNvPr id="19" name="テキスト ボックス 18"/>
          <p:cNvSpPr txBox="1"/>
          <p:nvPr/>
        </p:nvSpPr>
        <p:spPr>
          <a:xfrm>
            <a:off x="3412362" y="5620424"/>
            <a:ext cx="373820" cy="523220"/>
          </a:xfrm>
          <a:prstGeom prst="rect">
            <a:avLst/>
          </a:prstGeom>
          <a:noFill/>
        </p:spPr>
        <p:txBody>
          <a:bodyPr wrap="none" rtlCol="0">
            <a:spAutoFit/>
          </a:bodyPr>
          <a:lstStyle/>
          <a:p>
            <a:r>
              <a:rPr kumimoji="1" lang="en-US" altLang="ja-JP" sz="2800" dirty="0" smtClean="0"/>
              <a:t>b</a:t>
            </a:r>
            <a:endParaRPr kumimoji="1" lang="ja-JP" altLang="en-US" sz="2800" dirty="0"/>
          </a:p>
        </p:txBody>
      </p:sp>
      <p:cxnSp>
        <p:nvCxnSpPr>
          <p:cNvPr id="21" name="直線コネクタ 20"/>
          <p:cNvCxnSpPr/>
          <p:nvPr/>
        </p:nvCxnSpPr>
        <p:spPr>
          <a:xfrm rot="16200000" flipH="1">
            <a:off x="2983734" y="5191796"/>
            <a:ext cx="571504" cy="428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kumimoji="1" lang="ja-JP" altLang="en-US" sz="3200" dirty="0" smtClean="0"/>
              <a:t>中置記法における演算子の優先順位、結合性</a:t>
            </a:r>
            <a:endParaRPr kumimoji="1" lang="ja-JP" altLang="en-US" sz="3200" dirty="0"/>
          </a:p>
        </p:txBody>
      </p:sp>
      <p:sp>
        <p:nvSpPr>
          <p:cNvPr id="4" name="正方形/長方形 3"/>
          <p:cNvSpPr/>
          <p:nvPr/>
        </p:nvSpPr>
        <p:spPr>
          <a:xfrm>
            <a:off x="928662" y="1571612"/>
            <a:ext cx="7358114" cy="3785652"/>
          </a:xfrm>
          <a:prstGeom prst="rect">
            <a:avLst/>
          </a:prstGeom>
        </p:spPr>
        <p:txBody>
          <a:bodyPr wrap="square">
            <a:spAutoFit/>
          </a:bodyPr>
          <a:lstStyle/>
          <a:p>
            <a:r>
              <a:rPr lang="ja-JP" altLang="en-US" sz="2400" dirty="0" smtClean="0"/>
              <a:t>中置記法の式を</a:t>
            </a:r>
            <a:endParaRPr lang="en-US" altLang="ja-JP" sz="2400" dirty="0" smtClean="0"/>
          </a:p>
          <a:p>
            <a:r>
              <a:rPr lang="en-US" altLang="ja-JP" sz="2400" dirty="0" smtClean="0"/>
              <a:t>    </a:t>
            </a:r>
            <a:r>
              <a:rPr lang="en-US" altLang="ja-JP" sz="2400" dirty="0" smtClean="0"/>
              <a:t>&lt;E&gt; </a:t>
            </a:r>
            <a:r>
              <a:rPr lang="en-US" altLang="ja-JP" sz="2400" dirty="0" smtClean="0"/>
              <a:t>::= </a:t>
            </a:r>
            <a:r>
              <a:rPr lang="en-US" altLang="ja-JP" sz="2400" dirty="0" smtClean="0"/>
              <a:t>&lt;num&gt; </a:t>
            </a:r>
            <a:r>
              <a:rPr lang="en-US" altLang="ja-JP" sz="2400" dirty="0" smtClean="0"/>
              <a:t>| </a:t>
            </a:r>
            <a:r>
              <a:rPr lang="en-US" altLang="ja-JP" sz="2400" dirty="0" smtClean="0"/>
              <a:t>&lt;E&gt;  </a:t>
            </a:r>
            <a:r>
              <a:rPr lang="en-US" altLang="ja-JP" sz="2400" dirty="0" smtClean="0"/>
              <a:t>+  </a:t>
            </a:r>
            <a:r>
              <a:rPr lang="en-US" altLang="ja-JP" sz="2400" dirty="0" smtClean="0"/>
              <a:t>&lt;E&gt;  </a:t>
            </a:r>
            <a:r>
              <a:rPr lang="en-US" altLang="ja-JP" sz="2400" dirty="0" smtClean="0"/>
              <a:t>| </a:t>
            </a:r>
            <a:r>
              <a:rPr lang="en-US" altLang="ja-JP" sz="2400" dirty="0" smtClean="0"/>
              <a:t>&lt;E&gt;  </a:t>
            </a:r>
            <a:r>
              <a:rPr lang="en-US" altLang="ja-JP" sz="2400" dirty="0" smtClean="0"/>
              <a:t>-  </a:t>
            </a:r>
            <a:r>
              <a:rPr lang="en-US" altLang="ja-JP" sz="2400" dirty="0" smtClean="0"/>
              <a:t>&lt;E&gt;</a:t>
            </a:r>
            <a:r>
              <a:rPr lang="ja-JP" altLang="en-US" sz="2400" dirty="0" smtClean="0"/>
              <a:t> </a:t>
            </a:r>
            <a:endParaRPr lang="en-US" altLang="ja-JP" sz="2400" dirty="0" smtClean="0"/>
          </a:p>
          <a:p>
            <a:r>
              <a:rPr lang="en-US" altLang="ja-JP" sz="2400" dirty="0" smtClean="0"/>
              <a:t> </a:t>
            </a:r>
            <a:r>
              <a:rPr lang="en-US" altLang="ja-JP" sz="2400" dirty="0" smtClean="0"/>
              <a:t>            </a:t>
            </a:r>
            <a:r>
              <a:rPr lang="en-US" altLang="ja-JP" sz="2400" dirty="0" smtClean="0"/>
              <a:t>|  &lt;E&gt; </a:t>
            </a:r>
            <a:r>
              <a:rPr lang="en-US" altLang="ja-JP" sz="2400" dirty="0" smtClean="0"/>
              <a:t>* </a:t>
            </a:r>
            <a:r>
              <a:rPr lang="en-US" altLang="ja-JP" sz="2400" dirty="0" smtClean="0"/>
              <a:t>&lt;E&gt; </a:t>
            </a:r>
            <a:r>
              <a:rPr lang="en-US" altLang="ja-JP" sz="2400" dirty="0" smtClean="0"/>
              <a:t>| </a:t>
            </a:r>
            <a:r>
              <a:rPr lang="en-US" altLang="ja-JP" sz="2400" dirty="0" smtClean="0"/>
              <a:t>&lt;E&gt; </a:t>
            </a:r>
            <a:r>
              <a:rPr lang="en-US" altLang="ja-JP" sz="2400" dirty="0" smtClean="0"/>
              <a:t>/ </a:t>
            </a:r>
            <a:r>
              <a:rPr lang="en-US" altLang="ja-JP" sz="2400" dirty="0" smtClean="0"/>
              <a:t>&lt;E&gt;</a:t>
            </a:r>
            <a:endParaRPr lang="en-US" altLang="ja-JP" sz="2400" dirty="0" smtClean="0"/>
          </a:p>
          <a:p>
            <a:r>
              <a:rPr lang="ja-JP" altLang="en-US" sz="2400" dirty="0" err="1" smtClean="0"/>
              <a:t>のように</a:t>
            </a:r>
            <a:r>
              <a:rPr lang="ja-JP" altLang="en-US" sz="2400" dirty="0" smtClean="0"/>
              <a:t>定義すると、この文法はあいまいである。</a:t>
            </a:r>
            <a:endParaRPr lang="en-US" altLang="ja-JP" sz="2400" dirty="0" smtClean="0"/>
          </a:p>
          <a:p>
            <a:r>
              <a:rPr lang="ja-JP" altLang="en-US" sz="2400" dirty="0" smtClean="0"/>
              <a:t>たとえば、</a:t>
            </a:r>
            <a:r>
              <a:rPr lang="en-US" altLang="ja-JP" sz="2400" dirty="0" err="1" smtClean="0"/>
              <a:t>a+b</a:t>
            </a:r>
            <a:r>
              <a:rPr lang="en-US" altLang="ja-JP" sz="2400" dirty="0" smtClean="0"/>
              <a:t>*c</a:t>
            </a:r>
            <a:r>
              <a:rPr lang="ja-JP" altLang="en-US" sz="2400" dirty="0" smtClean="0"/>
              <a:t>は、</a:t>
            </a:r>
            <a:r>
              <a:rPr lang="en-US" altLang="ja-JP" sz="2400" dirty="0" smtClean="0"/>
              <a:t>a</a:t>
            </a:r>
            <a:r>
              <a:rPr lang="ja-JP" altLang="en-US" sz="2400" dirty="0" smtClean="0"/>
              <a:t>と</a:t>
            </a:r>
            <a:r>
              <a:rPr lang="en-US" altLang="ja-JP" sz="2400" dirty="0" smtClean="0"/>
              <a:t>b*c</a:t>
            </a:r>
            <a:r>
              <a:rPr lang="ja-JP" altLang="en-US" sz="2400" dirty="0" smtClean="0"/>
              <a:t>の和であるのか、</a:t>
            </a:r>
            <a:r>
              <a:rPr lang="en-US" altLang="ja-JP" sz="2400" dirty="0" err="1" smtClean="0"/>
              <a:t>a+b</a:t>
            </a:r>
            <a:r>
              <a:rPr lang="ja-JP" altLang="en-US" sz="2400" dirty="0" smtClean="0"/>
              <a:t>と</a:t>
            </a:r>
            <a:r>
              <a:rPr lang="en-US" altLang="ja-JP" sz="2400" dirty="0" smtClean="0"/>
              <a:t>c</a:t>
            </a:r>
            <a:r>
              <a:rPr lang="ja-JP" altLang="en-US" sz="2400" dirty="0" smtClean="0"/>
              <a:t>の積なのか、２通りの解釈がある。</a:t>
            </a:r>
            <a:endParaRPr lang="en-US" altLang="ja-JP" sz="2400" dirty="0" smtClean="0"/>
          </a:p>
          <a:p>
            <a:r>
              <a:rPr lang="en-US" altLang="ja-JP" sz="2400" dirty="0" smtClean="0"/>
              <a:t>      --- </a:t>
            </a:r>
            <a:r>
              <a:rPr lang="ja-JP" altLang="en-US" sz="2400" dirty="0" smtClean="0"/>
              <a:t>優先順位、結合性を考慮した文法に変更するか、あるいは文法は変えずに、優先順位、結合性を別途、曖昧さ除去規則として定めることによって曖昧性を排除する。</a:t>
            </a:r>
            <a:endParaRPr lang="en-US" altLang="ja-JP" sz="2400" dirty="0" smtClean="0"/>
          </a:p>
        </p:txBody>
      </p:sp>
      <p:sp>
        <p:nvSpPr>
          <p:cNvPr id="5" name="正方形/長方形 4"/>
          <p:cNvSpPr/>
          <p:nvPr/>
        </p:nvSpPr>
        <p:spPr>
          <a:xfrm>
            <a:off x="1500166" y="5572140"/>
            <a:ext cx="6000792" cy="830997"/>
          </a:xfrm>
          <a:prstGeom prst="rect">
            <a:avLst/>
          </a:prstGeom>
        </p:spPr>
        <p:txBody>
          <a:bodyPr wrap="square">
            <a:spAutoFit/>
          </a:bodyPr>
          <a:lstStyle/>
          <a:p>
            <a:r>
              <a:rPr lang="ja-JP" altLang="en-US" sz="2400" dirty="0" smtClean="0"/>
              <a:t>（参考）構文解析器生成系の</a:t>
            </a:r>
            <a:r>
              <a:rPr lang="en-US" altLang="ja-JP" sz="2400" dirty="0" err="1" smtClean="0"/>
              <a:t>yacc</a:t>
            </a:r>
            <a:r>
              <a:rPr lang="ja-JP" altLang="en-US" sz="2400" dirty="0" smtClean="0"/>
              <a:t>では、曖昧さ除去規則を記述できる。</a:t>
            </a:r>
            <a:endParaRPr lang="en-US" altLang="ja-JP" sz="2400"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優先順位、結合性</a:t>
            </a:r>
            <a:endParaRPr kumimoji="1" lang="ja-JP" altLang="en-US" dirty="0"/>
          </a:p>
        </p:txBody>
      </p:sp>
      <p:sp>
        <p:nvSpPr>
          <p:cNvPr id="4" name="テキスト ボックス 3"/>
          <p:cNvSpPr txBox="1"/>
          <p:nvPr/>
        </p:nvSpPr>
        <p:spPr>
          <a:xfrm>
            <a:off x="571472" y="1643050"/>
            <a:ext cx="7786742" cy="4893647"/>
          </a:xfrm>
          <a:prstGeom prst="rect">
            <a:avLst/>
          </a:prstGeom>
          <a:noFill/>
        </p:spPr>
        <p:txBody>
          <a:bodyPr wrap="square" rtlCol="0">
            <a:spAutoFit/>
          </a:bodyPr>
          <a:lstStyle/>
          <a:p>
            <a:r>
              <a:rPr lang="ja-JP" altLang="en-US" sz="2400" dirty="0" smtClean="0"/>
              <a:t>伝統的に、</a:t>
            </a:r>
            <a:r>
              <a:rPr lang="en-US" altLang="ja-JP" sz="2400" dirty="0" smtClean="0"/>
              <a:t> *</a:t>
            </a:r>
            <a:r>
              <a:rPr lang="ja-JP" altLang="en-US" sz="2400" dirty="0" smtClean="0"/>
              <a:t>は</a:t>
            </a:r>
            <a:r>
              <a:rPr lang="en-US" altLang="ja-JP" sz="2400" dirty="0" smtClean="0"/>
              <a:t>+</a:t>
            </a:r>
            <a:r>
              <a:rPr lang="ja-JP" altLang="en-US" sz="2400" dirty="0" smtClean="0"/>
              <a:t>よりも先に引数を取る（</a:t>
            </a:r>
            <a:r>
              <a:rPr lang="en-US" altLang="ja-JP" sz="2400" dirty="0" smtClean="0"/>
              <a:t>*</a:t>
            </a:r>
            <a:r>
              <a:rPr lang="ja-JP" altLang="en-US" sz="2400" dirty="0" smtClean="0"/>
              <a:t>は</a:t>
            </a:r>
            <a:r>
              <a:rPr lang="en-US" altLang="ja-JP" sz="2400" dirty="0" smtClean="0"/>
              <a:t>+</a:t>
            </a:r>
            <a:r>
              <a:rPr lang="ja-JP" altLang="en-US" sz="2400" dirty="0" smtClean="0"/>
              <a:t>よりも優先順位が高いと言う）。たとえば、</a:t>
            </a:r>
            <a:r>
              <a:rPr lang="en-US" altLang="ja-JP" sz="2400" dirty="0" smtClean="0"/>
              <a:t>a + b * c </a:t>
            </a:r>
            <a:r>
              <a:rPr lang="ja-JP" altLang="en-US" sz="2400" dirty="0" smtClean="0"/>
              <a:t>は、</a:t>
            </a:r>
            <a:r>
              <a:rPr lang="en-US" altLang="ja-JP" sz="2400" dirty="0" smtClean="0"/>
              <a:t>a </a:t>
            </a:r>
            <a:r>
              <a:rPr lang="ja-JP" altLang="en-US" sz="2400" dirty="0" smtClean="0"/>
              <a:t>と </a:t>
            </a:r>
            <a:r>
              <a:rPr lang="en-US" altLang="ja-JP" sz="2400" dirty="0" smtClean="0"/>
              <a:t>b</a:t>
            </a:r>
            <a:r>
              <a:rPr lang="ja-JP" altLang="en-US" sz="2400" dirty="0" smtClean="0"/>
              <a:t> </a:t>
            </a:r>
            <a:r>
              <a:rPr lang="en-US" altLang="ja-JP" sz="2400" dirty="0" smtClean="0"/>
              <a:t>* c </a:t>
            </a:r>
            <a:r>
              <a:rPr lang="ja-JP" altLang="en-US" sz="2400" dirty="0" smtClean="0"/>
              <a:t>の和と解釈される。</a:t>
            </a:r>
            <a:endParaRPr kumimoji="1" lang="en-US" altLang="ja-JP" sz="2400" dirty="0" smtClean="0"/>
          </a:p>
          <a:p>
            <a:r>
              <a:rPr lang="ja-JP" altLang="en-US" sz="2400" dirty="0" smtClean="0"/>
              <a:t>（多くの言語において、</a:t>
            </a:r>
            <a:r>
              <a:rPr lang="en-US" altLang="ja-JP" sz="2400" dirty="0" smtClean="0"/>
              <a:t>*</a:t>
            </a:r>
            <a:r>
              <a:rPr lang="ja-JP" altLang="en-US" sz="2400" dirty="0" smtClean="0"/>
              <a:t>は</a:t>
            </a:r>
            <a:r>
              <a:rPr lang="en-US" altLang="ja-JP" sz="2400" dirty="0" smtClean="0"/>
              <a:t>+ </a:t>
            </a:r>
            <a:r>
              <a:rPr lang="ja-JP" altLang="en-US" sz="2400" dirty="0" smtClean="0"/>
              <a:t>よりも優先順位が高く、</a:t>
            </a:r>
            <a:r>
              <a:rPr lang="en-US" altLang="ja-JP" sz="2400" dirty="0" smtClean="0"/>
              <a:t>*</a:t>
            </a:r>
            <a:r>
              <a:rPr lang="ja-JP" altLang="en-US" sz="2400" dirty="0" smtClean="0"/>
              <a:t>と</a:t>
            </a:r>
            <a:r>
              <a:rPr lang="en-US" altLang="ja-JP" sz="2400" dirty="0" smtClean="0"/>
              <a:t>/</a:t>
            </a:r>
            <a:r>
              <a:rPr lang="ja-JP" altLang="en-US" sz="2400" dirty="0" err="1" smtClean="0"/>
              <a:t>は優</a:t>
            </a:r>
            <a:r>
              <a:rPr lang="ja-JP" altLang="en-US" sz="2400" dirty="0" smtClean="0"/>
              <a:t>先順位が同じであり、</a:t>
            </a:r>
            <a:r>
              <a:rPr lang="en-US" altLang="ja-JP" sz="2400" dirty="0" smtClean="0"/>
              <a:t>+</a:t>
            </a:r>
            <a:r>
              <a:rPr lang="ja-JP" altLang="en-US" sz="2400" dirty="0" smtClean="0"/>
              <a:t>と</a:t>
            </a:r>
            <a:r>
              <a:rPr lang="en-US" altLang="ja-JP" sz="2400" dirty="0" smtClean="0"/>
              <a:t>-</a:t>
            </a:r>
            <a:r>
              <a:rPr lang="ja-JP" altLang="en-US" sz="2400" dirty="0" err="1" smtClean="0"/>
              <a:t>も優</a:t>
            </a:r>
            <a:r>
              <a:rPr lang="ja-JP" altLang="en-US" sz="2400" dirty="0" smtClean="0"/>
              <a:t>先順位が同じである。）</a:t>
            </a:r>
            <a:endParaRPr lang="en-US" altLang="ja-JP" sz="2400" dirty="0" smtClean="0"/>
          </a:p>
          <a:p>
            <a:endParaRPr lang="en-US" altLang="ja-JP" sz="2400" dirty="0" smtClean="0"/>
          </a:p>
          <a:p>
            <a:r>
              <a:rPr lang="ja-JP" altLang="en-US" sz="2400" dirty="0" smtClean="0"/>
              <a:t>同じ優先順位の演算子については、普通、左から右にグループ化される（左結合と言う）。たとえば、</a:t>
            </a:r>
            <a:r>
              <a:rPr lang="en-US" altLang="ja-JP" sz="2400" dirty="0" smtClean="0"/>
              <a:t>4</a:t>
            </a:r>
            <a:r>
              <a:rPr lang="ja-JP" altLang="en-US" sz="2400" dirty="0" smtClean="0"/>
              <a:t> </a:t>
            </a:r>
            <a:r>
              <a:rPr lang="en-US" altLang="ja-JP" sz="2400" dirty="0" smtClean="0"/>
              <a:t>- 2 - 1</a:t>
            </a:r>
            <a:r>
              <a:rPr lang="ja-JP" altLang="en-US" sz="2400" dirty="0" smtClean="0"/>
              <a:t>は</a:t>
            </a:r>
            <a:r>
              <a:rPr lang="en-US" altLang="ja-JP" sz="2400" dirty="0" smtClean="0"/>
              <a:t>4 - 2</a:t>
            </a:r>
            <a:r>
              <a:rPr lang="ja-JP" altLang="en-US" sz="2400" dirty="0" smtClean="0"/>
              <a:t>と</a:t>
            </a:r>
            <a:r>
              <a:rPr lang="en-US" altLang="ja-JP" sz="2400" dirty="0" smtClean="0"/>
              <a:t>1</a:t>
            </a:r>
            <a:r>
              <a:rPr lang="ja-JP" altLang="en-US" sz="2400" dirty="0" smtClean="0"/>
              <a:t>の差と解釈される。</a:t>
            </a:r>
            <a:endParaRPr lang="en-US" altLang="ja-JP" sz="2400" dirty="0" smtClean="0"/>
          </a:p>
          <a:p>
            <a:endParaRPr lang="en-US" altLang="ja-JP" sz="2400" dirty="0" smtClean="0"/>
          </a:p>
          <a:p>
            <a:r>
              <a:rPr lang="ja-JP" altLang="en-US" sz="2400" dirty="0" smtClean="0"/>
              <a:t>（これに当てはまらない例） </a:t>
            </a:r>
            <a:r>
              <a:rPr lang="en-US" altLang="ja-JP" sz="2400" dirty="0" smtClean="0"/>
              <a:t>Smalltalk-80</a:t>
            </a:r>
            <a:r>
              <a:rPr lang="ja-JP" altLang="en-US" sz="2400" dirty="0" smtClean="0"/>
              <a:t>ではすべての算術演算は同じ優先順位を持つ。たとえば、</a:t>
            </a:r>
            <a:r>
              <a:rPr lang="en-US" altLang="ja-JP" sz="2400" dirty="0" err="1" smtClean="0"/>
              <a:t>a+b</a:t>
            </a:r>
            <a:r>
              <a:rPr lang="en-US" altLang="ja-JP" sz="2400" dirty="0" smtClean="0"/>
              <a:t>*c</a:t>
            </a:r>
            <a:r>
              <a:rPr lang="ja-JP" altLang="en-US" sz="2400" dirty="0" smtClean="0"/>
              <a:t>は</a:t>
            </a:r>
            <a:r>
              <a:rPr lang="en-US" altLang="ja-JP" sz="2400" dirty="0" err="1" smtClean="0"/>
              <a:t>a+b</a:t>
            </a:r>
            <a:r>
              <a:rPr lang="ja-JP" altLang="en-US" sz="2400" dirty="0" smtClean="0"/>
              <a:t>と</a:t>
            </a:r>
            <a:r>
              <a:rPr lang="en-US" altLang="ja-JP" sz="2400" dirty="0" smtClean="0"/>
              <a:t>c</a:t>
            </a:r>
            <a:r>
              <a:rPr lang="ja-JP" altLang="en-US" sz="2400" dirty="0" smtClean="0"/>
              <a:t>の積である。</a:t>
            </a:r>
            <a:endParaRPr kumimoji="1" lang="en-US" altLang="ja-JP" sz="2400"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sz="3600" dirty="0" smtClean="0"/>
              <a:t>結合性を考慮した文法の例</a:t>
            </a:r>
            <a:endParaRPr kumimoji="1" lang="ja-JP" altLang="en-US" sz="3600" dirty="0"/>
          </a:p>
        </p:txBody>
      </p:sp>
      <p:sp>
        <p:nvSpPr>
          <p:cNvPr id="5" name="テキスト ボックス 4"/>
          <p:cNvSpPr txBox="1"/>
          <p:nvPr/>
        </p:nvSpPr>
        <p:spPr>
          <a:xfrm>
            <a:off x="785786" y="1214422"/>
            <a:ext cx="7786742" cy="2677656"/>
          </a:xfrm>
          <a:prstGeom prst="rect">
            <a:avLst/>
          </a:prstGeom>
          <a:noFill/>
        </p:spPr>
        <p:txBody>
          <a:bodyPr wrap="square" rtlCol="0">
            <a:spAutoFit/>
          </a:bodyPr>
          <a:lstStyle/>
          <a:p>
            <a:r>
              <a:rPr kumimoji="1" lang="ja-JP" altLang="en-US" sz="2400" dirty="0" smtClean="0"/>
              <a:t>たとえば、</a:t>
            </a:r>
            <a:r>
              <a:rPr kumimoji="1" lang="en-US" altLang="ja-JP" sz="2400" dirty="0" smtClean="0"/>
              <a:t>+, -, </a:t>
            </a:r>
            <a:r>
              <a:rPr kumimoji="1" lang="ja-JP" altLang="en-US" sz="2400" dirty="0" smtClean="0"/>
              <a:t>数字からなる言語を考える。</a:t>
            </a:r>
            <a:endParaRPr kumimoji="1" lang="en-US" altLang="ja-JP" sz="2400" dirty="0" smtClean="0"/>
          </a:p>
          <a:p>
            <a:r>
              <a:rPr lang="en-US" altLang="ja-JP" sz="2400" dirty="0" smtClean="0"/>
              <a:t> </a:t>
            </a:r>
            <a:r>
              <a:rPr lang="en-US" altLang="ja-JP" sz="2400" dirty="0" smtClean="0"/>
              <a:t>&lt;E&gt; </a:t>
            </a:r>
            <a:r>
              <a:rPr lang="en-US" altLang="ja-JP" sz="2400" dirty="0" smtClean="0"/>
              <a:t>::= </a:t>
            </a:r>
            <a:r>
              <a:rPr lang="en-US" altLang="ja-JP" sz="2400" dirty="0" smtClean="0"/>
              <a:t>&lt;num&gt; </a:t>
            </a:r>
            <a:r>
              <a:rPr lang="en-US" altLang="ja-JP" sz="2400" dirty="0" smtClean="0"/>
              <a:t>| </a:t>
            </a:r>
            <a:r>
              <a:rPr lang="en-US" altLang="ja-JP" sz="2400" dirty="0" smtClean="0"/>
              <a:t>&lt;E&gt; </a:t>
            </a:r>
            <a:r>
              <a:rPr lang="en-US" altLang="ja-JP" sz="2400" dirty="0" smtClean="0"/>
              <a:t>+ </a:t>
            </a:r>
            <a:r>
              <a:rPr lang="en-US" altLang="ja-JP" sz="2400" dirty="0" smtClean="0"/>
              <a:t>&lt;E&gt; </a:t>
            </a:r>
            <a:r>
              <a:rPr lang="en-US" altLang="ja-JP" sz="2400" dirty="0" smtClean="0"/>
              <a:t>| </a:t>
            </a:r>
            <a:r>
              <a:rPr lang="en-US" altLang="ja-JP" sz="2400" dirty="0" smtClean="0"/>
              <a:t>&lt;E&gt; </a:t>
            </a:r>
            <a:r>
              <a:rPr lang="en-US" altLang="ja-JP" sz="2400" dirty="0" smtClean="0"/>
              <a:t>– </a:t>
            </a:r>
            <a:r>
              <a:rPr lang="en-US" altLang="ja-JP" sz="2400" dirty="0" smtClean="0"/>
              <a:t>&lt;E&gt;</a:t>
            </a:r>
            <a:endParaRPr lang="en-US" altLang="ja-JP" sz="2400" dirty="0" smtClean="0"/>
          </a:p>
          <a:p>
            <a:r>
              <a:rPr lang="ja-JP" altLang="en-US" sz="2400" dirty="0" smtClean="0"/>
              <a:t>は曖昧だが、</a:t>
            </a:r>
            <a:endParaRPr lang="en-US" altLang="ja-JP" sz="2400" dirty="0" smtClean="0"/>
          </a:p>
          <a:p>
            <a:r>
              <a:rPr lang="en-US" altLang="ja-JP" sz="2400" dirty="0" smtClean="0"/>
              <a:t> &lt;L&gt; </a:t>
            </a:r>
            <a:r>
              <a:rPr lang="en-US" altLang="ja-JP" sz="2400" dirty="0" smtClean="0"/>
              <a:t>::= </a:t>
            </a:r>
            <a:r>
              <a:rPr lang="en-US" altLang="ja-JP" sz="2400" dirty="0" smtClean="0"/>
              <a:t>&lt;num&gt; </a:t>
            </a:r>
            <a:r>
              <a:rPr lang="en-US" altLang="ja-JP" sz="2400" dirty="0" smtClean="0"/>
              <a:t>| </a:t>
            </a:r>
            <a:r>
              <a:rPr lang="en-US" altLang="ja-JP" sz="2400" dirty="0" smtClean="0"/>
              <a:t>&lt;L&gt; </a:t>
            </a:r>
            <a:r>
              <a:rPr lang="en-US" altLang="ja-JP" sz="2400" dirty="0" smtClean="0"/>
              <a:t>+ </a:t>
            </a:r>
            <a:r>
              <a:rPr lang="en-US" altLang="ja-JP" sz="2400" dirty="0" smtClean="0"/>
              <a:t>&lt;num&gt; </a:t>
            </a:r>
            <a:r>
              <a:rPr lang="en-US" altLang="ja-JP" sz="2400" dirty="0" smtClean="0"/>
              <a:t>| </a:t>
            </a:r>
            <a:r>
              <a:rPr lang="en-US" altLang="ja-JP" sz="2400" dirty="0" smtClean="0"/>
              <a:t>&lt;L&gt; </a:t>
            </a:r>
            <a:r>
              <a:rPr lang="en-US" altLang="ja-JP" sz="2400" dirty="0" smtClean="0"/>
              <a:t>– </a:t>
            </a:r>
            <a:r>
              <a:rPr lang="en-US" altLang="ja-JP" sz="2400" dirty="0" smtClean="0"/>
              <a:t>&lt;num&gt;</a:t>
            </a:r>
            <a:endParaRPr lang="en-US" altLang="ja-JP" sz="2400" dirty="0" smtClean="0"/>
          </a:p>
          <a:p>
            <a:r>
              <a:rPr lang="ja-JP" altLang="en-US" sz="2400" dirty="0" smtClean="0"/>
              <a:t>は曖昧ではなく、１つの文字列に１つの構文木が対応する。しかも</a:t>
            </a:r>
            <a:r>
              <a:rPr lang="en-US" altLang="ja-JP" sz="2400" dirty="0" smtClean="0"/>
              <a:t>+, - </a:t>
            </a:r>
            <a:r>
              <a:rPr lang="ja-JP" altLang="en-US" sz="2400" dirty="0" smtClean="0"/>
              <a:t>が左結合の場合の抽象構文木に近い具象構文木となっている。</a:t>
            </a:r>
            <a:endParaRPr kumimoji="1" lang="ja-JP" altLang="en-US" sz="2400" dirty="0"/>
          </a:p>
        </p:txBody>
      </p:sp>
      <p:sp>
        <p:nvSpPr>
          <p:cNvPr id="8" name="テキスト ボックス 7"/>
          <p:cNvSpPr txBox="1"/>
          <p:nvPr/>
        </p:nvSpPr>
        <p:spPr>
          <a:xfrm>
            <a:off x="2939144" y="4357694"/>
            <a:ext cx="571504" cy="523220"/>
          </a:xfrm>
          <a:prstGeom prst="rect">
            <a:avLst/>
          </a:prstGeom>
          <a:noFill/>
        </p:spPr>
        <p:txBody>
          <a:bodyPr wrap="square" rtlCol="0">
            <a:spAutoFit/>
          </a:bodyPr>
          <a:lstStyle/>
          <a:p>
            <a:r>
              <a:rPr lang="ja-JP" altLang="en-US" sz="2800" dirty="0" smtClean="0"/>
              <a:t>－</a:t>
            </a:r>
            <a:endParaRPr kumimoji="1" lang="ja-JP" altLang="en-US" sz="2800" dirty="0"/>
          </a:p>
        </p:txBody>
      </p:sp>
      <p:sp>
        <p:nvSpPr>
          <p:cNvPr id="9" name="テキスト ボックス 8"/>
          <p:cNvSpPr txBox="1"/>
          <p:nvPr/>
        </p:nvSpPr>
        <p:spPr>
          <a:xfrm>
            <a:off x="2367640" y="5120358"/>
            <a:ext cx="571504" cy="523220"/>
          </a:xfrm>
          <a:prstGeom prst="rect">
            <a:avLst/>
          </a:prstGeom>
          <a:noFill/>
        </p:spPr>
        <p:txBody>
          <a:bodyPr wrap="square" rtlCol="0">
            <a:spAutoFit/>
          </a:bodyPr>
          <a:lstStyle/>
          <a:p>
            <a:r>
              <a:rPr kumimoji="1" lang="ja-JP" altLang="en-US" sz="2800" dirty="0" smtClean="0"/>
              <a:t>－</a:t>
            </a:r>
            <a:endParaRPr kumimoji="1" lang="ja-JP" altLang="en-US" sz="2800" dirty="0"/>
          </a:p>
        </p:txBody>
      </p:sp>
      <p:cxnSp>
        <p:nvCxnSpPr>
          <p:cNvPr id="12" name="直線コネクタ 11"/>
          <p:cNvCxnSpPr/>
          <p:nvPr/>
        </p:nvCxnSpPr>
        <p:spPr>
          <a:xfrm rot="5400000">
            <a:off x="2689111" y="4893479"/>
            <a:ext cx="357190" cy="2857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p:cNvCxnSpPr/>
          <p:nvPr/>
        </p:nvCxnSpPr>
        <p:spPr>
          <a:xfrm rot="5400000">
            <a:off x="2117607" y="5536421"/>
            <a:ext cx="357190" cy="2857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rot="16200000" flipH="1">
            <a:off x="3332053" y="4893479"/>
            <a:ext cx="357190" cy="2857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rot="16200000" flipH="1">
            <a:off x="2760549" y="5536421"/>
            <a:ext cx="357190" cy="2857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テキスト ボックス 19"/>
          <p:cNvSpPr txBox="1"/>
          <p:nvPr/>
        </p:nvSpPr>
        <p:spPr>
          <a:xfrm>
            <a:off x="1928794" y="5786454"/>
            <a:ext cx="367408" cy="523220"/>
          </a:xfrm>
          <a:prstGeom prst="rect">
            <a:avLst/>
          </a:prstGeom>
          <a:noFill/>
        </p:spPr>
        <p:txBody>
          <a:bodyPr wrap="none" rtlCol="0">
            <a:spAutoFit/>
          </a:bodyPr>
          <a:lstStyle/>
          <a:p>
            <a:r>
              <a:rPr kumimoji="1" lang="en-US" altLang="ja-JP" sz="2800" dirty="0" smtClean="0"/>
              <a:t>4</a:t>
            </a:r>
            <a:endParaRPr kumimoji="1" lang="ja-JP" altLang="en-US" sz="2800" dirty="0"/>
          </a:p>
        </p:txBody>
      </p:sp>
      <p:sp>
        <p:nvSpPr>
          <p:cNvPr id="21" name="テキスト ボックス 20"/>
          <p:cNvSpPr txBox="1"/>
          <p:nvPr/>
        </p:nvSpPr>
        <p:spPr>
          <a:xfrm>
            <a:off x="3582086" y="5143512"/>
            <a:ext cx="367408" cy="523220"/>
          </a:xfrm>
          <a:prstGeom prst="rect">
            <a:avLst/>
          </a:prstGeom>
          <a:noFill/>
        </p:spPr>
        <p:txBody>
          <a:bodyPr wrap="none" rtlCol="0">
            <a:spAutoFit/>
          </a:bodyPr>
          <a:lstStyle/>
          <a:p>
            <a:r>
              <a:rPr kumimoji="1" lang="en-US" altLang="ja-JP" sz="2800" dirty="0" smtClean="0"/>
              <a:t>1</a:t>
            </a:r>
            <a:endParaRPr kumimoji="1" lang="ja-JP" altLang="en-US" sz="2800" dirty="0"/>
          </a:p>
        </p:txBody>
      </p:sp>
      <p:sp>
        <p:nvSpPr>
          <p:cNvPr id="22" name="テキスト ボックス 21"/>
          <p:cNvSpPr txBox="1"/>
          <p:nvPr/>
        </p:nvSpPr>
        <p:spPr>
          <a:xfrm>
            <a:off x="3010582" y="5786454"/>
            <a:ext cx="367408" cy="523220"/>
          </a:xfrm>
          <a:prstGeom prst="rect">
            <a:avLst/>
          </a:prstGeom>
          <a:noFill/>
        </p:spPr>
        <p:txBody>
          <a:bodyPr wrap="none" rtlCol="0">
            <a:spAutoFit/>
          </a:bodyPr>
          <a:lstStyle/>
          <a:p>
            <a:r>
              <a:rPr kumimoji="1" lang="en-US" altLang="ja-JP" sz="2800" dirty="0" smtClean="0"/>
              <a:t>2</a:t>
            </a:r>
            <a:endParaRPr kumimoji="1" lang="ja-JP" altLang="en-US" sz="2800" dirty="0"/>
          </a:p>
        </p:txBody>
      </p:sp>
      <p:sp>
        <p:nvSpPr>
          <p:cNvPr id="27" name="テキスト ボックス 26"/>
          <p:cNvSpPr txBox="1"/>
          <p:nvPr/>
        </p:nvSpPr>
        <p:spPr>
          <a:xfrm>
            <a:off x="7237074" y="3571876"/>
            <a:ext cx="357190" cy="523220"/>
          </a:xfrm>
          <a:prstGeom prst="rect">
            <a:avLst/>
          </a:prstGeom>
          <a:noFill/>
        </p:spPr>
        <p:txBody>
          <a:bodyPr wrap="square" rtlCol="0">
            <a:spAutoFit/>
          </a:bodyPr>
          <a:lstStyle/>
          <a:p>
            <a:r>
              <a:rPr lang="en-US" altLang="ja-JP" sz="2800" dirty="0" smtClean="0"/>
              <a:t>L</a:t>
            </a:r>
            <a:endParaRPr kumimoji="1" lang="ja-JP" altLang="en-US" sz="2800" dirty="0"/>
          </a:p>
        </p:txBody>
      </p:sp>
      <p:sp>
        <p:nvSpPr>
          <p:cNvPr id="28" name="テキスト ボックス 27"/>
          <p:cNvSpPr txBox="1"/>
          <p:nvPr/>
        </p:nvSpPr>
        <p:spPr>
          <a:xfrm>
            <a:off x="6665570" y="4214818"/>
            <a:ext cx="357190" cy="523220"/>
          </a:xfrm>
          <a:prstGeom prst="rect">
            <a:avLst/>
          </a:prstGeom>
          <a:noFill/>
        </p:spPr>
        <p:txBody>
          <a:bodyPr wrap="square" rtlCol="0">
            <a:spAutoFit/>
          </a:bodyPr>
          <a:lstStyle/>
          <a:p>
            <a:r>
              <a:rPr lang="en-US" altLang="ja-JP" sz="2800" dirty="0" smtClean="0"/>
              <a:t>L</a:t>
            </a:r>
            <a:endParaRPr kumimoji="1" lang="ja-JP" altLang="en-US" sz="2800" dirty="0"/>
          </a:p>
        </p:txBody>
      </p:sp>
      <p:cxnSp>
        <p:nvCxnSpPr>
          <p:cNvPr id="29" name="直線コネクタ 28"/>
          <p:cNvCxnSpPr/>
          <p:nvPr/>
        </p:nvCxnSpPr>
        <p:spPr>
          <a:xfrm rot="5400000">
            <a:off x="6915603" y="3987939"/>
            <a:ext cx="357190" cy="2857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p:nvCxnSpPr>
        <p:spPr>
          <a:xfrm rot="5400000">
            <a:off x="6344099" y="4630881"/>
            <a:ext cx="357190" cy="2857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rot="16200000" flipH="1">
            <a:off x="7558545" y="3987939"/>
            <a:ext cx="357190" cy="2857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p:nvCxnSpPr>
        <p:spPr>
          <a:xfrm rot="16200000" flipH="1">
            <a:off x="6987041" y="4630881"/>
            <a:ext cx="357190" cy="2857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テキスト ボックス 32"/>
          <p:cNvSpPr txBox="1"/>
          <p:nvPr/>
        </p:nvSpPr>
        <p:spPr>
          <a:xfrm>
            <a:off x="6204856" y="6215082"/>
            <a:ext cx="367408" cy="523220"/>
          </a:xfrm>
          <a:prstGeom prst="rect">
            <a:avLst/>
          </a:prstGeom>
          <a:noFill/>
        </p:spPr>
        <p:txBody>
          <a:bodyPr wrap="none" rtlCol="0">
            <a:spAutoFit/>
          </a:bodyPr>
          <a:lstStyle/>
          <a:p>
            <a:r>
              <a:rPr kumimoji="1" lang="en-US" altLang="ja-JP" sz="2800" dirty="0" smtClean="0"/>
              <a:t>4</a:t>
            </a:r>
            <a:endParaRPr kumimoji="1" lang="ja-JP" altLang="en-US" sz="2800" dirty="0"/>
          </a:p>
        </p:txBody>
      </p:sp>
      <p:sp>
        <p:nvSpPr>
          <p:cNvPr id="34" name="テキスト ボックス 33"/>
          <p:cNvSpPr txBox="1"/>
          <p:nvPr/>
        </p:nvSpPr>
        <p:spPr>
          <a:xfrm>
            <a:off x="8033110" y="5143512"/>
            <a:ext cx="357190" cy="523220"/>
          </a:xfrm>
          <a:prstGeom prst="rect">
            <a:avLst/>
          </a:prstGeom>
          <a:noFill/>
        </p:spPr>
        <p:txBody>
          <a:bodyPr wrap="square" rtlCol="0">
            <a:spAutoFit/>
          </a:bodyPr>
          <a:lstStyle/>
          <a:p>
            <a:r>
              <a:rPr kumimoji="1" lang="en-US" altLang="ja-JP" sz="2800" dirty="0" smtClean="0"/>
              <a:t>1</a:t>
            </a:r>
            <a:endParaRPr kumimoji="1" lang="ja-JP" altLang="en-US" sz="2800" dirty="0"/>
          </a:p>
        </p:txBody>
      </p:sp>
      <p:sp>
        <p:nvSpPr>
          <p:cNvPr id="35" name="テキスト ボックス 34"/>
          <p:cNvSpPr txBox="1"/>
          <p:nvPr/>
        </p:nvSpPr>
        <p:spPr>
          <a:xfrm>
            <a:off x="7318730" y="5643578"/>
            <a:ext cx="367408" cy="523220"/>
          </a:xfrm>
          <a:prstGeom prst="rect">
            <a:avLst/>
          </a:prstGeom>
          <a:noFill/>
        </p:spPr>
        <p:txBody>
          <a:bodyPr wrap="none" rtlCol="0">
            <a:spAutoFit/>
          </a:bodyPr>
          <a:lstStyle/>
          <a:p>
            <a:r>
              <a:rPr kumimoji="1" lang="en-US" altLang="ja-JP" sz="2800" dirty="0" smtClean="0"/>
              <a:t>2</a:t>
            </a:r>
            <a:endParaRPr kumimoji="1" lang="ja-JP" altLang="en-US" sz="2800" dirty="0"/>
          </a:p>
        </p:txBody>
      </p:sp>
      <p:cxnSp>
        <p:nvCxnSpPr>
          <p:cNvPr id="37" name="直線コネクタ 36"/>
          <p:cNvCxnSpPr>
            <a:stCxn id="27" idx="2"/>
          </p:cNvCxnSpPr>
          <p:nvPr/>
        </p:nvCxnSpPr>
        <p:spPr>
          <a:xfrm rot="16200000" flipH="1">
            <a:off x="7290652" y="4220112"/>
            <a:ext cx="285752" cy="357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テキスト ボックス 37"/>
          <p:cNvSpPr txBox="1"/>
          <p:nvPr/>
        </p:nvSpPr>
        <p:spPr>
          <a:xfrm>
            <a:off x="7165636" y="4309410"/>
            <a:ext cx="543739" cy="523220"/>
          </a:xfrm>
          <a:prstGeom prst="rect">
            <a:avLst/>
          </a:prstGeom>
          <a:noFill/>
        </p:spPr>
        <p:txBody>
          <a:bodyPr wrap="none" rtlCol="0">
            <a:spAutoFit/>
          </a:bodyPr>
          <a:lstStyle/>
          <a:p>
            <a:r>
              <a:rPr lang="ja-JP" altLang="en-US" sz="2800" dirty="0" smtClean="0"/>
              <a:t>－</a:t>
            </a:r>
            <a:endParaRPr lang="en-US" altLang="ja-JP" sz="2800" dirty="0" smtClean="0"/>
          </a:p>
        </p:txBody>
      </p:sp>
      <p:cxnSp>
        <p:nvCxnSpPr>
          <p:cNvPr id="39" name="直線コネクタ 38"/>
          <p:cNvCxnSpPr/>
          <p:nvPr/>
        </p:nvCxnSpPr>
        <p:spPr>
          <a:xfrm rot="16200000" flipH="1">
            <a:off x="6719148" y="4863054"/>
            <a:ext cx="285752" cy="357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テキスト ボックス 39"/>
          <p:cNvSpPr txBox="1"/>
          <p:nvPr/>
        </p:nvSpPr>
        <p:spPr>
          <a:xfrm>
            <a:off x="6594132" y="4929198"/>
            <a:ext cx="543739" cy="523220"/>
          </a:xfrm>
          <a:prstGeom prst="rect">
            <a:avLst/>
          </a:prstGeom>
          <a:noFill/>
        </p:spPr>
        <p:txBody>
          <a:bodyPr wrap="none" rtlCol="0">
            <a:spAutoFit/>
          </a:bodyPr>
          <a:lstStyle/>
          <a:p>
            <a:r>
              <a:rPr lang="ja-JP" altLang="en-US" sz="2800" dirty="0" smtClean="0"/>
              <a:t>－</a:t>
            </a:r>
            <a:endParaRPr lang="en-US" altLang="ja-JP" sz="2800" dirty="0" smtClean="0"/>
          </a:p>
        </p:txBody>
      </p:sp>
      <p:sp>
        <p:nvSpPr>
          <p:cNvPr id="41" name="テキスト ボックス 40"/>
          <p:cNvSpPr txBox="1"/>
          <p:nvPr/>
        </p:nvSpPr>
        <p:spPr>
          <a:xfrm>
            <a:off x="4429124" y="4143380"/>
            <a:ext cx="1467068" cy="707886"/>
          </a:xfrm>
          <a:prstGeom prst="rect">
            <a:avLst/>
          </a:prstGeom>
          <a:noFill/>
          <a:ln>
            <a:solidFill>
              <a:schemeClr val="tx1"/>
            </a:solidFill>
          </a:ln>
        </p:spPr>
        <p:txBody>
          <a:bodyPr wrap="none" rtlCol="0">
            <a:spAutoFit/>
          </a:bodyPr>
          <a:lstStyle/>
          <a:p>
            <a:r>
              <a:rPr lang="en-US" altLang="ja-JP" sz="2000" dirty="0" smtClean="0"/>
              <a:t>4-2-1</a:t>
            </a:r>
            <a:r>
              <a:rPr lang="ja-JP" altLang="en-US" sz="2000" dirty="0" smtClean="0"/>
              <a:t>の</a:t>
            </a:r>
            <a:endParaRPr lang="en-US" altLang="ja-JP" sz="2000" dirty="0" smtClean="0"/>
          </a:p>
          <a:p>
            <a:r>
              <a:rPr lang="ja-JP" altLang="en-US" sz="2000" dirty="0" smtClean="0"/>
              <a:t>具象</a:t>
            </a:r>
            <a:r>
              <a:rPr lang="ja-JP" altLang="en-US" sz="2000" dirty="0" smtClean="0"/>
              <a:t>構文木</a:t>
            </a:r>
            <a:endParaRPr kumimoji="1" lang="ja-JP" altLang="en-US" sz="2000" dirty="0"/>
          </a:p>
        </p:txBody>
      </p:sp>
      <p:sp>
        <p:nvSpPr>
          <p:cNvPr id="42" name="テキスト ボックス 41"/>
          <p:cNvSpPr txBox="1"/>
          <p:nvPr/>
        </p:nvSpPr>
        <p:spPr>
          <a:xfrm>
            <a:off x="928662" y="4357694"/>
            <a:ext cx="1467068" cy="707886"/>
          </a:xfrm>
          <a:prstGeom prst="rect">
            <a:avLst/>
          </a:prstGeom>
          <a:noFill/>
          <a:ln>
            <a:solidFill>
              <a:schemeClr val="tx1"/>
            </a:solidFill>
          </a:ln>
        </p:spPr>
        <p:txBody>
          <a:bodyPr wrap="none" rtlCol="0">
            <a:spAutoFit/>
          </a:bodyPr>
          <a:lstStyle/>
          <a:p>
            <a:r>
              <a:rPr lang="en-US" altLang="ja-JP" sz="2000" dirty="0" smtClean="0"/>
              <a:t>4-2-1</a:t>
            </a:r>
            <a:r>
              <a:rPr lang="ja-JP" altLang="en-US" sz="2000" dirty="0" smtClean="0"/>
              <a:t>の</a:t>
            </a:r>
            <a:endParaRPr lang="en-US" altLang="ja-JP" sz="2000" dirty="0" smtClean="0"/>
          </a:p>
          <a:p>
            <a:r>
              <a:rPr lang="ja-JP" altLang="en-US" sz="2000" dirty="0" smtClean="0"/>
              <a:t>抽象</a:t>
            </a:r>
            <a:r>
              <a:rPr lang="ja-JP" altLang="en-US" sz="2000" dirty="0" smtClean="0"/>
              <a:t>構文木</a:t>
            </a:r>
            <a:endParaRPr kumimoji="1" lang="ja-JP" altLang="en-US" sz="2000" dirty="0"/>
          </a:p>
        </p:txBody>
      </p:sp>
      <p:sp>
        <p:nvSpPr>
          <p:cNvPr id="36" name="テキスト ボックス 35"/>
          <p:cNvSpPr txBox="1"/>
          <p:nvPr/>
        </p:nvSpPr>
        <p:spPr>
          <a:xfrm>
            <a:off x="7747358" y="4357694"/>
            <a:ext cx="753732" cy="461665"/>
          </a:xfrm>
          <a:prstGeom prst="rect">
            <a:avLst/>
          </a:prstGeom>
          <a:noFill/>
        </p:spPr>
        <p:txBody>
          <a:bodyPr wrap="none" rtlCol="0">
            <a:spAutoFit/>
          </a:bodyPr>
          <a:lstStyle/>
          <a:p>
            <a:r>
              <a:rPr kumimoji="1" lang="en-US" altLang="ja-JP" sz="2400" dirty="0" smtClean="0"/>
              <a:t>num</a:t>
            </a:r>
            <a:endParaRPr kumimoji="1" lang="ja-JP" altLang="en-US" sz="2400" dirty="0"/>
          </a:p>
        </p:txBody>
      </p:sp>
      <p:cxnSp>
        <p:nvCxnSpPr>
          <p:cNvPr id="43" name="直線コネクタ 42"/>
          <p:cNvCxnSpPr/>
          <p:nvPr/>
        </p:nvCxnSpPr>
        <p:spPr>
          <a:xfrm rot="16200000" flipH="1">
            <a:off x="8033111" y="4929198"/>
            <a:ext cx="285753"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a:stCxn id="45" idx="2"/>
            <a:endCxn id="35" idx="0"/>
          </p:cNvCxnSpPr>
          <p:nvPr/>
        </p:nvCxnSpPr>
        <p:spPr>
          <a:xfrm rot="16200000" flipH="1">
            <a:off x="7348982" y="5490126"/>
            <a:ext cx="285752" cy="211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テキスト ボックス 44"/>
          <p:cNvSpPr txBox="1"/>
          <p:nvPr/>
        </p:nvSpPr>
        <p:spPr>
          <a:xfrm>
            <a:off x="7104416" y="4896161"/>
            <a:ext cx="753732" cy="461665"/>
          </a:xfrm>
          <a:prstGeom prst="rect">
            <a:avLst/>
          </a:prstGeom>
          <a:noFill/>
        </p:spPr>
        <p:txBody>
          <a:bodyPr wrap="none" rtlCol="0">
            <a:spAutoFit/>
          </a:bodyPr>
          <a:lstStyle/>
          <a:p>
            <a:r>
              <a:rPr kumimoji="1" lang="en-US" altLang="ja-JP" sz="2400" dirty="0" smtClean="0"/>
              <a:t>num</a:t>
            </a:r>
            <a:endParaRPr kumimoji="1" lang="ja-JP" altLang="en-US" sz="2400" dirty="0"/>
          </a:p>
        </p:txBody>
      </p:sp>
      <p:sp>
        <p:nvSpPr>
          <p:cNvPr id="47" name="テキスト ボックス 46"/>
          <p:cNvSpPr txBox="1"/>
          <p:nvPr/>
        </p:nvSpPr>
        <p:spPr>
          <a:xfrm>
            <a:off x="6000760" y="5572140"/>
            <a:ext cx="753732" cy="461665"/>
          </a:xfrm>
          <a:prstGeom prst="rect">
            <a:avLst/>
          </a:prstGeom>
          <a:noFill/>
        </p:spPr>
        <p:txBody>
          <a:bodyPr wrap="none" rtlCol="0">
            <a:spAutoFit/>
          </a:bodyPr>
          <a:lstStyle/>
          <a:p>
            <a:r>
              <a:rPr kumimoji="1" lang="en-US" altLang="ja-JP" sz="2400" dirty="0" smtClean="0"/>
              <a:t>num</a:t>
            </a:r>
            <a:endParaRPr kumimoji="1" lang="ja-JP" altLang="en-US" sz="2400" dirty="0"/>
          </a:p>
        </p:txBody>
      </p:sp>
      <p:sp>
        <p:nvSpPr>
          <p:cNvPr id="52" name="テキスト ボックス 51"/>
          <p:cNvSpPr txBox="1"/>
          <p:nvPr/>
        </p:nvSpPr>
        <p:spPr>
          <a:xfrm>
            <a:off x="6175722" y="4906044"/>
            <a:ext cx="357190" cy="523220"/>
          </a:xfrm>
          <a:prstGeom prst="rect">
            <a:avLst/>
          </a:prstGeom>
          <a:noFill/>
        </p:spPr>
        <p:txBody>
          <a:bodyPr wrap="square" rtlCol="0">
            <a:spAutoFit/>
          </a:bodyPr>
          <a:lstStyle/>
          <a:p>
            <a:r>
              <a:rPr lang="en-US" altLang="ja-JP" sz="2800" dirty="0" smtClean="0"/>
              <a:t>L</a:t>
            </a:r>
            <a:endParaRPr kumimoji="1" lang="ja-JP" altLang="en-US" sz="2800" dirty="0"/>
          </a:p>
        </p:txBody>
      </p:sp>
      <p:cxnSp>
        <p:nvCxnSpPr>
          <p:cNvPr id="53" name="直線コネクタ 52"/>
          <p:cNvCxnSpPr/>
          <p:nvPr/>
        </p:nvCxnSpPr>
        <p:spPr>
          <a:xfrm rot="16200000" flipH="1">
            <a:off x="6215075" y="5500702"/>
            <a:ext cx="285753"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線コネクタ 53"/>
          <p:cNvCxnSpPr/>
          <p:nvPr/>
        </p:nvCxnSpPr>
        <p:spPr>
          <a:xfrm rot="16200000" flipH="1">
            <a:off x="6215075" y="6143644"/>
            <a:ext cx="285753"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優先順位</a:t>
            </a:r>
            <a:r>
              <a:rPr lang="ja-JP" altLang="en-US" dirty="0" smtClean="0"/>
              <a:t>も</a:t>
            </a:r>
            <a:r>
              <a:rPr kumimoji="1" lang="ja-JP" altLang="en-US" dirty="0" smtClean="0"/>
              <a:t>考慮した文法の例</a:t>
            </a:r>
            <a:endParaRPr kumimoji="1" lang="ja-JP" altLang="en-US" dirty="0"/>
          </a:p>
        </p:txBody>
      </p:sp>
      <p:sp>
        <p:nvSpPr>
          <p:cNvPr id="4" name="テキスト ボックス 3"/>
          <p:cNvSpPr txBox="1"/>
          <p:nvPr/>
        </p:nvSpPr>
        <p:spPr>
          <a:xfrm>
            <a:off x="785786" y="1643050"/>
            <a:ext cx="7358114" cy="3539430"/>
          </a:xfrm>
          <a:prstGeom prst="rect">
            <a:avLst/>
          </a:prstGeom>
          <a:noFill/>
        </p:spPr>
        <p:txBody>
          <a:bodyPr wrap="square" rtlCol="0">
            <a:spAutoFit/>
          </a:bodyPr>
          <a:lstStyle/>
          <a:p>
            <a:r>
              <a:rPr kumimoji="1" lang="en-US" altLang="ja-JP" sz="2800" dirty="0" smtClean="0"/>
              <a:t>+, -, *, /, </a:t>
            </a:r>
            <a:r>
              <a:rPr kumimoji="1" lang="ja-JP" altLang="en-US" sz="2800" dirty="0" smtClean="0"/>
              <a:t>数字からなる言語を考える。</a:t>
            </a:r>
            <a:endParaRPr kumimoji="1" lang="en-US" altLang="ja-JP" sz="2800" dirty="0" smtClean="0"/>
          </a:p>
          <a:p>
            <a:r>
              <a:rPr lang="en-US" altLang="ja-JP" sz="2800" dirty="0" smtClean="0"/>
              <a:t>     </a:t>
            </a:r>
            <a:r>
              <a:rPr lang="en-US" altLang="ja-JP" sz="2800" dirty="0" smtClean="0"/>
              <a:t>&lt;E&gt; </a:t>
            </a:r>
            <a:r>
              <a:rPr lang="en-US" altLang="ja-JP" sz="2800" dirty="0" smtClean="0"/>
              <a:t>::= </a:t>
            </a:r>
            <a:r>
              <a:rPr lang="en-US" altLang="ja-JP" sz="2800" dirty="0" smtClean="0"/>
              <a:t>&lt;num&gt; </a:t>
            </a:r>
            <a:r>
              <a:rPr lang="en-US" altLang="ja-JP" sz="2800" dirty="0" smtClean="0"/>
              <a:t>| </a:t>
            </a:r>
            <a:r>
              <a:rPr lang="en-US" altLang="ja-JP" sz="2800" dirty="0" smtClean="0"/>
              <a:t>&lt;E&gt; </a:t>
            </a:r>
            <a:r>
              <a:rPr lang="en-US" altLang="ja-JP" sz="2800" dirty="0" smtClean="0"/>
              <a:t>+ </a:t>
            </a:r>
            <a:r>
              <a:rPr lang="en-US" altLang="ja-JP" sz="2800" dirty="0" smtClean="0"/>
              <a:t>&lt;E&gt; </a:t>
            </a:r>
            <a:r>
              <a:rPr lang="en-US" altLang="ja-JP" sz="2800" dirty="0" smtClean="0"/>
              <a:t>| </a:t>
            </a:r>
            <a:r>
              <a:rPr lang="en-US" altLang="ja-JP" sz="2800" dirty="0" smtClean="0"/>
              <a:t>&lt;E&gt; </a:t>
            </a:r>
            <a:r>
              <a:rPr lang="en-US" altLang="ja-JP" sz="2800" dirty="0" smtClean="0"/>
              <a:t>– </a:t>
            </a:r>
            <a:r>
              <a:rPr lang="en-US" altLang="ja-JP" sz="2800" dirty="0" smtClean="0"/>
              <a:t>&lt;E&gt; </a:t>
            </a:r>
          </a:p>
          <a:p>
            <a:r>
              <a:rPr lang="en-US" altLang="ja-JP" sz="2800" dirty="0" smtClean="0"/>
              <a:t> </a:t>
            </a:r>
            <a:r>
              <a:rPr lang="en-US" altLang="ja-JP" sz="2800" dirty="0" smtClean="0"/>
              <a:t>             </a:t>
            </a:r>
            <a:r>
              <a:rPr lang="en-US" altLang="ja-JP" sz="2800" dirty="0" smtClean="0"/>
              <a:t>|  &lt;E&gt; </a:t>
            </a:r>
            <a:r>
              <a:rPr lang="en-US" altLang="ja-JP" sz="2800" dirty="0" smtClean="0"/>
              <a:t>* </a:t>
            </a:r>
            <a:r>
              <a:rPr lang="en-US" altLang="ja-JP" sz="2800" dirty="0" smtClean="0"/>
              <a:t>&lt;E&gt; </a:t>
            </a:r>
            <a:r>
              <a:rPr lang="en-US" altLang="ja-JP" sz="2800" dirty="0" smtClean="0"/>
              <a:t>| </a:t>
            </a:r>
            <a:r>
              <a:rPr lang="en-US" altLang="ja-JP" sz="2800" dirty="0" smtClean="0"/>
              <a:t>&lt;E&gt; </a:t>
            </a:r>
            <a:r>
              <a:rPr lang="en-US" altLang="ja-JP" sz="2800" dirty="0" smtClean="0"/>
              <a:t>/ </a:t>
            </a:r>
            <a:r>
              <a:rPr lang="en-US" altLang="ja-JP" sz="2800" dirty="0" smtClean="0"/>
              <a:t>&lt;E&gt;</a:t>
            </a:r>
            <a:endParaRPr lang="en-US" altLang="ja-JP" sz="2800" dirty="0" smtClean="0"/>
          </a:p>
          <a:p>
            <a:r>
              <a:rPr lang="ja-JP" altLang="en-US" sz="2800" dirty="0" smtClean="0"/>
              <a:t>は曖昧だが、</a:t>
            </a:r>
            <a:endParaRPr lang="en-US" altLang="ja-JP" sz="2800" dirty="0" smtClean="0"/>
          </a:p>
          <a:p>
            <a:r>
              <a:rPr lang="en-US" altLang="ja-JP" sz="2800" dirty="0" smtClean="0"/>
              <a:t>     </a:t>
            </a:r>
            <a:r>
              <a:rPr lang="en-US" altLang="ja-JP" sz="2800" dirty="0" smtClean="0"/>
              <a:t>&lt;E&gt; </a:t>
            </a:r>
            <a:r>
              <a:rPr lang="en-US" altLang="ja-JP" sz="2800" dirty="0" smtClean="0"/>
              <a:t>::= </a:t>
            </a:r>
            <a:r>
              <a:rPr lang="en-US" altLang="ja-JP" sz="2800" dirty="0" smtClean="0"/>
              <a:t>&lt;E&gt; </a:t>
            </a:r>
            <a:r>
              <a:rPr lang="en-US" altLang="ja-JP" sz="2800" dirty="0" smtClean="0"/>
              <a:t>+ </a:t>
            </a:r>
            <a:r>
              <a:rPr lang="en-US" altLang="ja-JP" sz="2800" dirty="0" smtClean="0"/>
              <a:t>&lt;T&gt; </a:t>
            </a:r>
            <a:r>
              <a:rPr lang="en-US" altLang="ja-JP" sz="2800" dirty="0" smtClean="0"/>
              <a:t>| </a:t>
            </a:r>
            <a:r>
              <a:rPr lang="en-US" altLang="ja-JP" sz="2800" dirty="0" smtClean="0"/>
              <a:t>&lt;E&gt; </a:t>
            </a:r>
            <a:r>
              <a:rPr lang="en-US" altLang="ja-JP" sz="2800" dirty="0" smtClean="0"/>
              <a:t>– </a:t>
            </a:r>
            <a:r>
              <a:rPr lang="en-US" altLang="ja-JP" sz="2800" dirty="0" smtClean="0"/>
              <a:t>&lt;T&gt; </a:t>
            </a:r>
            <a:r>
              <a:rPr lang="en-US" altLang="ja-JP" sz="2800" dirty="0" smtClean="0"/>
              <a:t>| </a:t>
            </a:r>
            <a:r>
              <a:rPr lang="en-US" altLang="ja-JP" sz="2800" dirty="0" smtClean="0"/>
              <a:t>&lt;T&gt;</a:t>
            </a:r>
            <a:endParaRPr lang="en-US" altLang="ja-JP" sz="2800" dirty="0" smtClean="0"/>
          </a:p>
          <a:p>
            <a:r>
              <a:rPr lang="en-US" altLang="ja-JP" sz="2800" dirty="0" smtClean="0"/>
              <a:t>     </a:t>
            </a:r>
            <a:r>
              <a:rPr lang="en-US" altLang="ja-JP" sz="2800" dirty="0" smtClean="0"/>
              <a:t>&lt;T&gt; </a:t>
            </a:r>
            <a:r>
              <a:rPr lang="en-US" altLang="ja-JP" sz="2800" dirty="0" smtClean="0"/>
              <a:t>::= </a:t>
            </a:r>
            <a:r>
              <a:rPr lang="en-US" altLang="ja-JP" sz="2800" dirty="0" smtClean="0"/>
              <a:t>&lt;T&gt; </a:t>
            </a:r>
            <a:r>
              <a:rPr lang="en-US" altLang="ja-JP" sz="2800" dirty="0" smtClean="0"/>
              <a:t>* </a:t>
            </a:r>
            <a:r>
              <a:rPr lang="en-US" altLang="ja-JP" sz="2800" dirty="0" smtClean="0"/>
              <a:t>&lt;num&gt; </a:t>
            </a:r>
            <a:r>
              <a:rPr lang="en-US" altLang="ja-JP" sz="2800" dirty="0" smtClean="0"/>
              <a:t>| </a:t>
            </a:r>
            <a:r>
              <a:rPr lang="en-US" altLang="ja-JP" sz="2800" dirty="0" smtClean="0"/>
              <a:t>&lt;T&gt; </a:t>
            </a:r>
            <a:r>
              <a:rPr lang="en-US" altLang="ja-JP" sz="2800" dirty="0" smtClean="0"/>
              <a:t>/ </a:t>
            </a:r>
            <a:r>
              <a:rPr lang="en-US" altLang="ja-JP" sz="2800" dirty="0" smtClean="0"/>
              <a:t>&lt;num&gt; </a:t>
            </a:r>
            <a:r>
              <a:rPr lang="en-US" altLang="ja-JP" sz="2800" dirty="0" smtClean="0"/>
              <a:t>| </a:t>
            </a:r>
            <a:r>
              <a:rPr lang="en-US" altLang="ja-JP" sz="2800" dirty="0" smtClean="0"/>
              <a:t>&lt;num&gt;</a:t>
            </a:r>
            <a:endParaRPr lang="en-US" altLang="ja-JP" sz="2800" dirty="0" smtClean="0"/>
          </a:p>
          <a:p>
            <a:r>
              <a:rPr lang="ja-JP" altLang="en-US" sz="2800" dirty="0" smtClean="0"/>
              <a:t>は曖昧ではなく、１つの文字列に１つの構文木が対応する。</a:t>
            </a:r>
            <a:endParaRPr kumimoji="1" lang="ja-JP"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（参考）混ざった記法</a:t>
            </a:r>
            <a:r>
              <a:rPr lang="en-US" altLang="ja-JP" dirty="0" smtClean="0"/>
              <a:t>(</a:t>
            </a:r>
            <a:r>
              <a:rPr lang="en-US" altLang="ja-JP" dirty="0" err="1" smtClean="0"/>
              <a:t>mixfix</a:t>
            </a:r>
            <a:r>
              <a:rPr lang="en-US" altLang="ja-JP" dirty="0" smtClean="0"/>
              <a:t> notation)</a:t>
            </a:r>
            <a:endParaRPr kumimoji="1" lang="ja-JP" altLang="en-US" dirty="0"/>
          </a:p>
        </p:txBody>
      </p:sp>
      <p:sp>
        <p:nvSpPr>
          <p:cNvPr id="4" name="テキスト ボックス 3"/>
          <p:cNvSpPr txBox="1"/>
          <p:nvPr/>
        </p:nvSpPr>
        <p:spPr>
          <a:xfrm>
            <a:off x="928662" y="1857364"/>
            <a:ext cx="7500990" cy="3108543"/>
          </a:xfrm>
          <a:prstGeom prst="rect">
            <a:avLst/>
          </a:prstGeom>
          <a:noFill/>
        </p:spPr>
        <p:txBody>
          <a:bodyPr wrap="square" rtlCol="0">
            <a:spAutoFit/>
          </a:bodyPr>
          <a:lstStyle/>
          <a:p>
            <a:r>
              <a:rPr lang="ja-JP" altLang="en-US" sz="2800" dirty="0" smtClean="0"/>
              <a:t>複数個のキーワードを組み合わせた構文による演算は前置、中置、後置のどれにも当てはまらない。</a:t>
            </a:r>
            <a:endParaRPr lang="en-US" altLang="ja-JP" sz="2800" dirty="0" smtClean="0"/>
          </a:p>
          <a:p>
            <a:endParaRPr kumimoji="1" lang="en-US" altLang="ja-JP" sz="2800" dirty="0" smtClean="0"/>
          </a:p>
          <a:p>
            <a:r>
              <a:rPr kumimoji="1" lang="ja-JP" altLang="en-US" sz="2800" dirty="0" smtClean="0"/>
              <a:t>（例） </a:t>
            </a:r>
            <a:r>
              <a:rPr kumimoji="1" lang="en-US" altLang="ja-JP" sz="2800" b="1" dirty="0" smtClean="0"/>
              <a:t>if</a:t>
            </a:r>
            <a:r>
              <a:rPr kumimoji="1" lang="en-US" altLang="ja-JP" sz="2800" dirty="0" smtClean="0"/>
              <a:t> a &gt; b </a:t>
            </a:r>
            <a:r>
              <a:rPr kumimoji="1" lang="en-US" altLang="ja-JP" sz="2800" b="1" dirty="0" smtClean="0"/>
              <a:t>then</a:t>
            </a:r>
            <a:r>
              <a:rPr kumimoji="1" lang="en-US" altLang="ja-JP" sz="2800" dirty="0" smtClean="0"/>
              <a:t> a </a:t>
            </a:r>
            <a:r>
              <a:rPr kumimoji="1" lang="en-US" altLang="ja-JP" sz="2800" b="1" dirty="0" smtClean="0"/>
              <a:t>else</a:t>
            </a:r>
            <a:r>
              <a:rPr kumimoji="1" lang="en-US" altLang="ja-JP" sz="2800" dirty="0" smtClean="0"/>
              <a:t> b</a:t>
            </a:r>
            <a:r>
              <a:rPr lang="ja-JP" altLang="en-US" sz="2800" dirty="0" smtClean="0"/>
              <a:t> という式ではキーワード</a:t>
            </a:r>
            <a:r>
              <a:rPr lang="en-US" altLang="ja-JP" sz="2800" b="1" dirty="0" smtClean="0"/>
              <a:t>if</a:t>
            </a:r>
            <a:r>
              <a:rPr lang="en-US" altLang="ja-JP" sz="2800" dirty="0" smtClean="0"/>
              <a:t>, </a:t>
            </a:r>
            <a:r>
              <a:rPr lang="en-US" altLang="ja-JP" sz="2800" b="1" dirty="0" smtClean="0"/>
              <a:t>then</a:t>
            </a:r>
            <a:r>
              <a:rPr lang="en-US" altLang="ja-JP" sz="2800" dirty="0" smtClean="0"/>
              <a:t>, </a:t>
            </a:r>
            <a:r>
              <a:rPr lang="en-US" altLang="ja-JP" sz="2800" b="1" dirty="0" smtClean="0"/>
              <a:t>else</a:t>
            </a:r>
            <a:r>
              <a:rPr lang="ja-JP" altLang="en-US" sz="2800" dirty="0" smtClean="0"/>
              <a:t>が式の中に散らばっている。このようなものは</a:t>
            </a:r>
            <a:r>
              <a:rPr lang="en-US" altLang="ja-JP" sz="2800" dirty="0" err="1" smtClean="0"/>
              <a:t>mixfix</a:t>
            </a:r>
            <a:r>
              <a:rPr lang="en-US" altLang="ja-JP" sz="2800" dirty="0" smtClean="0"/>
              <a:t> notation</a:t>
            </a:r>
            <a:r>
              <a:rPr lang="ja-JP" altLang="en-US" sz="2800" dirty="0" smtClean="0"/>
              <a:t>と言われる。</a:t>
            </a:r>
            <a:endParaRPr kumimoji="1" lang="en-US" altLang="ja-JP" sz="2800" dirty="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式の評価</a:t>
            </a:r>
            <a:endParaRPr kumimoji="1" lang="ja-JP" altLang="en-US" dirty="0"/>
          </a:p>
        </p:txBody>
      </p:sp>
      <p:sp>
        <p:nvSpPr>
          <p:cNvPr id="4" name="テキスト ボックス 3"/>
          <p:cNvSpPr txBox="1"/>
          <p:nvPr/>
        </p:nvSpPr>
        <p:spPr>
          <a:xfrm>
            <a:off x="785786" y="1470242"/>
            <a:ext cx="7429552" cy="1815882"/>
          </a:xfrm>
          <a:prstGeom prst="rect">
            <a:avLst/>
          </a:prstGeom>
          <a:noFill/>
        </p:spPr>
        <p:txBody>
          <a:bodyPr wrap="square" rtlCol="0">
            <a:spAutoFit/>
          </a:bodyPr>
          <a:lstStyle/>
          <a:p>
            <a:r>
              <a:rPr kumimoji="1" lang="ja-JP" altLang="en-US" sz="2800" dirty="0" smtClean="0"/>
              <a:t>式 </a:t>
            </a:r>
            <a:r>
              <a:rPr kumimoji="1" lang="en-US" altLang="ja-JP" sz="2800" dirty="0" smtClean="0"/>
              <a:t>E1 op E2</a:t>
            </a:r>
            <a:r>
              <a:rPr kumimoji="1" lang="ja-JP" altLang="en-US" sz="2800" dirty="0" smtClean="0"/>
              <a:t>の評価は、部分式 </a:t>
            </a:r>
            <a:r>
              <a:rPr kumimoji="1" lang="en-US" altLang="ja-JP" sz="2800" dirty="0" smtClean="0"/>
              <a:t>E1 </a:t>
            </a:r>
            <a:r>
              <a:rPr kumimoji="1" lang="ja-JP" altLang="en-US" sz="2800" dirty="0" err="1" smtClean="0"/>
              <a:t>、</a:t>
            </a:r>
            <a:r>
              <a:rPr lang="en-US" altLang="ja-JP" sz="2800" dirty="0" smtClean="0"/>
              <a:t>E2</a:t>
            </a:r>
            <a:r>
              <a:rPr lang="ja-JP" altLang="en-US" sz="2800" dirty="0" err="1" smtClean="0"/>
              <a:t>を評</a:t>
            </a:r>
            <a:r>
              <a:rPr lang="ja-JP" altLang="en-US" sz="2800" dirty="0" smtClean="0"/>
              <a:t>価し、それらの結果の値に演算子</a:t>
            </a:r>
            <a:r>
              <a:rPr lang="en-US" altLang="ja-JP" sz="2800" dirty="0" smtClean="0"/>
              <a:t>op</a:t>
            </a:r>
            <a:r>
              <a:rPr lang="ja-JP" altLang="en-US" sz="2800" dirty="0" smtClean="0"/>
              <a:t>を適用することによって行われ、その結果の値が式</a:t>
            </a:r>
            <a:r>
              <a:rPr lang="en-US" altLang="ja-JP" sz="2800" dirty="0" smtClean="0"/>
              <a:t>E1 op E2</a:t>
            </a:r>
            <a:r>
              <a:rPr lang="ja-JP" altLang="en-US" sz="2800" dirty="0" smtClean="0"/>
              <a:t>の値である。</a:t>
            </a:r>
            <a:endParaRPr lang="en-US" altLang="ja-JP" sz="2800" dirty="0" smtClean="0"/>
          </a:p>
        </p:txBody>
      </p:sp>
      <p:sp>
        <p:nvSpPr>
          <p:cNvPr id="5" name="テキスト ボックス 4"/>
          <p:cNvSpPr txBox="1"/>
          <p:nvPr/>
        </p:nvSpPr>
        <p:spPr>
          <a:xfrm>
            <a:off x="1500166" y="3643314"/>
            <a:ext cx="4608954" cy="2677656"/>
          </a:xfrm>
          <a:prstGeom prst="rect">
            <a:avLst/>
          </a:prstGeom>
          <a:noFill/>
        </p:spPr>
        <p:txBody>
          <a:bodyPr wrap="none" rtlCol="0">
            <a:spAutoFit/>
          </a:bodyPr>
          <a:lstStyle/>
          <a:p>
            <a:r>
              <a:rPr kumimoji="1" lang="ja-JP" altLang="en-US" sz="2800" dirty="0" smtClean="0"/>
              <a:t>（例） </a:t>
            </a:r>
            <a:r>
              <a:rPr kumimoji="1" lang="en-US" altLang="ja-JP" sz="2800" dirty="0" smtClean="0"/>
              <a:t>7 * 7 – 4 * 2 * 3 </a:t>
            </a:r>
            <a:r>
              <a:rPr kumimoji="1" lang="ja-JP" altLang="en-US" sz="2800" dirty="0" smtClean="0"/>
              <a:t>の評価：</a:t>
            </a:r>
            <a:endParaRPr kumimoji="1" lang="en-US" altLang="ja-JP" sz="2800" dirty="0" smtClean="0"/>
          </a:p>
          <a:p>
            <a:r>
              <a:rPr lang="en-US" altLang="ja-JP" sz="2800" dirty="0" smtClean="0"/>
              <a:t>7 * 7 – 4 * 2 * 3 </a:t>
            </a:r>
          </a:p>
          <a:p>
            <a:r>
              <a:rPr kumimoji="1" lang="en-US" altLang="ja-JP" sz="2800" dirty="0" smtClean="0"/>
              <a:t>=  49 – 4 * 2 * 3</a:t>
            </a:r>
          </a:p>
          <a:p>
            <a:r>
              <a:rPr lang="en-US" altLang="ja-JP" sz="2800" dirty="0" smtClean="0"/>
              <a:t>=  49 –  8 * 3</a:t>
            </a:r>
          </a:p>
          <a:p>
            <a:r>
              <a:rPr lang="en-US" altLang="ja-JP" sz="2800" dirty="0" smtClean="0"/>
              <a:t>=  49 –  24</a:t>
            </a:r>
          </a:p>
          <a:p>
            <a:r>
              <a:rPr lang="en-US" altLang="ja-JP" sz="2800" dirty="0" smtClean="0"/>
              <a:t>=  25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後置記法の式の評価</a:t>
            </a:r>
            <a:endParaRPr kumimoji="1" lang="ja-JP" altLang="en-US" dirty="0"/>
          </a:p>
        </p:txBody>
      </p:sp>
      <p:sp>
        <p:nvSpPr>
          <p:cNvPr id="4" name="テキスト ボックス 3"/>
          <p:cNvSpPr txBox="1"/>
          <p:nvPr/>
        </p:nvSpPr>
        <p:spPr>
          <a:xfrm>
            <a:off x="714348" y="1357298"/>
            <a:ext cx="7715304" cy="4832092"/>
          </a:xfrm>
          <a:prstGeom prst="rect">
            <a:avLst/>
          </a:prstGeom>
          <a:noFill/>
        </p:spPr>
        <p:txBody>
          <a:bodyPr wrap="square" rtlCol="0">
            <a:spAutoFit/>
          </a:bodyPr>
          <a:lstStyle/>
          <a:p>
            <a:r>
              <a:rPr kumimoji="1" lang="ja-JP" altLang="en-US" sz="2800" dirty="0" smtClean="0"/>
              <a:t>（例） </a:t>
            </a:r>
            <a:r>
              <a:rPr kumimoji="1" lang="en-US" altLang="ja-JP" sz="2800" dirty="0" smtClean="0"/>
              <a:t>7 * 7 – 4 * 2 * 3 </a:t>
            </a:r>
            <a:r>
              <a:rPr kumimoji="1" lang="ja-JP" altLang="en-US" sz="2800" dirty="0" smtClean="0"/>
              <a:t>の評価：</a:t>
            </a:r>
            <a:endParaRPr kumimoji="1" lang="en-US" altLang="ja-JP" sz="2800" dirty="0" smtClean="0"/>
          </a:p>
          <a:p>
            <a:r>
              <a:rPr lang="ja-JP" altLang="en-US" sz="2800" dirty="0" smtClean="0"/>
              <a:t>まず、後置記法に直すと、</a:t>
            </a:r>
            <a:r>
              <a:rPr lang="en-US" altLang="ja-JP" sz="2800" dirty="0" smtClean="0"/>
              <a:t>7 7 * 4 2 * 3 * -</a:t>
            </a:r>
            <a:r>
              <a:rPr lang="ja-JP" altLang="en-US" sz="2800" dirty="0" smtClean="0"/>
              <a:t>となる。</a:t>
            </a:r>
            <a:endParaRPr kumimoji="1" lang="en-US" altLang="ja-JP" sz="2800" dirty="0" smtClean="0"/>
          </a:p>
          <a:p>
            <a:r>
              <a:rPr lang="ja-JP" altLang="en-US" sz="2800" dirty="0" smtClean="0"/>
              <a:t>一番左の演算子について、その前の２つの数に対して演算を行う。</a:t>
            </a:r>
            <a:endParaRPr lang="en-US" altLang="ja-JP" sz="2800" dirty="0" smtClean="0"/>
          </a:p>
          <a:p>
            <a:r>
              <a:rPr lang="en-US" altLang="ja-JP" sz="2800" dirty="0" smtClean="0"/>
              <a:t>7  7  *  4  2  *  3  *  -</a:t>
            </a:r>
          </a:p>
          <a:p>
            <a:r>
              <a:rPr lang="en-US" altLang="ja-JP" sz="2800" dirty="0" smtClean="0"/>
              <a:t>= 49  4  2  *  3  *  -</a:t>
            </a:r>
          </a:p>
          <a:p>
            <a:r>
              <a:rPr lang="en-US" altLang="ja-JP" sz="2800" dirty="0" smtClean="0"/>
              <a:t>= 49  8  3  *  -</a:t>
            </a:r>
          </a:p>
          <a:p>
            <a:r>
              <a:rPr lang="en-US" altLang="ja-JP" sz="2800" dirty="0" smtClean="0"/>
              <a:t>= 49  24  -</a:t>
            </a:r>
          </a:p>
          <a:p>
            <a:r>
              <a:rPr lang="en-US" altLang="ja-JP" sz="2800" dirty="0" smtClean="0"/>
              <a:t>= 25</a:t>
            </a:r>
          </a:p>
          <a:p>
            <a:r>
              <a:rPr lang="ja-JP" altLang="en-US" sz="2800" dirty="0" smtClean="0"/>
              <a:t>この評価はスタックを用いたアルゴリズムで行うことができる。</a:t>
            </a:r>
            <a:endParaRPr lang="en-US" altLang="ja-JP" sz="2800" dirty="0"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後置記法の式の評価アルゴリズム</a:t>
            </a:r>
            <a:endParaRPr kumimoji="1" lang="ja-JP" altLang="en-US" dirty="0"/>
          </a:p>
        </p:txBody>
      </p:sp>
      <p:sp>
        <p:nvSpPr>
          <p:cNvPr id="4" name="正方形/長方形 3"/>
          <p:cNvSpPr/>
          <p:nvPr/>
        </p:nvSpPr>
        <p:spPr>
          <a:xfrm>
            <a:off x="928662" y="1857364"/>
            <a:ext cx="7572428" cy="3539430"/>
          </a:xfrm>
          <a:prstGeom prst="rect">
            <a:avLst/>
          </a:prstGeom>
        </p:spPr>
        <p:txBody>
          <a:bodyPr wrap="square">
            <a:spAutoFit/>
          </a:bodyPr>
          <a:lstStyle/>
          <a:p>
            <a:r>
              <a:rPr lang="en-US" altLang="ja-JP" sz="2800" dirty="0" smtClean="0">
                <a:latin typeface="+mn-ea"/>
              </a:rPr>
              <a:t>(1) </a:t>
            </a:r>
            <a:r>
              <a:rPr lang="ja-JP" altLang="en-US" sz="2800" dirty="0" smtClean="0">
                <a:latin typeface="+mn-ea"/>
              </a:rPr>
              <a:t>式を後置記法に変換</a:t>
            </a:r>
          </a:p>
          <a:p>
            <a:r>
              <a:rPr lang="en-US" altLang="ja-JP" sz="2800" dirty="0" smtClean="0">
                <a:latin typeface="+mn-ea"/>
              </a:rPr>
              <a:t>(2) </a:t>
            </a:r>
            <a:r>
              <a:rPr lang="ja-JP" altLang="en-US" sz="2800" dirty="0" smtClean="0">
                <a:latin typeface="+mn-ea"/>
              </a:rPr>
              <a:t>後置記法の式を左から右へ見ていく。</a:t>
            </a:r>
          </a:p>
          <a:p>
            <a:r>
              <a:rPr lang="ja-JP" altLang="en-US" sz="2800" dirty="0" smtClean="0">
                <a:latin typeface="+mn-ea"/>
              </a:rPr>
              <a:t>     </a:t>
            </a:r>
            <a:r>
              <a:rPr lang="en-US" altLang="ja-JP" sz="2800" dirty="0" smtClean="0">
                <a:latin typeface="+mn-ea"/>
              </a:rPr>
              <a:t>(2-a) </a:t>
            </a:r>
            <a:r>
              <a:rPr lang="ja-JP" altLang="en-US" sz="2800" dirty="0" smtClean="0">
                <a:latin typeface="+mn-ea"/>
              </a:rPr>
              <a:t>数の場合、スタックへプッシュ</a:t>
            </a:r>
          </a:p>
          <a:p>
            <a:r>
              <a:rPr lang="ja-JP" altLang="en-US" sz="2800" dirty="0" smtClean="0">
                <a:latin typeface="+mn-ea"/>
              </a:rPr>
              <a:t>     </a:t>
            </a:r>
            <a:r>
              <a:rPr lang="en-US" altLang="ja-JP" sz="2800" dirty="0" smtClean="0">
                <a:latin typeface="+mn-ea"/>
              </a:rPr>
              <a:t>(2-b) </a:t>
            </a:r>
            <a:r>
              <a:rPr lang="ja-JP" altLang="en-US" sz="2800" dirty="0" smtClean="0">
                <a:latin typeface="+mn-ea"/>
              </a:rPr>
              <a:t>演算子</a:t>
            </a:r>
            <a:r>
              <a:rPr lang="en-US" altLang="ja-JP" sz="2800" dirty="0" smtClean="0">
                <a:latin typeface="+mn-ea"/>
              </a:rPr>
              <a:t>op</a:t>
            </a:r>
            <a:r>
              <a:rPr lang="ja-JP" altLang="en-US" sz="2800" dirty="0" smtClean="0">
                <a:latin typeface="+mn-ea"/>
              </a:rPr>
              <a:t>の場合、スタックから数を２個ポップし、それらに演算子</a:t>
            </a:r>
            <a:r>
              <a:rPr lang="en-US" altLang="ja-JP" sz="2800" dirty="0" smtClean="0">
                <a:latin typeface="+mn-ea"/>
              </a:rPr>
              <a:t>op</a:t>
            </a:r>
            <a:r>
              <a:rPr lang="ja-JP" altLang="en-US" sz="2800" dirty="0" smtClean="0">
                <a:latin typeface="+mn-ea"/>
              </a:rPr>
              <a:t>を適用し、結果をスタックへプッシュする。</a:t>
            </a:r>
            <a:endParaRPr lang="en-US" altLang="ja-JP" sz="2800" dirty="0" smtClean="0">
              <a:latin typeface="+mn-ea"/>
            </a:endParaRPr>
          </a:p>
          <a:p>
            <a:r>
              <a:rPr lang="en-US" altLang="ja-JP" sz="2800" dirty="0" smtClean="0">
                <a:latin typeface="+mn-ea"/>
              </a:rPr>
              <a:t>(3) </a:t>
            </a:r>
            <a:r>
              <a:rPr lang="ja-JP" altLang="en-US" sz="2800" dirty="0" smtClean="0">
                <a:latin typeface="+mn-ea"/>
              </a:rPr>
              <a:t>式をすべて見終わったときにスタック上にある数が式の評価結果である。</a:t>
            </a:r>
            <a:endParaRPr lang="ja-JP" altLang="en-US" sz="2800" dirty="0">
              <a:latin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評価の具体例</a:t>
            </a:r>
            <a:endParaRPr kumimoji="1" lang="ja-JP" altLang="en-US" dirty="0"/>
          </a:p>
        </p:txBody>
      </p:sp>
      <p:sp>
        <p:nvSpPr>
          <p:cNvPr id="4" name="テキスト ボックス 3"/>
          <p:cNvSpPr txBox="1"/>
          <p:nvPr/>
        </p:nvSpPr>
        <p:spPr>
          <a:xfrm>
            <a:off x="1214414" y="2244764"/>
            <a:ext cx="3137397" cy="3970318"/>
          </a:xfrm>
          <a:prstGeom prst="rect">
            <a:avLst/>
          </a:prstGeom>
          <a:noFill/>
        </p:spPr>
        <p:txBody>
          <a:bodyPr wrap="none" rtlCol="0">
            <a:spAutoFit/>
          </a:bodyPr>
          <a:lstStyle/>
          <a:p>
            <a:pPr marL="514350" indent="-514350"/>
            <a:r>
              <a:rPr lang="en-US" altLang="ja-JP" sz="2800" dirty="0" smtClean="0"/>
              <a:t> </a:t>
            </a:r>
            <a:r>
              <a:rPr lang="en-US" altLang="ja-JP" sz="2800" u="sng" dirty="0" smtClean="0">
                <a:solidFill>
                  <a:srgbClr val="FF0000"/>
                </a:solidFill>
              </a:rPr>
              <a:t>7</a:t>
            </a:r>
            <a:r>
              <a:rPr lang="en-US" altLang="ja-JP" sz="2800" dirty="0" smtClean="0"/>
              <a:t>  </a:t>
            </a:r>
            <a:r>
              <a:rPr kumimoji="1" lang="en-US" altLang="ja-JP" sz="2800" dirty="0" smtClean="0"/>
              <a:t>7  *  4  2 *  3  *  - </a:t>
            </a:r>
          </a:p>
          <a:p>
            <a:pPr marL="514350" indent="-514350"/>
            <a:r>
              <a:rPr lang="en-US" altLang="ja-JP" sz="2800" dirty="0" smtClean="0"/>
              <a:t> 7  </a:t>
            </a:r>
            <a:r>
              <a:rPr lang="en-US" altLang="ja-JP" sz="2800" u="sng" dirty="0" smtClean="0">
                <a:solidFill>
                  <a:srgbClr val="FF0000"/>
                </a:solidFill>
              </a:rPr>
              <a:t>7</a:t>
            </a:r>
            <a:r>
              <a:rPr lang="en-US" altLang="ja-JP" sz="2800" dirty="0" smtClean="0"/>
              <a:t>  *  4  2 *  3  *  - </a:t>
            </a:r>
          </a:p>
          <a:p>
            <a:pPr marL="514350" indent="-514350"/>
            <a:r>
              <a:rPr lang="en-US" altLang="ja-JP" sz="2800" dirty="0" smtClean="0"/>
              <a:t> 7  7  </a:t>
            </a:r>
            <a:r>
              <a:rPr lang="en-US" altLang="ja-JP" sz="2800" u="sng" dirty="0" smtClean="0">
                <a:solidFill>
                  <a:srgbClr val="FF0000"/>
                </a:solidFill>
              </a:rPr>
              <a:t>*</a:t>
            </a:r>
            <a:r>
              <a:rPr lang="en-US" altLang="ja-JP" sz="2800" dirty="0" smtClean="0"/>
              <a:t>  4  2 *  3  *  - </a:t>
            </a:r>
          </a:p>
          <a:p>
            <a:pPr marL="514350" indent="-514350"/>
            <a:r>
              <a:rPr lang="en-US" altLang="ja-JP" sz="2800" dirty="0" smtClean="0"/>
              <a:t> 7  7  *  </a:t>
            </a:r>
            <a:r>
              <a:rPr lang="en-US" altLang="ja-JP" sz="2800" u="sng" dirty="0" smtClean="0">
                <a:solidFill>
                  <a:srgbClr val="FF0000"/>
                </a:solidFill>
              </a:rPr>
              <a:t>4</a:t>
            </a:r>
            <a:r>
              <a:rPr lang="en-US" altLang="ja-JP" sz="2800" dirty="0" smtClean="0"/>
              <a:t>  2 *  3  *  - </a:t>
            </a:r>
          </a:p>
          <a:p>
            <a:pPr marL="514350" indent="-514350"/>
            <a:r>
              <a:rPr lang="en-US" altLang="ja-JP" sz="2800" dirty="0" smtClean="0"/>
              <a:t> 7  7  *  4  </a:t>
            </a:r>
            <a:r>
              <a:rPr lang="en-US" altLang="ja-JP" sz="2800" u="sng" dirty="0" smtClean="0">
                <a:solidFill>
                  <a:srgbClr val="FF0000"/>
                </a:solidFill>
              </a:rPr>
              <a:t>2</a:t>
            </a:r>
            <a:r>
              <a:rPr lang="en-US" altLang="ja-JP" sz="2800" dirty="0" smtClean="0"/>
              <a:t> *  3  *  - </a:t>
            </a:r>
          </a:p>
          <a:p>
            <a:pPr marL="514350" indent="-514350"/>
            <a:r>
              <a:rPr lang="en-US" altLang="ja-JP" sz="2800" dirty="0" smtClean="0"/>
              <a:t> 7  7  *  4  2 </a:t>
            </a:r>
            <a:r>
              <a:rPr lang="en-US" altLang="ja-JP" sz="2800" u="sng" dirty="0" smtClean="0">
                <a:solidFill>
                  <a:srgbClr val="FF0000"/>
                </a:solidFill>
              </a:rPr>
              <a:t>*</a:t>
            </a:r>
            <a:r>
              <a:rPr lang="en-US" altLang="ja-JP" sz="2800" dirty="0" smtClean="0"/>
              <a:t>  3  *  - </a:t>
            </a:r>
          </a:p>
          <a:p>
            <a:pPr marL="514350" indent="-514350"/>
            <a:r>
              <a:rPr lang="en-US" altLang="ja-JP" sz="2800" dirty="0" smtClean="0"/>
              <a:t> 7  7  *  4  2 *  </a:t>
            </a:r>
            <a:r>
              <a:rPr lang="en-US" altLang="ja-JP" sz="2800" u="sng" dirty="0" smtClean="0">
                <a:solidFill>
                  <a:srgbClr val="FF0000"/>
                </a:solidFill>
              </a:rPr>
              <a:t>3</a:t>
            </a:r>
            <a:r>
              <a:rPr lang="en-US" altLang="ja-JP" sz="2800" dirty="0" smtClean="0"/>
              <a:t>  *  - </a:t>
            </a:r>
          </a:p>
          <a:p>
            <a:pPr marL="514350" indent="-514350"/>
            <a:r>
              <a:rPr lang="en-US" altLang="ja-JP" sz="2800" dirty="0" smtClean="0"/>
              <a:t> 7  7  *  4  2 *  3  </a:t>
            </a:r>
            <a:r>
              <a:rPr lang="en-US" altLang="ja-JP" sz="2800" u="sng" dirty="0" smtClean="0">
                <a:solidFill>
                  <a:srgbClr val="FF0000"/>
                </a:solidFill>
              </a:rPr>
              <a:t>*</a:t>
            </a:r>
            <a:r>
              <a:rPr lang="en-US" altLang="ja-JP" sz="2800" dirty="0" smtClean="0"/>
              <a:t>  - </a:t>
            </a:r>
          </a:p>
          <a:p>
            <a:pPr marL="514350" indent="-514350"/>
            <a:r>
              <a:rPr lang="en-US" altLang="ja-JP" sz="2800" dirty="0" smtClean="0"/>
              <a:t> 7  7  *  4  2 *  3  *  </a:t>
            </a:r>
            <a:r>
              <a:rPr lang="en-US" altLang="ja-JP" sz="2800" u="sng" dirty="0" smtClean="0">
                <a:solidFill>
                  <a:srgbClr val="FF0000"/>
                </a:solidFill>
              </a:rPr>
              <a:t>-</a:t>
            </a:r>
            <a:r>
              <a:rPr lang="en-US" altLang="ja-JP" sz="2800" dirty="0" smtClean="0"/>
              <a:t> </a:t>
            </a:r>
            <a:endParaRPr kumimoji="1" lang="en-US" altLang="ja-JP" sz="2800" dirty="0" smtClean="0"/>
          </a:p>
        </p:txBody>
      </p:sp>
      <p:sp>
        <p:nvSpPr>
          <p:cNvPr id="5" name="テキスト ボックス 4"/>
          <p:cNvSpPr txBox="1"/>
          <p:nvPr/>
        </p:nvSpPr>
        <p:spPr>
          <a:xfrm>
            <a:off x="5500694" y="2244764"/>
            <a:ext cx="1324402" cy="3970318"/>
          </a:xfrm>
          <a:prstGeom prst="rect">
            <a:avLst/>
          </a:prstGeom>
          <a:noFill/>
        </p:spPr>
        <p:txBody>
          <a:bodyPr wrap="none" rtlCol="0">
            <a:spAutoFit/>
          </a:bodyPr>
          <a:lstStyle/>
          <a:p>
            <a:r>
              <a:rPr kumimoji="1" lang="en-US" altLang="ja-JP" sz="2800" dirty="0" smtClean="0"/>
              <a:t> 7</a:t>
            </a:r>
          </a:p>
          <a:p>
            <a:pPr marL="342900" indent="-342900"/>
            <a:r>
              <a:rPr lang="en-US" altLang="ja-JP" sz="2800" dirty="0" smtClean="0"/>
              <a:t> 7  7</a:t>
            </a:r>
          </a:p>
          <a:p>
            <a:pPr marL="342900" indent="-342900"/>
            <a:r>
              <a:rPr lang="en-US" altLang="ja-JP" sz="2800" dirty="0" smtClean="0"/>
              <a:t> 49</a:t>
            </a:r>
          </a:p>
          <a:p>
            <a:pPr marL="342900" indent="-342900"/>
            <a:r>
              <a:rPr lang="en-US" altLang="ja-JP" sz="2800" dirty="0" smtClean="0"/>
              <a:t> 49  4</a:t>
            </a:r>
          </a:p>
          <a:p>
            <a:pPr marL="342900" indent="-342900"/>
            <a:r>
              <a:rPr lang="en-US" altLang="ja-JP" sz="2800" dirty="0" smtClean="0"/>
              <a:t> 49  4  2</a:t>
            </a:r>
          </a:p>
          <a:p>
            <a:pPr marL="342900" indent="-342900"/>
            <a:r>
              <a:rPr lang="en-US" altLang="ja-JP" sz="2800" dirty="0" smtClean="0"/>
              <a:t> 49  8</a:t>
            </a:r>
          </a:p>
          <a:p>
            <a:pPr marL="342900" indent="-342900"/>
            <a:r>
              <a:rPr lang="en-US" altLang="ja-JP" sz="2800" dirty="0" smtClean="0"/>
              <a:t> 49  8  3</a:t>
            </a:r>
          </a:p>
          <a:p>
            <a:pPr marL="342900" indent="-342900"/>
            <a:r>
              <a:rPr lang="en-US" altLang="ja-JP" sz="2800" dirty="0" smtClean="0"/>
              <a:t> 49  24</a:t>
            </a:r>
          </a:p>
          <a:p>
            <a:pPr marL="342900" indent="-342900"/>
            <a:r>
              <a:rPr lang="en-US" altLang="ja-JP" sz="2800" dirty="0" smtClean="0"/>
              <a:t> 25</a:t>
            </a:r>
            <a:endParaRPr kumimoji="1" lang="ja-JP" altLang="en-US" sz="2800" dirty="0"/>
          </a:p>
        </p:txBody>
      </p:sp>
      <p:sp>
        <p:nvSpPr>
          <p:cNvPr id="6" name="テキスト ボックス 5"/>
          <p:cNvSpPr txBox="1"/>
          <p:nvPr/>
        </p:nvSpPr>
        <p:spPr>
          <a:xfrm>
            <a:off x="2214546" y="1571612"/>
            <a:ext cx="543739" cy="523220"/>
          </a:xfrm>
          <a:prstGeom prst="rect">
            <a:avLst/>
          </a:prstGeom>
          <a:noFill/>
        </p:spPr>
        <p:txBody>
          <a:bodyPr wrap="none" rtlCol="0">
            <a:spAutoFit/>
          </a:bodyPr>
          <a:lstStyle/>
          <a:p>
            <a:r>
              <a:rPr lang="ja-JP" altLang="en-US" sz="2800" dirty="0" smtClean="0"/>
              <a:t>式</a:t>
            </a:r>
            <a:endParaRPr kumimoji="1" lang="ja-JP" altLang="en-US" sz="2800" dirty="0"/>
          </a:p>
        </p:txBody>
      </p:sp>
      <p:sp>
        <p:nvSpPr>
          <p:cNvPr id="7" name="テキスト ボックス 6"/>
          <p:cNvSpPr txBox="1"/>
          <p:nvPr/>
        </p:nvSpPr>
        <p:spPr>
          <a:xfrm>
            <a:off x="5572132" y="1643050"/>
            <a:ext cx="1337226" cy="523220"/>
          </a:xfrm>
          <a:prstGeom prst="rect">
            <a:avLst/>
          </a:prstGeom>
          <a:noFill/>
        </p:spPr>
        <p:txBody>
          <a:bodyPr wrap="none" rtlCol="0">
            <a:spAutoFit/>
          </a:bodyPr>
          <a:lstStyle/>
          <a:p>
            <a:r>
              <a:rPr kumimoji="1" lang="ja-JP" altLang="en-US" sz="2800" dirty="0" smtClean="0"/>
              <a:t>スタック</a:t>
            </a:r>
            <a:endParaRPr kumimoji="1" lang="ja-JP" alt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演習問題</a:t>
            </a:r>
            <a:endParaRPr kumimoji="1" lang="ja-JP" altLang="en-US" dirty="0"/>
          </a:p>
        </p:txBody>
      </p:sp>
      <p:sp>
        <p:nvSpPr>
          <p:cNvPr id="4" name="テキスト ボックス 3"/>
          <p:cNvSpPr txBox="1"/>
          <p:nvPr/>
        </p:nvSpPr>
        <p:spPr>
          <a:xfrm>
            <a:off x="571473" y="1643050"/>
            <a:ext cx="8001056" cy="2246769"/>
          </a:xfrm>
          <a:prstGeom prst="rect">
            <a:avLst/>
          </a:prstGeom>
          <a:noFill/>
        </p:spPr>
        <p:txBody>
          <a:bodyPr wrap="square" rtlCol="0">
            <a:spAutoFit/>
          </a:bodyPr>
          <a:lstStyle/>
          <a:p>
            <a:r>
              <a:rPr lang="en-US" altLang="ja-JP" sz="2800" dirty="0" smtClean="0"/>
              <a:t> 2 + 3 * 4 – 5</a:t>
            </a:r>
            <a:r>
              <a:rPr lang="ja-JP" altLang="en-US" sz="2800" dirty="0" err="1" smtClean="0"/>
              <a:t>を後置</a:t>
            </a:r>
            <a:r>
              <a:rPr lang="ja-JP" altLang="en-US" sz="2800" dirty="0" smtClean="0"/>
              <a:t>記法に直し、スタックを用いて評価せよ。その際、さきほどのスライドのように、１ステップずつスタックの変化を記述し、また、各ステップで後置記法に直した式のどの部分を読んでいるかを示せ。</a:t>
            </a:r>
            <a:endParaRPr lang="en-US" altLang="ja-JP" sz="2800" dirty="0" smtClean="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437</TotalTime>
  <Words>2301</Words>
  <Application>Microsoft Office PowerPoint</Application>
  <PresentationFormat>画面に合わせる (4:3)</PresentationFormat>
  <Paragraphs>229</Paragraphs>
  <Slides>24</Slides>
  <Notes>5</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第４回 式の構文、式の評価</vt:lpstr>
      <vt:lpstr>（参考）Type 3 </vt:lpstr>
      <vt:lpstr>（参考）Type 2</vt:lpstr>
      <vt:lpstr>（参考）Type 1</vt:lpstr>
      <vt:lpstr>（参考）Type 0</vt:lpstr>
      <vt:lpstr>先週の補足: BNF記法</vt:lpstr>
      <vt:lpstr>式について</vt:lpstr>
      <vt:lpstr>式の記法</vt:lpstr>
      <vt:lpstr>前置記法(prefix notation)</vt:lpstr>
      <vt:lpstr>前置記法の補足</vt:lpstr>
      <vt:lpstr>後置記法(postfix notation)</vt:lpstr>
      <vt:lpstr>中置記法(infix notation)</vt:lpstr>
      <vt:lpstr>式の木表現</vt:lpstr>
      <vt:lpstr>抽象構文木の例： if式の場合</vt:lpstr>
      <vt:lpstr>中置記法における演算子の優先順位、結合性</vt:lpstr>
      <vt:lpstr>優先順位、結合性</vt:lpstr>
      <vt:lpstr>結合性を考慮した文法の例</vt:lpstr>
      <vt:lpstr>優先順位も考慮した文法の例</vt:lpstr>
      <vt:lpstr>（参考）混ざった記法(mixfix notation)</vt:lpstr>
      <vt:lpstr>式の評価</vt:lpstr>
      <vt:lpstr>後置記法の式の評価</vt:lpstr>
      <vt:lpstr>後置記法の式の評価アルゴリズム</vt:lpstr>
      <vt:lpstr>評価の具体例</vt:lpstr>
      <vt:lpstr>演習問題</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第４回</dc:title>
  <dc:creator>sasano</dc:creator>
  <cp:lastModifiedBy>sasano</cp:lastModifiedBy>
  <cp:revision>262</cp:revision>
  <dcterms:created xsi:type="dcterms:W3CDTF">2009-10-02T08:59:55Z</dcterms:created>
  <dcterms:modified xsi:type="dcterms:W3CDTF">2009-10-19T09:56:58Z</dcterms:modified>
</cp:coreProperties>
</file>