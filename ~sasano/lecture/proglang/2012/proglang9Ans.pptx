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303" r:id="rId3"/>
    <p:sldId id="333" r:id="rId4"/>
    <p:sldId id="310" r:id="rId5"/>
    <p:sldId id="334" r:id="rId6"/>
    <p:sldId id="312" r:id="rId7"/>
    <p:sldId id="335" r:id="rId8"/>
    <p:sldId id="315" r:id="rId9"/>
    <p:sldId id="316" r:id="rId10"/>
    <p:sldId id="336" r:id="rId11"/>
    <p:sldId id="322" r:id="rId12"/>
    <p:sldId id="337" r:id="rId13"/>
    <p:sldId id="324" r:id="rId14"/>
    <p:sldId id="338" r:id="rId15"/>
    <p:sldId id="331" r:id="rId16"/>
    <p:sldId id="339" r:id="rId17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6"/>
    <a:srgbClr val="E2EBF6"/>
    <a:srgbClr val="5C9CEE"/>
    <a:srgbClr val="80B2F0"/>
    <a:srgbClr val="99C1F1"/>
    <a:srgbClr val="AACBF2"/>
    <a:srgbClr val="BDD4F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12" y="-1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5F848B24-6C04-CB4D-82DD-5D72D73C885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469537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887A748-0296-554F-B117-7BE06620B22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906565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390A1DF-6852-9A4A-BE44-48CB551065D3}" type="slidenum">
              <a:rPr lang="en-US" altLang="ja-JP" sz="1200"/>
              <a:pPr/>
              <a:t>1</a:t>
            </a:fld>
            <a:endParaRPr lang="en-US" altLang="ja-JP" sz="1200"/>
          </a:p>
        </p:txBody>
      </p:sp>
      <p:sp>
        <p:nvSpPr>
          <p:cNvPr id="163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B4320-DB7A-714A-8FF4-2C61692A1F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27242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A0CE3-B2D8-FE47-9D12-D463D40E59F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6535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270F16-0143-5D41-B0D6-09AA6EC87AE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99751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41A96-CC70-C645-9C46-FED0CBFA93D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6740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55A5F0-6A83-5E48-8BFE-3C281D35499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0027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D4F583-7252-D443-980E-142E5E1C748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3482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0C65D-4035-A542-B1E9-F7E86DD4FA3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44659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2A99A-92EE-CB49-B272-9377F9DBB9E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765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25466-4F49-324E-86F9-77550F13069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51716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F0EE1D-F1A7-1E47-B0EB-25E22C8CADA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48761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1B7A2-E9A0-8540-8E59-83F761E4A43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4856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/>
            </a:lvl1pPr>
          </a:lstStyle>
          <a:p>
            <a:pPr>
              <a:defRPr/>
            </a:pPr>
            <a:fld id="{4A922575-F5CA-5C41-9C68-F38DCFCA508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38" y="1714500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プログラミング言語論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43063" y="4786313"/>
            <a:ext cx="5715000" cy="642937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情報工学科　篠埜　功</a:t>
            </a:r>
          </a:p>
        </p:txBody>
      </p:sp>
      <p:sp>
        <p:nvSpPr>
          <p:cNvPr id="15363" name="正方形/長方形 3"/>
          <p:cNvSpPr>
            <a:spLocks noChangeArrowheads="1"/>
          </p:cNvSpPr>
          <p:nvPr/>
        </p:nvSpPr>
        <p:spPr bwMode="auto">
          <a:xfrm>
            <a:off x="1857375" y="3286125"/>
            <a:ext cx="55721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ja-JP" altLang="en-US" sz="3200" b="0"/>
              <a:t>第９回　型について</a:t>
            </a:r>
            <a:endParaRPr lang="en-US" altLang="ja-JP" sz="3200" b="0"/>
          </a:p>
          <a:p>
            <a:pPr algn="ctr"/>
            <a:r>
              <a:rPr lang="ja-JP" altLang="en-US" sz="3200" b="0"/>
              <a:t>練習問題解答例</a:t>
            </a:r>
            <a:endParaRPr lang="en-US" altLang="ja-JP" sz="3200" b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17410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char ( * ( * y [3] ) ( ) ) [ 5 ]  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の宣言を型の後置記法による宣言に直せ。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18434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char ( * ( * y [3] ) ( ) ) [ 5 ] 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の宣言を型宣言の形に直す。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内側から順に読むと、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[3]  *  ( )  *  [ 5 ]  char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となり、逆順にして、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y : char [ 5 ]  *  ( )  *  [3]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となる。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19458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(1) int  * z;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(2) int c [ 13 ];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altLang="ja-JP" dirty="0" smtClean="0">
                <a:cs typeface="+mn-cs"/>
              </a:rPr>
              <a:t>(1)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 * z;</a:t>
            </a:r>
          </a:p>
          <a:p>
            <a:pPr>
              <a:buFontTx/>
              <a:buNone/>
              <a:defRPr/>
            </a:pPr>
            <a:r>
              <a:rPr lang="en-US" altLang="ja-JP" dirty="0" smtClean="0">
                <a:cs typeface="+mn-cs"/>
              </a:rPr>
              <a:t>(2) </a:t>
            </a:r>
            <a:r>
              <a:rPr lang="en-US" altLang="ja-JP" dirty="0" err="1">
                <a:cs typeface="+mn-cs"/>
              </a:rPr>
              <a:t>i</a:t>
            </a:r>
            <a:r>
              <a:rPr lang="en-US" altLang="ja-JP" dirty="0" err="1" smtClean="0">
                <a:cs typeface="+mn-cs"/>
              </a:rPr>
              <a:t>nt</a:t>
            </a:r>
            <a:r>
              <a:rPr lang="en-US" altLang="ja-JP" dirty="0" smtClean="0">
                <a:cs typeface="+mn-cs"/>
              </a:rPr>
              <a:t> c [ 13 ];</a:t>
            </a:r>
          </a:p>
          <a:p>
            <a:pPr>
              <a:buFontTx/>
              <a:buNone/>
              <a:defRPr/>
            </a:pPr>
            <a:r>
              <a:rPr lang="ja-JP" altLang="en-US" dirty="0" err="1" smtClean="0">
                <a:cs typeface="+mn-cs"/>
              </a:rPr>
              <a:t>を後置</a:t>
            </a:r>
            <a:r>
              <a:rPr lang="ja-JP" altLang="en-US" dirty="0" smtClean="0">
                <a:cs typeface="+mn-cs"/>
              </a:rPr>
              <a:t>記法に直すと、</a:t>
            </a:r>
            <a:endParaRPr lang="en-US" altLang="ja-JP" dirty="0" smtClean="0">
              <a:cs typeface="+mn-cs"/>
            </a:endParaRP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 smtClean="0">
                <a:cs typeface="+mn-cs"/>
              </a:rPr>
              <a:t> z :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*</a:t>
            </a: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 smtClean="0">
                <a:cs typeface="+mn-cs"/>
              </a:rPr>
              <a:t> c :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[13]</a:t>
            </a:r>
          </a:p>
          <a:p>
            <a:pPr marL="514350" indent="-514350">
              <a:buFontTx/>
              <a:buNone/>
              <a:defRPr/>
            </a:pPr>
            <a:r>
              <a:rPr lang="ja-JP" altLang="en-US" dirty="0" smtClean="0">
                <a:cs typeface="+mn-cs"/>
              </a:rPr>
              <a:t>となる。</a:t>
            </a:r>
            <a:endParaRPr lang="en-US" altLang="ja-JP" dirty="0" smtClean="0"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21506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(1) int  (*a) [13];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(2) int b[2][13];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r>
              <a:rPr lang="en-US" altLang="ja-JP" dirty="0" smtClean="0">
                <a:cs typeface="+mn-cs"/>
              </a:rPr>
              <a:t>(1)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 (*a) [13];</a:t>
            </a:r>
          </a:p>
          <a:p>
            <a:pPr>
              <a:buFontTx/>
              <a:buNone/>
              <a:defRPr/>
            </a:pPr>
            <a:r>
              <a:rPr lang="en-US" altLang="ja-JP" dirty="0" smtClean="0">
                <a:cs typeface="+mn-cs"/>
              </a:rPr>
              <a:t>(2)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b[2][13];</a:t>
            </a:r>
          </a:p>
          <a:p>
            <a:pPr>
              <a:buFontTx/>
              <a:buNone/>
              <a:defRPr/>
            </a:pPr>
            <a:r>
              <a:rPr lang="ja-JP" altLang="en-US" dirty="0" err="1" smtClean="0">
                <a:cs typeface="+mn-cs"/>
              </a:rPr>
              <a:t>を後置</a:t>
            </a:r>
            <a:r>
              <a:rPr lang="ja-JP" altLang="en-US" dirty="0" smtClean="0">
                <a:cs typeface="+mn-cs"/>
              </a:rPr>
              <a:t>記法に直すと、</a:t>
            </a:r>
            <a:endParaRPr lang="en-US" altLang="ja-JP" dirty="0" smtClean="0">
              <a:cs typeface="+mn-cs"/>
            </a:endParaRPr>
          </a:p>
          <a:p>
            <a:pPr>
              <a:buFontTx/>
              <a:buNone/>
              <a:defRPr/>
            </a:pPr>
            <a:endParaRPr lang="en-US" altLang="ja-JP" dirty="0" smtClean="0">
              <a:cs typeface="+mn-cs"/>
            </a:endParaRP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 smtClean="0">
                <a:cs typeface="+mn-cs"/>
              </a:rPr>
              <a:t> a : 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[13]  *</a:t>
            </a:r>
          </a:p>
          <a:p>
            <a:pPr marL="514350" indent="-514350">
              <a:buFontTx/>
              <a:buAutoNum type="arabicParenBoth"/>
              <a:defRPr/>
            </a:pPr>
            <a:r>
              <a:rPr lang="en-US" altLang="ja-JP" dirty="0" smtClean="0">
                <a:cs typeface="+mn-cs"/>
              </a:rPr>
              <a:t> b : </a:t>
            </a:r>
            <a:r>
              <a:rPr lang="en-US" altLang="ja-JP" dirty="0" err="1" smtClean="0">
                <a:cs typeface="+mn-cs"/>
              </a:rPr>
              <a:t>int</a:t>
            </a:r>
            <a:r>
              <a:rPr lang="en-US" altLang="ja-JP" dirty="0" smtClean="0">
                <a:cs typeface="+mn-cs"/>
              </a:rPr>
              <a:t>  [13] [2]</a:t>
            </a:r>
          </a:p>
          <a:p>
            <a:pPr marL="514350" indent="-514350">
              <a:buFontTx/>
              <a:buNone/>
              <a:defRPr/>
            </a:pPr>
            <a:r>
              <a:rPr lang="ja-JP" altLang="en-US" dirty="0" smtClean="0">
                <a:cs typeface="+mn-cs"/>
              </a:rPr>
              <a:t>となる。</a:t>
            </a:r>
            <a:endParaRPr lang="en-US" altLang="ja-JP" dirty="0" smtClean="0"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タイトル 1"/>
          <p:cNvSpPr>
            <a:spLocks noGrp="1"/>
          </p:cNvSpPr>
          <p:nvPr>
            <p:ph type="title"/>
          </p:nvPr>
        </p:nvSpPr>
        <p:spPr>
          <a:xfrm>
            <a:off x="642938" y="428625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例</a:t>
            </a:r>
          </a:p>
        </p:txBody>
      </p:sp>
      <p:sp>
        <p:nvSpPr>
          <p:cNvPr id="23554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38" y="1500188"/>
            <a:ext cx="7772400" cy="50006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char ( * ( * y [3] ) ( ) ) [ 5 ]  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の宣言のもとで、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</a:t>
            </a:r>
            <a:r>
              <a:rPr lang="ja-JP" altLang="en-US">
                <a:latin typeface="Arial" charset="0"/>
                <a:ea typeface="ＭＳ Ｐゴシック" charset="0"/>
              </a:rPr>
              <a:t>式 </a:t>
            </a:r>
            <a:r>
              <a:rPr lang="en-US" altLang="ja-JP">
                <a:latin typeface="Arial" charset="0"/>
                <a:ea typeface="ＭＳ Ｐゴシック" charset="0"/>
              </a:rPr>
              <a:t>y [ 2 ] </a:t>
            </a:r>
            <a:r>
              <a:rPr lang="ja-JP" altLang="en-US">
                <a:latin typeface="Arial" charset="0"/>
                <a:ea typeface="ＭＳ Ｐゴシック" charset="0"/>
              </a:rPr>
              <a:t>はどういう型を持つか。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y : char [ 5 ]  *  ( )  *  [3]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となり、一番外側の</a:t>
            </a:r>
            <a:r>
              <a:rPr lang="en-US" altLang="ja-JP">
                <a:latin typeface="Arial" charset="0"/>
                <a:ea typeface="ＭＳ Ｐゴシック" charset="0"/>
              </a:rPr>
              <a:t>[3]</a:t>
            </a:r>
            <a:r>
              <a:rPr lang="ja-JP" altLang="en-US">
                <a:latin typeface="Arial" charset="0"/>
                <a:ea typeface="ＭＳ Ｐゴシック" charset="0"/>
              </a:rPr>
              <a:t>を取り除いて、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y [2] </a:t>
            </a:r>
            <a:r>
              <a:rPr lang="ja-JP" altLang="en-US">
                <a:latin typeface="Arial" charset="0"/>
                <a:ea typeface="ＭＳ Ｐゴシック" charset="0"/>
              </a:rPr>
              <a:t> </a:t>
            </a:r>
            <a:r>
              <a:rPr lang="en-US" altLang="ja-JP">
                <a:latin typeface="Arial" charset="0"/>
                <a:ea typeface="ＭＳ Ｐゴシック" charset="0"/>
              </a:rPr>
              <a:t>: char [ 5 ] * ( ) *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となる。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24578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int  (*a) [13];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の宣言のもとで、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</a:t>
            </a:r>
            <a:r>
              <a:rPr lang="ja-JP" altLang="en-US">
                <a:latin typeface="Arial" charset="0"/>
                <a:ea typeface="ＭＳ Ｐゴシック" charset="0"/>
              </a:rPr>
              <a:t>式  </a:t>
            </a:r>
            <a:r>
              <a:rPr lang="en-US" altLang="ja-JP">
                <a:latin typeface="Arial" charset="0"/>
                <a:ea typeface="ＭＳ Ｐゴシック" charset="0"/>
              </a:rPr>
              <a:t>*a </a:t>
            </a:r>
            <a:r>
              <a:rPr lang="ja-JP" altLang="en-US">
                <a:latin typeface="Arial" charset="0"/>
                <a:ea typeface="ＭＳ Ｐゴシック" charset="0"/>
              </a:rPr>
              <a:t>の型は何か。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5602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int  (*a) [13];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を後置記法に直すと、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a: int  [13]  *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となり、式 </a:t>
            </a:r>
            <a:r>
              <a:rPr lang="en-US" altLang="ja-JP">
                <a:latin typeface="Arial" charset="0"/>
                <a:ea typeface="ＭＳ Ｐゴシック" charset="0"/>
              </a:rPr>
              <a:t>*a </a:t>
            </a:r>
            <a:r>
              <a:rPr lang="ja-JP" altLang="en-US">
                <a:latin typeface="Arial" charset="0"/>
                <a:ea typeface="ＭＳ Ｐゴシック" charset="0"/>
              </a:rPr>
              <a:t>の型は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*a : int [13]</a:t>
            </a:r>
          </a:p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となる。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26626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2143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</a:t>
            </a:r>
            <a:r>
              <a:rPr lang="ja-JP" altLang="en-US" sz="2800">
                <a:latin typeface="Arial" charset="0"/>
                <a:ea typeface="ＭＳ Ｐゴシック" charset="0"/>
              </a:rPr>
              <a:t>式  </a:t>
            </a:r>
            <a:r>
              <a:rPr lang="en-US" altLang="ja-JP" sz="2800">
                <a:latin typeface="Arial" charset="0"/>
                <a:ea typeface="ＭＳ Ｐゴシック" charset="0"/>
              </a:rPr>
              <a:t>b [1] 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の型は、何になるか。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これを、型宣言から推論規則で導け。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7650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30718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まず、後置記法で書きなおすと、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b :  int [13] [2]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となる。これを出発点とし、式</a:t>
            </a:r>
            <a:r>
              <a:rPr lang="en-US" altLang="ja-JP" sz="2800">
                <a:latin typeface="Arial" charset="0"/>
                <a:ea typeface="ＭＳ Ｐゴシック" charset="0"/>
              </a:rPr>
              <a:t>B[1]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の型を推論規則を使って導出する。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  <p:sp>
        <p:nvSpPr>
          <p:cNvPr id="27651" name="テキスト ボックス 6"/>
          <p:cNvSpPr txBox="1">
            <a:spLocks noChangeArrowheads="1"/>
          </p:cNvSpPr>
          <p:nvPr/>
        </p:nvSpPr>
        <p:spPr bwMode="auto">
          <a:xfrm>
            <a:off x="2143125" y="4500563"/>
            <a:ext cx="249713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b  : int [13] [2]</a:t>
            </a:r>
          </a:p>
          <a:p>
            <a:r>
              <a:rPr lang="en-US" altLang="ja-JP" sz="2800" b="0"/>
              <a:t> b [1]  : int [13]</a:t>
            </a:r>
          </a:p>
        </p:txBody>
      </p:sp>
      <p:cxnSp>
        <p:nvCxnSpPr>
          <p:cNvPr id="27652" name="直線コネクタ 8"/>
          <p:cNvCxnSpPr>
            <a:cxnSpLocks noChangeShapeType="1"/>
          </p:cNvCxnSpPr>
          <p:nvPr/>
        </p:nvCxnSpPr>
        <p:spPr bwMode="auto">
          <a:xfrm>
            <a:off x="1857375" y="5000625"/>
            <a:ext cx="32146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28674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21431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</a:t>
            </a:r>
            <a:r>
              <a:rPr lang="ja-JP" altLang="en-US" sz="2800">
                <a:latin typeface="Arial" charset="0"/>
                <a:ea typeface="ＭＳ Ｐゴシック" charset="0"/>
              </a:rPr>
              <a:t>式  </a:t>
            </a:r>
            <a:r>
              <a:rPr lang="en-US" altLang="ja-JP" sz="2800">
                <a:latin typeface="Arial" charset="0"/>
                <a:ea typeface="ＭＳ Ｐゴシック" charset="0"/>
              </a:rPr>
              <a:t>b [1] [4] 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の型は、何になるか。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これを、型宣言から推論規則で導け。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タイトル 1"/>
          <p:cNvSpPr>
            <a:spLocks noGrp="1"/>
          </p:cNvSpPr>
          <p:nvPr>
            <p:ph type="title"/>
          </p:nvPr>
        </p:nvSpPr>
        <p:spPr>
          <a:xfrm>
            <a:off x="714375" y="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29698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000125"/>
            <a:ext cx="7772400" cy="307181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int  b [2] [13] ;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の宣言のもとで、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まず、後置記法で書きなおすと、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b :  int [13] [2]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となる。これを出発点とし、式</a:t>
            </a:r>
            <a:r>
              <a:rPr lang="en-US" altLang="ja-JP" sz="2800">
                <a:latin typeface="Arial" charset="0"/>
                <a:ea typeface="ＭＳ Ｐゴシック" charset="0"/>
              </a:rPr>
              <a:t>b[1][4]</a:t>
            </a:r>
            <a:r>
              <a:rPr lang="ja-JP" altLang="en-US" sz="2800">
                <a:latin typeface="Arial" charset="0"/>
                <a:ea typeface="ＭＳ Ｐゴシック" charset="0"/>
              </a:rPr>
              <a:t>の型を推論規則を使って導出する。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sz="2800">
              <a:latin typeface="Arial" charset="0"/>
              <a:ea typeface="ＭＳ Ｐゴシック" charset="0"/>
            </a:endParaRPr>
          </a:p>
        </p:txBody>
      </p:sp>
      <p:sp>
        <p:nvSpPr>
          <p:cNvPr id="29699" name="テキスト ボックス 6"/>
          <p:cNvSpPr txBox="1">
            <a:spLocks noChangeArrowheads="1"/>
          </p:cNvSpPr>
          <p:nvPr/>
        </p:nvSpPr>
        <p:spPr bwMode="auto">
          <a:xfrm>
            <a:off x="2357438" y="4500563"/>
            <a:ext cx="24971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b  : int [13] [2]</a:t>
            </a:r>
          </a:p>
          <a:p>
            <a:r>
              <a:rPr lang="en-US" altLang="ja-JP" sz="2800" b="0"/>
              <a:t> b [1]  : int [13]</a:t>
            </a:r>
          </a:p>
          <a:p>
            <a:r>
              <a:rPr lang="en-US" altLang="ja-JP" sz="2800" b="0"/>
              <a:t> b [1] [4] : int</a:t>
            </a:r>
            <a:endParaRPr lang="ja-JP" altLang="en-US" sz="2800" b="0"/>
          </a:p>
        </p:txBody>
      </p:sp>
      <p:cxnSp>
        <p:nvCxnSpPr>
          <p:cNvPr id="29700" name="直線コネクタ 8"/>
          <p:cNvCxnSpPr>
            <a:cxnSpLocks noChangeShapeType="1"/>
          </p:cNvCxnSpPr>
          <p:nvPr/>
        </p:nvCxnSpPr>
        <p:spPr bwMode="auto">
          <a:xfrm>
            <a:off x="2071688" y="5000625"/>
            <a:ext cx="32146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701" name="直線コネクタ 9"/>
          <p:cNvCxnSpPr>
            <a:cxnSpLocks noChangeShapeType="1"/>
          </p:cNvCxnSpPr>
          <p:nvPr/>
        </p:nvCxnSpPr>
        <p:spPr bwMode="auto">
          <a:xfrm>
            <a:off x="2071688" y="5429250"/>
            <a:ext cx="32146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練習問題</a:t>
            </a:r>
          </a:p>
        </p:txBody>
      </p:sp>
      <p:sp>
        <p:nvSpPr>
          <p:cNvPr id="30722" name="コンテンツ プレースホルダ 10"/>
          <p:cNvSpPr>
            <a:spLocks noGrp="1"/>
          </p:cNvSpPr>
          <p:nvPr>
            <p:ph idx="1"/>
          </p:nvPr>
        </p:nvSpPr>
        <p:spPr>
          <a:xfrm>
            <a:off x="571500" y="1643063"/>
            <a:ext cx="7772400" cy="35004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 p : int *</a:t>
            </a: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 a : int [10]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の型宣言があるとき、代入式</a:t>
            </a:r>
            <a:endParaRPr lang="en-US" altLang="ja-JP" sz="280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>
                <a:latin typeface="Arial" charset="0"/>
                <a:ea typeface="ＭＳ Ｐゴシック" charset="0"/>
              </a:rPr>
              <a:t>  p = &amp;a[1]</a:t>
            </a:r>
          </a:p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が型に関して整合性があることを示せ。</a:t>
            </a:r>
            <a:endParaRPr lang="en-US" altLang="ja-JP" sz="280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解答</a:t>
            </a:r>
          </a:p>
        </p:txBody>
      </p:sp>
      <p:sp>
        <p:nvSpPr>
          <p:cNvPr id="31746" name="コンテンツ プレースホルダ 10"/>
          <p:cNvSpPr>
            <a:spLocks noGrp="1"/>
          </p:cNvSpPr>
          <p:nvPr>
            <p:ph idx="1"/>
          </p:nvPr>
        </p:nvSpPr>
        <p:spPr>
          <a:xfrm>
            <a:off x="1643063" y="3214688"/>
            <a:ext cx="2071687" cy="5715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 p : int *</a:t>
            </a: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>
              <a:latin typeface="Arial" charset="0"/>
              <a:ea typeface="ＭＳ Ｐゴシック" charset="0"/>
            </a:endParaRPr>
          </a:p>
        </p:txBody>
      </p:sp>
      <p:sp>
        <p:nvSpPr>
          <p:cNvPr id="31747" name="正方形/長方形 3"/>
          <p:cNvSpPr>
            <a:spLocks noChangeArrowheads="1"/>
          </p:cNvSpPr>
          <p:nvPr/>
        </p:nvSpPr>
        <p:spPr bwMode="auto">
          <a:xfrm>
            <a:off x="2643188" y="3857625"/>
            <a:ext cx="31162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ja-JP" sz="3200" b="0"/>
              <a:t>p = &amp;a[1]  : int &amp;</a:t>
            </a:r>
          </a:p>
        </p:txBody>
      </p:sp>
      <p:sp>
        <p:nvSpPr>
          <p:cNvPr id="31748" name="テキスト ボックス 4"/>
          <p:cNvSpPr txBox="1">
            <a:spLocks noChangeArrowheads="1"/>
          </p:cNvSpPr>
          <p:nvPr/>
        </p:nvSpPr>
        <p:spPr bwMode="auto">
          <a:xfrm>
            <a:off x="4221163" y="2287588"/>
            <a:ext cx="2306637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3200" b="0"/>
              <a:t> a : int [10]</a:t>
            </a:r>
          </a:p>
          <a:p>
            <a:r>
              <a:rPr lang="en-US" altLang="ja-JP" sz="3200" b="0"/>
              <a:t> a[1] : int</a:t>
            </a:r>
          </a:p>
          <a:p>
            <a:r>
              <a:rPr lang="en-US" altLang="ja-JP" sz="3200" b="0"/>
              <a:t>&amp;a[1] : int &amp;</a:t>
            </a:r>
            <a:endParaRPr lang="ja-JP" altLang="en-US" sz="3200" b="0"/>
          </a:p>
        </p:txBody>
      </p:sp>
      <p:cxnSp>
        <p:nvCxnSpPr>
          <p:cNvPr id="31749" name="直線コネクタ 6"/>
          <p:cNvCxnSpPr>
            <a:cxnSpLocks noChangeShapeType="1"/>
          </p:cNvCxnSpPr>
          <p:nvPr/>
        </p:nvCxnSpPr>
        <p:spPr bwMode="auto">
          <a:xfrm>
            <a:off x="4078288" y="2859088"/>
            <a:ext cx="22860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0" name="直線コネクタ 8"/>
          <p:cNvCxnSpPr>
            <a:cxnSpLocks noChangeShapeType="1"/>
          </p:cNvCxnSpPr>
          <p:nvPr/>
        </p:nvCxnSpPr>
        <p:spPr bwMode="auto">
          <a:xfrm>
            <a:off x="4071938" y="3355975"/>
            <a:ext cx="257175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51" name="直線コネクタ 12"/>
          <p:cNvCxnSpPr>
            <a:cxnSpLocks noChangeShapeType="1"/>
          </p:cNvCxnSpPr>
          <p:nvPr/>
        </p:nvCxnSpPr>
        <p:spPr bwMode="auto">
          <a:xfrm>
            <a:off x="1500188" y="3786188"/>
            <a:ext cx="542925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755</Words>
  <Application>Microsoft Macintosh PowerPoint</Application>
  <PresentationFormat>画面に合わせる (4:3)</PresentationFormat>
  <Paragraphs>100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19" baseType="lpstr">
      <vt:lpstr>Arial</vt:lpstr>
      <vt:lpstr>ＭＳ Ｐゴシック</vt:lpstr>
      <vt:lpstr>新しいプレゼンテーション</vt:lpstr>
      <vt:lpstr>プログラミング言語論</vt:lpstr>
      <vt:lpstr>練習問題</vt:lpstr>
      <vt:lpstr>解答</vt:lpstr>
      <vt:lpstr>練習問題</vt:lpstr>
      <vt:lpstr>解答</vt:lpstr>
      <vt:lpstr>練習問題</vt:lpstr>
      <vt:lpstr>解答</vt:lpstr>
      <vt:lpstr>例</vt:lpstr>
      <vt:lpstr>練習問題</vt:lpstr>
      <vt:lpstr>解答</vt:lpstr>
      <vt:lpstr>練習問題</vt:lpstr>
      <vt:lpstr>解答</vt:lpstr>
      <vt:lpstr>練習問題</vt:lpstr>
      <vt:lpstr>解答</vt:lpstr>
      <vt:lpstr>練習問題</vt:lpstr>
      <vt:lpstr>解答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プログラミング言語論1</dc:title>
  <dc:creator>Isao Sasano</dc:creator>
  <cp:lastModifiedBy>Sasano Isao</cp:lastModifiedBy>
  <cp:revision>299</cp:revision>
  <dcterms:created xsi:type="dcterms:W3CDTF">2006-11-28T12:30:10Z</dcterms:created>
  <dcterms:modified xsi:type="dcterms:W3CDTF">2012-12-03T12:18:00Z</dcterms:modified>
</cp:coreProperties>
</file>