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5" r:id="rId3"/>
    <p:sldId id="314" r:id="rId4"/>
    <p:sldId id="304" r:id="rId5"/>
    <p:sldId id="306" r:id="rId6"/>
    <p:sldId id="307" r:id="rId7"/>
    <p:sldId id="308" r:id="rId8"/>
    <p:sldId id="319" r:id="rId9"/>
    <p:sldId id="303" r:id="rId10"/>
    <p:sldId id="310" r:id="rId11"/>
    <p:sldId id="312" r:id="rId12"/>
    <p:sldId id="315" r:id="rId13"/>
    <p:sldId id="316" r:id="rId14"/>
    <p:sldId id="318" r:id="rId15"/>
    <p:sldId id="320" r:id="rId16"/>
    <p:sldId id="321" r:id="rId17"/>
    <p:sldId id="322" r:id="rId18"/>
    <p:sldId id="324" r:id="rId19"/>
    <p:sldId id="326" r:id="rId20"/>
    <p:sldId id="327" r:id="rId21"/>
    <p:sldId id="329" r:id="rId22"/>
    <p:sldId id="330" r:id="rId23"/>
    <p:sldId id="332" r:id="rId24"/>
    <p:sldId id="331" r:id="rId25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800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5F9D069-CD88-8640-BE5C-216841B4F4E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46989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6F7EE6E-7770-3549-B7A9-5386A1056E7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15122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78D0498-6983-C443-8A28-60C3D1101AB6}" type="slidenum">
              <a:rPr lang="en-US" altLang="ja-JP" sz="1200"/>
              <a:pPr/>
              <a:t>1</a:t>
            </a:fld>
            <a:endParaRPr lang="en-US" altLang="ja-JP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22C7F-A399-024A-BF06-1B599EA4D9A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970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50E07-7D68-6640-8D85-7DF294A69FA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1994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7C9A-BF55-DD45-AA2F-033F03B98A5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3065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C315F-3551-FD41-BB02-F00612468E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1359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5F43C-8157-3A46-8C87-11351450953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814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8C369-B94C-0445-8B61-F648EA68B8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829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0C0AF-47B0-9241-B864-A63CDEBE680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574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DD625-4659-7D44-B3FF-7877D9B8810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413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22A6B-ED3D-6044-8734-58F48984258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9576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30E48-A18F-CF4E-AB9A-A2B5AF5F8D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130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176BE-67CC-E948-BDBC-7B94108E342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8033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D2A029C3-9E57-3040-9544-B18292FF060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71450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プログラミング言語論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3063" y="4786313"/>
            <a:ext cx="5715000" cy="642937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情報工学科　篠埜　功</a:t>
            </a:r>
          </a:p>
        </p:txBody>
      </p:sp>
      <p:sp>
        <p:nvSpPr>
          <p:cNvPr id="15363" name="正方形/長方形 3"/>
          <p:cNvSpPr>
            <a:spLocks noChangeArrowheads="1"/>
          </p:cNvSpPr>
          <p:nvPr/>
        </p:nvSpPr>
        <p:spPr bwMode="auto">
          <a:xfrm>
            <a:off x="1592263" y="3286125"/>
            <a:ext cx="5572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ja-JP" altLang="en-US" sz="3200" b="0"/>
              <a:t>第９回　型</a:t>
            </a:r>
            <a:endParaRPr lang="en-US" altLang="ja-JP" sz="3200" b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タイトル 1"/>
          <p:cNvSpPr>
            <a:spLocks noGrp="1"/>
          </p:cNvSpPr>
          <p:nvPr>
            <p:ph type="title"/>
          </p:nvPr>
        </p:nvSpPr>
        <p:spPr>
          <a:xfrm>
            <a:off x="642938" y="357188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型とは</a:t>
            </a:r>
          </a:p>
        </p:txBody>
      </p:sp>
      <p:sp>
        <p:nvSpPr>
          <p:cNvPr id="17410" name="コンテンツ プレースホルダ 2"/>
          <p:cNvSpPr>
            <a:spLocks noGrp="1"/>
          </p:cNvSpPr>
          <p:nvPr>
            <p:ph idx="1"/>
          </p:nvPr>
        </p:nvSpPr>
        <p:spPr>
          <a:xfrm>
            <a:off x="857250" y="1571625"/>
            <a:ext cx="2643188" cy="41433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（例）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int f ( ) {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int x, y;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x = 4;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y = 3 + x;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return y;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}</a:t>
            </a:r>
            <a:endParaRPr lang="ja-JP" altLang="en-US">
              <a:latin typeface="Arial" charset="0"/>
              <a:ea typeface="ＭＳ Ｐゴシック" charset="0"/>
            </a:endParaRPr>
          </a:p>
        </p:txBody>
      </p:sp>
      <p:sp>
        <p:nvSpPr>
          <p:cNvPr id="17411" name="正方形/長方形 3"/>
          <p:cNvSpPr>
            <a:spLocks noChangeArrowheads="1"/>
          </p:cNvSpPr>
          <p:nvPr/>
        </p:nvSpPr>
        <p:spPr bwMode="auto">
          <a:xfrm>
            <a:off x="3786188" y="2500313"/>
            <a:ext cx="4572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/>
              <a:t>型付き言語のプログラムは、型について整合性がとれている必要がある。</a:t>
            </a:r>
            <a:endParaRPr lang="en-US" altLang="ja-JP" sz="2800" b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タイトル 1"/>
          <p:cNvSpPr>
            <a:spLocks noGrp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型</a:t>
            </a:r>
          </a:p>
        </p:txBody>
      </p:sp>
      <p:sp>
        <p:nvSpPr>
          <p:cNvPr id="18434" name="コンテンツ プレースホルダ 2"/>
          <p:cNvSpPr>
            <a:spLocks noGrp="1"/>
          </p:cNvSpPr>
          <p:nvPr>
            <p:ph idx="1"/>
          </p:nvPr>
        </p:nvSpPr>
        <p:spPr>
          <a:xfrm>
            <a:off x="428625" y="1643063"/>
            <a:ext cx="8429625" cy="4591050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コンパイル時に、型について（その言語で定められた基準で）整合性がとれているかどうかを検査する。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プログラムの正当性を部分的に示すことになる。（実行時のエラーを減少させる。）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静的意味（実行しなくても分かること）の解析。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型の整合性検査は構文解析では行わず、後のフェーズで行う。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latin typeface="Arial" charset="0"/>
                <a:ea typeface="ＭＳ Ｐゴシック" charset="0"/>
              </a:rPr>
              <a:t>C</a:t>
            </a:r>
            <a:r>
              <a:rPr lang="ja-JP" altLang="en-US">
                <a:latin typeface="Arial" charset="0"/>
                <a:ea typeface="ＭＳ Ｐゴシック" charset="0"/>
              </a:rPr>
              <a:t>言語の型宣言について</a:t>
            </a:r>
          </a:p>
        </p:txBody>
      </p:sp>
      <p:sp>
        <p:nvSpPr>
          <p:cNvPr id="19458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5" y="1981200"/>
            <a:ext cx="84582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</a:t>
            </a:r>
            <a:r>
              <a:rPr lang="ja-JP" altLang="en-US">
                <a:latin typeface="Arial" charset="0"/>
                <a:ea typeface="ＭＳ Ｐゴシック" charset="0"/>
              </a:rPr>
              <a:t>（例）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int (*a) [13];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この宣言では、変数</a:t>
            </a:r>
            <a:r>
              <a:rPr lang="en-US" altLang="ja-JP">
                <a:latin typeface="Arial" charset="0"/>
                <a:ea typeface="ＭＳ Ｐゴシック" charset="0"/>
              </a:rPr>
              <a:t>a</a:t>
            </a:r>
            <a:r>
              <a:rPr lang="ja-JP" altLang="en-US">
                <a:latin typeface="Arial" charset="0"/>
                <a:ea typeface="ＭＳ Ｐゴシック" charset="0"/>
              </a:rPr>
              <a:t>は</a:t>
            </a:r>
            <a:r>
              <a:rPr lang="en-US" altLang="ja-JP">
                <a:latin typeface="Arial" charset="0"/>
                <a:ea typeface="ＭＳ Ｐゴシック" charset="0"/>
              </a:rPr>
              <a:t>int</a:t>
            </a:r>
            <a:r>
              <a:rPr lang="ja-JP" altLang="en-US">
                <a:latin typeface="Arial" charset="0"/>
                <a:ea typeface="ＭＳ Ｐゴシック" charset="0"/>
              </a:rPr>
              <a:t>型の配列（要素数１３）へのポインタ型であることを示す。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式 </a:t>
            </a:r>
            <a:r>
              <a:rPr lang="en-US" altLang="ja-JP">
                <a:latin typeface="Arial" charset="0"/>
                <a:ea typeface="ＭＳ Ｐゴシック" charset="0"/>
              </a:rPr>
              <a:t>(*a) [ j ] (0 </a:t>
            </a: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 </a:t>
            </a:r>
            <a:r>
              <a:rPr lang="en-US" altLang="ja-JP">
                <a:latin typeface="Arial" charset="0"/>
                <a:ea typeface="ＭＳ Ｐゴシック" charset="0"/>
              </a:rPr>
              <a:t>j &lt; 13) </a:t>
            </a:r>
            <a:r>
              <a:rPr lang="ja-JP" altLang="en-US">
                <a:latin typeface="Arial" charset="0"/>
                <a:ea typeface="ＭＳ Ｐゴシック" charset="0"/>
              </a:rPr>
              <a:t>の型は</a:t>
            </a:r>
            <a:r>
              <a:rPr lang="en-US" altLang="ja-JP">
                <a:latin typeface="Arial" charset="0"/>
                <a:ea typeface="ＭＳ Ｐゴシック" charset="0"/>
              </a:rPr>
              <a:t>int</a:t>
            </a:r>
            <a:r>
              <a:rPr lang="ja-JP" altLang="en-US">
                <a:latin typeface="Arial" charset="0"/>
                <a:ea typeface="ＭＳ Ｐゴシック" charset="0"/>
              </a:rPr>
              <a:t>型になる。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例えば、式</a:t>
            </a:r>
            <a:r>
              <a:rPr lang="en-US" altLang="ja-JP">
                <a:latin typeface="Arial" charset="0"/>
                <a:ea typeface="ＭＳ Ｐゴシック" charset="0"/>
              </a:rPr>
              <a:t>(* a) [0] </a:t>
            </a:r>
            <a:r>
              <a:rPr lang="ja-JP" altLang="en-US">
                <a:latin typeface="Arial" charset="0"/>
                <a:ea typeface="ＭＳ Ｐゴシック" charset="0"/>
              </a:rPr>
              <a:t>は</a:t>
            </a:r>
            <a:r>
              <a:rPr lang="en-US" altLang="ja-JP">
                <a:latin typeface="Arial" charset="0"/>
                <a:ea typeface="ＭＳ Ｐゴシック" charset="0"/>
              </a:rPr>
              <a:t>int</a:t>
            </a:r>
            <a:r>
              <a:rPr lang="ja-JP" altLang="en-US">
                <a:latin typeface="Arial" charset="0"/>
                <a:ea typeface="ＭＳ Ｐゴシック" charset="0"/>
              </a:rPr>
              <a:t>型である。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タイトル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772400" cy="1143000"/>
          </a:xfrm>
        </p:spPr>
        <p:txBody>
          <a:bodyPr/>
          <a:lstStyle/>
          <a:p>
            <a:r>
              <a:rPr lang="en-US" altLang="ja-JP">
                <a:latin typeface="Arial" charset="0"/>
                <a:ea typeface="ＭＳ Ｐゴシック" charset="0"/>
              </a:rPr>
              <a:t>C</a:t>
            </a:r>
            <a:r>
              <a:rPr lang="ja-JP" altLang="en-US">
                <a:latin typeface="Arial" charset="0"/>
                <a:ea typeface="ＭＳ Ｐゴシック" charset="0"/>
              </a:rPr>
              <a:t>言語の型宣言について</a:t>
            </a:r>
          </a:p>
        </p:txBody>
      </p:sp>
      <p:sp>
        <p:nvSpPr>
          <p:cNvPr id="20482" name="コンテンツ プレースホルダ 2"/>
          <p:cNvSpPr>
            <a:spLocks noGrp="1"/>
          </p:cNvSpPr>
          <p:nvPr>
            <p:ph idx="1"/>
          </p:nvPr>
        </p:nvSpPr>
        <p:spPr>
          <a:xfrm>
            <a:off x="214313" y="1071563"/>
            <a:ext cx="8929687" cy="5572125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（例）</a:t>
            </a:r>
            <a:r>
              <a:rPr lang="en-US" altLang="ja-JP" sz="2800">
                <a:latin typeface="Arial" charset="0"/>
                <a:ea typeface="ＭＳ Ｐゴシック" charset="0"/>
              </a:rPr>
              <a:t> int (*a) [13];</a:t>
            </a: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     int b [2] [13];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と宣言されているとき、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 a = b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は型について整合性のある代入式である。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b</a:t>
            </a:r>
            <a:r>
              <a:rPr lang="ja-JP" altLang="en-US" sz="2800">
                <a:latin typeface="Arial" charset="0"/>
                <a:ea typeface="ＭＳ Ｐゴシック" charset="0"/>
              </a:rPr>
              <a:t>は</a:t>
            </a:r>
            <a:r>
              <a:rPr lang="en-US" altLang="ja-JP" sz="2800">
                <a:latin typeface="Arial" charset="0"/>
                <a:ea typeface="ＭＳ Ｐゴシック" charset="0"/>
              </a:rPr>
              <a:t>&amp;b[0]</a:t>
            </a:r>
            <a:r>
              <a:rPr lang="ja-JP" altLang="en-US" sz="2800">
                <a:latin typeface="Arial" charset="0"/>
                <a:ea typeface="ＭＳ Ｐゴシック" charset="0"/>
              </a:rPr>
              <a:t>のことであり、この代入式の実行後に等式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(*a) [ j ] = b[0][ j ] (0 </a:t>
            </a:r>
            <a:r>
              <a:rPr lang="en-US" altLang="ja-JP" sz="2800">
                <a:latin typeface="Arial" charset="0"/>
                <a:ea typeface="ＭＳ Ｐゴシック" charset="0"/>
                <a:sym typeface="Symbol" charset="0"/>
              </a:rPr>
              <a:t>  </a:t>
            </a:r>
            <a:r>
              <a:rPr lang="en-US" altLang="ja-JP" sz="2800">
                <a:latin typeface="Arial" charset="0"/>
                <a:ea typeface="ＭＳ Ｐゴシック" charset="0"/>
              </a:rPr>
              <a:t>j &lt; 13) </a:t>
            </a:r>
            <a:r>
              <a:rPr lang="ja-JP" altLang="en-US" sz="2800">
                <a:latin typeface="Arial" charset="0"/>
                <a:ea typeface="ＭＳ Ｐゴシック" charset="0"/>
              </a:rPr>
              <a:t>が成立。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これは、</a:t>
            </a:r>
            <a:r>
              <a:rPr lang="en-US" altLang="ja-JP" sz="2800">
                <a:latin typeface="Arial" charset="0"/>
                <a:ea typeface="ＭＳ Ｐゴシック" charset="0"/>
              </a:rPr>
              <a:t>*a = *b = *(&amp;b[0]) = b[0] </a:t>
            </a:r>
            <a:r>
              <a:rPr lang="ja-JP" altLang="en-US" sz="2800">
                <a:latin typeface="Arial" charset="0"/>
                <a:ea typeface="ＭＳ Ｐゴシック" charset="0"/>
              </a:rPr>
              <a:t>に</a:t>
            </a:r>
            <a:r>
              <a:rPr lang="en-US" altLang="ja-JP" sz="2800">
                <a:latin typeface="Arial" charset="0"/>
                <a:ea typeface="ＭＳ Ｐゴシック" charset="0"/>
              </a:rPr>
              <a:t>[ j ] </a:t>
            </a:r>
            <a:r>
              <a:rPr lang="ja-JP" altLang="en-US" sz="2800">
                <a:latin typeface="Arial" charset="0"/>
                <a:ea typeface="ＭＳ Ｐゴシック" charset="0"/>
              </a:rPr>
              <a:t>をつければ得られる。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プログラムが型について整合性がとれているか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どうかをチェックする仕組みの基礎を学習する。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タイトル 1"/>
          <p:cNvSpPr>
            <a:spLocks noGrp="1"/>
          </p:cNvSpPr>
          <p:nvPr>
            <p:ph type="title"/>
          </p:nvPr>
        </p:nvSpPr>
        <p:spPr>
          <a:xfrm>
            <a:off x="685800" y="404813"/>
            <a:ext cx="7772400" cy="676275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（参考）</a:t>
            </a:r>
          </a:p>
        </p:txBody>
      </p:sp>
      <p:sp>
        <p:nvSpPr>
          <p:cNvPr id="21506" name="正方形/長方形 3"/>
          <p:cNvSpPr>
            <a:spLocks noChangeArrowheads="1"/>
          </p:cNvSpPr>
          <p:nvPr/>
        </p:nvSpPr>
        <p:spPr bwMode="auto">
          <a:xfrm>
            <a:off x="755650" y="1341438"/>
            <a:ext cx="71294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/>
              <a:t>２次元配列に関し以下の等式が成立する。</a:t>
            </a:r>
            <a:endParaRPr lang="en-US" altLang="ja-JP" sz="2800" b="0"/>
          </a:p>
          <a:p>
            <a:r>
              <a:rPr lang="en-US" altLang="ja-JP" sz="2800" b="0"/>
              <a:t>  (1) &amp;b[ i ] + j = &amp;b[ i + j ]</a:t>
            </a:r>
          </a:p>
          <a:p>
            <a:r>
              <a:rPr lang="en-US" altLang="ja-JP" sz="2800" b="0"/>
              <a:t>  (2) &amp;b[ i ] [ j ] + k = &amp;b[ i ] [ j + k ]</a:t>
            </a:r>
          </a:p>
          <a:p>
            <a:r>
              <a:rPr lang="ja-JP" altLang="en-US" sz="2800" b="0"/>
              <a:t>（</a:t>
            </a:r>
            <a:r>
              <a:rPr lang="en-US" altLang="ja-JP" sz="2800" b="0"/>
              <a:t>i, j, k</a:t>
            </a:r>
            <a:r>
              <a:rPr lang="ja-JP" altLang="en-US" sz="2800" b="0"/>
              <a:t>は整数。）</a:t>
            </a:r>
            <a:endParaRPr lang="en-US" altLang="ja-JP" sz="2800" b="0"/>
          </a:p>
        </p:txBody>
      </p:sp>
      <p:sp>
        <p:nvSpPr>
          <p:cNvPr id="21507" name="テキスト ボックス 1"/>
          <p:cNvSpPr txBox="1">
            <a:spLocks noChangeArrowheads="1"/>
          </p:cNvSpPr>
          <p:nvPr/>
        </p:nvSpPr>
        <p:spPr bwMode="auto">
          <a:xfrm>
            <a:off x="485775" y="3273425"/>
            <a:ext cx="84074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0" b="0"/>
              <a:t>上記の</a:t>
            </a:r>
            <a:r>
              <a:rPr lang="ja-JP" altLang="en-US" sz="2800" b="0"/>
              <a:t>等式</a:t>
            </a:r>
            <a:r>
              <a:rPr lang="en-US" sz="2800" b="0"/>
              <a:t>は、</a:t>
            </a:r>
            <a:endParaRPr lang="en-US" altLang="ja-JP" sz="2800" b="0"/>
          </a:p>
          <a:p>
            <a:r>
              <a:rPr lang="en-US" altLang="ja-JP" sz="2800" b="0"/>
              <a:t> e1 [e2] = *(e1 + e2)   (syntax sugar, </a:t>
            </a:r>
            <a:r>
              <a:rPr lang="ja-JP" altLang="en-US" sz="2800" b="0"/>
              <a:t>プロ入２で説明</a:t>
            </a:r>
            <a:r>
              <a:rPr lang="en-US" altLang="ja-JP" sz="2800" b="0"/>
              <a:t>)</a:t>
            </a:r>
          </a:p>
          <a:p>
            <a:r>
              <a:rPr lang="ja-JP" altLang="en-US" sz="2800" b="0"/>
              <a:t>および</a:t>
            </a:r>
            <a:r>
              <a:rPr lang="en-US" altLang="ja-JP" sz="2800" b="0"/>
              <a:t> &amp;(*e) = e </a:t>
            </a:r>
            <a:r>
              <a:rPr lang="ja-JP" altLang="en-US" sz="2800" b="0"/>
              <a:t>（および</a:t>
            </a:r>
            <a:r>
              <a:rPr lang="en-US" altLang="ja-JP" sz="2800" b="0"/>
              <a:t>+</a:t>
            </a:r>
            <a:r>
              <a:rPr lang="ja-JP" altLang="en-US" sz="2800" b="0"/>
              <a:t>の結合性）から導かれる。</a:t>
            </a:r>
            <a:endParaRPr lang="en-US" altLang="ja-JP" sz="2800" b="0"/>
          </a:p>
          <a:p>
            <a:r>
              <a:rPr lang="en-US" altLang="ja-JP" sz="2800" b="0"/>
              <a:t>(1)</a:t>
            </a:r>
            <a:r>
              <a:rPr lang="ja-JP" altLang="en-US" sz="2800" b="0"/>
              <a:t>の左辺</a:t>
            </a:r>
            <a:r>
              <a:rPr lang="en-US" altLang="ja-JP" sz="2800" b="0"/>
              <a:t> = &amp;(*(b + i)) + j = b + i + j</a:t>
            </a:r>
          </a:p>
          <a:p>
            <a:r>
              <a:rPr lang="en-US" altLang="ja-JP" sz="2800" b="0"/>
              <a:t>(1)</a:t>
            </a:r>
            <a:r>
              <a:rPr lang="ja-JP" altLang="en-US" sz="2800" b="0"/>
              <a:t>の右辺</a:t>
            </a:r>
            <a:r>
              <a:rPr lang="en-US" altLang="ja-JP" sz="2800" b="0"/>
              <a:t> = &amp;(*(b + i + j)) = b + i + j</a:t>
            </a:r>
          </a:p>
          <a:p>
            <a:r>
              <a:rPr lang="en-US" altLang="ja-JP" sz="2800" b="0"/>
              <a:t>(2)</a:t>
            </a:r>
            <a:r>
              <a:rPr lang="ja-JP" altLang="en-US" sz="2800" b="0"/>
              <a:t>の左辺</a:t>
            </a:r>
            <a:r>
              <a:rPr lang="en-US" altLang="ja-JP" sz="2800" b="0"/>
              <a:t> = &amp;(*(b[ i ] + j)) + k = b[ i ] + j + k</a:t>
            </a:r>
          </a:p>
          <a:p>
            <a:r>
              <a:rPr lang="en-US" altLang="ja-JP" sz="2800" b="0"/>
              <a:t>(2)</a:t>
            </a:r>
            <a:r>
              <a:rPr lang="ja-JP" altLang="en-US" sz="2800" b="0"/>
              <a:t>の右辺</a:t>
            </a:r>
            <a:r>
              <a:rPr lang="en-US" altLang="ja-JP" sz="2800" b="0"/>
              <a:t> = &amp;(*(b[ i ] + j + k)) = b[ i ] + j + k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タイトル 1"/>
          <p:cNvSpPr>
            <a:spLocks noGrp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r>
              <a:rPr lang="en-US" altLang="ja-JP">
                <a:latin typeface="Arial" charset="0"/>
                <a:ea typeface="ＭＳ Ｐゴシック" charset="0"/>
              </a:rPr>
              <a:t>C</a:t>
            </a:r>
            <a:r>
              <a:rPr lang="ja-JP" altLang="en-US">
                <a:latin typeface="Arial" charset="0"/>
                <a:ea typeface="ＭＳ Ｐゴシック" charset="0"/>
              </a:rPr>
              <a:t>言語の型宣言について</a:t>
            </a:r>
          </a:p>
        </p:txBody>
      </p:sp>
      <p:sp>
        <p:nvSpPr>
          <p:cNvPr id="22530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38" y="1428750"/>
            <a:ext cx="8001000" cy="51435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char ( * ( * x ( ) ) [ ] ) ( )</a:t>
            </a:r>
            <a:r>
              <a:rPr lang="ja-JP" altLang="en-US" sz="2800">
                <a:latin typeface="Arial" charset="0"/>
                <a:ea typeface="ＭＳ Ｐゴシック" charset="0"/>
              </a:rPr>
              <a:t> </a:t>
            </a:r>
            <a:r>
              <a:rPr lang="en-US" altLang="ja-JP" sz="2800">
                <a:latin typeface="Arial" charset="0"/>
                <a:ea typeface="ＭＳ Ｐゴシック" charset="0"/>
              </a:rPr>
              <a:t>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の宣言の意味は？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内側から順番に優先順位にしたがって読む。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( )  *  [ ]  *  ( )  char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となる。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x : char  ( )  *  [ ]  *  ( )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を型宣言、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char  ( )  *  [ ]  *  ( )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を型の後置記法と呼ぶこととする。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タイトル 1"/>
          <p:cNvSpPr>
            <a:spLocks noGrp="1"/>
          </p:cNvSpPr>
          <p:nvPr>
            <p:ph type="title"/>
          </p:nvPr>
        </p:nvSpPr>
        <p:spPr>
          <a:xfrm>
            <a:off x="714375" y="2603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優先順位</a:t>
            </a:r>
          </a:p>
        </p:txBody>
      </p:sp>
      <p:sp>
        <p:nvSpPr>
          <p:cNvPr id="23554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38" y="1412875"/>
            <a:ext cx="8177212" cy="11366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char ( * ( * x ( ) ) [ ] ) ( )</a:t>
            </a:r>
            <a:r>
              <a:rPr lang="ja-JP" altLang="en-US" sz="2800">
                <a:latin typeface="Arial" charset="0"/>
                <a:ea typeface="ＭＳ Ｐゴシック" charset="0"/>
              </a:rPr>
              <a:t> </a:t>
            </a:r>
            <a:r>
              <a:rPr lang="en-US" altLang="ja-JP" sz="2800">
                <a:latin typeface="Arial" charset="0"/>
                <a:ea typeface="ＭＳ Ｐゴシック" charset="0"/>
              </a:rPr>
              <a:t>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の宣言の意味は？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</p:txBody>
      </p:sp>
      <p:sp>
        <p:nvSpPr>
          <p:cNvPr id="23555" name="正方形/長方形 1"/>
          <p:cNvSpPr>
            <a:spLocks noChangeArrowheads="1"/>
          </p:cNvSpPr>
          <p:nvPr/>
        </p:nvSpPr>
        <p:spPr bwMode="auto">
          <a:xfrm>
            <a:off x="611188" y="2624138"/>
            <a:ext cx="78486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/>
              <a:t>優先順位は、高い順に</a:t>
            </a:r>
            <a:r>
              <a:rPr lang="en-US" altLang="ja-JP" sz="2800" b="0"/>
              <a:t>( ), [ ], * </a:t>
            </a:r>
            <a:r>
              <a:rPr lang="ja-JP" altLang="en-US" sz="2800" b="0"/>
              <a:t>である。宣言されている変数</a:t>
            </a:r>
            <a:r>
              <a:rPr lang="en-US" altLang="ja-JP" sz="2800" b="0"/>
              <a:t>x</a:t>
            </a:r>
            <a:r>
              <a:rPr lang="ja-JP" altLang="en-US" sz="2800" b="0"/>
              <a:t>からこの優先順位に従って読んでいけばよいが、優先順位の括弧がついている場合は順番は変わる。優先順位の括弧は以下の太字の部分である。</a:t>
            </a:r>
            <a:endParaRPr lang="en-US" altLang="ja-JP" sz="2800" b="0"/>
          </a:p>
          <a:p>
            <a:r>
              <a:rPr lang="en-US" altLang="ja-JP" sz="2800" b="0"/>
              <a:t>       char </a:t>
            </a:r>
            <a:r>
              <a:rPr lang="en-US" altLang="ja-JP" sz="2800">
                <a:solidFill>
                  <a:srgbClr val="FF0000"/>
                </a:solidFill>
              </a:rPr>
              <a:t>(</a:t>
            </a:r>
            <a:r>
              <a:rPr lang="en-US" altLang="ja-JP" sz="2800" b="0"/>
              <a:t> * </a:t>
            </a:r>
            <a:r>
              <a:rPr lang="en-US" altLang="ja-JP" sz="2800">
                <a:solidFill>
                  <a:srgbClr val="FF0000"/>
                </a:solidFill>
              </a:rPr>
              <a:t>(</a:t>
            </a:r>
            <a:r>
              <a:rPr lang="en-US" altLang="ja-JP" sz="2800" b="0"/>
              <a:t> * x ( ) </a:t>
            </a:r>
            <a:r>
              <a:rPr lang="en-US" altLang="ja-JP" sz="2800">
                <a:solidFill>
                  <a:srgbClr val="FF0000"/>
                </a:solidFill>
              </a:rPr>
              <a:t>)</a:t>
            </a:r>
            <a:r>
              <a:rPr lang="en-US" altLang="ja-JP" sz="2800" b="0"/>
              <a:t> [ ] </a:t>
            </a:r>
            <a:r>
              <a:rPr lang="en-US" altLang="ja-JP" sz="2800">
                <a:solidFill>
                  <a:srgbClr val="FF0000"/>
                </a:solidFill>
              </a:rPr>
              <a:t>)</a:t>
            </a:r>
            <a:r>
              <a:rPr lang="en-US" altLang="ja-JP" sz="2800" b="0"/>
              <a:t> ( )</a:t>
            </a:r>
            <a:r>
              <a:rPr lang="ja-JP" altLang="en-US" sz="2800" b="0"/>
              <a:t> </a:t>
            </a:r>
            <a:r>
              <a:rPr lang="en-US" altLang="ja-JP" sz="2800" b="0"/>
              <a:t>;</a:t>
            </a:r>
          </a:p>
        </p:txBody>
      </p:sp>
      <p:sp>
        <p:nvSpPr>
          <p:cNvPr id="23556" name="正方形/長方形 2"/>
          <p:cNvSpPr>
            <a:spLocks noChangeArrowheads="1"/>
          </p:cNvSpPr>
          <p:nvPr/>
        </p:nvSpPr>
        <p:spPr bwMode="auto">
          <a:xfrm>
            <a:off x="611188" y="5570538"/>
            <a:ext cx="79930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/>
              <a:t>内側（宣言されている変数</a:t>
            </a:r>
            <a:r>
              <a:rPr lang="en-US" altLang="ja-JP" sz="2800" b="0"/>
              <a:t>x</a:t>
            </a:r>
            <a:r>
              <a:rPr lang="ja-JP" altLang="en-US" sz="2800" b="0"/>
              <a:t>）から順番に優先順位に従って読むと、</a:t>
            </a:r>
            <a:r>
              <a:rPr lang="en-US" altLang="ja-JP" sz="2800" b="0"/>
              <a:t> ( )  *  [ ]  *  ( )  char </a:t>
            </a:r>
            <a:r>
              <a:rPr lang="ja-JP" altLang="en-US" sz="2800" b="0"/>
              <a:t>となる。</a:t>
            </a:r>
            <a:endParaRPr lang="en-US" altLang="ja-JP" sz="2800" b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4578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char ( * ( * y [3] ) ( ) ) [ 5 ]  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の宣言を型の後置記法による宣言に直せ。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(1) int  * z;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(2) int c [ 13 ];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6626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</a:t>
            </a:r>
            <a:r>
              <a:rPr lang="en-US" altLang="ja-JP" dirty="0" err="1" smtClean="0">
                <a:latin typeface="Arial" charset="0"/>
                <a:ea typeface="ＭＳ Ｐゴシック" charset="0"/>
              </a:rPr>
              <a:t>nt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</a:t>
            </a:r>
            <a:r>
              <a:rPr lang="en-US" altLang="ja-JP" dirty="0">
                <a:latin typeface="Arial" charset="0"/>
                <a:ea typeface="ＭＳ Ｐゴシック" charset="0"/>
              </a:rPr>
              <a:t>b[2][13];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タイトル 1"/>
          <p:cNvSpPr>
            <a:spLocks noGrp="1"/>
          </p:cNvSpPr>
          <p:nvPr>
            <p:ph type="title"/>
          </p:nvPr>
        </p:nvSpPr>
        <p:spPr>
          <a:xfrm>
            <a:off x="642938" y="428625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27650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38" y="1500188"/>
            <a:ext cx="7772400" cy="50006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char ( * ( * y [3] ) ( ) ) [ 5 ]  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の宣言のもとで、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</a:t>
            </a:r>
            <a:r>
              <a:rPr lang="ja-JP" altLang="en-US">
                <a:latin typeface="Arial" charset="0"/>
                <a:ea typeface="ＭＳ Ｐゴシック" charset="0"/>
              </a:rPr>
              <a:t>式 </a:t>
            </a:r>
            <a:r>
              <a:rPr lang="en-US" altLang="ja-JP">
                <a:latin typeface="Arial" charset="0"/>
                <a:ea typeface="ＭＳ Ｐゴシック" charset="0"/>
              </a:rPr>
              <a:t>y [ 2 ] </a:t>
            </a:r>
            <a:r>
              <a:rPr lang="ja-JP" altLang="en-US">
                <a:latin typeface="Arial" charset="0"/>
                <a:ea typeface="ＭＳ Ｐゴシック" charset="0"/>
              </a:rPr>
              <a:t>はどういう型を持つか。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y : char [ 5 ]  *  ( )  *  [3]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となり、一番外側の</a:t>
            </a:r>
            <a:r>
              <a:rPr lang="en-US" altLang="ja-JP">
                <a:latin typeface="Arial" charset="0"/>
                <a:ea typeface="ＭＳ Ｐゴシック" charset="0"/>
              </a:rPr>
              <a:t>[3]</a:t>
            </a:r>
            <a:r>
              <a:rPr lang="ja-JP" altLang="en-US">
                <a:latin typeface="Arial" charset="0"/>
                <a:ea typeface="ＭＳ Ｐゴシック" charset="0"/>
              </a:rPr>
              <a:t>を取り除いて、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y [2] </a:t>
            </a:r>
            <a:r>
              <a:rPr lang="ja-JP" altLang="en-US">
                <a:latin typeface="Arial" charset="0"/>
                <a:ea typeface="ＭＳ Ｐゴシック" charset="0"/>
              </a:rPr>
              <a:t> </a:t>
            </a:r>
            <a:r>
              <a:rPr lang="en-US" altLang="ja-JP">
                <a:latin typeface="Arial" charset="0"/>
                <a:ea typeface="ＭＳ Ｐゴシック" charset="0"/>
              </a:rPr>
              <a:t>: char [ 5 ] * ( ) *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867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int  (*a) [13];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の宣言のもとで、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</a:t>
            </a:r>
            <a:r>
              <a:rPr lang="ja-JP" altLang="en-US">
                <a:latin typeface="Arial" charset="0"/>
                <a:ea typeface="ＭＳ Ｐゴシック" charset="0"/>
              </a:rPr>
              <a:t>式  </a:t>
            </a:r>
            <a:r>
              <a:rPr lang="en-US" altLang="ja-JP">
                <a:latin typeface="Arial" charset="0"/>
                <a:ea typeface="ＭＳ Ｐゴシック" charset="0"/>
              </a:rPr>
              <a:t>*a </a:t>
            </a:r>
            <a:r>
              <a:rPr lang="ja-JP" altLang="en-US">
                <a:latin typeface="Arial" charset="0"/>
                <a:ea typeface="ＭＳ Ｐゴシック" charset="0"/>
              </a:rPr>
              <a:t>の型は何か。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推論規則</a:t>
            </a:r>
          </a:p>
        </p:txBody>
      </p:sp>
      <p:sp>
        <p:nvSpPr>
          <p:cNvPr id="29698" name="コンテンツ プレースホルダ 2"/>
          <p:cNvSpPr>
            <a:spLocks noGrp="1"/>
          </p:cNvSpPr>
          <p:nvPr>
            <p:ph idx="1"/>
          </p:nvPr>
        </p:nvSpPr>
        <p:spPr>
          <a:xfrm>
            <a:off x="685800" y="1981200"/>
            <a:ext cx="1957388" cy="13763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e : </a:t>
            </a: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</a:t>
            </a:r>
            <a:r>
              <a:rPr lang="ja-JP" altLang="en-US">
                <a:latin typeface="Arial" charset="0"/>
                <a:ea typeface="ＭＳ Ｐゴシック" charset="0"/>
                <a:sym typeface="Symbol" charset="0"/>
              </a:rPr>
              <a:t> </a:t>
            </a: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[ n ]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 e [ i ] : </a:t>
            </a:r>
            <a:r>
              <a:rPr lang="ja-JP" altLang="en-US">
                <a:latin typeface="Arial" charset="0"/>
                <a:ea typeface="ＭＳ Ｐゴシック" charset="0"/>
                <a:sym typeface="Symbol" charset="0"/>
              </a:rPr>
              <a:t> 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cxnSp>
        <p:nvCxnSpPr>
          <p:cNvPr id="29699" name="直線コネクタ 6"/>
          <p:cNvCxnSpPr>
            <a:cxnSpLocks noChangeShapeType="1"/>
          </p:cNvCxnSpPr>
          <p:nvPr/>
        </p:nvCxnSpPr>
        <p:spPr bwMode="auto">
          <a:xfrm rot="10800000" flipH="1">
            <a:off x="685800" y="2571750"/>
            <a:ext cx="19573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0" name="コンテンツ プレースホルダ 2"/>
          <p:cNvSpPr txBox="1">
            <a:spLocks/>
          </p:cNvSpPr>
          <p:nvPr/>
        </p:nvSpPr>
        <p:spPr bwMode="auto">
          <a:xfrm>
            <a:off x="3286125" y="2000250"/>
            <a:ext cx="19573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( )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e ( )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29701" name="直線コネクタ 19"/>
          <p:cNvCxnSpPr>
            <a:cxnSpLocks noChangeShapeType="1"/>
          </p:cNvCxnSpPr>
          <p:nvPr/>
        </p:nvCxnSpPr>
        <p:spPr bwMode="auto">
          <a:xfrm rot="10800000" flipH="1">
            <a:off x="3071813" y="2571750"/>
            <a:ext cx="19573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2" name="コンテンツ プレースホルダ 2"/>
          <p:cNvSpPr txBox="1">
            <a:spLocks/>
          </p:cNvSpPr>
          <p:nvPr/>
        </p:nvSpPr>
        <p:spPr bwMode="auto">
          <a:xfrm>
            <a:off x="5786438" y="2000250"/>
            <a:ext cx="1957387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*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* e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29703" name="直線コネクタ 21"/>
          <p:cNvCxnSpPr>
            <a:cxnSpLocks noChangeShapeType="1"/>
          </p:cNvCxnSpPr>
          <p:nvPr/>
        </p:nvCxnSpPr>
        <p:spPr bwMode="auto">
          <a:xfrm rot="10800000" flipH="1">
            <a:off x="5572125" y="2571750"/>
            <a:ext cx="19573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テキスト ボックス 22"/>
          <p:cNvSpPr txBox="1"/>
          <p:nvPr/>
        </p:nvSpPr>
        <p:spPr>
          <a:xfrm>
            <a:off x="928688" y="4929188"/>
            <a:ext cx="7000875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ja-JP" sz="3200" b="0" dirty="0">
                <a:ea typeface="ＭＳ Ｐゴシック" pitchFamily="80" charset="-128"/>
                <a:cs typeface="+mn-cs"/>
              </a:rPr>
              <a:t> e</a:t>
            </a:r>
            <a:r>
              <a:rPr lang="ja-JP" altLang="en-US" sz="3200" b="0" dirty="0">
                <a:ea typeface="ＭＳ Ｐゴシック" pitchFamily="80" charset="-128"/>
                <a:cs typeface="+mn-cs"/>
              </a:rPr>
              <a:t>は式、</a:t>
            </a:r>
            <a:r>
              <a:rPr lang="en-US" altLang="ja-JP" sz="3200" b="0" kern="0" dirty="0">
                <a:ea typeface="ＭＳ Ｐゴシック" pitchFamily="80" charset="-128"/>
                <a:cs typeface="+mn-cs"/>
                <a:sym typeface="Symbol"/>
              </a:rPr>
              <a:t> </a:t>
            </a:r>
            <a:r>
              <a:rPr lang="ja-JP" altLang="en-US" sz="3200" b="0" kern="0" dirty="0">
                <a:ea typeface="ＭＳ Ｐゴシック" pitchFamily="80" charset="-128"/>
                <a:cs typeface="+mn-cs"/>
                <a:sym typeface="Symbol"/>
              </a:rPr>
              <a:t>は型を表すメタ変数（説明のための変数）。</a:t>
            </a:r>
            <a:endParaRPr lang="en-US" altLang="ja-JP" sz="3200" b="0" kern="0" dirty="0">
              <a:ea typeface="ＭＳ Ｐゴシック" pitchFamily="80" charset="-128"/>
              <a:cs typeface="+mn-cs"/>
              <a:sym typeface="Symbol"/>
            </a:endParaRPr>
          </a:p>
        </p:txBody>
      </p:sp>
      <p:sp>
        <p:nvSpPr>
          <p:cNvPr id="29705" name="テキスト ボックス 23"/>
          <p:cNvSpPr txBox="1">
            <a:spLocks noChangeArrowheads="1"/>
          </p:cNvSpPr>
          <p:nvPr/>
        </p:nvSpPr>
        <p:spPr bwMode="auto">
          <a:xfrm>
            <a:off x="1357313" y="3357563"/>
            <a:ext cx="4660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3200" b="0"/>
              <a:t> 0 </a:t>
            </a:r>
            <a:r>
              <a:rPr lang="en-US" altLang="ja-JP" sz="3200" b="0">
                <a:sym typeface="Symbol" charset="0"/>
              </a:rPr>
              <a:t></a:t>
            </a:r>
            <a:r>
              <a:rPr lang="en-US" altLang="ja-JP" sz="3200" b="0"/>
              <a:t> i &lt; n, n </a:t>
            </a:r>
            <a:r>
              <a:rPr lang="ja-JP" altLang="en-US" sz="3200" b="0"/>
              <a:t>は正の整数。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30722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2143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(*a)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</a:t>
            </a:r>
            <a:r>
              <a:rPr lang="ja-JP" altLang="en-US" sz="2800">
                <a:latin typeface="Arial" charset="0"/>
                <a:ea typeface="ＭＳ Ｐゴシック" charset="0"/>
              </a:rPr>
              <a:t>式  </a:t>
            </a:r>
            <a:r>
              <a:rPr lang="en-US" altLang="ja-JP" sz="2800">
                <a:latin typeface="Arial" charset="0"/>
                <a:ea typeface="ＭＳ Ｐゴシック" charset="0"/>
              </a:rPr>
              <a:t>*a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の型は、</a:t>
            </a:r>
            <a:r>
              <a:rPr lang="en-US" altLang="ja-JP" sz="2800">
                <a:latin typeface="Arial" charset="0"/>
                <a:ea typeface="ＭＳ Ｐゴシック" charset="0"/>
              </a:rPr>
              <a:t>int [13]</a:t>
            </a:r>
            <a:r>
              <a:rPr lang="ja-JP" altLang="en-US" sz="2800">
                <a:latin typeface="Arial" charset="0"/>
                <a:ea typeface="ＭＳ Ｐゴシック" charset="0"/>
              </a:rPr>
              <a:t>であった。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これを、型宣言から推論規則で導くことができる。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30723" name="テキスト ボックス 3"/>
          <p:cNvSpPr txBox="1">
            <a:spLocks noChangeArrowheads="1"/>
          </p:cNvSpPr>
          <p:nvPr/>
        </p:nvSpPr>
        <p:spPr bwMode="auto">
          <a:xfrm>
            <a:off x="857250" y="3214688"/>
            <a:ext cx="21082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: int [13] *</a:t>
            </a:r>
          </a:p>
          <a:p>
            <a:r>
              <a:rPr lang="en-US" altLang="ja-JP" sz="2800" b="0"/>
              <a:t> *a  : int [13]</a:t>
            </a:r>
            <a:endParaRPr lang="ja-JP" altLang="en-US" sz="2800" b="0"/>
          </a:p>
        </p:txBody>
      </p:sp>
      <p:cxnSp>
        <p:nvCxnSpPr>
          <p:cNvPr id="30724" name="直線コネクタ 5"/>
          <p:cNvCxnSpPr>
            <a:cxnSpLocks noChangeShapeType="1"/>
            <a:stCxn id="30723" idx="1"/>
            <a:endCxn id="30723" idx="3"/>
          </p:cNvCxnSpPr>
          <p:nvPr/>
        </p:nvCxnSpPr>
        <p:spPr bwMode="auto">
          <a:xfrm>
            <a:off x="857250" y="3692525"/>
            <a:ext cx="210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31746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2143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(*a)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</a:t>
            </a:r>
            <a:r>
              <a:rPr lang="ja-JP" altLang="en-US" sz="2800">
                <a:latin typeface="Arial" charset="0"/>
                <a:ea typeface="ＭＳ Ｐゴシック" charset="0"/>
              </a:rPr>
              <a:t>式  </a:t>
            </a:r>
            <a:r>
              <a:rPr lang="en-US" altLang="ja-JP" sz="2800">
                <a:latin typeface="Arial" charset="0"/>
                <a:ea typeface="ＭＳ Ｐゴシック" charset="0"/>
              </a:rPr>
              <a:t>(*a) [3]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の型は、何になるか。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これを、型宣言から推論規則で導くと、以下のようになる。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31747" name="テキスト ボックス 3"/>
          <p:cNvSpPr txBox="1">
            <a:spLocks noChangeArrowheads="1"/>
          </p:cNvSpPr>
          <p:nvPr/>
        </p:nvSpPr>
        <p:spPr bwMode="auto">
          <a:xfrm>
            <a:off x="1928813" y="4044950"/>
            <a:ext cx="21082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: int [13] *</a:t>
            </a:r>
          </a:p>
          <a:p>
            <a:r>
              <a:rPr lang="en-US" altLang="ja-JP" sz="2800" b="0"/>
              <a:t> *a  : int [13]</a:t>
            </a:r>
          </a:p>
          <a:p>
            <a:r>
              <a:rPr lang="en-US" altLang="ja-JP" sz="2800" b="0"/>
              <a:t> (*a) [3] : int</a:t>
            </a:r>
            <a:endParaRPr lang="ja-JP" altLang="en-US" sz="2800" b="0"/>
          </a:p>
        </p:txBody>
      </p:sp>
      <p:cxnSp>
        <p:nvCxnSpPr>
          <p:cNvPr id="31748" name="直線コネクタ 7"/>
          <p:cNvCxnSpPr>
            <a:cxnSpLocks noChangeShapeType="1"/>
          </p:cNvCxnSpPr>
          <p:nvPr/>
        </p:nvCxnSpPr>
        <p:spPr bwMode="auto">
          <a:xfrm>
            <a:off x="1573213" y="4545013"/>
            <a:ext cx="32146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49" name="直線コネクタ 10"/>
          <p:cNvCxnSpPr>
            <a:cxnSpLocks noChangeShapeType="1"/>
          </p:cNvCxnSpPr>
          <p:nvPr/>
        </p:nvCxnSpPr>
        <p:spPr bwMode="auto">
          <a:xfrm>
            <a:off x="1573213" y="4973638"/>
            <a:ext cx="32146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32770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2143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</a:t>
            </a:r>
            <a:r>
              <a:rPr lang="ja-JP" altLang="en-US" sz="2800">
                <a:latin typeface="Arial" charset="0"/>
                <a:ea typeface="ＭＳ Ｐゴシック" charset="0"/>
              </a:rPr>
              <a:t>式  </a:t>
            </a:r>
            <a:r>
              <a:rPr lang="en-US" altLang="ja-JP" sz="2800">
                <a:latin typeface="Arial" charset="0"/>
                <a:ea typeface="ＭＳ Ｐゴシック" charset="0"/>
              </a:rPr>
              <a:t>b [1]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の型は、何になるか。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これを、型宣言から推論規則で導け。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33794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2143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</a:t>
            </a:r>
            <a:r>
              <a:rPr lang="ja-JP" altLang="en-US" sz="2800">
                <a:latin typeface="Arial" charset="0"/>
                <a:ea typeface="ＭＳ Ｐゴシック" charset="0"/>
              </a:rPr>
              <a:t>式  </a:t>
            </a:r>
            <a:r>
              <a:rPr lang="en-US" altLang="ja-JP" sz="2800">
                <a:latin typeface="Arial" charset="0"/>
                <a:ea typeface="ＭＳ Ｐゴシック" charset="0"/>
              </a:rPr>
              <a:t>b [1] [4]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の型は、何になるか。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これを、型宣言から推論規則で導け。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配列型について</a:t>
            </a:r>
          </a:p>
        </p:txBody>
      </p:sp>
      <p:sp>
        <p:nvSpPr>
          <p:cNvPr id="34818" name="コンテンツ プレースホルダ 10"/>
          <p:cNvSpPr>
            <a:spLocks noGrp="1"/>
          </p:cNvSpPr>
          <p:nvPr>
            <p:ph idx="1"/>
          </p:nvPr>
        </p:nvSpPr>
        <p:spPr>
          <a:xfrm>
            <a:off x="714375" y="1643063"/>
            <a:ext cx="7772400" cy="714375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配列型について、以下の推論規則を追加。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  <p:sp>
        <p:nvSpPr>
          <p:cNvPr id="34819" name="コンテンツ プレースホルダ 2"/>
          <p:cNvSpPr txBox="1">
            <a:spLocks/>
          </p:cNvSpPr>
          <p:nvPr/>
        </p:nvSpPr>
        <p:spPr bwMode="auto">
          <a:xfrm>
            <a:off x="1400175" y="2481263"/>
            <a:ext cx="1957388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[ n ]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e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  <a:endParaRPr lang="en-US" altLang="ja-JP" sz="3200" b="0"/>
          </a:p>
        </p:txBody>
      </p:sp>
      <p:cxnSp>
        <p:nvCxnSpPr>
          <p:cNvPr id="34820" name="直線コネクタ 6"/>
          <p:cNvCxnSpPr>
            <a:cxnSpLocks noChangeShapeType="1"/>
          </p:cNvCxnSpPr>
          <p:nvPr/>
        </p:nvCxnSpPr>
        <p:spPr bwMode="auto">
          <a:xfrm rot="10800000" flipH="1">
            <a:off x="1400175" y="3071813"/>
            <a:ext cx="19573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テキスト ボックス 5"/>
          <p:cNvSpPr txBox="1"/>
          <p:nvPr/>
        </p:nvSpPr>
        <p:spPr>
          <a:xfrm>
            <a:off x="714375" y="3714750"/>
            <a:ext cx="7500938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ja-JP" altLang="en-US" sz="2800" b="0" dirty="0">
                <a:ea typeface="ＭＳ Ｐゴシック" pitchFamily="80" charset="-128"/>
                <a:cs typeface="+mn-cs"/>
              </a:rPr>
              <a:t>ここで、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e : 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&amp;</a:t>
            </a:r>
            <a:r>
              <a:rPr lang="ja-JP" altLang="en-US" sz="2800" b="0" dirty="0">
                <a:ea typeface="ＭＳ Ｐゴシック" pitchFamily="80" charset="-128"/>
                <a:cs typeface="+mn-cs"/>
                <a:sym typeface="Symbol" pitchFamily="18" charset="2"/>
              </a:rPr>
              <a:t>は、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e : 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*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かつ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e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は左辺値（アドレス）を持たないことを表すものとする。</a:t>
            </a:r>
            <a:endParaRPr lang="en-US" altLang="ja-JP" sz="2800" b="0" kern="0" dirty="0">
              <a:ea typeface="ＭＳ Ｐゴシック" pitchFamily="80" charset="-128"/>
              <a:cs typeface="+mn-cs"/>
            </a:endParaRPr>
          </a:p>
        </p:txBody>
      </p:sp>
      <p:sp>
        <p:nvSpPr>
          <p:cNvPr id="34822" name="テキスト ボックス 6"/>
          <p:cNvSpPr txBox="1">
            <a:spLocks noChangeArrowheads="1"/>
          </p:cNvSpPr>
          <p:nvPr/>
        </p:nvSpPr>
        <p:spPr bwMode="auto">
          <a:xfrm>
            <a:off x="428625" y="5357813"/>
            <a:ext cx="8215313" cy="9540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 sz="2800" b="0"/>
              <a:t>この推論規則は、一番外側が配列型であれば、それをポインタ型に変更してもよいということを表している。</a:t>
            </a:r>
            <a:endParaRPr lang="en-US" altLang="ja-JP" sz="2800" b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代入演算子 </a:t>
            </a:r>
            <a:r>
              <a:rPr lang="en-US" altLang="ja-JP">
                <a:latin typeface="Arial" charset="0"/>
                <a:ea typeface="ＭＳ Ｐゴシック" charset="0"/>
              </a:rPr>
              <a:t>= </a:t>
            </a:r>
            <a:r>
              <a:rPr lang="ja-JP" altLang="en-US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35842" name="コンテンツ プレースホルダ 10"/>
          <p:cNvSpPr>
            <a:spLocks noGrp="1"/>
          </p:cNvSpPr>
          <p:nvPr>
            <p:ph idx="1"/>
          </p:nvPr>
        </p:nvSpPr>
        <p:spPr>
          <a:xfrm>
            <a:off x="428625" y="1500188"/>
            <a:ext cx="8072438" cy="714375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代入演算子 </a:t>
            </a:r>
            <a:r>
              <a:rPr lang="en-US" altLang="ja-JP" sz="2800">
                <a:latin typeface="Arial" charset="0"/>
                <a:ea typeface="ＭＳ Ｐゴシック" charset="0"/>
              </a:rPr>
              <a:t>= </a:t>
            </a:r>
            <a:r>
              <a:rPr lang="ja-JP" altLang="en-US" sz="2800">
                <a:latin typeface="Arial" charset="0"/>
                <a:ea typeface="ＭＳ Ｐゴシック" charset="0"/>
              </a:rPr>
              <a:t>について、以下の推論規則を追加。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  <p:sp>
        <p:nvSpPr>
          <p:cNvPr id="35843" name="コンテンツ プレースホルダ 2"/>
          <p:cNvSpPr txBox="1">
            <a:spLocks/>
          </p:cNvSpPr>
          <p:nvPr/>
        </p:nvSpPr>
        <p:spPr bwMode="auto">
          <a:xfrm>
            <a:off x="1400175" y="2481263"/>
            <a:ext cx="2886075" cy="123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    </a:t>
            </a:r>
            <a:r>
              <a:rPr lang="en-US" altLang="ja-JP" sz="3200" b="0"/>
              <a:t>e’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>
              <a:sym typeface="Symbo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  e = e’  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35844" name="直線コネクタ 6"/>
          <p:cNvCxnSpPr>
            <a:cxnSpLocks noChangeShapeType="1"/>
          </p:cNvCxnSpPr>
          <p:nvPr/>
        </p:nvCxnSpPr>
        <p:spPr bwMode="auto">
          <a:xfrm flipV="1">
            <a:off x="1400175" y="3071813"/>
            <a:ext cx="26003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5" name="テキスト ボックス 8"/>
          <p:cNvSpPr txBox="1">
            <a:spLocks noChangeArrowheads="1"/>
          </p:cNvSpPr>
          <p:nvPr/>
        </p:nvSpPr>
        <p:spPr bwMode="auto">
          <a:xfrm>
            <a:off x="500063" y="4071938"/>
            <a:ext cx="80724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 sz="2800" b="0"/>
              <a:t>ただし、</a:t>
            </a:r>
            <a:r>
              <a:rPr lang="en-US" altLang="ja-JP" sz="2800" b="0"/>
              <a:t>e</a:t>
            </a:r>
            <a:r>
              <a:rPr lang="ja-JP" altLang="en-US" sz="2800" b="0"/>
              <a:t>は左辺値を持つ式であり、かつ定数ではない。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演算子</a:t>
            </a:r>
            <a:r>
              <a:rPr lang="en-US" altLang="ja-JP">
                <a:latin typeface="Arial" charset="0"/>
                <a:ea typeface="ＭＳ Ｐゴシック" charset="0"/>
              </a:rPr>
              <a:t>&amp;</a:t>
            </a:r>
            <a:r>
              <a:rPr lang="ja-JP" altLang="en-US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36866" name="コンテンツ プレースホルダ 10"/>
          <p:cNvSpPr>
            <a:spLocks noGrp="1"/>
          </p:cNvSpPr>
          <p:nvPr>
            <p:ph idx="1"/>
          </p:nvPr>
        </p:nvSpPr>
        <p:spPr>
          <a:xfrm>
            <a:off x="714375" y="1643063"/>
            <a:ext cx="7772400" cy="714375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演算子</a:t>
            </a:r>
            <a:r>
              <a:rPr lang="en-US" altLang="ja-JP" sz="2800">
                <a:latin typeface="Arial" charset="0"/>
                <a:ea typeface="ＭＳ Ｐゴシック" charset="0"/>
              </a:rPr>
              <a:t>&amp;</a:t>
            </a:r>
            <a:r>
              <a:rPr lang="ja-JP" altLang="en-US" sz="2800">
                <a:latin typeface="Arial" charset="0"/>
                <a:ea typeface="ＭＳ Ｐゴシック" charset="0"/>
              </a:rPr>
              <a:t>について以下の推論規則を追加。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63" y="4071938"/>
            <a:ext cx="80724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ja-JP" altLang="en-US" sz="2800" b="0" dirty="0">
                <a:ea typeface="ＭＳ Ｐゴシック" pitchFamily="80" charset="-128"/>
                <a:cs typeface="+mn-cs"/>
              </a:rPr>
              <a:t>ただし、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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の一番右側（一番外側）は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&amp;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ではない。</a:t>
            </a:r>
            <a:endParaRPr lang="ja-JP" altLang="en-US" sz="2800" b="0" dirty="0">
              <a:ea typeface="ＭＳ Ｐゴシック" pitchFamily="80" charset="-128"/>
              <a:cs typeface="+mn-cs"/>
            </a:endParaRPr>
          </a:p>
        </p:txBody>
      </p:sp>
      <p:sp>
        <p:nvSpPr>
          <p:cNvPr id="36868" name="コンテンツ プレースホルダ 2"/>
          <p:cNvSpPr txBox="1">
            <a:spLocks/>
          </p:cNvSpPr>
          <p:nvPr/>
        </p:nvSpPr>
        <p:spPr bwMode="auto">
          <a:xfrm>
            <a:off x="357188" y="2338388"/>
            <a:ext cx="195738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</a:t>
            </a:r>
            <a:r>
              <a:rPr lang="ja-JP" altLang="en-US" sz="3200" b="0"/>
              <a:t>   </a:t>
            </a:r>
            <a:r>
              <a:rPr lang="en-US" altLang="ja-JP" sz="3200" b="0"/>
              <a:t>e : </a:t>
            </a:r>
            <a:r>
              <a:rPr lang="en-US" altLang="ja-JP" sz="3200" b="0">
                <a:sym typeface="Symbol" charset="0"/>
              </a:rPr>
              <a:t></a:t>
            </a:r>
          </a:p>
          <a:p>
            <a:pPr eaLnBrk="0" hangingPunct="0">
              <a:spcBef>
                <a:spcPct val="20000"/>
              </a:spcBef>
            </a:pP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&amp;e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  <a:endParaRPr lang="en-US" altLang="ja-JP" sz="3200" b="0"/>
          </a:p>
        </p:txBody>
      </p:sp>
      <p:cxnSp>
        <p:nvCxnSpPr>
          <p:cNvPr id="36869" name="直線コネクタ 6"/>
          <p:cNvCxnSpPr>
            <a:cxnSpLocks noChangeShapeType="1"/>
          </p:cNvCxnSpPr>
          <p:nvPr/>
        </p:nvCxnSpPr>
        <p:spPr bwMode="auto">
          <a:xfrm flipV="1">
            <a:off x="357188" y="2928938"/>
            <a:ext cx="18573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0" name="コンテンツ プレースホルダ 2"/>
          <p:cNvSpPr txBox="1">
            <a:spLocks/>
          </p:cNvSpPr>
          <p:nvPr/>
        </p:nvSpPr>
        <p:spPr bwMode="auto">
          <a:xfrm>
            <a:off x="2957513" y="2357438"/>
            <a:ext cx="195738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* e 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36871" name="直線コネクタ 19"/>
          <p:cNvCxnSpPr>
            <a:cxnSpLocks noChangeShapeType="1"/>
          </p:cNvCxnSpPr>
          <p:nvPr/>
        </p:nvCxnSpPr>
        <p:spPr bwMode="auto">
          <a:xfrm rot="10800000" flipH="1">
            <a:off x="2743200" y="2928938"/>
            <a:ext cx="19573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2" name="コンテンツ プレースホルダ 2"/>
          <p:cNvSpPr txBox="1">
            <a:spLocks/>
          </p:cNvSpPr>
          <p:nvPr/>
        </p:nvSpPr>
        <p:spPr bwMode="auto">
          <a:xfrm>
            <a:off x="5457825" y="2357438"/>
            <a:ext cx="3214688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*     e’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e  = e’  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  <a:endParaRPr lang="en-US" altLang="ja-JP" sz="3200" b="0"/>
          </a:p>
        </p:txBody>
      </p:sp>
      <p:cxnSp>
        <p:nvCxnSpPr>
          <p:cNvPr id="36873" name="直線コネクタ 21"/>
          <p:cNvCxnSpPr>
            <a:cxnSpLocks noChangeShapeType="1"/>
          </p:cNvCxnSpPr>
          <p:nvPr/>
        </p:nvCxnSpPr>
        <p:spPr bwMode="auto">
          <a:xfrm flipV="1">
            <a:off x="5243513" y="2928938"/>
            <a:ext cx="3429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最初の例</a:t>
            </a:r>
          </a:p>
        </p:txBody>
      </p:sp>
      <p:sp>
        <p:nvSpPr>
          <p:cNvPr id="37890" name="コンテンツ プレースホルダ 10"/>
          <p:cNvSpPr>
            <a:spLocks noGrp="1"/>
          </p:cNvSpPr>
          <p:nvPr>
            <p:ph idx="1"/>
          </p:nvPr>
        </p:nvSpPr>
        <p:spPr>
          <a:xfrm>
            <a:off x="428625" y="1143000"/>
            <a:ext cx="7772400" cy="27146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a : int [13] *</a:t>
            </a: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b : int [13] [2]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の型宣言があるとき、代入式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a = b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が型について整合性があることを確認。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4357688" y="4143375"/>
            <a:ext cx="23987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: int [13] [2]</a:t>
            </a:r>
          </a:p>
          <a:p>
            <a:r>
              <a:rPr lang="en-US" altLang="ja-JP" sz="2800" b="0"/>
              <a:t> b : int [13] &amp;</a:t>
            </a:r>
            <a:endParaRPr lang="ja-JP" altLang="en-US" sz="2800" b="0"/>
          </a:p>
        </p:txBody>
      </p:sp>
      <p:sp>
        <p:nvSpPr>
          <p:cNvPr id="37892" name="テキスト ボックス 14"/>
          <p:cNvSpPr txBox="1">
            <a:spLocks noChangeArrowheads="1"/>
          </p:cNvSpPr>
          <p:nvPr/>
        </p:nvSpPr>
        <p:spPr bwMode="auto">
          <a:xfrm>
            <a:off x="1384300" y="4572000"/>
            <a:ext cx="210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: int [13] *</a:t>
            </a:r>
            <a:endParaRPr lang="ja-JP" altLang="en-US" sz="2800" b="0"/>
          </a:p>
        </p:txBody>
      </p:sp>
      <p:sp>
        <p:nvSpPr>
          <p:cNvPr id="37893" name="テキスト ボックス 15"/>
          <p:cNvSpPr txBox="1">
            <a:spLocks noChangeArrowheads="1"/>
          </p:cNvSpPr>
          <p:nvPr/>
        </p:nvSpPr>
        <p:spPr bwMode="auto">
          <a:xfrm>
            <a:off x="2730500" y="5143500"/>
            <a:ext cx="284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= b : int [13] &amp;</a:t>
            </a:r>
            <a:endParaRPr lang="ja-JP" altLang="en-US" sz="2800" b="0"/>
          </a:p>
        </p:txBody>
      </p:sp>
      <p:cxnSp>
        <p:nvCxnSpPr>
          <p:cNvPr id="37894" name="直線コネクタ 17"/>
          <p:cNvCxnSpPr>
            <a:cxnSpLocks noChangeShapeType="1"/>
            <a:stCxn id="37891" idx="1"/>
            <a:endCxn id="37891" idx="3"/>
          </p:cNvCxnSpPr>
          <p:nvPr/>
        </p:nvCxnSpPr>
        <p:spPr bwMode="auto">
          <a:xfrm rot="10800000" flipH="1">
            <a:off x="4357688" y="4621213"/>
            <a:ext cx="23987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5" name="直線コネクタ 21"/>
          <p:cNvCxnSpPr>
            <a:cxnSpLocks noChangeShapeType="1"/>
          </p:cNvCxnSpPr>
          <p:nvPr/>
        </p:nvCxnSpPr>
        <p:spPr bwMode="auto">
          <a:xfrm>
            <a:off x="1214438" y="5072063"/>
            <a:ext cx="57864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注意事項</a:t>
            </a:r>
          </a:p>
        </p:txBody>
      </p:sp>
      <p:sp>
        <p:nvSpPr>
          <p:cNvPr id="38914" name="コンテンツ プレースホルダ 10"/>
          <p:cNvSpPr>
            <a:spLocks noGrp="1"/>
          </p:cNvSpPr>
          <p:nvPr>
            <p:ph idx="1"/>
          </p:nvPr>
        </p:nvSpPr>
        <p:spPr>
          <a:xfrm>
            <a:off x="571500" y="1643063"/>
            <a:ext cx="7772400" cy="3500437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実際の</a:t>
            </a:r>
            <a:r>
              <a:rPr lang="en-US" altLang="ja-JP" sz="2800">
                <a:latin typeface="Arial" charset="0"/>
                <a:ea typeface="ＭＳ Ｐゴシック" charset="0"/>
              </a:rPr>
              <a:t>C</a:t>
            </a:r>
            <a:r>
              <a:rPr lang="ja-JP" altLang="en-US" sz="2800">
                <a:latin typeface="Arial" charset="0"/>
                <a:ea typeface="ＭＳ Ｐゴシック" charset="0"/>
              </a:rPr>
              <a:t>言語では、関数に引数がある。その他、構造体、共用体など、今回扱っていない構文がある。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Ｃ言語では共用体の型はチェックしない。中にどの型のデータが入っているかはプログラマが認識していなければならない。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39938" name="コンテンツ プレースホルダ 10"/>
          <p:cNvSpPr>
            <a:spLocks noGrp="1"/>
          </p:cNvSpPr>
          <p:nvPr>
            <p:ph idx="1"/>
          </p:nvPr>
        </p:nvSpPr>
        <p:spPr>
          <a:xfrm>
            <a:off x="571500" y="1643063"/>
            <a:ext cx="7772400" cy="35004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p : int *</a:t>
            </a: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a : int [10]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の型宣言があるとき、代入式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p = &amp;a[1]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が型に関して整合性があることを示せ。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1678</Words>
  <Application>Microsoft Macintosh PowerPoint</Application>
  <PresentationFormat>画面に合わせる (4:3)</PresentationFormat>
  <Paragraphs>168</Paragraphs>
  <Slides>24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新しいプレゼンテーション</vt:lpstr>
      <vt:lpstr>プログラミング言語論</vt:lpstr>
      <vt:lpstr>型とは</vt:lpstr>
      <vt:lpstr>型</vt:lpstr>
      <vt:lpstr>C言語の型宣言について</vt:lpstr>
      <vt:lpstr>C言語の型宣言について</vt:lpstr>
      <vt:lpstr>（参考）</vt:lpstr>
      <vt:lpstr>C言語の型宣言について</vt:lpstr>
      <vt:lpstr>優先順位</vt:lpstr>
      <vt:lpstr>練習問題</vt:lpstr>
      <vt:lpstr>練習問題</vt:lpstr>
      <vt:lpstr>練習問題</vt:lpstr>
      <vt:lpstr>例</vt:lpstr>
      <vt:lpstr>練習問題</vt:lpstr>
      <vt:lpstr>推論規則</vt:lpstr>
      <vt:lpstr>例</vt:lpstr>
      <vt:lpstr>例</vt:lpstr>
      <vt:lpstr>練習問題</vt:lpstr>
      <vt:lpstr>練習問題</vt:lpstr>
      <vt:lpstr>配列型について</vt:lpstr>
      <vt:lpstr>代入演算子 = について</vt:lpstr>
      <vt:lpstr>演算子&amp;について</vt:lpstr>
      <vt:lpstr>最初の例</vt:lpstr>
      <vt:lpstr>注意事項</vt:lpstr>
      <vt:lpstr>練習問題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Sasano Isao</cp:lastModifiedBy>
  <cp:revision>333</cp:revision>
  <dcterms:created xsi:type="dcterms:W3CDTF">2006-11-28T12:30:10Z</dcterms:created>
  <dcterms:modified xsi:type="dcterms:W3CDTF">2012-11-26T02:29:21Z</dcterms:modified>
</cp:coreProperties>
</file>