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3" r:id="rId17"/>
    <p:sldId id="274" r:id="rId18"/>
    <p:sldId id="275" r:id="rId19"/>
    <p:sldId id="276" r:id="rId20"/>
    <p:sldId id="277" r:id="rId21"/>
    <p:sldId id="278" r:id="rId22"/>
    <p:sldId id="281" r:id="rId23"/>
    <p:sldId id="282" r:id="rId24"/>
    <p:sldId id="283" r:id="rId25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44" autoAdjust="0"/>
    <p:restoredTop sz="94660"/>
  </p:normalViewPr>
  <p:slideViewPr>
    <p:cSldViewPr>
      <p:cViewPr varScale="1">
        <p:scale>
          <a:sx n="99" d="100"/>
          <a:sy n="99" d="100"/>
        </p:scale>
        <p:origin x="-180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interSettings" Target="printerSettings/printerSettings1.bin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1D0DAA-63F4-43D0-882A-891F9A495018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4" name="スライド イメージ プレースホル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29AB60-EC55-4CBA-8BF9-263FFA6C8C8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224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C6C8F3D-D316-4F32-AE71-4C689743B955}" type="slidenum">
              <a:rPr lang="en-US" altLang="ja-JP" smtClean="0">
                <a:ea typeface="ＭＳ Ｐゴシック" charset="-128"/>
              </a:rPr>
              <a:pPr/>
              <a:t>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40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1F940BC-EA87-4AF8-B874-D6422B0A40BA}" type="slidenum">
              <a:rPr lang="en-US" altLang="ja-JP" smtClean="0">
                <a:ea typeface="ＭＳ Ｐゴシック" charset="-128"/>
              </a:rPr>
              <a:pPr/>
              <a:t>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F260B9-00DC-4491-B76E-C2E98E6DADDB}" type="slidenum">
              <a:rPr lang="en-US" altLang="ja-JP" smtClean="0">
                <a:ea typeface="ＭＳ Ｐゴシック" charset="-128"/>
              </a:rPr>
              <a:pPr/>
              <a:t>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60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12A121A-9FA4-4DCB-87F3-5EDFB5E48F90}" type="slidenum">
              <a:rPr lang="en-US" altLang="ja-JP" smtClean="0">
                <a:ea typeface="ＭＳ Ｐゴシック" charset="-128"/>
              </a:rPr>
              <a:pPr/>
              <a:t>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B9AD0B9-5DE7-4028-B435-FE0DA71A29CA}" type="slidenum">
              <a:rPr lang="en-US" altLang="ja-JP" smtClean="0">
                <a:ea typeface="ＭＳ Ｐゴシック" charset="-128"/>
              </a:rPr>
              <a:pPr/>
              <a:t>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81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2F0F87B-898B-4A1F-A948-3E00037A0C2D}" type="slidenum">
              <a:rPr lang="en-US" altLang="ja-JP" smtClean="0">
                <a:ea typeface="ＭＳ Ｐゴシック" charset="-128"/>
              </a:rPr>
              <a:pPr/>
              <a:t>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491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C894A68-91A0-42F4-93BD-6644468D3CD5}" type="slidenum">
              <a:rPr lang="en-US" altLang="ja-JP" smtClean="0">
                <a:ea typeface="ＭＳ Ｐゴシック" charset="-128"/>
              </a:rPr>
              <a:pPr/>
              <a:t>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01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A46BD8C-1265-48A8-8D0E-969D3FF2D714}" type="slidenum">
              <a:rPr lang="en-US" altLang="ja-JP" smtClean="0">
                <a:ea typeface="ＭＳ Ｐゴシック" charset="-128"/>
              </a:rPr>
              <a:pPr/>
              <a:t>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467FB83-36C7-4B85-AA3B-2631DCD77994}" type="slidenum">
              <a:rPr lang="en-US" altLang="ja-JP" smtClean="0">
                <a:ea typeface="ＭＳ Ｐゴシック" charset="-128"/>
              </a:rPr>
              <a:pPr/>
              <a:t>10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F9CEA02-B809-4308-98C5-3DDCEF9C44F6}" type="slidenum">
              <a:rPr lang="en-US" altLang="ja-JP" smtClean="0">
                <a:ea typeface="ＭＳ Ｐゴシック" charset="-128"/>
              </a:rPr>
              <a:pPr/>
              <a:t>11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32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CC84D5D-9646-4D1E-8695-9B14129A1778}" type="slidenum">
              <a:rPr lang="en-US" altLang="ja-JP" smtClean="0">
                <a:ea typeface="ＭＳ Ｐゴシック" charset="-128"/>
              </a:rPr>
              <a:pPr/>
              <a:t>12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C29C757-624B-47C3-9455-E03C5E4201BB}" type="slidenum">
              <a:rPr lang="en-US" altLang="ja-JP" smtClean="0">
                <a:ea typeface="ＭＳ Ｐゴシック" charset="-128"/>
              </a:rPr>
              <a:pPr/>
              <a:t>13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97D4C08-7C19-48B7-88EE-6C48DDDA3B84}" type="slidenum">
              <a:rPr lang="en-US" altLang="ja-JP" smtClean="0">
                <a:ea typeface="ＭＳ Ｐゴシック" charset="-128"/>
              </a:rPr>
              <a:pPr/>
              <a:t>14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73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F59E60E-9DF3-49CF-91ED-B6CE4E484CF4}" type="slidenum">
              <a:rPr lang="en-US" altLang="ja-JP" smtClean="0">
                <a:ea typeface="ＭＳ Ｐゴシック" charset="-128"/>
              </a:rPr>
              <a:pPr/>
              <a:t>15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3B03E70-EEC4-4A43-8849-1F5FC84053BC}" type="slidenum">
              <a:rPr lang="en-US" altLang="ja-JP" smtClean="0">
                <a:ea typeface="ＭＳ Ｐゴシック" charset="-128"/>
              </a:rPr>
              <a:pPr/>
              <a:t>16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B43872D-86BB-499D-8148-F00CA873798D}" type="slidenum">
              <a:rPr lang="en-US" altLang="ja-JP" smtClean="0">
                <a:ea typeface="ＭＳ Ｐゴシック" charset="-128"/>
              </a:rPr>
              <a:pPr/>
              <a:t>17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14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EF6E14D-A099-4D59-8C40-5FE3AF23C25E}" type="slidenum">
              <a:rPr lang="en-US" altLang="ja-JP" smtClean="0">
                <a:ea typeface="ＭＳ Ｐゴシック" charset="-128"/>
              </a:rPr>
              <a:pPr/>
              <a:t>18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596EBF3-D614-4E1A-9608-EE0A647F3549}" type="slidenum">
              <a:rPr lang="en-US" altLang="ja-JP" smtClean="0">
                <a:ea typeface="ＭＳ Ｐゴシック" charset="-128"/>
              </a:rPr>
              <a:pPr/>
              <a:t>19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D127E2C-1162-49ED-B224-C62687AC29C2}" type="slidenum">
              <a:rPr lang="en-US" altLang="ja-JP" smtClean="0">
                <a:ea typeface="ＭＳ Ｐゴシック" charset="-128"/>
              </a:rPr>
              <a:pPr/>
              <a:t>20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E25DBAC-6177-4B21-AEEC-95A0182522F1}" type="slidenum">
              <a:rPr lang="en-US" altLang="ja-JP" smtClean="0">
                <a:ea typeface="ＭＳ Ｐゴシック" charset="-128"/>
              </a:rPr>
              <a:pPr/>
              <a:t>21</a:t>
            </a:fld>
            <a:endParaRPr lang="en-US" altLang="ja-JP" smtClean="0">
              <a:ea typeface="ＭＳ Ｐゴシック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B0352B6B-ABB7-4005-AD01-451F9331265A}" type="slidenum">
              <a:rPr lang="en-US" altLang="ja-JP" sz="1200"/>
              <a:pPr algn="r"/>
              <a:t>22</a:t>
            </a:fld>
            <a:endParaRPr lang="en-US" altLang="ja-JP" sz="120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7AA27C84-A065-4E5A-B055-7273BAAF5FCE}" type="slidenum">
              <a:rPr lang="en-US" altLang="ja-JP" sz="1200"/>
              <a:pPr algn="r"/>
              <a:t>23</a:t>
            </a:fld>
            <a:endParaRPr lang="en-US" altLang="ja-JP" sz="1200"/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/>
            <a:fld id="{3AE8AC6F-54ED-4268-B99C-F9B84F3C1CDC}" type="slidenum">
              <a:rPr lang="en-US" altLang="ja-JP" sz="1200"/>
              <a:pPr algn="r"/>
              <a:t>24</a:t>
            </a:fld>
            <a:endParaRPr lang="en-US" altLang="ja-JP" sz="1200"/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ja-JP" altLang="ja-JP" smtClean="0">
              <a:ea typeface="ＭＳ Ｐゴシック" pitchFamily="50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ja-JP" altLang="en-US" smtClean="0"/>
              <a:t>マスタ サブタイトルの書式設定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8" name="フッター プレースホル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日付プレースホル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4" name="フッター プレースホル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3" name="フッター プレースホル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kumimoji="1" lang="ja-JP" altLang="en-US" smtClean="0"/>
              <a:t>マスタ テキストの書式設定</a:t>
            </a:r>
          </a:p>
        </p:txBody>
      </p:sp>
      <p:sp>
        <p:nvSpPr>
          <p:cNvPr id="5" name="日付プレースホル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6" name="フッター プレースホル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 タイトルの書式設定</a:t>
            </a:r>
            <a:endParaRPr kumimoji="1"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0ED720-0104-4369-84BC-D37694168613}" type="datetimeFigureOut">
              <a:rPr kumimoji="1" lang="ja-JP" altLang="en-US" smtClean="0"/>
              <a:pPr/>
              <a:t>12/10/28</a:t>
            </a:fld>
            <a:endParaRPr kumimoji="1" lang="ja-JP" altLang="en-US"/>
          </a:p>
        </p:txBody>
      </p:sp>
      <p:sp>
        <p:nvSpPr>
          <p:cNvPr id="5" name="フッター プレースホル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D8002D-B5B0-4BAC-B1F6-782DDCCE6D9C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642910" y="1643050"/>
            <a:ext cx="7772400" cy="941385"/>
          </a:xfrm>
        </p:spPr>
        <p:txBody>
          <a:bodyPr/>
          <a:lstStyle/>
          <a:p>
            <a:r>
              <a:rPr lang="ja-JP" altLang="en-US" dirty="0" smtClean="0"/>
              <a:t>プログラミング言語論</a:t>
            </a:r>
            <a:endParaRPr kumimoji="1" lang="ja-JP" altLang="en-US" dirty="0"/>
          </a:p>
        </p:txBody>
      </p:sp>
      <p:sp>
        <p:nvSpPr>
          <p:cNvPr id="4" name="テキスト ボックス 3"/>
          <p:cNvSpPr txBox="1"/>
          <p:nvPr/>
        </p:nvSpPr>
        <p:spPr>
          <a:xfrm>
            <a:off x="1285852" y="2928934"/>
            <a:ext cx="63579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第</a:t>
            </a:r>
            <a:r>
              <a:rPr lang="ja-JP" altLang="en-US" sz="3200" dirty="0" smtClean="0"/>
              <a:t>６</a:t>
            </a:r>
            <a:r>
              <a:rPr kumimoji="1" lang="ja-JP" altLang="en-US" sz="3200" dirty="0" smtClean="0"/>
              <a:t>回</a:t>
            </a:r>
            <a:endParaRPr kumimoji="1" lang="en-US" altLang="ja-JP" sz="3200" dirty="0" smtClean="0"/>
          </a:p>
          <a:p>
            <a:pPr algn="ctr"/>
            <a:r>
              <a:rPr lang="en-US" altLang="ja-JP" sz="3200" dirty="0" smtClean="0"/>
              <a:t>C</a:t>
            </a:r>
            <a:r>
              <a:rPr lang="ja-JP" altLang="en-US" sz="3200" dirty="0" smtClean="0"/>
              <a:t>言語の</a:t>
            </a:r>
            <a:r>
              <a:rPr lang="en-US" altLang="ja-JP" sz="3200" dirty="0" smtClean="0"/>
              <a:t>subset</a:t>
            </a:r>
            <a:r>
              <a:rPr lang="ja-JP" altLang="en-US" sz="3200" dirty="0" smtClean="0"/>
              <a:t>の意味の</a:t>
            </a:r>
            <a:r>
              <a:rPr lang="ja-JP" altLang="en-US" sz="3200" dirty="0" smtClean="0"/>
              <a:t>定義</a:t>
            </a:r>
            <a:endParaRPr lang="en-US" altLang="ja-JP" sz="3200" dirty="0" smtClean="0"/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680132" y="5120358"/>
            <a:ext cx="35349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dirty="0" smtClean="0"/>
              <a:t>情報工学科　篠埜　功</a:t>
            </a:r>
            <a:endParaRPr kumimoji="1"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今日の内容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7815263" cy="3162312"/>
          </a:xfrm>
        </p:spPr>
        <p:txBody>
          <a:bodyPr>
            <a:normAutofit/>
          </a:bodyPr>
          <a:lstStyle/>
          <a:p>
            <a:r>
              <a:rPr lang="en-US" altLang="ja-JP" sz="2800" dirty="0" smtClean="0"/>
              <a:t>C</a:t>
            </a:r>
            <a:r>
              <a:rPr lang="ja-JP" altLang="en-US" sz="2800" dirty="0" smtClean="0"/>
              <a:t>言語の非常に小さい</a:t>
            </a:r>
            <a:r>
              <a:rPr lang="en-US" altLang="ja-JP" sz="2800" dirty="0" smtClean="0"/>
              <a:t>subset</a:t>
            </a:r>
            <a:r>
              <a:rPr lang="ja-JP" altLang="en-US" sz="2800" dirty="0" smtClean="0"/>
              <a:t>の意味を操作的意味論（</a:t>
            </a:r>
            <a:r>
              <a:rPr lang="en-US" altLang="ja-JP" sz="2800" dirty="0" smtClean="0"/>
              <a:t>operational semantics</a:t>
            </a:r>
            <a:r>
              <a:rPr lang="ja-JP" altLang="en-US" sz="2800" dirty="0" smtClean="0"/>
              <a:t>）で定義する。 </a:t>
            </a:r>
            <a:endParaRPr lang="en-US" altLang="ja-JP" sz="2800" dirty="0" smtClean="0"/>
          </a:p>
          <a:p>
            <a:pPr lvl="1"/>
            <a:r>
              <a:rPr lang="ja-JP" altLang="en-US" dirty="0" smtClean="0"/>
              <a:t>操作的意味論の中の、自然意味論（</a:t>
            </a:r>
            <a:r>
              <a:rPr lang="en-US" altLang="ja-JP" dirty="0" smtClean="0"/>
              <a:t>Natural Semantics</a:t>
            </a:r>
            <a:r>
              <a:rPr lang="ja-JP" altLang="en-US" dirty="0" smtClean="0"/>
              <a:t>）あるいは構造的な操作的意味論</a:t>
            </a:r>
            <a:r>
              <a:rPr lang="en-US" altLang="ja-JP" dirty="0" smtClean="0"/>
              <a:t>(Structural operational semantics</a:t>
            </a:r>
            <a:r>
              <a:rPr lang="ja-JP" altLang="en-US" dirty="0" smtClean="0"/>
              <a:t>）と呼ばれる意味論で定義する。</a:t>
            </a:r>
            <a:endParaRPr lang="en-US" altLang="ja-JP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算術式の意味</a:t>
            </a:r>
          </a:p>
        </p:txBody>
      </p:sp>
      <p:sp>
        <p:nvSpPr>
          <p:cNvPr id="16387" name="テキスト ボックス 3"/>
          <p:cNvSpPr txBox="1">
            <a:spLocks noChangeArrowheads="1"/>
          </p:cNvSpPr>
          <p:nvPr/>
        </p:nvSpPr>
        <p:spPr bwMode="auto">
          <a:xfrm>
            <a:off x="1142976" y="2428868"/>
            <a:ext cx="6572250" cy="35394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::=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/>
              <a:t> </a:t>
            </a:r>
            <a:endParaRPr lang="en-US" altLang="ja-JP" sz="2800" b="0" dirty="0"/>
          </a:p>
          <a:p>
            <a:r>
              <a:rPr lang="en-US" altLang="ja-JP" sz="2800" b="0" dirty="0"/>
              <a:t>          | </a:t>
            </a:r>
            <a:r>
              <a:rPr lang="en-US" altLang="ja-JP" sz="2800" b="0" dirty="0" smtClean="0"/>
              <a:t>&lt;</a:t>
            </a:r>
            <a:r>
              <a:rPr lang="ja-JP" altLang="en-US" sz="2800" dirty="0" smtClean="0"/>
              <a:t>変数</a:t>
            </a:r>
            <a:r>
              <a:rPr lang="en-US" altLang="ja-JP" sz="2800" b="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+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-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 </a:t>
            </a:r>
          </a:p>
          <a:p>
            <a:r>
              <a:rPr lang="en-US" altLang="ja-JP" sz="2800" b="0" dirty="0"/>
              <a:t>          | (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*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)</a:t>
            </a:r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 ::= X | Y | </a:t>
            </a:r>
            <a:r>
              <a:rPr lang="en-US" altLang="ja-JP" sz="2800" dirty="0" smtClean="0"/>
              <a:t>Z</a:t>
            </a:r>
          </a:p>
          <a:p>
            <a:r>
              <a:rPr lang="en-US" altLang="ja-JP" sz="2800" dirty="0" smtClean="0"/>
              <a:t>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::=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 | &lt;</a:t>
            </a:r>
            <a:r>
              <a:rPr lang="ja-JP" altLang="en-US" sz="2800" dirty="0" smtClean="0"/>
              <a:t>数字列</a:t>
            </a:r>
            <a:r>
              <a:rPr lang="en-US" altLang="ja-JP" sz="2800" dirty="0" smtClean="0"/>
              <a:t>&gt; &lt;</a:t>
            </a:r>
            <a:r>
              <a:rPr lang="ja-JP" altLang="en-US" sz="2800" dirty="0" smtClean="0"/>
              <a:t>数字</a:t>
            </a:r>
            <a:r>
              <a:rPr lang="en-US" altLang="ja-JP" sz="2800" dirty="0" smtClean="0"/>
              <a:t>&gt;</a:t>
            </a:r>
            <a:endParaRPr lang="en-US" altLang="ja-JP" sz="2800" b="0" dirty="0"/>
          </a:p>
          <a:p>
            <a:r>
              <a:rPr lang="en-US" altLang="ja-JP" sz="2800" b="0" dirty="0"/>
              <a:t>&lt;</a:t>
            </a:r>
            <a:r>
              <a:rPr lang="ja-JP" altLang="en-US" sz="2800" b="0" dirty="0"/>
              <a:t>数字</a:t>
            </a:r>
            <a:r>
              <a:rPr lang="en-US" altLang="ja-JP" sz="2800" b="0" dirty="0"/>
              <a:t>&gt; ::= 0 | 1 | 2 | 3 | 4 | 5 | 6 | 7 | 8 | </a:t>
            </a:r>
            <a:r>
              <a:rPr lang="en-US" altLang="ja-JP" sz="2800" b="0" dirty="0" smtClean="0"/>
              <a:t>9</a:t>
            </a:r>
            <a:endParaRPr lang="en-US" altLang="ja-JP" sz="2800" b="0" dirty="0"/>
          </a:p>
        </p:txBody>
      </p:sp>
      <p:sp>
        <p:nvSpPr>
          <p:cNvPr id="16388" name="テキスト ボックス 4"/>
          <p:cNvSpPr txBox="1">
            <a:spLocks noChangeArrowheads="1"/>
          </p:cNvSpPr>
          <p:nvPr/>
        </p:nvSpPr>
        <p:spPr bwMode="auto">
          <a:xfrm>
            <a:off x="571500" y="1357298"/>
            <a:ext cx="786130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 smtClean="0"/>
              <a:t>まず、以下</a:t>
            </a:r>
            <a:r>
              <a:rPr lang="ja-JP" altLang="en-US" sz="2800" b="0" dirty="0"/>
              <a:t>の</a:t>
            </a:r>
            <a:r>
              <a:rPr lang="en-US" altLang="ja-JP" sz="2800" b="0" dirty="0"/>
              <a:t>BNF</a:t>
            </a:r>
            <a:r>
              <a:rPr lang="ja-JP" altLang="en-US" sz="2800" b="0" dirty="0"/>
              <a:t>記法で定義</a:t>
            </a:r>
            <a:r>
              <a:rPr lang="ja-JP" altLang="en-US" sz="2800" b="0" dirty="0" smtClean="0"/>
              <a:t>される式</a:t>
            </a:r>
            <a:r>
              <a:rPr lang="ja-JP" altLang="en-US" sz="2800" b="0" dirty="0"/>
              <a:t>を対象とし、その意味を操作的意味論で定義する。</a:t>
            </a:r>
          </a:p>
        </p:txBody>
      </p:sp>
      <p:sp>
        <p:nvSpPr>
          <p:cNvPr id="16389" name="テキスト ボックス 6"/>
          <p:cNvSpPr txBox="1">
            <a:spLocks noChangeArrowheads="1"/>
          </p:cNvSpPr>
          <p:nvPr/>
        </p:nvSpPr>
        <p:spPr bwMode="auto">
          <a:xfrm>
            <a:off x="642910" y="6143644"/>
            <a:ext cx="785812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</a:t>
            </a:r>
            <a:r>
              <a:rPr lang="en-US" altLang="ja-JP" sz="2800" b="0" dirty="0"/>
              <a:t>(12 + 34),  </a:t>
            </a:r>
            <a:r>
              <a:rPr lang="en-US" altLang="ja-JP" sz="2800" b="0" dirty="0" smtClean="0"/>
              <a:t>(3 </a:t>
            </a:r>
            <a:r>
              <a:rPr lang="en-US" altLang="ja-JP" sz="2800" b="0" dirty="0"/>
              <a:t>* (45 – X</a:t>
            </a:r>
            <a:r>
              <a:rPr lang="en-US" altLang="ja-JP" sz="2800" b="0" dirty="0" smtClean="0"/>
              <a:t>))</a:t>
            </a:r>
            <a:r>
              <a:rPr lang="ja-JP" altLang="en-US" sz="2800" b="0" dirty="0" smtClean="0"/>
              <a:t> </a:t>
            </a:r>
            <a:r>
              <a:rPr lang="ja-JP" altLang="en-US" sz="2800" b="0" dirty="0"/>
              <a:t>など。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642938" y="285728"/>
            <a:ext cx="7772400" cy="1143000"/>
          </a:xfrm>
        </p:spPr>
        <p:txBody>
          <a:bodyPr/>
          <a:lstStyle/>
          <a:p>
            <a:pPr eaLnBrk="1" hangingPunct="1"/>
            <a:r>
              <a:rPr lang="ja-JP" altLang="en-US" dirty="0" smtClean="0"/>
              <a:t>状態</a:t>
            </a:r>
          </a:p>
        </p:txBody>
      </p:sp>
      <p:sp>
        <p:nvSpPr>
          <p:cNvPr id="17411" name="テキスト ボックス 5"/>
          <p:cNvSpPr txBox="1">
            <a:spLocks noChangeArrowheads="1"/>
          </p:cNvSpPr>
          <p:nvPr/>
        </p:nvSpPr>
        <p:spPr bwMode="auto">
          <a:xfrm>
            <a:off x="500063" y="1571612"/>
            <a:ext cx="81438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/>
              <a:t>C</a:t>
            </a:r>
            <a:r>
              <a:rPr lang="ja-JP" altLang="en-US" sz="2800" b="0" dirty="0"/>
              <a:t>言語における変数は、アドレスに付けられた名前。</a:t>
            </a:r>
            <a:endParaRPr lang="en-US" altLang="ja-JP" sz="2800" b="0" dirty="0"/>
          </a:p>
          <a:p>
            <a:r>
              <a:rPr lang="ja-JP" altLang="en-US" sz="2800" b="0" dirty="0"/>
              <a:t>算術式中の変数の意味は、そのアドレスに格納されている値。</a:t>
            </a:r>
          </a:p>
        </p:txBody>
      </p:sp>
      <p:sp>
        <p:nvSpPr>
          <p:cNvPr id="17412" name="テキスト ボックス 7"/>
          <p:cNvSpPr txBox="1">
            <a:spLocks noChangeArrowheads="1"/>
          </p:cNvSpPr>
          <p:nvPr/>
        </p:nvSpPr>
        <p:spPr bwMode="auto">
          <a:xfrm>
            <a:off x="500034" y="3071810"/>
            <a:ext cx="785812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状態とは、アドレス（</a:t>
            </a:r>
            <a:r>
              <a:rPr lang="en-US" altLang="ja-JP" sz="2800" b="0" dirty="0"/>
              <a:t>{X, Y, Z}</a:t>
            </a:r>
            <a:r>
              <a:rPr lang="ja-JP" altLang="en-US" sz="2800" b="0" dirty="0"/>
              <a:t>）から</a:t>
            </a:r>
            <a:r>
              <a:rPr lang="ja-JP" altLang="en-US" sz="2800" b="0" dirty="0" smtClean="0"/>
              <a:t>整数へ</a:t>
            </a:r>
            <a:r>
              <a:rPr lang="ja-JP" altLang="en-US" sz="2800" b="0" dirty="0"/>
              <a:t>の関数。</a:t>
            </a:r>
            <a:endParaRPr lang="en-US" altLang="ja-JP" sz="2800" b="0" dirty="0"/>
          </a:p>
          <a:p>
            <a:r>
              <a:rPr lang="ja-JP" altLang="en-US" sz="2800" b="0" dirty="0"/>
              <a:t>すべての値が</a:t>
            </a:r>
            <a:r>
              <a:rPr lang="en-US" altLang="ja-JP" sz="2800" b="0" dirty="0"/>
              <a:t>0</a:t>
            </a:r>
            <a:r>
              <a:rPr lang="ja-JP" altLang="en-US" sz="2800" b="0" dirty="0"/>
              <a:t>の状態を初期状態とする。</a:t>
            </a:r>
          </a:p>
        </p:txBody>
      </p:sp>
      <p:sp>
        <p:nvSpPr>
          <p:cNvPr id="17413" name="テキスト ボックス 8"/>
          <p:cNvSpPr txBox="1">
            <a:spLocks noChangeArrowheads="1"/>
          </p:cNvSpPr>
          <p:nvPr/>
        </p:nvSpPr>
        <p:spPr bwMode="auto">
          <a:xfrm>
            <a:off x="500034" y="4108930"/>
            <a:ext cx="4009431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例えば、</a:t>
            </a:r>
            <a:endParaRPr lang="en-US" altLang="ja-JP" sz="2800" b="0" dirty="0"/>
          </a:p>
          <a:p>
            <a:r>
              <a:rPr lang="ja-JP" altLang="en-US" sz="2800" b="0" dirty="0"/>
              <a:t>  </a:t>
            </a:r>
            <a:r>
              <a:rPr lang="en-US" altLang="ja-JP" sz="2800" b="0" dirty="0"/>
              <a:t> </a:t>
            </a:r>
            <a:r>
              <a:rPr lang="en-US" altLang="ja-JP" sz="2800" b="0" dirty="0" err="1"/>
              <a:t>int</a:t>
            </a:r>
            <a:r>
              <a:rPr lang="en-US" altLang="ja-JP" sz="2800" b="0" dirty="0"/>
              <a:t> X = 3</a:t>
            </a:r>
            <a:r>
              <a:rPr lang="en-US" altLang="ja-JP" sz="2800" b="0" dirty="0" smtClean="0"/>
              <a:t>;</a:t>
            </a:r>
            <a:r>
              <a:rPr lang="ja-JP" altLang="en-US" sz="2800" dirty="0" smtClean="0"/>
              <a:t>   </a:t>
            </a:r>
            <a:r>
              <a:rPr lang="en-US" altLang="ja-JP" sz="2800" b="0" dirty="0" err="1" smtClean="0"/>
              <a:t>int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Y = 4;</a:t>
            </a:r>
          </a:p>
          <a:p>
            <a:r>
              <a:rPr lang="ja-JP" altLang="en-US" sz="2800" b="0" dirty="0"/>
              <a:t>という状況では、状態は、</a:t>
            </a:r>
            <a:endParaRPr lang="en-US" altLang="ja-JP" sz="2800" b="0" dirty="0"/>
          </a:p>
          <a:p>
            <a:r>
              <a:rPr lang="en-US" altLang="ja-JP" sz="2800" b="0" dirty="0"/>
              <a:t>    { (X, 3), (Y, 4), (Z,0) }</a:t>
            </a:r>
          </a:p>
          <a:p>
            <a:r>
              <a:rPr lang="ja-JP" altLang="en-US" sz="2800" b="0" dirty="0"/>
              <a:t>である。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メタ変数について</a:t>
            </a:r>
          </a:p>
        </p:txBody>
      </p:sp>
      <p:sp>
        <p:nvSpPr>
          <p:cNvPr id="18435" name="テキスト ボックス 5"/>
          <p:cNvSpPr txBox="1">
            <a:spLocks noChangeArrowheads="1"/>
          </p:cNvSpPr>
          <p:nvPr/>
        </p:nvSpPr>
        <p:spPr bwMode="auto">
          <a:xfrm>
            <a:off x="714348" y="1643050"/>
            <a:ext cx="814390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以下で行う意味定義において、</a:t>
            </a:r>
            <a:r>
              <a:rPr lang="ja-JP" altLang="en-US" sz="2800" b="0" dirty="0" smtClean="0"/>
              <a:t>式、数字列、整数、変数、状態を表すための変数（メタ変数）として以下のものを用いる。</a:t>
            </a:r>
          </a:p>
        </p:txBody>
      </p:sp>
      <p:sp>
        <p:nvSpPr>
          <p:cNvPr id="18437" name="テキスト ボックス 8"/>
          <p:cNvSpPr txBox="1">
            <a:spLocks noChangeArrowheads="1"/>
          </p:cNvSpPr>
          <p:nvPr/>
        </p:nvSpPr>
        <p:spPr bwMode="auto">
          <a:xfrm>
            <a:off x="1785918" y="3500438"/>
            <a:ext cx="5357797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i="1" dirty="0" smtClean="0"/>
              <a:t> </a:t>
            </a:r>
            <a:r>
              <a:rPr lang="ja-JP" altLang="en-US" sz="3200" b="0" dirty="0" smtClean="0"/>
              <a:t>式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a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a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dirty="0" smtClean="0"/>
              <a:t>数字列</a:t>
            </a:r>
            <a:r>
              <a:rPr lang="ja-JP" altLang="en-US" sz="3200" b="0" dirty="0" smtClean="0"/>
              <a:t>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n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1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n</a:t>
            </a:r>
            <a:r>
              <a:rPr lang="en-US" altLang="ja-JP" sz="3200" b="0" baseline="-25000" dirty="0" smtClean="0"/>
              <a:t>2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ja-JP" altLang="en-US" sz="3200" dirty="0" smtClean="0"/>
              <a:t> 整数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m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m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  <a:p>
            <a:r>
              <a:rPr lang="en-US" altLang="ja-JP" sz="3200" b="0" dirty="0"/>
              <a:t> </a:t>
            </a:r>
            <a:r>
              <a:rPr lang="ja-JP" altLang="en-US" sz="3200" b="0" dirty="0" smtClean="0"/>
              <a:t>変数 </a:t>
            </a:r>
            <a:r>
              <a:rPr lang="en-US" altLang="ja-JP" sz="3200" b="0" dirty="0" smtClean="0"/>
              <a:t>: </a:t>
            </a:r>
            <a:r>
              <a:rPr lang="en-US" altLang="ja-JP" sz="3200" b="0" i="1" dirty="0" smtClean="0"/>
              <a:t>x</a:t>
            </a:r>
            <a:r>
              <a:rPr lang="en-US" altLang="ja-JP" sz="3200" b="0" dirty="0" smtClean="0"/>
              <a:t>, </a:t>
            </a:r>
            <a:r>
              <a:rPr lang="en-US" altLang="ja-JP" sz="3200" b="0" i="1" dirty="0" smtClean="0"/>
              <a:t>y</a:t>
            </a:r>
            <a:r>
              <a:rPr lang="ja-JP" altLang="en-US" sz="3200" b="0" dirty="0" smtClean="0"/>
              <a:t>等</a:t>
            </a:r>
            <a:endParaRPr lang="en-US" altLang="ja-JP" sz="3200" b="0" dirty="0" smtClean="0"/>
          </a:p>
          <a:p>
            <a:r>
              <a:rPr lang="en-US" altLang="ja-JP" sz="3200" dirty="0" smtClean="0"/>
              <a:t> </a:t>
            </a:r>
            <a:r>
              <a:rPr lang="ja-JP" altLang="en-US" sz="3200" dirty="0" smtClean="0"/>
              <a:t>状態 </a:t>
            </a:r>
            <a:r>
              <a:rPr lang="en-US" altLang="ja-JP" sz="3200" dirty="0" smtClean="0"/>
              <a:t>: </a:t>
            </a:r>
            <a:r>
              <a:rPr lang="en-US" altLang="ja-JP" sz="3200" i="1" dirty="0" smtClean="0"/>
              <a:t>σ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1</a:t>
            </a:r>
            <a:r>
              <a:rPr lang="en-US" altLang="ja-JP" sz="3200" dirty="0" smtClean="0"/>
              <a:t>, </a:t>
            </a:r>
            <a:r>
              <a:rPr lang="en-US" altLang="ja-JP" sz="3200" i="1" dirty="0" smtClean="0"/>
              <a:t>σ</a:t>
            </a:r>
            <a:r>
              <a:rPr lang="en-US" altLang="ja-JP" sz="3200" baseline="-25000" dirty="0" smtClean="0"/>
              <a:t>2</a:t>
            </a:r>
            <a:r>
              <a:rPr lang="ja-JP" altLang="en-US" sz="3200" dirty="0" smtClean="0"/>
              <a:t>等</a:t>
            </a:r>
            <a:endParaRPr lang="en-US" altLang="ja-JP" sz="32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19459" name="テキスト ボックス 5"/>
          <p:cNvSpPr txBox="1">
            <a:spLocks noChangeArrowheads="1"/>
          </p:cNvSpPr>
          <p:nvPr/>
        </p:nvSpPr>
        <p:spPr bwMode="auto">
          <a:xfrm>
            <a:off x="1230333" y="1785926"/>
            <a:ext cx="6341801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「算術式 </a:t>
            </a:r>
            <a:r>
              <a:rPr lang="en-US" altLang="ja-JP" sz="2800" b="0" i="1" dirty="0"/>
              <a:t>a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を</a:t>
            </a:r>
            <a:r>
              <a:rPr lang="ja-JP" altLang="en-US" sz="2800" b="0" dirty="0" smtClean="0"/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において評価すると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整数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が得られる」 という関係を、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r>
              <a:rPr lang="en-US" altLang="ja-JP" sz="2800" b="0" dirty="0">
                <a:sym typeface="Symbol" pitchFamily="18" charset="2"/>
              </a:rPr>
              <a:t>    </a:t>
            </a:r>
            <a:endParaRPr lang="ja-JP" altLang="en-US" sz="2800" b="0" dirty="0"/>
          </a:p>
        </p:txBody>
      </p:sp>
      <p:sp>
        <p:nvSpPr>
          <p:cNvPr id="19460" name="テキスト ボックス 6"/>
          <p:cNvSpPr txBox="1">
            <a:spLocks noChangeArrowheads="1"/>
          </p:cNvSpPr>
          <p:nvPr/>
        </p:nvSpPr>
        <p:spPr bwMode="auto">
          <a:xfrm>
            <a:off x="1551259" y="3929066"/>
            <a:ext cx="5449633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/>
              <a:t>（例） </a:t>
            </a:r>
            <a:endParaRPr lang="en-US" altLang="ja-JP" sz="2800" b="0" dirty="0"/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のとき、</a:t>
            </a:r>
            <a:endParaRPr lang="en-US" altLang="ja-JP" sz="2800" b="0" dirty="0"/>
          </a:p>
          <a:p>
            <a:r>
              <a:rPr lang="en-US" altLang="ja-JP" sz="2800" b="0" dirty="0"/>
              <a:t>          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120 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(5 * (X + 1)),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</a:p>
          <a:p>
            <a:r>
              <a:rPr lang="ja-JP" altLang="en-US" sz="2800" b="0" dirty="0">
                <a:sym typeface="Symbol" pitchFamily="18" charset="2"/>
              </a:rPr>
              <a:t>が成り立つ。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</a:t>
            </a:r>
          </a:p>
        </p:txBody>
      </p:sp>
      <p:sp>
        <p:nvSpPr>
          <p:cNvPr id="20483" name="テキスト ボックス 3"/>
          <p:cNvSpPr txBox="1">
            <a:spLocks noChangeArrowheads="1"/>
          </p:cNvSpPr>
          <p:nvPr/>
        </p:nvSpPr>
        <p:spPr bwMode="auto">
          <a:xfrm>
            <a:off x="571472" y="1827432"/>
            <a:ext cx="800102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((10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en-US" altLang="ja-JP" sz="2800" b="0" dirty="0"/>
              <a:t>* 4) </a:t>
            </a:r>
            <a:r>
              <a:rPr lang="ja-JP" altLang="en-US" sz="2800" b="0" dirty="0"/>
              <a:t>という式は、まず</a:t>
            </a:r>
            <a:r>
              <a:rPr lang="en-US" altLang="ja-JP" sz="2800" b="0" dirty="0" smtClean="0"/>
              <a:t>(10 </a:t>
            </a:r>
            <a:r>
              <a:rPr lang="en-US" altLang="ja-JP" sz="2800" b="0" dirty="0"/>
              <a:t>+ </a:t>
            </a:r>
            <a:r>
              <a:rPr lang="en-US" altLang="ja-JP" sz="2800" b="0" dirty="0" smtClean="0"/>
              <a:t>20)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価し</a:t>
            </a:r>
            <a:r>
              <a:rPr lang="ja-JP" altLang="en-US" sz="2800" b="0" dirty="0" smtClean="0"/>
              <a:t>、</a:t>
            </a:r>
            <a:r>
              <a:rPr lang="en-US" altLang="ja-JP" sz="2800" dirty="0" smtClean="0"/>
              <a:t>30</a:t>
            </a:r>
            <a:r>
              <a:rPr lang="ja-JP" altLang="en-US" sz="2800" b="0" dirty="0" smtClean="0"/>
              <a:t>を</a:t>
            </a:r>
            <a:r>
              <a:rPr lang="ja-JP" altLang="en-US" sz="2800" b="0" dirty="0"/>
              <a:t>得てから</a:t>
            </a:r>
            <a:r>
              <a:rPr lang="ja-JP" altLang="en-US" sz="2800" b="0" dirty="0" smtClean="0"/>
              <a:t>、</a:t>
            </a:r>
            <a:r>
              <a:rPr lang="en-US" altLang="ja-JP" sz="2800" b="0" dirty="0" smtClean="0"/>
              <a:t>(</a:t>
            </a:r>
            <a:r>
              <a:rPr lang="en-US" altLang="ja-JP" sz="2800" dirty="0" smtClean="0"/>
              <a:t>30</a:t>
            </a:r>
            <a:r>
              <a:rPr lang="en-US" altLang="ja-JP" sz="2800" b="0" dirty="0" smtClean="0"/>
              <a:t> </a:t>
            </a:r>
            <a:r>
              <a:rPr lang="en-US" altLang="ja-JP" sz="2800" b="0" dirty="0"/>
              <a:t>* 4)</a:t>
            </a:r>
            <a:r>
              <a:rPr lang="ja-JP" altLang="en-US" sz="2800" b="0" dirty="0"/>
              <a:t> </a:t>
            </a:r>
            <a:r>
              <a:rPr lang="ja-JP" altLang="en-US" sz="2800" b="0" dirty="0" err="1"/>
              <a:t>を評</a:t>
            </a:r>
            <a:r>
              <a:rPr lang="ja-JP" altLang="en-US" sz="2800" b="0" dirty="0"/>
              <a:t>価</a:t>
            </a:r>
            <a:r>
              <a:rPr lang="ja-JP" altLang="en-US" sz="2800" b="0" dirty="0" smtClean="0"/>
              <a:t>して</a:t>
            </a:r>
            <a:r>
              <a:rPr lang="en-US" altLang="ja-JP" sz="2800" b="0" dirty="0" smtClean="0"/>
              <a:t>120</a:t>
            </a:r>
            <a:r>
              <a:rPr lang="ja-JP" altLang="en-US" sz="2800" b="0" dirty="0"/>
              <a:t>を得る。</a:t>
            </a:r>
            <a:endParaRPr lang="en-US" altLang="ja-JP" sz="2800" b="0" dirty="0"/>
          </a:p>
          <a:p>
            <a:r>
              <a:rPr lang="ja-JP" altLang="en-US" sz="2800" b="0" dirty="0"/>
              <a:t>すべての式の評価は一定の規則にしたがって行われる。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</a:t>
            </a:r>
          </a:p>
        </p:txBody>
      </p:sp>
      <p:sp>
        <p:nvSpPr>
          <p:cNvPr id="21507" name="テキスト ボックス 4"/>
          <p:cNvSpPr txBox="1">
            <a:spLocks noChangeArrowheads="1"/>
          </p:cNvSpPr>
          <p:nvPr/>
        </p:nvSpPr>
        <p:spPr bwMode="auto">
          <a:xfrm>
            <a:off x="714348" y="1785926"/>
            <a:ext cx="7572428" cy="3970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式</a:t>
            </a:r>
            <a:r>
              <a:rPr lang="ja-JP" altLang="en-US" sz="2800" b="0" dirty="0" smtClean="0">
                <a:sym typeface="Symbol" pitchFamily="18" charset="2"/>
              </a:rPr>
              <a:t>が数字列の</a:t>
            </a:r>
            <a:r>
              <a:rPr lang="ja-JP" altLang="en-US" sz="2800" b="0" dirty="0">
                <a:sym typeface="Symbol" pitchFamily="18" charset="2"/>
              </a:rPr>
              <a:t>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n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i="1" dirty="0" smtClean="0">
                <a:sym typeface="Symbol" pitchFamily="18" charset="2"/>
              </a:rPr>
              <a:t>m  </a:t>
            </a:r>
            <a:r>
              <a:rPr lang="ja-JP" altLang="en-US" sz="2800" dirty="0" smtClean="0">
                <a:sym typeface="Symbol" pitchFamily="18" charset="2"/>
              </a:rPr>
              <a:t>（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は数字列</a:t>
            </a:r>
            <a:r>
              <a:rPr lang="en-US" altLang="ja-JP" sz="2800" i="1" dirty="0" smtClean="0">
                <a:sym typeface="Symbol" pitchFamily="18" charset="2"/>
              </a:rPr>
              <a:t>n</a:t>
            </a:r>
            <a:r>
              <a:rPr lang="ja-JP" altLang="en-US" sz="2800" dirty="0" smtClean="0">
                <a:sym typeface="Symbol" pitchFamily="18" charset="2"/>
              </a:rPr>
              <a:t>に対応する整数</a:t>
            </a:r>
            <a:r>
              <a:rPr lang="en-US" altLang="ja-JP" sz="2800" dirty="0" smtClean="0">
                <a:sym typeface="Symbol" pitchFamily="18" charset="2"/>
              </a:rPr>
              <a:t>)</a:t>
            </a:r>
            <a:endParaRPr lang="en-US" altLang="ja-JP" sz="2800" b="0" dirty="0">
              <a:sym typeface="Symbol" pitchFamily="18" charset="2"/>
            </a:endParaRPr>
          </a:p>
          <a:p>
            <a:endParaRPr lang="en-US" altLang="ja-JP" sz="2800" b="0" i="1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式が変数の場合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&lt; 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</a:t>
            </a:r>
            <a:r>
              <a:rPr lang="en-US" altLang="ja-JP" sz="2800" b="0" i="1" dirty="0">
                <a:sym typeface="Symbol" pitchFamily="18" charset="2"/>
              </a:rPr>
              <a:t>x</a:t>
            </a:r>
            <a:r>
              <a:rPr lang="en-US" altLang="ja-JP" sz="2800" b="0" dirty="0">
                <a:sym typeface="Symbol" pitchFamily="18" charset="2"/>
              </a:rPr>
              <a:t>)</a:t>
            </a:r>
          </a:p>
          <a:p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式が足し算の場合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+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1508" name="直線コネクタ 6"/>
          <p:cNvCxnSpPr>
            <a:cxnSpLocks noChangeShapeType="1"/>
          </p:cNvCxnSpPr>
          <p:nvPr/>
        </p:nvCxnSpPr>
        <p:spPr bwMode="auto">
          <a:xfrm>
            <a:off x="1357287" y="5286388"/>
            <a:ext cx="4714875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1509" name="テキスト ボックス 8"/>
          <p:cNvSpPr txBox="1">
            <a:spLocks noChangeArrowheads="1"/>
          </p:cNvSpPr>
          <p:nvPr/>
        </p:nvSpPr>
        <p:spPr bwMode="auto">
          <a:xfrm>
            <a:off x="6357926" y="4903785"/>
            <a:ext cx="214316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和）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算術式の評価規則（続き）</a:t>
            </a:r>
          </a:p>
        </p:txBody>
      </p:sp>
      <p:sp>
        <p:nvSpPr>
          <p:cNvPr id="22531" name="テキスト ボックス 4"/>
          <p:cNvSpPr txBox="1">
            <a:spLocks noChangeArrowheads="1"/>
          </p:cNvSpPr>
          <p:nvPr/>
        </p:nvSpPr>
        <p:spPr bwMode="auto">
          <a:xfrm>
            <a:off x="1071538" y="2143116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式が引き算の場合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-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2" name="直線コネクタ 6"/>
          <p:cNvCxnSpPr>
            <a:cxnSpLocks noChangeShapeType="1"/>
          </p:cNvCxnSpPr>
          <p:nvPr/>
        </p:nvCxnSpPr>
        <p:spPr bwMode="auto">
          <a:xfrm>
            <a:off x="1571601" y="3070214"/>
            <a:ext cx="4929225" cy="1596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3" name="テキスト ボックス 8"/>
          <p:cNvSpPr txBox="1">
            <a:spLocks noChangeArrowheads="1"/>
          </p:cNvSpPr>
          <p:nvPr/>
        </p:nvSpPr>
        <p:spPr bwMode="auto">
          <a:xfrm>
            <a:off x="6643664" y="2500303"/>
            <a:ext cx="214317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差）</a:t>
            </a:r>
          </a:p>
        </p:txBody>
      </p:sp>
      <p:sp>
        <p:nvSpPr>
          <p:cNvPr id="22534" name="テキスト ボックス 5"/>
          <p:cNvSpPr txBox="1">
            <a:spLocks noChangeArrowheads="1"/>
          </p:cNvSpPr>
          <p:nvPr/>
        </p:nvSpPr>
        <p:spPr bwMode="auto">
          <a:xfrm>
            <a:off x="1071538" y="3729028"/>
            <a:ext cx="5527475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式が掛け算の場合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 smtClean="0">
                <a:sym typeface="Symbol" pitchFamily="18" charset="2"/>
              </a:rPr>
              <a:t>       </a:t>
            </a:r>
            <a:r>
              <a:rPr lang="en-US" altLang="ja-JP" sz="2800" b="0" dirty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         &lt; (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1  </a:t>
            </a:r>
            <a:r>
              <a:rPr lang="en-US" altLang="ja-JP" sz="2800" b="0" dirty="0">
                <a:sym typeface="Symbol" pitchFamily="18" charset="2"/>
              </a:rPr>
              <a:t>* </a:t>
            </a:r>
            <a:r>
              <a:rPr lang="en-US" altLang="ja-JP" sz="2800" b="0" i="1" dirty="0" smtClean="0">
                <a:sym typeface="Symbol" pitchFamily="18" charset="2"/>
              </a:rPr>
              <a:t>a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),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     </a:t>
            </a:r>
            <a:endParaRPr lang="ja-JP" altLang="en-US" sz="2800" dirty="0"/>
          </a:p>
        </p:txBody>
      </p:sp>
      <p:cxnSp>
        <p:nvCxnSpPr>
          <p:cNvPr id="22535" name="直線コネクタ 7"/>
          <p:cNvCxnSpPr>
            <a:cxnSpLocks noChangeShapeType="1"/>
          </p:cNvCxnSpPr>
          <p:nvPr/>
        </p:nvCxnSpPr>
        <p:spPr bwMode="auto">
          <a:xfrm>
            <a:off x="1571601" y="4641849"/>
            <a:ext cx="4929225" cy="159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2536" name="テキスト ボックス 9"/>
          <p:cNvSpPr txBox="1">
            <a:spLocks noChangeArrowheads="1"/>
          </p:cNvSpPr>
          <p:nvPr/>
        </p:nvSpPr>
        <p:spPr bwMode="auto">
          <a:xfrm>
            <a:off x="6643665" y="4086216"/>
            <a:ext cx="2214615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 smtClean="0"/>
              <a:t>（</a:t>
            </a:r>
            <a:r>
              <a:rPr lang="en-US" altLang="ja-JP" sz="2800" b="0" i="1" dirty="0" smtClean="0"/>
              <a:t>m</a:t>
            </a:r>
            <a:r>
              <a:rPr lang="ja-JP" altLang="en-US" sz="2800" b="0" dirty="0" smtClean="0"/>
              <a:t>は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1</a:t>
            </a:r>
            <a:r>
              <a:rPr lang="ja-JP" altLang="en-US" sz="2800" b="0" dirty="0" smtClean="0"/>
              <a:t>と</a:t>
            </a:r>
            <a:r>
              <a:rPr lang="en-US" altLang="ja-JP" sz="2800" b="0" i="1" dirty="0" smtClean="0"/>
              <a:t>m</a:t>
            </a:r>
            <a:r>
              <a:rPr lang="en-US" altLang="ja-JP" sz="2800" b="0" baseline="-25000" dirty="0" smtClean="0"/>
              <a:t>2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積）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1</a:t>
            </a:r>
            <a:endParaRPr lang="ja-JP" altLang="en-US" dirty="0" smtClean="0"/>
          </a:p>
        </p:txBody>
      </p:sp>
      <p:sp>
        <p:nvSpPr>
          <p:cNvPr id="23555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4295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((10 + 20) * 4) </a:t>
            </a:r>
            <a:r>
              <a:rPr lang="ja-JP" altLang="en-US" sz="2800" b="0" dirty="0"/>
              <a:t>という算術式を評価規則に従って評価してみる。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3556" name="テキスト ボックス 6"/>
          <p:cNvSpPr txBox="1">
            <a:spLocks noChangeArrowheads="1"/>
          </p:cNvSpPr>
          <p:nvPr/>
        </p:nvSpPr>
        <p:spPr bwMode="auto">
          <a:xfrm>
            <a:off x="2436796" y="4548854"/>
            <a:ext cx="456407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((10 + 20) * 4),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120 </a:t>
            </a:r>
            <a:endParaRPr lang="ja-JP" altLang="en-US" sz="2800" b="0" dirty="0"/>
          </a:p>
        </p:txBody>
      </p:sp>
      <p:cxnSp>
        <p:nvCxnSpPr>
          <p:cNvPr id="23557" name="直線コネクタ 10"/>
          <p:cNvCxnSpPr>
            <a:cxnSpLocks noChangeShapeType="1"/>
          </p:cNvCxnSpPr>
          <p:nvPr/>
        </p:nvCxnSpPr>
        <p:spPr bwMode="auto">
          <a:xfrm>
            <a:off x="1571622" y="4498982"/>
            <a:ext cx="6643716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58" name="テキスト ボックス 11"/>
          <p:cNvSpPr txBox="1">
            <a:spLocks noChangeArrowheads="1"/>
          </p:cNvSpPr>
          <p:nvPr/>
        </p:nvSpPr>
        <p:spPr bwMode="auto">
          <a:xfrm>
            <a:off x="1600173" y="3977350"/>
            <a:ext cx="355578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(10 + 20),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30</a:t>
            </a:r>
            <a:endParaRPr lang="ja-JP" altLang="en-US" sz="2800" b="0" dirty="0"/>
          </a:p>
        </p:txBody>
      </p:sp>
      <p:sp>
        <p:nvSpPr>
          <p:cNvPr id="23559" name="正方形/長方形 13"/>
          <p:cNvSpPr>
            <a:spLocks noChangeArrowheads="1"/>
          </p:cNvSpPr>
          <p:nvPr/>
        </p:nvSpPr>
        <p:spPr bwMode="auto">
          <a:xfrm>
            <a:off x="5929296" y="3977350"/>
            <a:ext cx="2305439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4,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  </a:t>
            </a:r>
            <a:endParaRPr lang="ja-JP" altLang="en-US" sz="2800" b="0" dirty="0"/>
          </a:p>
        </p:txBody>
      </p:sp>
      <p:cxnSp>
        <p:nvCxnSpPr>
          <p:cNvPr id="23560" name="直線コネクタ 14"/>
          <p:cNvCxnSpPr>
            <a:cxnSpLocks noChangeShapeType="1"/>
          </p:cNvCxnSpPr>
          <p:nvPr/>
        </p:nvCxnSpPr>
        <p:spPr bwMode="auto">
          <a:xfrm>
            <a:off x="763560" y="4000499"/>
            <a:ext cx="5094298" cy="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3561" name="テキスト ボックス 18"/>
          <p:cNvSpPr txBox="1">
            <a:spLocks noChangeArrowheads="1"/>
          </p:cNvSpPr>
          <p:nvPr/>
        </p:nvSpPr>
        <p:spPr bwMode="auto">
          <a:xfrm>
            <a:off x="714348" y="3500438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10</a:t>
            </a:r>
            <a:endParaRPr lang="ja-JP" altLang="en-US" sz="2800" b="0" dirty="0"/>
          </a:p>
        </p:txBody>
      </p:sp>
      <p:sp>
        <p:nvSpPr>
          <p:cNvPr id="23562" name="テキスト ボックス 19"/>
          <p:cNvSpPr txBox="1">
            <a:spLocks noChangeArrowheads="1"/>
          </p:cNvSpPr>
          <p:nvPr/>
        </p:nvSpPr>
        <p:spPr bwMode="auto">
          <a:xfrm>
            <a:off x="3320680" y="3477284"/>
            <a:ext cx="234391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20,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20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dirty="0" smtClean="0"/>
              <a:t>算術式の評価の例</a:t>
            </a:r>
            <a:r>
              <a:rPr lang="en-US" altLang="ja-JP" dirty="0" smtClean="0"/>
              <a:t>2</a:t>
            </a:r>
            <a:endParaRPr lang="ja-JP" altLang="en-US" dirty="0" smtClean="0"/>
          </a:p>
        </p:txBody>
      </p:sp>
      <p:sp>
        <p:nvSpPr>
          <p:cNvPr id="24579" name="テキスト ボックス 5"/>
          <p:cNvSpPr txBox="1">
            <a:spLocks noChangeArrowheads="1"/>
          </p:cNvSpPr>
          <p:nvPr/>
        </p:nvSpPr>
        <p:spPr bwMode="auto">
          <a:xfrm>
            <a:off x="1000125" y="1643063"/>
            <a:ext cx="714375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 (5 * (X + 1)) </a:t>
            </a:r>
            <a:r>
              <a:rPr lang="ja-JP" altLang="en-US" sz="2800" b="0" dirty="0"/>
              <a:t>という算術式を評価規則にしたがって評価してみる。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24580" name="テキスト ボックス 6"/>
          <p:cNvSpPr txBox="1">
            <a:spLocks noChangeArrowheads="1"/>
          </p:cNvSpPr>
          <p:nvPr/>
        </p:nvSpPr>
        <p:spPr bwMode="auto">
          <a:xfrm>
            <a:off x="2199719" y="4405978"/>
            <a:ext cx="3897221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</a:t>
            </a:r>
            <a:r>
              <a:rPr lang="en-US" altLang="ja-JP" sz="2800" b="0" dirty="0" smtClean="0"/>
              <a:t>(5 </a:t>
            </a:r>
            <a:r>
              <a:rPr lang="en-US" altLang="ja-JP" sz="2800" b="0" dirty="0"/>
              <a:t>* (X + 1</a:t>
            </a:r>
            <a:r>
              <a:rPr lang="en-US" altLang="ja-JP" sz="2800" b="0" dirty="0" smtClean="0"/>
              <a:t>)),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20 </a:t>
            </a:r>
            <a:endParaRPr lang="ja-JP" altLang="en-US" sz="2800" b="0" dirty="0"/>
          </a:p>
        </p:txBody>
      </p:sp>
      <p:cxnSp>
        <p:nvCxnSpPr>
          <p:cNvPr id="24581" name="直線コネクタ 10"/>
          <p:cNvCxnSpPr>
            <a:cxnSpLocks noChangeShapeType="1"/>
          </p:cNvCxnSpPr>
          <p:nvPr/>
        </p:nvCxnSpPr>
        <p:spPr bwMode="auto">
          <a:xfrm>
            <a:off x="1071538" y="4356107"/>
            <a:ext cx="6143668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2" name="テキスト ボックス 11"/>
          <p:cNvSpPr txBox="1">
            <a:spLocks noChangeArrowheads="1"/>
          </p:cNvSpPr>
          <p:nvPr/>
        </p:nvSpPr>
        <p:spPr bwMode="auto">
          <a:xfrm>
            <a:off x="1214414" y="3857628"/>
            <a:ext cx="21419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5,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5</a:t>
            </a:r>
            <a:endParaRPr lang="ja-JP" altLang="en-US" sz="2800" b="0" dirty="0"/>
          </a:p>
        </p:txBody>
      </p:sp>
      <p:cxnSp>
        <p:nvCxnSpPr>
          <p:cNvPr id="24583" name="直線コネクタ 14"/>
          <p:cNvCxnSpPr>
            <a:cxnSpLocks noChangeShapeType="1"/>
          </p:cNvCxnSpPr>
          <p:nvPr/>
        </p:nvCxnSpPr>
        <p:spPr bwMode="auto">
          <a:xfrm>
            <a:off x="3428998" y="3857628"/>
            <a:ext cx="4286274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24584" name="テキスト ボックス 18"/>
          <p:cNvSpPr txBox="1">
            <a:spLocks noChangeArrowheads="1"/>
          </p:cNvSpPr>
          <p:nvPr/>
        </p:nvSpPr>
        <p:spPr bwMode="auto">
          <a:xfrm>
            <a:off x="3379786" y="3357562"/>
            <a:ext cx="1981633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X,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3</a:t>
            </a:r>
            <a:endParaRPr lang="ja-JP" altLang="en-US" sz="2800" b="0" dirty="0"/>
          </a:p>
        </p:txBody>
      </p:sp>
      <p:sp>
        <p:nvSpPr>
          <p:cNvPr id="24585" name="テキスト ボックス 19"/>
          <p:cNvSpPr txBox="1">
            <a:spLocks noChangeArrowheads="1"/>
          </p:cNvSpPr>
          <p:nvPr/>
        </p:nvSpPr>
        <p:spPr bwMode="auto">
          <a:xfrm>
            <a:off x="5572123" y="3334408"/>
            <a:ext cx="1978427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1,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1</a:t>
            </a:r>
            <a:endParaRPr lang="ja-JP" altLang="en-US" sz="2800" b="0" dirty="0"/>
          </a:p>
        </p:txBody>
      </p:sp>
      <p:sp>
        <p:nvSpPr>
          <p:cNvPr id="24586" name="テキスト ボックス 12"/>
          <p:cNvSpPr txBox="1">
            <a:spLocks noChangeArrowheads="1"/>
          </p:cNvSpPr>
          <p:nvPr/>
        </p:nvSpPr>
        <p:spPr bwMode="auto">
          <a:xfrm>
            <a:off x="4143372" y="3834474"/>
            <a:ext cx="288893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/>
              <a:t>&lt; (X + 1),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   4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練習問題</a:t>
            </a:r>
          </a:p>
        </p:txBody>
      </p:sp>
      <p:sp>
        <p:nvSpPr>
          <p:cNvPr id="25603" name="テキスト ボックス 5"/>
          <p:cNvSpPr txBox="1">
            <a:spLocks noChangeArrowheads="1"/>
          </p:cNvSpPr>
          <p:nvPr/>
        </p:nvSpPr>
        <p:spPr bwMode="auto">
          <a:xfrm>
            <a:off x="1071538" y="1829691"/>
            <a:ext cx="68580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ja-JP" altLang="en-US" sz="2800" b="0" baseline="-25000" dirty="0" smtClean="0">
                <a:sym typeface="Symbol" pitchFamily="18" charset="2"/>
              </a:rPr>
              <a:t>  </a:t>
            </a:r>
            <a:r>
              <a:rPr lang="en-US" altLang="ja-JP" sz="2800" b="0" dirty="0">
                <a:sym typeface="Symbol" pitchFamily="18" charset="2"/>
              </a:rPr>
              <a:t>= { (X, 3), (Y, 20), (Z, 13) } </a:t>
            </a:r>
            <a:r>
              <a:rPr lang="ja-JP" altLang="en-US" sz="2800" b="0" dirty="0">
                <a:sym typeface="Symbol" pitchFamily="18" charset="2"/>
              </a:rPr>
              <a:t>のもとで、</a:t>
            </a:r>
            <a:endParaRPr lang="en-US" altLang="ja-JP" sz="2800" b="0" dirty="0"/>
          </a:p>
          <a:p>
            <a:r>
              <a:rPr lang="en-US" altLang="ja-JP" sz="2800" b="0" dirty="0"/>
              <a:t>((4 + Y) * (5 + Z)) </a:t>
            </a:r>
            <a:r>
              <a:rPr lang="ja-JP" altLang="en-US" sz="2800" b="0" dirty="0"/>
              <a:t>という算術式を評価規則に従って評価せよ。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</a:t>
            </a:r>
          </a:p>
        </p:txBody>
      </p:sp>
      <p:sp>
        <p:nvSpPr>
          <p:cNvPr id="27651" name="コンテンツ プレースホルダ 13"/>
          <p:cNvSpPr>
            <a:spLocks noGrp="1"/>
          </p:cNvSpPr>
          <p:nvPr>
            <p:ph idx="1"/>
          </p:nvPr>
        </p:nvSpPr>
        <p:spPr>
          <a:xfrm>
            <a:off x="571500" y="1643063"/>
            <a:ext cx="8286750" cy="2019300"/>
          </a:xfrm>
        </p:spPr>
        <p:txBody>
          <a:bodyPr>
            <a:normAutofit fontScale="92500"/>
          </a:bodyPr>
          <a:lstStyle/>
          <a:p>
            <a:r>
              <a:rPr lang="ja-JP" altLang="en-US" sz="2800" dirty="0" smtClean="0"/>
              <a:t>これまで、式の意味を定義した。</a:t>
            </a:r>
            <a:endParaRPr lang="en-US" altLang="ja-JP" sz="2800" dirty="0" smtClean="0"/>
          </a:p>
          <a:p>
            <a:r>
              <a:rPr lang="ja-JP" altLang="en-US" sz="2800" dirty="0" smtClean="0"/>
              <a:t>式の実行（評価）では、値が得られる。（補足： フルセットの</a:t>
            </a:r>
            <a:r>
              <a:rPr lang="en-US" altLang="ja-JP" sz="2800" dirty="0" smtClean="0"/>
              <a:t>C</a:t>
            </a:r>
            <a:r>
              <a:rPr lang="ja-JP" altLang="en-US" sz="2800" dirty="0" smtClean="0"/>
              <a:t>では式の評価で状態が変化する場合がある。）</a:t>
            </a:r>
            <a:endParaRPr lang="en-US" altLang="ja-JP" sz="2800" dirty="0" smtClean="0"/>
          </a:p>
          <a:p>
            <a:r>
              <a:rPr lang="ja-JP" altLang="en-US" sz="2800" dirty="0" smtClean="0"/>
              <a:t>文の実行の効果は、状態の変化。</a:t>
            </a:r>
            <a:endParaRPr lang="en-US" altLang="ja-JP" sz="2800" dirty="0" smtClean="0"/>
          </a:p>
        </p:txBody>
      </p:sp>
      <p:sp>
        <p:nvSpPr>
          <p:cNvPr id="27652" name="テキスト ボックス 3"/>
          <p:cNvSpPr txBox="1">
            <a:spLocks noChangeArrowheads="1"/>
          </p:cNvSpPr>
          <p:nvPr/>
        </p:nvSpPr>
        <p:spPr bwMode="auto">
          <a:xfrm>
            <a:off x="714374" y="3900488"/>
            <a:ext cx="8143906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（例）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このような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代入文を実行すると、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</a:t>
            </a:r>
            <a:r>
              <a:rPr lang="en-US" altLang="ja-JP" sz="2800" b="0" dirty="0">
                <a:sym typeface="Symbol" pitchFamily="18" charset="2"/>
              </a:rPr>
              <a:t> </a:t>
            </a:r>
            <a:r>
              <a:rPr lang="ja-JP" altLang="en-US" sz="2800" b="0" dirty="0">
                <a:sym typeface="Symbol" pitchFamily="18" charset="2"/>
              </a:rPr>
              <a:t>とすると、実行後は、状態の中の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変わる。（もちろん、もともと</a:t>
            </a:r>
            <a:r>
              <a:rPr lang="en-US" altLang="ja-JP" sz="2800" b="0" dirty="0">
                <a:sym typeface="Symbol" pitchFamily="18" charset="2"/>
              </a:rPr>
              <a:t>X</a:t>
            </a:r>
            <a:r>
              <a:rPr lang="ja-JP" altLang="en-US" sz="2800" b="0" dirty="0">
                <a:sym typeface="Symbol" pitchFamily="18" charset="2"/>
              </a:rPr>
              <a:t>の値</a:t>
            </a:r>
            <a:r>
              <a:rPr lang="ja-JP" altLang="en-US" sz="2800" b="0" dirty="0" smtClean="0">
                <a:sym typeface="Symbol" pitchFamily="18" charset="2"/>
              </a:rPr>
              <a:t>が</a:t>
            </a:r>
            <a:r>
              <a:rPr lang="en-US" altLang="ja-JP" sz="2800" b="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場合は変わらない。）</a:t>
            </a:r>
            <a:endParaRPr lang="en-US" altLang="ja-JP" sz="2800" b="0" dirty="0">
              <a:sym typeface="Symbol" pitchFamily="18" charset="2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タイトル 12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1143000"/>
          </a:xfrm>
        </p:spPr>
        <p:txBody>
          <a:bodyPr/>
          <a:lstStyle/>
          <a:p>
            <a:r>
              <a:rPr lang="ja-JP" altLang="en-US" dirty="0" smtClean="0"/>
              <a:t>状態に関する記法</a:t>
            </a:r>
          </a:p>
        </p:txBody>
      </p:sp>
      <p:sp>
        <p:nvSpPr>
          <p:cNvPr id="28675" name="コンテンツ プレースホルダ 13"/>
          <p:cNvSpPr>
            <a:spLocks noGrp="1"/>
          </p:cNvSpPr>
          <p:nvPr>
            <p:ph idx="1"/>
          </p:nvPr>
        </p:nvSpPr>
        <p:spPr>
          <a:xfrm>
            <a:off x="642910" y="1257292"/>
            <a:ext cx="7772400" cy="957262"/>
          </a:xfrm>
        </p:spPr>
        <p:txBody>
          <a:bodyPr/>
          <a:lstStyle/>
          <a:p>
            <a:r>
              <a:rPr lang="ja-JP" altLang="en-US" sz="2800" dirty="0" smtClean="0"/>
              <a:t>状態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b="1" i="1" dirty="0" smtClean="0">
                <a:sym typeface="Symbol" pitchFamily="18" charset="2"/>
              </a:rPr>
              <a:t> </a:t>
            </a:r>
            <a:r>
              <a:rPr lang="ja-JP" altLang="en-US" sz="2800" dirty="0" smtClean="0">
                <a:sym typeface="Symbol" pitchFamily="18" charset="2"/>
              </a:rPr>
              <a:t>において変数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ja-JP" altLang="en-US" sz="2800" dirty="0" smtClean="0">
                <a:sym typeface="Symbol" pitchFamily="18" charset="2"/>
              </a:rPr>
              <a:t>に整数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ja-JP" altLang="en-US" sz="2800" dirty="0" smtClean="0">
                <a:sym typeface="Symbol" pitchFamily="18" charset="2"/>
              </a:rPr>
              <a:t>が代入された時の状態を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 </a:t>
            </a:r>
            <a:r>
              <a:rPr lang="ja-JP" altLang="en-US" sz="2800" dirty="0" smtClean="0">
                <a:sym typeface="Symbol" pitchFamily="18" charset="2"/>
              </a:rPr>
              <a:t>と書く。</a:t>
            </a:r>
            <a:endParaRPr lang="en-US" altLang="ja-JP" sz="2800" dirty="0" smtClean="0"/>
          </a:p>
        </p:txBody>
      </p:sp>
      <p:sp>
        <p:nvSpPr>
          <p:cNvPr id="28676" name="テキスト ボックス 3"/>
          <p:cNvSpPr txBox="1">
            <a:spLocks noChangeArrowheads="1"/>
          </p:cNvSpPr>
          <p:nvPr/>
        </p:nvSpPr>
        <p:spPr bwMode="auto">
          <a:xfrm>
            <a:off x="785838" y="3429000"/>
            <a:ext cx="74295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2;</a:t>
            </a:r>
          </a:p>
          <a:p>
            <a:r>
              <a:rPr lang="ja-JP" altLang="en-US" sz="2800" b="0" dirty="0"/>
              <a:t>この</a:t>
            </a:r>
            <a:r>
              <a:rPr lang="en-US" altLang="ja-JP" sz="2800" b="0" dirty="0"/>
              <a:t> </a:t>
            </a:r>
            <a:r>
              <a:rPr lang="ja-JP" altLang="en-US" sz="2800" b="0" dirty="0"/>
              <a:t>文を実行すると、状態の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の値が書き変わる。</a:t>
            </a:r>
            <a:endParaRPr lang="en-US" altLang="ja-JP" sz="2800" b="0" dirty="0"/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7" name="正方形/長方形 4"/>
          <p:cNvSpPr>
            <a:spLocks noChangeArrowheads="1"/>
          </p:cNvSpPr>
          <p:nvPr/>
        </p:nvSpPr>
        <p:spPr bwMode="auto">
          <a:xfrm>
            <a:off x="785786" y="5187277"/>
            <a:ext cx="8043893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（例１） </a:t>
            </a:r>
            <a:r>
              <a:rPr lang="en-US" altLang="ja-JP" sz="2800" b="0" dirty="0"/>
              <a:t>X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X + 2;</a:t>
            </a:r>
          </a:p>
          <a:p>
            <a:r>
              <a:rPr lang="ja-JP" altLang="en-US" sz="2800" b="0" dirty="0">
                <a:sym typeface="Symbol" pitchFamily="18" charset="2"/>
              </a:rPr>
              <a:t>この代入文の実行前の状態を実行前の状態を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ja-JP" altLang="en-US" sz="2800" b="0" dirty="0">
                <a:sym typeface="Symbol" pitchFamily="18" charset="2"/>
              </a:rPr>
              <a:t>とすると、実行後の状態は、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(X) + 2 / </a:t>
            </a:r>
            <a:r>
              <a:rPr lang="en-US" altLang="ja-JP" sz="2800" b="0" dirty="0" smtClean="0">
                <a:sym typeface="Symbol" pitchFamily="18" charset="2"/>
              </a:rPr>
              <a:t>X </a:t>
            </a:r>
            <a:r>
              <a:rPr lang="en-US" altLang="ja-JP" sz="2800" b="0" dirty="0">
                <a:sym typeface="Symbol" pitchFamily="18" charset="2"/>
              </a:rPr>
              <a:t>] </a:t>
            </a:r>
            <a:r>
              <a:rPr lang="ja-JP" altLang="en-US" sz="2800" b="0" dirty="0">
                <a:sym typeface="Symbol" pitchFamily="18" charset="2"/>
              </a:rPr>
              <a:t>となる。</a:t>
            </a:r>
            <a:endParaRPr lang="ja-JP" altLang="en-US" sz="2800" b="0" dirty="0"/>
          </a:p>
        </p:txBody>
      </p:sp>
      <p:sp>
        <p:nvSpPr>
          <p:cNvPr id="28678" name="正方形/長方形 6"/>
          <p:cNvSpPr>
            <a:spLocks noChangeArrowheads="1"/>
          </p:cNvSpPr>
          <p:nvPr/>
        </p:nvSpPr>
        <p:spPr bwMode="auto">
          <a:xfrm>
            <a:off x="4643438" y="2332017"/>
            <a:ext cx="250033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ja-JP" altLang="en-US" sz="2800" b="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   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=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,</a:t>
            </a:r>
          </a:p>
          <a:p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(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)  </a:t>
            </a:r>
            <a:r>
              <a:rPr lang="ja-JP" altLang="en-US" sz="2800" dirty="0" smtClean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 if </a:t>
            </a:r>
            <a:r>
              <a:rPr lang="en-US" altLang="ja-JP" sz="2800" b="0" i="1" dirty="0" smtClean="0">
                <a:sym typeface="Symbol" pitchFamily="18" charset="2"/>
              </a:rPr>
              <a:t>y</a:t>
            </a:r>
            <a:r>
              <a:rPr lang="en-US" altLang="ja-JP" sz="2800" b="0" dirty="0" smtClean="0">
                <a:sym typeface="Symbol" pitchFamily="18" charset="2"/>
              </a:rPr>
              <a:t>  </a:t>
            </a:r>
            <a:r>
              <a:rPr lang="en-US" altLang="ja-JP" sz="2800" b="0" i="1" dirty="0" smtClean="0">
                <a:sym typeface="Symbol" pitchFamily="18" charset="2"/>
              </a:rPr>
              <a:t>x</a:t>
            </a:r>
            <a:r>
              <a:rPr lang="en-US" altLang="ja-JP" sz="2800" b="0" dirty="0" smtClean="0">
                <a:sym typeface="Symbol" pitchFamily="18" charset="2"/>
              </a:rPr>
              <a:t>                                     </a:t>
            </a:r>
            <a:endParaRPr lang="ja-JP" altLang="en-US" sz="2800" b="0" dirty="0"/>
          </a:p>
        </p:txBody>
      </p:sp>
      <p:sp>
        <p:nvSpPr>
          <p:cNvPr id="28679" name="左中かっこ 7"/>
          <p:cNvSpPr>
            <a:spLocks/>
          </p:cNvSpPr>
          <p:nvPr/>
        </p:nvSpPr>
        <p:spPr bwMode="auto">
          <a:xfrm>
            <a:off x="4329113" y="2500306"/>
            <a:ext cx="242887" cy="642937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algn="ctr">
            <a:solidFill>
              <a:schemeClr val="tx2"/>
            </a:solidFill>
            <a:round/>
            <a:headEnd/>
            <a:tailEnd/>
          </a:ln>
        </p:spPr>
        <p:txBody>
          <a:bodyPr/>
          <a:lstStyle/>
          <a:p>
            <a:endParaRPr lang="ja-JP" altLang="en-US" sz="2800" b="0" dirty="0"/>
          </a:p>
        </p:txBody>
      </p:sp>
      <p:sp>
        <p:nvSpPr>
          <p:cNvPr id="8" name="正方形/長方形 7"/>
          <p:cNvSpPr/>
          <p:nvPr/>
        </p:nvSpPr>
        <p:spPr>
          <a:xfrm>
            <a:off x="1645084" y="2571744"/>
            <a:ext cx="271260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>
                <a:sym typeface="Symbol" pitchFamily="18" charset="2"/>
              </a:rPr>
              <a:t>(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</a:t>
            </a:r>
            <a:r>
              <a:rPr lang="en-US" altLang="ja-JP" sz="2800" i="1" dirty="0" smtClean="0">
                <a:sym typeface="Symbol" pitchFamily="18" charset="2"/>
              </a:rPr>
              <a:t>m</a:t>
            </a:r>
            <a:r>
              <a:rPr lang="en-US" altLang="ja-JP" sz="2800" dirty="0" smtClean="0">
                <a:sym typeface="Symbol" pitchFamily="18" charset="2"/>
              </a:rPr>
              <a:t> / </a:t>
            </a:r>
            <a:r>
              <a:rPr lang="en-US" altLang="ja-JP" sz="2800" i="1" dirty="0" smtClean="0">
                <a:sym typeface="Symbol" pitchFamily="18" charset="2"/>
              </a:rPr>
              <a:t>x</a:t>
            </a:r>
            <a:r>
              <a:rPr lang="en-US" altLang="ja-JP" sz="2800" dirty="0" smtClean="0">
                <a:sym typeface="Symbol" pitchFamily="18" charset="2"/>
              </a:rPr>
              <a:t> ]) (</a:t>
            </a:r>
            <a:r>
              <a:rPr lang="en-US" altLang="ja-JP" sz="2800" i="1" dirty="0" smtClean="0">
                <a:sym typeface="Symbol" pitchFamily="18" charset="2"/>
              </a:rPr>
              <a:t>y</a:t>
            </a:r>
            <a:r>
              <a:rPr lang="en-US" altLang="ja-JP" sz="2800" dirty="0" smtClean="0">
                <a:sym typeface="Symbol" pitchFamily="18" charset="2"/>
              </a:rPr>
              <a:t>)  = </a:t>
            </a:r>
            <a:endParaRPr lang="ja-JP" altLang="en-US" sz="280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29699" name="コンテンツ プレースホルダ 13"/>
          <p:cNvSpPr>
            <a:spLocks noGrp="1"/>
          </p:cNvSpPr>
          <p:nvPr>
            <p:ph idx="1"/>
          </p:nvPr>
        </p:nvSpPr>
        <p:spPr>
          <a:xfrm>
            <a:off x="857224" y="1714488"/>
            <a:ext cx="7772400" cy="957262"/>
          </a:xfrm>
        </p:spPr>
        <p:txBody>
          <a:bodyPr>
            <a:normAutofit lnSpcReduction="10000"/>
          </a:bodyPr>
          <a:lstStyle/>
          <a:p>
            <a:pPr>
              <a:buFontTx/>
              <a:buNone/>
            </a:pPr>
            <a:r>
              <a:rPr lang="ja-JP" altLang="en-US" sz="2800" dirty="0" smtClean="0"/>
              <a:t>状態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= { (X, 10), (Y, 20), (Z, 30) } </a:t>
            </a:r>
            <a:r>
              <a:rPr lang="ja-JP" altLang="en-US" sz="2800" dirty="0" smtClean="0">
                <a:sym typeface="Symbol" pitchFamily="18" charset="2"/>
              </a:rPr>
              <a:t>のとき、</a:t>
            </a:r>
            <a:endParaRPr lang="en-US" altLang="ja-JP" sz="2800" dirty="0" smtClean="0">
              <a:sym typeface="Symbol" pitchFamily="18" charset="2"/>
            </a:endParaRPr>
          </a:p>
          <a:p>
            <a:pPr>
              <a:buFontTx/>
              <a:buNone/>
            </a:pP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ja-JP" altLang="en-US" sz="2800" i="1" dirty="0" smtClean="0">
                <a:sym typeface="Symbol" pitchFamily="18" charset="2"/>
              </a:rPr>
              <a:t>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[ 40 / X ] </a:t>
            </a:r>
            <a:r>
              <a:rPr lang="ja-JP" altLang="en-US" sz="2800" dirty="0" smtClean="0">
                <a:sym typeface="Symbol" pitchFamily="18" charset="2"/>
              </a:rPr>
              <a:t> はどういう状態か。</a:t>
            </a:r>
            <a:endParaRPr lang="en-US" altLang="ja-JP" sz="2800" dirty="0" smtClean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ja-JP" altLang="en-US" smtClean="0"/>
              <a:t>文の定義</a:t>
            </a:r>
          </a:p>
        </p:txBody>
      </p:sp>
      <p:sp>
        <p:nvSpPr>
          <p:cNvPr id="31747" name="テキスト ボックス 5"/>
          <p:cNvSpPr txBox="1">
            <a:spLocks noChangeArrowheads="1"/>
          </p:cNvSpPr>
          <p:nvPr/>
        </p:nvSpPr>
        <p:spPr bwMode="auto">
          <a:xfrm>
            <a:off x="857224" y="1643050"/>
            <a:ext cx="7360121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b="0" dirty="0"/>
              <a:t>文を、代入</a:t>
            </a:r>
            <a:r>
              <a:rPr lang="ja-JP" altLang="en-US" sz="2800" b="0" dirty="0" smtClean="0"/>
              <a:t>文</a:t>
            </a:r>
            <a:r>
              <a:rPr lang="ja-JP" altLang="en-US" sz="2800" dirty="0" smtClean="0"/>
              <a:t>あるいは</a:t>
            </a:r>
            <a:r>
              <a:rPr lang="en-US" altLang="ja-JP" sz="2800" dirty="0" smtClean="0"/>
              <a:t>while</a:t>
            </a:r>
            <a:r>
              <a:rPr lang="ja-JP" altLang="en-US" sz="2800" dirty="0" smtClean="0"/>
              <a:t>文</a:t>
            </a:r>
            <a:r>
              <a:rPr lang="ja-JP" altLang="en-US" sz="2800" b="0" dirty="0" smtClean="0"/>
              <a:t>の</a:t>
            </a:r>
            <a:r>
              <a:rPr lang="ja-JP" altLang="en-US" sz="2800" b="0" dirty="0"/>
              <a:t>並びで定義する。</a:t>
            </a:r>
            <a:endParaRPr lang="en-US" altLang="ja-JP" sz="2800" b="0" dirty="0"/>
          </a:p>
          <a:p>
            <a:r>
              <a:rPr lang="en-US" altLang="ja-JP" sz="2800" b="0" dirty="0"/>
              <a:t>  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:: = &lt;</a:t>
            </a:r>
            <a:r>
              <a:rPr lang="ja-JP" altLang="en-US" sz="2800" b="0" dirty="0"/>
              <a:t>変数</a:t>
            </a:r>
            <a:r>
              <a:rPr lang="en-US" altLang="ja-JP" sz="2800" b="0" dirty="0"/>
              <a:t>&gt;</a:t>
            </a:r>
            <a:r>
              <a:rPr lang="ja-JP" altLang="en-US" sz="2800" b="0" dirty="0"/>
              <a:t> </a:t>
            </a:r>
            <a:r>
              <a:rPr lang="en-US" altLang="ja-JP" sz="2800" b="0" dirty="0"/>
              <a:t>= &lt;</a:t>
            </a:r>
            <a:r>
              <a:rPr lang="ja-JP" altLang="en-US" sz="2800" b="0" dirty="0"/>
              <a:t>式</a:t>
            </a:r>
            <a:r>
              <a:rPr lang="en-US" altLang="ja-JP" sz="2800" b="0" dirty="0"/>
              <a:t>&gt; ;</a:t>
            </a:r>
          </a:p>
          <a:p>
            <a:r>
              <a:rPr lang="en-US" altLang="ja-JP" sz="2800" b="0" dirty="0"/>
              <a:t>                |   &lt;</a:t>
            </a:r>
            <a:r>
              <a:rPr lang="ja-JP" altLang="en-US" sz="2800" b="0" dirty="0"/>
              <a:t>文</a:t>
            </a:r>
            <a:r>
              <a:rPr lang="en-US" altLang="ja-JP" sz="2800" b="0" dirty="0"/>
              <a:t>&gt; &lt;</a:t>
            </a:r>
            <a:r>
              <a:rPr lang="ja-JP" altLang="en-US" sz="2800" b="0" dirty="0"/>
              <a:t>文</a:t>
            </a:r>
            <a:r>
              <a:rPr lang="en-US" altLang="ja-JP" sz="2800" dirty="0" smtClean="0"/>
              <a:t>&gt;</a:t>
            </a:r>
          </a:p>
          <a:p>
            <a:r>
              <a:rPr lang="en-US" altLang="ja-JP" sz="2800" dirty="0" smtClean="0"/>
              <a:t>                |  </a:t>
            </a:r>
            <a:r>
              <a:rPr lang="ja-JP" altLang="en-US" sz="2800" dirty="0" smtClean="0"/>
              <a:t> </a:t>
            </a:r>
            <a:r>
              <a:rPr lang="en-US" altLang="ja-JP" sz="2800" dirty="0" smtClean="0"/>
              <a:t>while (&lt;</a:t>
            </a:r>
            <a:r>
              <a:rPr lang="ja-JP" altLang="en-US" sz="2800" dirty="0" smtClean="0"/>
              <a:t>式</a:t>
            </a:r>
            <a:r>
              <a:rPr lang="en-US" altLang="ja-JP" sz="2800" dirty="0" smtClean="0"/>
              <a:t>&gt;) { &lt;</a:t>
            </a:r>
            <a:r>
              <a:rPr lang="ja-JP" altLang="en-US" sz="2800" dirty="0" smtClean="0"/>
              <a:t>文</a:t>
            </a:r>
            <a:r>
              <a:rPr lang="en-US" altLang="ja-JP" sz="2800" dirty="0" smtClean="0"/>
              <a:t>&gt; }</a:t>
            </a:r>
          </a:p>
          <a:p>
            <a:endParaRPr lang="en-US" altLang="ja-JP" sz="2800" b="0" dirty="0" smtClean="0"/>
          </a:p>
          <a:p>
            <a:r>
              <a:rPr lang="ja-JP" altLang="en-US" sz="2800" dirty="0" smtClean="0"/>
              <a:t>文を表すためのメタ変数として</a:t>
            </a:r>
            <a:r>
              <a:rPr lang="en-US" altLang="ja-JP" sz="2800" i="1" dirty="0" smtClean="0"/>
              <a:t>c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1</a:t>
            </a:r>
            <a:r>
              <a:rPr lang="en-US" altLang="ja-JP" sz="2800" dirty="0" smtClean="0"/>
              <a:t>, </a:t>
            </a:r>
            <a:r>
              <a:rPr lang="en-US" altLang="ja-JP" sz="2800" i="1" dirty="0" smtClean="0"/>
              <a:t>c</a:t>
            </a:r>
            <a:r>
              <a:rPr lang="en-US" altLang="ja-JP" sz="2800" baseline="-25000" dirty="0" smtClean="0"/>
              <a:t>2</a:t>
            </a:r>
            <a:r>
              <a:rPr lang="ja-JP" altLang="en-US" sz="2800" dirty="0" smtClean="0"/>
              <a:t>等を用いる。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</a:t>
            </a:r>
          </a:p>
        </p:txBody>
      </p:sp>
      <p:sp>
        <p:nvSpPr>
          <p:cNvPr id="32771" name="テキスト ボックス 4"/>
          <p:cNvSpPr txBox="1">
            <a:spLocks noChangeArrowheads="1"/>
          </p:cNvSpPr>
          <p:nvPr/>
        </p:nvSpPr>
        <p:spPr bwMode="auto">
          <a:xfrm>
            <a:off x="849707" y="1428736"/>
            <a:ext cx="7305205" cy="1815882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状態</a:t>
            </a:r>
            <a:r>
              <a:rPr lang="ja-JP" altLang="en-US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ja-JP" altLang="en-US" sz="2800" b="0" dirty="0" smtClean="0">
                <a:sym typeface="Symbol" pitchFamily="18" charset="2"/>
              </a:rPr>
              <a:t>の</a:t>
            </a:r>
            <a:r>
              <a:rPr lang="ja-JP" altLang="en-US" sz="2800" b="0" dirty="0">
                <a:sym typeface="Symbol" pitchFamily="18" charset="2"/>
              </a:rPr>
              <a:t>もとで文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ja-JP" altLang="en-US" sz="2800" b="0" dirty="0">
                <a:sym typeface="Symbol" pitchFamily="18" charset="2"/>
              </a:rPr>
              <a:t>を実行したら状態が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r>
              <a:rPr lang="ja-JP" altLang="en-US" sz="2800" b="0" dirty="0" smtClean="0">
                <a:sym typeface="Symbol" pitchFamily="18" charset="2"/>
              </a:rPr>
              <a:t>に</a:t>
            </a:r>
            <a:r>
              <a:rPr lang="ja-JP" altLang="en-US" sz="2800" b="0" dirty="0">
                <a:sym typeface="Symbol" pitchFamily="18" charset="2"/>
              </a:rPr>
              <a:t>なる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ということを、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1</a:t>
            </a:r>
            <a:r>
              <a:rPr lang="en-US" altLang="ja-JP" sz="2800" b="0" i="1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&gt; 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aseline="-25000" dirty="0" smtClean="0">
                <a:sym typeface="Symbol" pitchFamily="18" charset="2"/>
              </a:rPr>
              <a:t>2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と表す。</a:t>
            </a:r>
            <a:endParaRPr lang="en-US" altLang="ja-JP" sz="2800" b="0" dirty="0">
              <a:sym typeface="Symbol" pitchFamily="18" charset="2"/>
            </a:endParaRPr>
          </a:p>
        </p:txBody>
      </p:sp>
      <p:sp>
        <p:nvSpPr>
          <p:cNvPr id="32772" name="テキスト ボックス 4"/>
          <p:cNvSpPr txBox="1">
            <a:spLocks noChangeArrowheads="1"/>
          </p:cNvSpPr>
          <p:nvPr/>
        </p:nvSpPr>
        <p:spPr bwMode="auto">
          <a:xfrm>
            <a:off x="1214461" y="3428987"/>
            <a:ext cx="6715125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（例） 状態 </a:t>
            </a:r>
            <a:r>
              <a:rPr lang="en-US" altLang="ja-JP" sz="2800" b="0" dirty="0"/>
              <a:t>{ (X, 10), (Y, 20), (Z, 30) }</a:t>
            </a:r>
            <a:r>
              <a:rPr lang="ja-JP" altLang="en-US" sz="2800" b="0" dirty="0"/>
              <a:t>のもとで</a:t>
            </a:r>
            <a:endParaRPr lang="en-US" altLang="ja-JP" sz="2800" b="0" dirty="0"/>
          </a:p>
          <a:p>
            <a:r>
              <a:rPr lang="ja-JP" altLang="en-US" sz="2800" b="0" dirty="0"/>
              <a:t>文 </a:t>
            </a:r>
            <a:r>
              <a:rPr lang="en-US" altLang="ja-JP" sz="2800" b="0" dirty="0"/>
              <a:t>Y = 40; </a:t>
            </a:r>
            <a:r>
              <a:rPr lang="ja-JP" altLang="en-US" sz="2800" b="0" dirty="0"/>
              <a:t>を実行すると、状態は</a:t>
            </a:r>
            <a:endParaRPr lang="en-US" altLang="ja-JP" sz="2800" b="0" dirty="0"/>
          </a:p>
          <a:p>
            <a:r>
              <a:rPr lang="ja-JP" altLang="en-US" sz="2800" b="0" dirty="0"/>
              <a:t>        </a:t>
            </a:r>
            <a:r>
              <a:rPr lang="en-US" altLang="ja-JP" sz="2800" b="0" dirty="0"/>
              <a:t>{ (X, 10), (Y, 40), (Z, 30) }</a:t>
            </a:r>
          </a:p>
          <a:p>
            <a:r>
              <a:rPr lang="ja-JP" altLang="en-US" sz="2800" b="0" dirty="0"/>
              <a:t>になる。これを、</a:t>
            </a:r>
            <a:r>
              <a:rPr lang="en-US" altLang="ja-JP" sz="2800" b="0" dirty="0"/>
              <a:t> </a:t>
            </a:r>
          </a:p>
          <a:p>
            <a:r>
              <a:rPr lang="ja-JP" altLang="en-US" sz="2800" b="0" dirty="0"/>
              <a:t>     </a:t>
            </a:r>
            <a:r>
              <a:rPr lang="en-US" altLang="ja-JP" sz="2800" b="0" dirty="0"/>
              <a:t>&lt; Y = 40;,  { (X, 10), (Y, 20), (Z, 30) } &gt;</a:t>
            </a:r>
            <a:r>
              <a:rPr lang="en-US" altLang="ja-JP" sz="2800" b="0" dirty="0">
                <a:sym typeface="Symbol" pitchFamily="18" charset="2"/>
              </a:rPr>
              <a:t> </a:t>
            </a:r>
          </a:p>
          <a:p>
            <a:r>
              <a:rPr lang="ja-JP" altLang="en-US" sz="2800" b="0" dirty="0">
                <a:sym typeface="Symbol" pitchFamily="18" charset="2"/>
              </a:rPr>
              <a:t>       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dirty="0" smtClean="0"/>
              <a:t>{ </a:t>
            </a:r>
            <a:r>
              <a:rPr lang="en-US" altLang="ja-JP" sz="2800" b="0" dirty="0"/>
              <a:t>(X, 10), (Y, 40), (Z, 30) } </a:t>
            </a:r>
          </a:p>
          <a:p>
            <a:r>
              <a:rPr lang="ja-JP" altLang="en-US" sz="2800" b="0" dirty="0"/>
              <a:t>と書き表す。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文の実行に関する規則</a:t>
            </a:r>
          </a:p>
        </p:txBody>
      </p:sp>
      <p:sp>
        <p:nvSpPr>
          <p:cNvPr id="33795" name="テキスト ボックス 4"/>
          <p:cNvSpPr txBox="1">
            <a:spLocks noChangeArrowheads="1"/>
          </p:cNvSpPr>
          <p:nvPr/>
        </p:nvSpPr>
        <p:spPr bwMode="auto">
          <a:xfrm>
            <a:off x="1785938" y="2286000"/>
            <a:ext cx="455284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</a:t>
            </a:r>
            <a:r>
              <a:rPr lang="en-US" altLang="ja-JP" sz="2800" b="0" dirty="0">
                <a:sym typeface="Symbol" pitchFamily="18" charset="2"/>
              </a:rPr>
              <a:t>        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endParaRPr lang="en-US" altLang="ja-JP" sz="2800" b="0" baseline="-25000" dirty="0">
              <a:sym typeface="Symbol" pitchFamily="18" charset="2"/>
            </a:endParaRPr>
          </a:p>
          <a:p>
            <a:r>
              <a:rPr lang="en-US" altLang="ja-JP" sz="2800" b="0" dirty="0">
                <a:sym typeface="Symbol" pitchFamily="18" charset="2"/>
              </a:rPr>
              <a:t>    &lt; </a:t>
            </a:r>
            <a:r>
              <a:rPr lang="en-US" altLang="ja-JP" sz="2800" b="0" i="1" dirty="0">
                <a:sym typeface="Symbol" pitchFamily="18" charset="2"/>
              </a:rPr>
              <a:t>x = a</a:t>
            </a:r>
            <a:r>
              <a:rPr lang="en-US" altLang="ja-JP" sz="2800" b="0" dirty="0">
                <a:sym typeface="Symbol" pitchFamily="18" charset="2"/>
              </a:rPr>
              <a:t>;,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[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i="1" dirty="0" smtClean="0">
                <a:sym typeface="Symbol" pitchFamily="18" charset="2"/>
              </a:rPr>
              <a:t>m </a:t>
            </a:r>
            <a:r>
              <a:rPr lang="en-US" altLang="ja-JP" sz="2800" b="0" i="1" dirty="0">
                <a:sym typeface="Symbol" pitchFamily="18" charset="2"/>
              </a:rPr>
              <a:t>/ x </a:t>
            </a:r>
            <a:r>
              <a:rPr lang="en-US" altLang="ja-JP" sz="2800" b="0" dirty="0">
                <a:sym typeface="Symbol" pitchFamily="18" charset="2"/>
              </a:rPr>
              <a:t>]</a:t>
            </a:r>
            <a:r>
              <a:rPr lang="en-US" altLang="ja-JP" sz="2800" b="0" i="1" dirty="0">
                <a:sym typeface="Symbol" pitchFamily="18" charset="2"/>
              </a:rPr>
              <a:t>    </a:t>
            </a:r>
            <a:endParaRPr lang="ja-JP" altLang="en-US" sz="2800" dirty="0"/>
          </a:p>
        </p:txBody>
      </p:sp>
      <p:cxnSp>
        <p:nvCxnSpPr>
          <p:cNvPr id="33796" name="直線コネクタ 6"/>
          <p:cNvCxnSpPr>
            <a:cxnSpLocks noChangeShapeType="1"/>
          </p:cNvCxnSpPr>
          <p:nvPr/>
        </p:nvCxnSpPr>
        <p:spPr bwMode="auto">
          <a:xfrm>
            <a:off x="2000250" y="2784470"/>
            <a:ext cx="4000500" cy="1588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379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233910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代入文の場合</a:t>
            </a:r>
          </a:p>
        </p:txBody>
      </p:sp>
      <p:sp>
        <p:nvSpPr>
          <p:cNvPr id="33798" name="テキスト ボックス 18"/>
          <p:cNvSpPr txBox="1">
            <a:spLocks noChangeArrowheads="1"/>
          </p:cNvSpPr>
          <p:nvPr/>
        </p:nvSpPr>
        <p:spPr bwMode="auto">
          <a:xfrm>
            <a:off x="1023938" y="3238500"/>
            <a:ext cx="2683748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/>
              <a:t>文の並びの場合</a:t>
            </a:r>
          </a:p>
        </p:txBody>
      </p:sp>
      <p:sp>
        <p:nvSpPr>
          <p:cNvPr id="33799" name="テキスト ボックス 4"/>
          <p:cNvSpPr txBox="1">
            <a:spLocks noChangeArrowheads="1"/>
          </p:cNvSpPr>
          <p:nvPr/>
        </p:nvSpPr>
        <p:spPr bwMode="auto">
          <a:xfrm>
            <a:off x="1924050" y="3852863"/>
            <a:ext cx="4762842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 </a:t>
            </a:r>
            <a:r>
              <a:rPr lang="en-US" altLang="ja-JP" sz="2800" b="0" dirty="0" smtClean="0">
                <a:sym typeface="Symbol" pitchFamily="18" charset="2"/>
              </a:rPr>
              <a:t>&lt; </a:t>
            </a:r>
            <a:r>
              <a:rPr lang="en-US" altLang="ja-JP" sz="2800" b="0" i="1" dirty="0" smtClean="0">
                <a:sym typeface="Symbol" pitchFamily="18" charset="2"/>
              </a:rPr>
              <a:t>c</a:t>
            </a:r>
            <a:r>
              <a:rPr lang="en-US" altLang="ja-JP" sz="2800" b="0" baseline="-25000" dirty="0" smtClean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 smtClean="0">
                <a:sym typeface="Symbol" pitchFamily="18" charset="2"/>
              </a:rPr>
              <a:t>1 </a:t>
            </a:r>
            <a:r>
              <a:rPr lang="en-US" altLang="ja-JP" sz="2800" b="0" dirty="0" smtClean="0">
                <a:sym typeface="Symbol" pitchFamily="18" charset="2"/>
              </a:rPr>
              <a:t>&gt; </a:t>
            </a:r>
            <a:r>
              <a:rPr lang="en-US" altLang="ja-JP" sz="2800" b="0" dirty="0">
                <a:sym typeface="Symbol" pitchFamily="18" charset="2"/>
              </a:rPr>
              <a:t>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</a:p>
          <a:p>
            <a:r>
              <a:rPr lang="en-US" altLang="ja-JP" sz="2800" b="0" dirty="0">
                <a:sym typeface="Symbol" pitchFamily="18" charset="2"/>
              </a:rPr>
              <a:t>          &lt;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dirty="0">
                <a:sym typeface="Symbol" pitchFamily="18" charset="2"/>
              </a:rPr>
              <a:t>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  </a:t>
            </a:r>
            <a:endParaRPr lang="ja-JP" altLang="en-US" sz="2800" dirty="0"/>
          </a:p>
        </p:txBody>
      </p:sp>
      <p:cxnSp>
        <p:nvCxnSpPr>
          <p:cNvPr id="33800" name="直線コネクタ 20"/>
          <p:cNvCxnSpPr>
            <a:cxnSpLocks noChangeShapeType="1"/>
          </p:cNvCxnSpPr>
          <p:nvPr/>
        </p:nvCxnSpPr>
        <p:spPr bwMode="auto">
          <a:xfrm>
            <a:off x="2000232" y="4357694"/>
            <a:ext cx="4576777" cy="158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例１</a:t>
            </a:r>
          </a:p>
        </p:txBody>
      </p:sp>
      <p:sp>
        <p:nvSpPr>
          <p:cNvPr id="34819" name="テキスト ボックス 14"/>
          <p:cNvSpPr txBox="1">
            <a:spLocks noChangeArrowheads="1"/>
          </p:cNvSpPr>
          <p:nvPr/>
        </p:nvSpPr>
        <p:spPr bwMode="auto">
          <a:xfrm>
            <a:off x="1785938" y="2871788"/>
            <a:ext cx="4500574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40,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40</a:t>
            </a:r>
            <a:endParaRPr lang="en-US" altLang="ja-JP" sz="2800" b="0" dirty="0"/>
          </a:p>
          <a:p>
            <a:r>
              <a:rPr lang="en-US" altLang="ja-JP" sz="2800" b="0" dirty="0"/>
              <a:t>&lt; Y = 40;,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[ 40 / Y ]</a:t>
            </a:r>
          </a:p>
        </p:txBody>
      </p:sp>
      <p:cxnSp>
        <p:nvCxnSpPr>
          <p:cNvPr id="34820" name="直線コネクタ 15"/>
          <p:cNvCxnSpPr>
            <a:cxnSpLocks noChangeShapeType="1"/>
          </p:cNvCxnSpPr>
          <p:nvPr/>
        </p:nvCxnSpPr>
        <p:spPr bwMode="auto">
          <a:xfrm>
            <a:off x="1800233" y="3357562"/>
            <a:ext cx="4129089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4821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において文</a:t>
            </a:r>
            <a:r>
              <a:rPr lang="en-US" altLang="ja-JP" sz="2800" b="0" dirty="0">
                <a:sym typeface="Symbol" pitchFamily="18" charset="2"/>
              </a:rPr>
              <a:t>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4822" name="正方形/長方形 11"/>
          <p:cNvSpPr>
            <a:spLocks noChangeArrowheads="1"/>
          </p:cNvSpPr>
          <p:nvPr/>
        </p:nvSpPr>
        <p:spPr bwMode="auto">
          <a:xfrm>
            <a:off x="2973388" y="4405978"/>
            <a:ext cx="4270375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altLang="ja-JP" sz="2800" b="0" dirty="0" smtClean="0">
                <a:sym typeface="Symbol" pitchFamily="18" charset="2"/>
              </a:rPr>
              <a:t> </a:t>
            </a:r>
            <a:r>
              <a:rPr lang="en-US" altLang="ja-JP" sz="2800" b="0" dirty="0"/>
              <a:t>{ (X, 10),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4652964" y="3919541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例２</a:t>
            </a:r>
          </a:p>
        </p:txBody>
      </p:sp>
      <p:sp>
        <p:nvSpPr>
          <p:cNvPr id="35843" name="テキスト ボックス 14"/>
          <p:cNvSpPr txBox="1">
            <a:spLocks noChangeArrowheads="1"/>
          </p:cNvSpPr>
          <p:nvPr/>
        </p:nvSpPr>
        <p:spPr bwMode="auto">
          <a:xfrm>
            <a:off x="3571868" y="3143248"/>
            <a:ext cx="571504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               </a:t>
            </a:r>
            <a:r>
              <a:rPr lang="en-US" altLang="ja-JP" sz="2800" b="0" dirty="0" smtClean="0"/>
              <a:t>&lt; </a:t>
            </a:r>
            <a:r>
              <a:rPr lang="en-US" altLang="ja-JP" sz="2800" b="0" dirty="0"/>
              <a:t>40,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>
                <a:sym typeface="Symbol" pitchFamily="18" charset="2"/>
              </a:rPr>
              <a:t> [3 / X] </a:t>
            </a:r>
            <a:r>
              <a:rPr lang="en-US" altLang="ja-JP" sz="2800" b="0" dirty="0">
                <a:sym typeface="Symbol" pitchFamily="18" charset="2"/>
              </a:rPr>
              <a:t>&gt;  40</a:t>
            </a:r>
            <a:endParaRPr lang="en-US" altLang="ja-JP" sz="2400" b="0" dirty="0"/>
          </a:p>
          <a:p>
            <a:r>
              <a:rPr lang="en-US" altLang="ja-JP" sz="2400" b="0" dirty="0"/>
              <a:t>&lt; Y = 40;,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[ 3 / X ]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 </a:t>
            </a:r>
            <a:r>
              <a:rPr lang="en-US" altLang="ja-JP" sz="2400" b="0" dirty="0">
                <a:sym typeface="Symbol" pitchFamily="18" charset="2"/>
              </a:rPr>
              <a:t>(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[3 / X]) [ 40 / Y ]</a:t>
            </a:r>
          </a:p>
        </p:txBody>
      </p:sp>
      <p:cxnSp>
        <p:nvCxnSpPr>
          <p:cNvPr id="35844" name="直線コネクタ 15"/>
          <p:cNvCxnSpPr>
            <a:cxnSpLocks noChangeShapeType="1"/>
          </p:cNvCxnSpPr>
          <p:nvPr/>
        </p:nvCxnSpPr>
        <p:spPr bwMode="auto">
          <a:xfrm>
            <a:off x="3786214" y="3571876"/>
            <a:ext cx="521494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45" name="テキスト ボックス 10"/>
          <p:cNvSpPr txBox="1">
            <a:spLocks noChangeArrowheads="1"/>
          </p:cNvSpPr>
          <p:nvPr/>
        </p:nvSpPr>
        <p:spPr bwMode="auto">
          <a:xfrm>
            <a:off x="657225" y="1871663"/>
            <a:ext cx="76581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X = 3; Y=40;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en-US" altLang="ja-JP" sz="2800" b="0" dirty="0"/>
          </a:p>
        </p:txBody>
      </p:sp>
      <p:sp>
        <p:nvSpPr>
          <p:cNvPr id="35846" name="正方形/長方形 11"/>
          <p:cNvSpPr>
            <a:spLocks noChangeArrowheads="1"/>
          </p:cNvSpPr>
          <p:nvPr/>
        </p:nvSpPr>
        <p:spPr bwMode="auto">
          <a:xfrm>
            <a:off x="4429124" y="5214950"/>
            <a:ext cx="398465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 smtClean="0"/>
              <a:t>{ </a:t>
            </a:r>
            <a:r>
              <a:rPr lang="en-US" altLang="ja-JP" sz="2800" b="0" dirty="0"/>
              <a:t>(X, 3), (Y, 40), (Z, 30) } </a:t>
            </a:r>
            <a:endParaRPr lang="ja-JP" altLang="en-US" sz="2800" dirty="0"/>
          </a:p>
        </p:txBody>
      </p:sp>
      <p:sp>
        <p:nvSpPr>
          <p:cNvPr id="17" name="等号 16"/>
          <p:cNvSpPr/>
          <p:nvPr/>
        </p:nvSpPr>
        <p:spPr bwMode="auto">
          <a:xfrm rot="16200000">
            <a:off x="5653096" y="4719649"/>
            <a:ext cx="485775" cy="361950"/>
          </a:xfrm>
          <a:prstGeom prst="mathEqual">
            <a:avLst>
              <a:gd name="adj1" fmla="val 10362"/>
              <a:gd name="adj2" fmla="val 27550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35848" name="テキスト ボックス 9"/>
          <p:cNvSpPr txBox="1">
            <a:spLocks noChangeArrowheads="1"/>
          </p:cNvSpPr>
          <p:nvPr/>
        </p:nvSpPr>
        <p:spPr bwMode="auto">
          <a:xfrm>
            <a:off x="142844" y="3071810"/>
            <a:ext cx="3357586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        &lt; 3,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3</a:t>
            </a:r>
            <a:endParaRPr lang="en-US" altLang="ja-JP" sz="2800" b="0" dirty="0"/>
          </a:p>
          <a:p>
            <a:r>
              <a:rPr lang="en-US" altLang="ja-JP" sz="2800" b="0" dirty="0" smtClean="0"/>
              <a:t>&lt;X </a:t>
            </a:r>
            <a:r>
              <a:rPr lang="en-US" altLang="ja-JP" sz="2800" b="0" dirty="0"/>
              <a:t>= 3;, </a:t>
            </a:r>
            <a:r>
              <a:rPr lang="en-US" altLang="ja-JP" sz="2800" b="0" i="1" dirty="0" smtClean="0">
                <a:sym typeface="Symbol" pitchFamily="18" charset="2"/>
              </a:rPr>
              <a:t></a:t>
            </a:r>
            <a:r>
              <a:rPr lang="en-US" altLang="ja-JP" sz="2800" b="0" dirty="0" smtClean="0"/>
              <a:t>&gt;</a:t>
            </a:r>
            <a:r>
              <a:rPr lang="ja-JP" altLang="en-US" sz="2800" b="0" dirty="0" smtClean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</a:t>
            </a:r>
            <a:r>
              <a:rPr lang="ja-JP" altLang="en-US" sz="2800" b="0" dirty="0">
                <a:sym typeface="Symbol" pitchFamily="18" charset="2"/>
              </a:rPr>
              <a:t> 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 smtClean="0">
                <a:sym typeface="Symbol" pitchFamily="18" charset="2"/>
              </a:rPr>
              <a:t>[3/X]</a:t>
            </a:r>
            <a:endParaRPr lang="en-US" altLang="ja-JP" sz="2800" b="0" dirty="0">
              <a:sym typeface="Symbol" pitchFamily="18" charset="2"/>
            </a:endParaRPr>
          </a:p>
        </p:txBody>
      </p:sp>
      <p:cxnSp>
        <p:nvCxnSpPr>
          <p:cNvPr id="35849" name="直線コネクタ 30"/>
          <p:cNvCxnSpPr>
            <a:cxnSpLocks noChangeShapeType="1"/>
          </p:cNvCxnSpPr>
          <p:nvPr/>
        </p:nvCxnSpPr>
        <p:spPr bwMode="auto">
          <a:xfrm>
            <a:off x="214282" y="3571876"/>
            <a:ext cx="3143272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35850" name="直線コネクタ 32"/>
          <p:cNvCxnSpPr>
            <a:cxnSpLocks noChangeShapeType="1"/>
          </p:cNvCxnSpPr>
          <p:nvPr/>
        </p:nvCxnSpPr>
        <p:spPr bwMode="auto">
          <a:xfrm>
            <a:off x="142844" y="4000504"/>
            <a:ext cx="88582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35851" name="テキスト ボックス 39"/>
          <p:cNvSpPr txBox="1">
            <a:spLocks noChangeArrowheads="1"/>
          </p:cNvSpPr>
          <p:nvPr/>
        </p:nvSpPr>
        <p:spPr bwMode="auto">
          <a:xfrm>
            <a:off x="1142976" y="4014787"/>
            <a:ext cx="6243662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800" b="0" dirty="0"/>
              <a:t>&lt; X = 3; Y = 40;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(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[3 / X]) [ 40 / Y ]</a:t>
            </a:r>
            <a:endParaRPr lang="ja-JP" altLang="en-US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タイトル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36867" name="テキスト ボックス 13"/>
          <p:cNvSpPr txBox="1">
            <a:spLocks noChangeArrowheads="1"/>
          </p:cNvSpPr>
          <p:nvPr/>
        </p:nvSpPr>
        <p:spPr bwMode="auto">
          <a:xfrm>
            <a:off x="1000125" y="1785938"/>
            <a:ext cx="7015062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20), (Z, 30) } </a:t>
            </a:r>
          </a:p>
          <a:p>
            <a:r>
              <a:rPr lang="ja-JP" altLang="en-US" sz="2800" b="0" dirty="0"/>
              <a:t>において、文 </a:t>
            </a:r>
            <a:r>
              <a:rPr lang="en-US" altLang="ja-JP" sz="2800" b="0" dirty="0"/>
              <a:t>X = Y + 2; Y = Y + </a:t>
            </a:r>
            <a:r>
              <a:rPr lang="en-US" altLang="ja-JP" sz="2800" b="0" dirty="0" smtClean="0"/>
              <a:t>3; </a:t>
            </a:r>
            <a:r>
              <a:rPr lang="ja-JP" altLang="en-US" sz="2800" b="0" dirty="0"/>
              <a:t>を実行したら</a:t>
            </a:r>
            <a:endParaRPr lang="en-US" altLang="ja-JP" sz="2800" b="0" dirty="0"/>
          </a:p>
          <a:p>
            <a:r>
              <a:rPr lang="ja-JP" altLang="en-US" sz="2800" b="0" dirty="0"/>
              <a:t>状態はどうなるか。規則を使って導出せよ。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en-US" altLang="ja-JP" smtClean="0"/>
              <a:t>while</a:t>
            </a:r>
            <a:r>
              <a:rPr lang="ja-JP" altLang="en-US" smtClean="0"/>
              <a:t>文の意味</a:t>
            </a:r>
            <a:endParaRPr lang="en-US" altLang="ja-JP" smtClean="0"/>
          </a:p>
        </p:txBody>
      </p:sp>
      <p:sp>
        <p:nvSpPr>
          <p:cNvPr id="94213" name="テキスト ボックス 4"/>
          <p:cNvSpPr txBox="1">
            <a:spLocks noChangeArrowheads="1"/>
          </p:cNvSpPr>
          <p:nvPr/>
        </p:nvSpPr>
        <p:spPr bwMode="auto">
          <a:xfrm>
            <a:off x="2240211" y="2311400"/>
            <a:ext cx="404630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ja-JP" altLang="en-US" sz="2800" b="0" dirty="0">
                <a:sym typeface="Symbol" pitchFamily="18" charset="2"/>
              </a:rPr>
              <a:t>         </a:t>
            </a:r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0 </a:t>
            </a:r>
          </a:p>
          <a:p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   </a:t>
            </a:r>
            <a:endParaRPr lang="ja-JP" altLang="en-US" sz="2800" dirty="0"/>
          </a:p>
        </p:txBody>
      </p:sp>
      <p:cxnSp>
        <p:nvCxnSpPr>
          <p:cNvPr id="94214" name="直線コネクタ 20"/>
          <p:cNvCxnSpPr>
            <a:cxnSpLocks noChangeShapeType="1"/>
          </p:cNvCxnSpPr>
          <p:nvPr/>
        </p:nvCxnSpPr>
        <p:spPr bwMode="auto">
          <a:xfrm>
            <a:off x="2324109" y="2786058"/>
            <a:ext cx="36052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5" name="テキスト ボックス 4"/>
          <p:cNvSpPr txBox="1">
            <a:spLocks noChangeArrowheads="1"/>
          </p:cNvSpPr>
          <p:nvPr/>
        </p:nvSpPr>
        <p:spPr bwMode="auto">
          <a:xfrm>
            <a:off x="71406" y="3714752"/>
            <a:ext cx="8214108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ja-JP" sz="2800" b="0" dirty="0">
                <a:sym typeface="Symbol" pitchFamily="18" charset="2"/>
              </a:rPr>
              <a:t>&lt;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 smtClean="0">
                <a:sym typeface="Symbol" pitchFamily="18" charset="2"/>
              </a:rPr>
              <a:t>m</a:t>
            </a:r>
            <a:r>
              <a:rPr lang="en-US" altLang="ja-JP" sz="2800" b="0" dirty="0" smtClean="0">
                <a:sym typeface="Symbol" pitchFamily="18" charset="2"/>
              </a:rPr>
              <a:t>   </a:t>
            </a:r>
            <a:r>
              <a:rPr lang="en-US" altLang="ja-JP" sz="2800" b="0" dirty="0">
                <a:sym typeface="Symbol" pitchFamily="18" charset="2"/>
              </a:rPr>
              <a:t>&lt;c,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</a:t>
            </a:r>
            <a:r>
              <a:rPr lang="en-US" altLang="ja-JP" sz="2800" b="0" baseline="-25000" dirty="0">
                <a:sym typeface="Symbol" pitchFamily="18" charset="2"/>
              </a:rPr>
              <a:t>1   </a:t>
            </a:r>
            <a:r>
              <a:rPr lang="en-US" altLang="ja-JP" sz="2800" b="0" dirty="0">
                <a:sym typeface="Symbol" pitchFamily="18" charset="2"/>
              </a:rPr>
              <a:t>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1</a:t>
            </a:r>
            <a:r>
              <a:rPr lang="en-US" altLang="ja-JP" sz="2800" b="0" dirty="0">
                <a:sym typeface="Symbol" pitchFamily="18" charset="2"/>
              </a:rPr>
              <a:t> &gt; 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  </a:t>
            </a:r>
          </a:p>
          <a:p>
            <a:r>
              <a:rPr lang="en-US" altLang="ja-JP" sz="2800" b="0" dirty="0">
                <a:sym typeface="Symbol" pitchFamily="18" charset="2"/>
              </a:rPr>
              <a:t>                  &lt; while (</a:t>
            </a:r>
            <a:r>
              <a:rPr lang="en-US" altLang="ja-JP" sz="2800" b="0" i="1" dirty="0">
                <a:sym typeface="Symbol" pitchFamily="18" charset="2"/>
              </a:rPr>
              <a:t>a</a:t>
            </a:r>
            <a:r>
              <a:rPr lang="en-US" altLang="ja-JP" sz="2800" b="0" dirty="0">
                <a:sym typeface="Symbol" pitchFamily="18" charset="2"/>
              </a:rPr>
              <a:t>) { </a:t>
            </a:r>
            <a:r>
              <a:rPr lang="en-US" altLang="ja-JP" sz="2800" b="0" i="1" dirty="0">
                <a:sym typeface="Symbol" pitchFamily="18" charset="2"/>
              </a:rPr>
              <a:t>c</a:t>
            </a:r>
            <a:r>
              <a:rPr lang="en-US" altLang="ja-JP" sz="2800" b="0" dirty="0">
                <a:sym typeface="Symbol" pitchFamily="18" charset="2"/>
              </a:rPr>
              <a:t> },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&gt;  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baseline="-25000" dirty="0">
                <a:sym typeface="Symbol" pitchFamily="18" charset="2"/>
              </a:rPr>
              <a:t>2</a:t>
            </a:r>
            <a:r>
              <a:rPr lang="en-US" altLang="ja-JP" sz="2800" b="0" i="1" dirty="0">
                <a:sym typeface="Symbol" pitchFamily="18" charset="2"/>
              </a:rPr>
              <a:t> </a:t>
            </a:r>
            <a:endParaRPr lang="ja-JP" altLang="en-US" sz="2800" b="0" i="1" dirty="0">
              <a:sym typeface="Symbol" pitchFamily="18" charset="2"/>
            </a:endParaRPr>
          </a:p>
        </p:txBody>
      </p:sp>
      <p:cxnSp>
        <p:nvCxnSpPr>
          <p:cNvPr id="94216" name="直線コネクタ 20"/>
          <p:cNvCxnSpPr>
            <a:cxnSpLocks noChangeShapeType="1"/>
          </p:cNvCxnSpPr>
          <p:nvPr/>
        </p:nvCxnSpPr>
        <p:spPr bwMode="auto">
          <a:xfrm>
            <a:off x="142844" y="4214818"/>
            <a:ext cx="785818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4217" name="Text Box 9"/>
          <p:cNvSpPr txBox="1">
            <a:spLocks noChangeArrowheads="1"/>
          </p:cNvSpPr>
          <p:nvPr/>
        </p:nvSpPr>
        <p:spPr bwMode="auto">
          <a:xfrm>
            <a:off x="8023212" y="3929066"/>
            <a:ext cx="112082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ja-JP" sz="2800" b="0" dirty="0"/>
              <a:t>if </a:t>
            </a:r>
            <a:r>
              <a:rPr lang="en-US" altLang="ja-JP" sz="2800" b="0" i="1" dirty="0" smtClean="0"/>
              <a:t>m</a:t>
            </a:r>
            <a:r>
              <a:rPr lang="en-US" altLang="ja-JP" sz="2800" b="0" dirty="0" smtClean="0">
                <a:sym typeface="Symbol" pitchFamily="18" charset="2"/>
              </a:rPr>
              <a:t></a:t>
            </a:r>
            <a:r>
              <a:rPr lang="en-US" altLang="ja-JP" sz="2800" b="0" dirty="0"/>
              <a:t>0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タイトル 12"/>
          <p:cNvSpPr>
            <a:spLocks noGrp="1"/>
          </p:cNvSpPr>
          <p:nvPr>
            <p:ph type="title" idx="4294967295"/>
          </p:nvPr>
        </p:nvSpPr>
        <p:spPr>
          <a:xfrm>
            <a:off x="685800" y="419100"/>
            <a:ext cx="7772400" cy="1143000"/>
          </a:xfrm>
        </p:spPr>
        <p:txBody>
          <a:bodyPr/>
          <a:lstStyle/>
          <a:p>
            <a:r>
              <a:rPr lang="ja-JP" altLang="en-US" smtClean="0"/>
              <a:t>例３</a:t>
            </a:r>
            <a:endParaRPr lang="en-US" altLang="ja-JP" smtClean="0"/>
          </a:p>
        </p:txBody>
      </p:sp>
      <p:sp>
        <p:nvSpPr>
          <p:cNvPr id="96259" name="テキスト ボックス 14"/>
          <p:cNvSpPr txBox="1">
            <a:spLocks noChangeArrowheads="1"/>
          </p:cNvSpPr>
          <p:nvPr/>
        </p:nvSpPr>
        <p:spPr bwMode="auto">
          <a:xfrm>
            <a:off x="1428728" y="3571876"/>
            <a:ext cx="3571900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 smtClean="0"/>
              <a:t>       </a:t>
            </a:r>
            <a:r>
              <a:rPr lang="en-US" altLang="ja-JP" sz="2800" b="0" dirty="0" smtClean="0"/>
              <a:t>&lt;</a:t>
            </a:r>
            <a:r>
              <a:rPr lang="en-US" altLang="ja-JP" sz="2800" b="0" dirty="0"/>
              <a:t>Y-20,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</a:t>
            </a:r>
            <a:r>
              <a:rPr lang="en-US" altLang="ja-JP" sz="2800" b="0" dirty="0"/>
              <a:t>&gt;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 0</a:t>
            </a:r>
            <a:endParaRPr lang="en-US" altLang="ja-JP" sz="2000" b="0" dirty="0"/>
          </a:p>
          <a:p>
            <a:r>
              <a:rPr lang="en-US" altLang="ja-JP" sz="2400" b="0" dirty="0"/>
              <a:t>     &lt;Y=Y-20;, </a:t>
            </a:r>
            <a:r>
              <a:rPr lang="en-US" altLang="ja-JP" sz="2400" b="0" i="1" dirty="0" smtClean="0">
                <a:sym typeface="Symbol" pitchFamily="18" charset="2"/>
              </a:rPr>
              <a:t> </a:t>
            </a:r>
            <a:r>
              <a:rPr lang="en-US" altLang="ja-JP" sz="2400" b="0" dirty="0" smtClean="0"/>
              <a:t>&gt;</a:t>
            </a:r>
            <a:r>
              <a:rPr lang="ja-JP" altLang="en-US" sz="2400" b="0" dirty="0" smtClean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ja-JP" altLang="en-US" sz="2400" b="0" i="1" dirty="0">
                <a:sym typeface="Symbol" pitchFamily="18" charset="2"/>
              </a:rPr>
              <a:t>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[0/Y]</a:t>
            </a:r>
          </a:p>
        </p:txBody>
      </p:sp>
      <p:cxnSp>
        <p:nvCxnSpPr>
          <p:cNvPr id="96260" name="直線コネクタ 15"/>
          <p:cNvCxnSpPr>
            <a:cxnSpLocks noChangeShapeType="1"/>
          </p:cNvCxnSpPr>
          <p:nvPr/>
        </p:nvCxnSpPr>
        <p:spPr bwMode="auto">
          <a:xfrm>
            <a:off x="4929190" y="4071942"/>
            <a:ext cx="4043361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1" name="テキスト ボックス 10"/>
          <p:cNvSpPr txBox="1">
            <a:spLocks noChangeArrowheads="1"/>
          </p:cNvSpPr>
          <p:nvPr/>
        </p:nvSpPr>
        <p:spPr bwMode="auto">
          <a:xfrm>
            <a:off x="657225" y="1728788"/>
            <a:ext cx="76581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ja-JP" altLang="en-US" sz="2800" b="0" dirty="0"/>
              <a:t>状態 </a:t>
            </a:r>
            <a:r>
              <a:rPr lang="en-US" altLang="ja-JP" sz="2800" b="0" i="1" dirty="0">
                <a:sym typeface="Symbol" pitchFamily="18" charset="2"/>
              </a:rPr>
              <a:t></a:t>
            </a:r>
            <a:r>
              <a:rPr lang="en-US" altLang="ja-JP" sz="2800" b="0" dirty="0">
                <a:sym typeface="Symbol" pitchFamily="18" charset="2"/>
              </a:rPr>
              <a:t> = { (X, 10), (Y, 20), (Z, 30) }</a:t>
            </a:r>
            <a:r>
              <a:rPr lang="ja-JP" altLang="en-US" sz="2800" b="0" dirty="0">
                <a:sym typeface="Symbol" pitchFamily="18" charset="2"/>
              </a:rPr>
              <a:t> において</a:t>
            </a:r>
            <a:endParaRPr lang="en-US" altLang="ja-JP" sz="2800" b="0" dirty="0">
              <a:sym typeface="Symbol" pitchFamily="18" charset="2"/>
            </a:endParaRPr>
          </a:p>
          <a:p>
            <a:r>
              <a:rPr lang="ja-JP" altLang="en-US" sz="2800" b="0" dirty="0">
                <a:sym typeface="Symbol" pitchFamily="18" charset="2"/>
              </a:rPr>
              <a:t>文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>
                <a:sym typeface="Symbol" pitchFamily="18" charset="2"/>
              </a:rPr>
              <a:t>を実行すると状態はどうなるか。</a:t>
            </a:r>
            <a:endParaRPr lang="ja-JP" altLang="en-US" sz="2800" b="0" dirty="0"/>
          </a:p>
        </p:txBody>
      </p:sp>
      <p:sp>
        <p:nvSpPr>
          <p:cNvPr id="96262" name="正方形/長方形 11"/>
          <p:cNvSpPr>
            <a:spLocks noChangeArrowheads="1"/>
          </p:cNvSpPr>
          <p:nvPr/>
        </p:nvSpPr>
        <p:spPr bwMode="auto">
          <a:xfrm>
            <a:off x="4016378" y="5558869"/>
            <a:ext cx="4627588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 smtClean="0"/>
              <a:t>{ </a:t>
            </a:r>
            <a:r>
              <a:rPr lang="en-US" altLang="ja-JP" sz="3200" b="0" dirty="0"/>
              <a:t>(X, 10), (Y, 0), (Z, 30) </a:t>
            </a:r>
            <a:r>
              <a:rPr lang="en-US" altLang="ja-JP" sz="3200" b="0" dirty="0" smtClean="0"/>
              <a:t>} </a:t>
            </a:r>
            <a:endParaRPr lang="ja-JP" altLang="en-US" sz="3200" dirty="0"/>
          </a:p>
        </p:txBody>
      </p:sp>
      <p:sp>
        <p:nvSpPr>
          <p:cNvPr id="17" name="等号 16"/>
          <p:cNvSpPr>
            <a:spLocks noChangeArrowheads="1"/>
          </p:cNvSpPr>
          <p:nvPr/>
        </p:nvSpPr>
        <p:spPr bwMode="auto">
          <a:xfrm rot="-5400000">
            <a:off x="6577029" y="5076839"/>
            <a:ext cx="485775" cy="361950"/>
          </a:xfrm>
          <a:custGeom>
            <a:avLst/>
            <a:gdLst>
              <a:gd name="T0" fmla="*/ 421386 w 485775"/>
              <a:gd name="T1" fmla="*/ 112364 h 361950"/>
              <a:gd name="T2" fmla="*/ 421386 w 485775"/>
              <a:gd name="T3" fmla="*/ 249586 h 361950"/>
              <a:gd name="T4" fmla="*/ 242888 w 485775"/>
              <a:gd name="T5" fmla="*/ 268339 h 361950"/>
              <a:gd name="T6" fmla="*/ 64389 w 485775"/>
              <a:gd name="T7" fmla="*/ 112364 h 361950"/>
              <a:gd name="T8" fmla="*/ 64389 w 485775"/>
              <a:gd name="T9" fmla="*/ 249586 h 361950"/>
              <a:gd name="T10" fmla="*/ 242888 w 485775"/>
              <a:gd name="T11" fmla="*/ 93611 h 361950"/>
              <a:gd name="T12" fmla="*/ 0 60000 65536"/>
              <a:gd name="T13" fmla="*/ 0 60000 65536"/>
              <a:gd name="T14" fmla="*/ 5898240 60000 65536"/>
              <a:gd name="T15" fmla="*/ 11796480 60000 65536"/>
              <a:gd name="T16" fmla="*/ 11796480 60000 65536"/>
              <a:gd name="T17" fmla="*/ 17694720 60000 65536"/>
              <a:gd name="T18" fmla="*/ 64389 w 485775"/>
              <a:gd name="T19" fmla="*/ 93611 h 361950"/>
              <a:gd name="T20" fmla="*/ 421386 w 485775"/>
              <a:gd name="T21" fmla="*/ 268339 h 36195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485775" h="361950">
                <a:moveTo>
                  <a:pt x="64389" y="93611"/>
                </a:moveTo>
                <a:lnTo>
                  <a:pt x="421386" y="93611"/>
                </a:lnTo>
                <a:lnTo>
                  <a:pt x="421386" y="131116"/>
                </a:lnTo>
                <a:lnTo>
                  <a:pt x="64389" y="131116"/>
                </a:lnTo>
                <a:close/>
                <a:moveTo>
                  <a:pt x="64389" y="230834"/>
                </a:moveTo>
                <a:lnTo>
                  <a:pt x="421386" y="230834"/>
                </a:lnTo>
                <a:lnTo>
                  <a:pt x="421386" y="268339"/>
                </a:lnTo>
                <a:lnTo>
                  <a:pt x="64389" y="268339"/>
                </a:lnTo>
                <a:close/>
              </a:path>
            </a:pathLst>
          </a:cu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vert="eaVert"/>
          <a:lstStyle/>
          <a:p>
            <a:pPr>
              <a:defRPr/>
            </a:pPr>
            <a:endParaRPr lang="ja-JP" altLang="en-US" sz="2800">
              <a:ea typeface="ＭＳ Ｐゴシック" pitchFamily="48" charset="-128"/>
            </a:endParaRPr>
          </a:p>
        </p:txBody>
      </p:sp>
      <p:sp>
        <p:nvSpPr>
          <p:cNvPr id="96264" name="テキスト ボックス 9"/>
          <p:cNvSpPr txBox="1">
            <a:spLocks noChangeArrowheads="1"/>
          </p:cNvSpPr>
          <p:nvPr/>
        </p:nvSpPr>
        <p:spPr bwMode="auto">
          <a:xfrm>
            <a:off x="-33338" y="4000504"/>
            <a:ext cx="203357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400" b="0" dirty="0"/>
              <a:t>&lt;</a:t>
            </a:r>
            <a:r>
              <a:rPr lang="en-US" altLang="ja-JP" sz="2400" b="0" dirty="0" smtClean="0"/>
              <a:t>Y, </a:t>
            </a:r>
            <a:r>
              <a:rPr lang="en-US" altLang="ja-JP" sz="2400" b="0" i="1" dirty="0">
                <a:sym typeface="Symbol" pitchFamily="18" charset="2"/>
              </a:rPr>
              <a:t></a:t>
            </a:r>
            <a:r>
              <a:rPr lang="en-US" altLang="ja-JP" sz="2400" b="0" dirty="0">
                <a:sym typeface="Symbol" pitchFamily="18" charset="2"/>
              </a:rPr>
              <a:t> </a:t>
            </a:r>
            <a:r>
              <a:rPr lang="en-US" altLang="ja-JP" sz="2400" b="0" dirty="0"/>
              <a:t>&gt;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</a:t>
            </a:r>
            <a:r>
              <a:rPr lang="ja-JP" altLang="en-US" sz="2400" b="0" dirty="0">
                <a:sym typeface="Symbol" pitchFamily="18" charset="2"/>
              </a:rPr>
              <a:t> </a:t>
            </a:r>
            <a:r>
              <a:rPr lang="en-US" altLang="ja-JP" sz="2400" b="0" dirty="0">
                <a:sym typeface="Symbol" pitchFamily="18" charset="2"/>
              </a:rPr>
              <a:t>20</a:t>
            </a:r>
          </a:p>
        </p:txBody>
      </p:sp>
      <p:cxnSp>
        <p:nvCxnSpPr>
          <p:cNvPr id="96265" name="直線コネクタ 30"/>
          <p:cNvCxnSpPr>
            <a:cxnSpLocks noChangeShapeType="1"/>
          </p:cNvCxnSpPr>
          <p:nvPr/>
        </p:nvCxnSpPr>
        <p:spPr bwMode="auto">
          <a:xfrm>
            <a:off x="1857356" y="4071942"/>
            <a:ext cx="292895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cxnSp>
        <p:nvCxnSpPr>
          <p:cNvPr id="96266" name="直線コネクタ 32"/>
          <p:cNvCxnSpPr>
            <a:cxnSpLocks noChangeShapeType="1"/>
          </p:cNvCxnSpPr>
          <p:nvPr/>
        </p:nvCxnSpPr>
        <p:spPr bwMode="auto">
          <a:xfrm>
            <a:off x="71438" y="4429125"/>
            <a:ext cx="8929718" cy="7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7" name="テキスト ボックス 39"/>
          <p:cNvSpPr txBox="1">
            <a:spLocks noChangeArrowheads="1"/>
          </p:cNvSpPr>
          <p:nvPr/>
        </p:nvSpPr>
        <p:spPr bwMode="auto">
          <a:xfrm>
            <a:off x="957264" y="4429125"/>
            <a:ext cx="690088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3200" b="0" dirty="0"/>
              <a:t>&lt; while (Y) {Y = Y - 20;} , </a:t>
            </a:r>
            <a:r>
              <a:rPr lang="en-US" altLang="ja-JP" sz="3200" b="0" i="1" dirty="0">
                <a:sym typeface="Symbol" pitchFamily="18" charset="2"/>
              </a:rPr>
              <a:t></a:t>
            </a:r>
            <a:r>
              <a:rPr lang="en-US" altLang="ja-JP" sz="3200" b="0" dirty="0">
                <a:sym typeface="Symbol" pitchFamily="18" charset="2"/>
              </a:rPr>
              <a:t> &gt;  </a:t>
            </a:r>
            <a:r>
              <a:rPr lang="ja-JP" altLang="en-US" sz="3200" b="0" i="1" dirty="0">
                <a:sym typeface="Symbol" pitchFamily="18" charset="2"/>
              </a:rPr>
              <a:t></a:t>
            </a:r>
            <a:r>
              <a:rPr lang="ja-JP" altLang="en-US" sz="3200" b="0" dirty="0">
                <a:sym typeface="Symbol" pitchFamily="18" charset="2"/>
              </a:rPr>
              <a:t> </a:t>
            </a:r>
            <a:r>
              <a:rPr lang="en-US" altLang="ja-JP" sz="3200" b="0" dirty="0">
                <a:sym typeface="Symbol" pitchFamily="18" charset="2"/>
              </a:rPr>
              <a:t>[0 / Y]</a:t>
            </a:r>
            <a:endParaRPr lang="ja-JP" altLang="en-US" sz="3200" b="0" dirty="0"/>
          </a:p>
        </p:txBody>
      </p:sp>
      <p:cxnSp>
        <p:nvCxnSpPr>
          <p:cNvPr id="96268" name="直線コネクタ 30"/>
          <p:cNvCxnSpPr>
            <a:cxnSpLocks noChangeShapeType="1"/>
          </p:cNvCxnSpPr>
          <p:nvPr/>
        </p:nvCxnSpPr>
        <p:spPr bwMode="auto">
          <a:xfrm>
            <a:off x="1071538" y="3643314"/>
            <a:ext cx="4157668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</p:spPr>
      </p:cxnSp>
      <p:sp>
        <p:nvSpPr>
          <p:cNvPr id="96269" name="テキスト ボックス 39"/>
          <p:cNvSpPr txBox="1">
            <a:spLocks noChangeArrowheads="1"/>
          </p:cNvSpPr>
          <p:nvPr/>
        </p:nvSpPr>
        <p:spPr bwMode="auto">
          <a:xfrm>
            <a:off x="4859371" y="3598135"/>
            <a:ext cx="4356099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ja-JP" sz="2000" b="0" dirty="0"/>
              <a:t>          </a:t>
            </a:r>
            <a:r>
              <a:rPr lang="en-US" altLang="ja-JP" sz="2800" b="0" dirty="0"/>
              <a:t>&lt; Y, </a:t>
            </a:r>
            <a:r>
              <a:rPr lang="ja-JP" altLang="en-US" sz="2800" b="0" i="1" dirty="0">
                <a:sym typeface="Symbol" pitchFamily="18" charset="2"/>
              </a:rPr>
              <a:t></a:t>
            </a:r>
            <a:r>
              <a:rPr lang="ja-JP" altLang="en-US" sz="2800" b="0" dirty="0">
                <a:sym typeface="Symbol" pitchFamily="18" charset="2"/>
              </a:rPr>
              <a:t> </a:t>
            </a:r>
            <a:r>
              <a:rPr lang="en-US" altLang="ja-JP" sz="2800" b="0" dirty="0">
                <a:sym typeface="Symbol" pitchFamily="18" charset="2"/>
              </a:rPr>
              <a:t>[0/Y] &gt;  0</a:t>
            </a:r>
            <a:endParaRPr lang="en-US" altLang="ja-JP" sz="2000" b="0" dirty="0"/>
          </a:p>
          <a:p>
            <a:r>
              <a:rPr lang="en-US" altLang="ja-JP" sz="2000" b="0" dirty="0"/>
              <a:t>&lt;while(Y){Y=Y-20;}, </a:t>
            </a:r>
            <a:r>
              <a:rPr lang="en-US" altLang="ja-JP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0/Y]&gt;  </a:t>
            </a:r>
            <a:r>
              <a:rPr lang="ja-JP" altLang="en-US" sz="2000" b="0" i="1" dirty="0" smtClean="0">
                <a:sym typeface="Symbol" pitchFamily="18" charset="2"/>
              </a:rPr>
              <a:t> </a:t>
            </a:r>
            <a:r>
              <a:rPr lang="en-US" altLang="ja-JP" sz="2000" b="0" dirty="0" smtClean="0">
                <a:sym typeface="Symbol" pitchFamily="18" charset="2"/>
              </a:rPr>
              <a:t>[</a:t>
            </a:r>
            <a:r>
              <a:rPr lang="en-US" altLang="ja-JP" sz="2000" b="0" dirty="0">
                <a:sym typeface="Symbol" pitchFamily="18" charset="2"/>
              </a:rPr>
              <a:t>0/Y]</a:t>
            </a:r>
            <a:endParaRPr lang="ja-JP" altLang="en-US" sz="2000" b="0" dirty="0">
              <a:sym typeface="Symbol" pitchFamily="18" charset="2"/>
            </a:endParaRPr>
          </a:p>
        </p:txBody>
      </p:sp>
      <p:sp>
        <p:nvSpPr>
          <p:cNvPr id="16" name="正方形/長方形 15"/>
          <p:cNvSpPr/>
          <p:nvPr/>
        </p:nvSpPr>
        <p:spPr>
          <a:xfrm>
            <a:off x="1000100" y="3143248"/>
            <a:ext cx="434997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2800" dirty="0" smtClean="0"/>
              <a:t>&lt;Y,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   &lt;20, </a:t>
            </a:r>
            <a:r>
              <a:rPr lang="en-US" altLang="ja-JP" sz="2800" i="1" dirty="0" smtClean="0">
                <a:sym typeface="Symbol" pitchFamily="18" charset="2"/>
              </a:rPr>
              <a:t></a:t>
            </a:r>
            <a:r>
              <a:rPr lang="en-US" altLang="ja-JP" sz="2800" dirty="0" smtClean="0">
                <a:sym typeface="Symbol" pitchFamily="18" charset="2"/>
              </a:rPr>
              <a:t> </a:t>
            </a:r>
            <a:r>
              <a:rPr lang="en-US" altLang="ja-JP" sz="2800" dirty="0" smtClean="0"/>
              <a:t>&gt;</a:t>
            </a:r>
            <a:r>
              <a:rPr lang="ja-JP" altLang="en-US" sz="2800" dirty="0" smtClean="0">
                <a:sym typeface="Symbol" pitchFamily="18" charset="2"/>
              </a:rPr>
              <a:t> </a:t>
            </a:r>
            <a:r>
              <a:rPr lang="en-US" altLang="ja-JP" sz="2800" dirty="0" smtClean="0">
                <a:sym typeface="Symbol" pitchFamily="18" charset="2"/>
              </a:rPr>
              <a:t> 20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タイトル 12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r>
              <a:rPr lang="ja-JP" altLang="en-US" smtClean="0"/>
              <a:t>練習問題</a:t>
            </a:r>
          </a:p>
        </p:txBody>
      </p:sp>
      <p:sp>
        <p:nvSpPr>
          <p:cNvPr id="98307" name="テキスト ボックス 13"/>
          <p:cNvSpPr txBox="1">
            <a:spLocks noChangeArrowheads="1"/>
          </p:cNvSpPr>
          <p:nvPr/>
        </p:nvSpPr>
        <p:spPr bwMode="auto">
          <a:xfrm>
            <a:off x="714348" y="1571612"/>
            <a:ext cx="8012776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ja-JP" altLang="en-US" sz="2800" dirty="0"/>
              <a:t>状態 </a:t>
            </a:r>
            <a:r>
              <a:rPr lang="ja-JP" altLang="en-US" sz="2800" i="1" dirty="0">
                <a:sym typeface="Symbol" pitchFamily="18" charset="2"/>
              </a:rPr>
              <a:t></a:t>
            </a:r>
            <a:r>
              <a:rPr lang="ja-JP" altLang="en-US" sz="2800" dirty="0">
                <a:sym typeface="Symbol" pitchFamily="18" charset="2"/>
              </a:rPr>
              <a:t> </a:t>
            </a:r>
            <a:r>
              <a:rPr lang="en-US" altLang="ja-JP" sz="2800" dirty="0">
                <a:sym typeface="Symbol" pitchFamily="18" charset="2"/>
              </a:rPr>
              <a:t>= </a:t>
            </a:r>
            <a:r>
              <a:rPr lang="en-US" altLang="ja-JP" sz="2800" b="0" dirty="0"/>
              <a:t>{ (X, 10), (Y, 40), (Z, 30) </a:t>
            </a:r>
            <a:r>
              <a:rPr lang="en-US" altLang="ja-JP" sz="2800" b="0" dirty="0" smtClean="0"/>
              <a:t>} </a:t>
            </a:r>
            <a:r>
              <a:rPr lang="ja-JP" altLang="en-US" sz="2800" b="0" dirty="0" smtClean="0"/>
              <a:t>に</a:t>
            </a:r>
            <a:r>
              <a:rPr lang="ja-JP" altLang="en-US" sz="2800" b="0" dirty="0"/>
              <a:t>おいて</a:t>
            </a:r>
            <a:r>
              <a:rPr lang="ja-JP" altLang="en-US" sz="2800" b="0" dirty="0" smtClean="0"/>
              <a:t>、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文 </a:t>
            </a:r>
            <a:r>
              <a:rPr lang="en-US" altLang="ja-JP" sz="2800" b="0" dirty="0">
                <a:sym typeface="Symbol" pitchFamily="18" charset="2"/>
              </a:rPr>
              <a:t>while ( Y ) { Y = Y – 20; } </a:t>
            </a:r>
            <a:r>
              <a:rPr lang="ja-JP" altLang="en-US" sz="2800" b="0" dirty="0"/>
              <a:t>を実行</a:t>
            </a:r>
            <a:r>
              <a:rPr lang="ja-JP" altLang="en-US" sz="2800" b="0" dirty="0" smtClean="0"/>
              <a:t>したら</a:t>
            </a:r>
            <a:endParaRPr lang="en-US" altLang="ja-JP" sz="2800" b="0" dirty="0" smtClean="0"/>
          </a:p>
          <a:p>
            <a:r>
              <a:rPr lang="ja-JP" altLang="en-US" sz="2800" b="0" dirty="0" smtClean="0"/>
              <a:t>状態</a:t>
            </a:r>
            <a:r>
              <a:rPr lang="ja-JP" altLang="en-US" sz="2800" b="0" dirty="0"/>
              <a:t>はどうなるか。規則を使って導出せよ。</a:t>
            </a:r>
            <a:endParaRPr lang="en-US" altLang="ja-JP" sz="2800" b="0" dirty="0"/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2205</Words>
  <Application>Microsoft Macintosh PowerPoint</Application>
  <PresentationFormat>画面に合わせる (4:3)</PresentationFormat>
  <Paragraphs>195</Paragraphs>
  <Slides>24</Slides>
  <Notes>23</Notes>
  <HiddenSlides>0</HiddenSlides>
  <MMClips>0</MMClips>
  <ScaleCrop>false</ScaleCrop>
  <HeadingPairs>
    <vt:vector size="4" baseType="variant"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25" baseType="lpstr">
      <vt:lpstr>Office テーマ</vt:lpstr>
      <vt:lpstr>プログラミング言語論</vt:lpstr>
      <vt:lpstr>今日の内容</vt:lpstr>
      <vt:lpstr>算術式の意味</vt:lpstr>
      <vt:lpstr>状態</vt:lpstr>
      <vt:lpstr>メタ変数について</vt:lpstr>
      <vt:lpstr>算術式の評価</vt:lpstr>
      <vt:lpstr>算術式の評価</vt:lpstr>
      <vt:lpstr>算術式の評価規則</vt:lpstr>
      <vt:lpstr>算術式の評価規則（続き）</vt:lpstr>
      <vt:lpstr>算術式の評価の例1</vt:lpstr>
      <vt:lpstr>算術式の評価の例2</vt:lpstr>
      <vt:lpstr>練習問題</vt:lpstr>
      <vt:lpstr>文</vt:lpstr>
      <vt:lpstr>状態に関する記法</vt:lpstr>
      <vt:lpstr>練習問題</vt:lpstr>
      <vt:lpstr>文の定義</vt:lpstr>
      <vt:lpstr>文の実行</vt:lpstr>
      <vt:lpstr>文の実行に関する規則</vt:lpstr>
      <vt:lpstr>例１</vt:lpstr>
      <vt:lpstr>例２</vt:lpstr>
      <vt:lpstr>練習問題</vt:lpstr>
      <vt:lpstr>while文の意味</vt:lpstr>
      <vt:lpstr>例３</vt:lpstr>
      <vt:lpstr>練習問題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プログラミング言語論</dc:title>
  <dc:creator>sasano</dc:creator>
  <cp:lastModifiedBy>Sasano Isao</cp:lastModifiedBy>
  <cp:revision>190</cp:revision>
  <dcterms:created xsi:type="dcterms:W3CDTF">2009-12-10T02:30:43Z</dcterms:created>
  <dcterms:modified xsi:type="dcterms:W3CDTF">2012-10-28T08:06:50Z</dcterms:modified>
</cp:coreProperties>
</file>