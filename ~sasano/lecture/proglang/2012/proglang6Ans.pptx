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7" r:id="rId3"/>
    <p:sldId id="268" r:id="rId4"/>
    <p:sldId id="271" r:id="rId5"/>
    <p:sldId id="272" r:id="rId6"/>
    <p:sldId id="278" r:id="rId7"/>
    <p:sldId id="279" r:id="rId8"/>
    <p:sldId id="283" r:id="rId9"/>
    <p:sldId id="284" r:id="rId10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0" autoAdjust="0"/>
    <p:restoredTop sz="94660"/>
  </p:normalViewPr>
  <p:slideViewPr>
    <p:cSldViewPr>
      <p:cViewPr varScale="1">
        <p:scale>
          <a:sx n="99" d="100"/>
          <a:sy n="99" d="100"/>
        </p:scale>
        <p:origin x="-198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D0DAA-63F4-43D0-882A-891F9A495018}" type="datetimeFigureOut">
              <a:rPr kumimoji="1" lang="ja-JP" altLang="en-US" smtClean="0"/>
              <a:pPr/>
              <a:t>12/10/20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9AB60-EC55-4CBA-8BF9-263FFA6C8C8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5802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C84D5D-9646-4D1E-8695-9B14129A1778}" type="slidenum">
              <a:rPr lang="en-US" altLang="ja-JP" smtClean="0">
                <a:ea typeface="ＭＳ Ｐゴシック" charset="-128"/>
              </a:rPr>
              <a:pPr/>
              <a:t>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2F0947-2102-4407-AB99-F1F40C7FFFC5}" type="slidenum">
              <a:rPr lang="en-US" altLang="ja-JP" smtClean="0">
                <a:ea typeface="ＭＳ Ｐゴシック" charset="-128"/>
              </a:rPr>
              <a:pPr/>
              <a:t>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59E60E-9DF3-49CF-91ED-B6CE4E484CF4}" type="slidenum">
              <a:rPr lang="en-US" altLang="ja-JP" smtClean="0">
                <a:ea typeface="ＭＳ Ｐゴシック" charset="-128"/>
              </a:rPr>
              <a:pPr/>
              <a:t>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EC3F88-AE40-4385-9B82-713F48DC2DA7}" type="slidenum">
              <a:rPr lang="en-US" altLang="ja-JP" smtClean="0">
                <a:ea typeface="ＭＳ Ｐゴシック" charset="-128"/>
              </a:rPr>
              <a:pPr/>
              <a:t>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5DBAC-6177-4B21-AEEC-95A0182522F1}" type="slidenum">
              <a:rPr lang="en-US" altLang="ja-JP" smtClean="0">
                <a:ea typeface="ＭＳ Ｐゴシック" charset="-128"/>
              </a:rPr>
              <a:pPr/>
              <a:t>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1DBDCB-BB51-467F-A4B2-3D2863522DA5}" type="slidenum">
              <a:rPr lang="en-US" altLang="ja-JP" smtClean="0">
                <a:ea typeface="ＭＳ Ｐゴシック" charset="-128"/>
              </a:rPr>
              <a:pPr/>
              <a:t>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dirty="0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8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9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12/10/20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42910" y="1643050"/>
            <a:ext cx="7772400" cy="941385"/>
          </a:xfrm>
        </p:spPr>
        <p:txBody>
          <a:bodyPr/>
          <a:lstStyle/>
          <a:p>
            <a:r>
              <a:rPr lang="ja-JP" altLang="en-US" dirty="0" smtClean="0"/>
              <a:t>プログラミング言語論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85852" y="2928934"/>
            <a:ext cx="635798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第</a:t>
            </a:r>
            <a:r>
              <a:rPr lang="ja-JP" altLang="en-US" sz="3200" dirty="0" smtClean="0"/>
              <a:t>６</a:t>
            </a:r>
            <a:r>
              <a:rPr kumimoji="1" lang="ja-JP" altLang="en-US" sz="3200" dirty="0" smtClean="0"/>
              <a:t>回</a:t>
            </a:r>
            <a:r>
              <a:rPr kumimoji="1" lang="ja-JP" altLang="en-US" sz="3200" dirty="0" smtClean="0"/>
              <a:t>練習問題解答例</a:t>
            </a:r>
            <a:endParaRPr kumimoji="1" lang="en-US" altLang="ja-JP" sz="32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680132" y="5120358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練習問題</a:t>
            </a:r>
          </a:p>
        </p:txBody>
      </p:sp>
      <p:sp>
        <p:nvSpPr>
          <p:cNvPr id="25603" name="テキスト ボックス 5"/>
          <p:cNvSpPr txBox="1">
            <a:spLocks noChangeArrowheads="1"/>
          </p:cNvSpPr>
          <p:nvPr/>
        </p:nvSpPr>
        <p:spPr bwMode="auto">
          <a:xfrm>
            <a:off x="1071538" y="1829691"/>
            <a:ext cx="6858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((4 + Y) * (5 + Z)) </a:t>
            </a:r>
            <a:r>
              <a:rPr lang="ja-JP" altLang="en-US" sz="2800" b="0" dirty="0"/>
              <a:t>という算術式を評価規則に従って評価せよ。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解答</a:t>
            </a:r>
          </a:p>
        </p:txBody>
      </p:sp>
      <p:sp>
        <p:nvSpPr>
          <p:cNvPr id="26627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655891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((4 + Y) * (5 + Z)) </a:t>
            </a:r>
            <a:r>
              <a:rPr lang="ja-JP" altLang="en-US" sz="2800" b="0" dirty="0"/>
              <a:t>という算術式を評価する。</a:t>
            </a:r>
            <a:endParaRPr lang="en-US" altLang="ja-JP" sz="2800" b="0" dirty="0"/>
          </a:p>
        </p:txBody>
      </p:sp>
      <p:sp>
        <p:nvSpPr>
          <p:cNvPr id="26628" name="テキスト ボックス 6"/>
          <p:cNvSpPr txBox="1">
            <a:spLocks noChangeArrowheads="1"/>
          </p:cNvSpPr>
          <p:nvPr/>
        </p:nvSpPr>
        <p:spPr bwMode="auto">
          <a:xfrm>
            <a:off x="1978025" y="4143380"/>
            <a:ext cx="491993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((4 + Y) * (5 + Z)),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432 </a:t>
            </a:r>
            <a:endParaRPr lang="ja-JP" altLang="en-US" sz="2800" b="0" dirty="0"/>
          </a:p>
        </p:txBody>
      </p:sp>
      <p:cxnSp>
        <p:nvCxnSpPr>
          <p:cNvPr id="26629" name="直線コネクタ 10"/>
          <p:cNvCxnSpPr>
            <a:cxnSpLocks noChangeShapeType="1"/>
          </p:cNvCxnSpPr>
          <p:nvPr/>
        </p:nvCxnSpPr>
        <p:spPr bwMode="auto">
          <a:xfrm>
            <a:off x="928662" y="4143380"/>
            <a:ext cx="7500937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0" name="テキスト ボックス 11"/>
          <p:cNvSpPr txBox="1">
            <a:spLocks noChangeArrowheads="1"/>
          </p:cNvSpPr>
          <p:nvPr/>
        </p:nvSpPr>
        <p:spPr bwMode="auto">
          <a:xfrm>
            <a:off x="1000125" y="3643314"/>
            <a:ext cx="318228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(4 + Y),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24</a:t>
            </a:r>
            <a:endParaRPr lang="ja-JP" altLang="en-US" sz="2800" b="0" dirty="0"/>
          </a:p>
        </p:txBody>
      </p:sp>
      <p:cxnSp>
        <p:nvCxnSpPr>
          <p:cNvPr id="26631" name="直線コネクタ 14"/>
          <p:cNvCxnSpPr>
            <a:cxnSpLocks noChangeShapeType="1"/>
          </p:cNvCxnSpPr>
          <p:nvPr/>
        </p:nvCxnSpPr>
        <p:spPr bwMode="auto">
          <a:xfrm>
            <a:off x="4722812" y="3714752"/>
            <a:ext cx="4206906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2" name="テキスト ボックス 18"/>
          <p:cNvSpPr txBox="1">
            <a:spLocks noChangeArrowheads="1"/>
          </p:cNvSpPr>
          <p:nvPr/>
        </p:nvSpPr>
        <p:spPr bwMode="auto">
          <a:xfrm>
            <a:off x="4643438" y="3214686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5,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5</a:t>
            </a:r>
            <a:endParaRPr lang="ja-JP" altLang="en-US" sz="2800" b="0" dirty="0"/>
          </a:p>
        </p:txBody>
      </p:sp>
      <p:sp>
        <p:nvSpPr>
          <p:cNvPr id="26633" name="テキスト ボックス 19"/>
          <p:cNvSpPr txBox="1">
            <a:spLocks noChangeArrowheads="1"/>
          </p:cNvSpPr>
          <p:nvPr/>
        </p:nvSpPr>
        <p:spPr bwMode="auto">
          <a:xfrm>
            <a:off x="6732586" y="3214686"/>
            <a:ext cx="21467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Z,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13</a:t>
            </a:r>
            <a:endParaRPr lang="ja-JP" altLang="en-US" sz="2800" b="0" dirty="0"/>
          </a:p>
        </p:txBody>
      </p:sp>
      <p:sp>
        <p:nvSpPr>
          <p:cNvPr id="26634" name="テキスト ボックス 12"/>
          <p:cNvSpPr txBox="1">
            <a:spLocks noChangeArrowheads="1"/>
          </p:cNvSpPr>
          <p:nvPr/>
        </p:nvSpPr>
        <p:spPr bwMode="auto">
          <a:xfrm>
            <a:off x="5357812" y="3643314"/>
            <a:ext cx="30540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(5 + Z),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18</a:t>
            </a:r>
            <a:endParaRPr lang="ja-JP" altLang="en-US" sz="2800" b="0" dirty="0"/>
          </a:p>
        </p:txBody>
      </p:sp>
      <p:cxnSp>
        <p:nvCxnSpPr>
          <p:cNvPr id="26635" name="直線コネクタ 13"/>
          <p:cNvCxnSpPr>
            <a:cxnSpLocks noChangeShapeType="1"/>
          </p:cNvCxnSpPr>
          <p:nvPr/>
        </p:nvCxnSpPr>
        <p:spPr bwMode="auto">
          <a:xfrm>
            <a:off x="214282" y="3714752"/>
            <a:ext cx="42862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6" name="テキスト ボックス 15"/>
          <p:cNvSpPr txBox="1">
            <a:spLocks noChangeArrowheads="1"/>
          </p:cNvSpPr>
          <p:nvPr/>
        </p:nvSpPr>
        <p:spPr bwMode="auto">
          <a:xfrm>
            <a:off x="285720" y="3214686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4,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4</a:t>
            </a:r>
            <a:endParaRPr lang="ja-JP" altLang="en-US" sz="2800" b="0" dirty="0"/>
          </a:p>
        </p:txBody>
      </p:sp>
      <p:sp>
        <p:nvSpPr>
          <p:cNvPr id="26637" name="テキスト ボックス 16"/>
          <p:cNvSpPr txBox="1">
            <a:spLocks noChangeArrowheads="1"/>
          </p:cNvSpPr>
          <p:nvPr/>
        </p:nvSpPr>
        <p:spPr bwMode="auto">
          <a:xfrm>
            <a:off x="2357422" y="3214686"/>
            <a:ext cx="21089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Y,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29699" name="コンテンツ プレースホルダ 13"/>
          <p:cNvSpPr>
            <a:spLocks noGrp="1"/>
          </p:cNvSpPr>
          <p:nvPr>
            <p:ph idx="1"/>
          </p:nvPr>
        </p:nvSpPr>
        <p:spPr>
          <a:xfrm>
            <a:off x="857224" y="1714488"/>
            <a:ext cx="7772400" cy="95726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ja-JP" altLang="en-US" sz="2800" dirty="0" smtClean="0"/>
              <a:t>状態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= { (X, 10), (Y, 20), (Z, 30) } </a:t>
            </a:r>
            <a:r>
              <a:rPr lang="ja-JP" altLang="en-US" sz="2800" dirty="0" smtClean="0">
                <a:sym typeface="Symbol" pitchFamily="18" charset="2"/>
              </a:rPr>
              <a:t>のとき、</a:t>
            </a:r>
            <a:endParaRPr lang="en-US" altLang="ja-JP" sz="2800" dirty="0" smtClean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[ 40 / X ] </a:t>
            </a:r>
            <a:r>
              <a:rPr lang="ja-JP" altLang="en-US" sz="2800" dirty="0" smtClean="0">
                <a:sym typeface="Symbol" pitchFamily="18" charset="2"/>
              </a:rPr>
              <a:t> はどういう状態か。</a:t>
            </a:r>
            <a:endParaRPr lang="en-US" altLang="ja-JP" sz="28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解答</a:t>
            </a:r>
          </a:p>
        </p:txBody>
      </p:sp>
      <p:sp>
        <p:nvSpPr>
          <p:cNvPr id="30723" name="コンテンツ プレースホルダ 13"/>
          <p:cNvSpPr>
            <a:spLocks noGrp="1"/>
          </p:cNvSpPr>
          <p:nvPr>
            <p:ph idx="1"/>
          </p:nvPr>
        </p:nvSpPr>
        <p:spPr>
          <a:xfrm>
            <a:off x="1314450" y="1643063"/>
            <a:ext cx="6100763" cy="95726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ja-JP" altLang="en-US" sz="2800" dirty="0" smtClean="0"/>
              <a:t>状態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= { (X, 10), (Y, 20), (Z, 30) } </a:t>
            </a:r>
            <a:r>
              <a:rPr lang="ja-JP" altLang="en-US" sz="2800" dirty="0" smtClean="0">
                <a:sym typeface="Symbol" pitchFamily="18" charset="2"/>
              </a:rPr>
              <a:t>のとき、</a:t>
            </a:r>
            <a:endParaRPr lang="en-US" altLang="ja-JP" sz="2800" dirty="0" smtClean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[ 40 / X ] </a:t>
            </a:r>
            <a:r>
              <a:rPr lang="ja-JP" altLang="en-US" sz="2800" dirty="0" smtClean="0">
                <a:sym typeface="Symbol" pitchFamily="18" charset="2"/>
              </a:rPr>
              <a:t> はどういう状態か。</a:t>
            </a:r>
            <a:endParaRPr lang="en-US" altLang="ja-JP" sz="2800" dirty="0" smtClean="0"/>
          </a:p>
        </p:txBody>
      </p:sp>
      <p:sp>
        <p:nvSpPr>
          <p:cNvPr id="30724" name="テキスト ボックス 3"/>
          <p:cNvSpPr txBox="1">
            <a:spLocks noChangeArrowheads="1"/>
          </p:cNvSpPr>
          <p:nvPr/>
        </p:nvSpPr>
        <p:spPr bwMode="auto">
          <a:xfrm>
            <a:off x="1028700" y="3514725"/>
            <a:ext cx="701666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 X</a:t>
            </a:r>
            <a:r>
              <a:rPr lang="ja-JP" altLang="en-US" sz="2800" b="0" dirty="0"/>
              <a:t>以外の値はそのままで、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</a:t>
            </a:r>
            <a:r>
              <a:rPr lang="en-US" altLang="ja-JP" sz="2800" b="0" dirty="0"/>
              <a:t>40</a:t>
            </a:r>
            <a:r>
              <a:rPr lang="ja-JP" altLang="en-US" sz="2800" b="0" dirty="0"/>
              <a:t>なので、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    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[ 40 / X ]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= { (X, 40), (Y, 20), (Z, 30) } </a:t>
            </a:r>
          </a:p>
          <a:p>
            <a:r>
              <a:rPr lang="ja-JP" altLang="en-US" sz="2800" b="0" dirty="0">
                <a:sym typeface="Symbol" pitchFamily="18" charset="2"/>
              </a:rPr>
              <a:t>である。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36867" name="テキスト ボックス 13"/>
          <p:cNvSpPr txBox="1">
            <a:spLocks noChangeArrowheads="1"/>
          </p:cNvSpPr>
          <p:nvPr/>
        </p:nvSpPr>
        <p:spPr bwMode="auto">
          <a:xfrm>
            <a:off x="1000125" y="1785938"/>
            <a:ext cx="701506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20), (Z, 30) } </a:t>
            </a:r>
          </a:p>
          <a:p>
            <a:r>
              <a:rPr lang="ja-JP" altLang="en-US" sz="2800" b="0" dirty="0"/>
              <a:t>において、文 </a:t>
            </a:r>
            <a:r>
              <a:rPr lang="en-US" altLang="ja-JP" sz="2800" b="0" dirty="0"/>
              <a:t>X = Y + 2; Y = Y + </a:t>
            </a:r>
            <a:r>
              <a:rPr lang="en-US" altLang="ja-JP" sz="2800" b="0" dirty="0" smtClean="0"/>
              <a:t>3; </a:t>
            </a:r>
            <a:r>
              <a:rPr lang="ja-JP" altLang="en-US" sz="2800" b="0" dirty="0"/>
              <a:t>を実行したら</a:t>
            </a:r>
            <a:endParaRPr lang="en-US" altLang="ja-JP" sz="2800" b="0" dirty="0"/>
          </a:p>
          <a:p>
            <a:r>
              <a:rPr lang="ja-JP" altLang="en-US" sz="2800" b="0" dirty="0"/>
              <a:t>状態はどうなるか。規則を使って導出せよ。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解答</a:t>
            </a:r>
          </a:p>
        </p:txBody>
      </p:sp>
      <p:sp>
        <p:nvSpPr>
          <p:cNvPr id="37891" name="テキスト ボックス 13"/>
          <p:cNvSpPr txBox="1">
            <a:spLocks noChangeArrowheads="1"/>
          </p:cNvSpPr>
          <p:nvPr/>
        </p:nvSpPr>
        <p:spPr bwMode="auto">
          <a:xfrm>
            <a:off x="1000125" y="1571612"/>
            <a:ext cx="697498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20), (Z, 30) } </a:t>
            </a:r>
          </a:p>
          <a:p>
            <a:r>
              <a:rPr lang="ja-JP" altLang="en-US" sz="2800" b="0" dirty="0"/>
              <a:t>において、文 </a:t>
            </a:r>
            <a:r>
              <a:rPr lang="en-US" altLang="ja-JP" sz="2800" b="0" dirty="0"/>
              <a:t>X = Y + 2; Y = Y + </a:t>
            </a:r>
            <a:r>
              <a:rPr lang="en-US" altLang="ja-JP" sz="2800" b="0" dirty="0" smtClean="0"/>
              <a:t>3; </a:t>
            </a:r>
            <a:r>
              <a:rPr lang="ja-JP" altLang="en-US" sz="2800" b="0" dirty="0"/>
              <a:t>を実行した</a:t>
            </a:r>
            <a:endParaRPr lang="en-US" altLang="ja-JP" sz="2800" b="0" dirty="0"/>
          </a:p>
          <a:p>
            <a:r>
              <a:rPr lang="ja-JP" altLang="en-US" sz="2800" b="0" dirty="0"/>
              <a:t>ら状態はどうなるか。規則を使って導出せよ。</a:t>
            </a:r>
            <a:endParaRPr lang="en-US" altLang="ja-JP" sz="2800" b="0" dirty="0"/>
          </a:p>
        </p:txBody>
      </p:sp>
      <p:sp>
        <p:nvSpPr>
          <p:cNvPr id="37892" name="テキスト ボックス 3"/>
          <p:cNvSpPr txBox="1">
            <a:spLocks noChangeArrowheads="1"/>
          </p:cNvSpPr>
          <p:nvPr/>
        </p:nvSpPr>
        <p:spPr bwMode="auto">
          <a:xfrm>
            <a:off x="171450" y="3357562"/>
            <a:ext cx="908685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 smtClean="0"/>
              <a:t>&lt; Y</a:t>
            </a:r>
            <a:r>
              <a:rPr lang="en-US" altLang="ja-JP" sz="2800" b="0" dirty="0"/>
              <a:t>, </a:t>
            </a:r>
            <a:r>
              <a:rPr lang="en-US" altLang="ja-JP" sz="2800" b="0" i="1" dirty="0" smtClean="0">
                <a:sym typeface="Symbol" pitchFamily="18" charset="2"/>
              </a:rPr>
              <a:t> </a:t>
            </a:r>
            <a:r>
              <a:rPr lang="en-US" altLang="ja-JP" sz="2800" b="0" dirty="0" smtClean="0">
                <a:sym typeface="Symbol" pitchFamily="18" charset="2"/>
              </a:rPr>
              <a:t>&gt; </a:t>
            </a:r>
            <a:r>
              <a:rPr lang="en-US" altLang="ja-JP" sz="2800" b="0" dirty="0">
                <a:sym typeface="Symbol" pitchFamily="18" charset="2"/>
              </a:rPr>
              <a:t> 20   </a:t>
            </a:r>
            <a:r>
              <a:rPr lang="en-US" altLang="ja-JP" sz="2800" b="0" dirty="0" smtClean="0">
                <a:sym typeface="Symbol" pitchFamily="18" charset="2"/>
              </a:rPr>
              <a:t>&lt; 2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 smtClean="0">
                <a:sym typeface="Symbol" pitchFamily="18" charset="2"/>
              </a:rPr>
              <a:t> </a:t>
            </a:r>
            <a:r>
              <a:rPr lang="en-US" altLang="ja-JP" sz="2800" b="0" dirty="0" smtClean="0">
                <a:sym typeface="Symbol" pitchFamily="18" charset="2"/>
              </a:rPr>
              <a:t>&gt; </a:t>
            </a:r>
            <a:r>
              <a:rPr lang="en-US" altLang="ja-JP" sz="2800" b="0" dirty="0">
                <a:sym typeface="Symbol" pitchFamily="18" charset="2"/>
              </a:rPr>
              <a:t> 2  </a:t>
            </a:r>
            <a:endParaRPr lang="ja-JP" altLang="en-US" sz="2800" b="0" dirty="0"/>
          </a:p>
          <a:p>
            <a:r>
              <a:rPr lang="ja-JP" altLang="en-US" sz="2400" b="0" dirty="0"/>
              <a:t>      </a:t>
            </a:r>
            <a:r>
              <a:rPr lang="en-US" altLang="ja-JP" sz="2800" b="0" dirty="0"/>
              <a:t>&lt; Y + </a:t>
            </a:r>
            <a:r>
              <a:rPr lang="en-US" altLang="ja-JP" sz="2800" b="0" dirty="0" smtClean="0"/>
              <a:t>2,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22</a:t>
            </a:r>
            <a:r>
              <a:rPr lang="en-US" altLang="ja-JP" sz="2400" b="0" dirty="0">
                <a:sym typeface="Symbol" pitchFamily="18" charset="2"/>
              </a:rPr>
              <a:t>                   </a:t>
            </a:r>
            <a:r>
              <a:rPr lang="en-US" altLang="ja-JP" sz="2800" b="0" dirty="0" smtClean="0">
                <a:sym typeface="Symbol" pitchFamily="18" charset="2"/>
              </a:rPr>
              <a:t>&lt;</a:t>
            </a:r>
            <a:r>
              <a:rPr lang="en-US" altLang="ja-JP" sz="2800" b="0" dirty="0">
                <a:sym typeface="Symbol" pitchFamily="18" charset="2"/>
              </a:rPr>
              <a:t>Y + 3;,  [ 22 / </a:t>
            </a:r>
            <a:r>
              <a:rPr lang="en-US" altLang="ja-JP" sz="2800" b="0" dirty="0" smtClean="0">
                <a:sym typeface="Symbol" pitchFamily="18" charset="2"/>
              </a:rPr>
              <a:t>X ] &gt;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dirty="0" smtClean="0">
                <a:sym typeface="Symbol" pitchFamily="18" charset="2"/>
              </a:rPr>
              <a:t>23</a:t>
            </a:r>
            <a:endParaRPr lang="en-US" altLang="ja-JP" sz="2400" dirty="0">
              <a:sym typeface="Symbol" pitchFamily="18" charset="2"/>
            </a:endParaRPr>
          </a:p>
          <a:p>
            <a:r>
              <a:rPr lang="en-US" altLang="ja-JP" sz="2400" b="0" dirty="0" smtClean="0"/>
              <a:t>&lt; X </a:t>
            </a:r>
            <a:r>
              <a:rPr lang="en-US" altLang="ja-JP" sz="2400" b="0" dirty="0"/>
              <a:t>= Y + 2; </a:t>
            </a:r>
            <a:r>
              <a:rPr lang="en-US" altLang="ja-JP" sz="2400" b="0" i="1" dirty="0" smtClean="0">
                <a:sym typeface="Symbol" pitchFamily="18" charset="2"/>
              </a:rPr>
              <a:t> </a:t>
            </a:r>
            <a:r>
              <a:rPr lang="en-US" altLang="ja-JP" sz="2400" b="0" dirty="0" smtClean="0">
                <a:sym typeface="Symbol" pitchFamily="18" charset="2"/>
              </a:rPr>
              <a:t>&gt; </a:t>
            </a:r>
            <a:r>
              <a:rPr lang="en-US" altLang="ja-JP" sz="2400" b="0" dirty="0">
                <a:sym typeface="Symbol" pitchFamily="18" charset="2"/>
              </a:rPr>
              <a:t> </a:t>
            </a:r>
            <a:r>
              <a:rPr lang="en-US" altLang="ja-JP" sz="2400" b="0" i="1" dirty="0">
                <a:sym typeface="Symbol" pitchFamily="18" charset="2"/>
              </a:rPr>
              <a:t> </a:t>
            </a:r>
            <a:r>
              <a:rPr lang="en-US" altLang="ja-JP" sz="2400" b="0" dirty="0">
                <a:sym typeface="Symbol" pitchFamily="18" charset="2"/>
              </a:rPr>
              <a:t>[ 22 / X </a:t>
            </a:r>
            <a:r>
              <a:rPr lang="en-US" altLang="ja-JP" sz="2400" b="0" dirty="0" smtClean="0">
                <a:sym typeface="Symbol" pitchFamily="18" charset="2"/>
              </a:rPr>
              <a:t>] </a:t>
            </a:r>
            <a:r>
              <a:rPr lang="en-US" altLang="ja-JP" sz="2000" b="0" dirty="0" smtClean="0">
                <a:sym typeface="Symbol" pitchFamily="18" charset="2"/>
              </a:rPr>
              <a:t>    &lt;</a:t>
            </a:r>
            <a:r>
              <a:rPr lang="en-US" altLang="ja-JP" sz="2000" b="0" dirty="0">
                <a:sym typeface="Symbol" pitchFamily="18" charset="2"/>
              </a:rPr>
              <a:t>Y = Y + 3; </a:t>
            </a:r>
            <a:r>
              <a:rPr lang="en-US" altLang="ja-JP" sz="2000" b="0" i="1" dirty="0">
                <a:sym typeface="Symbol" pitchFamily="18" charset="2"/>
              </a:rPr>
              <a:t></a:t>
            </a:r>
            <a:r>
              <a:rPr lang="en-US" altLang="ja-JP" sz="2000" b="0" dirty="0">
                <a:sym typeface="Symbol" pitchFamily="18" charset="2"/>
              </a:rPr>
              <a:t> [ 22 / X ]&gt;  (</a:t>
            </a:r>
            <a:r>
              <a:rPr lang="en-US" altLang="ja-JP" sz="2000" b="0" i="1" dirty="0">
                <a:sym typeface="Symbol" pitchFamily="18" charset="2"/>
              </a:rPr>
              <a:t></a:t>
            </a:r>
            <a:r>
              <a:rPr lang="en-US" altLang="ja-JP" sz="2000" b="0" dirty="0">
                <a:sym typeface="Symbol" pitchFamily="18" charset="2"/>
              </a:rPr>
              <a:t> [ 22 / X ]) [23 / Y]    </a:t>
            </a:r>
            <a:endParaRPr lang="en-US" altLang="ja-JP" sz="2400" b="0" dirty="0"/>
          </a:p>
          <a:p>
            <a:r>
              <a:rPr lang="en-US" altLang="ja-JP" sz="2400" b="0" dirty="0"/>
              <a:t>           </a:t>
            </a:r>
            <a:r>
              <a:rPr lang="en-US" altLang="ja-JP" sz="2800" b="0" dirty="0" smtClean="0"/>
              <a:t>&lt; </a:t>
            </a:r>
            <a:r>
              <a:rPr lang="en-US" altLang="ja-JP" sz="2800" b="0" dirty="0"/>
              <a:t>X = Y + 2; Y = Y + </a:t>
            </a:r>
            <a:r>
              <a:rPr lang="en-US" altLang="ja-JP" sz="2800" b="0" dirty="0" smtClean="0"/>
              <a:t>3;,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 (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[ 22 / X ] ) [ 23 / Y ]</a:t>
            </a:r>
            <a:endParaRPr lang="en-US" altLang="ja-JP" sz="2800" b="0" dirty="0"/>
          </a:p>
        </p:txBody>
      </p:sp>
      <p:cxnSp>
        <p:nvCxnSpPr>
          <p:cNvPr id="37893" name="直線コネクタ 4"/>
          <p:cNvCxnSpPr>
            <a:cxnSpLocks noChangeShapeType="1"/>
          </p:cNvCxnSpPr>
          <p:nvPr/>
        </p:nvCxnSpPr>
        <p:spPr bwMode="auto">
          <a:xfrm>
            <a:off x="185738" y="4629158"/>
            <a:ext cx="8772525" cy="142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7894" name="直線コネクタ 9"/>
          <p:cNvCxnSpPr>
            <a:cxnSpLocks noChangeShapeType="1"/>
          </p:cNvCxnSpPr>
          <p:nvPr/>
        </p:nvCxnSpPr>
        <p:spPr bwMode="auto">
          <a:xfrm flipV="1">
            <a:off x="257176" y="4214817"/>
            <a:ext cx="3529006" cy="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7895" name="正方形/長方形 15"/>
          <p:cNvSpPr>
            <a:spLocks noChangeArrowheads="1"/>
          </p:cNvSpPr>
          <p:nvPr/>
        </p:nvSpPr>
        <p:spPr bwMode="auto">
          <a:xfrm>
            <a:off x="4214810" y="5548986"/>
            <a:ext cx="38289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l-PL" altLang="ja-JP" sz="2800" b="0" dirty="0"/>
              <a:t> { (X, </a:t>
            </a:r>
            <a:r>
              <a:rPr lang="en-US" altLang="ja-JP" sz="2800" b="0" dirty="0"/>
              <a:t>22</a:t>
            </a:r>
            <a:r>
              <a:rPr lang="pl-PL" altLang="ja-JP" sz="2800" b="0" dirty="0"/>
              <a:t>), (Y, 2</a:t>
            </a:r>
            <a:r>
              <a:rPr lang="en-US" altLang="ja-JP" sz="2800" b="0" dirty="0"/>
              <a:t>3</a:t>
            </a:r>
            <a:r>
              <a:rPr lang="pl-PL" altLang="ja-JP" sz="2800" b="0" dirty="0"/>
              <a:t>), (Z, 30) } </a:t>
            </a:r>
            <a:endParaRPr lang="ja-JP" altLang="en-US" sz="2800" b="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6015050" y="5157802"/>
            <a:ext cx="485775" cy="34290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>
              <a:ea typeface="ＭＳ Ｐゴシック" pitchFamily="48" charset="-128"/>
            </a:endParaRPr>
          </a:p>
        </p:txBody>
      </p:sp>
      <p:cxnSp>
        <p:nvCxnSpPr>
          <p:cNvPr id="37897" name="直線コネクタ 21"/>
          <p:cNvCxnSpPr>
            <a:cxnSpLocks noChangeShapeType="1"/>
          </p:cNvCxnSpPr>
          <p:nvPr/>
        </p:nvCxnSpPr>
        <p:spPr bwMode="auto">
          <a:xfrm flipV="1">
            <a:off x="266700" y="3857627"/>
            <a:ext cx="3590920" cy="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7898" name="直線コネクタ 22"/>
          <p:cNvCxnSpPr>
            <a:cxnSpLocks noChangeShapeType="1"/>
          </p:cNvCxnSpPr>
          <p:nvPr/>
        </p:nvCxnSpPr>
        <p:spPr bwMode="auto">
          <a:xfrm>
            <a:off x="3943376" y="4214817"/>
            <a:ext cx="4914904" cy="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" name="直線コネクタ 21"/>
          <p:cNvCxnSpPr>
            <a:cxnSpLocks noChangeShapeType="1"/>
          </p:cNvCxnSpPr>
          <p:nvPr/>
        </p:nvCxnSpPr>
        <p:spPr bwMode="auto">
          <a:xfrm flipV="1">
            <a:off x="4286248" y="3857628"/>
            <a:ext cx="4714876" cy="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3" name="テキスト ボックス 12"/>
          <p:cNvSpPr txBox="1"/>
          <p:nvPr/>
        </p:nvSpPr>
        <p:spPr>
          <a:xfrm>
            <a:off x="4214810" y="3395963"/>
            <a:ext cx="4853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&lt;Y, σ [ 22/X] </a:t>
            </a:r>
            <a:r>
              <a:rPr lang="en-US" altLang="ja-JP" sz="2400" dirty="0" smtClean="0">
                <a:sym typeface="Symbol" pitchFamily="18" charset="2"/>
              </a:rPr>
              <a:t></a:t>
            </a:r>
            <a:r>
              <a:rPr kumimoji="1" lang="en-US" altLang="ja-JP" sz="2400" dirty="0" smtClean="0"/>
              <a:t> 20  &lt;3, σ [22/X]&gt;</a:t>
            </a:r>
            <a:r>
              <a:rPr lang="en-US" altLang="ja-JP" sz="2400" dirty="0" smtClean="0">
                <a:sym typeface="Symbol" pitchFamily="18" charset="2"/>
              </a:rPr>
              <a:t>  3</a:t>
            </a:r>
            <a:r>
              <a:rPr kumimoji="1" lang="en-US" altLang="ja-JP" sz="2400" dirty="0" smtClean="0"/>
              <a:t> 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98307" name="テキスト ボックス 13"/>
          <p:cNvSpPr txBox="1">
            <a:spLocks noChangeArrowheads="1"/>
          </p:cNvSpPr>
          <p:nvPr/>
        </p:nvSpPr>
        <p:spPr bwMode="auto">
          <a:xfrm>
            <a:off x="714348" y="1571612"/>
            <a:ext cx="801277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40), (Z, 30) </a:t>
            </a:r>
            <a:r>
              <a:rPr lang="en-US" altLang="ja-JP" sz="2800" b="0" dirty="0" smtClean="0"/>
              <a:t>} </a:t>
            </a:r>
            <a:r>
              <a:rPr lang="ja-JP" altLang="en-US" sz="2800" b="0" dirty="0" smtClean="0"/>
              <a:t>に</a:t>
            </a:r>
            <a:r>
              <a:rPr lang="ja-JP" altLang="en-US" sz="2800" b="0" dirty="0"/>
              <a:t>おいて</a:t>
            </a:r>
            <a:r>
              <a:rPr lang="ja-JP" altLang="en-US" sz="2800" b="0" dirty="0" smtClean="0"/>
              <a:t>、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文 </a:t>
            </a:r>
            <a:r>
              <a:rPr lang="en-US" altLang="ja-JP" sz="2800" b="0" dirty="0">
                <a:sym typeface="Symbol" pitchFamily="18" charset="2"/>
              </a:rPr>
              <a:t>while ( Y ) { Y = Y – 20; } </a:t>
            </a:r>
            <a:r>
              <a:rPr lang="ja-JP" altLang="en-US" sz="2800" b="0" dirty="0"/>
              <a:t>を実行</a:t>
            </a:r>
            <a:r>
              <a:rPr lang="ja-JP" altLang="en-US" sz="2800" b="0" dirty="0" smtClean="0"/>
              <a:t>したら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状態</a:t>
            </a:r>
            <a:r>
              <a:rPr lang="ja-JP" altLang="en-US" sz="2800" b="0" dirty="0"/>
              <a:t>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/>
              <a:t>解答</a:t>
            </a:r>
          </a:p>
        </p:txBody>
      </p:sp>
      <p:sp>
        <p:nvSpPr>
          <p:cNvPr id="98307" name="テキスト ボックス 13"/>
          <p:cNvSpPr txBox="1">
            <a:spLocks noChangeArrowheads="1"/>
          </p:cNvSpPr>
          <p:nvPr/>
        </p:nvSpPr>
        <p:spPr bwMode="auto">
          <a:xfrm>
            <a:off x="714348" y="1571612"/>
            <a:ext cx="801277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40), (Z, 30) </a:t>
            </a:r>
            <a:r>
              <a:rPr lang="en-US" altLang="ja-JP" sz="2800" b="0" dirty="0" smtClean="0"/>
              <a:t>} </a:t>
            </a:r>
            <a:r>
              <a:rPr lang="ja-JP" altLang="en-US" sz="2800" b="0" dirty="0" smtClean="0"/>
              <a:t>に</a:t>
            </a:r>
            <a:r>
              <a:rPr lang="ja-JP" altLang="en-US" sz="2800" b="0" dirty="0"/>
              <a:t>おいて</a:t>
            </a:r>
            <a:r>
              <a:rPr lang="ja-JP" altLang="en-US" sz="2800" b="0" dirty="0" smtClean="0"/>
              <a:t>、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文 </a:t>
            </a:r>
            <a:r>
              <a:rPr lang="en-US" altLang="ja-JP" sz="2800" b="0" dirty="0">
                <a:sym typeface="Symbol" pitchFamily="18" charset="2"/>
              </a:rPr>
              <a:t>while ( Y ) { Y = Y – 20; } </a:t>
            </a:r>
            <a:r>
              <a:rPr lang="ja-JP" altLang="en-US" sz="2800" b="0" dirty="0"/>
              <a:t>を実行</a:t>
            </a:r>
            <a:r>
              <a:rPr lang="ja-JP" altLang="en-US" sz="2800" b="0" dirty="0" smtClean="0"/>
              <a:t>したら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状態</a:t>
            </a:r>
            <a:r>
              <a:rPr lang="ja-JP" altLang="en-US" sz="2800" b="0" dirty="0"/>
              <a:t>はどうなるか。規則を使って導出せよ。</a:t>
            </a:r>
            <a:endParaRPr lang="en-US" altLang="ja-JP" sz="2800" b="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57224" y="3714752"/>
            <a:ext cx="2077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黒板で行う。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689</Words>
  <Application>Microsoft Macintosh PowerPoint</Application>
  <PresentationFormat>画面に合わせる (4:3)</PresentationFormat>
  <Paragraphs>56</Paragraphs>
  <Slides>9</Slides>
  <Notes>8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0" baseType="lpstr">
      <vt:lpstr>Office テーマ</vt:lpstr>
      <vt:lpstr>プログラミング言語論</vt:lpstr>
      <vt:lpstr>練習問題</vt:lpstr>
      <vt:lpstr>解答</vt:lpstr>
      <vt:lpstr>練習問題</vt:lpstr>
      <vt:lpstr>解答</vt:lpstr>
      <vt:lpstr>練習問題</vt:lpstr>
      <vt:lpstr>解答</vt:lpstr>
      <vt:lpstr>練習問題</vt:lpstr>
      <vt:lpstr>解答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Sasano Isao</cp:lastModifiedBy>
  <cp:revision>199</cp:revision>
  <dcterms:created xsi:type="dcterms:W3CDTF">2009-12-10T02:30:43Z</dcterms:created>
  <dcterms:modified xsi:type="dcterms:W3CDTF">2012-10-20T08:16:20Z</dcterms:modified>
</cp:coreProperties>
</file>