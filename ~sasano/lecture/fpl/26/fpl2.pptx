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72" r:id="rId11"/>
    <p:sldId id="277" r:id="rId12"/>
    <p:sldId id="265" r:id="rId13"/>
    <p:sldId id="266" r:id="rId14"/>
    <p:sldId id="279" r:id="rId15"/>
    <p:sldId id="268" r:id="rId16"/>
    <p:sldId id="269" r:id="rId17"/>
    <p:sldId id="274" r:id="rId18"/>
    <p:sldId id="275" r:id="rId19"/>
    <p:sldId id="270" r:id="rId20"/>
    <p:sldId id="276" r:id="rId21"/>
    <p:sldId id="271" r:id="rId22"/>
    <p:sldId id="278" r:id="rId23"/>
    <p:sldId id="282" r:id="rId24"/>
    <p:sldId id="273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 snapToGrid="0">
      <p:cViewPr varScale="1">
        <p:scale>
          <a:sx n="133" d="100"/>
          <a:sy n="133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58633" y="1449913"/>
            <a:ext cx="8246578" cy="1813177"/>
          </a:xfrm>
        </p:spPr>
        <p:txBody>
          <a:bodyPr>
            <a:normAutofit fontScale="90000"/>
          </a:bodyPr>
          <a:lstStyle/>
          <a:p>
            <a:r>
              <a:rPr kumimoji="1" lang="en-US" altLang="ja-JP" sz="4000" dirty="0"/>
              <a:t>Foundations for Programming Languages</a:t>
            </a:r>
            <a:br>
              <a:rPr kumimoji="1" lang="en-US" altLang="ja-JP" sz="4000" dirty="0"/>
            </a:br>
            <a:r>
              <a:rPr kumimoji="1" lang="en-US" altLang="ja-JP" sz="4000" dirty="0"/>
              <a:t>2</a:t>
            </a:r>
            <a:r>
              <a:rPr lang="en-US" altLang="ja-JP" sz="4000" dirty="0"/>
              <a:t>: Imperative languages</a:t>
            </a:r>
            <a:endParaRPr kumimoji="1" lang="ja-JP" altLang="en-US" sz="3200" dirty="0"/>
          </a:p>
        </p:txBody>
      </p:sp>
      <p:sp>
        <p:nvSpPr>
          <p:cNvPr id="5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366751" y="3306068"/>
            <a:ext cx="683111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200" dirty="0"/>
              <a:t>（</a:t>
            </a:r>
            <a:r>
              <a:rPr lang="en-US" altLang="ja-JP" sz="3200" dirty="0"/>
              <a:t>structured programming, control flow)</a:t>
            </a:r>
            <a:endParaRPr lang="ja-JP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7802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Imperative languages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5882" y="1070402"/>
            <a:ext cx="8966632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In imperative languages, computations are sequences of actions such assignments and procedure calls. </a:t>
            </a:r>
            <a:endParaRPr lang="en-US" altLang="ja-JP" sz="2800" dirty="0"/>
          </a:p>
          <a:p>
            <a:r>
              <a:rPr lang="en-US" altLang="ja-JP" sz="2800" dirty="0"/>
              <a:t>Famous</a:t>
            </a:r>
            <a:r>
              <a:rPr kumimoji="1" lang="en-US" altLang="ja-JP" sz="2800" dirty="0"/>
              <a:t> imperative languages</a:t>
            </a:r>
            <a:r>
              <a:rPr kumimoji="1" lang="ja-JP" altLang="en-US" sz="2800" dirty="0"/>
              <a:t>：</a:t>
            </a:r>
            <a:endParaRPr kumimoji="1" lang="en-US" altLang="ja-JP" sz="2800" dirty="0"/>
          </a:p>
          <a:p>
            <a:r>
              <a:rPr lang="ja-JP" altLang="en-US" sz="2800" dirty="0"/>
              <a:t>  </a:t>
            </a:r>
            <a:r>
              <a:rPr kumimoji="1" lang="en-US" altLang="ja-JP" sz="2800" dirty="0"/>
              <a:t>Fortran</a:t>
            </a:r>
            <a:r>
              <a:rPr lang="ja-JP" altLang="en-US" sz="2800" dirty="0"/>
              <a:t> </a:t>
            </a:r>
            <a:r>
              <a:rPr kumimoji="1" lang="en-US" altLang="ja-JP" sz="2800" dirty="0"/>
              <a:t>(1957, John Backus, American</a:t>
            </a:r>
            <a:r>
              <a:rPr lang="en-US" altLang="ja-JP" sz="2800" dirty="0"/>
              <a:t>, </a:t>
            </a:r>
            <a:r>
              <a:rPr kumimoji="1" lang="en-US" altLang="ja-JP" sz="2800" dirty="0"/>
              <a:t>1977 Turing award), </a:t>
            </a:r>
          </a:p>
          <a:p>
            <a:r>
              <a:rPr kumimoji="1" lang="en-US" altLang="ja-JP" sz="2800" dirty="0"/>
              <a:t>  </a:t>
            </a:r>
            <a:r>
              <a:rPr kumimoji="1" lang="en-US" altLang="ja-JP" sz="2800" dirty="0" err="1"/>
              <a:t>Algol</a:t>
            </a:r>
            <a:r>
              <a:rPr kumimoji="1" lang="en-US" altLang="ja-JP" sz="2800" dirty="0"/>
              <a:t> 60 (1960, International committee)</a:t>
            </a:r>
          </a:p>
          <a:p>
            <a:r>
              <a:rPr lang="en-US" altLang="ja-JP" sz="2800" dirty="0"/>
              <a:t>  </a:t>
            </a:r>
            <a:r>
              <a:rPr kumimoji="1" lang="en-US" altLang="ja-JP" sz="2800" dirty="0"/>
              <a:t>Pascal (1970</a:t>
            </a:r>
            <a:r>
              <a:rPr lang="en-US" altLang="ja-JP" sz="2800" dirty="0"/>
              <a:t>, </a:t>
            </a:r>
            <a:r>
              <a:rPr lang="en-US" altLang="ja-JP" sz="2800" dirty="0" err="1"/>
              <a:t>Niklaus</a:t>
            </a:r>
            <a:r>
              <a:rPr lang="en-US" altLang="ja-JP" sz="2800" dirty="0"/>
              <a:t> Wirth, Swiss, 1984 Turing award), </a:t>
            </a:r>
          </a:p>
          <a:p>
            <a:r>
              <a:rPr lang="en-US" altLang="ja-JP" sz="2800" dirty="0"/>
              <a:t>  C (1972, Dennis Ritchie, American, 1983 Turing award)</a:t>
            </a:r>
          </a:p>
          <a:p>
            <a:r>
              <a:rPr kumimoji="1" lang="en-US" altLang="ja-JP" sz="2800" dirty="0"/>
              <a:t>Original Fortran does not have loop constructs like while statements, so many </a:t>
            </a:r>
            <a:r>
              <a:rPr kumimoji="1" lang="en-US" altLang="ja-JP" sz="2800" dirty="0" err="1"/>
              <a:t>goto</a:t>
            </a:r>
            <a:r>
              <a:rPr lang="en-US" altLang="ja-JP" sz="2800" dirty="0"/>
              <a:t> statements are used. (Fortran 90 (1991) has loop constructs. )</a:t>
            </a:r>
          </a:p>
          <a:p>
            <a:r>
              <a:rPr lang="en-US" altLang="ja-JP" sz="2800" dirty="0"/>
              <a:t>Languages like </a:t>
            </a:r>
            <a:r>
              <a:rPr lang="en-US" altLang="ja-JP" sz="2800" dirty="0" err="1"/>
              <a:t>Algol</a:t>
            </a:r>
            <a:r>
              <a:rPr lang="en-US" altLang="ja-JP" sz="2800" dirty="0"/>
              <a:t> and Pascal have constructs like while statements and compound statements like begin-end.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Assignments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81069" y="1414237"/>
            <a:ext cx="819444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Basic units </a:t>
            </a:r>
            <a:r>
              <a:rPr lang="en-US" altLang="ja-JP" sz="2800" dirty="0"/>
              <a:t>of</a:t>
            </a:r>
            <a:r>
              <a:rPr kumimoji="1" lang="en-US" altLang="ja-JP" sz="2800" dirty="0"/>
              <a:t> imperative languages are assignments, which change the values of variables.</a:t>
            </a:r>
            <a:endParaRPr lang="en-US" altLang="ja-JP" sz="2800" dirty="0"/>
          </a:p>
          <a:p>
            <a:r>
              <a:rPr lang="en-US" altLang="ja-JP" sz="2800" dirty="0"/>
              <a:t>(Examples)</a:t>
            </a:r>
          </a:p>
          <a:p>
            <a:r>
              <a:rPr kumimoji="1" lang="en-US" altLang="ja-JP" sz="2800" dirty="0"/>
              <a:t>   x := 2+3</a:t>
            </a:r>
          </a:p>
          <a:p>
            <a:r>
              <a:rPr lang="en-US" altLang="ja-JP" sz="2800" dirty="0"/>
              <a:t>   x := a[</a:t>
            </a:r>
            <a:r>
              <a:rPr lang="en-US" altLang="ja-JP" sz="2800" dirty="0" err="1"/>
              <a:t>i</a:t>
            </a:r>
            <a:r>
              <a:rPr lang="en-US" altLang="ja-JP" sz="2800" dirty="0"/>
              <a:t>]</a:t>
            </a:r>
          </a:p>
          <a:p>
            <a:r>
              <a:rPr kumimoji="1" lang="en-US" altLang="ja-JP" sz="2800" dirty="0"/>
              <a:t>   a</a:t>
            </a:r>
            <a:r>
              <a:rPr lang="en-US" altLang="ja-JP" sz="2800" dirty="0"/>
              <a:t>[</a:t>
            </a:r>
            <a:r>
              <a:rPr lang="en-US" altLang="ja-JP" sz="2800" dirty="0" err="1"/>
              <a:t>i</a:t>
            </a:r>
            <a:r>
              <a:rPr lang="en-US" altLang="ja-JP" sz="2800" dirty="0"/>
              <a:t>] := x</a:t>
            </a:r>
          </a:p>
          <a:p>
            <a:r>
              <a:rPr lang="en-US" altLang="ja-JP" sz="2800" dirty="0"/>
              <a:t>Procedure calls can indirectly change the values of variables.</a:t>
            </a:r>
          </a:p>
          <a:p>
            <a:r>
              <a:rPr lang="en-US" altLang="ja-JP" sz="2800" dirty="0"/>
              <a:t>(Example)</a:t>
            </a:r>
          </a:p>
          <a:p>
            <a:r>
              <a:rPr lang="ja-JP" altLang="en-US" sz="2800" dirty="0"/>
              <a:t>   </a:t>
            </a:r>
            <a:r>
              <a:rPr lang="en-US" altLang="ja-JP" sz="2800" dirty="0"/>
              <a:t>read(x)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Structured programming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1349" y="1494387"/>
            <a:ext cx="78781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We should design programming languages so that we easily understand what </a:t>
            </a:r>
            <a:r>
              <a:rPr lang="en-US" altLang="ja-JP" sz="2800" dirty="0"/>
              <a:t>kind of computations are performed when we see the program. </a:t>
            </a:r>
            <a:endParaRPr kumimoji="1" lang="en-US" altLang="ja-JP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1221749" y="2923809"/>
            <a:ext cx="6921510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i="1" dirty="0"/>
              <a:t>Structured programming</a:t>
            </a:r>
            <a:r>
              <a:rPr lang="ja-JP" altLang="en-US" sz="2800" dirty="0"/>
              <a:t>：</a:t>
            </a:r>
            <a:r>
              <a:rPr lang="en-US" altLang="ja-JP" sz="2800" dirty="0"/>
              <a:t>The structure of program text should help us understand what the program does.</a:t>
            </a:r>
            <a:endParaRPr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51974" y="4497499"/>
            <a:ext cx="7478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Carefully designed structured programs can be just as efficient as unstructured ones. </a:t>
            </a:r>
            <a:endParaRPr kumimoji="1" lang="ja-JP" altLang="en-US" sz="2800" dirty="0"/>
          </a:p>
        </p:txBody>
      </p:sp>
      <p:sp>
        <p:nvSpPr>
          <p:cNvPr id="7" name="正方形/長方形 6"/>
          <p:cNvSpPr/>
          <p:nvPr/>
        </p:nvSpPr>
        <p:spPr>
          <a:xfrm>
            <a:off x="1213181" y="5500107"/>
            <a:ext cx="7316218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/>
              <a:t>[Reference] </a:t>
            </a:r>
            <a:r>
              <a:rPr lang="en-US" altLang="ja-JP" sz="2400" dirty="0" err="1"/>
              <a:t>Edsger</a:t>
            </a:r>
            <a:r>
              <a:rPr lang="en-US" altLang="ja-JP" sz="2400" dirty="0"/>
              <a:t> </a:t>
            </a:r>
            <a:r>
              <a:rPr lang="en-US" altLang="ja-JP" sz="2400" dirty="0" err="1"/>
              <a:t>Dijkstra</a:t>
            </a:r>
            <a:r>
              <a:rPr lang="en-US" altLang="ja-JP" sz="2400" dirty="0"/>
              <a:t>, “Go to statement considered harmful”, </a:t>
            </a:r>
            <a:r>
              <a:rPr lang="en-US" altLang="ja-JP" sz="2400" i="1" dirty="0"/>
              <a:t>Communication of the ACM</a:t>
            </a:r>
            <a:r>
              <a:rPr lang="en-US" altLang="ja-JP" sz="2400" dirty="0"/>
              <a:t>, Vol. 11, No. 3, pp. 147-148, 1968.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Syntax-directed control flow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96336" y="1536816"/>
            <a:ext cx="7501761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i="1" dirty="0"/>
              <a:t>Structured Control Flow</a:t>
            </a:r>
            <a:r>
              <a:rPr kumimoji="1" lang="en-US" altLang="ja-JP" sz="2800" dirty="0"/>
              <a:t>: A program is structured if the flow of control through the program is evident from the syntactic structure of the program text. </a:t>
            </a:r>
            <a:endParaRPr kumimoji="1"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93313" y="3177442"/>
            <a:ext cx="76179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“</a:t>
            </a:r>
            <a:r>
              <a:rPr lang="en-US" altLang="ja-JP" sz="2800" dirty="0"/>
              <a:t>Evident” is defined as </a:t>
            </a:r>
            <a:r>
              <a:rPr kumimoji="1" lang="en-US" altLang="ja-JP" sz="2800" i="1" dirty="0"/>
              <a:t>single entry</a:t>
            </a:r>
            <a:r>
              <a:rPr lang="en-US" altLang="ja-JP" sz="2800" dirty="0"/>
              <a:t> / </a:t>
            </a:r>
            <a:r>
              <a:rPr kumimoji="1" lang="en-US" altLang="ja-JP" sz="2800" i="1" dirty="0"/>
              <a:t>single exit</a:t>
            </a:r>
            <a:r>
              <a:rPr lang="en-US" altLang="ja-JP" sz="2800" dirty="0"/>
              <a:t>.</a:t>
            </a:r>
          </a:p>
          <a:p>
            <a:r>
              <a:rPr kumimoji="1" lang="en-US" altLang="ja-JP" sz="2800" i="1" dirty="0"/>
              <a:t>Statements</a:t>
            </a:r>
            <a:r>
              <a:rPr kumimoji="1" lang="en-US" altLang="ja-JP" sz="2800" dirty="0"/>
              <a:t> specify actions and the flow of control around actions</a:t>
            </a:r>
            <a:r>
              <a:rPr lang="en-US" altLang="ja-JP" sz="2800" dirty="0"/>
              <a:t>, which we illustrate in Pascal. </a:t>
            </a:r>
            <a:endParaRPr kumimoji="1" lang="en-US" altLang="ja-JP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299807" y="4611916"/>
            <a:ext cx="670144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Compound statements (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-</a:t>
            </a:r>
            <a:r>
              <a:rPr lang="en-US" altLang="ja-JP" sz="2800" b="1" dirty="0"/>
              <a:t>end</a:t>
            </a:r>
            <a:r>
              <a:rPr lang="en-US" altLang="ja-JP" sz="2800" dirty="0"/>
              <a:t>)</a:t>
            </a:r>
          </a:p>
          <a:p>
            <a:r>
              <a:rPr lang="en-US" altLang="ja-JP" sz="2800" dirty="0"/>
              <a:t>Conditional statements (</a:t>
            </a:r>
            <a:r>
              <a:rPr lang="en-US" altLang="ja-JP" sz="2800" b="1" dirty="0"/>
              <a:t>if</a:t>
            </a:r>
            <a:r>
              <a:rPr lang="en-US" altLang="ja-JP" sz="2800" dirty="0"/>
              <a:t>-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, </a:t>
            </a:r>
            <a:r>
              <a:rPr lang="en-US" altLang="ja-JP" sz="2800" b="1" dirty="0"/>
              <a:t>if</a:t>
            </a:r>
            <a:r>
              <a:rPr lang="en-US" altLang="ja-JP" sz="2800" dirty="0"/>
              <a:t>-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-</a:t>
            </a:r>
            <a:r>
              <a:rPr lang="en-US" altLang="ja-JP" sz="2800" b="1" dirty="0"/>
              <a:t>else</a:t>
            </a:r>
            <a:r>
              <a:rPr lang="en-US" altLang="ja-JP" sz="2800" dirty="0"/>
              <a:t>)</a:t>
            </a:r>
          </a:p>
          <a:p>
            <a:r>
              <a:rPr lang="en-US" altLang="ja-JP" sz="2800" dirty="0"/>
              <a:t>Looping constructs (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)</a:t>
            </a:r>
            <a:endParaRPr kumimoji="1" lang="en-US" altLang="ja-JP" sz="2800" dirty="0"/>
          </a:p>
          <a:p>
            <a:r>
              <a:rPr lang="en-US" altLang="ja-JP" sz="2800" dirty="0"/>
              <a:t>Selection (</a:t>
            </a:r>
            <a:r>
              <a:rPr lang="en-US" altLang="ja-JP" sz="2800" b="1" dirty="0"/>
              <a:t>case</a:t>
            </a:r>
            <a:r>
              <a:rPr lang="en-US" altLang="ja-JP" sz="2800" dirty="0"/>
              <a:t>)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statements --- assignments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3" y="1643050"/>
            <a:ext cx="78180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Assignments are single entry</a:t>
            </a:r>
            <a:r>
              <a:rPr lang="en-US" altLang="ja-JP" sz="2800" dirty="0"/>
              <a:t> / </a:t>
            </a:r>
            <a:r>
              <a:rPr kumimoji="1" lang="en-US" altLang="ja-JP" sz="2800" dirty="0"/>
              <a:t>single exit.</a:t>
            </a:r>
          </a:p>
          <a:p>
            <a:r>
              <a:rPr lang="en-US" altLang="ja-JP" sz="2800" dirty="0"/>
              <a:t>For example, an assignment statement</a:t>
            </a:r>
          </a:p>
          <a:p>
            <a:r>
              <a:rPr lang="en-US" altLang="ja-JP" sz="2800" dirty="0"/>
              <a:t>    x := 3</a:t>
            </a:r>
          </a:p>
          <a:p>
            <a:r>
              <a:rPr lang="en-US" altLang="ja-JP" sz="2800" dirty="0"/>
              <a:t>has the following control flow.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808711" y="4801481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x := 3</a:t>
            </a:r>
          </a:p>
        </p:txBody>
      </p:sp>
      <p:cxnSp>
        <p:nvCxnSpPr>
          <p:cNvPr id="12" name="直線矢印コネクタ 11"/>
          <p:cNvCxnSpPr/>
          <p:nvPr/>
        </p:nvCxnSpPr>
        <p:spPr>
          <a:xfrm flipH="1">
            <a:off x="3308153" y="5369167"/>
            <a:ext cx="1418" cy="7226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 rot="5400000">
            <a:off x="2951587" y="4505131"/>
            <a:ext cx="714380" cy="1588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3469856" y="3872787"/>
            <a:ext cx="1810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 point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3488060" y="5804604"/>
            <a:ext cx="1572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 point</a:t>
            </a:r>
          </a:p>
        </p:txBody>
      </p:sp>
      <p:sp>
        <p:nvSpPr>
          <p:cNvPr id="9" name="角丸四角形 8"/>
          <p:cNvSpPr/>
          <p:nvPr/>
        </p:nvSpPr>
        <p:spPr>
          <a:xfrm>
            <a:off x="2707363" y="4532705"/>
            <a:ext cx="1315656" cy="1102757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Sequences of statements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42910" y="1571612"/>
            <a:ext cx="55007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In Pascal, a sequence of statements is represented by delimiting statements s1, s2, …, </a:t>
            </a:r>
            <a:r>
              <a:rPr lang="en-US" altLang="ja-JP" sz="2800" dirty="0" err="1"/>
              <a:t>sn</a:t>
            </a:r>
            <a:r>
              <a:rPr lang="en-US" altLang="ja-JP" sz="2800" dirty="0"/>
              <a:t> with semicolons.</a:t>
            </a:r>
          </a:p>
          <a:p>
            <a:r>
              <a:rPr lang="en-US" altLang="ja-JP" sz="2800" dirty="0"/>
              <a:t>    s1; s2; …; </a:t>
            </a:r>
            <a:r>
              <a:rPr lang="en-US" altLang="ja-JP" sz="2800" dirty="0" err="1"/>
              <a:t>sn</a:t>
            </a:r>
            <a:endParaRPr lang="en-US" altLang="ja-JP" sz="2800" dirty="0"/>
          </a:p>
        </p:txBody>
      </p:sp>
      <p:sp>
        <p:nvSpPr>
          <p:cNvPr id="17" name="正方形/長方形 16"/>
          <p:cNvSpPr/>
          <p:nvPr/>
        </p:nvSpPr>
        <p:spPr>
          <a:xfrm>
            <a:off x="768132" y="4013221"/>
            <a:ext cx="245289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(ex. ) temp := x;  </a:t>
            </a:r>
          </a:p>
          <a:p>
            <a:r>
              <a:rPr lang="en-US" altLang="ja-JP" sz="2800" dirty="0"/>
              <a:t>          x := y;  </a:t>
            </a:r>
          </a:p>
          <a:p>
            <a:r>
              <a:rPr lang="en-US" altLang="ja-JP" sz="2800" dirty="0"/>
              <a:t>          y := temp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1033" y="202367"/>
            <a:ext cx="8929718" cy="892022"/>
          </a:xfrm>
        </p:spPr>
        <p:txBody>
          <a:bodyPr>
            <a:normAutofit/>
          </a:bodyPr>
          <a:lstStyle/>
          <a:p>
            <a:r>
              <a:rPr lang="en-US" altLang="ja-JP" dirty="0"/>
              <a:t>Compound statements (or blocks)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289570" y="1164133"/>
            <a:ext cx="7206316" cy="5262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In Pascal, by surrounding a sequence of statements by 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 and </a:t>
            </a:r>
            <a:r>
              <a:rPr lang="en-US" altLang="ja-JP" sz="2800" b="1" dirty="0"/>
              <a:t>end</a:t>
            </a:r>
            <a:r>
              <a:rPr lang="en-US" altLang="ja-JP" sz="2800" dirty="0"/>
              <a:t>, we get a statement called a </a:t>
            </a:r>
            <a:r>
              <a:rPr lang="en-US" altLang="ja-JP" sz="2800" i="1" dirty="0"/>
              <a:t>compound statement</a:t>
            </a:r>
            <a:r>
              <a:rPr lang="en-US" altLang="ja-JP" sz="2800" dirty="0"/>
              <a:t> or a </a:t>
            </a:r>
            <a:r>
              <a:rPr lang="en-US" altLang="ja-JP" sz="2800" i="1" dirty="0"/>
              <a:t>block</a:t>
            </a:r>
            <a:r>
              <a:rPr lang="en-US" altLang="ja-JP" sz="2800" dirty="0"/>
              <a:t>. </a:t>
            </a:r>
          </a:p>
          <a:p>
            <a:r>
              <a:rPr lang="en-US" altLang="ja-JP" sz="2800" dirty="0"/>
              <a:t>(ex.) 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 temp := x;  x := y;  y := temp </a:t>
            </a:r>
            <a:r>
              <a:rPr lang="en-US" altLang="ja-JP" sz="2800" b="1" dirty="0"/>
              <a:t>end</a:t>
            </a:r>
            <a:endParaRPr lang="en-US" altLang="ja-JP" sz="2800" dirty="0"/>
          </a:p>
          <a:p>
            <a:r>
              <a:rPr lang="en-US" altLang="ja-JP" sz="2800" dirty="0"/>
              <a:t>We can write a compound statement wherever a statement can appear. The number of statements in a compound statement can be 0, so </a:t>
            </a:r>
            <a:r>
              <a:rPr lang="en-US" altLang="ja-JP" sz="2800" b="1" dirty="0"/>
              <a:t>begin end </a:t>
            </a:r>
            <a:r>
              <a:rPr lang="en-US" altLang="ja-JP" sz="2800" dirty="0"/>
              <a:t>is a compound statement. </a:t>
            </a:r>
          </a:p>
          <a:p>
            <a:r>
              <a:rPr lang="en-US" altLang="ja-JP" sz="2800" dirty="0"/>
              <a:t>A compound statement is single entry / single exit when each of the statements in the compound statement is single entry / single exit. 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7372242" y="2714620"/>
            <a:ext cx="1558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  temp := x </a:t>
            </a:r>
          </a:p>
        </p:txBody>
      </p:sp>
      <p:cxnSp>
        <p:nvCxnSpPr>
          <p:cNvPr id="24" name="直線矢印コネクタ 23"/>
          <p:cNvCxnSpPr/>
          <p:nvPr/>
        </p:nvCxnSpPr>
        <p:spPr>
          <a:xfrm rot="5400000">
            <a:off x="7765548" y="3464322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flipH="1">
            <a:off x="8015184" y="1901303"/>
            <a:ext cx="8037" cy="813317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8077398" y="1566743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Entry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8084442" y="5835061"/>
            <a:ext cx="64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Exit</a:t>
            </a: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7515118" y="3786190"/>
            <a:ext cx="1031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  x := y </a:t>
            </a:r>
          </a:p>
        </p:txBody>
      </p:sp>
      <p:cxnSp>
        <p:nvCxnSpPr>
          <p:cNvPr id="29" name="直線矢印コネクタ 28"/>
          <p:cNvCxnSpPr/>
          <p:nvPr/>
        </p:nvCxnSpPr>
        <p:spPr>
          <a:xfrm rot="5400000">
            <a:off x="7765548" y="4535892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/>
          <p:cNvSpPr txBox="1"/>
          <p:nvPr/>
        </p:nvSpPr>
        <p:spPr>
          <a:xfrm>
            <a:off x="7443680" y="4786322"/>
            <a:ext cx="1564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  y := temp </a:t>
            </a:r>
          </a:p>
        </p:txBody>
      </p:sp>
      <p:cxnSp>
        <p:nvCxnSpPr>
          <p:cNvPr id="31" name="直線矢印コネクタ 30"/>
          <p:cNvCxnSpPr/>
          <p:nvPr/>
        </p:nvCxnSpPr>
        <p:spPr>
          <a:xfrm>
            <a:off x="8015979" y="5214950"/>
            <a:ext cx="7242" cy="8616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/>
          <p:cNvSpPr/>
          <p:nvPr/>
        </p:nvSpPr>
        <p:spPr>
          <a:xfrm>
            <a:off x="7498478" y="2540141"/>
            <a:ext cx="1361287" cy="828968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角丸四角形 13"/>
          <p:cNvSpPr/>
          <p:nvPr/>
        </p:nvSpPr>
        <p:spPr>
          <a:xfrm>
            <a:off x="7506386" y="3521213"/>
            <a:ext cx="1110022" cy="92783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角丸四角形 14"/>
          <p:cNvSpPr/>
          <p:nvPr/>
        </p:nvSpPr>
        <p:spPr>
          <a:xfrm>
            <a:off x="7544711" y="4571028"/>
            <a:ext cx="1361287" cy="92783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角丸四角形 17"/>
          <p:cNvSpPr/>
          <p:nvPr/>
        </p:nvSpPr>
        <p:spPr>
          <a:xfrm>
            <a:off x="7407220" y="2350011"/>
            <a:ext cx="1589434" cy="3346293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Conditional statements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52354" y="1372604"/>
            <a:ext cx="89387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In </a:t>
            </a:r>
            <a:r>
              <a:rPr kumimoji="1" lang="en-US" altLang="ja-JP" sz="2800" dirty="0"/>
              <a:t>Pascal</a:t>
            </a:r>
            <a:r>
              <a:rPr lang="en-US" altLang="ja-JP" sz="2800" dirty="0"/>
              <a:t>, a conditional statement has either of the following form (</a:t>
            </a:r>
            <a:r>
              <a:rPr kumimoji="1" lang="en-US" altLang="ja-JP" sz="2800" i="1" dirty="0"/>
              <a:t>E</a:t>
            </a:r>
            <a:r>
              <a:rPr kumimoji="1" lang="en-US" altLang="ja-JP" sz="2800" dirty="0"/>
              <a:t> is an expression, </a:t>
            </a:r>
            <a:r>
              <a:rPr kumimoji="1" lang="en-US" altLang="ja-JP" sz="2800" i="1" dirty="0"/>
              <a:t>S</a:t>
            </a:r>
            <a:r>
              <a:rPr kumimoji="1" lang="en-US" altLang="ja-JP" sz="2800" dirty="0"/>
              <a:t> (with a subscript) is a statement).</a:t>
            </a:r>
          </a:p>
          <a:p>
            <a:r>
              <a:rPr lang="en-US" altLang="ja-JP" sz="2800" b="1" dirty="0"/>
              <a:t>     </a:t>
            </a:r>
            <a:r>
              <a:rPr kumimoji="1" lang="en-US" altLang="ja-JP" sz="2800" b="1" dirty="0"/>
              <a:t>if </a:t>
            </a:r>
            <a:r>
              <a:rPr lang="en-US" altLang="ja-JP" sz="2800" i="1" dirty="0"/>
              <a:t>E</a:t>
            </a:r>
            <a:r>
              <a:rPr kumimoji="1" lang="ja-JP" altLang="en-US" sz="2800" b="1" dirty="0"/>
              <a:t> </a:t>
            </a:r>
            <a:r>
              <a:rPr kumimoji="1" lang="en-US" altLang="ja-JP" sz="2800" b="1" dirty="0"/>
              <a:t>then</a:t>
            </a:r>
            <a:r>
              <a:rPr kumimoji="1" lang="en-US" altLang="ja-JP" sz="2800" dirty="0"/>
              <a:t> </a:t>
            </a:r>
            <a:r>
              <a:rPr lang="en-US" altLang="ja-JP" sz="2800" i="1" dirty="0"/>
              <a:t>S</a:t>
            </a:r>
            <a:r>
              <a:rPr lang="en-US" altLang="ja-JP" sz="2800" baseline="-25000" dirty="0"/>
              <a:t>1</a:t>
            </a:r>
            <a:r>
              <a:rPr kumimoji="1" lang="ja-JP" altLang="en-US" sz="2800" dirty="0"/>
              <a:t> </a:t>
            </a:r>
            <a:r>
              <a:rPr kumimoji="1" lang="en-US" altLang="ja-JP" sz="2800" b="1" dirty="0"/>
              <a:t>else</a:t>
            </a:r>
            <a:r>
              <a:rPr kumimoji="1" lang="en-US" altLang="ja-JP" sz="2800" dirty="0"/>
              <a:t> </a:t>
            </a:r>
            <a:r>
              <a:rPr lang="en-US" altLang="ja-JP" sz="2800" i="1" dirty="0"/>
              <a:t>S</a:t>
            </a:r>
            <a:r>
              <a:rPr lang="en-US" altLang="ja-JP" sz="2800" baseline="-25000" dirty="0"/>
              <a:t>2</a:t>
            </a:r>
            <a:endParaRPr kumimoji="1" lang="en-US" altLang="ja-JP" sz="2800" baseline="-25000" dirty="0"/>
          </a:p>
          <a:p>
            <a:r>
              <a:rPr lang="en-US" altLang="ja-JP" sz="2800" dirty="0"/>
              <a:t>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</a:t>
            </a:r>
            <a:r>
              <a:rPr lang="en-US" altLang="ja-JP" sz="2800" i="1" dirty="0"/>
              <a:t>E</a:t>
            </a:r>
            <a:r>
              <a:rPr lang="ja-JP" altLang="en-US" sz="2800" dirty="0"/>
              <a:t>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</a:t>
            </a:r>
            <a:r>
              <a:rPr lang="en-US" altLang="ja-JP" sz="2800" i="1" dirty="0"/>
              <a:t>S</a:t>
            </a:r>
            <a:endParaRPr kumimoji="1" lang="en-US" altLang="ja-JP" sz="2800" i="1" dirty="0"/>
          </a:p>
        </p:txBody>
      </p:sp>
      <p:cxnSp>
        <p:nvCxnSpPr>
          <p:cNvPr id="5" name="直線矢印コネクタ 4"/>
          <p:cNvCxnSpPr/>
          <p:nvPr/>
        </p:nvCxnSpPr>
        <p:spPr>
          <a:xfrm rot="5400000">
            <a:off x="6515059" y="2928537"/>
            <a:ext cx="571504" cy="794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6856640" y="2402267"/>
            <a:ext cx="85151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Entry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99437" y="3177447"/>
            <a:ext cx="42947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(ex. ) </a:t>
            </a:r>
            <a:r>
              <a:rPr kumimoji="1" lang="en-US" altLang="ja-JP" sz="2800" b="1" dirty="0"/>
              <a:t>if</a:t>
            </a:r>
            <a:r>
              <a:rPr kumimoji="1" lang="en-US" altLang="ja-JP" sz="2800" dirty="0"/>
              <a:t> x=0 </a:t>
            </a:r>
            <a:r>
              <a:rPr kumimoji="1" lang="en-US" altLang="ja-JP" sz="2800" b="1" dirty="0"/>
              <a:t>then</a:t>
            </a:r>
            <a:r>
              <a:rPr kumimoji="1" lang="en-US" altLang="ja-JP" sz="2800" dirty="0"/>
              <a:t> </a:t>
            </a:r>
          </a:p>
          <a:p>
            <a:r>
              <a:rPr lang="en-US" altLang="ja-JP" sz="2800" dirty="0"/>
              <a:t>              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 </a:t>
            </a:r>
            <a:r>
              <a:rPr kumimoji="1" lang="en-US" altLang="ja-JP" sz="2800" dirty="0"/>
              <a:t>x:=1; y:=3 </a:t>
            </a:r>
            <a:r>
              <a:rPr kumimoji="1" lang="en-US" altLang="ja-JP" sz="2800" b="1" dirty="0"/>
              <a:t>end</a:t>
            </a:r>
          </a:p>
          <a:p>
            <a:r>
              <a:rPr lang="en-US" altLang="ja-JP" sz="2800" b="1" dirty="0"/>
              <a:t>          </a:t>
            </a:r>
            <a:r>
              <a:rPr kumimoji="1" lang="en-US" altLang="ja-JP" sz="2800" b="1" dirty="0"/>
              <a:t>else</a:t>
            </a:r>
            <a:r>
              <a:rPr kumimoji="1" lang="en-US" altLang="ja-JP" sz="2800" dirty="0"/>
              <a:t> x:=2</a:t>
            </a:r>
            <a:endParaRPr kumimoji="1" lang="ja-JP" altLang="en-US" sz="2800" dirty="0"/>
          </a:p>
        </p:txBody>
      </p:sp>
      <p:sp>
        <p:nvSpPr>
          <p:cNvPr id="8" name="ひし形 7"/>
          <p:cNvSpPr/>
          <p:nvPr/>
        </p:nvSpPr>
        <p:spPr>
          <a:xfrm>
            <a:off x="6086034" y="321468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x=0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1" name="図形 10"/>
          <p:cNvCxnSpPr>
            <a:stCxn id="8" idx="1"/>
          </p:cNvCxnSpPr>
          <p:nvPr/>
        </p:nvCxnSpPr>
        <p:spPr>
          <a:xfrm rot="10800000" flipV="1">
            <a:off x="5657406" y="3571876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図形 12"/>
          <p:cNvCxnSpPr>
            <a:stCxn id="8" idx="3"/>
          </p:cNvCxnSpPr>
          <p:nvPr/>
        </p:nvCxnSpPr>
        <p:spPr>
          <a:xfrm>
            <a:off x="7514794" y="3571876"/>
            <a:ext cx="439984" cy="709858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5232731" y="4201171"/>
            <a:ext cx="88036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x:=1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505097" y="4167626"/>
            <a:ext cx="88036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x:=2</a:t>
            </a:r>
          </a:p>
        </p:txBody>
      </p:sp>
      <p:cxnSp>
        <p:nvCxnSpPr>
          <p:cNvPr id="17" name="図形 16"/>
          <p:cNvCxnSpPr/>
          <p:nvPr/>
        </p:nvCxnSpPr>
        <p:spPr>
          <a:xfrm rot="16200000" flipH="1">
            <a:off x="5979546" y="5255110"/>
            <a:ext cx="467029" cy="1111309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 rot="5400000">
            <a:off x="6482975" y="6330020"/>
            <a:ext cx="57148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/>
          <p:cNvSpPr txBox="1"/>
          <p:nvPr/>
        </p:nvSpPr>
        <p:spPr>
          <a:xfrm>
            <a:off x="6807535" y="6262827"/>
            <a:ext cx="64197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Exit</a:t>
            </a: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661391" y="4518311"/>
            <a:ext cx="40777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A conditional </a:t>
            </a:r>
            <a:r>
              <a:rPr lang="en-US" altLang="ja-JP" sz="2800" dirty="0"/>
              <a:t>statement </a:t>
            </a:r>
            <a:r>
              <a:rPr lang="en-US" altLang="ja-JP" sz="2800" b="1" dirty="0"/>
              <a:t>if </a:t>
            </a:r>
            <a:r>
              <a:rPr lang="en-US" altLang="ja-JP" sz="2800" i="1" dirty="0"/>
              <a:t>E</a:t>
            </a:r>
            <a:r>
              <a:rPr lang="ja-JP" altLang="en-US" sz="2800" b="1" dirty="0"/>
              <a:t>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</a:t>
            </a:r>
            <a:r>
              <a:rPr lang="en-US" altLang="ja-JP" sz="2800" i="1" dirty="0"/>
              <a:t>S</a:t>
            </a:r>
            <a:r>
              <a:rPr lang="en-US" altLang="ja-JP" sz="2800" baseline="-25000" dirty="0"/>
              <a:t>1</a:t>
            </a:r>
            <a:r>
              <a:rPr lang="ja-JP" altLang="en-US" sz="2800" dirty="0"/>
              <a:t> </a:t>
            </a:r>
            <a:r>
              <a:rPr lang="en-US" altLang="ja-JP" sz="2800" b="1" dirty="0"/>
              <a:t>else</a:t>
            </a:r>
            <a:r>
              <a:rPr lang="en-US" altLang="ja-JP" sz="2800" dirty="0"/>
              <a:t> </a:t>
            </a:r>
            <a:r>
              <a:rPr lang="en-US" altLang="ja-JP" sz="2800" i="1" dirty="0"/>
              <a:t>S</a:t>
            </a:r>
            <a:r>
              <a:rPr lang="en-US" altLang="ja-JP" sz="2800" baseline="-25000" dirty="0"/>
              <a:t>2</a:t>
            </a:r>
            <a:r>
              <a:rPr lang="en-US" altLang="ja-JP" sz="2800" i="1" dirty="0"/>
              <a:t> </a:t>
            </a:r>
            <a:r>
              <a:rPr lang="en-US" altLang="ja-JP" sz="2800" dirty="0"/>
              <a:t>is single entry / single exit when </a:t>
            </a:r>
            <a:r>
              <a:rPr lang="en-US" altLang="ja-JP" sz="2800" i="1" dirty="0"/>
              <a:t>S</a:t>
            </a:r>
            <a:r>
              <a:rPr lang="en-US" altLang="ja-JP" sz="2800" baseline="-25000" dirty="0"/>
              <a:t>1</a:t>
            </a:r>
            <a:r>
              <a:rPr lang="en-US" altLang="ja-JP" sz="2800" dirty="0"/>
              <a:t> </a:t>
            </a:r>
            <a:r>
              <a:rPr kumimoji="1" lang="en-US" altLang="ja-JP" sz="2800" dirty="0"/>
              <a:t>and</a:t>
            </a:r>
            <a:r>
              <a:rPr kumimoji="1" lang="en-US" altLang="ja-JP" sz="2800" b="1" dirty="0"/>
              <a:t> </a:t>
            </a:r>
            <a:r>
              <a:rPr lang="en-US" altLang="ja-JP" sz="2800" i="1" dirty="0"/>
              <a:t>S</a:t>
            </a:r>
            <a:r>
              <a:rPr lang="en-US" altLang="ja-JP" sz="2800" baseline="-25000" dirty="0"/>
              <a:t>2</a:t>
            </a:r>
            <a:r>
              <a:rPr kumimoji="1" lang="en-US" altLang="ja-JP" sz="2800" dirty="0"/>
              <a:t> are single entry and single exit. </a:t>
            </a: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794954" y="316674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</a:t>
            </a:r>
            <a:endParaRPr kumimoji="1" lang="ja-JP" altLang="en-US" sz="2400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7467685" y="3146094"/>
            <a:ext cx="326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</a:t>
            </a:r>
            <a:endParaRPr kumimoji="1" lang="ja-JP" altLang="en-US" sz="2400" dirty="0"/>
          </a:p>
        </p:txBody>
      </p:sp>
      <p:cxnSp>
        <p:nvCxnSpPr>
          <p:cNvPr id="20" name="直線矢印コネクタ 19"/>
          <p:cNvCxnSpPr/>
          <p:nvPr/>
        </p:nvCxnSpPr>
        <p:spPr>
          <a:xfrm rot="5400000">
            <a:off x="5425909" y="4890733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5076745" y="5100220"/>
            <a:ext cx="1213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3 </a:t>
            </a:r>
          </a:p>
        </p:txBody>
      </p:sp>
      <p:cxnSp>
        <p:nvCxnSpPr>
          <p:cNvPr id="26" name="直線コネクタ 25"/>
          <p:cNvCxnSpPr/>
          <p:nvPr/>
        </p:nvCxnSpPr>
        <p:spPr>
          <a:xfrm rot="16200000" flipH="1">
            <a:off x="7306377" y="5381423"/>
            <a:ext cx="1321568" cy="75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 flipH="1" flipV="1">
            <a:off x="6765434" y="6045960"/>
            <a:ext cx="1204554" cy="77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>
            <a:off x="7544110" y="4015554"/>
            <a:ext cx="866965" cy="86699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角丸四角形 29"/>
          <p:cNvSpPr/>
          <p:nvPr/>
        </p:nvSpPr>
        <p:spPr>
          <a:xfrm>
            <a:off x="5262926" y="3924586"/>
            <a:ext cx="866965" cy="1824953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角丸四角形 32"/>
          <p:cNvSpPr/>
          <p:nvPr/>
        </p:nvSpPr>
        <p:spPr>
          <a:xfrm>
            <a:off x="5057292" y="2996454"/>
            <a:ext cx="3551511" cy="3232215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b="1" dirty="0"/>
              <a:t>if</a:t>
            </a:r>
            <a:r>
              <a:rPr lang="en-US" altLang="ja-JP" dirty="0"/>
              <a:t>-</a:t>
            </a:r>
            <a:r>
              <a:rPr lang="en-US" altLang="ja-JP" b="1" dirty="0"/>
              <a:t>then</a:t>
            </a:r>
            <a:r>
              <a:rPr lang="en-US" altLang="ja-JP" dirty="0"/>
              <a:t> statements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25690" y="1766332"/>
            <a:ext cx="29001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(ex.)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x=0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  <a:r>
              <a:rPr lang="en-US" altLang="ja-JP" sz="2800" dirty="0"/>
              <a:t> </a:t>
            </a:r>
          </a:p>
          <a:p>
            <a:r>
              <a:rPr lang="en-US" altLang="ja-JP" sz="2800" dirty="0"/>
              <a:t>               x:=1;</a:t>
            </a:r>
          </a:p>
          <a:p>
            <a:r>
              <a:rPr lang="en-US" altLang="ja-JP" sz="2800" dirty="0"/>
              <a:t>               y:=3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end</a:t>
            </a:r>
          </a:p>
        </p:txBody>
      </p:sp>
      <p:cxnSp>
        <p:nvCxnSpPr>
          <p:cNvPr id="5" name="直線矢印コネクタ 4"/>
          <p:cNvCxnSpPr/>
          <p:nvPr/>
        </p:nvCxnSpPr>
        <p:spPr>
          <a:xfrm rot="5400000">
            <a:off x="6390088" y="2341684"/>
            <a:ext cx="571504" cy="794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6746881" y="1769783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7" name="ひし形 6"/>
          <p:cNvSpPr/>
          <p:nvPr/>
        </p:nvSpPr>
        <p:spPr>
          <a:xfrm>
            <a:off x="5961063" y="2627833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x=0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図形 7"/>
          <p:cNvCxnSpPr>
            <a:stCxn id="7" idx="1"/>
          </p:cNvCxnSpPr>
          <p:nvPr/>
        </p:nvCxnSpPr>
        <p:spPr>
          <a:xfrm rot="10800000" flipV="1">
            <a:off x="5532435" y="2985023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5135054" y="3559725"/>
            <a:ext cx="88036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x:=1</a:t>
            </a:r>
          </a:p>
        </p:txBody>
      </p:sp>
      <p:cxnSp>
        <p:nvCxnSpPr>
          <p:cNvPr id="12" name="図形 11"/>
          <p:cNvCxnSpPr/>
          <p:nvPr/>
        </p:nvCxnSpPr>
        <p:spPr>
          <a:xfrm rot="16200000" flipH="1">
            <a:off x="5854575" y="4668257"/>
            <a:ext cx="467029" cy="1111309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 rot="5400000">
            <a:off x="6358004" y="5743167"/>
            <a:ext cx="57148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6672595" y="5786526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618357" y="25798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</a:t>
            </a:r>
            <a:endParaRPr kumimoji="1" lang="ja-JP" altLang="en-US" sz="24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387336" y="2548915"/>
            <a:ext cx="326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</a:t>
            </a:r>
            <a:endParaRPr kumimoji="1" lang="ja-JP" altLang="en-US" sz="2400" dirty="0"/>
          </a:p>
        </p:txBody>
      </p:sp>
      <p:cxnSp>
        <p:nvCxnSpPr>
          <p:cNvPr id="18" name="直線矢印コネクタ 17"/>
          <p:cNvCxnSpPr/>
          <p:nvPr/>
        </p:nvCxnSpPr>
        <p:spPr>
          <a:xfrm rot="5400000">
            <a:off x="5300938" y="4303880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4951774" y="4486070"/>
            <a:ext cx="1213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y := 3 </a:t>
            </a:r>
          </a:p>
        </p:txBody>
      </p:sp>
      <p:cxnSp>
        <p:nvCxnSpPr>
          <p:cNvPr id="22" name="直線コネクタ 21"/>
          <p:cNvCxnSpPr/>
          <p:nvPr/>
        </p:nvCxnSpPr>
        <p:spPr>
          <a:xfrm>
            <a:off x="6640457" y="5459104"/>
            <a:ext cx="13101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 rot="16200000" flipV="1">
            <a:off x="6708698" y="4217158"/>
            <a:ext cx="2470245" cy="13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>
            <a:endCxn id="7" idx="3"/>
          </p:cNvCxnSpPr>
          <p:nvPr/>
        </p:nvCxnSpPr>
        <p:spPr>
          <a:xfrm rot="10800000">
            <a:off x="7389823" y="2985024"/>
            <a:ext cx="533524" cy="3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449452" y="4402575"/>
            <a:ext cx="40777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A conditional statement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</a:t>
            </a:r>
            <a:r>
              <a:rPr lang="en-US" altLang="ja-JP" sz="2800" i="1" dirty="0"/>
              <a:t>E</a:t>
            </a:r>
            <a:r>
              <a:rPr lang="ja-JP" altLang="en-US" sz="2800" dirty="0"/>
              <a:t>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</a:t>
            </a:r>
            <a:r>
              <a:rPr lang="en-US" altLang="ja-JP" sz="2800" i="1" dirty="0"/>
              <a:t>S </a:t>
            </a:r>
            <a:r>
              <a:rPr lang="en-US" altLang="ja-JP" sz="2800" dirty="0"/>
              <a:t>is single entry / single exit when </a:t>
            </a:r>
            <a:r>
              <a:rPr kumimoji="1" lang="en-US" altLang="ja-JP" sz="2800" i="1" dirty="0"/>
              <a:t>S</a:t>
            </a:r>
            <a:r>
              <a:rPr kumimoji="1" lang="en-US" altLang="ja-JP" sz="2800" dirty="0"/>
              <a:t> is single entry and single exit. </a:t>
            </a:r>
          </a:p>
        </p:txBody>
      </p:sp>
      <p:sp>
        <p:nvSpPr>
          <p:cNvPr id="21" name="角丸四角形 20"/>
          <p:cNvSpPr/>
          <p:nvPr/>
        </p:nvSpPr>
        <p:spPr>
          <a:xfrm>
            <a:off x="4954520" y="2426064"/>
            <a:ext cx="3422226" cy="3232215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角丸四角形 22"/>
          <p:cNvSpPr/>
          <p:nvPr/>
        </p:nvSpPr>
        <p:spPr>
          <a:xfrm>
            <a:off x="5152549" y="3361800"/>
            <a:ext cx="866965" cy="1824953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Exercise 1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05308" y="1547643"/>
            <a:ext cx="76849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r>
              <a:rPr lang="en-US" altLang="ja-JP" sz="2800" b="1" dirty="0"/>
              <a:t>if </a:t>
            </a:r>
            <a:r>
              <a:rPr lang="en-US" altLang="ja-JP" sz="2800" dirty="0"/>
              <a:t>x &gt; 0 </a:t>
            </a:r>
            <a:r>
              <a:rPr lang="en-US" altLang="ja-JP" sz="2800" b="1" dirty="0"/>
              <a:t>then </a:t>
            </a:r>
            <a:r>
              <a:rPr lang="en-US" altLang="ja-JP" sz="2800" dirty="0"/>
              <a:t>x := x – 1</a:t>
            </a:r>
          </a:p>
          <a:p>
            <a:r>
              <a:rPr lang="en-US" altLang="ja-JP" sz="2800" b="1" dirty="0"/>
              <a:t>else if </a:t>
            </a:r>
            <a:r>
              <a:rPr lang="en-US" altLang="ja-JP" sz="2800" dirty="0"/>
              <a:t>y &gt; 0 </a:t>
            </a:r>
            <a:r>
              <a:rPr lang="en-US" altLang="ja-JP" sz="2800" b="1" dirty="0"/>
              <a:t>then </a:t>
            </a:r>
            <a:r>
              <a:rPr lang="en-US" altLang="ja-JP" sz="2800" dirty="0"/>
              <a:t>y := y – 1</a:t>
            </a:r>
          </a:p>
          <a:p>
            <a:r>
              <a:rPr kumimoji="1" lang="en-US" altLang="ja-JP" sz="2800" b="1" dirty="0"/>
              <a:t>        else </a:t>
            </a:r>
            <a:r>
              <a:rPr kumimoji="1" lang="en-US" altLang="ja-JP" sz="2800" dirty="0"/>
              <a:t>y := y + 1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Loop statements (while statements)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38002" y="1322753"/>
            <a:ext cx="77951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In Pascal, a while statement has the following form. </a:t>
            </a:r>
          </a:p>
          <a:p>
            <a:r>
              <a:rPr kumimoji="1" lang="en-US" altLang="ja-JP" sz="2800" b="1" dirty="0"/>
              <a:t>     while</a:t>
            </a:r>
            <a:r>
              <a:rPr kumimoji="1" lang="en-US" altLang="ja-JP" sz="2800" dirty="0"/>
              <a:t> </a:t>
            </a:r>
            <a:r>
              <a:rPr kumimoji="1" lang="en-US" altLang="ja-JP" sz="2800" i="1" dirty="0"/>
              <a:t>E</a:t>
            </a:r>
            <a:r>
              <a:rPr kumimoji="1" lang="ja-JP" altLang="en-US" sz="2800" dirty="0"/>
              <a:t> </a:t>
            </a:r>
            <a:r>
              <a:rPr kumimoji="1" lang="en-US" altLang="ja-JP" sz="2800" b="1" dirty="0"/>
              <a:t>do</a:t>
            </a:r>
            <a:r>
              <a:rPr kumimoji="1" lang="en-US" altLang="ja-JP" sz="2800" dirty="0"/>
              <a:t> </a:t>
            </a:r>
            <a:r>
              <a:rPr kumimoji="1" lang="en-US" altLang="ja-JP" sz="2800" i="1" dirty="0"/>
              <a:t>S</a:t>
            </a:r>
            <a:endParaRPr kumimoji="1" lang="ja-JP" altLang="en-US" sz="2800" i="1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15430" y="2646382"/>
            <a:ext cx="4073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(ex.) </a:t>
            </a:r>
            <a:r>
              <a:rPr kumimoji="1" lang="en-US" altLang="ja-JP" sz="2800" b="1" dirty="0"/>
              <a:t>while</a:t>
            </a:r>
            <a:r>
              <a:rPr kumimoji="1" lang="en-US" altLang="ja-JP" sz="2800" dirty="0"/>
              <a:t> x &gt; 0 </a:t>
            </a:r>
            <a:r>
              <a:rPr kumimoji="1" lang="en-US" altLang="ja-JP" sz="2800" b="1" dirty="0"/>
              <a:t>do</a:t>
            </a:r>
            <a:r>
              <a:rPr kumimoji="1" lang="en-US" altLang="ja-JP" sz="2800" dirty="0"/>
              <a:t> x := x-1</a:t>
            </a:r>
            <a:endParaRPr kumimoji="1" lang="ja-JP" altLang="en-US" sz="2800" dirty="0"/>
          </a:p>
        </p:txBody>
      </p:sp>
      <p:cxnSp>
        <p:nvCxnSpPr>
          <p:cNvPr id="6" name="直線矢印コネクタ 5"/>
          <p:cNvCxnSpPr/>
          <p:nvPr/>
        </p:nvCxnSpPr>
        <p:spPr>
          <a:xfrm flipH="1">
            <a:off x="6746839" y="2220725"/>
            <a:ext cx="6355" cy="776247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6763685" y="1899098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8" name="ひし形 7"/>
          <p:cNvSpPr/>
          <p:nvPr/>
        </p:nvSpPr>
        <p:spPr>
          <a:xfrm>
            <a:off x="6000760" y="2996973"/>
            <a:ext cx="1460458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0" name="図形 9"/>
          <p:cNvCxnSpPr>
            <a:stCxn id="8" idx="3"/>
          </p:cNvCxnSpPr>
          <p:nvPr/>
        </p:nvCxnSpPr>
        <p:spPr>
          <a:xfrm>
            <a:off x="7461218" y="3354163"/>
            <a:ext cx="463138" cy="2288904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/>
          <p:cNvCxnSpPr/>
          <p:nvPr/>
        </p:nvCxnSpPr>
        <p:spPr>
          <a:xfrm rot="5400000">
            <a:off x="6394463" y="4051419"/>
            <a:ext cx="642148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/>
          <p:cNvSpPr txBox="1"/>
          <p:nvPr/>
        </p:nvSpPr>
        <p:spPr>
          <a:xfrm>
            <a:off x="6064946" y="4319092"/>
            <a:ext cx="1309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x := x-1</a:t>
            </a:r>
            <a:endParaRPr kumimoji="1" lang="ja-JP" altLang="en-US" sz="2800" dirty="0"/>
          </a:p>
        </p:txBody>
      </p:sp>
      <p:cxnSp>
        <p:nvCxnSpPr>
          <p:cNvPr id="41" name="図形 40"/>
          <p:cNvCxnSpPr/>
          <p:nvPr/>
        </p:nvCxnSpPr>
        <p:spPr>
          <a:xfrm rot="5400000">
            <a:off x="5894272" y="4495158"/>
            <a:ext cx="467029" cy="1174707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 flipV="1">
            <a:off x="5527992" y="2745482"/>
            <a:ext cx="16015" cy="257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/>
          <p:nvPr/>
        </p:nvCxnSpPr>
        <p:spPr>
          <a:xfrm>
            <a:off x="5548596" y="2751003"/>
            <a:ext cx="1187355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/>
          <p:cNvCxnSpPr/>
          <p:nvPr/>
        </p:nvCxnSpPr>
        <p:spPr>
          <a:xfrm rot="10800000">
            <a:off x="6720742" y="5634540"/>
            <a:ext cx="12010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/>
          <p:cNvCxnSpPr/>
          <p:nvPr/>
        </p:nvCxnSpPr>
        <p:spPr>
          <a:xfrm flipH="1">
            <a:off x="6713905" y="5627858"/>
            <a:ext cx="8870" cy="7542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/>
          <p:cNvSpPr txBox="1"/>
          <p:nvPr/>
        </p:nvSpPr>
        <p:spPr>
          <a:xfrm>
            <a:off x="6349905" y="362703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</a:t>
            </a:r>
            <a:endParaRPr kumimoji="1" lang="ja-JP" altLang="en-US" sz="2400" dirty="0"/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7439818" y="2944643"/>
            <a:ext cx="326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</a:t>
            </a:r>
            <a:endParaRPr kumimoji="1" lang="ja-JP" altLang="en-US" sz="2400" dirty="0"/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5955681" y="6068629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717082" y="4058179"/>
            <a:ext cx="38350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A while statement 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 </a:t>
            </a:r>
            <a:r>
              <a:rPr lang="en-US" altLang="ja-JP" sz="2800" i="1" dirty="0"/>
              <a:t>E</a:t>
            </a:r>
            <a:r>
              <a:rPr lang="ja-JP" altLang="en-US" sz="2800" dirty="0"/>
              <a:t> </a:t>
            </a:r>
            <a:r>
              <a:rPr lang="en-US" altLang="ja-JP" sz="2800" b="1" dirty="0"/>
              <a:t>do</a:t>
            </a:r>
            <a:r>
              <a:rPr lang="en-US" altLang="ja-JP" sz="2800" dirty="0"/>
              <a:t> </a:t>
            </a:r>
            <a:r>
              <a:rPr lang="en-US" altLang="ja-JP" sz="2800" i="1" dirty="0"/>
              <a:t>S </a:t>
            </a:r>
            <a:r>
              <a:rPr kumimoji="1" lang="en-US" altLang="ja-JP" sz="2800" dirty="0"/>
              <a:t>is single entry / single exit if the body </a:t>
            </a:r>
            <a:r>
              <a:rPr kumimoji="1" lang="en-US" altLang="ja-JP" sz="2800" i="1" dirty="0"/>
              <a:t>S</a:t>
            </a:r>
            <a:r>
              <a:rPr kumimoji="1" lang="en-US" altLang="ja-JP" sz="2800" dirty="0"/>
              <a:t> is single entry/ single exit.</a:t>
            </a:r>
            <a:endParaRPr kumimoji="1" lang="ja-JP" altLang="en-US" sz="2800" dirty="0"/>
          </a:p>
        </p:txBody>
      </p:sp>
      <p:sp>
        <p:nvSpPr>
          <p:cNvPr id="20" name="角丸四角形 19"/>
          <p:cNvSpPr/>
          <p:nvPr/>
        </p:nvSpPr>
        <p:spPr>
          <a:xfrm>
            <a:off x="6030723" y="4114420"/>
            <a:ext cx="1361287" cy="912625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角丸四角形 20"/>
          <p:cNvSpPr/>
          <p:nvPr/>
        </p:nvSpPr>
        <p:spPr>
          <a:xfrm>
            <a:off x="5163760" y="2502115"/>
            <a:ext cx="3163660" cy="344516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43552" y="68240"/>
            <a:ext cx="8229600" cy="996287"/>
          </a:xfrm>
        </p:spPr>
        <p:txBody>
          <a:bodyPr>
            <a:normAutofit/>
          </a:bodyPr>
          <a:lstStyle/>
          <a:p>
            <a:r>
              <a:rPr kumimoji="1" lang="en-US" altLang="ja-JP" sz="4000" dirty="0"/>
              <a:t>Selection</a:t>
            </a:r>
            <a:endParaRPr kumimoji="1" lang="ja-JP" altLang="en-US" sz="40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48809" y="971906"/>
            <a:ext cx="8235222" cy="3539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In Pascal, a selection statement </a:t>
            </a:r>
            <a:r>
              <a:rPr lang="en-US" altLang="ja-JP" sz="2800" dirty="0"/>
              <a:t>has the following form.</a:t>
            </a:r>
            <a:endParaRPr kumimoji="1" lang="en-US" altLang="ja-JP" sz="2800" dirty="0"/>
          </a:p>
          <a:p>
            <a:r>
              <a:rPr lang="en-US" altLang="ja-JP" sz="2800" dirty="0"/>
              <a:t>    </a:t>
            </a:r>
            <a:r>
              <a:rPr lang="en-US" altLang="ja-JP" sz="2800" b="1" dirty="0"/>
              <a:t>case</a:t>
            </a:r>
            <a:r>
              <a:rPr lang="en-US" altLang="ja-JP" sz="2800" dirty="0"/>
              <a:t> </a:t>
            </a:r>
            <a:r>
              <a:rPr lang="en-US" altLang="ja-JP" sz="2800" i="1" dirty="0"/>
              <a:t>E</a:t>
            </a:r>
            <a:r>
              <a:rPr lang="ja-JP" altLang="en-US" sz="2800" dirty="0"/>
              <a:t> </a:t>
            </a:r>
            <a:r>
              <a:rPr lang="en-US" altLang="ja-JP" sz="2800" b="1" dirty="0"/>
              <a:t>of</a:t>
            </a:r>
          </a:p>
          <a:p>
            <a:r>
              <a:rPr kumimoji="1" lang="en-US" altLang="ja-JP" sz="2800" dirty="0"/>
              <a:t>        </a:t>
            </a:r>
            <a:r>
              <a:rPr kumimoji="1" lang="en-US" altLang="ja-JP" sz="2800" i="1" dirty="0"/>
              <a:t>constant</a:t>
            </a:r>
            <a:r>
              <a:rPr kumimoji="1" lang="en-US" altLang="ja-JP" sz="2800" baseline="-25000" dirty="0"/>
              <a:t>1</a:t>
            </a:r>
            <a:r>
              <a:rPr kumimoji="1" lang="en-US" altLang="ja-JP" sz="2800" dirty="0"/>
              <a:t> : </a:t>
            </a:r>
            <a:r>
              <a:rPr kumimoji="1" lang="en-US" altLang="ja-JP" sz="2800" i="1" dirty="0"/>
              <a:t>S</a:t>
            </a:r>
            <a:r>
              <a:rPr kumimoji="1" lang="en-US" altLang="ja-JP" sz="2800" baseline="-25000" dirty="0"/>
              <a:t>1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…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i="1" dirty="0" err="1"/>
              <a:t>constant</a:t>
            </a:r>
            <a:r>
              <a:rPr lang="en-US" altLang="ja-JP" sz="2800" i="1" baseline="-25000" dirty="0" err="1"/>
              <a:t>n</a:t>
            </a:r>
            <a:r>
              <a:rPr lang="en-US" altLang="ja-JP" sz="2800" dirty="0"/>
              <a:t> : </a:t>
            </a:r>
            <a:r>
              <a:rPr lang="en-US" altLang="ja-JP" sz="2800" i="1" dirty="0" err="1"/>
              <a:t>S</a:t>
            </a:r>
            <a:r>
              <a:rPr lang="en-US" altLang="ja-JP" sz="2800" i="1" baseline="-25000" dirty="0" err="1"/>
              <a:t>n</a:t>
            </a:r>
            <a:endParaRPr lang="en-US" altLang="ja-JP" sz="2800" i="1" baseline="-25000" dirty="0"/>
          </a:p>
          <a:p>
            <a:r>
              <a:rPr kumimoji="1" lang="en-US" altLang="ja-JP" sz="2800" dirty="0"/>
              <a:t>    </a:t>
            </a:r>
            <a:r>
              <a:rPr kumimoji="1" lang="en-US" altLang="ja-JP" sz="2800" b="1" dirty="0"/>
              <a:t>end</a:t>
            </a:r>
            <a:endParaRPr lang="en-US" altLang="ja-JP" sz="2800" dirty="0"/>
          </a:p>
          <a:p>
            <a:r>
              <a:rPr kumimoji="1" lang="en-US" altLang="ja-JP" sz="2800" dirty="0"/>
              <a:t>(In C, a selection is a switch </a:t>
            </a:r>
          </a:p>
          <a:p>
            <a:r>
              <a:rPr kumimoji="1" lang="en-US" altLang="ja-JP" sz="2800" dirty="0"/>
              <a:t>statement.)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91824" y="4512363"/>
            <a:ext cx="47963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(ex.) </a:t>
            </a:r>
            <a:r>
              <a:rPr lang="en-US" altLang="ja-JP" sz="2800" b="1" dirty="0"/>
              <a:t>case</a:t>
            </a:r>
            <a:r>
              <a:rPr lang="en-US" altLang="ja-JP" sz="2800" dirty="0"/>
              <a:t> x </a:t>
            </a:r>
            <a:r>
              <a:rPr lang="en-US" altLang="ja-JP" sz="2800" b="1" dirty="0"/>
              <a:t>of</a:t>
            </a:r>
          </a:p>
          <a:p>
            <a:r>
              <a:rPr kumimoji="1" lang="en-US" altLang="ja-JP" sz="2800" dirty="0"/>
              <a:t>             1 : </a:t>
            </a:r>
            <a:r>
              <a:rPr kumimoji="1" lang="en-US" altLang="ja-JP" sz="2800" b="1" dirty="0"/>
              <a:t>begin</a:t>
            </a:r>
            <a:r>
              <a:rPr kumimoji="1" lang="en-US" altLang="ja-JP" sz="2800" dirty="0"/>
              <a:t> y:=x; x:=0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dirty="0"/>
              <a:t>             2:  y:=x+1;</a:t>
            </a:r>
          </a:p>
          <a:p>
            <a:r>
              <a:rPr lang="en-US" altLang="ja-JP" sz="2800" dirty="0"/>
              <a:t>             4:  y:=x+2</a:t>
            </a:r>
          </a:p>
          <a:p>
            <a:r>
              <a:rPr kumimoji="1" lang="en-US" altLang="ja-JP" sz="2800" dirty="0"/>
              <a:t>         </a:t>
            </a:r>
            <a:r>
              <a:rPr kumimoji="1" lang="en-US" altLang="ja-JP" sz="2800" b="1" dirty="0"/>
              <a:t>end</a:t>
            </a:r>
          </a:p>
        </p:txBody>
      </p:sp>
      <p:cxnSp>
        <p:nvCxnSpPr>
          <p:cNvPr id="5" name="直線矢印コネクタ 4"/>
          <p:cNvCxnSpPr/>
          <p:nvPr/>
        </p:nvCxnSpPr>
        <p:spPr>
          <a:xfrm rot="5400000">
            <a:off x="6609013" y="2190171"/>
            <a:ext cx="571504" cy="794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6952158" y="1618270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201878" y="3394359"/>
            <a:ext cx="94128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y := x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505281" y="3476452"/>
            <a:ext cx="138531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y := x+2</a:t>
            </a:r>
          </a:p>
        </p:txBody>
      </p:sp>
      <p:cxnSp>
        <p:nvCxnSpPr>
          <p:cNvPr id="12" name="図形 11"/>
          <p:cNvCxnSpPr/>
          <p:nvPr/>
        </p:nvCxnSpPr>
        <p:spPr>
          <a:xfrm rot="16200000" flipH="1">
            <a:off x="5983596" y="4516744"/>
            <a:ext cx="467029" cy="1111309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図形 18"/>
          <p:cNvCxnSpPr>
            <a:stCxn id="11" idx="2"/>
          </p:cNvCxnSpPr>
          <p:nvPr/>
        </p:nvCxnSpPr>
        <p:spPr>
          <a:xfrm rot="5400000">
            <a:off x="6782537" y="3890510"/>
            <a:ext cx="1306241" cy="152456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 rot="5400000">
            <a:off x="6631520" y="5591654"/>
            <a:ext cx="57148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5926811" y="246267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1</a:t>
            </a:r>
            <a:endParaRPr kumimoji="1" lang="ja-JP" altLang="en-US" sz="28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7387181" y="244902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4</a:t>
            </a:r>
            <a:endParaRPr kumimoji="1" lang="ja-JP" altLang="en-US" sz="2800" dirty="0"/>
          </a:p>
        </p:txBody>
      </p:sp>
      <p:cxnSp>
        <p:nvCxnSpPr>
          <p:cNvPr id="17" name="直線矢印コネクタ 16"/>
          <p:cNvCxnSpPr/>
          <p:nvPr/>
        </p:nvCxnSpPr>
        <p:spPr>
          <a:xfrm rot="5400000">
            <a:off x="5422354" y="4152367"/>
            <a:ext cx="500066" cy="7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5073190" y="4294970"/>
            <a:ext cx="1207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0 </a:t>
            </a:r>
          </a:p>
        </p:txBody>
      </p:sp>
      <p:sp>
        <p:nvSpPr>
          <p:cNvPr id="19" name="円/楕円 18"/>
          <p:cNvSpPr/>
          <p:nvPr/>
        </p:nvSpPr>
        <p:spPr>
          <a:xfrm>
            <a:off x="6381711" y="2523450"/>
            <a:ext cx="1009935" cy="75062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</a:rPr>
              <a:t>x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1" name="直線矢印コネクタ 20"/>
          <p:cNvCxnSpPr>
            <a:stCxn id="19" idx="4"/>
          </p:cNvCxnSpPr>
          <p:nvPr/>
        </p:nvCxnSpPr>
        <p:spPr>
          <a:xfrm rot="16200000" flipH="1">
            <a:off x="6579605" y="3581149"/>
            <a:ext cx="614153" cy="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19" idx="2"/>
          </p:cNvCxnSpPr>
          <p:nvPr/>
        </p:nvCxnSpPr>
        <p:spPr>
          <a:xfrm flipH="1">
            <a:off x="5670054" y="2898763"/>
            <a:ext cx="711657" cy="6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 rot="5400000">
            <a:off x="5371854" y="3197940"/>
            <a:ext cx="584511" cy="118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/>
          <p:cNvSpPr txBox="1"/>
          <p:nvPr/>
        </p:nvSpPr>
        <p:spPr>
          <a:xfrm>
            <a:off x="6572502" y="317462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2</a:t>
            </a:r>
            <a:endParaRPr kumimoji="1" lang="ja-JP" altLang="en-US" sz="2800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6251529" y="3900105"/>
            <a:ext cx="1300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y:= x+1 </a:t>
            </a:r>
          </a:p>
        </p:txBody>
      </p:sp>
      <p:cxnSp>
        <p:nvCxnSpPr>
          <p:cNvPr id="38" name="直線コネクタ 37"/>
          <p:cNvCxnSpPr/>
          <p:nvPr/>
        </p:nvCxnSpPr>
        <p:spPr>
          <a:xfrm rot="16200000" flipH="1">
            <a:off x="6490893" y="4898161"/>
            <a:ext cx="84616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19" idx="6"/>
          </p:cNvCxnSpPr>
          <p:nvPr/>
        </p:nvCxnSpPr>
        <p:spPr>
          <a:xfrm>
            <a:off x="7391646" y="2898763"/>
            <a:ext cx="806487" cy="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>
            <a:endCxn id="11" idx="0"/>
          </p:cNvCxnSpPr>
          <p:nvPr/>
        </p:nvCxnSpPr>
        <p:spPr>
          <a:xfrm flipH="1">
            <a:off x="8197939" y="2905587"/>
            <a:ext cx="2254" cy="5708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6959761" y="5689590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26" name="角丸四角形 25"/>
          <p:cNvSpPr/>
          <p:nvPr/>
        </p:nvSpPr>
        <p:spPr>
          <a:xfrm>
            <a:off x="5156152" y="3319528"/>
            <a:ext cx="994508" cy="1623859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角丸四角形 27"/>
          <p:cNvSpPr/>
          <p:nvPr/>
        </p:nvSpPr>
        <p:spPr>
          <a:xfrm>
            <a:off x="6281686" y="3650501"/>
            <a:ext cx="1270026" cy="1019099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" name="角丸四角形 33"/>
          <p:cNvSpPr/>
          <p:nvPr/>
        </p:nvSpPr>
        <p:spPr>
          <a:xfrm>
            <a:off x="7627761" y="3293353"/>
            <a:ext cx="1201883" cy="912329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4981239" y="2213117"/>
            <a:ext cx="4000204" cy="331587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Exercise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98938" y="1501252"/>
            <a:ext cx="7437398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r>
              <a:rPr lang="en-US" altLang="ja-JP" sz="2800" dirty="0"/>
              <a:t>y := 3;</a:t>
            </a:r>
          </a:p>
          <a:p>
            <a:r>
              <a:rPr lang="en-US" altLang="ja-JP" sz="2800" b="1" dirty="0"/>
              <a:t>case</a:t>
            </a:r>
            <a:r>
              <a:rPr lang="en-US" altLang="ja-JP" sz="2800" dirty="0"/>
              <a:t> x </a:t>
            </a:r>
            <a:r>
              <a:rPr lang="en-US" altLang="ja-JP" sz="2800" b="1" dirty="0"/>
              <a:t>of</a:t>
            </a:r>
          </a:p>
          <a:p>
            <a:r>
              <a:rPr lang="en-US" altLang="ja-JP" sz="2800" dirty="0"/>
              <a:t>    1 : y := 1;</a:t>
            </a:r>
          </a:p>
          <a:p>
            <a:r>
              <a:rPr lang="en-US" altLang="ja-JP" sz="2800" dirty="0"/>
              <a:t>    2 : y := x * 2;</a:t>
            </a:r>
          </a:p>
          <a:p>
            <a:r>
              <a:rPr lang="en-US" altLang="ja-JP" sz="2800" dirty="0"/>
              <a:t>    3 :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z = 0 </a:t>
            </a:r>
            <a:r>
              <a:rPr lang="en-US" altLang="ja-JP" sz="2800" b="1" dirty="0"/>
              <a:t>then</a:t>
            </a:r>
          </a:p>
          <a:p>
            <a:r>
              <a:rPr lang="en-US" altLang="ja-JP" sz="2800" dirty="0"/>
              <a:t>              y := y * y</a:t>
            </a:r>
          </a:p>
          <a:p>
            <a:r>
              <a:rPr lang="en-US" altLang="ja-JP" sz="2800" dirty="0"/>
              <a:t>         </a:t>
            </a:r>
            <a:r>
              <a:rPr lang="en-US" altLang="ja-JP" sz="2800" b="1" dirty="0"/>
              <a:t>else</a:t>
            </a:r>
            <a:r>
              <a:rPr lang="en-US" altLang="ja-JP" sz="2800" dirty="0"/>
              <a:t> </a:t>
            </a:r>
          </a:p>
          <a:p>
            <a:r>
              <a:rPr lang="en-US" altLang="ja-JP" sz="2800" dirty="0"/>
              <a:t>              y := y * y * y</a:t>
            </a:r>
          </a:p>
          <a:p>
            <a:r>
              <a:rPr lang="en-US" altLang="ja-JP" sz="2800" b="1" dirty="0"/>
              <a:t>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/>
              <a:t>Handling special cases in loops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82638" y="1460310"/>
            <a:ext cx="7451678" cy="3108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B</a:t>
            </a:r>
            <a:r>
              <a:rPr kumimoji="1" lang="en-US" altLang="ja-JP" sz="2800" dirty="0"/>
              <a:t>reak</a:t>
            </a:r>
            <a:r>
              <a:rPr lang="en-US" altLang="ja-JP" sz="2800" dirty="0"/>
              <a:t> and </a:t>
            </a:r>
            <a:r>
              <a:rPr kumimoji="1" lang="en-US" altLang="ja-JP" sz="2800" dirty="0"/>
              <a:t>continue</a:t>
            </a:r>
            <a:r>
              <a:rPr lang="en-US" altLang="ja-JP" sz="2800" dirty="0"/>
              <a:t> statements (in C)</a:t>
            </a:r>
            <a:endParaRPr kumimoji="1" lang="en-US" altLang="ja-JP" sz="2800" dirty="0"/>
          </a:p>
          <a:p>
            <a:r>
              <a:rPr lang="en-US" altLang="ja-JP" sz="2800" dirty="0"/>
              <a:t>A </a:t>
            </a:r>
            <a:r>
              <a:rPr lang="en-US" altLang="ja-JP" sz="2800" b="1" dirty="0"/>
              <a:t>b</a:t>
            </a:r>
            <a:r>
              <a:rPr kumimoji="1" lang="en-US" altLang="ja-JP" sz="2800" b="1" dirty="0"/>
              <a:t>reak</a:t>
            </a:r>
            <a:r>
              <a:rPr kumimoji="1" lang="en-US" altLang="ja-JP" sz="2800" dirty="0"/>
              <a:t> statement sends control out of the inner-most enclosing loop to the statement following the loop.</a:t>
            </a:r>
          </a:p>
          <a:p>
            <a:r>
              <a:rPr lang="en-US" altLang="ja-JP" sz="2800" dirty="0"/>
              <a:t>A</a:t>
            </a:r>
            <a:r>
              <a:rPr kumimoji="1" lang="en-US" altLang="ja-JP" sz="2800" dirty="0"/>
              <a:t> </a:t>
            </a:r>
            <a:r>
              <a:rPr lang="en-US" altLang="ja-JP" sz="2800" b="1" dirty="0"/>
              <a:t>continue</a:t>
            </a:r>
            <a:r>
              <a:rPr lang="en-US" altLang="ja-JP" sz="2800" dirty="0"/>
              <a:t> statement repeats the inner-most enclosing loop by sending control to the beginning of the loop. 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An example using a break statement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04968" y="1378423"/>
            <a:ext cx="241284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x=5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break</a:t>
            </a:r>
            <a:r>
              <a:rPr kumimoji="1" lang="en-US" altLang="ja-JP" sz="2800" dirty="0"/>
              <a:t>;</a:t>
            </a:r>
            <a:endParaRPr lang="en-US" altLang="ja-JP" sz="2800" b="1" dirty="0"/>
          </a:p>
          <a:p>
            <a:r>
              <a:rPr kumimoji="1" lang="en-US" altLang="ja-JP" sz="2800" dirty="0"/>
              <a:t>        x := x-1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  <p:cxnSp>
        <p:nvCxnSpPr>
          <p:cNvPr id="5" name="直線矢印コネクタ 4"/>
          <p:cNvCxnSpPr/>
          <p:nvPr/>
        </p:nvCxnSpPr>
        <p:spPr>
          <a:xfrm rot="5400000">
            <a:off x="6054134" y="2064688"/>
            <a:ext cx="962805" cy="5958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6562846" y="1296585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7" name="ひし形 6"/>
          <p:cNvSpPr/>
          <p:nvPr/>
        </p:nvSpPr>
        <p:spPr>
          <a:xfrm>
            <a:off x="5818177" y="254907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図形 7"/>
          <p:cNvCxnSpPr>
            <a:stCxn id="7" idx="1"/>
          </p:cNvCxnSpPr>
          <p:nvPr/>
        </p:nvCxnSpPr>
        <p:spPr>
          <a:xfrm rot="10800000" flipV="1">
            <a:off x="5389549" y="2906260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>
            <a:off x="7875995" y="2910097"/>
            <a:ext cx="2736" cy="3676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7914175" y="6106884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482166" y="2439889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180185" y="2430722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719396" y="4980930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sp>
        <p:nvSpPr>
          <p:cNvPr id="20" name="ひし形 19"/>
          <p:cNvSpPr/>
          <p:nvPr/>
        </p:nvSpPr>
        <p:spPr>
          <a:xfrm>
            <a:off x="4687688" y="356128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x=5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3" name="直線コネクタ 22"/>
          <p:cNvCxnSpPr>
            <a:stCxn id="20" idx="3"/>
          </p:cNvCxnSpPr>
          <p:nvPr/>
        </p:nvCxnSpPr>
        <p:spPr>
          <a:xfrm>
            <a:off x="6116448" y="3918470"/>
            <a:ext cx="1759547" cy="156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6043996" y="3473349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26" name="直線コネクタ 25"/>
          <p:cNvCxnSpPr/>
          <p:nvPr/>
        </p:nvCxnSpPr>
        <p:spPr>
          <a:xfrm rot="10800000">
            <a:off x="7261847" y="291009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>
            <a:stCxn id="20" idx="2"/>
            <a:endCxn id="19" idx="0"/>
          </p:cNvCxnSpPr>
          <p:nvPr/>
        </p:nvCxnSpPr>
        <p:spPr>
          <a:xfrm>
            <a:off x="5402068" y="4275660"/>
            <a:ext cx="13192" cy="705270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 rot="16200000" flipH="1">
            <a:off x="2153034" y="4038310"/>
            <a:ext cx="3764509" cy="1137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>
            <a:stCxn id="19" idx="2"/>
          </p:cNvCxnSpPr>
          <p:nvPr/>
        </p:nvCxnSpPr>
        <p:spPr>
          <a:xfrm>
            <a:off x="5415260" y="5504150"/>
            <a:ext cx="7068" cy="412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4040974" y="5912605"/>
            <a:ext cx="1380699" cy="2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 flipV="1">
            <a:off x="4044263" y="2159471"/>
            <a:ext cx="2507900" cy="71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491322" y="4071160"/>
            <a:ext cx="26340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The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statement is single entry/ two exits but the 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 statement is single entry / single exit.</a:t>
            </a:r>
            <a:endParaRPr kumimoji="1" lang="en-US" altLang="ja-JP" sz="2800" dirty="0"/>
          </a:p>
        </p:txBody>
      </p:sp>
      <p:sp>
        <p:nvSpPr>
          <p:cNvPr id="42" name="角丸四角形 41"/>
          <p:cNvSpPr/>
          <p:nvPr/>
        </p:nvSpPr>
        <p:spPr>
          <a:xfrm>
            <a:off x="4545943" y="3319529"/>
            <a:ext cx="1992572" cy="1323834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5379392" y="4154173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25" name="角丸四角形 24"/>
          <p:cNvSpPr/>
          <p:nvPr/>
        </p:nvSpPr>
        <p:spPr>
          <a:xfrm>
            <a:off x="3483066" y="1901302"/>
            <a:ext cx="4874772" cy="4243709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Exercise 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0080" y="1760560"/>
            <a:ext cx="80763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break;</a:t>
            </a:r>
            <a:endParaRPr lang="en-US" altLang="ja-JP" sz="2800" b="1" dirty="0"/>
          </a:p>
          <a:p>
            <a:r>
              <a:rPr kumimoji="1" lang="en-US" altLang="ja-JP" sz="2800" dirty="0"/>
              <a:t>        y := y + 1;</a:t>
            </a:r>
          </a:p>
          <a:p>
            <a:r>
              <a:rPr kumimoji="1" lang="en-US" altLang="ja-JP" sz="2800" dirty="0"/>
              <a:t>        x := x - 1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40986" cy="828543"/>
          </a:xfrm>
        </p:spPr>
        <p:txBody>
          <a:bodyPr/>
          <a:lstStyle/>
          <a:p>
            <a:r>
              <a:rPr kumimoji="1" lang="en-US" altLang="ja-JP" dirty="0"/>
              <a:t>Exercise 4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58193" y="1061512"/>
            <a:ext cx="7819264" cy="569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        </a:t>
            </a:r>
            <a:r>
              <a:rPr kumimoji="1" lang="en-US" altLang="ja-JP" sz="2800" b="1" dirty="0"/>
              <a:t>break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z := z + 1;</a:t>
            </a:r>
          </a:p>
          <a:p>
            <a:r>
              <a:rPr kumimoji="1" lang="en-US" altLang="ja-JP" sz="2800" dirty="0"/>
              <a:t>              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93055" y="274638"/>
            <a:ext cx="8548886" cy="789887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An example using a continue statement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86855" y="1105466"/>
            <a:ext cx="277524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ja-JP" altLang="en-US" sz="2800" dirty="0"/>
              <a:t>    </a:t>
            </a:r>
            <a:r>
              <a:rPr lang="en-US" altLang="ja-JP" sz="2800" dirty="0"/>
              <a:t>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 </a:t>
            </a:r>
            <a:r>
              <a:rPr lang="en-US" altLang="ja-JP" sz="2800" dirty="0">
                <a:sym typeface="Symbol"/>
              </a:rPr>
              <a:t> </a:t>
            </a:r>
            <a:r>
              <a:rPr lang="en-US" altLang="ja-JP" sz="2800" dirty="0"/>
              <a:t>8 </a:t>
            </a:r>
            <a:r>
              <a:rPr lang="en-US" altLang="ja-JP" sz="2800" b="1" dirty="0"/>
              <a:t>then</a:t>
            </a:r>
          </a:p>
          <a:p>
            <a:r>
              <a:rPr lang="en-US" altLang="ja-JP" sz="2800" b="1" dirty="0"/>
              <a:t>            begin</a:t>
            </a:r>
          </a:p>
          <a:p>
            <a:r>
              <a:rPr kumimoji="1" lang="en-US" altLang="ja-JP" sz="2800" dirty="0"/>
              <a:t>                x := x-1;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continue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end;</a:t>
            </a:r>
            <a:endParaRPr lang="en-US" altLang="ja-JP" sz="2800" b="1" dirty="0"/>
          </a:p>
          <a:p>
            <a:r>
              <a:rPr kumimoji="1" lang="en-US" altLang="ja-JP" sz="2800" dirty="0"/>
              <a:t>        x := x-5</a:t>
            </a:r>
            <a:endParaRPr lang="en-US" altLang="ja-JP" sz="2800" dirty="0"/>
          </a:p>
          <a:p>
            <a:r>
              <a:rPr kumimoji="1" lang="en-US" altLang="ja-JP" sz="2800" dirty="0"/>
              <a:t>   </a:t>
            </a:r>
            <a:r>
              <a:rPr kumimoji="1" lang="en-US" altLang="ja-JP" sz="2800" b="1" dirty="0"/>
              <a:t> end</a:t>
            </a:r>
          </a:p>
        </p:txBody>
      </p:sp>
      <p:cxnSp>
        <p:nvCxnSpPr>
          <p:cNvPr id="5" name="直線矢印コネクタ 4"/>
          <p:cNvCxnSpPr/>
          <p:nvPr/>
        </p:nvCxnSpPr>
        <p:spPr>
          <a:xfrm rot="5400000">
            <a:off x="6801445" y="1973428"/>
            <a:ext cx="962805" cy="5958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7296714" y="1258565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7" name="ひし形 6"/>
          <p:cNvSpPr/>
          <p:nvPr/>
        </p:nvSpPr>
        <p:spPr>
          <a:xfrm>
            <a:off x="6565488" y="245781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図形 7"/>
          <p:cNvCxnSpPr>
            <a:stCxn id="7" idx="1"/>
          </p:cNvCxnSpPr>
          <p:nvPr/>
        </p:nvCxnSpPr>
        <p:spPr>
          <a:xfrm rot="10800000" flipV="1">
            <a:off x="6136860" y="2815000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 rot="5400000">
            <a:off x="6719436" y="4722690"/>
            <a:ext cx="3807729" cy="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7840404" y="6141144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240311" y="2349446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949287" y="2337438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5515256" y="4739128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sp>
        <p:nvSpPr>
          <p:cNvPr id="20" name="ひし形 19"/>
          <p:cNvSpPr/>
          <p:nvPr/>
        </p:nvSpPr>
        <p:spPr>
          <a:xfrm>
            <a:off x="5434999" y="3470020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</a:t>
            </a:r>
            <a:r>
              <a:rPr lang="en-US" altLang="ja-JP" sz="2800" dirty="0">
                <a:solidFill>
                  <a:schemeClr val="tx1"/>
                </a:solidFill>
                <a:sym typeface="Symbol"/>
              </a:rPr>
              <a:t></a:t>
            </a:r>
            <a:r>
              <a:rPr lang="en-US" altLang="ja-JP" sz="2800" dirty="0">
                <a:solidFill>
                  <a:schemeClr val="tx1"/>
                </a:solidFill>
              </a:rPr>
              <a:t>8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3" name="直線コネクタ 22"/>
          <p:cNvCxnSpPr>
            <a:stCxn id="20" idx="3"/>
          </p:cNvCxnSpPr>
          <p:nvPr/>
        </p:nvCxnSpPr>
        <p:spPr>
          <a:xfrm>
            <a:off x="6863759" y="3827210"/>
            <a:ext cx="1036216" cy="1562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6123027" y="407052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26" name="直線コネクタ 25"/>
          <p:cNvCxnSpPr/>
          <p:nvPr/>
        </p:nvCxnSpPr>
        <p:spPr>
          <a:xfrm rot="10800000">
            <a:off x="8009158" y="2818837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>
            <a:stCxn id="20" idx="2"/>
          </p:cNvCxnSpPr>
          <p:nvPr/>
        </p:nvCxnSpPr>
        <p:spPr>
          <a:xfrm rot="16200000" flipH="1">
            <a:off x="5858187" y="4475591"/>
            <a:ext cx="586067" cy="368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 rot="16200000" flipH="1">
            <a:off x="2900345" y="3939445"/>
            <a:ext cx="3764509" cy="1137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 rot="16200000" flipH="1">
            <a:off x="5860461" y="5515096"/>
            <a:ext cx="586067" cy="368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4788285" y="5821345"/>
            <a:ext cx="3125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 flipV="1">
            <a:off x="4783969" y="2068211"/>
            <a:ext cx="2507900" cy="71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角丸四角形 41"/>
          <p:cNvSpPr/>
          <p:nvPr/>
        </p:nvSpPr>
        <p:spPr>
          <a:xfrm>
            <a:off x="5293254" y="3228269"/>
            <a:ext cx="1937981" cy="2197291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6789863" y="3350466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29" name="直線コネクタ 28"/>
          <p:cNvCxnSpPr/>
          <p:nvPr/>
        </p:nvCxnSpPr>
        <p:spPr>
          <a:xfrm rot="5400000">
            <a:off x="7572429" y="4156318"/>
            <a:ext cx="655092" cy="0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7308841" y="4411791"/>
            <a:ext cx="1228221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ja-JP" sz="2800" dirty="0"/>
              <a:t>x := x-5</a:t>
            </a:r>
            <a:endParaRPr lang="ja-JP" altLang="en-US" sz="2800" dirty="0"/>
          </a:p>
        </p:txBody>
      </p:sp>
      <p:cxnSp>
        <p:nvCxnSpPr>
          <p:cNvPr id="33" name="直線コネクタ 32"/>
          <p:cNvCxnSpPr/>
          <p:nvPr/>
        </p:nvCxnSpPr>
        <p:spPr>
          <a:xfrm rot="5400000">
            <a:off x="7419520" y="5326616"/>
            <a:ext cx="988832" cy="62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角丸四角形 31"/>
          <p:cNvSpPr/>
          <p:nvPr/>
        </p:nvSpPr>
        <p:spPr>
          <a:xfrm>
            <a:off x="4403267" y="1832858"/>
            <a:ext cx="4547760" cy="4243708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359039" y="4957557"/>
            <a:ext cx="3847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The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statement is single entry/ two exits but the 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 statement is single entry / single exit.</a:t>
            </a:r>
            <a:endParaRPr kumimoji="1" lang="en-US" altLang="ja-JP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7538" y="118726"/>
            <a:ext cx="2214545" cy="723331"/>
          </a:xfrm>
        </p:spPr>
        <p:txBody>
          <a:bodyPr>
            <a:normAutofit fontScale="90000"/>
          </a:bodyPr>
          <a:lstStyle/>
          <a:p>
            <a:r>
              <a:rPr lang="en-US" altLang="ja-JP" sz="4000" dirty="0"/>
              <a:t>Exercise 5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13125" y="238222"/>
            <a:ext cx="6197883" cy="655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</a:t>
            </a:r>
            <a:r>
              <a:rPr lang="en-US" altLang="ja-JP" sz="2800" dirty="0">
                <a:sym typeface="Symbol"/>
              </a:rPr>
              <a:t></a:t>
            </a:r>
            <a:r>
              <a:rPr lang="en-US" altLang="ja-JP" sz="2800" dirty="0"/>
              <a:t>3 </a:t>
            </a:r>
            <a:r>
              <a:rPr lang="en-US" altLang="ja-JP" sz="2800" b="1" dirty="0"/>
              <a:t>then</a:t>
            </a:r>
          </a:p>
          <a:p>
            <a:r>
              <a:rPr lang="en-US" altLang="ja-JP" sz="2800" b="1" dirty="0"/>
              <a:t>                    begin</a:t>
            </a:r>
          </a:p>
          <a:p>
            <a:r>
              <a:rPr lang="en-US" altLang="ja-JP" sz="2800" b="1" dirty="0"/>
              <a:t>                        </a:t>
            </a:r>
            <a:r>
              <a:rPr lang="en-US" altLang="ja-JP" sz="2800" dirty="0"/>
              <a:t>y := y – 1;</a:t>
            </a:r>
          </a:p>
          <a:p>
            <a:r>
              <a:rPr kumimoji="1" lang="en-US" altLang="ja-JP" sz="2800" dirty="0"/>
              <a:t>                        </a:t>
            </a:r>
            <a:r>
              <a:rPr kumimoji="1" lang="en-US" altLang="ja-JP" sz="2800" b="1" dirty="0"/>
              <a:t>continue</a:t>
            </a:r>
          </a:p>
          <a:p>
            <a:r>
              <a:rPr lang="en-US" altLang="ja-JP" sz="2800" b="1" dirty="0"/>
              <a:t>                    end</a:t>
            </a:r>
            <a:endParaRPr kumimoji="1" lang="en-US" altLang="ja-JP" sz="2800" dirty="0"/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z := z + 1;</a:t>
            </a:r>
            <a:r>
              <a:rPr kumimoji="1" lang="en-US" altLang="ja-JP" sz="2800" dirty="0"/>
              <a:t>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16257" y="192751"/>
            <a:ext cx="3714740" cy="639762"/>
          </a:xfrm>
        </p:spPr>
        <p:txBody>
          <a:bodyPr>
            <a:normAutofit fontScale="90000"/>
          </a:bodyPr>
          <a:lstStyle/>
          <a:p>
            <a:r>
              <a:rPr lang="en-US" altLang="ja-JP" b="1" dirty="0" err="1"/>
              <a:t>g</a:t>
            </a:r>
            <a:r>
              <a:rPr kumimoji="1" lang="en-US" altLang="ja-JP" b="1" dirty="0" err="1"/>
              <a:t>oto</a:t>
            </a:r>
            <a:r>
              <a:rPr kumimoji="1" lang="en-US" altLang="ja-JP" dirty="0"/>
              <a:t> statements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68936" y="1024401"/>
            <a:ext cx="3405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err="1"/>
              <a:t>g</a:t>
            </a:r>
            <a:r>
              <a:rPr kumimoji="1" lang="en-US" altLang="ja-JP" sz="2800" b="1" dirty="0" err="1"/>
              <a:t>oto</a:t>
            </a:r>
            <a:r>
              <a:rPr kumimoji="1" lang="en-US" altLang="ja-JP" sz="2800" dirty="0"/>
              <a:t> statements has the following form.</a:t>
            </a:r>
          </a:p>
          <a:p>
            <a:r>
              <a:rPr lang="en-US" altLang="ja-JP" sz="2800" b="1" dirty="0"/>
              <a:t>    </a:t>
            </a:r>
            <a:r>
              <a:rPr lang="en-US" altLang="ja-JP" sz="2800" b="1" dirty="0" err="1"/>
              <a:t>goto</a:t>
            </a:r>
            <a:r>
              <a:rPr lang="en-US" altLang="ja-JP" sz="2800" b="1" dirty="0"/>
              <a:t> </a:t>
            </a:r>
            <a:r>
              <a:rPr lang="en-US" altLang="ja-JP" sz="2800" i="1" dirty="0"/>
              <a:t>label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55092" y="5745711"/>
            <a:ext cx="609305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Now the 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 statement as well as the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statement is single entry / two exits. </a:t>
            </a:r>
            <a:endParaRPr kumimoji="1" lang="ja-JP" altLang="en-US" sz="2800" dirty="0"/>
          </a:p>
        </p:txBody>
      </p:sp>
      <p:cxnSp>
        <p:nvCxnSpPr>
          <p:cNvPr id="27" name="直線矢印コネクタ 26"/>
          <p:cNvCxnSpPr/>
          <p:nvPr/>
        </p:nvCxnSpPr>
        <p:spPr>
          <a:xfrm rot="16200000" flipH="1">
            <a:off x="6878472" y="859811"/>
            <a:ext cx="627798" cy="2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7230574" y="364054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29" name="ひし形 28"/>
          <p:cNvSpPr/>
          <p:nvPr/>
        </p:nvSpPr>
        <p:spPr>
          <a:xfrm>
            <a:off x="6458403" y="213650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30" name="図形 29"/>
          <p:cNvCxnSpPr>
            <a:stCxn id="29" idx="1"/>
          </p:cNvCxnSpPr>
          <p:nvPr/>
        </p:nvCxnSpPr>
        <p:spPr>
          <a:xfrm rot="10800000" flipV="1">
            <a:off x="6029775" y="2493696"/>
            <a:ext cx="428628" cy="642942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 rot="5400000">
            <a:off x="6612351" y="4401386"/>
            <a:ext cx="3807729" cy="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/>
          <p:cNvSpPr txBox="1"/>
          <p:nvPr/>
        </p:nvSpPr>
        <p:spPr>
          <a:xfrm>
            <a:off x="7708479" y="5945131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6094739" y="2027322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825279" y="2003307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380875" y="4294992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:= x-1</a:t>
            </a:r>
          </a:p>
        </p:txBody>
      </p:sp>
      <p:sp>
        <p:nvSpPr>
          <p:cNvPr id="36" name="ひし形 35"/>
          <p:cNvSpPr/>
          <p:nvPr/>
        </p:nvSpPr>
        <p:spPr>
          <a:xfrm>
            <a:off x="5327914" y="3148716"/>
            <a:ext cx="1428760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  <a:sym typeface="Symbol"/>
              </a:rPr>
              <a:t>x=8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37" name="直線コネクタ 36"/>
          <p:cNvCxnSpPr>
            <a:stCxn id="36" idx="3"/>
          </p:cNvCxnSpPr>
          <p:nvPr/>
        </p:nvCxnSpPr>
        <p:spPr>
          <a:xfrm>
            <a:off x="6756674" y="3505906"/>
            <a:ext cx="1036216" cy="1562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/>
          <p:cNvSpPr txBox="1"/>
          <p:nvPr/>
        </p:nvSpPr>
        <p:spPr>
          <a:xfrm>
            <a:off x="6066439" y="3686716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39" name="直線コネクタ 38"/>
          <p:cNvCxnSpPr/>
          <p:nvPr/>
        </p:nvCxnSpPr>
        <p:spPr>
          <a:xfrm rot="10800000">
            <a:off x="7902073" y="249753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>
            <a:stCxn id="36" idx="2"/>
          </p:cNvCxnSpPr>
          <p:nvPr/>
        </p:nvCxnSpPr>
        <p:spPr>
          <a:xfrm rot="16200000" flipH="1">
            <a:off x="5785207" y="4120183"/>
            <a:ext cx="517839" cy="366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/>
          <p:cNvCxnSpPr/>
          <p:nvPr/>
        </p:nvCxnSpPr>
        <p:spPr>
          <a:xfrm>
            <a:off x="4772456" y="1924152"/>
            <a:ext cx="17911" cy="315281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 rot="16200000" flipH="1">
            <a:off x="5870967" y="4894654"/>
            <a:ext cx="370062" cy="3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 flipV="1">
            <a:off x="4790364" y="5076963"/>
            <a:ext cx="1269242" cy="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/>
        </p:nvCxnSpPr>
        <p:spPr>
          <a:xfrm flipV="1">
            <a:off x="3998794" y="928049"/>
            <a:ext cx="3166283" cy="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/>
          <p:cNvSpPr txBox="1"/>
          <p:nvPr/>
        </p:nvSpPr>
        <p:spPr>
          <a:xfrm>
            <a:off x="6709255" y="304035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49" name="直線コネクタ 48"/>
          <p:cNvCxnSpPr/>
          <p:nvPr/>
        </p:nvCxnSpPr>
        <p:spPr>
          <a:xfrm rot="16200000" flipH="1">
            <a:off x="6810249" y="4503751"/>
            <a:ext cx="1992560" cy="20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/>
          <p:cNvSpPr/>
          <p:nvPr/>
        </p:nvSpPr>
        <p:spPr>
          <a:xfrm>
            <a:off x="6474485" y="1074337"/>
            <a:ext cx="1391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x := x - 4</a:t>
            </a:r>
            <a:endParaRPr lang="ja-JP" altLang="en-US" sz="2800" dirty="0"/>
          </a:p>
        </p:txBody>
      </p:sp>
      <p:cxnSp>
        <p:nvCxnSpPr>
          <p:cNvPr id="53" name="直線コネクタ 52"/>
          <p:cNvCxnSpPr>
            <a:stCxn id="52" idx="2"/>
            <a:endCxn id="29" idx="0"/>
          </p:cNvCxnSpPr>
          <p:nvPr/>
        </p:nvCxnSpPr>
        <p:spPr>
          <a:xfrm rot="16200000" flipH="1">
            <a:off x="6902092" y="1865814"/>
            <a:ext cx="538949" cy="243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>
            <a:off x="4776716" y="1921878"/>
            <a:ext cx="2404284" cy="227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/>
          <p:cNvCxnSpPr/>
          <p:nvPr/>
        </p:nvCxnSpPr>
        <p:spPr>
          <a:xfrm>
            <a:off x="3985146" y="5500051"/>
            <a:ext cx="38350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/>
          <p:nvPr/>
        </p:nvCxnSpPr>
        <p:spPr>
          <a:xfrm rot="5400000">
            <a:off x="1705978" y="3209498"/>
            <a:ext cx="4574259" cy="1136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角丸四角形 93"/>
          <p:cNvSpPr/>
          <p:nvPr/>
        </p:nvSpPr>
        <p:spPr>
          <a:xfrm>
            <a:off x="4339988" y="1744564"/>
            <a:ext cx="3896347" cy="3501957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580030" y="2454281"/>
            <a:ext cx="243612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(ex.)</a:t>
            </a:r>
          </a:p>
          <a:p>
            <a:r>
              <a:rPr lang="en-US" altLang="ja-JP" sz="2800" dirty="0"/>
              <a:t>   L:  x := x - 4;</a:t>
            </a:r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dirty="0"/>
              <a:t>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x=8 </a:t>
            </a:r>
            <a:r>
              <a:rPr lang="en-US" altLang="ja-JP" sz="2800" b="1" dirty="0"/>
              <a:t>then</a:t>
            </a:r>
          </a:p>
          <a:p>
            <a:r>
              <a:rPr lang="en-US" altLang="ja-JP" sz="2800" dirty="0"/>
              <a:t>           </a:t>
            </a:r>
            <a:r>
              <a:rPr lang="en-US" altLang="ja-JP" sz="2800" b="1" dirty="0" err="1"/>
              <a:t>goto</a:t>
            </a:r>
            <a:r>
              <a:rPr lang="en-US" altLang="ja-JP" sz="2800" dirty="0"/>
              <a:t> L</a:t>
            </a:r>
          </a:p>
          <a:p>
            <a:r>
              <a:rPr lang="en-US" altLang="ja-JP" sz="2800" b="1" dirty="0"/>
              <a:t>       else</a:t>
            </a:r>
          </a:p>
          <a:p>
            <a:r>
              <a:rPr lang="en-US" altLang="ja-JP" sz="2800" dirty="0"/>
              <a:t>           x := x-1</a:t>
            </a:r>
          </a:p>
        </p:txBody>
      </p:sp>
      <p:sp>
        <p:nvSpPr>
          <p:cNvPr id="45" name="角丸四角形 44"/>
          <p:cNvSpPr/>
          <p:nvPr/>
        </p:nvSpPr>
        <p:spPr>
          <a:xfrm>
            <a:off x="5203452" y="2886229"/>
            <a:ext cx="1891086" cy="2023004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Exercise 6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62264" y="1610434"/>
            <a:ext cx="7438218" cy="3539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Illustrate the control flow graph of the following program fragment.</a:t>
            </a:r>
          </a:p>
          <a:p>
            <a:r>
              <a:rPr lang="en-US" altLang="ja-JP" sz="2800" dirty="0"/>
              <a:t>x := 10;</a:t>
            </a:r>
          </a:p>
          <a:p>
            <a:r>
              <a:rPr lang="en-US" altLang="ja-JP" sz="2800" dirty="0"/>
              <a:t>sum := 0;</a:t>
            </a:r>
          </a:p>
          <a:p>
            <a:r>
              <a:rPr lang="en-US" altLang="ja-JP" sz="2800" dirty="0"/>
              <a:t>L:  sum := sum + x;</a:t>
            </a:r>
          </a:p>
          <a:p>
            <a:r>
              <a:rPr lang="en-US" altLang="ja-JP" sz="2800" dirty="0"/>
              <a:t>x := x – 1;</a:t>
            </a:r>
          </a:p>
          <a:p>
            <a:r>
              <a:rPr lang="en-US" altLang="ja-JP" sz="2800" dirty="0"/>
              <a:t>if x &gt; 0 then</a:t>
            </a:r>
          </a:p>
          <a:p>
            <a:r>
              <a:rPr lang="en-US" altLang="ja-JP" sz="2800" dirty="0"/>
              <a:t>    </a:t>
            </a:r>
            <a:r>
              <a:rPr lang="en-US" altLang="ja-JP" sz="2800" dirty="0" err="1"/>
              <a:t>goto</a:t>
            </a:r>
            <a:r>
              <a:rPr lang="en-US" altLang="ja-JP" sz="2800" dirty="0"/>
              <a:t> 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16258" y="97215"/>
            <a:ext cx="8229600" cy="65341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Exercise 7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86433" y="734037"/>
            <a:ext cx="8150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How many entries and exits do the two </a:t>
            </a:r>
            <a:r>
              <a:rPr kumimoji="1" lang="en-US" altLang="ja-JP" sz="2800" b="1" dirty="0"/>
              <a:t>if </a:t>
            </a:r>
            <a:r>
              <a:rPr kumimoji="1" lang="en-US" altLang="ja-JP" sz="2800" dirty="0"/>
              <a:t>statements have?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19369" y="1595021"/>
            <a:ext cx="49814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/>
              <a:t>while</a:t>
            </a:r>
            <a:r>
              <a:rPr lang="en-US" altLang="ja-JP" sz="2800" dirty="0"/>
              <a:t> x&gt;0 </a:t>
            </a:r>
            <a:r>
              <a:rPr lang="en-US" altLang="ja-JP" sz="2800" b="1" dirty="0"/>
              <a:t>do</a:t>
            </a:r>
          </a:p>
          <a:p>
            <a:r>
              <a:rPr lang="en-US" altLang="ja-JP" sz="2800" b="1" dirty="0"/>
              <a:t>    begin</a:t>
            </a:r>
          </a:p>
          <a:p>
            <a:r>
              <a:rPr lang="en-US" altLang="ja-JP" sz="2800" b="1" dirty="0"/>
              <a:t>        while </a:t>
            </a:r>
            <a:r>
              <a:rPr lang="en-US" altLang="ja-JP" sz="2800" dirty="0"/>
              <a:t>y&gt;0</a:t>
            </a:r>
            <a:r>
              <a:rPr lang="en-US" altLang="ja-JP" sz="2800" b="1" dirty="0"/>
              <a:t> do</a:t>
            </a:r>
          </a:p>
          <a:p>
            <a:r>
              <a:rPr lang="en-US" altLang="ja-JP" sz="2800" dirty="0"/>
              <a:t>            </a:t>
            </a:r>
            <a:r>
              <a:rPr lang="en-US" altLang="ja-JP" sz="2800" b="1" dirty="0"/>
              <a:t>begin</a:t>
            </a:r>
          </a:p>
          <a:p>
            <a:r>
              <a:rPr lang="en-US" altLang="ja-JP" sz="2800" dirty="0"/>
              <a:t>        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x=3 </a:t>
            </a:r>
            <a:r>
              <a:rPr lang="en-US" altLang="ja-JP" sz="2800" b="1" dirty="0"/>
              <a:t>then</a:t>
            </a:r>
          </a:p>
          <a:p>
            <a:r>
              <a:rPr kumimoji="1" lang="en-US" altLang="ja-JP" sz="2800" dirty="0"/>
              <a:t>                    </a:t>
            </a:r>
            <a:r>
              <a:rPr kumimoji="1" lang="en-US" altLang="ja-JP" sz="2800" b="1" dirty="0"/>
              <a:t>break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b="1" dirty="0"/>
              <a:t>                </a:t>
            </a:r>
            <a:r>
              <a:rPr lang="en-US" altLang="ja-JP" sz="2800" dirty="0"/>
              <a:t>L:</a:t>
            </a:r>
            <a:r>
              <a:rPr lang="en-US" altLang="ja-JP" sz="2800" b="1" dirty="0"/>
              <a:t>  </a:t>
            </a:r>
            <a:r>
              <a:rPr lang="en-US" altLang="ja-JP" sz="2800" dirty="0"/>
              <a:t>z := z + 1;</a:t>
            </a:r>
          </a:p>
          <a:p>
            <a:r>
              <a:rPr kumimoji="1" lang="en-US" altLang="ja-JP" sz="2800" dirty="0"/>
              <a:t>                y := y - 1</a:t>
            </a:r>
          </a:p>
          <a:p>
            <a:r>
              <a:rPr kumimoji="1" lang="en-US" altLang="ja-JP" sz="2800" dirty="0"/>
              <a:t>            </a:t>
            </a:r>
            <a:r>
              <a:rPr kumimoji="1" lang="en-US" altLang="ja-JP" sz="2800" b="1" dirty="0"/>
              <a:t>end</a:t>
            </a:r>
            <a:r>
              <a:rPr kumimoji="1" lang="en-US" altLang="ja-JP" sz="2800" dirty="0"/>
              <a:t>;</a:t>
            </a:r>
          </a:p>
          <a:p>
            <a:r>
              <a:rPr kumimoji="1" lang="en-US" altLang="ja-JP" sz="2800" dirty="0"/>
              <a:t>        x := x – 1;</a:t>
            </a:r>
          </a:p>
          <a:p>
            <a:r>
              <a:rPr lang="en-US" altLang="ja-JP" sz="2800" dirty="0"/>
              <a:t>       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x = 2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</a:t>
            </a:r>
            <a:r>
              <a:rPr lang="en-US" altLang="ja-JP" sz="2800" dirty="0" err="1"/>
              <a:t>goto</a:t>
            </a:r>
            <a:r>
              <a:rPr lang="en-US" altLang="ja-JP" sz="2800" dirty="0"/>
              <a:t> L</a:t>
            </a:r>
            <a:endParaRPr kumimoji="1" lang="en-US" altLang="ja-JP" sz="2800" dirty="0"/>
          </a:p>
          <a:p>
            <a:r>
              <a:rPr lang="en-US" altLang="ja-JP" sz="2800" dirty="0"/>
              <a:t>   </a:t>
            </a:r>
            <a:r>
              <a:rPr lang="en-US" altLang="ja-JP" sz="2800" b="1" dirty="0"/>
              <a:t> end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69066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return</a:t>
            </a:r>
            <a:r>
              <a:rPr kumimoji="1" lang="en-US" altLang="ja-JP" dirty="0"/>
              <a:t> statements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48276" y="1385733"/>
            <a:ext cx="7779224" cy="483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In Modula-2, </a:t>
            </a:r>
            <a:r>
              <a:rPr lang="en-US" altLang="ja-JP" sz="2800" b="1" dirty="0"/>
              <a:t>r</a:t>
            </a:r>
            <a:r>
              <a:rPr kumimoji="1" lang="en-US" altLang="ja-JP" sz="2800" b="1" dirty="0"/>
              <a:t>eturn</a:t>
            </a:r>
            <a:r>
              <a:rPr lang="en-US" altLang="ja-JP" sz="2800" dirty="0"/>
              <a:t> statements have either of the following forms.</a:t>
            </a:r>
            <a:endParaRPr kumimoji="1" lang="en-US" altLang="ja-JP" sz="2800" dirty="0"/>
          </a:p>
          <a:p>
            <a:r>
              <a:rPr lang="en-US" altLang="ja-JP" sz="2800" dirty="0"/>
              <a:t>    </a:t>
            </a:r>
            <a:r>
              <a:rPr lang="en-US" altLang="ja-JP" sz="2800" b="1" dirty="0"/>
              <a:t>return</a:t>
            </a:r>
            <a:endParaRPr lang="en-US" altLang="ja-JP" sz="2800" dirty="0"/>
          </a:p>
          <a:p>
            <a:r>
              <a:rPr lang="en-US" altLang="ja-JP" sz="2800" b="1" dirty="0"/>
              <a:t>    return</a:t>
            </a:r>
            <a:r>
              <a:rPr lang="en-US" altLang="ja-JP" sz="2800" dirty="0"/>
              <a:t> </a:t>
            </a:r>
            <a:r>
              <a:rPr lang="en-US" altLang="ja-JP" sz="2800" i="1" dirty="0"/>
              <a:t>E</a:t>
            </a:r>
          </a:p>
          <a:p>
            <a:r>
              <a:rPr lang="en-US" altLang="ja-JP" sz="2800" dirty="0"/>
              <a:t>(In C, they are </a:t>
            </a:r>
            <a:r>
              <a:rPr lang="en-US" altLang="ja-JP" sz="2800" b="1" dirty="0"/>
              <a:t>return</a:t>
            </a:r>
            <a:r>
              <a:rPr lang="en-US" altLang="ja-JP" sz="2800" dirty="0"/>
              <a:t>; or </a:t>
            </a:r>
            <a:r>
              <a:rPr lang="en-US" altLang="ja-JP" sz="2800" b="1" dirty="0"/>
              <a:t>return</a:t>
            </a:r>
            <a:r>
              <a:rPr lang="en-US" altLang="ja-JP" sz="2800" dirty="0"/>
              <a:t> </a:t>
            </a:r>
            <a:r>
              <a:rPr lang="en-US" altLang="ja-JP" sz="2800" i="1" dirty="0"/>
              <a:t>E</a:t>
            </a:r>
            <a:r>
              <a:rPr lang="en-US" altLang="ja-JP" sz="2800" dirty="0"/>
              <a:t>;.)</a:t>
            </a:r>
            <a:endParaRPr kumimoji="1" lang="en-US" altLang="ja-JP" sz="2800" dirty="0"/>
          </a:p>
          <a:p>
            <a:r>
              <a:rPr lang="en-US" altLang="ja-JP" sz="2800" dirty="0"/>
              <a:t>A </a:t>
            </a:r>
            <a:r>
              <a:rPr lang="en-US" altLang="ja-JP" sz="2800" b="1" dirty="0"/>
              <a:t>return</a:t>
            </a:r>
            <a:r>
              <a:rPr lang="en-US" altLang="ja-JP" sz="2800" dirty="0"/>
              <a:t> statement sends control back to the caller (with carrying the value of </a:t>
            </a:r>
            <a:r>
              <a:rPr lang="en-US" altLang="ja-JP" sz="2800" i="1" dirty="0"/>
              <a:t>E</a:t>
            </a:r>
            <a:r>
              <a:rPr lang="en-US" altLang="ja-JP" sz="2800" dirty="0"/>
              <a:t>). </a:t>
            </a:r>
          </a:p>
          <a:p>
            <a:endParaRPr lang="en-US" altLang="ja-JP" sz="2800" dirty="0"/>
          </a:p>
          <a:p>
            <a:r>
              <a:rPr lang="en-US" altLang="ja-JP" sz="2800" dirty="0"/>
              <a:t>A </a:t>
            </a:r>
            <a:r>
              <a:rPr lang="en-US" altLang="ja-JP" sz="2800" b="1" dirty="0"/>
              <a:t>return</a:t>
            </a:r>
            <a:r>
              <a:rPr lang="en-US" altLang="ja-JP" sz="2800" dirty="0"/>
              <a:t> statement sends control out of the enclosing procedure (or function), while a </a:t>
            </a:r>
            <a:r>
              <a:rPr lang="en-US" altLang="ja-JP" sz="2800" b="1" dirty="0"/>
              <a:t>break</a:t>
            </a:r>
            <a:r>
              <a:rPr lang="en-US" altLang="ja-JP" sz="2800" dirty="0"/>
              <a:t> statement sends control out of the enclosing loop.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1641</Words>
  <Application>Microsoft Macintosh PowerPoint</Application>
  <PresentationFormat>画面に合わせる (4:3)</PresentationFormat>
  <Paragraphs>269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Arial</vt:lpstr>
      <vt:lpstr>Calibri</vt:lpstr>
      <vt:lpstr>Symbol</vt:lpstr>
      <vt:lpstr>Office テーマ</vt:lpstr>
      <vt:lpstr>Foundations for Programming Languages 2: Imperative languages</vt:lpstr>
      <vt:lpstr>Imperative languages</vt:lpstr>
      <vt:lpstr>Assignments</vt:lpstr>
      <vt:lpstr>Structured programming</vt:lpstr>
      <vt:lpstr>Syntax-directed control flow</vt:lpstr>
      <vt:lpstr>Basic statements --- assignments</vt:lpstr>
      <vt:lpstr>Sequences of statements</vt:lpstr>
      <vt:lpstr>Compound statements (or blocks)</vt:lpstr>
      <vt:lpstr>Conditional statements</vt:lpstr>
      <vt:lpstr>if-then statements</vt:lpstr>
      <vt:lpstr>Exercise 1</vt:lpstr>
      <vt:lpstr>Loop statements (while statements)</vt:lpstr>
      <vt:lpstr>Selection</vt:lpstr>
      <vt:lpstr>Exercise 2</vt:lpstr>
      <vt:lpstr>Handling special cases in loops</vt:lpstr>
      <vt:lpstr>An example using a break statement</vt:lpstr>
      <vt:lpstr>Exercise 3</vt:lpstr>
      <vt:lpstr>Exercise 4</vt:lpstr>
      <vt:lpstr>An example using a continue statement</vt:lpstr>
      <vt:lpstr>Exercise 5</vt:lpstr>
      <vt:lpstr>goto statements</vt:lpstr>
      <vt:lpstr>Exercise 6</vt:lpstr>
      <vt:lpstr>Exercise 7</vt:lpstr>
      <vt:lpstr>return statements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 第５回</dc:title>
  <dc:creator>sasano</dc:creator>
  <cp:lastModifiedBy>篠埜　功</cp:lastModifiedBy>
  <cp:revision>741</cp:revision>
  <dcterms:created xsi:type="dcterms:W3CDTF">2009-10-16T09:27:11Z</dcterms:created>
  <dcterms:modified xsi:type="dcterms:W3CDTF">2026-09-30T03:03:41Z</dcterms:modified>
</cp:coreProperties>
</file>