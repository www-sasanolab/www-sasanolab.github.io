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5" r:id="rId2"/>
    <p:sldId id="286" r:id="rId3"/>
    <p:sldId id="268" r:id="rId4"/>
    <p:sldId id="287" r:id="rId5"/>
    <p:sldId id="272" r:id="rId6"/>
    <p:sldId id="288" r:id="rId7"/>
    <p:sldId id="279" r:id="rId8"/>
    <p:sldId id="289" r:id="rId9"/>
    <p:sldId id="284" r:id="rId1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 autoAdjust="0"/>
    <p:restoredTop sz="94701"/>
  </p:normalViewPr>
  <p:slideViewPr>
    <p:cSldViewPr snapToGrid="0">
      <p:cViewPr varScale="1">
        <p:scale>
          <a:sx n="133" d="100"/>
          <a:sy n="133" d="100"/>
        </p:scale>
        <p:origin x="16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802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2F0947-2102-4407-AB99-F1F40C7FFFC5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EC3F88-AE40-4385-9B82-713F48DC2DA7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1DBDCB-BB51-467F-A4B2-3D2863522DA5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dirty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8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9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40993" y="1599839"/>
            <a:ext cx="8387697" cy="2368784"/>
          </a:xfrm>
        </p:spPr>
        <p:txBody>
          <a:bodyPr>
            <a:normAutofit/>
          </a:bodyPr>
          <a:lstStyle/>
          <a:p>
            <a:r>
              <a:rPr lang="en-US" altLang="ja-JP" sz="4000" dirty="0"/>
              <a:t>Foundations for </a:t>
            </a:r>
            <a:br>
              <a:rPr lang="en-US" altLang="ja-JP" sz="4000" dirty="0"/>
            </a:br>
            <a:r>
              <a:rPr lang="en-US" altLang="ja-JP" sz="4000" dirty="0"/>
              <a:t>programming </a:t>
            </a:r>
            <a:r>
              <a:rPr kumimoji="1" lang="en-US" altLang="ja-JP" sz="4000" dirty="0"/>
              <a:t>languages</a:t>
            </a:r>
            <a:br>
              <a:rPr kumimoji="1" lang="en-US" altLang="ja-JP" sz="4000" dirty="0"/>
            </a:br>
            <a:r>
              <a:rPr lang="en-US" altLang="ja-JP" sz="4000" dirty="0"/>
              <a:t>5: Answers for exercises</a:t>
            </a:r>
            <a:endParaRPr kumimoji="1" lang="ja-JP" altLang="en-US" sz="4000" dirty="0"/>
          </a:p>
        </p:txBody>
      </p:sp>
      <p:sp>
        <p:nvSpPr>
          <p:cNvPr id="5" name="サブタイトル 2"/>
          <p:cNvSpPr>
            <a:spLocks noGrp="1"/>
          </p:cNvSpPr>
          <p:nvPr>
            <p:ph type="subTitle" idx="1"/>
          </p:nvPr>
        </p:nvSpPr>
        <p:spPr>
          <a:xfrm>
            <a:off x="3059832" y="5733256"/>
            <a:ext cx="2880320" cy="576064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Isao Sasano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31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Exercise 1</a:t>
            </a:r>
            <a:endParaRPr lang="ja-JP" altLang="en-US" dirty="0"/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768239" y="1801259"/>
            <a:ext cx="753458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Evaluate an arithmetic expression </a:t>
            </a:r>
          </a:p>
          <a:p>
            <a:r>
              <a:rPr lang="en-US" altLang="ja-JP" sz="2800" dirty="0">
                <a:sym typeface="Symbol" pitchFamily="18" charset="2"/>
              </a:rPr>
              <a:t>    </a:t>
            </a:r>
            <a:r>
              <a:rPr lang="en-US" altLang="ja-JP" sz="2800" dirty="0"/>
              <a:t>((4 + Y) * (5 + Z)) </a:t>
            </a:r>
          </a:p>
          <a:p>
            <a:r>
              <a:rPr lang="en-US" altLang="ja-JP" sz="2800" dirty="0"/>
              <a:t>under the state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baseline="-250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.</a:t>
            </a:r>
          </a:p>
        </p:txBody>
      </p:sp>
    </p:spTree>
    <p:extLst>
      <p:ext uri="{BB962C8B-B14F-4D97-AF65-F5344CB8AC3E}">
        <p14:creationId xmlns:p14="http://schemas.microsoft.com/office/powerpoint/2010/main" val="285300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/>
              <a:t>An answer</a:t>
            </a:r>
            <a:endParaRPr lang="ja-JP" altLang="en-US" dirty="0"/>
          </a:p>
        </p:txBody>
      </p:sp>
      <p:sp>
        <p:nvSpPr>
          <p:cNvPr id="26627" name="テキスト ボックス 5"/>
          <p:cNvSpPr txBox="1">
            <a:spLocks noChangeArrowheads="1"/>
          </p:cNvSpPr>
          <p:nvPr/>
        </p:nvSpPr>
        <p:spPr bwMode="auto">
          <a:xfrm>
            <a:off x="749967" y="1556466"/>
            <a:ext cx="601790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Evaluate an arithmetic expression </a:t>
            </a:r>
          </a:p>
          <a:p>
            <a:r>
              <a:rPr lang="en-US" altLang="ja-JP" sz="2800" dirty="0"/>
              <a:t>     ((4 + Y) * (5 + Z)) </a:t>
            </a:r>
            <a:endParaRPr lang="en-US" altLang="ja-JP" sz="28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in the state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baseline="-250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}.</a:t>
            </a:r>
            <a:endParaRPr lang="en-US" altLang="ja-JP" sz="2800" b="0" dirty="0"/>
          </a:p>
        </p:txBody>
      </p:sp>
      <p:sp>
        <p:nvSpPr>
          <p:cNvPr id="26628" name="テキスト ボックス 6"/>
          <p:cNvSpPr txBox="1">
            <a:spLocks noChangeArrowheads="1"/>
          </p:cNvSpPr>
          <p:nvPr/>
        </p:nvSpPr>
        <p:spPr bwMode="auto">
          <a:xfrm>
            <a:off x="1978025" y="4335820"/>
            <a:ext cx="49199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((4 + Y) * (5 + Z)),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432 </a:t>
            </a:r>
            <a:endParaRPr lang="ja-JP" altLang="en-US" sz="2800" b="0" dirty="0"/>
          </a:p>
        </p:txBody>
      </p:sp>
      <p:cxnSp>
        <p:nvCxnSpPr>
          <p:cNvPr id="26629" name="直線コネクタ 10"/>
          <p:cNvCxnSpPr>
            <a:cxnSpLocks noChangeShapeType="1"/>
          </p:cNvCxnSpPr>
          <p:nvPr/>
        </p:nvCxnSpPr>
        <p:spPr bwMode="auto">
          <a:xfrm>
            <a:off x="928662" y="4335820"/>
            <a:ext cx="750093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0" name="テキスト ボックス 11"/>
          <p:cNvSpPr txBox="1">
            <a:spLocks noChangeArrowheads="1"/>
          </p:cNvSpPr>
          <p:nvPr/>
        </p:nvSpPr>
        <p:spPr bwMode="auto">
          <a:xfrm>
            <a:off x="1000125" y="3835754"/>
            <a:ext cx="31822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(4 + Y),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24</a:t>
            </a:r>
            <a:endParaRPr lang="ja-JP" altLang="en-US" sz="2800" b="0" dirty="0"/>
          </a:p>
        </p:txBody>
      </p:sp>
      <p:cxnSp>
        <p:nvCxnSpPr>
          <p:cNvPr id="26631" name="直線コネクタ 14"/>
          <p:cNvCxnSpPr>
            <a:cxnSpLocks noChangeShapeType="1"/>
          </p:cNvCxnSpPr>
          <p:nvPr/>
        </p:nvCxnSpPr>
        <p:spPr bwMode="auto">
          <a:xfrm>
            <a:off x="4722812" y="3907192"/>
            <a:ext cx="4206906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2" name="テキスト ボックス 18"/>
          <p:cNvSpPr txBox="1">
            <a:spLocks noChangeArrowheads="1"/>
          </p:cNvSpPr>
          <p:nvPr/>
        </p:nvSpPr>
        <p:spPr bwMode="auto">
          <a:xfrm>
            <a:off x="4643438" y="340712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5</a:t>
            </a:r>
            <a:endParaRPr lang="ja-JP" altLang="en-US" sz="2800" b="0" dirty="0"/>
          </a:p>
        </p:txBody>
      </p:sp>
      <p:sp>
        <p:nvSpPr>
          <p:cNvPr id="26633" name="テキスト ボックス 19"/>
          <p:cNvSpPr txBox="1">
            <a:spLocks noChangeArrowheads="1"/>
          </p:cNvSpPr>
          <p:nvPr/>
        </p:nvSpPr>
        <p:spPr bwMode="auto">
          <a:xfrm>
            <a:off x="6732586" y="3407126"/>
            <a:ext cx="21467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Z,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13</a:t>
            </a:r>
            <a:endParaRPr lang="ja-JP" altLang="en-US" sz="2800" b="0" dirty="0"/>
          </a:p>
        </p:txBody>
      </p:sp>
      <p:sp>
        <p:nvSpPr>
          <p:cNvPr id="26634" name="テキスト ボックス 12"/>
          <p:cNvSpPr txBox="1">
            <a:spLocks noChangeArrowheads="1"/>
          </p:cNvSpPr>
          <p:nvPr/>
        </p:nvSpPr>
        <p:spPr bwMode="auto">
          <a:xfrm>
            <a:off x="5357812" y="3835754"/>
            <a:ext cx="30540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(5 + Z),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18</a:t>
            </a:r>
            <a:endParaRPr lang="ja-JP" altLang="en-US" sz="2800" b="0" dirty="0"/>
          </a:p>
        </p:txBody>
      </p:sp>
      <p:cxnSp>
        <p:nvCxnSpPr>
          <p:cNvPr id="26635" name="直線コネクタ 13"/>
          <p:cNvCxnSpPr>
            <a:cxnSpLocks noChangeShapeType="1"/>
          </p:cNvCxnSpPr>
          <p:nvPr/>
        </p:nvCxnSpPr>
        <p:spPr bwMode="auto">
          <a:xfrm>
            <a:off x="214282" y="3907192"/>
            <a:ext cx="4286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6" name="テキスト ボックス 15"/>
          <p:cNvSpPr txBox="1">
            <a:spLocks noChangeArrowheads="1"/>
          </p:cNvSpPr>
          <p:nvPr/>
        </p:nvSpPr>
        <p:spPr bwMode="auto">
          <a:xfrm>
            <a:off x="285720" y="340712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4</a:t>
            </a:r>
            <a:endParaRPr lang="ja-JP" altLang="en-US" sz="2800" b="0" dirty="0"/>
          </a:p>
        </p:txBody>
      </p:sp>
      <p:sp>
        <p:nvSpPr>
          <p:cNvPr id="26637" name="テキスト ボックス 16"/>
          <p:cNvSpPr txBox="1">
            <a:spLocks noChangeArrowheads="1"/>
          </p:cNvSpPr>
          <p:nvPr/>
        </p:nvSpPr>
        <p:spPr bwMode="auto">
          <a:xfrm>
            <a:off x="2357422" y="3407126"/>
            <a:ext cx="2108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Y,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20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Exercise 2</a:t>
            </a:r>
            <a:endParaRPr lang="ja-JP" altLang="en-US" dirty="0"/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705574" y="1733441"/>
            <a:ext cx="7872109" cy="2512381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ja-JP" sz="2800" dirty="0"/>
              <a:t>Let</a:t>
            </a:r>
            <a:r>
              <a:rPr lang="ja-JP" altLang="en-US" sz="2800" dirty="0"/>
              <a:t>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{ (X, 10), (Y, 20), (Z, 30) }.</a:t>
            </a:r>
          </a:p>
          <a:p>
            <a:pPr marL="0">
              <a:buFontTx/>
              <a:buNone/>
            </a:pPr>
            <a:r>
              <a:rPr lang="en-US" altLang="ja-JP" sz="2800" dirty="0">
                <a:sym typeface="Symbol" pitchFamily="18" charset="2"/>
              </a:rPr>
              <a:t>Write down all the elements of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[ 40 / X ] in the set notation. 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12226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An answer</a:t>
            </a:r>
            <a:endParaRPr lang="ja-JP" altLang="en-US" dirty="0"/>
          </a:p>
        </p:txBody>
      </p:sp>
      <p:sp>
        <p:nvSpPr>
          <p:cNvPr id="30723" name="コンテンツ プレースホルダ 13"/>
          <p:cNvSpPr>
            <a:spLocks noGrp="1"/>
          </p:cNvSpPr>
          <p:nvPr>
            <p:ph idx="1"/>
          </p:nvPr>
        </p:nvSpPr>
        <p:spPr>
          <a:xfrm>
            <a:off x="900727" y="1479491"/>
            <a:ext cx="6642502" cy="1657244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ja-JP" sz="2800" dirty="0"/>
              <a:t>Let</a:t>
            </a:r>
            <a:r>
              <a:rPr lang="ja-JP" altLang="en-US" sz="2800" dirty="0"/>
              <a:t>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{ (X, 10), (Y, 20), (Z, 30) }.</a:t>
            </a:r>
          </a:p>
          <a:p>
            <a:pPr marL="0">
              <a:buFontTx/>
              <a:buNone/>
            </a:pPr>
            <a:r>
              <a:rPr lang="en-US" altLang="ja-JP" sz="2800" dirty="0">
                <a:sym typeface="Symbol" pitchFamily="18" charset="2"/>
              </a:rPr>
              <a:t>Write down all the elements of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[ 40 / X ] in the set notation. </a:t>
            </a:r>
            <a:endParaRPr lang="en-US" altLang="ja-JP" sz="2800" dirty="0"/>
          </a:p>
        </p:txBody>
      </p:sp>
      <p:sp>
        <p:nvSpPr>
          <p:cNvPr id="30724" name="テキスト ボックス 3"/>
          <p:cNvSpPr txBox="1">
            <a:spLocks noChangeArrowheads="1"/>
          </p:cNvSpPr>
          <p:nvPr/>
        </p:nvSpPr>
        <p:spPr bwMode="auto">
          <a:xfrm>
            <a:off x="1394316" y="3755272"/>
            <a:ext cx="56348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X ]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= { (X, 40), (Y, 20), (Z, 30) }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Exercise 3</a:t>
            </a:r>
            <a:endParaRPr lang="ja-JP" altLang="en-US" dirty="0"/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731232" y="1603336"/>
            <a:ext cx="770679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dirty="0"/>
              <a:t>Derive the state after executing the statement </a:t>
            </a:r>
          </a:p>
          <a:p>
            <a:r>
              <a:rPr lang="en-US" altLang="ja-JP" sz="2800" dirty="0"/>
              <a:t>      X = (Y + 2); Y = (Y + 3); </a:t>
            </a:r>
            <a:r>
              <a:rPr lang="en-US" altLang="ja-JP" sz="2800" dirty="0">
                <a:sym typeface="Symbol" pitchFamily="18" charset="2"/>
              </a:rPr>
              <a:t> </a:t>
            </a:r>
          </a:p>
          <a:p>
            <a:r>
              <a:rPr lang="en-US" altLang="ja-JP" sz="2800" dirty="0">
                <a:sym typeface="Symbol" pitchFamily="18" charset="2"/>
              </a:rPr>
              <a:t>in the state</a:t>
            </a:r>
            <a:r>
              <a:rPr lang="ja-JP" altLang="en-US" sz="2800" dirty="0"/>
              <a:t>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 = { (X, 10), (Y, 20), (Z, 30) }.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744372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An answer</a:t>
            </a:r>
            <a:endParaRPr lang="ja-JP" altLang="en-US" dirty="0"/>
          </a:p>
        </p:txBody>
      </p:sp>
      <p:sp>
        <p:nvSpPr>
          <p:cNvPr id="37891" name="テキスト ボックス 13"/>
          <p:cNvSpPr txBox="1">
            <a:spLocks noChangeArrowheads="1"/>
          </p:cNvSpPr>
          <p:nvPr/>
        </p:nvSpPr>
        <p:spPr bwMode="auto">
          <a:xfrm>
            <a:off x="1000125" y="1571612"/>
            <a:ext cx="709383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dirty="0"/>
              <a:t>Derive the state after executing the statement </a:t>
            </a:r>
          </a:p>
          <a:p>
            <a:r>
              <a:rPr lang="en-US" altLang="ja-JP" sz="2800" dirty="0"/>
              <a:t>      X = (Y + 2); Y = (Y + 3); </a:t>
            </a:r>
            <a:r>
              <a:rPr lang="en-US" altLang="ja-JP" sz="2800" dirty="0">
                <a:sym typeface="Symbol" pitchFamily="18" charset="2"/>
              </a:rPr>
              <a:t> </a:t>
            </a:r>
          </a:p>
          <a:p>
            <a:r>
              <a:rPr lang="en-US" altLang="ja-JP" sz="2800" dirty="0">
                <a:sym typeface="Symbol" pitchFamily="18" charset="2"/>
              </a:rPr>
              <a:t>in the state</a:t>
            </a:r>
            <a:r>
              <a:rPr lang="ja-JP" altLang="en-US" sz="2800" dirty="0"/>
              <a:t>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 = { (X, 10), (Y, 20), (Z, 30) }.</a:t>
            </a:r>
            <a:endParaRPr lang="en-US" altLang="ja-JP" sz="2800" dirty="0"/>
          </a:p>
        </p:txBody>
      </p:sp>
      <p:sp>
        <p:nvSpPr>
          <p:cNvPr id="37892" name="テキスト ボックス 3"/>
          <p:cNvSpPr txBox="1">
            <a:spLocks noChangeArrowheads="1"/>
          </p:cNvSpPr>
          <p:nvPr/>
        </p:nvSpPr>
        <p:spPr bwMode="auto">
          <a:xfrm>
            <a:off x="171450" y="3357562"/>
            <a:ext cx="8972550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dirty="0"/>
              <a:t>   </a:t>
            </a:r>
            <a:r>
              <a:rPr lang="en-US" altLang="ja-JP" sz="2400" b="0" dirty="0"/>
              <a:t>&lt; Y,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&gt;  20  &lt; 2,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&gt;  2  </a:t>
            </a:r>
            <a:endParaRPr lang="ja-JP" altLang="en-US" sz="2400" b="0" dirty="0"/>
          </a:p>
          <a:p>
            <a:r>
              <a:rPr lang="ja-JP" altLang="en-US" sz="2400" b="0" dirty="0"/>
              <a:t>  </a:t>
            </a:r>
            <a:r>
              <a:rPr lang="en-US" altLang="ja-JP" sz="2400" b="0" dirty="0"/>
              <a:t>  </a:t>
            </a:r>
            <a:r>
              <a:rPr lang="ja-JP" altLang="en-US" sz="2400" b="0" dirty="0"/>
              <a:t>    </a:t>
            </a:r>
            <a:r>
              <a:rPr lang="en-US" altLang="ja-JP" sz="2800" b="0" dirty="0"/>
              <a:t>&lt; (Y + 2),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22</a:t>
            </a:r>
            <a:r>
              <a:rPr lang="en-US" altLang="ja-JP" sz="2400" b="0" dirty="0">
                <a:sym typeface="Symbol" pitchFamily="18" charset="2"/>
              </a:rPr>
              <a:t>               </a:t>
            </a:r>
            <a:r>
              <a:rPr lang="en-US" altLang="ja-JP" sz="2800" b="0" dirty="0">
                <a:sym typeface="Symbol" pitchFamily="18" charset="2"/>
              </a:rPr>
              <a:t>&lt;(Y + 3);,  [ 22 / X ] &gt;  23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b="0" dirty="0"/>
              <a:t>&lt; X = (Y + 2);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&gt; 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[ 22 / X ] </a:t>
            </a:r>
            <a:r>
              <a:rPr lang="en-US" altLang="ja-JP" sz="2000" b="0" dirty="0">
                <a:sym typeface="Symbol" pitchFamily="18" charset="2"/>
              </a:rPr>
              <a:t> &lt;Y = (Y + 3); 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]&gt;  (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]) [23 / Y]    </a:t>
            </a:r>
            <a:endParaRPr lang="en-US" altLang="ja-JP" sz="2400" b="0" dirty="0"/>
          </a:p>
          <a:p>
            <a:r>
              <a:rPr lang="en-US" altLang="ja-JP" sz="2400" b="0" dirty="0"/>
              <a:t>           </a:t>
            </a:r>
            <a:r>
              <a:rPr lang="en-US" altLang="ja-JP" sz="2800" b="0" dirty="0"/>
              <a:t>&lt; X = Y + 2; Y = Y + 3;,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(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[ 22 / X ] ) [ 23 / Y ]</a:t>
            </a:r>
            <a:endParaRPr lang="en-US" altLang="ja-JP" sz="2800" b="0" dirty="0"/>
          </a:p>
        </p:txBody>
      </p:sp>
      <p:cxnSp>
        <p:nvCxnSpPr>
          <p:cNvPr id="37893" name="直線コネクタ 4"/>
          <p:cNvCxnSpPr>
            <a:cxnSpLocks noChangeShapeType="1"/>
          </p:cNvCxnSpPr>
          <p:nvPr/>
        </p:nvCxnSpPr>
        <p:spPr bwMode="auto">
          <a:xfrm>
            <a:off x="185738" y="4629158"/>
            <a:ext cx="8880468" cy="1363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4" name="直線コネクタ 9"/>
          <p:cNvCxnSpPr>
            <a:cxnSpLocks noChangeShapeType="1"/>
          </p:cNvCxnSpPr>
          <p:nvPr/>
        </p:nvCxnSpPr>
        <p:spPr bwMode="auto">
          <a:xfrm flipV="1">
            <a:off x="134563" y="4213837"/>
            <a:ext cx="3851875" cy="841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7895" name="正方形/長方形 15"/>
          <p:cNvSpPr>
            <a:spLocks noChangeArrowheads="1"/>
          </p:cNvSpPr>
          <p:nvPr/>
        </p:nvSpPr>
        <p:spPr bwMode="auto">
          <a:xfrm>
            <a:off x="4214810" y="5548986"/>
            <a:ext cx="38289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l-PL" altLang="ja-JP" sz="2800" b="0" dirty="0"/>
              <a:t> { (X, </a:t>
            </a:r>
            <a:r>
              <a:rPr lang="en-US" altLang="ja-JP" sz="2800" b="0" dirty="0"/>
              <a:t>22</a:t>
            </a:r>
            <a:r>
              <a:rPr lang="pl-PL" altLang="ja-JP" sz="2800" b="0" dirty="0"/>
              <a:t>), (Y, 2</a:t>
            </a:r>
            <a:r>
              <a:rPr lang="en-US" altLang="ja-JP" sz="2800" b="0" dirty="0"/>
              <a:t>3</a:t>
            </a:r>
            <a:r>
              <a:rPr lang="pl-PL" altLang="ja-JP" sz="2800" b="0" dirty="0"/>
              <a:t>), (Z, 30) } </a:t>
            </a:r>
            <a:endParaRPr lang="ja-JP" altLang="en-US" sz="2800" b="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6015050" y="5157802"/>
            <a:ext cx="485775" cy="34290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>
              <a:ea typeface="ＭＳ Ｐゴシック" pitchFamily="48" charset="-128"/>
            </a:endParaRPr>
          </a:p>
        </p:txBody>
      </p:sp>
      <p:cxnSp>
        <p:nvCxnSpPr>
          <p:cNvPr id="37897" name="直線コネクタ 21"/>
          <p:cNvCxnSpPr>
            <a:cxnSpLocks noChangeShapeType="1"/>
          </p:cNvCxnSpPr>
          <p:nvPr/>
        </p:nvCxnSpPr>
        <p:spPr bwMode="auto">
          <a:xfrm>
            <a:off x="378455" y="3810116"/>
            <a:ext cx="3465007" cy="841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8" name="直線コネクタ 22"/>
          <p:cNvCxnSpPr>
            <a:cxnSpLocks noChangeShapeType="1"/>
          </p:cNvCxnSpPr>
          <p:nvPr/>
        </p:nvCxnSpPr>
        <p:spPr bwMode="auto">
          <a:xfrm>
            <a:off x="4077936" y="4246321"/>
            <a:ext cx="4914904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" name="直線コネクタ 21"/>
          <p:cNvCxnSpPr>
            <a:cxnSpLocks noChangeShapeType="1"/>
          </p:cNvCxnSpPr>
          <p:nvPr/>
        </p:nvCxnSpPr>
        <p:spPr bwMode="auto">
          <a:xfrm flipV="1">
            <a:off x="4286248" y="3840806"/>
            <a:ext cx="4714876" cy="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" name="テキスト ボックス 12"/>
          <p:cNvSpPr txBox="1"/>
          <p:nvPr/>
        </p:nvSpPr>
        <p:spPr>
          <a:xfrm>
            <a:off x="4205128" y="3404374"/>
            <a:ext cx="5033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&lt;Y, </a:t>
            </a:r>
            <a:r>
              <a:rPr kumimoji="1" lang="en-US" altLang="ja-JP" sz="2400" dirty="0" err="1"/>
              <a:t>σ</a:t>
            </a:r>
            <a:r>
              <a:rPr kumimoji="1" lang="en-US" altLang="ja-JP" sz="2400" dirty="0"/>
              <a:t> [22/X]&gt; </a:t>
            </a:r>
            <a:r>
              <a:rPr lang="en-US" altLang="ja-JP" sz="2400" dirty="0">
                <a:sym typeface="Symbol" pitchFamily="18" charset="2"/>
              </a:rPr>
              <a:t></a:t>
            </a:r>
            <a:r>
              <a:rPr kumimoji="1" lang="en-US" altLang="ja-JP" sz="2400" dirty="0"/>
              <a:t> 20  &lt;3, σ [22/X]&gt;</a:t>
            </a:r>
            <a:r>
              <a:rPr lang="en-US" altLang="ja-JP" sz="2400" dirty="0">
                <a:sym typeface="Symbol" pitchFamily="18" charset="2"/>
              </a:rPr>
              <a:t>  3</a:t>
            </a:r>
            <a:r>
              <a:rPr kumimoji="1" lang="en-US" altLang="ja-JP" sz="2400" dirty="0"/>
              <a:t> 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/>
              <a:t>Exercise 4</a:t>
            </a:r>
            <a:endParaRPr lang="ja-JP" altLang="en-US" dirty="0"/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dirty="0"/>
              <a:t>Derive the state after executing the statement </a:t>
            </a:r>
          </a:p>
          <a:p>
            <a:r>
              <a:rPr lang="en-US" altLang="ja-JP" sz="2800" dirty="0">
                <a:sym typeface="Symbol" pitchFamily="18" charset="2"/>
              </a:rPr>
              <a:t>     while ( Y ) { Y = (Y – 20); } </a:t>
            </a:r>
          </a:p>
          <a:p>
            <a:r>
              <a:rPr lang="en-US" altLang="ja-JP" sz="2800" dirty="0">
                <a:sym typeface="Symbol" pitchFamily="18" charset="2"/>
              </a:rPr>
              <a:t>in the state</a:t>
            </a:r>
            <a:r>
              <a:rPr lang="ja-JP" altLang="en-US" sz="2800" dirty="0"/>
              <a:t>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 = </a:t>
            </a:r>
            <a:r>
              <a:rPr lang="en-US" altLang="ja-JP" sz="2800" dirty="0"/>
              <a:t>{ (X, 10), (Y, 40), (Z, 30) }.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29893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/>
              <a:t>An answer</a:t>
            </a:r>
            <a:endParaRPr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2988" y="1706237"/>
            <a:ext cx="74613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An answer is given in another fil</a:t>
            </a:r>
            <a:r>
              <a:rPr lang="en-US" altLang="ja-JP" sz="2800" dirty="0"/>
              <a:t>e due to the lack of space. 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576</Words>
  <Application>Microsoft Macintosh PowerPoint</Application>
  <PresentationFormat>画面に合わせる (4:3)</PresentationFormat>
  <Paragraphs>52</Paragraphs>
  <Slides>9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ＭＳ Ｐゴシック</vt:lpstr>
      <vt:lpstr>Arial</vt:lpstr>
      <vt:lpstr>Calibri</vt:lpstr>
      <vt:lpstr>Symbol</vt:lpstr>
      <vt:lpstr>Office テーマ</vt:lpstr>
      <vt:lpstr>Foundations for  programming languages 5: Answers for exercises</vt:lpstr>
      <vt:lpstr>Exercise 1</vt:lpstr>
      <vt:lpstr>An answer</vt:lpstr>
      <vt:lpstr>Exercise 2</vt:lpstr>
      <vt:lpstr>An answer</vt:lpstr>
      <vt:lpstr>Exercise 3</vt:lpstr>
      <vt:lpstr>An answer</vt:lpstr>
      <vt:lpstr>Exercise 4</vt:lpstr>
      <vt:lpstr>An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篠埜　功</cp:lastModifiedBy>
  <cp:revision>220</cp:revision>
  <dcterms:created xsi:type="dcterms:W3CDTF">2009-12-10T02:30:43Z</dcterms:created>
  <dcterms:modified xsi:type="dcterms:W3CDTF">2026-09-30T03:05:35Z</dcterms:modified>
</cp:coreProperties>
</file>