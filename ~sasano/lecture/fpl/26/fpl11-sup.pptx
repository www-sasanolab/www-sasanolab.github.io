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 snapToObjects="1">
      <p:cViewPr varScale="1">
        <p:scale>
          <a:sx n="133" d="100"/>
          <a:sy n="133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26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2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049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45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84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63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00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11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17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42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47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C0B91-4105-FC41-AF23-562AED5B73E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60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11560" y="1209040"/>
            <a:ext cx="7992888" cy="2763520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Foundations for programming languages </a:t>
            </a:r>
            <a:br>
              <a:rPr lang="en-US" altLang="ja-JP" sz="3600" dirty="0"/>
            </a:br>
            <a:r>
              <a:rPr lang="en-US" altLang="ja-JP" sz="3600" dirty="0"/>
              <a:t>11: Logic programming</a:t>
            </a:r>
            <a:br>
              <a:rPr lang="en-US" altLang="ja-JP" sz="3600" dirty="0"/>
            </a:br>
            <a:r>
              <a:rPr lang="en-US" altLang="ja-JP" sz="3600" dirty="0"/>
              <a:t>Supplemental material</a:t>
            </a:r>
            <a:br>
              <a:rPr lang="en-US" altLang="ja-JP" sz="3600" dirty="0"/>
            </a:br>
            <a:r>
              <a:rPr lang="en-US" altLang="ja-JP" sz="3600" dirty="0"/>
              <a:t>Definition of prefix and suffix</a:t>
            </a:r>
            <a:endParaRPr kumimoji="1" lang="ja-JP" altLang="en-US" sz="2800" dirty="0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14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Prefix, suffix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199" y="1600201"/>
            <a:ext cx="8229601" cy="735886"/>
          </a:xfrm>
        </p:spPr>
        <p:txBody>
          <a:bodyPr>
            <a:normAutofit/>
          </a:bodyPr>
          <a:lstStyle/>
          <a:p>
            <a:r>
              <a:rPr lang="en-US" altLang="ja-JP" dirty="0"/>
              <a:t>prefix and suffix are defined as follows.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51436" y="2336087"/>
            <a:ext cx="42633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prefix(X,Y) :- append(X,Z,Y).</a:t>
            </a:r>
          </a:p>
          <a:p>
            <a:r>
              <a:rPr kumimoji="1" lang="en-US" altLang="ja-JP" sz="2800" dirty="0"/>
              <a:t> suffix(X,Y) :- append(Z,X,Y).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0293" y="3858973"/>
            <a:ext cx="76567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p</a:t>
            </a:r>
            <a:r>
              <a:rPr kumimoji="1" lang="en-US" altLang="ja-JP" sz="2800" dirty="0"/>
              <a:t>refix</a:t>
            </a:r>
            <a:r>
              <a:rPr kumimoji="1" lang="ja-JP" altLang="en-US" sz="2800" dirty="0"/>
              <a:t>（</a:t>
            </a:r>
            <a:r>
              <a:rPr kumimoji="1" lang="en-US" altLang="ja-JP" sz="2800" dirty="0"/>
              <a:t>X,Y) </a:t>
            </a:r>
            <a:r>
              <a:rPr lang="en-US" altLang="ja-JP" sz="2800" dirty="0"/>
              <a:t>means that the list </a:t>
            </a:r>
            <a:r>
              <a:rPr kumimoji="1" lang="en-US" altLang="ja-JP" sz="2800" dirty="0"/>
              <a:t>X</a:t>
            </a:r>
            <a:r>
              <a:rPr lang="en-US" altLang="ja-JP" sz="2800" dirty="0"/>
              <a:t> is a prefix of the list Y and suffix(X,Y) means that the list X is a suffix of the list Y. 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5386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Examples of prefix</a:t>
            </a:r>
            <a:r>
              <a:rPr lang="en-US" altLang="ja-JP" dirty="0"/>
              <a:t> and</a:t>
            </a:r>
            <a:r>
              <a:rPr kumimoji="1" lang="en-US" altLang="ja-JP" dirty="0"/>
              <a:t> suffix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6191" y="5259135"/>
            <a:ext cx="739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prefix and suffix</a:t>
            </a:r>
            <a:r>
              <a:rPr lang="en-US" altLang="ja-JP" sz="2800" dirty="0"/>
              <a:t> are built-in predicates of GNU Prolog as well as </a:t>
            </a:r>
            <a:r>
              <a:rPr kumimoji="1" lang="en-US" altLang="ja-JP" sz="2800" dirty="0"/>
              <a:t>append, so they can be used without entering the definition of them. </a:t>
            </a:r>
            <a:endParaRPr lang="en-US" altLang="ja-JP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4572000" y="1807384"/>
            <a:ext cx="332619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ja-JP" sz="2800" dirty="0"/>
              <a:t>(</a:t>
            </a:r>
            <a:r>
              <a:rPr lang="en-US" altLang="ja-JP" sz="2800" dirty="0"/>
              <a:t>ex.)</a:t>
            </a:r>
            <a:endParaRPr lang="it-IT" altLang="ja-JP" sz="2800" dirty="0"/>
          </a:p>
          <a:p>
            <a:r>
              <a:rPr lang="it-IT" altLang="ja-JP" sz="2800" i="1" dirty="0"/>
              <a:t>?-</a:t>
            </a:r>
            <a:r>
              <a:rPr lang="it-IT" altLang="ja-JP" sz="2800" dirty="0"/>
              <a:t> </a:t>
            </a:r>
            <a:r>
              <a:rPr lang="it-IT" altLang="ja-JP" sz="2800" dirty="0" err="1">
                <a:solidFill>
                  <a:srgbClr val="FF0000"/>
                </a:solidFill>
              </a:rPr>
              <a:t>suffix</a:t>
            </a:r>
            <a:r>
              <a:rPr lang="it-IT" altLang="ja-JP" sz="2800" dirty="0">
                <a:solidFill>
                  <a:srgbClr val="FF0000"/>
                </a:solidFill>
              </a:rPr>
              <a:t>(X,[1,2]).</a:t>
            </a:r>
          </a:p>
          <a:p>
            <a:r>
              <a:rPr lang="it-IT" altLang="ja-JP" sz="2800" i="1" dirty="0"/>
              <a:t>X = [1,2]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X = [2]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X = []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no</a:t>
            </a:r>
            <a:endParaRPr lang="en-US" altLang="ja-JP" sz="2800" i="1" dirty="0"/>
          </a:p>
        </p:txBody>
      </p:sp>
      <p:sp>
        <p:nvSpPr>
          <p:cNvPr id="6" name="正方形/長方形 5"/>
          <p:cNvSpPr/>
          <p:nvPr/>
        </p:nvSpPr>
        <p:spPr>
          <a:xfrm>
            <a:off x="1028096" y="1824673"/>
            <a:ext cx="33503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(ex.)</a:t>
            </a:r>
          </a:p>
          <a:p>
            <a:r>
              <a:rPr lang="en-US" altLang="ja-JP" sz="2800" i="1" dirty="0"/>
              <a:t>?-</a:t>
            </a:r>
            <a:r>
              <a:rPr lang="en-US" altLang="ja-JP" sz="2800" dirty="0"/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prefix(X,[1,2]).</a:t>
            </a:r>
          </a:p>
          <a:p>
            <a:r>
              <a:rPr lang="en-US" altLang="ja-JP" sz="2800" i="1" dirty="0"/>
              <a:t>X = []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X = [1]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X = [1,2]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94333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806" y="318379"/>
            <a:ext cx="1799388" cy="1209236"/>
          </a:xfrm>
        </p:spPr>
        <p:txBody>
          <a:bodyPr>
            <a:normAutofit fontScale="90000"/>
          </a:bodyPr>
          <a:lstStyle/>
          <a:p>
            <a:r>
              <a:rPr kumimoji="1" lang="en-US" altLang="ja-JP" sz="3200" dirty="0"/>
              <a:t>(Ex.)</a:t>
            </a:r>
            <a:br>
              <a:rPr kumimoji="1" lang="en-US" altLang="ja-JP" sz="3200" dirty="0"/>
            </a:br>
            <a:r>
              <a:rPr lang="en-US" altLang="ja-JP" sz="3200" dirty="0"/>
              <a:t>(just for reference)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334273" y="121089"/>
            <a:ext cx="4286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s</a:t>
            </a:r>
            <a:r>
              <a:rPr kumimoji="1" lang="en-US" altLang="ja-JP" sz="2800" dirty="0"/>
              <a:t>uffix([b],L), prefix(L,[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54597" y="839744"/>
            <a:ext cx="517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(_1,[b],L), prefix(L,[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8590" y="1924817"/>
            <a:ext cx="2732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prefix([b],[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09533" y="1417792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{_1 -&gt; [ ], L-&gt;[b]}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7200" y="2736139"/>
            <a:ext cx="3449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append([b],_2,[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079500" y="3122951"/>
            <a:ext cx="1710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 backtrack</a:t>
            </a:r>
            <a:endParaRPr kumimoji="1" lang="ja-JP" altLang="en-US" sz="2800" b="1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3042" y="1362964"/>
            <a:ext cx="3634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{_1 -&gt; [_3|_4 ], L-&gt;[_3|_5]}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811652" y="1858649"/>
            <a:ext cx="39985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(_4, [b], _5),</a:t>
            </a:r>
          </a:p>
          <a:p>
            <a:r>
              <a:rPr kumimoji="1" lang="en-US" altLang="ja-JP" sz="2800" dirty="0"/>
              <a:t>        prefix([_3|_5],[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26776" y="3259359"/>
            <a:ext cx="3182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prefix([_3,b],[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229472" y="2818318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{_4 -&gt; [ ], _5-&gt;[b]}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160318" y="4018663"/>
            <a:ext cx="3818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append</a:t>
            </a:r>
            <a:r>
              <a:rPr kumimoji="1" lang="en-US" altLang="ja-JP" sz="2800" dirty="0"/>
              <a:t>([_3,b],_6,[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014012" y="4421182"/>
            <a:ext cx="1300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{_3 -&gt; a}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069509" y="4731395"/>
            <a:ext cx="3188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([b],_6,[</a:t>
            </a:r>
            <a:r>
              <a:rPr kumimoji="1" lang="en-US" altLang="ja-JP" sz="2800" dirty="0" err="1"/>
              <a:t>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370898" y="5529010"/>
            <a:ext cx="2802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([ ],_6,[c])</a:t>
            </a:r>
            <a:endParaRPr kumimoji="1" lang="ja-JP" altLang="en-US" sz="28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306741" y="5968262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{_6 -&gt; [c]}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656711" y="6241227"/>
            <a:ext cx="824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</a:t>
            </a:r>
            <a:r>
              <a:rPr lang="en-US" altLang="ja-JP" sz="2800" i="1" dirty="0"/>
              <a:t>yes</a:t>
            </a:r>
            <a:endParaRPr kumimoji="1" lang="ja-JP" altLang="en-US" sz="2800" i="1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8117647" y="3325343"/>
            <a:ext cx="513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…</a:t>
            </a:r>
            <a:endParaRPr kumimoji="1" lang="ja-JP" altLang="en-US" sz="2800" dirty="0"/>
          </a:p>
        </p:txBody>
      </p:sp>
      <p:cxnSp>
        <p:nvCxnSpPr>
          <p:cNvPr id="24" name="直線コネクタ 23"/>
          <p:cNvCxnSpPr/>
          <p:nvPr/>
        </p:nvCxnSpPr>
        <p:spPr>
          <a:xfrm flipH="1">
            <a:off x="4473750" y="639220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flipH="1">
            <a:off x="2143191" y="1365041"/>
            <a:ext cx="231948" cy="60594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4975320" y="1331020"/>
            <a:ext cx="448922" cy="63996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2143191" y="2448037"/>
            <a:ext cx="0" cy="36471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 flipH="1">
            <a:off x="5068818" y="2812756"/>
            <a:ext cx="355424" cy="52501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 flipH="1">
            <a:off x="5066894" y="3782579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 flipH="1">
            <a:off x="5064970" y="4500562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H="1">
            <a:off x="5058615" y="5254615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 flipH="1">
            <a:off x="5051075" y="6023766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7891584" y="2812756"/>
            <a:ext cx="448922" cy="63996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749467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373</Words>
  <Application>Microsoft Macintosh PowerPoint</Application>
  <PresentationFormat>画面に合わせる (4:3)</PresentationFormat>
  <Paragraphs>40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Calibri</vt:lpstr>
      <vt:lpstr>ホワイト</vt:lpstr>
      <vt:lpstr>Foundations for programming languages  11: Logic programming Supplemental material Definition of prefix and suffix</vt:lpstr>
      <vt:lpstr>Prefix, suffix</vt:lpstr>
      <vt:lpstr>Examples of prefix and suffix</vt:lpstr>
      <vt:lpstr>(Ex.) (just for reference)</vt:lpstr>
    </vt:vector>
  </TitlesOfParts>
  <Company>Shibaura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第10回</dc:title>
  <dc:creator>Sasano Isao</dc:creator>
  <cp:lastModifiedBy>篠埜　功</cp:lastModifiedBy>
  <cp:revision>240</cp:revision>
  <cp:lastPrinted>2012-12-13T09:07:34Z</cp:lastPrinted>
  <dcterms:created xsi:type="dcterms:W3CDTF">2012-11-30T04:37:30Z</dcterms:created>
  <dcterms:modified xsi:type="dcterms:W3CDTF">2026-09-30T03:11:48Z</dcterms:modified>
</cp:coreProperties>
</file>