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sldIdLst>
    <p:sldId id="286" r:id="rId2"/>
    <p:sldId id="258" r:id="rId3"/>
    <p:sldId id="261" r:id="rId4"/>
    <p:sldId id="262" r:id="rId5"/>
    <p:sldId id="263" r:id="rId6"/>
    <p:sldId id="272" r:id="rId7"/>
    <p:sldId id="274" r:id="rId8"/>
    <p:sldId id="260" r:id="rId9"/>
    <p:sldId id="264" r:id="rId10"/>
    <p:sldId id="275" r:id="rId11"/>
    <p:sldId id="276" r:id="rId12"/>
    <p:sldId id="265" r:id="rId13"/>
    <p:sldId id="266" r:id="rId14"/>
    <p:sldId id="278" r:id="rId15"/>
    <p:sldId id="282" r:id="rId16"/>
    <p:sldId id="283" r:id="rId17"/>
    <p:sldId id="285" r:id="rId18"/>
    <p:sldId id="267" r:id="rId19"/>
    <p:sldId id="268" r:id="rId20"/>
    <p:sldId id="269" r:id="rId21"/>
    <p:sldId id="271" r:id="rId22"/>
    <p:sldId id="277" r:id="rId23"/>
    <p:sldId id="279" r:id="rId24"/>
    <p:sldId id="281" r:id="rId25"/>
  </p:sldIdLst>
  <p:sldSz cx="9144000" cy="6858000" type="screen4x3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361" autoAdjust="0"/>
    <p:restoredTop sz="94701"/>
  </p:normalViewPr>
  <p:slideViewPr>
    <p:cSldViewPr>
      <p:cViewPr varScale="1">
        <p:scale>
          <a:sx n="133" d="100"/>
          <a:sy n="133" d="100"/>
        </p:scale>
        <p:origin x="1600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D3D9CFB-0975-45A5-A4EB-427654E76663}" type="datetimeFigureOut">
              <a:rPr kumimoji="1" lang="ja-JP" altLang="en-US" smtClean="0"/>
              <a:pPr/>
              <a:t>2026/9/30</a:t>
            </a:fld>
            <a:endParaRPr kumimoji="1" lang="ja-JP" altLang="en-US"/>
          </a:p>
        </p:txBody>
      </p:sp>
      <p:sp>
        <p:nvSpPr>
          <p:cNvPr id="4" name="スライド イメージ プレースホル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8C549C-74FB-4A4F-9351-C9C055D567BE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731303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7"/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FEF6FE92-6A11-4998-B58A-9E24FCD41B22}" type="slidenum">
              <a:rPr lang="en-US" altLang="ja-JP" sz="1200"/>
              <a:pPr algn="r"/>
              <a:t>2</a:t>
            </a:fld>
            <a:endParaRPr lang="en-US" altLang="ja-JP" sz="1200"/>
          </a:p>
        </p:txBody>
      </p:sp>
      <p:sp>
        <p:nvSpPr>
          <p:cNvPr id="1054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54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>
              <a:ea typeface="ＭＳ Ｐゴシック" pitchFamily="50" charset="-128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7"/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2F972E6C-2470-413B-AAA8-FE0D3A519500}" type="slidenum">
              <a:rPr lang="en-US" altLang="ja-JP" sz="1200"/>
              <a:pPr algn="r"/>
              <a:t>3</a:t>
            </a:fld>
            <a:endParaRPr lang="en-US" altLang="ja-JP" sz="1200"/>
          </a:p>
        </p:txBody>
      </p:sp>
      <p:sp>
        <p:nvSpPr>
          <p:cNvPr id="1075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75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>
              <a:ea typeface="ＭＳ Ｐゴシック" pitchFamily="50" charset="-128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7"/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EEB2D888-47C9-4383-8384-B11ECA039ECC}" type="slidenum">
              <a:rPr lang="en-US" altLang="ja-JP" sz="1200"/>
              <a:pPr algn="r"/>
              <a:t>4</a:t>
            </a:fld>
            <a:endParaRPr lang="en-US" altLang="ja-JP" sz="1200"/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>
              <a:ea typeface="ＭＳ Ｐゴシック" pitchFamily="50" charset="-128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Rectangle 7"/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0AAE4B59-6805-45A3-A2F2-C5EEE23C941E}" type="slidenum">
              <a:rPr lang="en-US" altLang="ja-JP" sz="1200"/>
              <a:pPr algn="r"/>
              <a:t>5</a:t>
            </a:fld>
            <a:endParaRPr lang="en-US" altLang="ja-JP" sz="1200"/>
          </a:p>
        </p:txBody>
      </p:sp>
      <p:sp>
        <p:nvSpPr>
          <p:cNvPr id="1167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67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>
              <a:ea typeface="ＭＳ Ｐゴシック" pitchFamily="50" charset="-128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7"/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1A4968AA-FD98-427F-8A84-B8036E4C8E33}" type="slidenum">
              <a:rPr lang="en-US" altLang="ja-JP" sz="1200"/>
              <a:pPr algn="r"/>
              <a:t>6</a:t>
            </a:fld>
            <a:endParaRPr lang="en-US" altLang="ja-JP" sz="1200"/>
          </a:p>
        </p:txBody>
      </p:sp>
      <p:sp>
        <p:nvSpPr>
          <p:cNvPr id="1187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87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>
              <a:ea typeface="ＭＳ Ｐゴシック" pitchFamily="50" charset="-128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7"/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1A4968AA-FD98-427F-8A84-B8036E4C8E33}" type="slidenum">
              <a:rPr lang="en-US" altLang="ja-JP" sz="1200"/>
              <a:pPr algn="r"/>
              <a:t>7</a:t>
            </a:fld>
            <a:endParaRPr lang="en-US" altLang="ja-JP" sz="1200"/>
          </a:p>
        </p:txBody>
      </p:sp>
      <p:sp>
        <p:nvSpPr>
          <p:cNvPr id="1187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87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>
              <a:ea typeface="ＭＳ Ｐゴシック" pitchFamily="50" charset="-128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Rectangle 7"/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1EE7A391-1DFF-4194-A666-A82459C959FB}" type="slidenum">
              <a:rPr lang="en-US" altLang="ja-JP" sz="1200"/>
              <a:pPr algn="r"/>
              <a:t>8</a:t>
            </a:fld>
            <a:endParaRPr lang="en-US" altLang="ja-JP" sz="1200"/>
          </a:p>
        </p:txBody>
      </p:sp>
      <p:sp>
        <p:nvSpPr>
          <p:cNvPr id="1105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05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>
              <a:ea typeface="ＭＳ Ｐゴシック" pitchFamily="50" charset="-128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7"/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1A4968AA-FD98-427F-8A84-B8036E4C8E33}" type="slidenum">
              <a:rPr lang="en-US" altLang="ja-JP" sz="1200"/>
              <a:pPr algn="r"/>
              <a:t>9</a:t>
            </a:fld>
            <a:endParaRPr lang="en-US" altLang="ja-JP" sz="1200"/>
          </a:p>
        </p:txBody>
      </p:sp>
      <p:sp>
        <p:nvSpPr>
          <p:cNvPr id="1187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87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>
              <a:ea typeface="ＭＳ Ｐゴシック" pitchFamily="50" charset="-128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7"/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1A4968AA-FD98-427F-8A84-B8036E4C8E33}" type="slidenum">
              <a:rPr lang="en-US" altLang="ja-JP" sz="1200"/>
              <a:pPr algn="r"/>
              <a:t>10</a:t>
            </a:fld>
            <a:endParaRPr lang="en-US" altLang="ja-JP" sz="1200"/>
          </a:p>
        </p:txBody>
      </p:sp>
      <p:sp>
        <p:nvSpPr>
          <p:cNvPr id="1187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87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>
              <a:ea typeface="ＭＳ Ｐゴシック" pitchFamily="50" charset="-128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7"/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1A4968AA-FD98-427F-8A84-B8036E4C8E33}" type="slidenum">
              <a:rPr lang="en-US" altLang="ja-JP" sz="1200"/>
              <a:pPr algn="r"/>
              <a:t>11</a:t>
            </a:fld>
            <a:endParaRPr lang="en-US" altLang="ja-JP" sz="1200"/>
          </a:p>
        </p:txBody>
      </p:sp>
      <p:sp>
        <p:nvSpPr>
          <p:cNvPr id="1187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87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>
              <a:ea typeface="ＭＳ Ｐゴシック" pitchFamily="50" charset="-128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Rectangle 7"/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92197263-B11F-44AE-B71A-1E7E5BC31C90}" type="slidenum">
              <a:rPr lang="en-US" altLang="ja-JP" sz="1200"/>
              <a:pPr algn="r"/>
              <a:t>12</a:t>
            </a:fld>
            <a:endParaRPr lang="en-US" altLang="ja-JP" sz="1200"/>
          </a:p>
        </p:txBody>
      </p:sp>
      <p:sp>
        <p:nvSpPr>
          <p:cNvPr id="1320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21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>
              <a:ea typeface="ＭＳ Ｐゴシック" pitchFamily="50" charset="-128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Rectangle 7"/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3FA221D9-F7C0-4111-82B7-B9B75E3A75DA}" type="slidenum">
              <a:rPr lang="en-US" altLang="ja-JP" sz="1200"/>
              <a:pPr algn="r"/>
              <a:t>13</a:t>
            </a:fld>
            <a:endParaRPr lang="en-US" altLang="ja-JP" sz="1200"/>
          </a:p>
        </p:txBody>
      </p:sp>
      <p:sp>
        <p:nvSpPr>
          <p:cNvPr id="1300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00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>
              <a:ea typeface="ＭＳ Ｐゴシック" pitchFamily="50" charset="-128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Rectangle 7"/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3FA221D9-F7C0-4111-82B7-B9B75E3A75DA}" type="slidenum">
              <a:rPr lang="en-US" altLang="ja-JP" sz="1200"/>
              <a:pPr algn="r"/>
              <a:t>14</a:t>
            </a:fld>
            <a:endParaRPr lang="en-US" altLang="ja-JP" sz="1200"/>
          </a:p>
        </p:txBody>
      </p:sp>
      <p:sp>
        <p:nvSpPr>
          <p:cNvPr id="1300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00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>
              <a:ea typeface="ＭＳ Ｐゴシック" pitchFamily="50" charset="-128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7"/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66D86E9D-8226-4337-9FD9-44A2F6DCF472}" type="slidenum">
              <a:rPr lang="en-US" altLang="ja-JP" sz="1200"/>
              <a:pPr algn="r"/>
              <a:t>18</a:t>
            </a:fld>
            <a:endParaRPr lang="en-US" altLang="ja-JP" sz="1200"/>
          </a:p>
        </p:txBody>
      </p:sp>
      <p:sp>
        <p:nvSpPr>
          <p:cNvPr id="1208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08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>
              <a:ea typeface="ＭＳ Ｐゴシック" pitchFamily="50" charset="-128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7"/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E817DC13-52BF-4671-9CC2-88BD77BC42F4}" type="slidenum">
              <a:rPr lang="en-US" altLang="ja-JP" sz="1200"/>
              <a:pPr algn="r"/>
              <a:t>19</a:t>
            </a:fld>
            <a:endParaRPr lang="en-US" altLang="ja-JP" sz="1200"/>
          </a:p>
        </p:txBody>
      </p:sp>
      <p:sp>
        <p:nvSpPr>
          <p:cNvPr id="1239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39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>
              <a:ea typeface="ＭＳ Ｐゴシック" pitchFamily="50" charset="-128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Rectangle 7"/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1D0FBEEF-B6A5-4424-A2E3-6294380844D1}" type="slidenum">
              <a:rPr lang="en-US" altLang="ja-JP" sz="1200"/>
              <a:pPr algn="r"/>
              <a:t>20</a:t>
            </a:fld>
            <a:endParaRPr lang="en-US" altLang="ja-JP" sz="1200"/>
          </a:p>
        </p:txBody>
      </p:sp>
      <p:sp>
        <p:nvSpPr>
          <p:cNvPr id="1259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59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>
              <a:ea typeface="ＭＳ Ｐゴシック" pitchFamily="50" charset="-128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Rectangle 7"/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7F8E4E3E-760A-4B62-AAAF-393288462911}" type="slidenum">
              <a:rPr lang="en-US" altLang="ja-JP" sz="1200"/>
              <a:pPr algn="r"/>
              <a:t>21</a:t>
            </a:fld>
            <a:endParaRPr lang="en-US" altLang="ja-JP" sz="1200"/>
          </a:p>
        </p:txBody>
      </p:sp>
      <p:sp>
        <p:nvSpPr>
          <p:cNvPr id="1341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41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>
              <a:ea typeface="ＭＳ Ｐゴシック" pitchFamily="50" charset="-128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Rectangle 7"/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7F8E4E3E-760A-4B62-AAAF-393288462911}" type="slidenum">
              <a:rPr lang="en-US" altLang="ja-JP" sz="1200"/>
              <a:pPr algn="r"/>
              <a:t>22</a:t>
            </a:fld>
            <a:endParaRPr lang="en-US" altLang="ja-JP" sz="1200"/>
          </a:p>
        </p:txBody>
      </p:sp>
      <p:sp>
        <p:nvSpPr>
          <p:cNvPr id="1341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41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>
              <a:ea typeface="ＭＳ Ｐゴシック" pitchFamily="50" charset="-128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Rectangle 7"/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1D0FBEEF-B6A5-4424-A2E3-6294380844D1}" type="slidenum">
              <a:rPr lang="en-US" altLang="ja-JP" sz="1200"/>
              <a:pPr algn="r"/>
              <a:t>23</a:t>
            </a:fld>
            <a:endParaRPr lang="en-US" altLang="ja-JP" sz="1200"/>
          </a:p>
        </p:txBody>
      </p:sp>
      <p:sp>
        <p:nvSpPr>
          <p:cNvPr id="1259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59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>
              <a:ea typeface="ＭＳ Ｐゴシック" pitchFamily="50" charset="-128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kumimoji="1" lang="ja-JP" altLang="en-US"/>
              <a:t>マスタ タイトルの書式設定</a:t>
            </a:r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/>
              <a:t>マスタ サブタイトルの書式設定</a:t>
            </a:r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2026/9/30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2026/9/30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kumimoji="1" lang="ja-JP" altLang="en-US"/>
              <a:t>マスタ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 テキストの書式設定</a:t>
            </a:r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2026/9/30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kumimoji="1" lang="ja-JP" altLang="en-US"/>
              <a:t>マスタ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kumimoji="1" lang="ja-JP" altLang="en-US"/>
              <a:t>マスタ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2026/9/30</a:t>
            </a:fld>
            <a:endParaRPr kumimoji="1" lang="ja-JP" altLang="en-US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kumimoji="1" lang="ja-JP" altLang="en-US"/>
              <a:t>マスタ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 テキストの書式設定</a:t>
            </a:r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kumimoji="1" lang="ja-JP" altLang="en-US"/>
              <a:t>マスタ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 テキストの書式設定</a:t>
            </a:r>
          </a:p>
        </p:txBody>
      </p:sp>
      <p:sp>
        <p:nvSpPr>
          <p:cNvPr id="6" name="コンテンツ プレースホル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kumimoji="1" lang="ja-JP" altLang="en-US"/>
              <a:t>マスタ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2026/9/30</a:t>
            </a:fld>
            <a:endParaRPr kumimoji="1" lang="ja-JP" altLang="en-US"/>
          </a:p>
        </p:txBody>
      </p:sp>
      <p:sp>
        <p:nvSpPr>
          <p:cNvPr id="8" name="フッター プレースホル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 タイトルの書式設定</a:t>
            </a:r>
          </a:p>
        </p:txBody>
      </p:sp>
      <p:sp>
        <p:nvSpPr>
          <p:cNvPr id="3" name="日付プレースホル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2026/9/30</a:t>
            </a:fld>
            <a:endParaRPr kumimoji="1" lang="ja-JP" altLang="en-US"/>
          </a:p>
        </p:txBody>
      </p:sp>
      <p:sp>
        <p:nvSpPr>
          <p:cNvPr id="4" name="フッター プレースホル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2026/9/30</a:t>
            </a:fld>
            <a:endParaRPr kumimoji="1" lang="ja-JP" altLang="en-US"/>
          </a:p>
        </p:txBody>
      </p:sp>
      <p:sp>
        <p:nvSpPr>
          <p:cNvPr id="3" name="フッター プレースホル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kumimoji="1" lang="ja-JP" altLang="en-US"/>
              <a:t>マスタ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kumimoji="1" lang="ja-JP" altLang="en-US"/>
              <a:t>マスタ テキストの書式設定</a:t>
            </a:r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2026/9/30</a:t>
            </a:fld>
            <a:endParaRPr kumimoji="1" lang="ja-JP" altLang="en-US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kumimoji="1" lang="ja-JP" altLang="en-US"/>
              <a:t>マスタ タイトルの書式設定</a:t>
            </a:r>
          </a:p>
        </p:txBody>
      </p:sp>
      <p:sp>
        <p:nvSpPr>
          <p:cNvPr id="3" name="図プレースホル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kumimoji="1" lang="ja-JP" altLang="en-US"/>
              <a:t>マスタ テキストの書式設定</a:t>
            </a:r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2026/9/30</a:t>
            </a:fld>
            <a:endParaRPr kumimoji="1" lang="ja-JP" altLang="en-US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 タイトルの書式設定</a:t>
            </a:r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2026/9/30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1" lang="ja-JP" altLang="en-US"/>
              <a:t>マスタ タイトルの書式設定</a:t>
            </a:r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kumimoji="1" lang="ja-JP" altLang="en-US"/>
              <a:t>マスタ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2026/9/30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0ED720-0104-4369-84BC-D37694168613}" type="datetimeFigureOut">
              <a:rPr kumimoji="1" lang="ja-JP" altLang="en-US" smtClean="0"/>
              <a:pPr/>
              <a:t>2026/9/30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D8002D-B5B0-4BAC-B1F6-782DDCCE6D9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611560" y="1628800"/>
            <a:ext cx="7992888" cy="2160240"/>
          </a:xfrm>
        </p:spPr>
        <p:txBody>
          <a:bodyPr>
            <a:normAutofit/>
          </a:bodyPr>
          <a:lstStyle/>
          <a:p>
            <a:r>
              <a:rPr lang="en-US" altLang="ja-JP" sz="3600" dirty="0"/>
              <a:t>Foundations for </a:t>
            </a:r>
            <a:br>
              <a:rPr lang="en-US" altLang="ja-JP" sz="3600" dirty="0"/>
            </a:br>
            <a:r>
              <a:rPr lang="en-US" altLang="ja-JP" sz="3600" dirty="0"/>
              <a:t>programming languages </a:t>
            </a:r>
            <a:br>
              <a:rPr lang="en-US" altLang="ja-JP" sz="3600" dirty="0"/>
            </a:br>
            <a:r>
              <a:rPr lang="en-US" altLang="ja-JP" sz="3600" dirty="0"/>
              <a:t>9: Lambda calculus</a:t>
            </a:r>
            <a:endParaRPr kumimoji="1" lang="ja-JP" altLang="en-US" sz="2800" dirty="0"/>
          </a:p>
        </p:txBody>
      </p:sp>
      <p:sp>
        <p:nvSpPr>
          <p:cNvPr id="6" name="サブタイトル 2"/>
          <p:cNvSpPr>
            <a:spLocks noGrp="1"/>
          </p:cNvSpPr>
          <p:nvPr>
            <p:ph type="subTitle" idx="1"/>
          </p:nvPr>
        </p:nvSpPr>
        <p:spPr>
          <a:xfrm>
            <a:off x="3059832" y="5733256"/>
            <a:ext cx="2880320" cy="576064"/>
          </a:xfrm>
        </p:spPr>
        <p:txBody>
          <a:bodyPr>
            <a:normAutofit lnSpcReduction="10000"/>
          </a:bodyPr>
          <a:lstStyle/>
          <a:p>
            <a:r>
              <a:rPr kumimoji="1" lang="en-US" altLang="ja-JP" dirty="0">
                <a:solidFill>
                  <a:schemeClr val="tx1"/>
                </a:solidFill>
              </a:rPr>
              <a:t>Isao Sasano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401915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タイトル 12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ja-JP" dirty="0"/>
              <a:t>Lambda calculus</a:t>
            </a:r>
            <a:endParaRPr lang="ja-JP" altLang="en-US" dirty="0"/>
          </a:p>
        </p:txBody>
      </p:sp>
      <p:sp>
        <p:nvSpPr>
          <p:cNvPr id="104452" name="Text Box 4"/>
          <p:cNvSpPr txBox="1">
            <a:spLocks noChangeArrowheads="1"/>
          </p:cNvSpPr>
          <p:nvPr/>
        </p:nvSpPr>
        <p:spPr bwMode="auto">
          <a:xfrm>
            <a:off x="395536" y="1412776"/>
            <a:ext cx="8321578" cy="18158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altLang="ja-JP" sz="2800" dirty="0"/>
              <a:t>Lambda calculus was invented in 1930’s (before physical digital computers were made). Nowadays it becomes a core of functional languages. It covers all the functions that are computable.</a:t>
            </a:r>
            <a:endParaRPr lang="ja-JP" altLang="en-US" sz="2800" dirty="0"/>
          </a:p>
        </p:txBody>
      </p:sp>
      <p:sp>
        <p:nvSpPr>
          <p:cNvPr id="4" name="Text Box 3"/>
          <p:cNvSpPr txBox="1">
            <a:spLocks noChangeArrowheads="1"/>
          </p:cNvSpPr>
          <p:nvPr/>
        </p:nvSpPr>
        <p:spPr bwMode="auto">
          <a:xfrm>
            <a:off x="1295921" y="3140968"/>
            <a:ext cx="6948487" cy="31085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ja-JP" sz="2800" b="0" dirty="0"/>
              <a:t>[Lambda expressions]</a:t>
            </a:r>
          </a:p>
          <a:p>
            <a:r>
              <a:rPr lang="en-US" altLang="ja-JP" sz="2800" b="0" dirty="0"/>
              <a:t> </a:t>
            </a:r>
            <a:r>
              <a:rPr lang="en-US" altLang="ja-JP" sz="2800" b="0" i="1" dirty="0"/>
              <a:t>&lt;</a:t>
            </a:r>
            <a:r>
              <a:rPr lang="en-US" altLang="ja-JP" sz="2800" dirty="0"/>
              <a:t>t</a:t>
            </a:r>
            <a:r>
              <a:rPr lang="en-US" altLang="ja-JP" sz="2800" b="0" i="1" dirty="0"/>
              <a:t>&gt;</a:t>
            </a:r>
            <a:r>
              <a:rPr lang="en-US" altLang="ja-JP" sz="2800" b="0" dirty="0"/>
              <a:t> ::= &lt;c&gt;                 constants</a:t>
            </a:r>
            <a:endParaRPr lang="ja-JP" altLang="en-US" sz="2800" b="0" dirty="0"/>
          </a:p>
          <a:p>
            <a:r>
              <a:rPr lang="en-US" altLang="ja-JP" sz="2800" b="0" dirty="0"/>
              <a:t>        </a:t>
            </a:r>
            <a:r>
              <a:rPr lang="en-US" altLang="ja-JP" sz="2800" dirty="0"/>
              <a:t> </a:t>
            </a:r>
            <a:r>
              <a:rPr lang="en-US" altLang="ja-JP" sz="2800" b="0" dirty="0"/>
              <a:t>| &lt;id&gt;                 variables</a:t>
            </a:r>
          </a:p>
          <a:p>
            <a:r>
              <a:rPr lang="en-US" altLang="ja-JP" sz="2800" b="0" dirty="0"/>
              <a:t>         | (</a:t>
            </a:r>
            <a:r>
              <a:rPr lang="en-US" altLang="ja-JP" sz="2800" b="0" dirty="0">
                <a:sym typeface="Symbol" pitchFamily="18" charset="2"/>
              </a:rPr>
              <a:t></a:t>
            </a:r>
            <a:r>
              <a:rPr lang="en-US" altLang="ja-JP" sz="2800" b="0" dirty="0"/>
              <a:t>&lt;id&gt;.&lt;t&gt;)     lambda abstractions</a:t>
            </a:r>
            <a:endParaRPr lang="ja-JP" altLang="en-US" sz="2800" b="0" dirty="0"/>
          </a:p>
          <a:p>
            <a:r>
              <a:rPr lang="en-US" altLang="ja-JP" sz="2800" b="0" dirty="0"/>
              <a:t>       </a:t>
            </a:r>
            <a:r>
              <a:rPr lang="en-US" altLang="ja-JP" sz="2800" dirty="0"/>
              <a:t>  </a:t>
            </a:r>
            <a:r>
              <a:rPr lang="en-US" altLang="ja-JP" sz="2800" b="0" dirty="0"/>
              <a:t>|</a:t>
            </a:r>
            <a:r>
              <a:rPr lang="en-US" altLang="ja-JP" sz="2800" b="0" i="1" dirty="0"/>
              <a:t> </a:t>
            </a:r>
            <a:r>
              <a:rPr lang="en-US" altLang="ja-JP" sz="2800" b="0" dirty="0"/>
              <a:t>(&lt;t&gt; &lt;</a:t>
            </a:r>
            <a:r>
              <a:rPr lang="en-US" altLang="ja-JP" sz="2800" dirty="0"/>
              <a:t>t</a:t>
            </a:r>
            <a:r>
              <a:rPr lang="en-US" altLang="ja-JP" sz="2800" b="0" dirty="0"/>
              <a:t>&gt;)         function applications</a:t>
            </a:r>
          </a:p>
          <a:p>
            <a:r>
              <a:rPr lang="en-US" altLang="ja-JP" sz="2800" b="0" dirty="0"/>
              <a:t>&lt;c&gt; ::= 0 | 1 | 2 | 3 | …</a:t>
            </a:r>
          </a:p>
          <a:p>
            <a:r>
              <a:rPr lang="en-US" altLang="ja-JP" sz="2800" b="0" dirty="0"/>
              <a:t>&lt;id&gt; ::= x | y | z | w | …</a:t>
            </a:r>
            <a:endParaRPr lang="ja-JP" altLang="en-US" sz="2800" b="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タイトル 12"/>
          <p:cNvSpPr>
            <a:spLocks noGrp="1"/>
          </p:cNvSpPr>
          <p:nvPr>
            <p:ph type="title" idx="4294967295"/>
          </p:nvPr>
        </p:nvSpPr>
        <p:spPr>
          <a:xfrm>
            <a:off x="457200" y="274638"/>
            <a:ext cx="8229600" cy="778098"/>
          </a:xfrm>
        </p:spPr>
        <p:txBody>
          <a:bodyPr/>
          <a:lstStyle/>
          <a:p>
            <a:r>
              <a:rPr lang="en-US" altLang="ja-JP" dirty="0"/>
              <a:t>Lambda expressions</a:t>
            </a:r>
            <a:endParaRPr lang="ja-JP" altLang="en-US" dirty="0"/>
          </a:p>
        </p:txBody>
      </p:sp>
      <p:sp>
        <p:nvSpPr>
          <p:cNvPr id="106499" name="Text Box 3"/>
          <p:cNvSpPr txBox="1">
            <a:spLocks noChangeArrowheads="1"/>
          </p:cNvSpPr>
          <p:nvPr/>
        </p:nvSpPr>
        <p:spPr bwMode="auto">
          <a:xfrm>
            <a:off x="323528" y="1196752"/>
            <a:ext cx="8568952" cy="44012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457200" indent="-457200"/>
            <a:r>
              <a:rPr lang="en-US" altLang="ja-JP" sz="2800" b="0" dirty="0"/>
              <a:t>Conventions when writing lambda expressions:</a:t>
            </a:r>
            <a:endParaRPr lang="ja-JP" altLang="en-US" sz="2800" b="0" dirty="0"/>
          </a:p>
          <a:p>
            <a:pPr marL="457200" indent="-457200">
              <a:buFontTx/>
              <a:buAutoNum type="arabicPeriod"/>
            </a:pPr>
            <a:r>
              <a:rPr lang="en-US" altLang="ja-JP" sz="2800" b="0" dirty="0"/>
              <a:t>Function applications associate to the left, so that </a:t>
            </a:r>
            <a:r>
              <a:rPr lang="en-US" altLang="ja-JP" sz="2800" i="1" dirty="0"/>
              <a:t>t</a:t>
            </a:r>
            <a:r>
              <a:rPr lang="en-US" altLang="ja-JP" sz="2800" b="0" baseline="-25000" dirty="0"/>
              <a:t>1</a:t>
            </a:r>
            <a:r>
              <a:rPr lang="en-US" altLang="ja-JP" sz="2800" b="0" i="1" dirty="0"/>
              <a:t> </a:t>
            </a:r>
            <a:r>
              <a:rPr lang="en-US" altLang="ja-JP" sz="2800" i="1" dirty="0"/>
              <a:t>t</a:t>
            </a:r>
            <a:r>
              <a:rPr lang="en-US" altLang="ja-JP" sz="2800" b="0" baseline="-25000" dirty="0"/>
              <a:t>2</a:t>
            </a:r>
            <a:r>
              <a:rPr lang="en-US" altLang="ja-JP" sz="2800" b="0" i="1" dirty="0"/>
              <a:t> </a:t>
            </a:r>
            <a:r>
              <a:rPr lang="en-US" altLang="ja-JP" sz="2800" i="1" dirty="0"/>
              <a:t>t</a:t>
            </a:r>
            <a:r>
              <a:rPr lang="en-US" altLang="ja-JP" sz="2800" b="0" baseline="-25000" dirty="0"/>
              <a:t>3</a:t>
            </a:r>
            <a:r>
              <a:rPr lang="en-US" altLang="ja-JP" sz="2800" b="0" dirty="0"/>
              <a:t> should be read </a:t>
            </a:r>
            <a:r>
              <a:rPr lang="en-US" altLang="ja-JP" sz="2800" dirty="0"/>
              <a:t>as (</a:t>
            </a:r>
            <a:r>
              <a:rPr lang="en-US" altLang="ja-JP" sz="2800" i="1" dirty="0"/>
              <a:t>t</a:t>
            </a:r>
            <a:r>
              <a:rPr lang="en-US" altLang="ja-JP" sz="2800" baseline="-25000" dirty="0"/>
              <a:t>1</a:t>
            </a:r>
            <a:r>
              <a:rPr lang="en-US" altLang="ja-JP" sz="2800" i="1" dirty="0"/>
              <a:t> t</a:t>
            </a:r>
            <a:r>
              <a:rPr lang="en-US" altLang="ja-JP" sz="2800" baseline="-25000" dirty="0"/>
              <a:t>2</a:t>
            </a:r>
            <a:r>
              <a:rPr lang="en-US" altLang="ja-JP" sz="2800" dirty="0"/>
              <a:t>)</a:t>
            </a:r>
            <a:r>
              <a:rPr lang="en-US" altLang="ja-JP" sz="2800" i="1" dirty="0"/>
              <a:t> t</a:t>
            </a:r>
            <a:r>
              <a:rPr lang="en-US" altLang="ja-JP" sz="2800" baseline="-25000" dirty="0"/>
              <a:t>3</a:t>
            </a:r>
            <a:r>
              <a:rPr lang="en-US" altLang="ja-JP" sz="2800" dirty="0"/>
              <a:t>.</a:t>
            </a:r>
            <a:endParaRPr lang="ja-JP" altLang="en-US" sz="2800" b="0" dirty="0"/>
          </a:p>
          <a:p>
            <a:pPr marL="457200" indent="-457200">
              <a:buFontTx/>
              <a:buAutoNum type="arabicPeriod"/>
            </a:pPr>
            <a:r>
              <a:rPr lang="en-US" altLang="ja-JP" sz="2800" b="0" dirty="0">
                <a:sym typeface="Symbol" pitchFamily="18" charset="2"/>
              </a:rPr>
              <a:t>The scope of each variable bound in lambda abstraction is interpreted as being as large as possible, so an expression </a:t>
            </a:r>
            <a:r>
              <a:rPr lang="ja-JP" altLang="en-US" sz="2800" b="0" dirty="0">
                <a:sym typeface="Symbol" pitchFamily="18" charset="2"/>
              </a:rPr>
              <a:t></a:t>
            </a:r>
            <a:r>
              <a:rPr lang="en-US" altLang="ja-JP" sz="2800" b="0" i="1" dirty="0"/>
              <a:t>x. … </a:t>
            </a:r>
            <a:r>
              <a:rPr lang="en-US" altLang="ja-JP" sz="2800" b="0" dirty="0"/>
              <a:t>may be parenthesized by inserting a left parenthesis after the dot and the matching right parenthesis as far to the right as will produce a syntactically well-formed expression.</a:t>
            </a:r>
          </a:p>
          <a:p>
            <a:pPr marL="457200" indent="-457200">
              <a:buFontTx/>
              <a:buAutoNum type="arabicPeriod"/>
            </a:pPr>
            <a:r>
              <a:rPr lang="en-US" altLang="ja-JP" sz="2800" dirty="0"/>
              <a:t>When parentheses are omitted, obey 1 and 2. </a:t>
            </a:r>
            <a:endParaRPr lang="en-US" altLang="ja-JP" sz="2800" b="0" dirty="0"/>
          </a:p>
        </p:txBody>
      </p:sp>
      <p:sp>
        <p:nvSpPr>
          <p:cNvPr id="106500" name="Text Box 4"/>
          <p:cNvSpPr txBox="1">
            <a:spLocks noChangeArrowheads="1"/>
          </p:cNvSpPr>
          <p:nvPr/>
        </p:nvSpPr>
        <p:spPr bwMode="auto">
          <a:xfrm>
            <a:off x="361153" y="5733256"/>
            <a:ext cx="8334521" cy="954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ja-JP" sz="2800" dirty="0"/>
              <a:t>(ex.) We read </a:t>
            </a:r>
            <a:r>
              <a:rPr lang="en-US" altLang="ja-JP" sz="2800" b="0" dirty="0"/>
              <a:t>x y z as ((x y) z).</a:t>
            </a:r>
            <a:endParaRPr lang="ja-JP" altLang="en-US" sz="2800" b="0" dirty="0"/>
          </a:p>
          <a:p>
            <a:r>
              <a:rPr lang="en-US" altLang="ja-JP" sz="2800" dirty="0"/>
              <a:t>(ex.) We read </a:t>
            </a:r>
            <a:r>
              <a:rPr lang="ja-JP" altLang="en-US" sz="2800" b="0" dirty="0">
                <a:sym typeface="Symbol" pitchFamily="18" charset="2"/>
              </a:rPr>
              <a:t></a:t>
            </a:r>
            <a:r>
              <a:rPr lang="en-US" altLang="ja-JP" sz="2800" b="0" dirty="0"/>
              <a:t>x. </a:t>
            </a:r>
            <a:r>
              <a:rPr lang="ja-JP" altLang="en-US" sz="2800" b="0" dirty="0">
                <a:sym typeface="Symbol" pitchFamily="18" charset="2"/>
              </a:rPr>
              <a:t></a:t>
            </a:r>
            <a:r>
              <a:rPr lang="en-US" altLang="ja-JP" sz="2800" b="0" dirty="0"/>
              <a:t>y. </a:t>
            </a:r>
            <a:r>
              <a:rPr lang="ja-JP" altLang="en-US" sz="2800" b="0" dirty="0">
                <a:sym typeface="Symbol" pitchFamily="18" charset="2"/>
              </a:rPr>
              <a:t></a:t>
            </a:r>
            <a:r>
              <a:rPr lang="en-US" altLang="ja-JP" sz="2800" b="0" dirty="0"/>
              <a:t>z. x y z as</a:t>
            </a:r>
            <a:r>
              <a:rPr lang="ja-JP" altLang="en-US" sz="2800" b="0" dirty="0"/>
              <a:t> </a:t>
            </a:r>
            <a:r>
              <a:rPr lang="en-US" altLang="ja-JP" sz="2800" b="0" dirty="0"/>
              <a:t>(</a:t>
            </a:r>
            <a:r>
              <a:rPr lang="ja-JP" altLang="en-US" sz="2800" b="0" dirty="0">
                <a:sym typeface="Symbol" pitchFamily="18" charset="2"/>
              </a:rPr>
              <a:t></a:t>
            </a:r>
            <a:r>
              <a:rPr lang="en-US" altLang="ja-JP" sz="2800" b="0" dirty="0"/>
              <a:t>x. (</a:t>
            </a:r>
            <a:r>
              <a:rPr lang="ja-JP" altLang="en-US" sz="2800" b="0" dirty="0">
                <a:sym typeface="Symbol" pitchFamily="18" charset="2"/>
              </a:rPr>
              <a:t></a:t>
            </a:r>
            <a:r>
              <a:rPr lang="en-US" altLang="ja-JP" sz="2800" b="0" dirty="0"/>
              <a:t>y. (</a:t>
            </a:r>
            <a:r>
              <a:rPr lang="ja-JP" altLang="en-US" sz="2800" b="0" dirty="0">
                <a:sym typeface="Symbol" pitchFamily="18" charset="2"/>
              </a:rPr>
              <a:t></a:t>
            </a:r>
            <a:r>
              <a:rPr lang="en-US" altLang="ja-JP" sz="2800" b="0" dirty="0"/>
              <a:t>z. ((x y) z)))).</a:t>
            </a:r>
            <a:endParaRPr lang="en-US" altLang="ja-JP" sz="2800" b="0" i="1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タイトル 12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ja-JP" dirty="0"/>
              <a:t>Lambda expressions</a:t>
            </a:r>
            <a:endParaRPr lang="ja-JP" altLang="en-US" dirty="0"/>
          </a:p>
        </p:txBody>
      </p:sp>
      <p:sp>
        <p:nvSpPr>
          <p:cNvPr id="111619" name="Text Box 3"/>
          <p:cNvSpPr txBox="1">
            <a:spLocks noChangeArrowheads="1"/>
          </p:cNvSpPr>
          <p:nvPr/>
        </p:nvSpPr>
        <p:spPr bwMode="auto">
          <a:xfrm>
            <a:off x="611560" y="1772816"/>
            <a:ext cx="8060183" cy="35394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indent="-457200"/>
            <a:r>
              <a:rPr lang="en-US" altLang="ja-JP" sz="2800" b="0" dirty="0"/>
              <a:t>Lambda expressions are invented while pursuing the essentials of computations.</a:t>
            </a:r>
            <a:endParaRPr lang="ja-JP" altLang="en-US" sz="2800" b="0" dirty="0"/>
          </a:p>
          <a:p>
            <a:pPr marL="457200" indent="-457200"/>
            <a:endParaRPr lang="ja-JP" altLang="en-US" sz="2800" b="0" dirty="0"/>
          </a:p>
          <a:p>
            <a:pPr indent="-457200"/>
            <a:r>
              <a:rPr lang="en-US" altLang="ja-JP" sz="2800" b="0" dirty="0"/>
              <a:t>Intuitively a lambda abstraction is a form for writing a function. For example, the function g defined by</a:t>
            </a:r>
            <a:endParaRPr lang="ja-JP" altLang="en-US" sz="2800" b="0" dirty="0"/>
          </a:p>
          <a:p>
            <a:pPr marL="457200" indent="-457200"/>
            <a:r>
              <a:rPr lang="en-US" altLang="ja-JP" sz="2800" b="0" dirty="0"/>
              <a:t>   g ( x ) = x + 1</a:t>
            </a:r>
          </a:p>
          <a:p>
            <a:pPr marL="457200" indent="-457200"/>
            <a:r>
              <a:rPr lang="en-US" altLang="ja-JP" sz="2800" dirty="0"/>
              <a:t>is written using lambda abstraction as follows. </a:t>
            </a:r>
            <a:endParaRPr lang="en-US" altLang="ja-JP" sz="2800" b="0" dirty="0"/>
          </a:p>
          <a:p>
            <a:pPr marL="457200" indent="-457200"/>
            <a:r>
              <a:rPr lang="en-US" altLang="ja-JP" sz="2800" b="0" dirty="0"/>
              <a:t>    g = </a:t>
            </a:r>
            <a:r>
              <a:rPr lang="en-US" altLang="ja-JP" sz="2800" b="0" dirty="0">
                <a:sym typeface="Symbol" pitchFamily="18" charset="2"/>
              </a:rPr>
              <a:t> x. x + 1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タイトル 12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ja-JP" dirty="0"/>
              <a:t>Lambda calculus</a:t>
            </a:r>
            <a:endParaRPr lang="ja-JP" altLang="en-US" dirty="0"/>
          </a:p>
        </p:txBody>
      </p:sp>
      <p:sp>
        <p:nvSpPr>
          <p:cNvPr id="4" name="正方形/長方形 3"/>
          <p:cNvSpPr/>
          <p:nvPr/>
        </p:nvSpPr>
        <p:spPr>
          <a:xfrm>
            <a:off x="683568" y="1700808"/>
            <a:ext cx="7380312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ja-JP" sz="2800" dirty="0"/>
              <a:t>Lambda calculus is a computation system according to the idea where computation is a series of transformations (called beta reductions) of lambda expressions.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タイトル 12"/>
          <p:cNvSpPr>
            <a:spLocks noGrp="1"/>
          </p:cNvSpPr>
          <p:nvPr>
            <p:ph type="title" idx="4294967295"/>
          </p:nvPr>
        </p:nvSpPr>
        <p:spPr/>
        <p:txBody>
          <a:bodyPr>
            <a:normAutofit/>
          </a:bodyPr>
          <a:lstStyle/>
          <a:p>
            <a:r>
              <a:rPr lang="en-US" altLang="ja-JP" dirty="0">
                <a:sym typeface="Symbol" pitchFamily="18" charset="2"/>
              </a:rPr>
              <a:t>Examples of beta reductions</a:t>
            </a:r>
            <a:endParaRPr lang="ja-JP" altLang="en-US" dirty="0">
              <a:sym typeface="Symbol" pitchFamily="18" charset="2"/>
            </a:endParaRPr>
          </a:p>
        </p:txBody>
      </p:sp>
      <p:sp>
        <p:nvSpPr>
          <p:cNvPr id="4" name="正方形/長方形 3"/>
          <p:cNvSpPr/>
          <p:nvPr/>
        </p:nvSpPr>
        <p:spPr>
          <a:xfrm>
            <a:off x="785786" y="1785926"/>
            <a:ext cx="7786710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/>
            <a:endParaRPr lang="en-US" altLang="ja-JP" sz="2800" dirty="0">
              <a:sym typeface="Symbol" pitchFamily="18" charset="2"/>
            </a:endParaRPr>
          </a:p>
          <a:p>
            <a:pPr marL="457200" indent="-457200"/>
            <a:endParaRPr lang="en-US" altLang="ja-JP" sz="2800" dirty="0">
              <a:sym typeface="Symbol" pitchFamily="18" charset="2"/>
            </a:endParaRPr>
          </a:p>
        </p:txBody>
      </p:sp>
      <p:sp>
        <p:nvSpPr>
          <p:cNvPr id="5" name="正方形/長方形 4"/>
          <p:cNvSpPr/>
          <p:nvPr/>
        </p:nvSpPr>
        <p:spPr>
          <a:xfrm>
            <a:off x="971600" y="4941168"/>
            <a:ext cx="6637202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ja-JP" sz="2800" dirty="0"/>
              <a:t>Similarly, g ( x ) = x  and</a:t>
            </a:r>
            <a:r>
              <a:rPr lang="ja-JP" altLang="en-US" sz="2800" dirty="0"/>
              <a:t> </a:t>
            </a:r>
            <a:r>
              <a:rPr lang="en-US" altLang="ja-JP" sz="2800" dirty="0"/>
              <a:t>g ( y ) = y have the same meaning in mathematics.  </a:t>
            </a:r>
            <a:endParaRPr lang="ja-JP" altLang="en-US" sz="2800" dirty="0"/>
          </a:p>
        </p:txBody>
      </p:sp>
      <p:sp>
        <p:nvSpPr>
          <p:cNvPr id="6" name="正方形/長方形 5"/>
          <p:cNvSpPr/>
          <p:nvPr/>
        </p:nvSpPr>
        <p:spPr>
          <a:xfrm>
            <a:off x="827584" y="1628800"/>
            <a:ext cx="4572000" cy="954107"/>
          </a:xfrm>
          <a:prstGeom prst="rect">
            <a:avLst/>
          </a:prstGeom>
        </p:spPr>
        <p:txBody>
          <a:bodyPr>
            <a:spAutoFit/>
          </a:bodyPr>
          <a:lstStyle/>
          <a:p>
            <a:pPr marL="457200" indent="-457200"/>
            <a:r>
              <a:rPr lang="en-US" altLang="ja-JP" sz="2800" dirty="0">
                <a:sym typeface="Symbol" pitchFamily="18" charset="2"/>
              </a:rPr>
              <a:t>(ex.) (x. x)  z</a:t>
            </a:r>
            <a:r>
              <a:rPr lang="ja-JP" altLang="en-US" sz="2800" dirty="0">
                <a:sym typeface="Symbol" pitchFamily="18" charset="2"/>
              </a:rPr>
              <a:t> </a:t>
            </a:r>
            <a:r>
              <a:rPr lang="en-US" altLang="ja-JP" sz="2800" dirty="0">
                <a:sym typeface="Symbol" pitchFamily="18" charset="2"/>
              </a:rPr>
              <a:t>  z</a:t>
            </a:r>
          </a:p>
          <a:p>
            <a:pPr marL="457200" indent="-457200"/>
            <a:r>
              <a:rPr lang="en-US" altLang="ja-JP" sz="2800" dirty="0">
                <a:sym typeface="Symbol" pitchFamily="18" charset="2"/>
              </a:rPr>
              <a:t>(ex.) (y. y)  z</a:t>
            </a:r>
            <a:r>
              <a:rPr lang="ja-JP" altLang="en-US" sz="2800" dirty="0">
                <a:sym typeface="Symbol" pitchFamily="18" charset="2"/>
              </a:rPr>
              <a:t> </a:t>
            </a:r>
            <a:r>
              <a:rPr lang="en-US" altLang="ja-JP" sz="2800" dirty="0">
                <a:sym typeface="Symbol" pitchFamily="18" charset="2"/>
              </a:rPr>
              <a:t>  z</a:t>
            </a:r>
          </a:p>
        </p:txBody>
      </p:sp>
      <p:sp>
        <p:nvSpPr>
          <p:cNvPr id="7" name="正方形/長方形 6"/>
          <p:cNvSpPr/>
          <p:nvPr/>
        </p:nvSpPr>
        <p:spPr>
          <a:xfrm>
            <a:off x="971600" y="2852936"/>
            <a:ext cx="7056784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ja-JP" sz="2800" dirty="0"/>
              <a:t>Intuitively the expression (</a:t>
            </a:r>
            <a:r>
              <a:rPr lang="en-US" altLang="ja-JP" sz="2800" dirty="0" err="1"/>
              <a:t>λx</a:t>
            </a:r>
            <a:r>
              <a:rPr lang="en-US" altLang="ja-JP" sz="2800" dirty="0"/>
              <a:t>. x) is a function that takes an argument and returns it, so even if we change the x’s to y’s, the meaning does not change.</a:t>
            </a:r>
            <a:endParaRPr lang="ja-JP" altLang="en-US" sz="2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タイトル 12"/>
          <p:cNvSpPr>
            <a:spLocks noGrp="1"/>
          </p:cNvSpPr>
          <p:nvPr>
            <p:ph type="title" idx="4294967295"/>
          </p:nvPr>
        </p:nvSpPr>
        <p:spPr/>
        <p:txBody>
          <a:bodyPr>
            <a:normAutofit/>
          </a:bodyPr>
          <a:lstStyle/>
          <a:p>
            <a:r>
              <a:rPr lang="en-US" altLang="ja-JP" dirty="0">
                <a:sym typeface="Symbol" pitchFamily="18" charset="2"/>
              </a:rPr>
              <a:t>Examples of beta reductions (cont.)</a:t>
            </a:r>
            <a:endParaRPr lang="ja-JP" altLang="en-US" dirty="0">
              <a:sym typeface="Symbol" pitchFamily="18" charset="2"/>
            </a:endParaRPr>
          </a:p>
        </p:txBody>
      </p:sp>
      <p:sp>
        <p:nvSpPr>
          <p:cNvPr id="4" name="正方形/長方形 3"/>
          <p:cNvSpPr/>
          <p:nvPr/>
        </p:nvSpPr>
        <p:spPr>
          <a:xfrm>
            <a:off x="785786" y="1785926"/>
            <a:ext cx="778671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/>
            <a:r>
              <a:rPr lang="en-US" altLang="ja-JP" sz="2800" dirty="0">
                <a:sym typeface="Symbol" pitchFamily="18" charset="2"/>
              </a:rPr>
              <a:t>(ex.) (x. x</a:t>
            </a:r>
            <a:r>
              <a:rPr lang="ja-JP" altLang="en-US" sz="2800" dirty="0">
                <a:sym typeface="Symbol" pitchFamily="18" charset="2"/>
              </a:rPr>
              <a:t> </a:t>
            </a:r>
            <a:r>
              <a:rPr lang="en-US" altLang="ja-JP" sz="2800" dirty="0">
                <a:sym typeface="Symbol" pitchFamily="18" charset="2"/>
              </a:rPr>
              <a:t>y) (z. z)  (z. z) y</a:t>
            </a:r>
          </a:p>
        </p:txBody>
      </p:sp>
      <p:sp>
        <p:nvSpPr>
          <p:cNvPr id="5" name="正方形/長方形 4"/>
          <p:cNvSpPr/>
          <p:nvPr/>
        </p:nvSpPr>
        <p:spPr>
          <a:xfrm>
            <a:off x="1259632" y="2348880"/>
            <a:ext cx="7398568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ja-JP" sz="2800" dirty="0"/>
              <a:t>(</a:t>
            </a:r>
            <a:r>
              <a:rPr lang="en-US" altLang="ja-JP" sz="2800" dirty="0" err="1"/>
              <a:t>λx</a:t>
            </a:r>
            <a:r>
              <a:rPr lang="en-US" altLang="ja-JP" sz="2800" dirty="0"/>
              <a:t>. x y) takes an argument x and applies x to y. In this example, (</a:t>
            </a:r>
            <a:r>
              <a:rPr lang="en-US" altLang="ja-JP" sz="2800" dirty="0" err="1"/>
              <a:t>λz</a:t>
            </a:r>
            <a:r>
              <a:rPr lang="en-US" altLang="ja-JP" sz="2800" dirty="0"/>
              <a:t>. z) is the actual argument, so it is applied to y. (This can further be beta reduced to y.)</a:t>
            </a:r>
          </a:p>
        </p:txBody>
      </p:sp>
      <p:sp>
        <p:nvSpPr>
          <p:cNvPr id="6" name="正方形/長方形 5"/>
          <p:cNvSpPr/>
          <p:nvPr/>
        </p:nvSpPr>
        <p:spPr>
          <a:xfrm>
            <a:off x="827584" y="4437112"/>
            <a:ext cx="583264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ja-JP" sz="2800" dirty="0"/>
              <a:t>(ex.) (</a:t>
            </a:r>
            <a:r>
              <a:rPr lang="en-US" altLang="ja-JP" sz="2800" dirty="0" err="1"/>
              <a:t>λx</a:t>
            </a:r>
            <a:r>
              <a:rPr lang="en-US" altLang="ja-JP" sz="2800" dirty="0"/>
              <a:t>. x)  (</a:t>
            </a:r>
            <a:r>
              <a:rPr lang="en-US" altLang="ja-JP" sz="2800" dirty="0" err="1"/>
              <a:t>λy</a:t>
            </a:r>
            <a:r>
              <a:rPr lang="en-US" altLang="ja-JP" sz="2800" dirty="0"/>
              <a:t>. y) </a:t>
            </a:r>
            <a:r>
              <a:rPr lang="en-US" altLang="ja-JP" sz="2800" dirty="0">
                <a:sym typeface="Symbol" pitchFamily="18" charset="2"/>
              </a:rPr>
              <a:t> </a:t>
            </a:r>
            <a:r>
              <a:rPr lang="en-US" altLang="ja-JP" sz="2800" dirty="0"/>
              <a:t>(</a:t>
            </a:r>
            <a:r>
              <a:rPr lang="en-US" altLang="ja-JP" sz="2800" dirty="0" err="1"/>
              <a:t>λy</a:t>
            </a:r>
            <a:r>
              <a:rPr lang="en-US" altLang="ja-JP" sz="2800" dirty="0"/>
              <a:t>. y) </a:t>
            </a:r>
          </a:p>
        </p:txBody>
      </p:sp>
      <p:sp>
        <p:nvSpPr>
          <p:cNvPr id="7" name="正方形/長方形 6"/>
          <p:cNvSpPr/>
          <p:nvPr/>
        </p:nvSpPr>
        <p:spPr>
          <a:xfrm>
            <a:off x="1259632" y="5085184"/>
            <a:ext cx="7272808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ja-JP" sz="2800" dirty="0"/>
              <a:t>(</a:t>
            </a:r>
            <a:r>
              <a:rPr lang="en-US" altLang="ja-JP" sz="2800" dirty="0" err="1"/>
              <a:t>λx</a:t>
            </a:r>
            <a:r>
              <a:rPr lang="en-US" altLang="ja-JP" sz="2800" dirty="0"/>
              <a:t>. x) represents a function that takes an argument x and returns x. In this example, (</a:t>
            </a:r>
            <a:r>
              <a:rPr lang="en-US" altLang="ja-JP" sz="2800" dirty="0" err="1"/>
              <a:t>λy</a:t>
            </a:r>
            <a:r>
              <a:rPr lang="en-US" altLang="ja-JP" sz="2800" dirty="0"/>
              <a:t>. y) is the actual argument, so the result is (</a:t>
            </a:r>
            <a:r>
              <a:rPr lang="en-US" altLang="ja-JP" sz="2800" dirty="0" err="1"/>
              <a:t>λy</a:t>
            </a:r>
            <a:r>
              <a:rPr lang="en-US" altLang="ja-JP" sz="2800" dirty="0"/>
              <a:t>. y).</a:t>
            </a:r>
            <a:endParaRPr lang="ja-JP" altLang="en-US" sz="2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タイトル 12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ja-JP"/>
              <a:t>Meta variables</a:t>
            </a:r>
            <a:endParaRPr lang="ja-JP" altLang="en-US" dirty="0"/>
          </a:p>
        </p:txBody>
      </p:sp>
      <p:sp>
        <p:nvSpPr>
          <p:cNvPr id="109571" name="Text Box 3"/>
          <p:cNvSpPr txBox="1">
            <a:spLocks noChangeArrowheads="1"/>
          </p:cNvSpPr>
          <p:nvPr/>
        </p:nvSpPr>
        <p:spPr bwMode="auto">
          <a:xfrm>
            <a:off x="976313" y="1785938"/>
            <a:ext cx="6948487" cy="31085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ja-JP" sz="2800" dirty="0"/>
              <a:t>We use the following meta variables. </a:t>
            </a:r>
          </a:p>
          <a:p>
            <a:endParaRPr lang="en-US" altLang="ja-JP" sz="2800" dirty="0"/>
          </a:p>
          <a:p>
            <a:r>
              <a:rPr lang="en-US" altLang="ja-JP" sz="2800" i="1" dirty="0"/>
              <a:t>M, N, P, M</a:t>
            </a:r>
            <a:r>
              <a:rPr lang="en-US" altLang="ja-JP" sz="2800" baseline="-25000" dirty="0"/>
              <a:t>1</a:t>
            </a:r>
            <a:r>
              <a:rPr lang="en-US" altLang="ja-JP" sz="2800" i="1" dirty="0"/>
              <a:t>, M</a:t>
            </a:r>
            <a:r>
              <a:rPr lang="en-US" altLang="ja-JP" sz="2800" baseline="-25000" dirty="0"/>
              <a:t>2</a:t>
            </a:r>
            <a:r>
              <a:rPr lang="en-US" altLang="ja-JP" sz="2800" dirty="0"/>
              <a:t>, </a:t>
            </a:r>
            <a:r>
              <a:rPr lang="en-US" altLang="ja-JP" sz="2800" dirty="0" err="1"/>
              <a:t>etc</a:t>
            </a:r>
            <a:r>
              <a:rPr lang="en-US" altLang="ja-JP" sz="2800" dirty="0"/>
              <a:t>:  lambda expressions</a:t>
            </a:r>
          </a:p>
          <a:p>
            <a:r>
              <a:rPr lang="en-US" altLang="ja-JP" sz="2800" dirty="0"/>
              <a:t> </a:t>
            </a:r>
            <a:r>
              <a:rPr lang="en-US" altLang="ja-JP" sz="2800" i="1" dirty="0"/>
              <a:t>c</a:t>
            </a:r>
            <a:r>
              <a:rPr lang="en-US" altLang="ja-JP" sz="2800" dirty="0"/>
              <a:t>: constants (natural numbers)</a:t>
            </a:r>
            <a:endParaRPr lang="ja-JP" altLang="en-US" sz="2800" b="0" dirty="0"/>
          </a:p>
          <a:p>
            <a:r>
              <a:rPr lang="en-US" altLang="ja-JP" sz="2800" b="0" dirty="0"/>
              <a:t> </a:t>
            </a:r>
            <a:r>
              <a:rPr lang="en-US" altLang="ja-JP" sz="2800" b="0" i="1" dirty="0"/>
              <a:t>x, y, z </a:t>
            </a:r>
            <a:r>
              <a:rPr lang="en-US" altLang="ja-JP" sz="2800" dirty="0"/>
              <a:t>: </a:t>
            </a:r>
            <a:r>
              <a:rPr lang="en-US" altLang="ja-JP" sz="2800" b="0" dirty="0"/>
              <a:t>variables</a:t>
            </a:r>
            <a:r>
              <a:rPr lang="ja-JP" altLang="en-US" sz="2800" b="0" dirty="0"/>
              <a:t>（</a:t>
            </a:r>
            <a:r>
              <a:rPr lang="en-US" altLang="ja-JP" sz="2800" b="0" dirty="0"/>
              <a:t>x, y, z, w, etc. In this slide, meta variables are written in italic and usual variables are written in roman.)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タイトル 12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ja-JP" dirty="0">
                <a:sym typeface="Symbol" pitchFamily="18" charset="2"/>
              </a:rPr>
              <a:t>Beta reductions</a:t>
            </a:r>
            <a:endParaRPr lang="ja-JP" altLang="en-US" dirty="0">
              <a:sym typeface="Symbol" pitchFamily="18" charset="2"/>
            </a:endParaRPr>
          </a:p>
        </p:txBody>
      </p:sp>
      <p:sp>
        <p:nvSpPr>
          <p:cNvPr id="117763" name="Text Box 3"/>
          <p:cNvSpPr txBox="1">
            <a:spLocks noChangeArrowheads="1"/>
          </p:cNvSpPr>
          <p:nvPr/>
        </p:nvSpPr>
        <p:spPr bwMode="auto">
          <a:xfrm>
            <a:off x="971600" y="1628800"/>
            <a:ext cx="7091362" cy="31085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indent="-457200"/>
            <a:r>
              <a:rPr lang="en-US" altLang="ja-JP" sz="2800" b="0" dirty="0">
                <a:sym typeface="Symbol" pitchFamily="18" charset="2"/>
              </a:rPr>
              <a:t>Beta reduction </a:t>
            </a:r>
            <a:r>
              <a:rPr lang="en-US" altLang="ja-JP" sz="2800" dirty="0">
                <a:sym typeface="Symbol" pitchFamily="18" charset="2"/>
              </a:rPr>
              <a:t>is written by </a:t>
            </a:r>
            <a:r>
              <a:rPr lang="ja-JP" altLang="en-US" sz="2800" b="0" dirty="0">
                <a:sym typeface="Symbol" pitchFamily="18" charset="2"/>
              </a:rPr>
              <a:t></a:t>
            </a:r>
            <a:r>
              <a:rPr lang="en-US" altLang="ja-JP" sz="2800" b="0" dirty="0">
                <a:sym typeface="Symbol" pitchFamily="18" charset="2"/>
              </a:rPr>
              <a:t> and defined as fol</a:t>
            </a:r>
            <a:r>
              <a:rPr lang="en-US" altLang="ja-JP" sz="2800" dirty="0">
                <a:sym typeface="Symbol" pitchFamily="18" charset="2"/>
              </a:rPr>
              <a:t>lows.</a:t>
            </a:r>
            <a:endParaRPr lang="ja-JP" altLang="en-US" sz="2800" b="0" i="1" dirty="0"/>
          </a:p>
          <a:p>
            <a:pPr marL="457200" indent="-457200">
              <a:buFontTx/>
              <a:buChar char="•"/>
            </a:pPr>
            <a:r>
              <a:rPr lang="en-US" altLang="ja-JP" sz="2800" b="0" dirty="0"/>
              <a:t> (</a:t>
            </a:r>
            <a:r>
              <a:rPr lang="en-US" altLang="ja-JP" sz="2800" b="0" dirty="0">
                <a:sym typeface="Symbol" pitchFamily="18" charset="2"/>
              </a:rPr>
              <a:t></a:t>
            </a:r>
            <a:r>
              <a:rPr lang="en-US" altLang="ja-JP" sz="2800" b="0" i="1" dirty="0">
                <a:sym typeface="Symbol" pitchFamily="18" charset="2"/>
              </a:rPr>
              <a:t>x</a:t>
            </a:r>
            <a:r>
              <a:rPr lang="en-US" altLang="ja-JP" sz="2800" b="0" dirty="0">
                <a:sym typeface="Symbol" pitchFamily="18" charset="2"/>
              </a:rPr>
              <a:t>. </a:t>
            </a:r>
            <a:r>
              <a:rPr lang="en-US" altLang="ja-JP" sz="2800" b="0" i="1" dirty="0">
                <a:sym typeface="Symbol" pitchFamily="18" charset="2"/>
              </a:rPr>
              <a:t>M</a:t>
            </a:r>
            <a:r>
              <a:rPr lang="en-US" altLang="ja-JP" sz="2800" b="0" dirty="0"/>
              <a:t>) </a:t>
            </a:r>
            <a:r>
              <a:rPr lang="en-US" altLang="ja-JP" sz="2800" b="0" i="1" dirty="0"/>
              <a:t>N</a:t>
            </a:r>
            <a:r>
              <a:rPr lang="en-US" altLang="ja-JP" sz="2800" b="0" dirty="0"/>
              <a:t> </a:t>
            </a:r>
            <a:r>
              <a:rPr lang="en-US" altLang="ja-JP" sz="2800" b="0" dirty="0">
                <a:sym typeface="Symbol" pitchFamily="18" charset="2"/>
              </a:rPr>
              <a:t> </a:t>
            </a:r>
            <a:r>
              <a:rPr lang="en-US" altLang="ja-JP" sz="2800" b="0" i="1" dirty="0">
                <a:sym typeface="Symbol" pitchFamily="18" charset="2"/>
              </a:rPr>
              <a:t>M</a:t>
            </a:r>
            <a:r>
              <a:rPr lang="en-US" altLang="ja-JP" sz="2800" b="0" dirty="0">
                <a:sym typeface="Symbol" pitchFamily="18" charset="2"/>
              </a:rPr>
              <a:t> [</a:t>
            </a:r>
            <a:r>
              <a:rPr lang="en-US" altLang="ja-JP" sz="2800" b="0" i="1" dirty="0">
                <a:sym typeface="Symbol" pitchFamily="18" charset="2"/>
              </a:rPr>
              <a:t>N / x</a:t>
            </a:r>
            <a:r>
              <a:rPr lang="en-US" altLang="ja-JP" sz="2800" b="0" dirty="0">
                <a:sym typeface="Symbol" pitchFamily="18" charset="2"/>
              </a:rPr>
              <a:t>]</a:t>
            </a:r>
          </a:p>
          <a:p>
            <a:pPr marL="457200" indent="-457200">
              <a:buFontTx/>
              <a:buChar char="•"/>
            </a:pPr>
            <a:r>
              <a:rPr lang="en-US" altLang="ja-JP" sz="2800" b="0" dirty="0">
                <a:sym typeface="Symbol" pitchFamily="18" charset="2"/>
              </a:rPr>
              <a:t> If </a:t>
            </a:r>
            <a:r>
              <a:rPr lang="en-US" altLang="ja-JP" sz="2800" b="0" i="1" dirty="0">
                <a:sym typeface="Symbol" pitchFamily="18" charset="2"/>
              </a:rPr>
              <a:t>M</a:t>
            </a:r>
            <a:r>
              <a:rPr lang="en-US" altLang="ja-JP" sz="2800" b="0" dirty="0">
                <a:sym typeface="Symbol" pitchFamily="18" charset="2"/>
              </a:rPr>
              <a:t>  </a:t>
            </a:r>
            <a:r>
              <a:rPr lang="en-US" altLang="ja-JP" sz="2800" b="0" i="1" dirty="0">
                <a:sym typeface="Symbol" pitchFamily="18" charset="2"/>
              </a:rPr>
              <a:t>N</a:t>
            </a:r>
            <a:r>
              <a:rPr lang="en-US" altLang="ja-JP" sz="2800" dirty="0">
                <a:sym typeface="Symbol" pitchFamily="18" charset="2"/>
              </a:rPr>
              <a:t>, </a:t>
            </a:r>
            <a:r>
              <a:rPr lang="ja-JP" altLang="en-US" sz="2800" b="0" dirty="0">
                <a:sym typeface="Symbol" pitchFamily="18" charset="2"/>
              </a:rPr>
              <a:t> </a:t>
            </a:r>
          </a:p>
          <a:p>
            <a:pPr marL="457200" indent="-457200"/>
            <a:r>
              <a:rPr lang="en-US" altLang="ja-JP" sz="2800" b="0" dirty="0"/>
              <a:t>          </a:t>
            </a:r>
            <a:r>
              <a:rPr lang="en-US" altLang="ja-JP" sz="2800" b="0" dirty="0">
                <a:sym typeface="Symbol" pitchFamily="18" charset="2"/>
              </a:rPr>
              <a:t></a:t>
            </a:r>
            <a:r>
              <a:rPr lang="en-US" altLang="ja-JP" sz="2800" b="0" i="1" dirty="0">
                <a:sym typeface="Symbol" pitchFamily="18" charset="2"/>
              </a:rPr>
              <a:t>x. M</a:t>
            </a:r>
            <a:r>
              <a:rPr lang="en-US" altLang="ja-JP" sz="2800" dirty="0"/>
              <a:t> </a:t>
            </a:r>
            <a:r>
              <a:rPr lang="en-US" altLang="ja-JP" sz="2800" b="0" dirty="0">
                <a:sym typeface="Symbol" pitchFamily="18" charset="2"/>
              </a:rPr>
              <a:t> </a:t>
            </a:r>
            <a:r>
              <a:rPr lang="en-US" altLang="ja-JP" sz="2800" b="0" i="1" dirty="0">
                <a:sym typeface="Symbol" pitchFamily="18" charset="2"/>
              </a:rPr>
              <a:t>x. N</a:t>
            </a:r>
            <a:endParaRPr lang="en-US" altLang="ja-JP" sz="2800" dirty="0"/>
          </a:p>
          <a:p>
            <a:pPr marL="457200" indent="-457200"/>
            <a:r>
              <a:rPr lang="ja-JP" altLang="en-US" sz="2800"/>
              <a:t>          </a:t>
            </a:r>
            <a:r>
              <a:rPr lang="en-US" altLang="ja-JP" sz="2800" b="0" i="1" dirty="0"/>
              <a:t>MP</a:t>
            </a:r>
            <a:r>
              <a:rPr lang="en-US" altLang="ja-JP" sz="2800" dirty="0"/>
              <a:t> </a:t>
            </a:r>
            <a:r>
              <a:rPr lang="en-US" altLang="ja-JP" sz="2800" b="0" dirty="0">
                <a:sym typeface="Symbol" pitchFamily="18" charset="2"/>
              </a:rPr>
              <a:t> </a:t>
            </a:r>
            <a:r>
              <a:rPr lang="en-US" altLang="ja-JP" sz="2800" b="0" i="1" dirty="0">
                <a:sym typeface="Symbol" pitchFamily="18" charset="2"/>
              </a:rPr>
              <a:t>NP</a:t>
            </a:r>
          </a:p>
          <a:p>
            <a:pPr marL="457200" indent="-457200"/>
            <a:r>
              <a:rPr lang="en-US" altLang="ja-JP" sz="2800" b="0" dirty="0">
                <a:sym typeface="Symbol" pitchFamily="18" charset="2"/>
              </a:rPr>
              <a:t>          </a:t>
            </a:r>
            <a:r>
              <a:rPr lang="en-US" altLang="ja-JP" sz="2800" b="0" i="1" dirty="0">
                <a:sym typeface="Symbol" pitchFamily="18" charset="2"/>
              </a:rPr>
              <a:t>PM</a:t>
            </a:r>
            <a:r>
              <a:rPr lang="en-US" altLang="ja-JP" sz="2800" b="0" dirty="0">
                <a:sym typeface="Symbol" pitchFamily="18" charset="2"/>
              </a:rPr>
              <a:t> </a:t>
            </a:r>
            <a:r>
              <a:rPr lang="en-US" altLang="ja-JP" sz="2800" dirty="0">
                <a:sym typeface="Symbol" pitchFamily="18" charset="2"/>
              </a:rPr>
              <a:t> </a:t>
            </a:r>
            <a:r>
              <a:rPr lang="en-US" altLang="ja-JP" sz="2800" b="0" i="1" dirty="0">
                <a:sym typeface="Symbol" pitchFamily="18" charset="2"/>
              </a:rPr>
              <a:t>PN</a:t>
            </a:r>
          </a:p>
        </p:txBody>
      </p:sp>
      <p:sp>
        <p:nvSpPr>
          <p:cNvPr id="4" name="正方形/長方形 3"/>
          <p:cNvSpPr/>
          <p:nvPr/>
        </p:nvSpPr>
        <p:spPr>
          <a:xfrm>
            <a:off x="611560" y="4725144"/>
            <a:ext cx="8136904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ja-JP" sz="2800" i="1" dirty="0"/>
              <a:t>M</a:t>
            </a:r>
            <a:r>
              <a:rPr lang="en-US" altLang="ja-JP" sz="2800" dirty="0"/>
              <a:t> [</a:t>
            </a:r>
            <a:r>
              <a:rPr lang="en-US" altLang="ja-JP" sz="2800" i="1" dirty="0"/>
              <a:t>N</a:t>
            </a:r>
            <a:r>
              <a:rPr lang="en-US" altLang="ja-JP" sz="2800" dirty="0"/>
              <a:t> / </a:t>
            </a:r>
            <a:r>
              <a:rPr lang="en-US" altLang="ja-JP" sz="2800" i="1" dirty="0"/>
              <a:t>x</a:t>
            </a:r>
            <a:r>
              <a:rPr lang="en-US" altLang="ja-JP" sz="2800" dirty="0"/>
              <a:t>] (substitution) represents a lambda expression obtained by replacing all free occurrences of </a:t>
            </a:r>
            <a:r>
              <a:rPr lang="en-US" altLang="ja-JP" sz="2800" i="1" dirty="0"/>
              <a:t>x</a:t>
            </a:r>
            <a:r>
              <a:rPr lang="en-US" altLang="ja-JP" sz="2800" dirty="0"/>
              <a:t> in </a:t>
            </a:r>
            <a:r>
              <a:rPr lang="en-US" altLang="ja-JP" sz="2800" i="1" dirty="0"/>
              <a:t>M</a:t>
            </a:r>
            <a:r>
              <a:rPr lang="en-US" altLang="ja-JP" sz="2800" dirty="0"/>
              <a:t> with </a:t>
            </a:r>
            <a:r>
              <a:rPr lang="en-US" altLang="ja-JP" sz="2800" i="1" dirty="0"/>
              <a:t>N</a:t>
            </a:r>
            <a:r>
              <a:rPr lang="en-US" altLang="ja-JP" sz="2800" dirty="0"/>
              <a:t>. Note that bound variables are renamed when necessary.</a:t>
            </a:r>
            <a:endParaRPr lang="ja-JP" altLang="en-US" sz="2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タイトル 12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ja-JP" dirty="0">
                <a:sym typeface="Symbol" pitchFamily="18" charset="2"/>
              </a:rPr>
              <a:t>An example</a:t>
            </a:r>
            <a:endParaRPr lang="ja-JP" altLang="en-US" dirty="0">
              <a:sym typeface="Symbol" pitchFamily="18" charset="2"/>
            </a:endParaRPr>
          </a:p>
        </p:txBody>
      </p:sp>
      <p:sp>
        <p:nvSpPr>
          <p:cNvPr id="5" name="正方形/長方形 4"/>
          <p:cNvSpPr/>
          <p:nvPr/>
        </p:nvSpPr>
        <p:spPr>
          <a:xfrm>
            <a:off x="755576" y="1556792"/>
            <a:ext cx="7500990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ja-JP" sz="2800" dirty="0">
                <a:sym typeface="Symbol" pitchFamily="18" charset="2"/>
              </a:rPr>
              <a:t>The previous example (x. x)  z</a:t>
            </a:r>
            <a:r>
              <a:rPr lang="ja-JP" altLang="en-US" sz="2800" dirty="0">
                <a:sym typeface="Symbol" pitchFamily="18" charset="2"/>
              </a:rPr>
              <a:t> </a:t>
            </a:r>
            <a:r>
              <a:rPr lang="en-US" altLang="ja-JP" sz="2800" dirty="0">
                <a:sym typeface="Symbol" pitchFamily="18" charset="2"/>
              </a:rPr>
              <a:t>is beta reduced to x [ z / x ]. x [ z / x ] represents a lambda expression obtained by replacing x with z, namely z. </a:t>
            </a:r>
          </a:p>
          <a:p>
            <a:r>
              <a:rPr lang="en-US" altLang="ja-JP" sz="2800" dirty="0">
                <a:sym typeface="Symbol" pitchFamily="18" charset="2"/>
              </a:rPr>
              <a:t>The lambda expression (x. x</a:t>
            </a:r>
            <a:r>
              <a:rPr lang="ja-JP" altLang="en-US" sz="2800" dirty="0">
                <a:sym typeface="Symbol" pitchFamily="18" charset="2"/>
              </a:rPr>
              <a:t> </a:t>
            </a:r>
            <a:r>
              <a:rPr lang="en-US" altLang="ja-JP" sz="2800" dirty="0">
                <a:sym typeface="Symbol" pitchFamily="18" charset="2"/>
              </a:rPr>
              <a:t>y) (z. z) is beta reduced to (x y) [ (z. z) / x ].  (x y) [ (z. z) / x ] represents a lambda expression obtained by replacing all occurrences of x in (x y) with (z. z), namely (z. z)</a:t>
            </a:r>
            <a:r>
              <a:rPr lang="ja-JP" altLang="en-US" sz="2800" dirty="0">
                <a:sym typeface="Symbol" pitchFamily="18" charset="2"/>
              </a:rPr>
              <a:t> </a:t>
            </a:r>
            <a:r>
              <a:rPr lang="en-US" altLang="ja-JP" sz="2800" dirty="0">
                <a:sym typeface="Symbol" pitchFamily="18" charset="2"/>
              </a:rPr>
              <a:t>y.</a:t>
            </a:r>
          </a:p>
          <a:p>
            <a:endParaRPr lang="en-US" altLang="ja-JP" sz="2800" dirty="0">
              <a:sym typeface="Symbol" pitchFamily="18" charset="2"/>
            </a:endParaRPr>
          </a:p>
          <a:p>
            <a:endParaRPr lang="en-US" altLang="ja-JP" sz="2800" dirty="0">
              <a:sym typeface="Symbol" pitchFamily="18" charset="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タイトル 12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ja-JP" dirty="0">
                <a:sym typeface="Symbol" pitchFamily="18" charset="2"/>
              </a:rPr>
              <a:t>Another example</a:t>
            </a:r>
            <a:endParaRPr lang="ja-JP" altLang="en-US" dirty="0">
              <a:sym typeface="Symbol" pitchFamily="18" charset="2"/>
            </a:endParaRPr>
          </a:p>
        </p:txBody>
      </p:sp>
      <p:sp>
        <p:nvSpPr>
          <p:cNvPr id="5" name="正方形/長方形 4"/>
          <p:cNvSpPr/>
          <p:nvPr/>
        </p:nvSpPr>
        <p:spPr>
          <a:xfrm>
            <a:off x="928662" y="1285860"/>
            <a:ext cx="7500990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ja-JP" sz="2800" dirty="0">
                <a:sym typeface="Symbol" pitchFamily="18" charset="2"/>
              </a:rPr>
              <a:t>Notice (</a:t>
            </a:r>
            <a:r>
              <a:rPr lang="en-US" altLang="ja-JP" sz="2800" dirty="0" err="1">
                <a:sym typeface="Symbol" pitchFamily="18" charset="2"/>
              </a:rPr>
              <a:t>λx</a:t>
            </a:r>
            <a:r>
              <a:rPr lang="en-US" altLang="ja-JP" sz="2800" dirty="0">
                <a:sym typeface="Symbol" pitchFamily="18" charset="2"/>
              </a:rPr>
              <a:t>. y) [x / y] does not represent (</a:t>
            </a:r>
            <a:r>
              <a:rPr lang="en-US" altLang="ja-JP" sz="2800" dirty="0" err="1">
                <a:sym typeface="Symbol" pitchFamily="18" charset="2"/>
              </a:rPr>
              <a:t>λx</a:t>
            </a:r>
            <a:r>
              <a:rPr lang="en-US" altLang="ja-JP" sz="2800" dirty="0">
                <a:sym typeface="Symbol" pitchFamily="18" charset="2"/>
              </a:rPr>
              <a:t> . x).</a:t>
            </a:r>
            <a:r>
              <a:rPr lang="ja-JP" altLang="en-US" sz="2800" dirty="0">
                <a:sym typeface="Symbol" pitchFamily="18" charset="2"/>
              </a:rPr>
              <a:t> </a:t>
            </a:r>
            <a:endParaRPr lang="en-US" altLang="ja-JP" sz="2800" dirty="0">
              <a:sym typeface="Symbol" pitchFamily="18" charset="2"/>
            </a:endParaRPr>
          </a:p>
          <a:p>
            <a:r>
              <a:rPr lang="en-US" altLang="ja-JP" sz="2800" dirty="0">
                <a:sym typeface="Symbol" pitchFamily="18" charset="2"/>
              </a:rPr>
              <a:t>x is local variable in (</a:t>
            </a:r>
            <a:r>
              <a:rPr lang="en-US" altLang="ja-JP" sz="2800" dirty="0" err="1">
                <a:sym typeface="Symbol" pitchFamily="18" charset="2"/>
              </a:rPr>
              <a:t>λx</a:t>
            </a:r>
            <a:r>
              <a:rPr lang="en-US" altLang="ja-JP" sz="2800" dirty="0">
                <a:sym typeface="Symbol" pitchFamily="18" charset="2"/>
              </a:rPr>
              <a:t>. y), so it is not the same as x in [x / y]. So we rename the bound variable x in </a:t>
            </a:r>
            <a:r>
              <a:rPr lang="en-US" altLang="ja-JP" sz="2800" dirty="0" err="1">
                <a:sym typeface="Symbol" pitchFamily="18" charset="2"/>
              </a:rPr>
              <a:t>λx</a:t>
            </a:r>
            <a:r>
              <a:rPr lang="en-US" altLang="ja-JP" sz="2800" dirty="0">
                <a:sym typeface="Symbol" pitchFamily="18" charset="2"/>
              </a:rPr>
              <a:t>. y with a new name such as z and obtain </a:t>
            </a:r>
            <a:r>
              <a:rPr lang="en-US" altLang="ja-JP" sz="2800" dirty="0" err="1">
                <a:sym typeface="Symbol" pitchFamily="18" charset="2"/>
              </a:rPr>
              <a:t>λz</a:t>
            </a:r>
            <a:r>
              <a:rPr lang="en-US" altLang="ja-JP" sz="2800" dirty="0">
                <a:sym typeface="Symbol" pitchFamily="18" charset="2"/>
              </a:rPr>
              <a:t>. y. Then we replace y in </a:t>
            </a:r>
            <a:r>
              <a:rPr lang="en-US" altLang="ja-JP" sz="2800" dirty="0" err="1">
                <a:sym typeface="Symbol" pitchFamily="18" charset="2"/>
              </a:rPr>
              <a:t>λz</a:t>
            </a:r>
            <a:r>
              <a:rPr lang="en-US" altLang="ja-JP" sz="2800" dirty="0">
                <a:sym typeface="Symbol" pitchFamily="18" charset="2"/>
              </a:rPr>
              <a:t>. y with x and obtain </a:t>
            </a:r>
            <a:r>
              <a:rPr lang="en-US" altLang="ja-JP" sz="2800" dirty="0" err="1">
                <a:sym typeface="Symbol" pitchFamily="18" charset="2"/>
              </a:rPr>
              <a:t>λz</a:t>
            </a:r>
            <a:r>
              <a:rPr lang="en-US" altLang="ja-JP" sz="2800" dirty="0">
                <a:sym typeface="Symbol" pitchFamily="18" charset="2"/>
              </a:rPr>
              <a:t> . x. </a:t>
            </a:r>
          </a:p>
          <a:p>
            <a:r>
              <a:rPr lang="en-US" altLang="ja-JP" sz="2800" dirty="0">
                <a:sym typeface="Symbol" pitchFamily="18" charset="2"/>
              </a:rPr>
              <a:t>We define substitution in the next page with taking into account the name collision.</a:t>
            </a:r>
          </a:p>
          <a:p>
            <a:r>
              <a:rPr lang="en-US" altLang="ja-JP" sz="2800" dirty="0">
                <a:sym typeface="Symbol" pitchFamily="18" charset="2"/>
              </a:rPr>
              <a:t> </a:t>
            </a:r>
          </a:p>
          <a:p>
            <a:endParaRPr lang="en-US" altLang="ja-JP" sz="2800" dirty="0">
              <a:sym typeface="Symbol" pitchFamily="18" charset="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タイトル 12"/>
          <p:cNvSpPr>
            <a:spLocks noGrp="1"/>
          </p:cNvSpPr>
          <p:nvPr>
            <p:ph type="title" idx="4294967295"/>
          </p:nvPr>
        </p:nvSpPr>
        <p:spPr>
          <a:xfrm>
            <a:off x="685800" y="142852"/>
            <a:ext cx="7772400" cy="928694"/>
          </a:xfrm>
        </p:spPr>
        <p:txBody>
          <a:bodyPr>
            <a:normAutofit/>
          </a:bodyPr>
          <a:lstStyle/>
          <a:p>
            <a:r>
              <a:rPr lang="en-US" altLang="ja-JP" dirty="0"/>
              <a:t>The definition of </a:t>
            </a:r>
            <a:r>
              <a:rPr lang="en-US" altLang="ja-JP" i="1" dirty="0"/>
              <a:t>M</a:t>
            </a:r>
            <a:r>
              <a:rPr lang="en-US" altLang="ja-JP" dirty="0"/>
              <a:t> [ </a:t>
            </a:r>
            <a:r>
              <a:rPr lang="en-US" altLang="ja-JP" i="1" dirty="0"/>
              <a:t>N</a:t>
            </a:r>
            <a:r>
              <a:rPr lang="en-US" altLang="ja-JP" dirty="0"/>
              <a:t> / </a:t>
            </a:r>
            <a:r>
              <a:rPr lang="en-US" altLang="ja-JP" i="1" dirty="0"/>
              <a:t>x</a:t>
            </a:r>
            <a:r>
              <a:rPr lang="en-US" altLang="ja-JP" dirty="0"/>
              <a:t> ]</a:t>
            </a:r>
            <a:endParaRPr lang="ja-JP" altLang="en-US" dirty="0"/>
          </a:p>
        </p:txBody>
      </p:sp>
      <p:sp>
        <p:nvSpPr>
          <p:cNvPr id="131075" name="テキスト ボックス 13"/>
          <p:cNvSpPr txBox="1">
            <a:spLocks noChangeArrowheads="1"/>
          </p:cNvSpPr>
          <p:nvPr/>
        </p:nvSpPr>
        <p:spPr bwMode="auto">
          <a:xfrm>
            <a:off x="528638" y="1000108"/>
            <a:ext cx="8401080" cy="56938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ja-JP" sz="2800" b="0" dirty="0">
                <a:sym typeface="Symbol" pitchFamily="18" charset="2"/>
              </a:rPr>
              <a:t>When</a:t>
            </a:r>
            <a:r>
              <a:rPr lang="en-US" altLang="ja-JP" sz="2800" b="0" i="1" dirty="0">
                <a:sym typeface="Symbol" pitchFamily="18" charset="2"/>
              </a:rPr>
              <a:t> M</a:t>
            </a:r>
            <a:r>
              <a:rPr lang="en-US" altLang="ja-JP" sz="2800" b="0" dirty="0">
                <a:sym typeface="Symbol" pitchFamily="18" charset="2"/>
              </a:rPr>
              <a:t> is a constant:</a:t>
            </a:r>
            <a:endParaRPr lang="ja-JP" altLang="en-US" sz="2800" b="0" dirty="0">
              <a:sym typeface="Symbol" pitchFamily="18" charset="2"/>
            </a:endParaRPr>
          </a:p>
          <a:p>
            <a:r>
              <a:rPr lang="ja-JP" altLang="en-US" sz="2800" b="0" i="1" dirty="0">
                <a:sym typeface="Symbol" pitchFamily="18" charset="2"/>
              </a:rPr>
              <a:t>    </a:t>
            </a:r>
            <a:r>
              <a:rPr lang="en-US" altLang="ja-JP" sz="2800" b="0" i="1" dirty="0">
                <a:sym typeface="Symbol" pitchFamily="18" charset="2"/>
              </a:rPr>
              <a:t>c </a:t>
            </a:r>
            <a:r>
              <a:rPr lang="en-US" altLang="ja-JP" sz="2800" b="0" dirty="0">
                <a:sym typeface="Symbol" pitchFamily="18" charset="2"/>
              </a:rPr>
              <a:t>[</a:t>
            </a:r>
            <a:r>
              <a:rPr lang="en-US" altLang="ja-JP" sz="2800" b="0" i="1" dirty="0">
                <a:sym typeface="Symbol" pitchFamily="18" charset="2"/>
              </a:rPr>
              <a:t> N </a:t>
            </a:r>
            <a:r>
              <a:rPr lang="en-US" altLang="ja-JP" sz="2800" b="0" dirty="0">
                <a:sym typeface="Symbol" pitchFamily="18" charset="2"/>
              </a:rPr>
              <a:t>/</a:t>
            </a:r>
            <a:r>
              <a:rPr lang="en-US" altLang="ja-JP" sz="2800" b="0" i="1" dirty="0">
                <a:sym typeface="Symbol" pitchFamily="18" charset="2"/>
              </a:rPr>
              <a:t> x </a:t>
            </a:r>
            <a:r>
              <a:rPr lang="en-US" altLang="ja-JP" sz="2800" b="0" dirty="0">
                <a:sym typeface="Symbol" pitchFamily="18" charset="2"/>
              </a:rPr>
              <a:t>] =</a:t>
            </a:r>
            <a:r>
              <a:rPr lang="en-US" altLang="ja-JP" sz="2800" b="0" i="1" dirty="0">
                <a:sym typeface="Symbol" pitchFamily="18" charset="2"/>
              </a:rPr>
              <a:t> c</a:t>
            </a:r>
          </a:p>
          <a:p>
            <a:r>
              <a:rPr lang="en-US" altLang="ja-JP" sz="2800" b="0" dirty="0">
                <a:sym typeface="Symbol" pitchFamily="18" charset="2"/>
              </a:rPr>
              <a:t>When</a:t>
            </a:r>
            <a:r>
              <a:rPr lang="en-US" altLang="ja-JP" sz="2800" b="0" i="1" dirty="0">
                <a:sym typeface="Symbol" pitchFamily="18" charset="2"/>
              </a:rPr>
              <a:t> M</a:t>
            </a:r>
            <a:r>
              <a:rPr lang="en-US" altLang="ja-JP" sz="2800" b="0" dirty="0">
                <a:sym typeface="Symbol" pitchFamily="18" charset="2"/>
              </a:rPr>
              <a:t> is a variable:</a:t>
            </a:r>
            <a:endParaRPr lang="ja-JP" altLang="en-US" sz="2800" b="0" dirty="0">
              <a:sym typeface="Symbol" pitchFamily="18" charset="2"/>
            </a:endParaRPr>
          </a:p>
          <a:p>
            <a:r>
              <a:rPr lang="en-US" altLang="ja-JP" sz="2800" b="0" dirty="0">
                <a:sym typeface="Symbol" pitchFamily="18" charset="2"/>
              </a:rPr>
              <a:t>    </a:t>
            </a:r>
            <a:r>
              <a:rPr lang="en-US" altLang="ja-JP" sz="2800" b="0" i="1" dirty="0">
                <a:sym typeface="Symbol" pitchFamily="18" charset="2"/>
              </a:rPr>
              <a:t>x</a:t>
            </a:r>
            <a:r>
              <a:rPr lang="en-US" altLang="ja-JP" sz="2800" b="0" dirty="0">
                <a:sym typeface="Symbol" pitchFamily="18" charset="2"/>
              </a:rPr>
              <a:t> [ </a:t>
            </a:r>
            <a:r>
              <a:rPr lang="en-US" altLang="ja-JP" sz="2800" b="0" i="1" dirty="0">
                <a:sym typeface="Symbol" pitchFamily="18" charset="2"/>
              </a:rPr>
              <a:t>N</a:t>
            </a:r>
            <a:r>
              <a:rPr lang="en-US" altLang="ja-JP" sz="2800" b="0" dirty="0">
                <a:sym typeface="Symbol" pitchFamily="18" charset="2"/>
              </a:rPr>
              <a:t> / </a:t>
            </a:r>
            <a:r>
              <a:rPr lang="en-US" altLang="ja-JP" sz="2800" b="0" i="1" dirty="0">
                <a:sym typeface="Symbol" pitchFamily="18" charset="2"/>
              </a:rPr>
              <a:t>x</a:t>
            </a:r>
            <a:r>
              <a:rPr lang="en-US" altLang="ja-JP" sz="2800" b="0" dirty="0">
                <a:sym typeface="Symbol" pitchFamily="18" charset="2"/>
              </a:rPr>
              <a:t> ] = </a:t>
            </a:r>
            <a:r>
              <a:rPr lang="en-US" altLang="ja-JP" sz="2800" b="0" i="1" dirty="0">
                <a:sym typeface="Symbol" pitchFamily="18" charset="2"/>
              </a:rPr>
              <a:t>N</a:t>
            </a:r>
          </a:p>
          <a:p>
            <a:r>
              <a:rPr lang="en-US" altLang="ja-JP" sz="2800" b="0" dirty="0">
                <a:sym typeface="Symbol" pitchFamily="18" charset="2"/>
              </a:rPr>
              <a:t>    </a:t>
            </a:r>
            <a:r>
              <a:rPr lang="en-US" altLang="ja-JP" sz="2800" b="0" i="1" dirty="0">
                <a:sym typeface="Symbol" pitchFamily="18" charset="2"/>
              </a:rPr>
              <a:t>y</a:t>
            </a:r>
            <a:r>
              <a:rPr lang="en-US" altLang="ja-JP" sz="2800" b="0" dirty="0">
                <a:sym typeface="Symbol" pitchFamily="18" charset="2"/>
              </a:rPr>
              <a:t> [ </a:t>
            </a:r>
            <a:r>
              <a:rPr lang="en-US" altLang="ja-JP" sz="2800" b="0" i="1" dirty="0">
                <a:sym typeface="Symbol" pitchFamily="18" charset="2"/>
              </a:rPr>
              <a:t>N</a:t>
            </a:r>
            <a:r>
              <a:rPr lang="en-US" altLang="ja-JP" sz="2800" b="0" dirty="0">
                <a:sym typeface="Symbol" pitchFamily="18" charset="2"/>
              </a:rPr>
              <a:t> / </a:t>
            </a:r>
            <a:r>
              <a:rPr lang="en-US" altLang="ja-JP" sz="2800" b="0" i="1" dirty="0">
                <a:sym typeface="Symbol" pitchFamily="18" charset="2"/>
              </a:rPr>
              <a:t>x</a:t>
            </a:r>
            <a:r>
              <a:rPr lang="en-US" altLang="ja-JP" sz="2800" b="0" dirty="0">
                <a:sym typeface="Symbol" pitchFamily="18" charset="2"/>
              </a:rPr>
              <a:t> ] = </a:t>
            </a:r>
            <a:r>
              <a:rPr lang="en-US" altLang="ja-JP" sz="2800" b="0" i="1" dirty="0">
                <a:sym typeface="Symbol" pitchFamily="18" charset="2"/>
              </a:rPr>
              <a:t>y</a:t>
            </a:r>
            <a:r>
              <a:rPr lang="en-US" altLang="ja-JP" sz="2800" b="0" dirty="0">
                <a:sym typeface="Symbol" pitchFamily="18" charset="2"/>
              </a:rPr>
              <a:t>   ( </a:t>
            </a:r>
            <a:r>
              <a:rPr lang="en-US" altLang="ja-JP" sz="2800" b="0" i="1" dirty="0">
                <a:sym typeface="Symbol" pitchFamily="18" charset="2"/>
              </a:rPr>
              <a:t>x</a:t>
            </a:r>
            <a:r>
              <a:rPr lang="en-US" altLang="ja-JP" sz="2800" b="0" dirty="0">
                <a:sym typeface="Symbol" pitchFamily="18" charset="2"/>
              </a:rPr>
              <a:t>  </a:t>
            </a:r>
            <a:r>
              <a:rPr lang="en-US" altLang="ja-JP" sz="2800" b="0" i="1" dirty="0">
                <a:sym typeface="Symbol" pitchFamily="18" charset="2"/>
              </a:rPr>
              <a:t>y </a:t>
            </a:r>
            <a:r>
              <a:rPr lang="en-US" altLang="ja-JP" sz="2800" b="0" dirty="0">
                <a:sym typeface="Symbol" pitchFamily="18" charset="2"/>
              </a:rPr>
              <a:t>)</a:t>
            </a:r>
          </a:p>
          <a:p>
            <a:r>
              <a:rPr lang="en-US" altLang="ja-JP" sz="2800" b="0" dirty="0"/>
              <a:t>When</a:t>
            </a:r>
            <a:r>
              <a:rPr lang="en-US" altLang="ja-JP" sz="2800" b="0" i="1" dirty="0"/>
              <a:t> M</a:t>
            </a:r>
            <a:r>
              <a:rPr lang="en-US" altLang="ja-JP" sz="2800" dirty="0"/>
              <a:t> is a lambda abstraction:</a:t>
            </a:r>
            <a:endParaRPr lang="ja-JP" altLang="en-US" sz="2800" b="0" dirty="0"/>
          </a:p>
          <a:p>
            <a:r>
              <a:rPr lang="ja-JP" altLang="en-US" sz="2800" dirty="0"/>
              <a:t> </a:t>
            </a:r>
            <a:r>
              <a:rPr lang="ja-JP" altLang="en-US" sz="2800" b="0" dirty="0"/>
              <a:t>   </a:t>
            </a:r>
            <a:r>
              <a:rPr lang="en-US" altLang="ja-JP" sz="2800" b="0" dirty="0"/>
              <a:t>(</a:t>
            </a:r>
            <a:r>
              <a:rPr lang="en-US" altLang="ja-JP" sz="2800" b="0" dirty="0">
                <a:sym typeface="Symbol" pitchFamily="18" charset="2"/>
              </a:rPr>
              <a:t></a:t>
            </a:r>
            <a:r>
              <a:rPr lang="en-US" altLang="ja-JP" sz="2800" b="0" i="1" dirty="0">
                <a:sym typeface="Symbol" pitchFamily="18" charset="2"/>
              </a:rPr>
              <a:t>y</a:t>
            </a:r>
            <a:r>
              <a:rPr lang="en-US" altLang="ja-JP" sz="2800" b="0" dirty="0">
                <a:sym typeface="Symbol" pitchFamily="18" charset="2"/>
              </a:rPr>
              <a:t>. </a:t>
            </a:r>
            <a:r>
              <a:rPr lang="en-US" altLang="ja-JP" sz="2800" b="0" i="1" dirty="0">
                <a:sym typeface="Symbol" pitchFamily="18" charset="2"/>
              </a:rPr>
              <a:t>M</a:t>
            </a:r>
            <a:r>
              <a:rPr lang="en-US" altLang="ja-JP" sz="2800" b="0" dirty="0">
                <a:sym typeface="Symbol" pitchFamily="18" charset="2"/>
              </a:rPr>
              <a:t>) [ </a:t>
            </a:r>
            <a:r>
              <a:rPr lang="en-US" altLang="ja-JP" sz="2800" b="0" i="1" dirty="0">
                <a:sym typeface="Symbol" pitchFamily="18" charset="2"/>
              </a:rPr>
              <a:t>N</a:t>
            </a:r>
            <a:r>
              <a:rPr lang="en-US" altLang="ja-JP" sz="2800" b="0" dirty="0">
                <a:sym typeface="Symbol" pitchFamily="18" charset="2"/>
              </a:rPr>
              <a:t> /</a:t>
            </a:r>
            <a:r>
              <a:rPr lang="en-US" altLang="ja-JP" sz="2800" b="0" i="1" dirty="0">
                <a:sym typeface="Symbol" pitchFamily="18" charset="2"/>
              </a:rPr>
              <a:t> x</a:t>
            </a:r>
            <a:r>
              <a:rPr lang="en-US" altLang="ja-JP" sz="2800" b="0" dirty="0">
                <a:sym typeface="Symbol" pitchFamily="18" charset="2"/>
              </a:rPr>
              <a:t> ] =  </a:t>
            </a:r>
          </a:p>
          <a:p>
            <a:r>
              <a:rPr lang="en-US" altLang="ja-JP" sz="2800" b="0" dirty="0">
                <a:sym typeface="Symbol" pitchFamily="18" charset="2"/>
              </a:rPr>
              <a:t>             </a:t>
            </a:r>
            <a:r>
              <a:rPr lang="en-US" altLang="ja-JP" sz="2800" b="0" i="1" dirty="0">
                <a:sym typeface="Symbol" pitchFamily="18" charset="2"/>
              </a:rPr>
              <a:t>y</a:t>
            </a:r>
            <a:r>
              <a:rPr lang="en-US" altLang="ja-JP" sz="2800" b="0" dirty="0">
                <a:sym typeface="Symbol" pitchFamily="18" charset="2"/>
              </a:rPr>
              <a:t>. </a:t>
            </a:r>
            <a:r>
              <a:rPr lang="en-US" altLang="ja-JP" sz="2800" b="0" i="1" dirty="0">
                <a:sym typeface="Symbol" pitchFamily="18" charset="2"/>
              </a:rPr>
              <a:t>M</a:t>
            </a:r>
            <a:r>
              <a:rPr lang="en-US" altLang="ja-JP" sz="2800" b="0" dirty="0">
                <a:sym typeface="Symbol" pitchFamily="18" charset="2"/>
              </a:rPr>
              <a:t>      (</a:t>
            </a:r>
            <a:r>
              <a:rPr lang="en-US" altLang="ja-JP" sz="2800" b="0" i="1" dirty="0">
                <a:sym typeface="Symbol" pitchFamily="18" charset="2"/>
              </a:rPr>
              <a:t>x</a:t>
            </a:r>
            <a:r>
              <a:rPr lang="en-US" altLang="ja-JP" sz="2800" b="0" dirty="0">
                <a:sym typeface="Symbol" pitchFamily="18" charset="2"/>
              </a:rPr>
              <a:t> = </a:t>
            </a:r>
            <a:r>
              <a:rPr lang="en-US" altLang="ja-JP" sz="2800" b="0" i="1" dirty="0">
                <a:sym typeface="Symbol" pitchFamily="18" charset="2"/>
              </a:rPr>
              <a:t>y</a:t>
            </a:r>
            <a:r>
              <a:rPr lang="en-US" altLang="ja-JP" sz="2800" b="0" dirty="0">
                <a:sym typeface="Symbol" pitchFamily="18" charset="2"/>
              </a:rPr>
              <a:t>)</a:t>
            </a:r>
          </a:p>
          <a:p>
            <a:r>
              <a:rPr lang="en-US" altLang="ja-JP" sz="2800" b="0" dirty="0">
                <a:sym typeface="Symbol" pitchFamily="18" charset="2"/>
              </a:rPr>
              <a:t>             </a:t>
            </a:r>
            <a:r>
              <a:rPr lang="en-US" altLang="ja-JP" sz="2800" b="0" i="1" dirty="0">
                <a:sym typeface="Symbol" pitchFamily="18" charset="2"/>
              </a:rPr>
              <a:t>y</a:t>
            </a:r>
            <a:r>
              <a:rPr lang="en-US" altLang="ja-JP" sz="2800" b="0" dirty="0">
                <a:sym typeface="Symbol" pitchFamily="18" charset="2"/>
              </a:rPr>
              <a:t>. (</a:t>
            </a:r>
            <a:r>
              <a:rPr lang="en-US" altLang="ja-JP" sz="2800" b="0" i="1" dirty="0">
                <a:sym typeface="Symbol" pitchFamily="18" charset="2"/>
              </a:rPr>
              <a:t>M</a:t>
            </a:r>
            <a:r>
              <a:rPr lang="en-US" altLang="ja-JP" sz="2800" b="0" dirty="0">
                <a:sym typeface="Symbol" pitchFamily="18" charset="2"/>
              </a:rPr>
              <a:t> [</a:t>
            </a:r>
            <a:r>
              <a:rPr lang="en-US" altLang="ja-JP" sz="2800" b="0" i="1" dirty="0">
                <a:sym typeface="Symbol" pitchFamily="18" charset="2"/>
              </a:rPr>
              <a:t>N</a:t>
            </a:r>
            <a:r>
              <a:rPr lang="en-US" altLang="ja-JP" sz="2800" b="0" dirty="0">
                <a:sym typeface="Symbol" pitchFamily="18" charset="2"/>
              </a:rPr>
              <a:t> / </a:t>
            </a:r>
            <a:r>
              <a:rPr lang="en-US" altLang="ja-JP" sz="2800" b="0" i="1" dirty="0">
                <a:sym typeface="Symbol" pitchFamily="18" charset="2"/>
              </a:rPr>
              <a:t>x</a:t>
            </a:r>
            <a:r>
              <a:rPr lang="en-US" altLang="ja-JP" sz="2800" b="0" dirty="0">
                <a:sym typeface="Symbol" pitchFamily="18" charset="2"/>
              </a:rPr>
              <a:t>])    (</a:t>
            </a:r>
            <a:r>
              <a:rPr lang="en-US" altLang="ja-JP" sz="2800" b="0" i="1" dirty="0">
                <a:sym typeface="Symbol" pitchFamily="18" charset="2"/>
              </a:rPr>
              <a:t>x</a:t>
            </a:r>
            <a:r>
              <a:rPr lang="en-US" altLang="ja-JP" sz="2800" b="0" dirty="0">
                <a:sym typeface="Symbol" pitchFamily="18" charset="2"/>
              </a:rPr>
              <a:t>  </a:t>
            </a:r>
            <a:r>
              <a:rPr lang="en-US" altLang="ja-JP" sz="2800" b="0" i="1" dirty="0">
                <a:sym typeface="Symbol" pitchFamily="18" charset="2"/>
              </a:rPr>
              <a:t>y</a:t>
            </a:r>
            <a:r>
              <a:rPr lang="en-US" altLang="ja-JP" sz="2800" b="0" dirty="0">
                <a:sym typeface="Symbol" pitchFamily="18" charset="2"/>
              </a:rPr>
              <a:t>, </a:t>
            </a:r>
            <a:r>
              <a:rPr lang="en-US" altLang="ja-JP" sz="2800" b="0" i="1" dirty="0">
                <a:sym typeface="Symbol" pitchFamily="18" charset="2"/>
              </a:rPr>
              <a:t>y</a:t>
            </a:r>
            <a:r>
              <a:rPr lang="en-US" altLang="ja-JP" sz="2800" b="0" dirty="0">
                <a:sym typeface="Symbol" pitchFamily="18" charset="2"/>
              </a:rPr>
              <a:t>  FV (</a:t>
            </a:r>
            <a:r>
              <a:rPr lang="en-US" altLang="ja-JP" sz="2800" b="0" i="1" dirty="0">
                <a:sym typeface="Symbol" pitchFamily="18" charset="2"/>
              </a:rPr>
              <a:t>N</a:t>
            </a:r>
            <a:r>
              <a:rPr lang="en-US" altLang="ja-JP" sz="2800" b="0" dirty="0">
                <a:sym typeface="Symbol" pitchFamily="18" charset="2"/>
              </a:rPr>
              <a:t>))</a:t>
            </a:r>
          </a:p>
          <a:p>
            <a:r>
              <a:rPr lang="en-US" altLang="ja-JP" sz="2800" b="0" dirty="0">
                <a:sym typeface="Symbol" pitchFamily="18" charset="2"/>
              </a:rPr>
              <a:t>             </a:t>
            </a:r>
            <a:r>
              <a:rPr lang="en-US" altLang="ja-JP" sz="2800" b="0" i="1" dirty="0">
                <a:sym typeface="Symbol" pitchFamily="18" charset="2"/>
              </a:rPr>
              <a:t>z</a:t>
            </a:r>
            <a:r>
              <a:rPr lang="en-US" altLang="ja-JP" sz="2800" b="0" dirty="0">
                <a:sym typeface="Symbol" pitchFamily="18" charset="2"/>
              </a:rPr>
              <a:t>. ((</a:t>
            </a:r>
            <a:r>
              <a:rPr lang="en-US" altLang="ja-JP" sz="2800" b="0" i="1" dirty="0">
                <a:sym typeface="Symbol" pitchFamily="18" charset="2"/>
              </a:rPr>
              <a:t>M</a:t>
            </a:r>
            <a:r>
              <a:rPr lang="en-US" altLang="ja-JP" sz="2800" b="0" dirty="0">
                <a:sym typeface="Symbol" pitchFamily="18" charset="2"/>
              </a:rPr>
              <a:t> [</a:t>
            </a:r>
            <a:r>
              <a:rPr lang="en-US" altLang="ja-JP" sz="2800" b="0" i="1" dirty="0">
                <a:sym typeface="Symbol" pitchFamily="18" charset="2"/>
              </a:rPr>
              <a:t> z</a:t>
            </a:r>
            <a:r>
              <a:rPr lang="en-US" altLang="ja-JP" sz="2800" b="0" dirty="0">
                <a:sym typeface="Symbol" pitchFamily="18" charset="2"/>
              </a:rPr>
              <a:t> / </a:t>
            </a:r>
            <a:r>
              <a:rPr lang="en-US" altLang="ja-JP" sz="2800" b="0" i="1" dirty="0">
                <a:sym typeface="Symbol" pitchFamily="18" charset="2"/>
              </a:rPr>
              <a:t>y</a:t>
            </a:r>
            <a:r>
              <a:rPr lang="en-US" altLang="ja-JP" sz="2800" b="0" dirty="0">
                <a:sym typeface="Symbol" pitchFamily="18" charset="2"/>
              </a:rPr>
              <a:t> ]) [</a:t>
            </a:r>
            <a:r>
              <a:rPr lang="en-US" altLang="ja-JP" sz="2800" b="0" i="1" dirty="0">
                <a:sym typeface="Symbol" pitchFamily="18" charset="2"/>
              </a:rPr>
              <a:t>N</a:t>
            </a:r>
            <a:r>
              <a:rPr lang="en-US" altLang="ja-JP" sz="2800" b="0" dirty="0">
                <a:sym typeface="Symbol" pitchFamily="18" charset="2"/>
              </a:rPr>
              <a:t> / </a:t>
            </a:r>
            <a:r>
              <a:rPr lang="en-US" altLang="ja-JP" sz="2800" b="0" i="1" dirty="0">
                <a:sym typeface="Symbol" pitchFamily="18" charset="2"/>
              </a:rPr>
              <a:t>x</a:t>
            </a:r>
            <a:r>
              <a:rPr lang="en-US" altLang="ja-JP" sz="2800" b="0" dirty="0">
                <a:sym typeface="Symbol" pitchFamily="18" charset="2"/>
              </a:rPr>
              <a:t>] )    ( </a:t>
            </a:r>
            <a:r>
              <a:rPr lang="en-US" altLang="ja-JP" sz="2800" b="0" i="1" dirty="0">
                <a:sym typeface="Symbol" pitchFamily="18" charset="2"/>
              </a:rPr>
              <a:t>x</a:t>
            </a:r>
            <a:r>
              <a:rPr lang="en-US" altLang="ja-JP" sz="2800" b="0" dirty="0">
                <a:sym typeface="Symbol" pitchFamily="18" charset="2"/>
              </a:rPr>
              <a:t>  </a:t>
            </a:r>
            <a:r>
              <a:rPr lang="en-US" altLang="ja-JP" sz="2800" b="0" i="1" dirty="0">
                <a:sym typeface="Symbol" pitchFamily="18" charset="2"/>
              </a:rPr>
              <a:t>y</a:t>
            </a:r>
            <a:r>
              <a:rPr lang="en-US" altLang="ja-JP" sz="2800" b="0" dirty="0">
                <a:sym typeface="Symbol" pitchFamily="18" charset="2"/>
              </a:rPr>
              <a:t>, </a:t>
            </a:r>
            <a:r>
              <a:rPr lang="en-US" altLang="ja-JP" sz="2800" b="0" i="1" dirty="0">
                <a:sym typeface="Symbol" pitchFamily="18" charset="2"/>
              </a:rPr>
              <a:t>y</a:t>
            </a:r>
            <a:r>
              <a:rPr lang="en-US" altLang="ja-JP" sz="2800" b="0" dirty="0">
                <a:sym typeface="Symbol" pitchFamily="18" charset="2"/>
              </a:rPr>
              <a:t>  FV (</a:t>
            </a:r>
            <a:r>
              <a:rPr lang="en-US" altLang="ja-JP" sz="2800" b="0" i="1" dirty="0">
                <a:sym typeface="Symbol" pitchFamily="18" charset="2"/>
              </a:rPr>
              <a:t>N</a:t>
            </a:r>
            <a:r>
              <a:rPr lang="en-US" altLang="ja-JP" sz="2800" b="0" dirty="0">
                <a:sym typeface="Symbol" pitchFamily="18" charset="2"/>
              </a:rPr>
              <a:t>), </a:t>
            </a:r>
            <a:r>
              <a:rPr lang="en-US" altLang="ja-JP" sz="2800" i="1" dirty="0">
                <a:sym typeface="Symbol" pitchFamily="18" charset="2"/>
              </a:rPr>
              <a:t>z</a:t>
            </a:r>
            <a:r>
              <a:rPr lang="en-US" altLang="ja-JP" sz="2800" dirty="0">
                <a:sym typeface="Symbol" pitchFamily="18" charset="2"/>
              </a:rPr>
              <a:t> </a:t>
            </a:r>
            <a:r>
              <a:rPr lang="en-US" altLang="ja-JP" sz="2800" i="1" dirty="0">
                <a:sym typeface="Symbol" pitchFamily="18" charset="2"/>
              </a:rPr>
              <a:t> x</a:t>
            </a:r>
            <a:r>
              <a:rPr lang="en-US" altLang="ja-JP" sz="2800" dirty="0">
                <a:sym typeface="Symbol" pitchFamily="18" charset="2"/>
              </a:rPr>
              <a:t>, </a:t>
            </a:r>
            <a:endParaRPr lang="en-US" altLang="ja-JP" sz="2800" b="0" dirty="0">
              <a:sym typeface="Symbol" pitchFamily="18" charset="2"/>
            </a:endParaRPr>
          </a:p>
          <a:p>
            <a:r>
              <a:rPr lang="ja-JP" altLang="en-US" sz="2800" b="0" dirty="0">
                <a:sym typeface="Symbol" pitchFamily="18" charset="2"/>
              </a:rPr>
              <a:t>                                                </a:t>
            </a:r>
            <a:r>
              <a:rPr lang="en-US" altLang="ja-JP" sz="2800" b="0" i="1" dirty="0">
                <a:sym typeface="Symbol" pitchFamily="18" charset="2"/>
              </a:rPr>
              <a:t>z</a:t>
            </a:r>
            <a:r>
              <a:rPr lang="en-US" altLang="ja-JP" sz="2800" b="0" dirty="0">
                <a:sym typeface="Symbol" pitchFamily="18" charset="2"/>
              </a:rPr>
              <a:t>  FV (</a:t>
            </a:r>
            <a:r>
              <a:rPr lang="en-US" altLang="ja-JP" sz="2800" b="0" i="1" dirty="0">
                <a:sym typeface="Symbol" pitchFamily="18" charset="2"/>
              </a:rPr>
              <a:t>M</a:t>
            </a:r>
            <a:r>
              <a:rPr lang="en-US" altLang="ja-JP" sz="2800" b="0" dirty="0">
                <a:sym typeface="Symbol" pitchFamily="18" charset="2"/>
              </a:rPr>
              <a:t>), </a:t>
            </a:r>
            <a:r>
              <a:rPr lang="en-US" altLang="ja-JP" sz="2800" b="0" i="1" dirty="0">
                <a:sym typeface="Symbol" pitchFamily="18" charset="2"/>
              </a:rPr>
              <a:t>z</a:t>
            </a:r>
            <a:r>
              <a:rPr lang="en-US" altLang="ja-JP" sz="2800" b="0" dirty="0">
                <a:sym typeface="Symbol" pitchFamily="18" charset="2"/>
              </a:rPr>
              <a:t> FV(</a:t>
            </a:r>
            <a:r>
              <a:rPr lang="en-US" altLang="ja-JP" sz="2800" b="0" i="1" dirty="0">
                <a:sym typeface="Symbol" pitchFamily="18" charset="2"/>
              </a:rPr>
              <a:t>N</a:t>
            </a:r>
            <a:r>
              <a:rPr lang="en-US" altLang="ja-JP" sz="2800" b="0" dirty="0">
                <a:sym typeface="Symbol" pitchFamily="18" charset="2"/>
              </a:rPr>
              <a:t>)  )</a:t>
            </a:r>
          </a:p>
          <a:p>
            <a:r>
              <a:rPr lang="en-US" altLang="ja-JP" sz="2800" b="0" dirty="0">
                <a:sym typeface="Symbol" pitchFamily="18" charset="2"/>
              </a:rPr>
              <a:t>When</a:t>
            </a:r>
            <a:r>
              <a:rPr lang="en-US" altLang="ja-JP" sz="2800" b="0" i="1" dirty="0">
                <a:sym typeface="Symbol" pitchFamily="18" charset="2"/>
              </a:rPr>
              <a:t> M </a:t>
            </a:r>
            <a:r>
              <a:rPr lang="en-US" altLang="ja-JP" sz="2800" b="0" dirty="0">
                <a:sym typeface="Symbol" pitchFamily="18" charset="2"/>
              </a:rPr>
              <a:t>is a function application:</a:t>
            </a:r>
            <a:endParaRPr lang="ja-JP" altLang="en-US" sz="2800" b="0" dirty="0">
              <a:sym typeface="Symbol" pitchFamily="18" charset="2"/>
            </a:endParaRPr>
          </a:p>
          <a:p>
            <a:r>
              <a:rPr lang="ja-JP" altLang="en-US" sz="2800" b="0" dirty="0">
                <a:sym typeface="Symbol" pitchFamily="18" charset="2"/>
              </a:rPr>
              <a:t>    </a:t>
            </a:r>
            <a:r>
              <a:rPr lang="en-US" altLang="ja-JP" sz="2800" b="0" dirty="0">
                <a:sym typeface="Symbol" pitchFamily="18" charset="2"/>
              </a:rPr>
              <a:t>(</a:t>
            </a:r>
            <a:r>
              <a:rPr lang="en-US" altLang="ja-JP" sz="2800" b="0" i="1" dirty="0">
                <a:sym typeface="Symbol" pitchFamily="18" charset="2"/>
              </a:rPr>
              <a:t>M</a:t>
            </a:r>
            <a:r>
              <a:rPr lang="en-US" altLang="ja-JP" sz="2800" b="0" baseline="-25000" dirty="0">
                <a:sym typeface="Symbol" pitchFamily="18" charset="2"/>
              </a:rPr>
              <a:t>1</a:t>
            </a:r>
            <a:r>
              <a:rPr lang="en-US" altLang="ja-JP" sz="2800" b="0" dirty="0">
                <a:sym typeface="Symbol" pitchFamily="18" charset="2"/>
              </a:rPr>
              <a:t> </a:t>
            </a:r>
            <a:r>
              <a:rPr lang="en-US" altLang="ja-JP" sz="2800" b="0" i="1" dirty="0">
                <a:sym typeface="Symbol" pitchFamily="18" charset="2"/>
              </a:rPr>
              <a:t>M</a:t>
            </a:r>
            <a:r>
              <a:rPr lang="en-US" altLang="ja-JP" sz="2800" b="0" baseline="-25000" dirty="0">
                <a:sym typeface="Symbol" pitchFamily="18" charset="2"/>
              </a:rPr>
              <a:t>2</a:t>
            </a:r>
            <a:r>
              <a:rPr lang="en-US" altLang="ja-JP" sz="2800" b="0" dirty="0">
                <a:sym typeface="Symbol" pitchFamily="18" charset="2"/>
              </a:rPr>
              <a:t>) [</a:t>
            </a:r>
            <a:r>
              <a:rPr lang="en-US" altLang="ja-JP" sz="2800" b="0" i="1" dirty="0">
                <a:sym typeface="Symbol" pitchFamily="18" charset="2"/>
              </a:rPr>
              <a:t>N</a:t>
            </a:r>
            <a:r>
              <a:rPr lang="en-US" altLang="ja-JP" sz="2800" b="0" dirty="0">
                <a:sym typeface="Symbol" pitchFamily="18" charset="2"/>
              </a:rPr>
              <a:t> / </a:t>
            </a:r>
            <a:r>
              <a:rPr lang="en-US" altLang="ja-JP" sz="2800" b="0" i="1" dirty="0">
                <a:sym typeface="Symbol" pitchFamily="18" charset="2"/>
              </a:rPr>
              <a:t>x</a:t>
            </a:r>
            <a:r>
              <a:rPr lang="en-US" altLang="ja-JP" sz="2800" b="0" dirty="0">
                <a:sym typeface="Symbol" pitchFamily="18" charset="2"/>
              </a:rPr>
              <a:t>] = ( </a:t>
            </a:r>
            <a:r>
              <a:rPr lang="en-US" altLang="ja-JP" sz="2800" b="0" i="1" dirty="0">
                <a:sym typeface="Symbol" pitchFamily="18" charset="2"/>
              </a:rPr>
              <a:t>M</a:t>
            </a:r>
            <a:r>
              <a:rPr lang="en-US" altLang="ja-JP" sz="2800" b="0" baseline="-25000" dirty="0">
                <a:sym typeface="Symbol" pitchFamily="18" charset="2"/>
              </a:rPr>
              <a:t>1</a:t>
            </a:r>
            <a:r>
              <a:rPr lang="en-US" altLang="ja-JP" sz="2800" b="0" dirty="0">
                <a:sym typeface="Symbol" pitchFamily="18" charset="2"/>
              </a:rPr>
              <a:t> [ </a:t>
            </a:r>
            <a:r>
              <a:rPr lang="en-US" altLang="ja-JP" sz="2800" b="0" i="1" dirty="0">
                <a:sym typeface="Symbol" pitchFamily="18" charset="2"/>
              </a:rPr>
              <a:t>N</a:t>
            </a:r>
            <a:r>
              <a:rPr lang="en-US" altLang="ja-JP" sz="2800" b="0" dirty="0">
                <a:sym typeface="Symbol" pitchFamily="18" charset="2"/>
              </a:rPr>
              <a:t> / </a:t>
            </a:r>
            <a:r>
              <a:rPr lang="en-US" altLang="ja-JP" sz="2800" b="0" i="1" dirty="0">
                <a:sym typeface="Symbol" pitchFamily="18" charset="2"/>
              </a:rPr>
              <a:t>x</a:t>
            </a:r>
            <a:r>
              <a:rPr lang="en-US" altLang="ja-JP" sz="2800" b="0" dirty="0">
                <a:sym typeface="Symbol" pitchFamily="18" charset="2"/>
              </a:rPr>
              <a:t> ] ) ( </a:t>
            </a:r>
            <a:r>
              <a:rPr lang="en-US" altLang="ja-JP" sz="2800" b="0" i="1" dirty="0">
                <a:sym typeface="Symbol" pitchFamily="18" charset="2"/>
              </a:rPr>
              <a:t>M</a:t>
            </a:r>
            <a:r>
              <a:rPr lang="en-US" altLang="ja-JP" sz="2800" b="0" baseline="-25000" dirty="0">
                <a:sym typeface="Symbol" pitchFamily="18" charset="2"/>
              </a:rPr>
              <a:t>2</a:t>
            </a:r>
            <a:r>
              <a:rPr lang="en-US" altLang="ja-JP" sz="2800" b="0" dirty="0">
                <a:sym typeface="Symbol" pitchFamily="18" charset="2"/>
              </a:rPr>
              <a:t> [</a:t>
            </a:r>
            <a:r>
              <a:rPr lang="en-US" altLang="ja-JP" sz="2800" b="0" i="1" dirty="0">
                <a:sym typeface="Symbol" pitchFamily="18" charset="2"/>
              </a:rPr>
              <a:t>N</a:t>
            </a:r>
            <a:r>
              <a:rPr lang="en-US" altLang="ja-JP" sz="2800" b="0" dirty="0">
                <a:sym typeface="Symbol" pitchFamily="18" charset="2"/>
              </a:rPr>
              <a:t> / </a:t>
            </a:r>
            <a:r>
              <a:rPr lang="en-US" altLang="ja-JP" sz="2800" b="0" i="1" dirty="0">
                <a:sym typeface="Symbol" pitchFamily="18" charset="2"/>
              </a:rPr>
              <a:t>x</a:t>
            </a:r>
            <a:r>
              <a:rPr lang="en-US" altLang="ja-JP" sz="2800" b="0" dirty="0">
                <a:sym typeface="Symbol" pitchFamily="18" charset="2"/>
              </a:rPr>
              <a:t>] )</a:t>
            </a:r>
          </a:p>
        </p:txBody>
      </p:sp>
      <p:sp>
        <p:nvSpPr>
          <p:cNvPr id="131076" name="AutoShape 4"/>
          <p:cNvSpPr>
            <a:spLocks/>
          </p:cNvSpPr>
          <p:nvPr/>
        </p:nvSpPr>
        <p:spPr bwMode="auto">
          <a:xfrm>
            <a:off x="1204891" y="4143380"/>
            <a:ext cx="366713" cy="1042988"/>
          </a:xfrm>
          <a:prstGeom prst="leftBrace">
            <a:avLst>
              <a:gd name="adj1" fmla="val 23701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ja-JP" alt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タイトル 12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ja-JP" dirty="0">
                <a:sym typeface="Symbol" pitchFamily="18" charset="2"/>
              </a:rPr>
              <a:t>Free variables</a:t>
            </a:r>
            <a:endParaRPr lang="ja-JP" altLang="en-US" dirty="0">
              <a:sym typeface="Symbol" pitchFamily="18" charset="2"/>
            </a:endParaRPr>
          </a:p>
        </p:txBody>
      </p:sp>
      <p:sp>
        <p:nvSpPr>
          <p:cNvPr id="129027" name="Text Box 3"/>
          <p:cNvSpPr txBox="1">
            <a:spLocks noChangeArrowheads="1"/>
          </p:cNvSpPr>
          <p:nvPr/>
        </p:nvSpPr>
        <p:spPr bwMode="auto">
          <a:xfrm>
            <a:off x="1043608" y="2708920"/>
            <a:ext cx="7091362" cy="26776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457200" indent="-457200"/>
            <a:endParaRPr lang="ja-JP" altLang="en-US" sz="2800" b="0" dirty="0"/>
          </a:p>
          <a:p>
            <a:pPr marL="457200" indent="-457200"/>
            <a:r>
              <a:rPr lang="en-US" altLang="ja-JP" sz="2800" b="0" dirty="0"/>
              <a:t>FV( </a:t>
            </a:r>
            <a:r>
              <a:rPr lang="en-US" altLang="ja-JP" sz="2800" b="0" i="1" dirty="0"/>
              <a:t>c</a:t>
            </a:r>
            <a:r>
              <a:rPr lang="en-US" altLang="ja-JP" sz="2800" b="0" dirty="0"/>
              <a:t> ) = { }</a:t>
            </a:r>
          </a:p>
          <a:p>
            <a:pPr marL="457200" indent="-457200"/>
            <a:r>
              <a:rPr lang="en-US" altLang="ja-JP" sz="2800" b="0" dirty="0"/>
              <a:t>FV ( </a:t>
            </a:r>
            <a:r>
              <a:rPr lang="en-US" altLang="ja-JP" sz="2800" b="0" i="1" dirty="0"/>
              <a:t>x</a:t>
            </a:r>
            <a:r>
              <a:rPr lang="en-US" altLang="ja-JP" sz="2800" b="0" dirty="0"/>
              <a:t> ) = { </a:t>
            </a:r>
            <a:r>
              <a:rPr lang="en-US" altLang="ja-JP" sz="2800" b="0" i="1" dirty="0"/>
              <a:t>x</a:t>
            </a:r>
            <a:r>
              <a:rPr lang="en-US" altLang="ja-JP" sz="2800" b="0" dirty="0"/>
              <a:t> }</a:t>
            </a:r>
          </a:p>
          <a:p>
            <a:pPr marL="457200" indent="-457200"/>
            <a:r>
              <a:rPr lang="en-US" altLang="ja-JP" sz="2800" b="0" dirty="0"/>
              <a:t>FV ( </a:t>
            </a:r>
            <a:r>
              <a:rPr lang="en-US" altLang="ja-JP" sz="2800" b="0" dirty="0">
                <a:sym typeface="Symbol" pitchFamily="18" charset="2"/>
              </a:rPr>
              <a:t></a:t>
            </a:r>
            <a:r>
              <a:rPr lang="en-US" altLang="ja-JP" sz="2800" b="0" i="1" dirty="0">
                <a:sym typeface="Symbol" pitchFamily="18" charset="2"/>
              </a:rPr>
              <a:t>x</a:t>
            </a:r>
            <a:r>
              <a:rPr lang="en-US" altLang="ja-JP" sz="2800" b="0" dirty="0">
                <a:sym typeface="Symbol" pitchFamily="18" charset="2"/>
              </a:rPr>
              <a:t>. </a:t>
            </a:r>
            <a:r>
              <a:rPr lang="en-US" altLang="ja-JP" sz="2800" b="0" i="1" dirty="0">
                <a:sym typeface="Symbol" pitchFamily="18" charset="2"/>
              </a:rPr>
              <a:t>M </a:t>
            </a:r>
            <a:r>
              <a:rPr lang="en-US" altLang="ja-JP" sz="2800" b="0" dirty="0">
                <a:sym typeface="Symbol" pitchFamily="18" charset="2"/>
              </a:rPr>
              <a:t>) = FV (</a:t>
            </a:r>
            <a:r>
              <a:rPr lang="en-US" altLang="ja-JP" sz="2800" b="0" i="1" dirty="0">
                <a:sym typeface="Symbol" pitchFamily="18" charset="2"/>
              </a:rPr>
              <a:t>M</a:t>
            </a:r>
            <a:r>
              <a:rPr lang="en-US" altLang="ja-JP" sz="2800" b="0" dirty="0">
                <a:sym typeface="Symbol" pitchFamily="18" charset="2"/>
              </a:rPr>
              <a:t>) \ { </a:t>
            </a:r>
            <a:r>
              <a:rPr lang="en-US" altLang="ja-JP" sz="2800" b="0" i="1" dirty="0">
                <a:sym typeface="Symbol" pitchFamily="18" charset="2"/>
              </a:rPr>
              <a:t>x</a:t>
            </a:r>
            <a:r>
              <a:rPr lang="en-US" altLang="ja-JP" sz="2800" b="0" dirty="0">
                <a:sym typeface="Symbol" pitchFamily="18" charset="2"/>
              </a:rPr>
              <a:t> } </a:t>
            </a:r>
            <a:r>
              <a:rPr lang="ja-JP" altLang="en-US" sz="2800" b="0" dirty="0">
                <a:sym typeface="Symbol" pitchFamily="18" charset="2"/>
              </a:rPr>
              <a:t>（</a:t>
            </a:r>
            <a:r>
              <a:rPr lang="en-US" altLang="ja-JP" sz="2800" b="0" dirty="0">
                <a:sym typeface="Symbol" pitchFamily="18" charset="2"/>
              </a:rPr>
              <a:t>\ is the operation for taking the difference of two sets. )</a:t>
            </a:r>
            <a:endParaRPr lang="ja-JP" altLang="en-US" sz="2800" b="0" dirty="0">
              <a:sym typeface="Symbol" pitchFamily="18" charset="2"/>
            </a:endParaRPr>
          </a:p>
          <a:p>
            <a:pPr marL="457200" indent="-457200"/>
            <a:r>
              <a:rPr lang="en-US" altLang="ja-JP" sz="2800" b="0" dirty="0">
                <a:sym typeface="Symbol" pitchFamily="18" charset="2"/>
              </a:rPr>
              <a:t>FV (</a:t>
            </a:r>
            <a:r>
              <a:rPr lang="en-US" altLang="ja-JP" sz="2800" b="0" i="1" dirty="0">
                <a:sym typeface="Symbol" pitchFamily="18" charset="2"/>
              </a:rPr>
              <a:t>M</a:t>
            </a:r>
            <a:r>
              <a:rPr lang="en-US" altLang="ja-JP" sz="2800" b="0" baseline="-25000" dirty="0">
                <a:sym typeface="Symbol" pitchFamily="18" charset="2"/>
              </a:rPr>
              <a:t>1</a:t>
            </a:r>
            <a:r>
              <a:rPr lang="en-US" altLang="ja-JP" sz="2800" b="0" dirty="0">
                <a:sym typeface="Symbol" pitchFamily="18" charset="2"/>
              </a:rPr>
              <a:t> </a:t>
            </a:r>
            <a:r>
              <a:rPr lang="en-US" altLang="ja-JP" sz="2800" b="0" i="1" dirty="0">
                <a:sym typeface="Symbol" pitchFamily="18" charset="2"/>
              </a:rPr>
              <a:t>M</a:t>
            </a:r>
            <a:r>
              <a:rPr lang="en-US" altLang="ja-JP" sz="2800" b="0" baseline="-25000" dirty="0">
                <a:sym typeface="Symbol" pitchFamily="18" charset="2"/>
              </a:rPr>
              <a:t>2</a:t>
            </a:r>
            <a:r>
              <a:rPr lang="en-US" altLang="ja-JP" sz="2800" b="0" dirty="0">
                <a:sym typeface="Symbol" pitchFamily="18" charset="2"/>
              </a:rPr>
              <a:t>) = FV (</a:t>
            </a:r>
            <a:r>
              <a:rPr lang="en-US" altLang="ja-JP" sz="2800" b="0" i="1" dirty="0">
                <a:sym typeface="Symbol" pitchFamily="18" charset="2"/>
              </a:rPr>
              <a:t>M</a:t>
            </a:r>
            <a:r>
              <a:rPr lang="en-US" altLang="ja-JP" sz="2800" b="0" baseline="-25000" dirty="0">
                <a:sym typeface="Symbol" pitchFamily="18" charset="2"/>
              </a:rPr>
              <a:t>1</a:t>
            </a:r>
            <a:r>
              <a:rPr lang="en-US" altLang="ja-JP" sz="2800" b="0" dirty="0">
                <a:sym typeface="Symbol" pitchFamily="18" charset="2"/>
              </a:rPr>
              <a:t>)  FV (</a:t>
            </a:r>
            <a:r>
              <a:rPr lang="en-US" altLang="ja-JP" sz="2800" b="0" i="1" dirty="0">
                <a:sym typeface="Symbol" pitchFamily="18" charset="2"/>
              </a:rPr>
              <a:t>M</a:t>
            </a:r>
            <a:r>
              <a:rPr lang="en-US" altLang="ja-JP" sz="2800" b="0" baseline="-25000" dirty="0">
                <a:sym typeface="Symbol" pitchFamily="18" charset="2"/>
              </a:rPr>
              <a:t>2</a:t>
            </a:r>
            <a:r>
              <a:rPr lang="en-US" altLang="ja-JP" sz="2800" b="0" dirty="0">
                <a:sym typeface="Symbol" pitchFamily="18" charset="2"/>
              </a:rPr>
              <a:t>)</a:t>
            </a:r>
          </a:p>
        </p:txBody>
      </p:sp>
      <p:sp>
        <p:nvSpPr>
          <p:cNvPr id="5" name="正方形/長方形 4"/>
          <p:cNvSpPr/>
          <p:nvPr/>
        </p:nvSpPr>
        <p:spPr>
          <a:xfrm>
            <a:off x="827584" y="1844824"/>
            <a:ext cx="7056784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ja-JP" sz="2800" dirty="0"/>
              <a:t>Free variables in lambda expression</a:t>
            </a:r>
            <a:r>
              <a:rPr lang="ja-JP" altLang="en-US" sz="2800" i="1" dirty="0"/>
              <a:t> </a:t>
            </a:r>
            <a:r>
              <a:rPr lang="en-US" altLang="ja-JP" sz="2800" i="1" dirty="0"/>
              <a:t>M</a:t>
            </a:r>
            <a:r>
              <a:rPr lang="en-US" altLang="ja-JP" sz="2800" dirty="0"/>
              <a:t>, written as FV(</a:t>
            </a:r>
            <a:r>
              <a:rPr lang="en-US" altLang="ja-JP" sz="2800" i="1" dirty="0"/>
              <a:t>M</a:t>
            </a:r>
            <a:r>
              <a:rPr lang="en-US" altLang="ja-JP" sz="2800" dirty="0"/>
              <a:t>), is defined as follows.</a:t>
            </a:r>
            <a:endParaRPr lang="ja-JP" altLang="en-US" sz="2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タイトル 12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ja-JP" dirty="0">
                <a:sym typeface="Symbol" pitchFamily="18" charset="2"/>
              </a:rPr>
              <a:t>Examples</a:t>
            </a:r>
            <a:endParaRPr lang="ja-JP" altLang="en-US" dirty="0">
              <a:sym typeface="Symbol" pitchFamily="18" charset="2"/>
            </a:endParaRPr>
          </a:p>
        </p:txBody>
      </p:sp>
      <p:sp>
        <p:nvSpPr>
          <p:cNvPr id="129027" name="Text Box 3"/>
          <p:cNvSpPr txBox="1">
            <a:spLocks noChangeArrowheads="1"/>
          </p:cNvSpPr>
          <p:nvPr/>
        </p:nvSpPr>
        <p:spPr bwMode="auto">
          <a:xfrm>
            <a:off x="857224" y="1357298"/>
            <a:ext cx="7810529" cy="35394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457200" indent="-457200"/>
            <a:r>
              <a:rPr lang="en-US" altLang="ja-JP" sz="2800" b="0" dirty="0"/>
              <a:t>(ex.) Free variables in a lambda expression (</a:t>
            </a:r>
            <a:r>
              <a:rPr lang="en-US" altLang="ja-JP" sz="2800" b="0" dirty="0" err="1"/>
              <a:t>λx</a:t>
            </a:r>
            <a:r>
              <a:rPr lang="en-US" altLang="ja-JP" sz="2800" b="0" dirty="0"/>
              <a:t> . x)</a:t>
            </a:r>
            <a:r>
              <a:rPr lang="en-US" altLang="ja-JP" sz="2800" dirty="0"/>
              <a:t>:</a:t>
            </a:r>
          </a:p>
          <a:p>
            <a:pPr marL="457200" indent="-457200"/>
            <a:r>
              <a:rPr lang="en-US" altLang="ja-JP" sz="2800" dirty="0"/>
              <a:t>     FV (</a:t>
            </a:r>
            <a:r>
              <a:rPr lang="en-US" altLang="ja-JP" sz="2800" dirty="0" err="1"/>
              <a:t>λx</a:t>
            </a:r>
            <a:r>
              <a:rPr lang="en-US" altLang="ja-JP" sz="2800" dirty="0"/>
              <a:t>. x) = FV (x) \ {x} = {x} \ {x} = { }</a:t>
            </a:r>
          </a:p>
          <a:p>
            <a:pPr marL="457200" indent="-457200"/>
            <a:r>
              <a:rPr lang="en-US" altLang="ja-JP" sz="2800" dirty="0"/>
              <a:t>So (</a:t>
            </a:r>
            <a:r>
              <a:rPr lang="en-US" altLang="ja-JP" sz="2800" dirty="0" err="1"/>
              <a:t>λx</a:t>
            </a:r>
            <a:r>
              <a:rPr lang="en-US" altLang="ja-JP" sz="2800" dirty="0"/>
              <a:t> . x) has no free variable.</a:t>
            </a:r>
          </a:p>
          <a:p>
            <a:pPr marL="457200" indent="-457200"/>
            <a:endParaRPr lang="en-US" altLang="ja-JP" sz="2800" b="0" dirty="0"/>
          </a:p>
          <a:p>
            <a:pPr marL="457200" indent="-457200"/>
            <a:r>
              <a:rPr lang="en-US" altLang="ja-JP" sz="2800" dirty="0"/>
              <a:t>(ex.) Free variables in a lambda expression</a:t>
            </a:r>
            <a:r>
              <a:rPr lang="ja-JP" altLang="en-US" sz="2800" dirty="0"/>
              <a:t> </a:t>
            </a:r>
            <a:r>
              <a:rPr lang="en-US" altLang="ja-JP" sz="2800" dirty="0"/>
              <a:t>(</a:t>
            </a:r>
            <a:r>
              <a:rPr lang="en-US" altLang="ja-JP" sz="2800" dirty="0" err="1"/>
              <a:t>λx</a:t>
            </a:r>
            <a:r>
              <a:rPr lang="en-US" altLang="ja-JP" sz="2800" dirty="0"/>
              <a:t>. x y):</a:t>
            </a:r>
            <a:r>
              <a:rPr lang="en-US" altLang="ja-JP" sz="2800" b="0" dirty="0"/>
              <a:t>  FV (</a:t>
            </a:r>
            <a:r>
              <a:rPr lang="en-US" altLang="ja-JP" sz="2800" b="0" dirty="0" err="1"/>
              <a:t>λx</a:t>
            </a:r>
            <a:r>
              <a:rPr lang="en-US" altLang="ja-JP" sz="2800" b="0" dirty="0"/>
              <a:t>. </a:t>
            </a:r>
            <a:r>
              <a:rPr lang="en-US" altLang="ja-JP" sz="2800" dirty="0"/>
              <a:t>x y) = FV (x y) \ {x} = (FV (x) U FV(y)) \ {x}</a:t>
            </a:r>
          </a:p>
          <a:p>
            <a:pPr marL="457200" indent="-457200"/>
            <a:r>
              <a:rPr lang="en-US" altLang="ja-JP" sz="2800" b="0" dirty="0"/>
              <a:t>                      = ({x} U {y}) \ {x} = {x, y} \ {x} = {y}</a:t>
            </a:r>
          </a:p>
          <a:p>
            <a:pPr marL="457200" indent="-457200"/>
            <a:r>
              <a:rPr lang="en-US" altLang="ja-JP" sz="2800" dirty="0"/>
              <a:t>So (</a:t>
            </a:r>
            <a:r>
              <a:rPr lang="en-US" altLang="ja-JP" sz="2800" dirty="0" err="1"/>
              <a:t>λx</a:t>
            </a:r>
            <a:r>
              <a:rPr lang="en-US" altLang="ja-JP" sz="2800" dirty="0"/>
              <a:t>. x y) has just one free variable, y.</a:t>
            </a:r>
            <a:endParaRPr lang="en-US" altLang="ja-JP" sz="2800" b="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2"/>
          <p:cNvSpPr txBox="1">
            <a:spLocks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4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  <a:sym typeface="Symbol" pitchFamily="18" charset="2"/>
              </a:rPr>
              <a:t>Exercise 1</a:t>
            </a:r>
            <a:endParaRPr kumimoji="1" lang="ja-JP" altLang="en-US" sz="4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  <a:sym typeface="Symbol" pitchFamily="18" charset="2"/>
            </a:endParaRPr>
          </a:p>
        </p:txBody>
      </p:sp>
      <p:sp>
        <p:nvSpPr>
          <p:cNvPr id="3" name="テキスト ボックス 2"/>
          <p:cNvSpPr txBox="1"/>
          <p:nvPr/>
        </p:nvSpPr>
        <p:spPr>
          <a:xfrm>
            <a:off x="683568" y="1412776"/>
            <a:ext cx="7704856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800" dirty="0"/>
              <a:t>(1) Obtain the free variables in</a:t>
            </a:r>
            <a:r>
              <a:rPr kumimoji="1" lang="ja-JP" altLang="en-US" sz="2800" dirty="0"/>
              <a:t> </a:t>
            </a:r>
            <a:r>
              <a:rPr lang="en-US" altLang="ja-JP" sz="2800" dirty="0">
                <a:sym typeface="Symbol" pitchFamily="18" charset="2"/>
              </a:rPr>
              <a:t>(z. z) w according to the definition of free variables. </a:t>
            </a:r>
          </a:p>
          <a:p>
            <a:r>
              <a:rPr lang="en-US" altLang="ja-JP" sz="2800" dirty="0">
                <a:sym typeface="Symbol" pitchFamily="18" charset="2"/>
              </a:rPr>
              <a:t>(2) Obtain the free variables in</a:t>
            </a:r>
            <a:r>
              <a:rPr lang="ja-JP" altLang="en-US" sz="2800" dirty="0">
                <a:sym typeface="Symbol" pitchFamily="18" charset="2"/>
              </a:rPr>
              <a:t> </a:t>
            </a:r>
            <a:r>
              <a:rPr lang="en-US" altLang="ja-JP" sz="2800" dirty="0">
                <a:sym typeface="Symbol" pitchFamily="18" charset="2"/>
              </a:rPr>
              <a:t>(</a:t>
            </a:r>
            <a:r>
              <a:rPr lang="en-US" altLang="ja-JP" sz="2800" dirty="0" err="1">
                <a:sym typeface="Symbol" pitchFamily="18" charset="2"/>
              </a:rPr>
              <a:t>λz</a:t>
            </a:r>
            <a:r>
              <a:rPr lang="en-US" altLang="ja-JP" sz="2800" dirty="0">
                <a:sym typeface="Symbol" pitchFamily="18" charset="2"/>
              </a:rPr>
              <a:t>. z y) ((</a:t>
            </a:r>
            <a:r>
              <a:rPr lang="en-US" altLang="ja-JP" sz="2800" dirty="0" err="1">
                <a:sym typeface="Symbol" pitchFamily="18" charset="2"/>
              </a:rPr>
              <a:t>λz</a:t>
            </a:r>
            <a:r>
              <a:rPr lang="en-US" altLang="ja-JP" sz="2800" dirty="0">
                <a:sym typeface="Symbol" pitchFamily="18" charset="2"/>
              </a:rPr>
              <a:t>. z) w) according to the definition of free variables. 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2"/>
          <p:cNvSpPr txBox="1">
            <a:spLocks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4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  <a:sym typeface="Symbol" pitchFamily="18" charset="2"/>
              </a:rPr>
              <a:t>Exercise 2</a:t>
            </a:r>
            <a:endParaRPr kumimoji="1" lang="ja-JP" altLang="en-US" sz="4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  <a:sym typeface="Symbol" pitchFamily="18" charset="2"/>
            </a:endParaRPr>
          </a:p>
        </p:txBody>
      </p:sp>
      <p:sp>
        <p:nvSpPr>
          <p:cNvPr id="3" name="テキスト ボックス 2"/>
          <p:cNvSpPr txBox="1"/>
          <p:nvPr/>
        </p:nvSpPr>
        <p:spPr>
          <a:xfrm>
            <a:off x="683568" y="1412776"/>
            <a:ext cx="7704856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800" dirty="0">
                <a:sym typeface="Symbol" pitchFamily="18" charset="2"/>
              </a:rPr>
              <a:t>(1) What does</a:t>
            </a:r>
            <a:r>
              <a:rPr lang="en-US" altLang="ja-JP" sz="2800" dirty="0">
                <a:sym typeface="Symbol" pitchFamily="18" charset="2"/>
              </a:rPr>
              <a:t> (x y) [z/x] represent? </a:t>
            </a:r>
            <a:endParaRPr kumimoji="1" lang="en-US" altLang="ja-JP" sz="2800" dirty="0">
              <a:sym typeface="Symbol" pitchFamily="18" charset="2"/>
            </a:endParaRPr>
          </a:p>
          <a:p>
            <a:r>
              <a:rPr lang="en-US" altLang="ja-JP" sz="2800" dirty="0">
                <a:sym typeface="Symbol" pitchFamily="18" charset="2"/>
              </a:rPr>
              <a:t>(2) What does (</a:t>
            </a:r>
            <a:r>
              <a:rPr lang="en-US" altLang="ja-JP" sz="2800" dirty="0" err="1">
                <a:sym typeface="Symbol" pitchFamily="18" charset="2"/>
              </a:rPr>
              <a:t>λy</a:t>
            </a:r>
            <a:r>
              <a:rPr lang="en-US" altLang="ja-JP" sz="2800" dirty="0">
                <a:sym typeface="Symbol" pitchFamily="18" charset="2"/>
              </a:rPr>
              <a:t>. x y) [z/x] represent?</a:t>
            </a:r>
          </a:p>
          <a:p>
            <a:r>
              <a:rPr lang="en-US" altLang="ja-JP" sz="2800" dirty="0">
                <a:sym typeface="Symbol" pitchFamily="18" charset="2"/>
              </a:rPr>
              <a:t>(3) What does</a:t>
            </a:r>
            <a:r>
              <a:rPr lang="ja-JP" altLang="en-US" sz="2800" dirty="0">
                <a:sym typeface="Symbol" pitchFamily="18" charset="2"/>
              </a:rPr>
              <a:t> </a:t>
            </a:r>
            <a:r>
              <a:rPr lang="en-US" altLang="ja-JP" sz="2800" dirty="0">
                <a:sym typeface="Symbol" pitchFamily="18" charset="2"/>
              </a:rPr>
              <a:t>(</a:t>
            </a:r>
            <a:r>
              <a:rPr lang="en-US" altLang="ja-JP" sz="2800" dirty="0" err="1">
                <a:sym typeface="Symbol" pitchFamily="18" charset="2"/>
              </a:rPr>
              <a:t>λy</a:t>
            </a:r>
            <a:r>
              <a:rPr lang="en-US" altLang="ja-JP" sz="2800" dirty="0">
                <a:sym typeface="Symbol" pitchFamily="18" charset="2"/>
              </a:rPr>
              <a:t>. x y) [y/x] represent?</a:t>
            </a:r>
          </a:p>
          <a:p>
            <a:r>
              <a:rPr lang="en-US" altLang="ja-JP" sz="2800" dirty="0">
                <a:sym typeface="Symbol" pitchFamily="18" charset="2"/>
              </a:rPr>
              <a:t>(4) What does (</a:t>
            </a:r>
            <a:r>
              <a:rPr lang="en-US" altLang="ja-JP" sz="2800" dirty="0" err="1">
                <a:sym typeface="Symbol" pitchFamily="18" charset="2"/>
              </a:rPr>
              <a:t>λy</a:t>
            </a:r>
            <a:r>
              <a:rPr lang="en-US" altLang="ja-JP" sz="2800" dirty="0">
                <a:sym typeface="Symbol" pitchFamily="18" charset="2"/>
              </a:rPr>
              <a:t>. x y) [</a:t>
            </a:r>
            <a:r>
              <a:rPr lang="en-US" altLang="ja-JP" sz="2800" dirty="0" err="1">
                <a:sym typeface="Symbol" pitchFamily="18" charset="2"/>
              </a:rPr>
              <a:t>λz</a:t>
            </a:r>
            <a:r>
              <a:rPr lang="en-US" altLang="ja-JP" sz="2800" dirty="0">
                <a:sym typeface="Symbol" pitchFamily="18" charset="2"/>
              </a:rPr>
              <a:t>. z y/x] represent?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2"/>
          <p:cNvSpPr txBox="1">
            <a:spLocks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4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  <a:sym typeface="Symbol" pitchFamily="18" charset="2"/>
              </a:rPr>
              <a:t>Exercise 3</a:t>
            </a:r>
            <a:endParaRPr kumimoji="1" lang="ja-JP" altLang="en-US" sz="4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  <a:sym typeface="Symbol" pitchFamily="18" charset="2"/>
            </a:endParaRPr>
          </a:p>
        </p:txBody>
      </p:sp>
      <p:sp>
        <p:nvSpPr>
          <p:cNvPr id="3" name="テキスト ボックス 2"/>
          <p:cNvSpPr txBox="1"/>
          <p:nvPr/>
        </p:nvSpPr>
        <p:spPr>
          <a:xfrm>
            <a:off x="156757" y="1484784"/>
            <a:ext cx="6391493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514350" indent="-514350">
              <a:buAutoNum type="arabicParenBoth"/>
            </a:pPr>
            <a:r>
              <a:rPr lang="en-US" altLang="ja-JP" sz="2800" dirty="0"/>
              <a:t>Beta reduce</a:t>
            </a:r>
            <a:r>
              <a:rPr kumimoji="1" lang="ja-JP" altLang="en-US" sz="2800" dirty="0"/>
              <a:t> </a:t>
            </a:r>
            <a:r>
              <a:rPr kumimoji="1" lang="en-US" altLang="ja-JP" sz="2800" dirty="0"/>
              <a:t>once </a:t>
            </a:r>
            <a:r>
              <a:rPr lang="en-US" altLang="ja-JP" sz="2800" dirty="0">
                <a:sym typeface="Symbol" pitchFamily="18" charset="2"/>
              </a:rPr>
              <a:t>(</a:t>
            </a:r>
            <a:r>
              <a:rPr lang="en-US" altLang="ja-JP" sz="2800" dirty="0" err="1">
                <a:sym typeface="Symbol" pitchFamily="18" charset="2"/>
              </a:rPr>
              <a:t>λx</a:t>
            </a:r>
            <a:r>
              <a:rPr lang="en-US" altLang="ja-JP" sz="2800" dirty="0">
                <a:sym typeface="Symbol" pitchFamily="18" charset="2"/>
              </a:rPr>
              <a:t>. x</a:t>
            </a:r>
            <a:r>
              <a:rPr lang="ja-JP" altLang="en-US" sz="2800" dirty="0">
                <a:sym typeface="Symbol" pitchFamily="18" charset="2"/>
              </a:rPr>
              <a:t> </a:t>
            </a:r>
            <a:r>
              <a:rPr lang="en-US" altLang="ja-JP" sz="2800" dirty="0">
                <a:sym typeface="Symbol" pitchFamily="18" charset="2"/>
              </a:rPr>
              <a:t>y) (</a:t>
            </a:r>
            <a:r>
              <a:rPr lang="en-US" altLang="ja-JP" sz="2800" dirty="0" err="1">
                <a:sym typeface="Symbol" pitchFamily="18" charset="2"/>
              </a:rPr>
              <a:t>λz</a:t>
            </a:r>
            <a:r>
              <a:rPr lang="en-US" altLang="ja-JP" sz="2800" dirty="0">
                <a:sym typeface="Symbol" pitchFamily="18" charset="2"/>
              </a:rPr>
              <a:t>. z).</a:t>
            </a:r>
          </a:p>
          <a:p>
            <a:pPr marL="514350" indent="-514350">
              <a:buAutoNum type="arabicParenBoth"/>
            </a:pPr>
            <a:r>
              <a:rPr kumimoji="1" lang="en-US" altLang="ja-JP" sz="2800" dirty="0">
                <a:sym typeface="Symbol" pitchFamily="18" charset="2"/>
              </a:rPr>
              <a:t>Beta reduce once</a:t>
            </a:r>
            <a:r>
              <a:rPr kumimoji="1" lang="ja-JP" altLang="en-US" sz="2800" dirty="0">
                <a:sym typeface="Symbol" pitchFamily="18" charset="2"/>
              </a:rPr>
              <a:t> </a:t>
            </a:r>
            <a:r>
              <a:rPr lang="en-US" altLang="ja-JP" sz="2800" dirty="0">
                <a:sym typeface="Symbol" pitchFamily="18" charset="2"/>
              </a:rPr>
              <a:t>(</a:t>
            </a:r>
            <a:r>
              <a:rPr kumimoji="1" lang="en-US" altLang="ja-JP" sz="2800" dirty="0" err="1">
                <a:sym typeface="Symbol" pitchFamily="18" charset="2"/>
              </a:rPr>
              <a:t>λx</a:t>
            </a:r>
            <a:r>
              <a:rPr kumimoji="1" lang="en-US" altLang="ja-JP" sz="2800" dirty="0">
                <a:sym typeface="Symbol" pitchFamily="18" charset="2"/>
              </a:rPr>
              <a:t>. (</a:t>
            </a:r>
            <a:r>
              <a:rPr kumimoji="1" lang="en-US" altLang="ja-JP" sz="2800" dirty="0" err="1">
                <a:sym typeface="Symbol" pitchFamily="18" charset="2"/>
              </a:rPr>
              <a:t>λy</a:t>
            </a:r>
            <a:r>
              <a:rPr kumimoji="1" lang="en-US" altLang="ja-JP" sz="2800" dirty="0">
                <a:sym typeface="Symbol" pitchFamily="18" charset="2"/>
              </a:rPr>
              <a:t>. x </a:t>
            </a:r>
            <a:r>
              <a:rPr lang="en-US" altLang="ja-JP" sz="2800" dirty="0">
                <a:sym typeface="Symbol" pitchFamily="18" charset="2"/>
              </a:rPr>
              <a:t>y</a:t>
            </a:r>
            <a:r>
              <a:rPr kumimoji="1" lang="en-US" altLang="ja-JP" sz="2800" dirty="0">
                <a:sym typeface="Symbol" pitchFamily="18" charset="2"/>
              </a:rPr>
              <a:t>)) (</a:t>
            </a:r>
            <a:r>
              <a:rPr kumimoji="1" lang="en-US" altLang="ja-JP" sz="2800" dirty="0" err="1">
                <a:sym typeface="Symbol" pitchFamily="18" charset="2"/>
              </a:rPr>
              <a:t>λz</a:t>
            </a:r>
            <a:r>
              <a:rPr kumimoji="1" lang="en-US" altLang="ja-JP" sz="2800" dirty="0">
                <a:sym typeface="Symbol" pitchFamily="18" charset="2"/>
              </a:rPr>
              <a:t>. </a:t>
            </a:r>
            <a:r>
              <a:rPr lang="en-US" altLang="ja-JP" sz="2800" dirty="0">
                <a:sym typeface="Symbol" pitchFamily="18" charset="2"/>
              </a:rPr>
              <a:t>y z</a:t>
            </a:r>
            <a:r>
              <a:rPr kumimoji="1" lang="en-US" altLang="ja-JP" sz="2800" dirty="0">
                <a:sym typeface="Symbol" pitchFamily="18" charset="2"/>
              </a:rPr>
              <a:t>).</a:t>
            </a:r>
            <a:endParaRPr kumimoji="1" lang="ja-JP" altLang="en-US" sz="2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タイトル 12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ja-JP" dirty="0">
                <a:sym typeface="Symbol" pitchFamily="18" charset="2"/>
              </a:rPr>
              <a:t>Sequences of beta reductions</a:t>
            </a:r>
            <a:endParaRPr lang="ja-JP" altLang="en-US" dirty="0">
              <a:sym typeface="Symbol" pitchFamily="18" charset="2"/>
            </a:endParaRPr>
          </a:p>
        </p:txBody>
      </p:sp>
      <p:sp>
        <p:nvSpPr>
          <p:cNvPr id="5" name="正方形/長方形 4"/>
          <p:cNvSpPr/>
          <p:nvPr/>
        </p:nvSpPr>
        <p:spPr>
          <a:xfrm>
            <a:off x="611560" y="1700808"/>
            <a:ext cx="7776864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ja-JP" sz="2800" i="1" dirty="0"/>
              <a:t>When M</a:t>
            </a:r>
            <a:r>
              <a:rPr lang="en-US" altLang="ja-JP" sz="2800" baseline="-25000" dirty="0"/>
              <a:t>1 </a:t>
            </a:r>
            <a:r>
              <a:rPr lang="en-US" altLang="ja-JP" sz="2800" dirty="0"/>
              <a:t>is beta reduced more than or equal to 0 times to </a:t>
            </a:r>
            <a:r>
              <a:rPr lang="en-US" altLang="ja-JP" sz="2800" i="1" dirty="0" err="1"/>
              <a:t>M</a:t>
            </a:r>
            <a:r>
              <a:rPr lang="en-US" altLang="ja-JP" sz="2800" i="1" baseline="-25000" dirty="0" err="1"/>
              <a:t>n</a:t>
            </a:r>
            <a:r>
              <a:rPr lang="en-US" altLang="ja-JP" sz="2800" i="1" baseline="-25000" dirty="0"/>
              <a:t>,</a:t>
            </a:r>
          </a:p>
          <a:p>
            <a:r>
              <a:rPr lang="en-US" altLang="ja-JP" sz="2800" i="1" dirty="0">
                <a:sym typeface="Symbol" pitchFamily="18" charset="2"/>
              </a:rPr>
              <a:t>    M</a:t>
            </a:r>
            <a:r>
              <a:rPr lang="en-US" altLang="ja-JP" sz="2800" baseline="-25000" dirty="0">
                <a:sym typeface="Symbol" pitchFamily="18" charset="2"/>
              </a:rPr>
              <a:t>1</a:t>
            </a:r>
            <a:r>
              <a:rPr lang="en-US" altLang="ja-JP" sz="2800" dirty="0">
                <a:sym typeface="Symbol" pitchFamily="18" charset="2"/>
              </a:rPr>
              <a:t>  </a:t>
            </a:r>
            <a:r>
              <a:rPr lang="en-US" altLang="ja-JP" sz="2800" i="1" dirty="0">
                <a:sym typeface="Symbol" pitchFamily="18" charset="2"/>
              </a:rPr>
              <a:t>M</a:t>
            </a:r>
            <a:r>
              <a:rPr lang="en-US" altLang="ja-JP" sz="2800" baseline="-25000" dirty="0">
                <a:sym typeface="Symbol" pitchFamily="18" charset="2"/>
              </a:rPr>
              <a:t>2</a:t>
            </a:r>
            <a:r>
              <a:rPr lang="en-US" altLang="ja-JP" sz="2800" dirty="0">
                <a:sym typeface="Symbol" pitchFamily="18" charset="2"/>
              </a:rPr>
              <a:t>  …  </a:t>
            </a:r>
            <a:r>
              <a:rPr lang="en-US" altLang="ja-JP" sz="2800" i="1" dirty="0">
                <a:sym typeface="Symbol" pitchFamily="18" charset="2"/>
              </a:rPr>
              <a:t>M</a:t>
            </a:r>
            <a:r>
              <a:rPr lang="en-US" altLang="ja-JP" sz="2800" i="1" baseline="-25000" dirty="0">
                <a:sym typeface="Symbol" pitchFamily="18" charset="2"/>
              </a:rPr>
              <a:t>n</a:t>
            </a:r>
          </a:p>
          <a:p>
            <a:r>
              <a:rPr lang="en-US" altLang="ja-JP" sz="2800" dirty="0"/>
              <a:t>is called a sequence of beta reductions. </a:t>
            </a:r>
          </a:p>
          <a:p>
            <a:r>
              <a:rPr lang="en-US" altLang="ja-JP" sz="2800" dirty="0"/>
              <a:t>(This can also be written as </a:t>
            </a:r>
            <a:r>
              <a:rPr lang="en-US" altLang="ja-JP" sz="2800" i="1" dirty="0">
                <a:sym typeface="Symbol" pitchFamily="18" charset="2"/>
              </a:rPr>
              <a:t>M</a:t>
            </a:r>
            <a:r>
              <a:rPr lang="en-US" altLang="ja-JP" sz="2800" baseline="-25000" dirty="0">
                <a:sym typeface="Symbol" pitchFamily="18" charset="2"/>
              </a:rPr>
              <a:t>1</a:t>
            </a:r>
            <a:r>
              <a:rPr lang="en-US" altLang="ja-JP" sz="2800" dirty="0">
                <a:sym typeface="Symbol" pitchFamily="18" charset="2"/>
              </a:rPr>
              <a:t>  *  </a:t>
            </a:r>
            <a:r>
              <a:rPr lang="en-US" altLang="ja-JP" sz="2800" i="1" dirty="0" err="1">
                <a:sym typeface="Symbol" pitchFamily="18" charset="2"/>
              </a:rPr>
              <a:t>M</a:t>
            </a:r>
            <a:r>
              <a:rPr lang="en-US" altLang="ja-JP" sz="2800" i="1" baseline="-25000" dirty="0" err="1">
                <a:sym typeface="Symbol" pitchFamily="18" charset="2"/>
              </a:rPr>
              <a:t>n</a:t>
            </a:r>
            <a:r>
              <a:rPr lang="en-US" altLang="ja-JP" sz="2800" i="1" baseline="-25000" dirty="0">
                <a:sym typeface="Symbol" pitchFamily="18" charset="2"/>
              </a:rPr>
              <a:t> </a:t>
            </a:r>
            <a:r>
              <a:rPr lang="ja-JP" altLang="en-US" sz="2800" baseline="-25000" dirty="0">
                <a:sym typeface="Symbol" pitchFamily="18" charset="2"/>
              </a:rPr>
              <a:t> </a:t>
            </a:r>
            <a:r>
              <a:rPr lang="en-US" altLang="ja-JP" sz="2800" dirty="0">
                <a:sym typeface="Symbol" pitchFamily="18" charset="2"/>
              </a:rPr>
              <a:t>.)</a:t>
            </a:r>
            <a:endParaRPr lang="ja-JP" altLang="en-US" sz="2800" dirty="0"/>
          </a:p>
          <a:p>
            <a:r>
              <a:rPr lang="en-US" altLang="ja-JP" sz="2800" dirty="0"/>
              <a:t>When </a:t>
            </a:r>
            <a:r>
              <a:rPr lang="en-US" altLang="ja-JP" sz="2800" i="1" dirty="0">
                <a:sym typeface="Symbol" pitchFamily="18" charset="2"/>
              </a:rPr>
              <a:t>M</a:t>
            </a:r>
            <a:r>
              <a:rPr lang="en-US" altLang="ja-JP" sz="2800" dirty="0">
                <a:sym typeface="Symbol" pitchFamily="18" charset="2"/>
              </a:rPr>
              <a:t>  </a:t>
            </a:r>
            <a:r>
              <a:rPr lang="en-US" altLang="ja-JP" sz="2800" i="1" dirty="0">
                <a:sym typeface="Symbol" pitchFamily="18" charset="2"/>
              </a:rPr>
              <a:t>N</a:t>
            </a:r>
            <a:r>
              <a:rPr lang="en-US" altLang="ja-JP" sz="2800" dirty="0">
                <a:sym typeface="Symbol" pitchFamily="18" charset="2"/>
              </a:rPr>
              <a:t> and</a:t>
            </a:r>
            <a:r>
              <a:rPr lang="ja-JP" altLang="en-US" sz="2800" dirty="0">
                <a:sym typeface="Symbol" pitchFamily="18" charset="2"/>
              </a:rPr>
              <a:t> </a:t>
            </a:r>
            <a:r>
              <a:rPr lang="en-US" altLang="ja-JP" sz="2800" i="1" dirty="0">
                <a:sym typeface="Symbol" pitchFamily="18" charset="2"/>
              </a:rPr>
              <a:t>N</a:t>
            </a:r>
            <a:r>
              <a:rPr lang="en-US" altLang="ja-JP" sz="2800" dirty="0">
                <a:sym typeface="Symbol" pitchFamily="18" charset="2"/>
              </a:rPr>
              <a:t> </a:t>
            </a:r>
            <a:r>
              <a:rPr lang="en-US" altLang="ja-JP" dirty="0">
                <a:sym typeface="Symbol" pitchFamily="18" charset="2"/>
              </a:rPr>
              <a:t> </a:t>
            </a:r>
            <a:r>
              <a:rPr lang="en-US" altLang="ja-JP" sz="2800" i="1" dirty="0">
                <a:sym typeface="Symbol" pitchFamily="18" charset="2"/>
              </a:rPr>
              <a:t>M</a:t>
            </a:r>
            <a:r>
              <a:rPr lang="en-US" altLang="ja-JP" sz="2800" dirty="0">
                <a:sym typeface="Symbol" pitchFamily="18" charset="2"/>
              </a:rPr>
              <a:t>, we write </a:t>
            </a:r>
            <a:r>
              <a:rPr lang="en-US" altLang="ja-JP" sz="2800" i="1" dirty="0">
                <a:sym typeface="Symbol" pitchFamily="18" charset="2"/>
              </a:rPr>
              <a:t>M</a:t>
            </a:r>
            <a:r>
              <a:rPr lang="en-US" altLang="ja-JP" sz="2800" dirty="0">
                <a:sym typeface="Symbol" pitchFamily="18" charset="2"/>
              </a:rPr>
              <a:t>  </a:t>
            </a:r>
            <a:r>
              <a:rPr lang="en-US" altLang="ja-JP" sz="2800" i="1" dirty="0">
                <a:sym typeface="Symbol" pitchFamily="18" charset="2"/>
              </a:rPr>
              <a:t>N </a:t>
            </a:r>
            <a:r>
              <a:rPr lang="en-US" altLang="ja-JP" sz="2800" dirty="0">
                <a:sym typeface="Symbol" pitchFamily="18" charset="2"/>
              </a:rPr>
              <a:t>.</a:t>
            </a:r>
            <a:endParaRPr lang="ja-JP" altLang="en-US" sz="2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タイトル 12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ja-JP" dirty="0">
                <a:sym typeface="Symbol" pitchFamily="18" charset="2"/>
              </a:rPr>
              <a:t>An example</a:t>
            </a:r>
            <a:endParaRPr lang="ja-JP" altLang="en-US" dirty="0">
              <a:sym typeface="Symbol" pitchFamily="18" charset="2"/>
            </a:endParaRPr>
          </a:p>
        </p:txBody>
      </p:sp>
      <p:sp>
        <p:nvSpPr>
          <p:cNvPr id="122883" name="Text Box 3"/>
          <p:cNvSpPr txBox="1">
            <a:spLocks noChangeArrowheads="1"/>
          </p:cNvSpPr>
          <p:nvPr/>
        </p:nvSpPr>
        <p:spPr bwMode="auto">
          <a:xfrm>
            <a:off x="1691680" y="2852936"/>
            <a:ext cx="5472608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457200" indent="-457200"/>
            <a:r>
              <a:rPr lang="en-US" altLang="ja-JP" sz="2800" b="0" dirty="0">
                <a:sym typeface="Symbol" pitchFamily="18" charset="2"/>
              </a:rPr>
              <a:t>(x. y. x y)  z w </a:t>
            </a:r>
          </a:p>
          <a:p>
            <a:pPr marL="457200" indent="-457200">
              <a:buFont typeface="Symbol" pitchFamily="18" charset="2"/>
              <a:buChar char="®"/>
            </a:pPr>
            <a:r>
              <a:rPr lang="en-US" altLang="ja-JP" sz="2800" b="0" dirty="0">
                <a:sym typeface="Symbol" pitchFamily="18" charset="2"/>
              </a:rPr>
              <a:t>(y. z y)  w</a:t>
            </a:r>
          </a:p>
          <a:p>
            <a:pPr marL="457200" indent="-457200">
              <a:buFont typeface="Symbol" pitchFamily="18" charset="2"/>
              <a:buChar char="®"/>
            </a:pPr>
            <a:r>
              <a:rPr lang="en-US" altLang="ja-JP" sz="2800" b="0" dirty="0">
                <a:sym typeface="Symbol" pitchFamily="18" charset="2"/>
              </a:rPr>
              <a:t>z </a:t>
            </a:r>
            <a:r>
              <a:rPr lang="ja-JP" altLang="en-US" sz="2800" dirty="0">
                <a:sym typeface="Symbol" pitchFamily="18" charset="2"/>
              </a:rPr>
              <a:t> </a:t>
            </a:r>
            <a:r>
              <a:rPr lang="en-US" altLang="ja-JP" sz="2800" b="0" dirty="0">
                <a:sym typeface="Symbol" pitchFamily="18" charset="2"/>
              </a:rPr>
              <a:t>w </a:t>
            </a:r>
          </a:p>
        </p:txBody>
      </p:sp>
      <p:sp>
        <p:nvSpPr>
          <p:cNvPr id="4" name="正方形/長方形 3"/>
          <p:cNvSpPr/>
          <p:nvPr/>
        </p:nvSpPr>
        <p:spPr>
          <a:xfrm>
            <a:off x="1115616" y="1484784"/>
            <a:ext cx="6552728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ja-JP" sz="2800" dirty="0"/>
              <a:t>A lambda expression</a:t>
            </a:r>
            <a:r>
              <a:rPr lang="ja-JP" altLang="en-US" sz="2800" dirty="0"/>
              <a:t> </a:t>
            </a:r>
            <a:r>
              <a:rPr lang="en-US" altLang="ja-JP" sz="2800" dirty="0"/>
              <a:t>(</a:t>
            </a:r>
            <a:r>
              <a:rPr lang="en-US" altLang="ja-JP" sz="2800" dirty="0" err="1"/>
              <a:t>λx</a:t>
            </a:r>
            <a:r>
              <a:rPr lang="en-US" altLang="ja-JP" sz="2800" dirty="0"/>
              <a:t>. </a:t>
            </a:r>
            <a:r>
              <a:rPr lang="en-US" altLang="ja-JP" sz="2800" dirty="0" err="1"/>
              <a:t>λy</a:t>
            </a:r>
            <a:r>
              <a:rPr lang="en-US" altLang="ja-JP" sz="2800" dirty="0"/>
              <a:t>. x y)  z w can be beta reduced to z w as follows. </a:t>
            </a:r>
            <a:endParaRPr lang="ja-JP" altLang="en-US" sz="2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タイトル 12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ja-JP" dirty="0">
                <a:sym typeface="Symbol" pitchFamily="18" charset="2"/>
              </a:rPr>
              <a:t>Exercise 4</a:t>
            </a:r>
            <a:endParaRPr lang="ja-JP" altLang="en-US" dirty="0">
              <a:sym typeface="Symbol" pitchFamily="18" charset="2"/>
            </a:endParaRPr>
          </a:p>
        </p:txBody>
      </p:sp>
      <p:sp>
        <p:nvSpPr>
          <p:cNvPr id="4" name="正方形/長方形 3"/>
          <p:cNvSpPr/>
          <p:nvPr/>
        </p:nvSpPr>
        <p:spPr>
          <a:xfrm>
            <a:off x="899592" y="1700808"/>
            <a:ext cx="7272808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ja-JP" sz="2800" dirty="0"/>
              <a:t>A lambda expression</a:t>
            </a:r>
            <a:r>
              <a:rPr lang="ja-JP" altLang="en-US" sz="2800" dirty="0"/>
              <a:t> </a:t>
            </a:r>
            <a:r>
              <a:rPr lang="en-US" altLang="ja-JP" sz="2800" dirty="0"/>
              <a:t>(</a:t>
            </a:r>
            <a:r>
              <a:rPr lang="en-US" altLang="ja-JP" sz="2800" dirty="0" err="1"/>
              <a:t>λx</a:t>
            </a:r>
            <a:r>
              <a:rPr lang="en-US" altLang="ja-JP" sz="2800" dirty="0"/>
              <a:t>. </a:t>
            </a:r>
            <a:r>
              <a:rPr lang="en-US" altLang="ja-JP" sz="2800" dirty="0" err="1"/>
              <a:t>λy</a:t>
            </a:r>
            <a:r>
              <a:rPr lang="en-US" altLang="ja-JP" sz="2800" dirty="0"/>
              <a:t>. x y)  (</a:t>
            </a:r>
            <a:r>
              <a:rPr lang="en-US" altLang="ja-JP" sz="2800" dirty="0" err="1"/>
              <a:t>λz</a:t>
            </a:r>
            <a:r>
              <a:rPr lang="en-US" altLang="ja-JP" sz="2800" dirty="0"/>
              <a:t>. z) w can be transformed to w by applying beta reductions. Write each step of beta reductions. </a:t>
            </a:r>
            <a:endParaRPr lang="ja-JP" altLang="en-US" sz="2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タイトル 12"/>
          <p:cNvSpPr>
            <a:spLocks noGrp="1"/>
          </p:cNvSpPr>
          <p:nvPr>
            <p:ph type="title" idx="4294967295"/>
          </p:nvPr>
        </p:nvSpPr>
        <p:spPr>
          <a:xfrm>
            <a:off x="685800" y="266700"/>
            <a:ext cx="7772400" cy="1143000"/>
          </a:xfrm>
        </p:spPr>
        <p:txBody>
          <a:bodyPr/>
          <a:lstStyle/>
          <a:p>
            <a:r>
              <a:rPr lang="en-US" altLang="ja-JP" dirty="0"/>
              <a:t>Church-Rosser theorem</a:t>
            </a:r>
            <a:endParaRPr lang="ja-JP" altLang="en-US" dirty="0"/>
          </a:p>
        </p:txBody>
      </p:sp>
      <p:sp>
        <p:nvSpPr>
          <p:cNvPr id="133123" name="Text Box 3"/>
          <p:cNvSpPr txBox="1">
            <a:spLocks noChangeArrowheads="1"/>
          </p:cNvSpPr>
          <p:nvPr/>
        </p:nvSpPr>
        <p:spPr bwMode="auto">
          <a:xfrm>
            <a:off x="1622425" y="2111375"/>
            <a:ext cx="1841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en-US" altLang="ja-JP"/>
          </a:p>
        </p:txBody>
      </p:sp>
      <p:sp>
        <p:nvSpPr>
          <p:cNvPr id="133124" name="Text Box 4"/>
          <p:cNvSpPr txBox="1">
            <a:spLocks noChangeArrowheads="1"/>
          </p:cNvSpPr>
          <p:nvPr/>
        </p:nvSpPr>
        <p:spPr bwMode="auto">
          <a:xfrm>
            <a:off x="1071538" y="1857364"/>
            <a:ext cx="753291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altLang="ja-JP" sz="2800" b="0" dirty="0"/>
              <a:t>If </a:t>
            </a:r>
            <a:r>
              <a:rPr lang="en-US" altLang="ja-JP" sz="2800" b="0" i="1" dirty="0"/>
              <a:t>M</a:t>
            </a:r>
            <a:r>
              <a:rPr lang="en-US" altLang="ja-JP" sz="2800" b="0" dirty="0"/>
              <a:t> </a:t>
            </a:r>
            <a:r>
              <a:rPr lang="en-US" altLang="ja-JP" sz="2800" b="0" dirty="0">
                <a:sym typeface="Symbol" pitchFamily="18" charset="2"/>
              </a:rPr>
              <a:t>* </a:t>
            </a:r>
            <a:r>
              <a:rPr lang="en-US" altLang="ja-JP" sz="2800" b="0" i="1" dirty="0">
                <a:sym typeface="Symbol" pitchFamily="18" charset="2"/>
              </a:rPr>
              <a:t>M</a:t>
            </a:r>
            <a:r>
              <a:rPr lang="en-US" altLang="ja-JP" sz="2800" b="0" baseline="-25000" dirty="0">
                <a:sym typeface="Symbol" pitchFamily="18" charset="2"/>
              </a:rPr>
              <a:t>1</a:t>
            </a:r>
            <a:r>
              <a:rPr lang="en-US" altLang="ja-JP" sz="2800" b="0" dirty="0">
                <a:sym typeface="Symbol" pitchFamily="18" charset="2"/>
              </a:rPr>
              <a:t> and </a:t>
            </a:r>
            <a:r>
              <a:rPr lang="en-US" altLang="ja-JP" sz="2800" b="0" i="1" dirty="0"/>
              <a:t>M</a:t>
            </a:r>
            <a:r>
              <a:rPr lang="en-US" altLang="ja-JP" sz="2800" b="0" dirty="0"/>
              <a:t> </a:t>
            </a:r>
            <a:r>
              <a:rPr lang="en-US" altLang="ja-JP" sz="2800" b="0" dirty="0">
                <a:sym typeface="Symbol" pitchFamily="18" charset="2"/>
              </a:rPr>
              <a:t>* </a:t>
            </a:r>
            <a:r>
              <a:rPr lang="en-US" altLang="ja-JP" sz="2800" b="0" i="1" dirty="0">
                <a:sym typeface="Symbol" pitchFamily="18" charset="2"/>
              </a:rPr>
              <a:t>M</a:t>
            </a:r>
            <a:r>
              <a:rPr lang="en-US" altLang="ja-JP" sz="2800" b="0" baseline="-25000" dirty="0">
                <a:sym typeface="Symbol" pitchFamily="18" charset="2"/>
              </a:rPr>
              <a:t>2 </a:t>
            </a:r>
            <a:r>
              <a:rPr lang="en-US" altLang="ja-JP" sz="2800" b="0" dirty="0">
                <a:sym typeface="Symbol" pitchFamily="18" charset="2"/>
              </a:rPr>
              <a:t>then there exists a lambda expression </a:t>
            </a:r>
            <a:r>
              <a:rPr lang="en-US" altLang="ja-JP" sz="2800" b="0" i="1" dirty="0">
                <a:sym typeface="Symbol" pitchFamily="18" charset="2"/>
              </a:rPr>
              <a:t>N</a:t>
            </a:r>
            <a:r>
              <a:rPr lang="en-US" altLang="ja-JP" sz="2800" dirty="0">
                <a:sym typeface="Symbol" pitchFamily="18" charset="2"/>
              </a:rPr>
              <a:t> such that</a:t>
            </a:r>
            <a:r>
              <a:rPr lang="ja-JP" altLang="en-US" sz="2800" b="0" dirty="0">
                <a:sym typeface="Symbol" pitchFamily="18" charset="2"/>
              </a:rPr>
              <a:t> </a:t>
            </a:r>
            <a:r>
              <a:rPr lang="en-US" altLang="ja-JP" sz="2800" b="0" i="1" dirty="0">
                <a:sym typeface="Symbol" pitchFamily="18" charset="2"/>
              </a:rPr>
              <a:t>M</a:t>
            </a:r>
            <a:r>
              <a:rPr lang="en-US" altLang="ja-JP" sz="2800" b="0" baseline="-25000" dirty="0">
                <a:sym typeface="Symbol" pitchFamily="18" charset="2"/>
              </a:rPr>
              <a:t>1</a:t>
            </a:r>
            <a:r>
              <a:rPr lang="en-US" altLang="ja-JP" sz="2800" b="0" dirty="0">
                <a:sym typeface="Symbol" pitchFamily="18" charset="2"/>
              </a:rPr>
              <a:t> * </a:t>
            </a:r>
            <a:r>
              <a:rPr lang="en-US" altLang="ja-JP" sz="2800" b="0" i="1" dirty="0">
                <a:sym typeface="Symbol" pitchFamily="18" charset="2"/>
              </a:rPr>
              <a:t>N</a:t>
            </a:r>
            <a:r>
              <a:rPr lang="en-US" altLang="ja-JP" sz="2800" b="0" dirty="0">
                <a:sym typeface="Symbol" pitchFamily="18" charset="2"/>
              </a:rPr>
              <a:t> and </a:t>
            </a:r>
            <a:r>
              <a:rPr lang="en-US" altLang="ja-JP" sz="2800" b="0" i="1" dirty="0"/>
              <a:t>M</a:t>
            </a:r>
            <a:r>
              <a:rPr lang="en-US" altLang="ja-JP" sz="2800" b="0" i="1" baseline="-25000" dirty="0"/>
              <a:t>2</a:t>
            </a:r>
            <a:r>
              <a:rPr lang="en-US" altLang="ja-JP" sz="2800" b="0" dirty="0"/>
              <a:t> </a:t>
            </a:r>
            <a:r>
              <a:rPr lang="en-US" altLang="ja-JP" sz="2800" b="0" dirty="0">
                <a:sym typeface="Symbol" pitchFamily="18" charset="2"/>
              </a:rPr>
              <a:t>* </a:t>
            </a:r>
            <a:r>
              <a:rPr lang="en-US" altLang="ja-JP" sz="2800" b="0" i="1" dirty="0">
                <a:sym typeface="Symbol" pitchFamily="18" charset="2"/>
              </a:rPr>
              <a:t>N</a:t>
            </a:r>
            <a:r>
              <a:rPr lang="en-US" altLang="ja-JP" sz="2800" b="0" dirty="0">
                <a:sym typeface="Symbol" pitchFamily="18" charset="2"/>
              </a:rPr>
              <a:t> </a:t>
            </a:r>
            <a:r>
              <a:rPr lang="en-US" altLang="ja-JP" sz="2800" dirty="0">
                <a:sym typeface="Symbol" pitchFamily="18" charset="2"/>
              </a:rPr>
              <a:t>.</a:t>
            </a:r>
            <a:endParaRPr lang="en-US" altLang="ja-JP" sz="2800" b="0" dirty="0">
              <a:sym typeface="Symbol" pitchFamily="18" charset="2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タイトル 12"/>
          <p:cNvSpPr>
            <a:spLocks noGrp="1"/>
          </p:cNvSpPr>
          <p:nvPr>
            <p:ph type="title" idx="4294967295"/>
          </p:nvPr>
        </p:nvSpPr>
        <p:spPr>
          <a:xfrm>
            <a:off x="685800" y="266700"/>
            <a:ext cx="7772400" cy="1143000"/>
          </a:xfrm>
        </p:spPr>
        <p:txBody>
          <a:bodyPr/>
          <a:lstStyle/>
          <a:p>
            <a:r>
              <a:rPr lang="en-US" altLang="ja-JP" dirty="0"/>
              <a:t>An example</a:t>
            </a:r>
            <a:endParaRPr lang="ja-JP" altLang="en-US" dirty="0"/>
          </a:p>
        </p:txBody>
      </p:sp>
      <p:sp>
        <p:nvSpPr>
          <p:cNvPr id="133123" name="Text Box 3"/>
          <p:cNvSpPr txBox="1">
            <a:spLocks noChangeArrowheads="1"/>
          </p:cNvSpPr>
          <p:nvPr/>
        </p:nvSpPr>
        <p:spPr bwMode="auto">
          <a:xfrm>
            <a:off x="1622425" y="2111375"/>
            <a:ext cx="1841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en-US" altLang="ja-JP"/>
          </a:p>
        </p:txBody>
      </p:sp>
      <p:sp>
        <p:nvSpPr>
          <p:cNvPr id="5" name="Text Box 3"/>
          <p:cNvSpPr txBox="1">
            <a:spLocks noChangeArrowheads="1"/>
          </p:cNvSpPr>
          <p:nvPr/>
        </p:nvSpPr>
        <p:spPr bwMode="auto">
          <a:xfrm>
            <a:off x="539552" y="1268760"/>
            <a:ext cx="7748364" cy="52629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indent="-457200"/>
            <a:r>
              <a:rPr lang="en-US" altLang="ja-JP" sz="2800" b="0" dirty="0"/>
              <a:t>A lambda expression </a:t>
            </a:r>
            <a:r>
              <a:rPr lang="ja-JP" altLang="en-US" sz="2800" b="0" dirty="0"/>
              <a:t> </a:t>
            </a:r>
            <a:r>
              <a:rPr lang="en-US" altLang="ja-JP" sz="2800" b="0" dirty="0"/>
              <a:t>(</a:t>
            </a:r>
            <a:r>
              <a:rPr lang="en-US" altLang="ja-JP" sz="2800" b="0" dirty="0">
                <a:sym typeface="Symbol" pitchFamily="18" charset="2"/>
              </a:rPr>
              <a:t>x. y. x y)  (z. z) w is beta reduced as follows.</a:t>
            </a:r>
            <a:r>
              <a:rPr lang="en-US" altLang="ja-JP" sz="2800" dirty="0"/>
              <a:t> </a:t>
            </a:r>
          </a:p>
          <a:p>
            <a:pPr marL="457200" indent="-457200"/>
            <a:r>
              <a:rPr lang="en-US" altLang="ja-JP" sz="2800" dirty="0"/>
              <a:t>     (</a:t>
            </a:r>
            <a:r>
              <a:rPr lang="en-US" altLang="ja-JP" sz="2800" dirty="0">
                <a:sym typeface="Symbol" pitchFamily="18" charset="2"/>
              </a:rPr>
              <a:t>x. y. x y)  (z. z) w </a:t>
            </a:r>
            <a:r>
              <a:rPr lang="en-US" altLang="ja-JP" sz="2800" dirty="0">
                <a:sym typeface="Symbol"/>
              </a:rPr>
              <a:t></a:t>
            </a:r>
            <a:r>
              <a:rPr lang="ja-JP" altLang="en-US" sz="2800" dirty="0">
                <a:sym typeface="Symbol"/>
              </a:rPr>
              <a:t> </a:t>
            </a:r>
            <a:r>
              <a:rPr lang="en-US" altLang="ja-JP" sz="2800" dirty="0">
                <a:sym typeface="Symbol"/>
              </a:rPr>
              <a:t>(</a:t>
            </a:r>
            <a:r>
              <a:rPr lang="en-US" altLang="ja-JP" sz="2800" dirty="0" err="1">
                <a:sym typeface="Symbol"/>
              </a:rPr>
              <a:t>λy</a:t>
            </a:r>
            <a:r>
              <a:rPr lang="en-US" altLang="ja-JP" sz="2800" dirty="0">
                <a:sym typeface="Symbol"/>
              </a:rPr>
              <a:t>. (</a:t>
            </a:r>
            <a:r>
              <a:rPr lang="en-US" altLang="ja-JP" sz="2800" dirty="0" err="1">
                <a:sym typeface="Symbol"/>
              </a:rPr>
              <a:t>λz</a:t>
            </a:r>
            <a:r>
              <a:rPr lang="en-US" altLang="ja-JP" sz="2800" dirty="0">
                <a:sym typeface="Symbol"/>
              </a:rPr>
              <a:t>. z) y) w</a:t>
            </a:r>
          </a:p>
          <a:p>
            <a:pPr indent="-457200"/>
            <a:r>
              <a:rPr lang="en-US" altLang="ja-JP" sz="2800" dirty="0">
                <a:sym typeface="Symbol"/>
              </a:rPr>
              <a:t>There are two ways to beta reduce the obtained lambda expression.</a:t>
            </a:r>
          </a:p>
          <a:p>
            <a:pPr marL="514350" indent="-514350">
              <a:buAutoNum type="arabicParenBoth"/>
            </a:pPr>
            <a:r>
              <a:rPr lang="en-US" altLang="ja-JP" sz="2800" dirty="0">
                <a:sym typeface="Symbol"/>
              </a:rPr>
              <a:t>(</a:t>
            </a:r>
            <a:r>
              <a:rPr lang="en-US" altLang="ja-JP" sz="2800" dirty="0" err="1">
                <a:sym typeface="Symbol"/>
              </a:rPr>
              <a:t>λy</a:t>
            </a:r>
            <a:r>
              <a:rPr lang="en-US" altLang="ja-JP" sz="2800" dirty="0">
                <a:sym typeface="Symbol"/>
              </a:rPr>
              <a:t>. (</a:t>
            </a:r>
            <a:r>
              <a:rPr lang="en-US" altLang="ja-JP" sz="2800" dirty="0" err="1">
                <a:sym typeface="Symbol"/>
              </a:rPr>
              <a:t>λz</a:t>
            </a:r>
            <a:r>
              <a:rPr lang="en-US" altLang="ja-JP" sz="2800" dirty="0">
                <a:sym typeface="Symbol"/>
              </a:rPr>
              <a:t>. z) y) w</a:t>
            </a:r>
            <a:r>
              <a:rPr lang="ja-JP" altLang="en-US" sz="2800" dirty="0">
                <a:sym typeface="Symbol"/>
              </a:rPr>
              <a:t> </a:t>
            </a:r>
            <a:r>
              <a:rPr lang="en-US" altLang="ja-JP" sz="2800" dirty="0">
                <a:sym typeface="Symbol"/>
              </a:rPr>
              <a:t></a:t>
            </a:r>
            <a:r>
              <a:rPr lang="ja-JP" altLang="en-US" sz="2800" dirty="0">
                <a:sym typeface="Symbol"/>
              </a:rPr>
              <a:t> </a:t>
            </a:r>
            <a:r>
              <a:rPr lang="en-US" altLang="ja-JP" sz="2800" dirty="0">
                <a:sym typeface="Symbol"/>
              </a:rPr>
              <a:t>(</a:t>
            </a:r>
            <a:r>
              <a:rPr lang="en-US" altLang="ja-JP" sz="2800" dirty="0" err="1">
                <a:sym typeface="Symbol"/>
              </a:rPr>
              <a:t>λy</a:t>
            </a:r>
            <a:r>
              <a:rPr lang="en-US" altLang="ja-JP" sz="2800" dirty="0">
                <a:sym typeface="Symbol"/>
              </a:rPr>
              <a:t>. y) w</a:t>
            </a:r>
          </a:p>
          <a:p>
            <a:pPr marL="514350" indent="-514350">
              <a:buFontTx/>
              <a:buAutoNum type="arabicParenBoth"/>
            </a:pPr>
            <a:r>
              <a:rPr lang="en-US" altLang="ja-JP" sz="2800" dirty="0">
                <a:sym typeface="Symbol"/>
              </a:rPr>
              <a:t>(</a:t>
            </a:r>
            <a:r>
              <a:rPr lang="en-US" altLang="ja-JP" sz="2800" dirty="0" err="1">
                <a:sym typeface="Symbol"/>
              </a:rPr>
              <a:t>λy</a:t>
            </a:r>
            <a:r>
              <a:rPr lang="en-US" altLang="ja-JP" sz="2800" dirty="0">
                <a:sym typeface="Symbol"/>
              </a:rPr>
              <a:t>. (</a:t>
            </a:r>
            <a:r>
              <a:rPr lang="en-US" altLang="ja-JP" sz="2800" dirty="0" err="1">
                <a:sym typeface="Symbol"/>
              </a:rPr>
              <a:t>λz</a:t>
            </a:r>
            <a:r>
              <a:rPr lang="en-US" altLang="ja-JP" sz="2800" dirty="0">
                <a:sym typeface="Symbol"/>
              </a:rPr>
              <a:t>. z) y) w</a:t>
            </a:r>
            <a:r>
              <a:rPr lang="ja-JP" altLang="en-US" sz="2800" dirty="0">
                <a:sym typeface="Symbol"/>
              </a:rPr>
              <a:t> </a:t>
            </a:r>
            <a:r>
              <a:rPr lang="en-US" altLang="ja-JP" sz="2800" dirty="0">
                <a:sym typeface="Symbol"/>
              </a:rPr>
              <a:t></a:t>
            </a:r>
            <a:r>
              <a:rPr lang="ja-JP" altLang="en-US" sz="2800" dirty="0">
                <a:sym typeface="Symbol"/>
              </a:rPr>
              <a:t> </a:t>
            </a:r>
            <a:r>
              <a:rPr lang="en-US" altLang="ja-JP" sz="2800" dirty="0">
                <a:sym typeface="Symbol"/>
              </a:rPr>
              <a:t>(</a:t>
            </a:r>
            <a:r>
              <a:rPr lang="en-US" altLang="ja-JP" sz="2800" dirty="0" err="1">
                <a:sym typeface="Symbol"/>
              </a:rPr>
              <a:t>λz</a:t>
            </a:r>
            <a:r>
              <a:rPr lang="en-US" altLang="ja-JP" sz="2800" dirty="0">
                <a:sym typeface="Symbol"/>
              </a:rPr>
              <a:t>. z) w</a:t>
            </a:r>
          </a:p>
          <a:p>
            <a:pPr indent="-514350"/>
            <a:r>
              <a:rPr lang="en-US" altLang="ja-JP" sz="2800" dirty="0">
                <a:sym typeface="Symbol"/>
              </a:rPr>
              <a:t>By applying beta reduction once more, we obtain w. </a:t>
            </a:r>
          </a:p>
          <a:p>
            <a:pPr indent="-514350"/>
            <a:r>
              <a:rPr lang="en-US" altLang="ja-JP" sz="2800" dirty="0">
                <a:sym typeface="Symbol"/>
              </a:rPr>
              <a:t>As this example shows, when a lambda expression is beta reduced to two different lambda expressions, they can be beta reduced to the same lambda expression.  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タイトル 12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ja-JP" dirty="0">
                <a:sym typeface="Symbol" pitchFamily="18" charset="2"/>
              </a:rPr>
              <a:t>Exercise 5</a:t>
            </a:r>
            <a:endParaRPr lang="ja-JP" altLang="en-US" dirty="0">
              <a:sym typeface="Symbol" pitchFamily="18" charset="2"/>
            </a:endParaRPr>
          </a:p>
        </p:txBody>
      </p:sp>
      <p:sp>
        <p:nvSpPr>
          <p:cNvPr id="4" name="正方形/長方形 3"/>
          <p:cNvSpPr/>
          <p:nvPr/>
        </p:nvSpPr>
        <p:spPr>
          <a:xfrm>
            <a:off x="755576" y="1484784"/>
            <a:ext cx="7704856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ja-JP" sz="2800" dirty="0"/>
              <a:t>Beta reduce the lambda expression</a:t>
            </a:r>
            <a:r>
              <a:rPr lang="ja-JP" altLang="en-US" sz="2800" dirty="0"/>
              <a:t> </a:t>
            </a:r>
            <a:r>
              <a:rPr lang="en-US" altLang="ja-JP" sz="2800" dirty="0"/>
              <a:t>(</a:t>
            </a:r>
            <a:r>
              <a:rPr lang="en-US" altLang="ja-JP" sz="2800" dirty="0" err="1"/>
              <a:t>λx</a:t>
            </a:r>
            <a:r>
              <a:rPr lang="en-US" altLang="ja-JP" sz="2800" dirty="0"/>
              <a:t>. </a:t>
            </a:r>
            <a:r>
              <a:rPr lang="en-US" altLang="ja-JP" sz="2800" dirty="0" err="1"/>
              <a:t>λy</a:t>
            </a:r>
            <a:r>
              <a:rPr lang="en-US" altLang="ja-JP" sz="2800" dirty="0"/>
              <a:t>. x y)  (</a:t>
            </a:r>
            <a:r>
              <a:rPr lang="en-US" altLang="ja-JP" sz="2800" dirty="0" err="1"/>
              <a:t>λx</a:t>
            </a:r>
            <a:r>
              <a:rPr lang="en-US" altLang="ja-JP" sz="2800" dirty="0"/>
              <a:t>. x y) w until obtaining a lambda expression that can not be beta reduced.</a:t>
            </a:r>
          </a:p>
          <a:p>
            <a:r>
              <a:rPr lang="en-US" altLang="ja-JP" sz="2800" dirty="0"/>
              <a:t>In this example, there are two sequences of beta reductions. Show both of them. </a:t>
            </a:r>
            <a:endParaRPr lang="ja-JP" altLang="en-US" sz="2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2"/>
          <p:cNvSpPr txBox="1">
            <a:spLocks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sz="4400" dirty="0">
                <a:latin typeface="+mj-lt"/>
                <a:ea typeface="+mj-ea"/>
                <a:cs typeface="+mj-cs"/>
                <a:sym typeface="Symbol" pitchFamily="18" charset="2"/>
              </a:rPr>
              <a:t>References</a:t>
            </a:r>
            <a:endParaRPr kumimoji="1" lang="ja-JP" altLang="en-US" sz="4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  <a:sym typeface="Symbol" pitchFamily="18" charset="2"/>
            </a:endParaRPr>
          </a:p>
        </p:txBody>
      </p:sp>
      <p:sp>
        <p:nvSpPr>
          <p:cNvPr id="3" name="正方形/長方形 2"/>
          <p:cNvSpPr/>
          <p:nvPr/>
        </p:nvSpPr>
        <p:spPr>
          <a:xfrm>
            <a:off x="395536" y="1700808"/>
            <a:ext cx="8568952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ja-JP" sz="2800" dirty="0"/>
              <a:t>Alonzo Church, </a:t>
            </a:r>
          </a:p>
          <a:p>
            <a:pPr>
              <a:buNone/>
            </a:pPr>
            <a:r>
              <a:rPr lang="en-US" altLang="ja-JP" sz="2800" dirty="0"/>
              <a:t>“An unsolvable problem of elementary number theory”,  </a:t>
            </a:r>
          </a:p>
          <a:p>
            <a:pPr>
              <a:buNone/>
            </a:pPr>
            <a:r>
              <a:rPr lang="en-US" altLang="ja-JP" sz="2800" i="1" dirty="0"/>
              <a:t>American Journal of Mathematics</a:t>
            </a:r>
            <a:r>
              <a:rPr lang="en-US" altLang="ja-JP" sz="2800" dirty="0"/>
              <a:t>, </a:t>
            </a:r>
          </a:p>
          <a:p>
            <a:pPr>
              <a:buNone/>
            </a:pPr>
            <a:r>
              <a:rPr lang="en-US" altLang="ja-JP" sz="2800" dirty="0"/>
              <a:t>vol. 58 , pp. 345-363, 1936.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385</TotalTime>
  <Words>1927</Words>
  <Application>Microsoft Macintosh PowerPoint</Application>
  <PresentationFormat>画面に合わせる (4:3)</PresentationFormat>
  <Paragraphs>149</Paragraphs>
  <Slides>24</Slides>
  <Notes>19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24</vt:i4>
      </vt:variant>
    </vt:vector>
  </HeadingPairs>
  <TitlesOfParts>
    <vt:vector size="29" baseType="lpstr">
      <vt:lpstr>ＭＳ Ｐゴシック</vt:lpstr>
      <vt:lpstr>Arial</vt:lpstr>
      <vt:lpstr>Calibri</vt:lpstr>
      <vt:lpstr>Symbol</vt:lpstr>
      <vt:lpstr>Office テーマ</vt:lpstr>
      <vt:lpstr>Foundations for  programming languages  9: Lambda calculus</vt:lpstr>
      <vt:lpstr>Lambda calculus</vt:lpstr>
      <vt:lpstr>Lambda expressions</vt:lpstr>
      <vt:lpstr>Lambda expressions</vt:lpstr>
      <vt:lpstr>Lambda calculus</vt:lpstr>
      <vt:lpstr>Examples of beta reductions</vt:lpstr>
      <vt:lpstr>Examples of beta reductions (cont.)</vt:lpstr>
      <vt:lpstr>Meta variables</vt:lpstr>
      <vt:lpstr>Beta reductions</vt:lpstr>
      <vt:lpstr>An example</vt:lpstr>
      <vt:lpstr>Another example</vt:lpstr>
      <vt:lpstr>The definition of M [ N / x ]</vt:lpstr>
      <vt:lpstr>Free variables</vt:lpstr>
      <vt:lpstr>Examples</vt:lpstr>
      <vt:lpstr>PowerPoint プレゼンテーション</vt:lpstr>
      <vt:lpstr>PowerPoint プレゼンテーション</vt:lpstr>
      <vt:lpstr>PowerPoint プレゼンテーション</vt:lpstr>
      <vt:lpstr>Sequences of beta reductions</vt:lpstr>
      <vt:lpstr>An example</vt:lpstr>
      <vt:lpstr>Exercise 4</vt:lpstr>
      <vt:lpstr>Church-Rosser theorem</vt:lpstr>
      <vt:lpstr>An example</vt:lpstr>
      <vt:lpstr>Exercise 5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プログラミング言語論</dc:title>
  <dc:creator>sasano</dc:creator>
  <cp:lastModifiedBy>篠埜　功</cp:lastModifiedBy>
  <cp:revision>233</cp:revision>
  <dcterms:created xsi:type="dcterms:W3CDTF">2009-12-20T09:26:10Z</dcterms:created>
  <dcterms:modified xsi:type="dcterms:W3CDTF">2026-09-30T03:10:40Z</dcterms:modified>
</cp:coreProperties>
</file>