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91" r:id="rId3"/>
    <p:sldId id="257" r:id="rId4"/>
    <p:sldId id="265" r:id="rId5"/>
    <p:sldId id="268" r:id="rId6"/>
    <p:sldId id="273" r:id="rId7"/>
    <p:sldId id="269" r:id="rId8"/>
    <p:sldId id="275" r:id="rId9"/>
    <p:sldId id="277" r:id="rId10"/>
    <p:sldId id="276" r:id="rId11"/>
    <p:sldId id="278" r:id="rId12"/>
    <p:sldId id="267" r:id="rId13"/>
    <p:sldId id="279" r:id="rId14"/>
    <p:sldId id="280" r:id="rId15"/>
    <p:sldId id="281" r:id="rId16"/>
    <p:sldId id="283" r:id="rId17"/>
    <p:sldId id="282" r:id="rId18"/>
    <p:sldId id="284" r:id="rId19"/>
    <p:sldId id="285" r:id="rId20"/>
    <p:sldId id="286" r:id="rId21"/>
    <p:sldId id="270" r:id="rId22"/>
    <p:sldId id="292" r:id="rId23"/>
    <p:sldId id="271" r:id="rId24"/>
    <p:sldId id="295" r:id="rId25"/>
    <p:sldId id="287" r:id="rId26"/>
    <p:sldId id="296" r:id="rId27"/>
    <p:sldId id="293" r:id="rId28"/>
    <p:sldId id="294" r:id="rId29"/>
    <p:sldId id="266"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4" d="100"/>
          <a:sy n="94" d="100"/>
        </p:scale>
        <p:origin x="-504"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interSettings" Target="printerSettings/printerSettings1.bin"/><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402A8A-1359-4ECC-B713-69DA8037369C}" type="datetimeFigureOut">
              <a:rPr kumimoji="1" lang="ja-JP" altLang="en-US" smtClean="0"/>
              <a:pPr/>
              <a:t>12/12/10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210E9-32C0-4038-8A44-8E520BD51458}" type="slidenum">
              <a:rPr kumimoji="1" lang="ja-JP" altLang="en-US" smtClean="0"/>
              <a:pPr/>
              <a:t>‹#›</a:t>
            </a:fld>
            <a:endParaRPr kumimoji="1" lang="ja-JP" altLang="en-US"/>
          </a:p>
        </p:txBody>
      </p:sp>
    </p:spTree>
    <p:extLst>
      <p:ext uri="{BB962C8B-B14F-4D97-AF65-F5344CB8AC3E}">
        <p14:creationId xmlns:p14="http://schemas.microsoft.com/office/powerpoint/2010/main" val="2345493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12/12/10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a:t>
            </a:r>
            <a:endParaRPr kumimoji="1" lang="ja-JP" altLang="en-US" dirty="0"/>
          </a:p>
        </p:txBody>
      </p:sp>
      <p:sp>
        <p:nvSpPr>
          <p:cNvPr id="4" name="テキスト ボックス 3"/>
          <p:cNvSpPr txBox="1"/>
          <p:nvPr/>
        </p:nvSpPr>
        <p:spPr>
          <a:xfrm>
            <a:off x="3500430" y="3786190"/>
            <a:ext cx="1566454" cy="584775"/>
          </a:xfrm>
          <a:prstGeom prst="rect">
            <a:avLst/>
          </a:prstGeom>
          <a:noFill/>
        </p:spPr>
        <p:txBody>
          <a:bodyPr wrap="none" rtlCol="0">
            <a:spAutoFit/>
          </a:bodyPr>
          <a:lstStyle/>
          <a:p>
            <a:r>
              <a:rPr kumimoji="1" lang="ja-JP" altLang="en-US" sz="3200" dirty="0" smtClean="0"/>
              <a:t>第１２回</a:t>
            </a:r>
            <a:endParaRPr kumimoji="1" lang="ja-JP" altLang="en-US" sz="3200" dirty="0"/>
          </a:p>
        </p:txBody>
      </p:sp>
      <p:sp>
        <p:nvSpPr>
          <p:cNvPr id="5" name="テキスト ボックス 4"/>
          <p:cNvSpPr txBox="1"/>
          <p:nvPr/>
        </p:nvSpPr>
        <p:spPr>
          <a:xfrm>
            <a:off x="2571736"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確認事項</a:t>
            </a:r>
            <a:endParaRPr kumimoji="1" lang="ja-JP" altLang="en-US" dirty="0"/>
          </a:p>
        </p:txBody>
      </p:sp>
      <p:sp>
        <p:nvSpPr>
          <p:cNvPr id="3" name="テキスト ボックス 2"/>
          <p:cNvSpPr txBox="1"/>
          <p:nvPr/>
        </p:nvSpPr>
        <p:spPr>
          <a:xfrm>
            <a:off x="785786" y="1571612"/>
            <a:ext cx="7500990" cy="1569660"/>
          </a:xfrm>
          <a:prstGeom prst="rect">
            <a:avLst/>
          </a:prstGeom>
          <a:noFill/>
        </p:spPr>
        <p:txBody>
          <a:bodyPr wrap="square" rtlCol="0">
            <a:spAutoFit/>
          </a:bodyPr>
          <a:lstStyle/>
          <a:p>
            <a:r>
              <a:rPr lang="ja-JP" altLang="en-US" sz="2400" dirty="0" smtClean="0"/>
              <a:t>第</a:t>
            </a:r>
            <a:r>
              <a:rPr kumimoji="1" lang="ja-JP" altLang="en-US" sz="2400" dirty="0" smtClean="0"/>
              <a:t>１回目にもアナウンスしましたが、これまでに解けていない</a:t>
            </a:r>
            <a:r>
              <a:rPr lang="ja-JP" altLang="en-US" sz="2400" dirty="0" smtClean="0"/>
              <a:t>基本</a:t>
            </a:r>
            <a:r>
              <a:rPr kumimoji="1" lang="ja-JP" altLang="en-US" sz="2400" dirty="0" smtClean="0"/>
              <a:t>課題（各回２問ずつ）がある人は</a:t>
            </a:r>
            <a:r>
              <a:rPr lang="en-US" altLang="ja-JP" sz="2400" dirty="0" smtClean="0"/>
              <a:t>14</a:t>
            </a:r>
            <a:r>
              <a:rPr lang="ja-JP" altLang="en-US" sz="2400" dirty="0" smtClean="0"/>
              <a:t>回目の</a:t>
            </a:r>
            <a:r>
              <a:rPr lang="en-US" altLang="ja-JP" sz="2400" dirty="0" smtClean="0"/>
              <a:t>16:10</a:t>
            </a:r>
            <a:r>
              <a:rPr lang="ja-JP" altLang="en-US" sz="2400" dirty="0" err="1" smtClean="0"/>
              <a:t>までに</a:t>
            </a:r>
            <a:r>
              <a:rPr lang="en-US" altLang="ja-JP" sz="2400" dirty="0" smtClean="0"/>
              <a:t>TA</a:t>
            </a:r>
            <a:r>
              <a:rPr lang="ja-JP" altLang="en-US" sz="2400" dirty="0" smtClean="0"/>
              <a:t>に確認してもらってください。</a:t>
            </a:r>
            <a:r>
              <a:rPr kumimoji="1" lang="ja-JP" altLang="en-US" sz="2400" dirty="0" smtClean="0"/>
              <a:t>それ以降は受け付けま</a:t>
            </a:r>
            <a:r>
              <a:rPr lang="ja-JP" altLang="en-US" sz="2400" dirty="0" smtClean="0"/>
              <a:t>せん。</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a:xfrm>
            <a:off x="457200" y="1600201"/>
            <a:ext cx="8229600" cy="3971940"/>
          </a:xfrm>
        </p:spPr>
        <p:txBody>
          <a:bodyPr>
            <a:normAutofit/>
          </a:bodyPr>
          <a:lstStyle/>
          <a:p>
            <a:r>
              <a:rPr kumimoji="1" lang="ja-JP" altLang="en-US" dirty="0" smtClean="0"/>
              <a:t>便利な構文を紹介</a:t>
            </a:r>
            <a:endParaRPr kumimoji="1" lang="en-US" altLang="ja-JP" dirty="0" smtClean="0"/>
          </a:p>
          <a:p>
            <a:pPr lvl="1"/>
            <a:r>
              <a:rPr lang="ja-JP" altLang="en-US" dirty="0" smtClean="0"/>
              <a:t>コンマ演算子</a:t>
            </a:r>
            <a:endParaRPr lang="en-US" altLang="ja-JP" dirty="0" smtClean="0"/>
          </a:p>
          <a:p>
            <a:pPr lvl="1"/>
            <a:r>
              <a:rPr lang="ja-JP" altLang="en-US" dirty="0" smtClean="0"/>
              <a:t>増分演算子</a:t>
            </a:r>
            <a:r>
              <a:rPr lang="en-US" altLang="ja-JP" dirty="0" smtClean="0"/>
              <a:t>++</a:t>
            </a:r>
            <a:r>
              <a:rPr lang="ja-JP" altLang="en-US" dirty="0" err="1" smtClean="0"/>
              <a:t>、</a:t>
            </a:r>
            <a:r>
              <a:rPr lang="ja-JP" altLang="en-US" dirty="0" smtClean="0"/>
              <a:t>減分演算子</a:t>
            </a:r>
            <a:r>
              <a:rPr lang="en-US" altLang="ja-JP" dirty="0" smtClean="0"/>
              <a:t>--</a:t>
            </a:r>
            <a:r>
              <a:rPr lang="ja-JP" altLang="en-US" dirty="0" smtClean="0"/>
              <a:t>（それぞれ前置と後置がある）</a:t>
            </a:r>
            <a:endParaRPr lang="en-US" altLang="ja-JP" dirty="0" smtClean="0"/>
          </a:p>
          <a:p>
            <a:r>
              <a:rPr lang="ja-JP" altLang="en-US" dirty="0" smtClean="0"/>
              <a:t>ファイル処理</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コンマ演算子</a:t>
            </a:r>
            <a:endParaRPr kumimoji="1" lang="ja-JP" altLang="en-US" dirty="0"/>
          </a:p>
        </p:txBody>
      </p:sp>
      <p:sp>
        <p:nvSpPr>
          <p:cNvPr id="4" name="テキスト ボックス 3"/>
          <p:cNvSpPr txBox="1"/>
          <p:nvPr/>
        </p:nvSpPr>
        <p:spPr>
          <a:xfrm>
            <a:off x="1071538" y="1643050"/>
            <a:ext cx="7143800" cy="1384995"/>
          </a:xfrm>
          <a:prstGeom prst="rect">
            <a:avLst/>
          </a:prstGeom>
          <a:noFill/>
        </p:spPr>
        <p:txBody>
          <a:bodyPr wrap="square" rtlCol="0">
            <a:spAutoFit/>
          </a:bodyPr>
          <a:lstStyle/>
          <a:p>
            <a:r>
              <a:rPr lang="en-US" altLang="ja-JP" sz="2800" dirty="0" smtClean="0"/>
              <a:t>f</a:t>
            </a:r>
            <a:r>
              <a:rPr kumimoji="1" lang="en-US" altLang="ja-JP" sz="2800" dirty="0" smtClean="0"/>
              <a:t>or</a:t>
            </a:r>
            <a:r>
              <a:rPr kumimoji="1" lang="ja-JP" altLang="en-US" sz="2800" dirty="0" smtClean="0"/>
              <a:t>文の括弧内など、式が１つしか書けないところに２つ以上の式を書きたい場合に、コンマ演算子を用いて１つの式にする。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コンマ演算子</a:t>
            </a:r>
            <a:endParaRPr kumimoji="1" lang="ja-JP" altLang="en-US" dirty="0"/>
          </a:p>
        </p:txBody>
      </p:sp>
      <p:sp>
        <p:nvSpPr>
          <p:cNvPr id="4" name="テキスト ボックス 3"/>
          <p:cNvSpPr txBox="1"/>
          <p:nvPr/>
        </p:nvSpPr>
        <p:spPr>
          <a:xfrm>
            <a:off x="714348" y="1287836"/>
            <a:ext cx="4905510" cy="523220"/>
          </a:xfrm>
          <a:prstGeom prst="rect">
            <a:avLst/>
          </a:prstGeom>
          <a:noFill/>
        </p:spPr>
        <p:txBody>
          <a:bodyPr wrap="none" rtlCol="0">
            <a:spAutoFit/>
          </a:bodyPr>
          <a:lstStyle/>
          <a:p>
            <a:r>
              <a:rPr lang="ja-JP" altLang="en-US" sz="2800" dirty="0" smtClean="0"/>
              <a:t>コンマ演算子を使った式の構文</a:t>
            </a:r>
            <a:endParaRPr kumimoji="1" lang="ja-JP" altLang="en-US" sz="2800" dirty="0"/>
          </a:p>
        </p:txBody>
      </p:sp>
      <p:sp>
        <p:nvSpPr>
          <p:cNvPr id="5" name="Text Box 5"/>
          <p:cNvSpPr txBox="1">
            <a:spLocks noChangeArrowheads="1"/>
          </p:cNvSpPr>
          <p:nvPr/>
        </p:nvSpPr>
        <p:spPr bwMode="auto">
          <a:xfrm>
            <a:off x="1428728" y="1859340"/>
            <a:ext cx="11560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endParaRPr lang="ja-JP" altLang="en-US" sz="2800" dirty="0">
              <a:ea typeface="ＭＳ Ｐゴシック" charset="-128"/>
            </a:endParaRPr>
          </a:p>
        </p:txBody>
      </p:sp>
      <p:sp>
        <p:nvSpPr>
          <p:cNvPr id="6" name="テキスト ボックス 11"/>
          <p:cNvSpPr txBox="1">
            <a:spLocks noChangeArrowheads="1"/>
          </p:cNvSpPr>
          <p:nvPr/>
        </p:nvSpPr>
        <p:spPr bwMode="auto">
          <a:xfrm>
            <a:off x="642909" y="3000372"/>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a:t>の意味</a:t>
            </a:r>
            <a:endParaRPr kumimoji="1" lang="en-US" altLang="ja-JP" sz="2800" dirty="0"/>
          </a:p>
        </p:txBody>
      </p:sp>
      <p:sp>
        <p:nvSpPr>
          <p:cNvPr id="7" name="テキスト ボックス 6"/>
          <p:cNvSpPr txBox="1"/>
          <p:nvPr/>
        </p:nvSpPr>
        <p:spPr>
          <a:xfrm>
            <a:off x="1428728" y="3643314"/>
            <a:ext cx="6643734" cy="954107"/>
          </a:xfrm>
          <a:prstGeom prst="rect">
            <a:avLst/>
          </a:prstGeom>
          <a:solidFill>
            <a:srgbClr val="92D050"/>
          </a:solidFill>
          <a:ln>
            <a:solidFill>
              <a:schemeClr val="tx1"/>
            </a:solidFill>
          </a:ln>
        </p:spPr>
        <p:txBody>
          <a:bodyPr wrap="square" rtlCol="0">
            <a:spAutoFit/>
          </a:bodyPr>
          <a:lstStyle/>
          <a:p>
            <a:r>
              <a:rPr lang="ja-JP" altLang="en-US" sz="2800" dirty="0" smtClean="0"/>
              <a:t>まず式</a:t>
            </a:r>
            <a:r>
              <a:rPr lang="en-US" altLang="ja-JP" sz="2800" dirty="0" smtClean="0"/>
              <a:t>e</a:t>
            </a:r>
            <a:r>
              <a:rPr lang="en-US" altLang="ja-JP" sz="2800" baseline="-25000" dirty="0" smtClean="0"/>
              <a:t>1</a:t>
            </a:r>
            <a:r>
              <a:rPr lang="ja-JP" altLang="en-US" sz="2800" dirty="0" err="1" smtClean="0"/>
              <a:t>を評</a:t>
            </a:r>
            <a:r>
              <a:rPr lang="ja-JP" altLang="en-US" sz="2800" dirty="0" smtClean="0"/>
              <a:t>価し、次に</a:t>
            </a:r>
            <a:r>
              <a:rPr lang="en-US" altLang="ja-JP" sz="2800" dirty="0" smtClean="0"/>
              <a:t>e</a:t>
            </a:r>
            <a:r>
              <a:rPr lang="en-US" altLang="ja-JP" sz="2800" baseline="-25000" dirty="0" smtClean="0"/>
              <a:t>2</a:t>
            </a:r>
            <a:r>
              <a:rPr lang="ja-JP" altLang="en-US" sz="2800" dirty="0" err="1" smtClean="0"/>
              <a:t>を評</a:t>
            </a:r>
            <a:r>
              <a:rPr lang="ja-JP" altLang="en-US" sz="2800" dirty="0" smtClean="0"/>
              <a:t>価する。式</a:t>
            </a:r>
            <a:r>
              <a:rPr lang="en-US" altLang="ja-JP" sz="2800" dirty="0" smtClean="0"/>
              <a:t>e</a:t>
            </a:r>
            <a:r>
              <a:rPr lang="en-US" altLang="ja-JP" sz="2800" baseline="-25000" dirty="0" smtClean="0"/>
              <a:t>1</a:t>
            </a:r>
            <a:r>
              <a:rPr lang="en-US" altLang="ja-JP" sz="2800" dirty="0" smtClean="0"/>
              <a:t>,e</a:t>
            </a:r>
            <a:r>
              <a:rPr lang="en-US" altLang="ja-JP" sz="2800" baseline="-25000" dirty="0" smtClean="0"/>
              <a:t>2</a:t>
            </a:r>
            <a:r>
              <a:rPr lang="ja-JP" altLang="en-US" sz="2800" dirty="0" smtClean="0"/>
              <a:t>の値は、式</a:t>
            </a:r>
            <a:r>
              <a:rPr lang="en-US" altLang="ja-JP" sz="2800" dirty="0" smtClean="0"/>
              <a:t>e</a:t>
            </a:r>
            <a:r>
              <a:rPr lang="en-US" altLang="ja-JP" sz="2800" baseline="-25000" dirty="0" smtClean="0"/>
              <a:t>2</a:t>
            </a:r>
            <a:r>
              <a:rPr lang="ja-JP" altLang="en-US" sz="2800" dirty="0" smtClean="0"/>
              <a:t>の評価結果である。</a:t>
            </a:r>
            <a:endParaRPr lang="en-US" altLang="ja-JP" sz="2800" dirty="0" smtClean="0"/>
          </a:p>
        </p:txBody>
      </p:sp>
      <p:sp>
        <p:nvSpPr>
          <p:cNvPr id="10" name="テキスト ボックス 9"/>
          <p:cNvSpPr txBox="1"/>
          <p:nvPr/>
        </p:nvSpPr>
        <p:spPr>
          <a:xfrm>
            <a:off x="2857488" y="1787902"/>
            <a:ext cx="6072230" cy="1200329"/>
          </a:xfrm>
          <a:prstGeom prst="rect">
            <a:avLst/>
          </a:prstGeom>
          <a:noFill/>
        </p:spPr>
        <p:txBody>
          <a:bodyPr wrap="square" rtlCol="0">
            <a:spAutoFit/>
          </a:bodyPr>
          <a:lstStyle/>
          <a:p>
            <a:r>
              <a:rPr lang="ja-JP" altLang="en-US" sz="2400" dirty="0" smtClean="0"/>
              <a:t>式をコンマで繋いで得られたものも式である。よって式を３つ以上コンマで区切ったものも式である。（コンマ演算子は左結合）</a:t>
            </a:r>
            <a:endParaRPr kumimoji="1" lang="en-US" altLang="ja-JP" sz="2400" dirty="0" smtClean="0"/>
          </a:p>
        </p:txBody>
      </p:sp>
      <p:sp>
        <p:nvSpPr>
          <p:cNvPr id="12" name="テキスト ボックス 11"/>
          <p:cNvSpPr txBox="1">
            <a:spLocks noChangeArrowheads="1"/>
          </p:cNvSpPr>
          <p:nvPr/>
        </p:nvSpPr>
        <p:spPr bwMode="auto">
          <a:xfrm>
            <a:off x="642911" y="5406110"/>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a:t>
            </a:r>
            <a:endParaRPr kumimoji="1" lang="en-US" altLang="ja-JP" sz="2800" dirty="0"/>
          </a:p>
        </p:txBody>
      </p:sp>
      <p:sp>
        <p:nvSpPr>
          <p:cNvPr id="13" name="テキスト ボックス 12"/>
          <p:cNvSpPr txBox="1">
            <a:spLocks noChangeArrowheads="1"/>
          </p:cNvSpPr>
          <p:nvPr/>
        </p:nvSpPr>
        <p:spPr bwMode="auto">
          <a:xfrm>
            <a:off x="1571604" y="5906176"/>
            <a:ext cx="614366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の型は式</a:t>
            </a:r>
            <a:r>
              <a:rPr kumimoji="1" lang="en-US" altLang="ja-JP" sz="2800" dirty="0" smtClean="0"/>
              <a:t>e</a:t>
            </a:r>
            <a:r>
              <a:rPr kumimoji="1" lang="en-US" altLang="ja-JP" sz="2800" baseline="-25000" dirty="0" smtClean="0"/>
              <a:t>2</a:t>
            </a:r>
            <a:r>
              <a:rPr kumimoji="1" lang="ja-JP" altLang="en-US" sz="2800" dirty="0" smtClean="0"/>
              <a:t>の型である。</a:t>
            </a:r>
            <a:endParaRPr kumimoji="1" lang="en-US" altLang="ja-JP" sz="2800" dirty="0"/>
          </a:p>
        </p:txBody>
      </p:sp>
      <p:sp>
        <p:nvSpPr>
          <p:cNvPr id="15" name="テキスト ボックス 14"/>
          <p:cNvSpPr txBox="1"/>
          <p:nvPr/>
        </p:nvSpPr>
        <p:spPr>
          <a:xfrm>
            <a:off x="1643042" y="4714884"/>
            <a:ext cx="6500858" cy="646331"/>
          </a:xfrm>
          <a:prstGeom prst="rect">
            <a:avLst/>
          </a:prstGeom>
          <a:noFill/>
        </p:spPr>
        <p:txBody>
          <a:bodyPr wrap="square" rtlCol="0">
            <a:spAutoFit/>
          </a:bodyPr>
          <a:lstStyle/>
          <a:p>
            <a:r>
              <a:rPr lang="ja-JP" altLang="en-US" dirty="0" smtClean="0"/>
              <a:t>（補足）つまり、</a:t>
            </a:r>
            <a:r>
              <a:rPr lang="en-US" altLang="ja-JP" dirty="0" smtClean="0"/>
              <a:t>e1</a:t>
            </a:r>
            <a:r>
              <a:rPr lang="ja-JP" altLang="en-US" dirty="0" smtClean="0"/>
              <a:t>の評価結果は捨てられるので、</a:t>
            </a:r>
            <a:r>
              <a:rPr lang="en-US" altLang="ja-JP" dirty="0" smtClean="0"/>
              <a:t>e1</a:t>
            </a:r>
            <a:r>
              <a:rPr lang="ja-JP" altLang="en-US" dirty="0" smtClean="0"/>
              <a:t>に副作用（代入など）がないと無意味である。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85786" y="1571612"/>
            <a:ext cx="5857916" cy="3108543"/>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err="1" smtClean="0"/>
              <a:t>i</a:t>
            </a:r>
            <a:r>
              <a:rPr lang="en-US" altLang="ja-JP" sz="2800" dirty="0" smtClean="0"/>
              <a:t>, j;</a:t>
            </a:r>
          </a:p>
          <a:p>
            <a:r>
              <a:rPr lang="en-US" altLang="ja-JP" sz="2800" dirty="0" smtClean="0"/>
              <a:t>  a = (</a:t>
            </a:r>
            <a:r>
              <a:rPr lang="en-US" altLang="ja-JP" sz="2800" dirty="0" err="1" smtClean="0">
                <a:solidFill>
                  <a:srgbClr val="FF0000"/>
                </a:solidFill>
              </a:rPr>
              <a:t>i</a:t>
            </a:r>
            <a:r>
              <a:rPr lang="en-US" altLang="ja-JP" sz="2800" dirty="0" smtClean="0">
                <a:solidFill>
                  <a:srgbClr val="FF0000"/>
                </a:solidFill>
              </a:rPr>
              <a:t>=3, j=4</a:t>
            </a:r>
            <a:r>
              <a:rPr lang="en-US" altLang="ja-JP" sz="2800" dirty="0" smtClean="0"/>
              <a:t>);</a:t>
            </a:r>
          </a:p>
          <a:p>
            <a:r>
              <a:rPr lang="en-US" altLang="ja-JP" sz="2800" dirty="0" smtClean="0"/>
              <a:t>  </a:t>
            </a:r>
            <a:r>
              <a:rPr lang="en-US" altLang="ja-JP" sz="2800" dirty="0" err="1" smtClean="0"/>
              <a:t>printf</a:t>
            </a:r>
            <a:r>
              <a:rPr lang="en-US" altLang="ja-JP" sz="2800" dirty="0" smtClean="0"/>
              <a:t> ("a=%d, </a:t>
            </a:r>
            <a:r>
              <a:rPr lang="en-US" altLang="ja-JP" sz="2800" dirty="0" err="1" smtClean="0"/>
              <a:t>i</a:t>
            </a:r>
            <a:r>
              <a:rPr lang="en-US" altLang="ja-JP" sz="2800" dirty="0" smtClean="0"/>
              <a:t>=%d, j=%d\n", a,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5" name="テキスト ボックス 4"/>
          <p:cNvSpPr txBox="1"/>
          <p:nvPr/>
        </p:nvSpPr>
        <p:spPr>
          <a:xfrm>
            <a:off x="714348" y="4929198"/>
            <a:ext cx="6397905" cy="1200329"/>
          </a:xfrm>
          <a:prstGeom prst="rect">
            <a:avLst/>
          </a:prstGeom>
          <a:noFill/>
        </p:spPr>
        <p:txBody>
          <a:bodyPr wrap="none" rtlCol="0">
            <a:spAutoFit/>
          </a:bodyPr>
          <a:lstStyle/>
          <a:p>
            <a:r>
              <a:rPr kumimoji="1" lang="ja-JP" altLang="en-US" sz="2400" dirty="0" smtClean="0"/>
              <a:t>赤字の部分がコンマ演算子を使った式である。</a:t>
            </a:r>
            <a:endParaRPr kumimoji="1" lang="en-US" altLang="ja-JP" sz="2400" dirty="0" smtClean="0"/>
          </a:p>
          <a:p>
            <a:r>
              <a:rPr lang="ja-JP" altLang="en-US" sz="2400" dirty="0" smtClean="0"/>
              <a:t>赤字の式の値は、式</a:t>
            </a:r>
            <a:r>
              <a:rPr lang="en-US" altLang="ja-JP" sz="2400" dirty="0" smtClean="0"/>
              <a:t>j=4</a:t>
            </a:r>
            <a:r>
              <a:rPr lang="ja-JP" altLang="en-US" sz="2400" dirty="0" smtClean="0"/>
              <a:t>の値、すなわち</a:t>
            </a:r>
            <a:r>
              <a:rPr lang="en-US" altLang="ja-JP" sz="2400" dirty="0" smtClean="0"/>
              <a:t>4</a:t>
            </a:r>
            <a:r>
              <a:rPr lang="ja-JP" altLang="en-US" sz="2400" dirty="0" smtClean="0"/>
              <a:t>である。</a:t>
            </a:r>
            <a:endParaRPr lang="en-US" altLang="ja-JP" sz="2400" dirty="0" smtClean="0"/>
          </a:p>
          <a:p>
            <a:r>
              <a:rPr kumimoji="1" lang="ja-JP" altLang="en-US" sz="2400" dirty="0" smtClean="0"/>
              <a:t>これが</a:t>
            </a:r>
            <a:r>
              <a:rPr kumimoji="1" lang="en-US" altLang="ja-JP" sz="2400" dirty="0" smtClean="0"/>
              <a:t>a</a:t>
            </a:r>
            <a:r>
              <a:rPr kumimoji="1" lang="ja-JP" altLang="en-US" sz="2400" dirty="0" smtClean="0"/>
              <a:t>に代入されるので、</a:t>
            </a:r>
            <a:r>
              <a:rPr kumimoji="1" lang="en-US" altLang="ja-JP" sz="2400" dirty="0" smtClean="0"/>
              <a:t>a</a:t>
            </a:r>
            <a:r>
              <a:rPr kumimoji="1" lang="ja-JP" altLang="en-US" sz="2400" dirty="0" smtClean="0"/>
              <a:t>の値は</a:t>
            </a:r>
            <a:r>
              <a:rPr kumimoji="1" lang="en-US" altLang="ja-JP" sz="2400" dirty="0" smtClean="0"/>
              <a:t>4</a:t>
            </a:r>
            <a:r>
              <a:rPr kumimoji="1" lang="ja-JP" altLang="en-US" sz="2400" dirty="0" smtClean="0"/>
              <a:t>となる。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smtClean="0"/>
              <a:t>f</a:t>
            </a:r>
            <a:r>
              <a:rPr kumimoji="1" lang="en-US" altLang="ja-JP" dirty="0" smtClean="0"/>
              <a:t>or</a:t>
            </a:r>
            <a:r>
              <a:rPr kumimoji="1" lang="ja-JP" altLang="en-US" dirty="0" smtClean="0"/>
              <a:t>文に入れた例（打ち込んで確認）</a:t>
            </a:r>
            <a:endParaRPr kumimoji="1" lang="ja-JP" altLang="en-US" dirty="0"/>
          </a:p>
        </p:txBody>
      </p:sp>
      <p:sp>
        <p:nvSpPr>
          <p:cNvPr id="5" name="正方形/長方形 4"/>
          <p:cNvSpPr/>
          <p:nvPr/>
        </p:nvSpPr>
        <p:spPr>
          <a:xfrm>
            <a:off x="785786" y="1643050"/>
            <a:ext cx="4572000" cy="3108543"/>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j;</a:t>
            </a:r>
          </a:p>
          <a:p>
            <a:r>
              <a:rPr lang="en-US" altLang="ja-JP" sz="2800" dirty="0" smtClean="0"/>
              <a:t>  for (</a:t>
            </a:r>
            <a:r>
              <a:rPr lang="en-US" altLang="ja-JP" sz="2800" dirty="0" err="1" smtClean="0">
                <a:solidFill>
                  <a:srgbClr val="FF0000"/>
                </a:solidFill>
              </a:rPr>
              <a:t>i</a:t>
            </a:r>
            <a:r>
              <a:rPr lang="en-US" altLang="ja-JP" sz="2800" dirty="0" smtClean="0">
                <a:solidFill>
                  <a:srgbClr val="FF0000"/>
                </a:solidFill>
              </a:rPr>
              <a:t>=0, j=0</a:t>
            </a:r>
            <a:r>
              <a:rPr lang="en-US" altLang="ja-JP" sz="2800" dirty="0" smtClean="0"/>
              <a:t>; </a:t>
            </a:r>
            <a:r>
              <a:rPr lang="en-US" altLang="ja-JP" sz="2800" dirty="0" err="1" smtClean="0"/>
              <a:t>i</a:t>
            </a:r>
            <a:r>
              <a:rPr lang="en-US" altLang="ja-JP" sz="2800" dirty="0" smtClean="0"/>
              <a:t>&lt;4; </a:t>
            </a:r>
            <a:r>
              <a:rPr lang="en-US" altLang="ja-JP" sz="2800" dirty="0" err="1" smtClean="0">
                <a:solidFill>
                  <a:srgbClr val="FF0000"/>
                </a:solidFill>
              </a:rPr>
              <a:t>i</a:t>
            </a:r>
            <a:r>
              <a:rPr lang="en-US" altLang="ja-JP" sz="2800" dirty="0" smtClean="0">
                <a:solidFill>
                  <a:srgbClr val="FF0000"/>
                </a:solidFill>
              </a:rPr>
              <a:t>=i+1, j=j+1</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en-US" altLang="ja-JP" sz="2800" dirty="0" err="1" smtClean="0"/>
              <a:t>i</a:t>
            </a:r>
            <a:r>
              <a:rPr lang="en-US" altLang="ja-JP" sz="2800" dirty="0" smtClean="0"/>
              <a:t>=%d, j=%d\n",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6" name="テキスト ボックス 5"/>
          <p:cNvSpPr txBox="1"/>
          <p:nvPr/>
        </p:nvSpPr>
        <p:spPr>
          <a:xfrm>
            <a:off x="5572132" y="2000240"/>
            <a:ext cx="3071834" cy="1200329"/>
          </a:xfrm>
          <a:prstGeom prst="rect">
            <a:avLst/>
          </a:prstGeom>
          <a:noFill/>
        </p:spPr>
        <p:txBody>
          <a:bodyPr wrap="square" rtlCol="0">
            <a:spAutoFit/>
          </a:bodyPr>
          <a:lstStyle/>
          <a:p>
            <a:r>
              <a:rPr lang="ja-JP" altLang="en-US" sz="2400" dirty="0" smtClean="0"/>
              <a:t>赤字の部分が、コンマ演算子を使った式の例である。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子（前置）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smtClean="0"/>
              <a:t>前置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987193"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a:t>
            </a:r>
            <a:r>
              <a:rPr lang="ja-JP" altLang="en-US" sz="2800" dirty="0" smtClean="0">
                <a:ea typeface="ＭＳ Ｐゴシック" charset="-128"/>
              </a:rPr>
              <a:t>式</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905780"/>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501008"/>
            <a:ext cx="7391744"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が一度だけ評価されるという点以外、代入式</a:t>
            </a:r>
            <a:r>
              <a:rPr lang="en-US" altLang="ja-JP" sz="2800" dirty="0" smtClean="0"/>
              <a:t>e=e+1</a:t>
            </a:r>
            <a:r>
              <a:rPr lang="ja-JP" altLang="en-US" sz="2800" dirty="0" smtClean="0"/>
              <a:t>と同じ意味である。</a:t>
            </a:r>
            <a:endParaRPr lang="en-US" altLang="ja-JP" sz="2800" dirty="0" smtClean="0"/>
          </a:p>
        </p:txBody>
      </p:sp>
      <p:sp>
        <p:nvSpPr>
          <p:cNvPr id="10" name="テキスト ボックス 9"/>
          <p:cNvSpPr txBox="1">
            <a:spLocks noChangeArrowheads="1"/>
          </p:cNvSpPr>
          <p:nvPr/>
        </p:nvSpPr>
        <p:spPr bwMode="auto">
          <a:xfrm>
            <a:off x="642910" y="4653136"/>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229200"/>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4" name="テキスト ボックス 13"/>
          <p:cNvSpPr txBox="1"/>
          <p:nvPr/>
        </p:nvSpPr>
        <p:spPr>
          <a:xfrm>
            <a:off x="785786" y="5803908"/>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典型例</a:t>
            </a:r>
            <a:endParaRPr kumimoji="1" lang="ja-JP" altLang="en-US" dirty="0"/>
          </a:p>
        </p:txBody>
      </p:sp>
      <p:sp>
        <p:nvSpPr>
          <p:cNvPr id="4" name="正方形/長方形 3"/>
          <p:cNvSpPr/>
          <p:nvPr/>
        </p:nvSpPr>
        <p:spPr>
          <a:xfrm>
            <a:off x="357158"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solidFill>
                  <a:srgbClr val="FF0000"/>
                </a:solidFill>
              </a:rPr>
              <a:t>i</a:t>
            </a:r>
            <a:r>
              <a:rPr lang="en-US" altLang="ja-JP" sz="2400" dirty="0" smtClean="0">
                <a:solidFill>
                  <a:srgbClr val="FF0000"/>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5" name="正方形/長方形 4"/>
          <p:cNvSpPr/>
          <p:nvPr/>
        </p:nvSpPr>
        <p:spPr>
          <a:xfrm>
            <a:off x="4714876"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smtClean="0">
                <a:solidFill>
                  <a:srgbClr val="FF0000"/>
                </a:solidFill>
              </a:rPr>
              <a:t>++</a:t>
            </a:r>
            <a:r>
              <a:rPr lang="en-US" altLang="ja-JP" sz="2400" dirty="0" err="1" smtClean="0">
                <a:solidFill>
                  <a:srgbClr val="FF0000"/>
                </a:solidFill>
              </a:rPr>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71472" y="4643446"/>
            <a:ext cx="8072493" cy="1569660"/>
          </a:xfrm>
          <a:prstGeom prst="rect">
            <a:avLst/>
          </a:prstGeom>
          <a:noFill/>
        </p:spPr>
        <p:txBody>
          <a:bodyPr wrap="square" rtlCol="0">
            <a:spAutoFit/>
          </a:bodyPr>
          <a:lstStyle/>
          <a:p>
            <a:r>
              <a:rPr lang="en-US" altLang="ja-JP" sz="2400" dirty="0" smtClean="0"/>
              <a:t>f</a:t>
            </a:r>
            <a:r>
              <a:rPr kumimoji="1" lang="en-US" altLang="ja-JP" sz="2400" dirty="0" smtClean="0"/>
              <a:t>or</a:t>
            </a:r>
            <a:r>
              <a:rPr lang="ja-JP" altLang="en-US" sz="2400" dirty="0" smtClean="0"/>
              <a:t>文</a:t>
            </a:r>
            <a:r>
              <a:rPr kumimoji="1" lang="ja-JP" altLang="en-US" sz="2400" dirty="0" smtClean="0"/>
              <a:t>においてよく使われる。</a:t>
            </a:r>
            <a:r>
              <a:rPr kumimoji="1" lang="en-US" altLang="ja-JP" sz="2400" dirty="0" err="1" smtClean="0"/>
              <a:t>i</a:t>
            </a:r>
            <a:r>
              <a:rPr kumimoji="1" lang="en-US" altLang="ja-JP" sz="2400" dirty="0" smtClean="0"/>
              <a:t>=i+1</a:t>
            </a:r>
            <a:r>
              <a:rPr kumimoji="1" lang="ja-JP" altLang="en-US" sz="2400" dirty="0" smtClean="0"/>
              <a:t>の代りに</a:t>
            </a:r>
            <a:r>
              <a:rPr kumimoji="1" lang="en-US" altLang="ja-JP" sz="2400" dirty="0" smtClean="0"/>
              <a:t>++</a:t>
            </a:r>
            <a:r>
              <a:rPr kumimoji="1" lang="en-US" altLang="ja-JP" sz="2400" dirty="0" err="1" smtClean="0"/>
              <a:t>i</a:t>
            </a:r>
            <a:r>
              <a:rPr kumimoji="1" lang="en-US" altLang="ja-JP" sz="2400" dirty="0" smtClean="0"/>
              <a:t> </a:t>
            </a:r>
            <a:r>
              <a:rPr lang="ja-JP" altLang="en-US" sz="2400" dirty="0" smtClean="0"/>
              <a:t>あるいは </a:t>
            </a:r>
            <a:r>
              <a:rPr kumimoji="1" lang="en-US" altLang="ja-JP" sz="2400" dirty="0" err="1" smtClean="0"/>
              <a:t>i</a:t>
            </a:r>
            <a:r>
              <a:rPr kumimoji="1" lang="en-US" altLang="ja-JP" sz="2400" dirty="0" smtClean="0"/>
              <a:t>++ </a:t>
            </a:r>
            <a:r>
              <a:rPr kumimoji="1" lang="ja-JP" altLang="en-US" sz="2400" dirty="0" smtClean="0"/>
              <a:t>（後述）</a:t>
            </a:r>
            <a:r>
              <a:rPr lang="ja-JP" altLang="en-US" sz="2400" dirty="0" smtClean="0"/>
              <a:t>と書くと、キーボードを打つ回数が若干減るので便利。（この例では式</a:t>
            </a:r>
            <a:r>
              <a:rPr lang="en-US" altLang="ja-JP" sz="2400" dirty="0" smtClean="0"/>
              <a:t>++</a:t>
            </a:r>
            <a:r>
              <a:rPr lang="en-US" altLang="ja-JP" sz="2400" dirty="0" err="1" smtClean="0"/>
              <a:t>i</a:t>
            </a:r>
            <a:r>
              <a:rPr lang="ja-JP" altLang="en-US" sz="2400" dirty="0" smtClean="0"/>
              <a:t>の値は使われないので、</a:t>
            </a:r>
            <a:r>
              <a:rPr lang="en-US" altLang="ja-JP" sz="2400" dirty="0" smtClean="0"/>
              <a:t>++</a:t>
            </a:r>
            <a:r>
              <a:rPr lang="en-US" altLang="ja-JP" sz="2400" dirty="0" err="1" smtClean="0"/>
              <a:t>i</a:t>
            </a:r>
            <a:r>
              <a:rPr lang="ja-JP" altLang="en-US" sz="2400" dirty="0" smtClean="0"/>
              <a:t>でも</a:t>
            </a:r>
            <a:r>
              <a:rPr lang="en-US" altLang="ja-JP" sz="2400" dirty="0" err="1" smtClean="0"/>
              <a:t>i</a:t>
            </a:r>
            <a:r>
              <a:rPr lang="en-US" altLang="ja-JP" sz="2400" dirty="0" smtClean="0"/>
              <a:t>++</a:t>
            </a:r>
            <a:r>
              <a:rPr lang="ja-JP" altLang="en-US" sz="2400" dirty="0" smtClean="0"/>
              <a:t>でも同じ。）</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28694"/>
          </a:xfrm>
        </p:spPr>
        <p:txBody>
          <a:bodyPr>
            <a:normAutofit fontScale="90000"/>
          </a:bodyPr>
          <a:lstStyle/>
          <a:p>
            <a:r>
              <a:rPr lang="ja-JP" altLang="en-US" dirty="0" smtClean="0"/>
              <a:t>（参考） </a:t>
            </a:r>
            <a:r>
              <a:rPr lang="en-US" altLang="ja-JP" dirty="0" smtClean="0"/>
              <a:t>++e </a:t>
            </a:r>
            <a:r>
              <a:rPr lang="ja-JP" altLang="en-US" dirty="0" smtClean="0"/>
              <a:t>と </a:t>
            </a:r>
            <a:r>
              <a:rPr lang="en-US" altLang="ja-JP" dirty="0" smtClean="0"/>
              <a:t>e=e+1 </a:t>
            </a:r>
            <a:r>
              <a:rPr lang="ja-JP" altLang="en-US" dirty="0" smtClean="0"/>
              <a:t>が異なる場合</a:t>
            </a:r>
            <a:endParaRPr kumimoji="1" lang="ja-JP" altLang="en-US" dirty="0"/>
          </a:p>
        </p:txBody>
      </p:sp>
      <p:sp>
        <p:nvSpPr>
          <p:cNvPr id="5" name="テキスト ボックス 4"/>
          <p:cNvSpPr txBox="1"/>
          <p:nvPr/>
        </p:nvSpPr>
        <p:spPr>
          <a:xfrm>
            <a:off x="428596" y="5699485"/>
            <a:ext cx="8358214" cy="1015663"/>
          </a:xfrm>
          <a:prstGeom prst="rect">
            <a:avLst/>
          </a:prstGeom>
          <a:noFill/>
        </p:spPr>
        <p:txBody>
          <a:bodyPr wrap="square" rtlCol="0">
            <a:spAutoFit/>
          </a:bodyPr>
          <a:lstStyle/>
          <a:p>
            <a:r>
              <a:rPr lang="ja-JP" altLang="en-US" sz="2000" dirty="0" smtClean="0"/>
              <a:t>（注意）代入式において、左辺と右辺のどちらを先に評価するかは未規定である。したがって、</a:t>
            </a:r>
            <a:r>
              <a:rPr lang="en-US" altLang="ja-JP" sz="2000" dirty="0" smtClean="0"/>
              <a:t>*(++p)=*(++p)+1</a:t>
            </a:r>
            <a:r>
              <a:rPr lang="ja-JP" altLang="en-US" sz="2000" dirty="0" smtClean="0"/>
              <a:t>のように、左辺、右辺に関連のある副作用のある式を書くのは避けるべき。</a:t>
            </a:r>
            <a:r>
              <a:rPr lang="en-US" altLang="ja-JP" sz="2000" dirty="0" smtClean="0"/>
              <a:t>++(*(++p)) </a:t>
            </a:r>
            <a:r>
              <a:rPr lang="ja-JP" altLang="en-US" sz="2000" dirty="0" smtClean="0"/>
              <a:t>については、意味は一意である。</a:t>
            </a:r>
            <a:endParaRPr lang="en-US" altLang="ja-JP" sz="2000" dirty="0" smtClean="0"/>
          </a:p>
        </p:txBody>
      </p:sp>
      <p:sp>
        <p:nvSpPr>
          <p:cNvPr id="7" name="正方形/長方形 6"/>
          <p:cNvSpPr/>
          <p:nvPr/>
        </p:nvSpPr>
        <p:spPr>
          <a:xfrm>
            <a:off x="4786314" y="1142984"/>
            <a:ext cx="4143404"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 = </a:t>
            </a:r>
            <a:r>
              <a:rPr lang="en-US" altLang="ja-JP" sz="2400" dirty="0" smtClean="0">
                <a:solidFill>
                  <a:srgbClr val="FF0000"/>
                </a:solidFill>
              </a:rPr>
              <a:t>*(++p)</a:t>
            </a:r>
            <a:r>
              <a:rPr lang="en-US" altLang="ja-JP" sz="2400" dirty="0" smtClean="0"/>
              <a:t> + 1;</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8" name="正方形/長方形 7"/>
          <p:cNvSpPr/>
          <p:nvPr/>
        </p:nvSpPr>
        <p:spPr>
          <a:xfrm>
            <a:off x="214282" y="1142984"/>
            <a:ext cx="4357686"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9" name="テキスト ボックス 8"/>
          <p:cNvSpPr txBox="1"/>
          <p:nvPr/>
        </p:nvSpPr>
        <p:spPr>
          <a:xfrm>
            <a:off x="224391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0" name="テキスト ボックス 9"/>
          <p:cNvSpPr txBox="1"/>
          <p:nvPr/>
        </p:nvSpPr>
        <p:spPr>
          <a:xfrm>
            <a:off x="653019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1" name="テキスト ボックス 10"/>
          <p:cNvSpPr txBox="1"/>
          <p:nvPr/>
        </p:nvSpPr>
        <p:spPr>
          <a:xfrm>
            <a:off x="428596" y="5078568"/>
            <a:ext cx="7929618" cy="707886"/>
          </a:xfrm>
          <a:prstGeom prst="rect">
            <a:avLst/>
          </a:prstGeom>
          <a:noFill/>
        </p:spPr>
        <p:txBody>
          <a:bodyPr wrap="square" rtlCol="0">
            <a:spAutoFit/>
          </a:bodyPr>
          <a:lstStyle/>
          <a:p>
            <a:r>
              <a:rPr lang="ja-JP" altLang="en-US" sz="2000" dirty="0" smtClean="0"/>
              <a:t>左のプログラムでは、ポインタ</a:t>
            </a:r>
            <a:r>
              <a:rPr lang="en-US" altLang="ja-JP" sz="2000" dirty="0" smtClean="0"/>
              <a:t>p</a:t>
            </a:r>
            <a:r>
              <a:rPr lang="ja-JP" altLang="en-US" sz="2000" dirty="0" smtClean="0"/>
              <a:t>の値は１回だけ</a:t>
            </a:r>
            <a:r>
              <a:rPr lang="en-US" altLang="ja-JP" sz="2000" dirty="0" smtClean="0"/>
              <a:t>1</a:t>
            </a:r>
            <a:r>
              <a:rPr lang="ja-JP" altLang="en-US" sz="2000" dirty="0" smtClean="0"/>
              <a:t>足されるが、右のプログラムでは２回、</a:t>
            </a:r>
            <a:r>
              <a:rPr lang="en-US" altLang="ja-JP" sz="2000" dirty="0" smtClean="0"/>
              <a:t>1</a:t>
            </a:r>
            <a:r>
              <a:rPr lang="ja-JP" altLang="en-US" sz="2000" dirty="0" smtClean="0"/>
              <a:t>足される。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子（後置）</a:t>
            </a:r>
            <a:endParaRPr kumimoji="1" lang="ja-JP" altLang="en-US" dirty="0"/>
          </a:p>
        </p:txBody>
      </p:sp>
      <p:sp>
        <p:nvSpPr>
          <p:cNvPr id="4" name="テキスト ボックス 3"/>
          <p:cNvSpPr txBox="1"/>
          <p:nvPr/>
        </p:nvSpPr>
        <p:spPr>
          <a:xfrm>
            <a:off x="785786" y="1334144"/>
            <a:ext cx="5421677" cy="523220"/>
          </a:xfrm>
          <a:prstGeom prst="rect">
            <a:avLst/>
          </a:prstGeom>
          <a:noFill/>
        </p:spPr>
        <p:txBody>
          <a:bodyPr wrap="none" rtlCol="0">
            <a:spAutoFit/>
          </a:bodyPr>
          <a:lstStyle/>
          <a:p>
            <a:r>
              <a:rPr lang="ja-JP" altLang="en-US" sz="2800" dirty="0" smtClean="0"/>
              <a:t>後置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1068947"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 </a:t>
            </a:r>
            <a:r>
              <a:rPr lang="en-US" altLang="ja-JP" sz="2800" dirty="0" smtClean="0">
                <a:ea typeface="ＭＳ Ｐゴシック" charset="-128"/>
              </a:rPr>
              <a:t>++</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857496"/>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475025"/>
            <a:ext cx="7175720"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式の値は</a:t>
            </a:r>
            <a:r>
              <a:rPr lang="en-US" altLang="ja-JP" sz="2800" dirty="0" smtClean="0"/>
              <a:t>1</a:t>
            </a:r>
            <a:r>
              <a:rPr lang="ja-JP" altLang="en-US" sz="2800" dirty="0" smtClean="0"/>
              <a:t>を足す前の</a:t>
            </a:r>
            <a:r>
              <a:rPr lang="en-US" altLang="ja-JP" sz="2800" dirty="0" smtClean="0"/>
              <a:t>e</a:t>
            </a:r>
            <a:r>
              <a:rPr lang="ja-JP" altLang="en-US" sz="2800" dirty="0" smtClean="0"/>
              <a:t>の値であり、その後</a:t>
            </a:r>
            <a:r>
              <a:rPr lang="en-US" altLang="ja-JP" sz="2800" dirty="0" smtClean="0"/>
              <a:t>1</a:t>
            </a:r>
            <a:r>
              <a:rPr lang="ja-JP" altLang="en-US" sz="2800" dirty="0" smtClean="0"/>
              <a:t>が足される。</a:t>
            </a:r>
            <a:endParaRPr lang="en-US" altLang="ja-JP" sz="2800" dirty="0" smtClean="0"/>
          </a:p>
        </p:txBody>
      </p:sp>
      <p:sp>
        <p:nvSpPr>
          <p:cNvPr id="10" name="テキスト ボックス 9"/>
          <p:cNvSpPr txBox="1">
            <a:spLocks noChangeArrowheads="1"/>
          </p:cNvSpPr>
          <p:nvPr/>
        </p:nvSpPr>
        <p:spPr bwMode="auto">
          <a:xfrm>
            <a:off x="642910" y="4725144"/>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301208"/>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 </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3" name="テキスト ボックス 12"/>
          <p:cNvSpPr txBox="1"/>
          <p:nvPr/>
        </p:nvSpPr>
        <p:spPr>
          <a:xfrm>
            <a:off x="785786" y="5930116"/>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ファイル処理</a:t>
            </a:r>
            <a:endParaRPr kumimoji="1" lang="ja-JP" altLang="en-US" dirty="0"/>
          </a:p>
        </p:txBody>
      </p:sp>
      <p:sp>
        <p:nvSpPr>
          <p:cNvPr id="4" name="テキスト ボックス 3"/>
          <p:cNvSpPr txBox="1"/>
          <p:nvPr/>
        </p:nvSpPr>
        <p:spPr>
          <a:xfrm>
            <a:off x="571472" y="1428736"/>
            <a:ext cx="8215338" cy="5262979"/>
          </a:xfrm>
          <a:prstGeom prst="rect">
            <a:avLst/>
          </a:prstGeom>
          <a:noFill/>
        </p:spPr>
        <p:txBody>
          <a:bodyPr wrap="square" rtlCol="0">
            <a:spAutoFit/>
          </a:bodyPr>
          <a:lstStyle/>
          <a:p>
            <a:r>
              <a:rPr kumimoji="1" lang="ja-JP" altLang="en-US" sz="2400" dirty="0" smtClean="0"/>
              <a:t>これまでファイルの</a:t>
            </a:r>
            <a:r>
              <a:rPr lang="ja-JP" altLang="en-US" sz="2400" dirty="0" smtClean="0"/>
              <a:t>操作は</a:t>
            </a:r>
            <a:r>
              <a:rPr lang="en-US" altLang="ja-JP" sz="2400" dirty="0" err="1" smtClean="0"/>
              <a:t>emacs</a:t>
            </a:r>
            <a:r>
              <a:rPr lang="ja-JP" altLang="en-US" sz="2400" dirty="0" smtClean="0"/>
              <a:t>あるいは</a:t>
            </a:r>
            <a:r>
              <a:rPr lang="en-US" altLang="ja-JP" sz="2400" dirty="0" smtClean="0"/>
              <a:t>cp, </a:t>
            </a:r>
            <a:r>
              <a:rPr lang="en-US" altLang="ja-JP" sz="2400" dirty="0" err="1" smtClean="0"/>
              <a:t>mv</a:t>
            </a:r>
            <a:r>
              <a:rPr lang="ja-JP" altLang="en-US" sz="2400" dirty="0" smtClean="0"/>
              <a:t>などのコマンドで行っていたが、</a:t>
            </a:r>
            <a:r>
              <a:rPr lang="en-US" altLang="ja-JP" sz="2400" dirty="0" smtClean="0"/>
              <a:t>C</a:t>
            </a:r>
            <a:r>
              <a:rPr lang="ja-JP" altLang="en-US" sz="2400" dirty="0" smtClean="0"/>
              <a:t>言語のプログラムでファイルを操作することができる。ファイルを操作するためのライブラリ関数が提供されている。</a:t>
            </a:r>
            <a:endParaRPr lang="en-US" altLang="ja-JP" sz="2400" dirty="0" smtClean="0"/>
          </a:p>
          <a:p>
            <a:r>
              <a:rPr lang="en-US" altLang="ja-JP" sz="2400" dirty="0" smtClean="0"/>
              <a:t>    </a:t>
            </a:r>
            <a:r>
              <a:rPr lang="en-US" altLang="ja-JP" sz="2400" dirty="0" err="1" smtClean="0"/>
              <a:t>fopen</a:t>
            </a:r>
            <a:r>
              <a:rPr lang="en-US" altLang="ja-JP" sz="2400" dirty="0" smtClean="0"/>
              <a:t> --- </a:t>
            </a:r>
            <a:r>
              <a:rPr lang="ja-JP" altLang="en-US" sz="2400" dirty="0" smtClean="0"/>
              <a:t>ファイルを開く（ファイルをプログラムから扱えるように準備する）</a:t>
            </a:r>
            <a:endParaRPr lang="en-US" altLang="ja-JP" sz="2400" dirty="0" smtClean="0"/>
          </a:p>
          <a:p>
            <a:r>
              <a:rPr lang="en-US" altLang="ja-JP" sz="2400" dirty="0" smtClean="0"/>
              <a:t>    </a:t>
            </a:r>
            <a:r>
              <a:rPr lang="en-US" altLang="ja-JP" sz="2400" dirty="0" err="1" smtClean="0"/>
              <a:t>fclose</a:t>
            </a:r>
            <a:r>
              <a:rPr lang="en-US" altLang="ja-JP" sz="2400" dirty="0" smtClean="0"/>
              <a:t> --- </a:t>
            </a:r>
            <a:r>
              <a:rPr lang="ja-JP" altLang="en-US" sz="2400" dirty="0" smtClean="0"/>
              <a:t>ファイルを閉じる（ファイルを扱える状態においては、プロセスにおけるファイル用の表のエントリを１つ分占めている。それが解放される。）</a:t>
            </a:r>
            <a:endParaRPr lang="en-US" altLang="ja-JP" sz="2400" dirty="0" smtClean="0"/>
          </a:p>
          <a:p>
            <a:r>
              <a:rPr lang="en-US" altLang="ja-JP" sz="2400" dirty="0" smtClean="0"/>
              <a:t>    </a:t>
            </a:r>
            <a:r>
              <a:rPr lang="en-US" altLang="ja-JP" sz="2400" dirty="0" err="1" smtClean="0"/>
              <a:t>fprintf</a:t>
            </a:r>
            <a:r>
              <a:rPr lang="en-US" altLang="ja-JP" sz="2400" dirty="0" smtClean="0"/>
              <a:t>  --- </a:t>
            </a:r>
            <a:r>
              <a:rPr lang="ja-JP" altLang="en-US" sz="2400" dirty="0" smtClean="0"/>
              <a:t>ファイルへの書き込み</a:t>
            </a:r>
            <a:endParaRPr lang="en-US" altLang="ja-JP" sz="2400" dirty="0" smtClean="0"/>
          </a:p>
          <a:p>
            <a:r>
              <a:rPr lang="en-US" altLang="ja-JP" sz="2400" dirty="0" smtClean="0"/>
              <a:t>    </a:t>
            </a:r>
            <a:r>
              <a:rPr lang="en-US" altLang="ja-JP" sz="2400" dirty="0" err="1" smtClean="0"/>
              <a:t>fscanf</a:t>
            </a:r>
            <a:r>
              <a:rPr lang="en-US" altLang="ja-JP" sz="2400" dirty="0" smtClean="0"/>
              <a:t> --- </a:t>
            </a:r>
            <a:r>
              <a:rPr lang="ja-JP" altLang="en-US" sz="2400" dirty="0" smtClean="0"/>
              <a:t>ファイルからの読み取り</a:t>
            </a:r>
            <a:endParaRPr lang="en-US" altLang="ja-JP" sz="2400" dirty="0" smtClean="0"/>
          </a:p>
          <a:p>
            <a:r>
              <a:rPr lang="ja-JP" altLang="en-US" sz="2400" dirty="0" smtClean="0"/>
              <a:t>などのライブラリがある。</a:t>
            </a:r>
            <a:endParaRPr lang="en-US" altLang="ja-JP" sz="2400" dirty="0" smtClean="0"/>
          </a:p>
          <a:p>
            <a:r>
              <a:rPr lang="ja-JP" altLang="en-US" sz="2400" dirty="0" smtClean="0"/>
              <a:t>これらのライブラリ関数を使う場合は、</a:t>
            </a:r>
            <a:r>
              <a:rPr lang="en-US" altLang="ja-JP" sz="2400" dirty="0" err="1" smtClean="0"/>
              <a:t>stdio.h</a:t>
            </a:r>
            <a:r>
              <a:rPr lang="ja-JP" altLang="en-US" sz="2400" dirty="0" smtClean="0"/>
              <a:t>をインクルードする。（</a:t>
            </a:r>
            <a:r>
              <a:rPr lang="en-US" altLang="ja-JP" sz="2400" dirty="0" err="1" smtClean="0"/>
              <a:t>printf</a:t>
            </a:r>
            <a:r>
              <a:rPr lang="ja-JP" altLang="en-US" sz="2400" dirty="0" smtClean="0"/>
              <a:t>を使う場合と同じ）</a:t>
            </a:r>
            <a:r>
              <a:rPr lang="en-US" altLang="ja-JP" sz="2400" dirty="0" smtClean="0"/>
              <a:t> </a:t>
            </a:r>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例（入力して確認）</a:t>
            </a:r>
            <a:endParaRPr kumimoji="1" lang="ja-JP" altLang="en-US" dirty="0"/>
          </a:p>
        </p:txBody>
      </p:sp>
      <p:sp>
        <p:nvSpPr>
          <p:cNvPr id="4" name="正方形/長方形 3"/>
          <p:cNvSpPr/>
          <p:nvPr/>
        </p:nvSpPr>
        <p:spPr>
          <a:xfrm>
            <a:off x="285720" y="1500174"/>
            <a:ext cx="5429288"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"r");</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オープン失敗</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ファイルをオープンしました</a:t>
            </a:r>
            <a:r>
              <a:rPr lang="en-US" altLang="ja-JP" sz="2400" dirty="0" smtClean="0"/>
              <a:t>\n");</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ファイルをクローズしました</a:t>
            </a:r>
            <a:r>
              <a:rPr lang="en-US" altLang="ja-JP" sz="2400" dirty="0" smtClean="0"/>
              <a:t>\n");</a:t>
            </a:r>
          </a:p>
          <a:p>
            <a:r>
              <a:rPr lang="en-US" altLang="ja-JP" sz="2400" dirty="0" smtClean="0"/>
              <a:t>  return 0;</a:t>
            </a:r>
          </a:p>
          <a:p>
            <a:r>
              <a:rPr lang="en-US" altLang="ja-JP" sz="2400" dirty="0" smtClean="0"/>
              <a:t>}</a:t>
            </a:r>
          </a:p>
        </p:txBody>
      </p:sp>
      <p:sp>
        <p:nvSpPr>
          <p:cNvPr id="5" name="テキスト ボックス 4"/>
          <p:cNvSpPr txBox="1"/>
          <p:nvPr/>
        </p:nvSpPr>
        <p:spPr>
          <a:xfrm>
            <a:off x="6072198" y="4643446"/>
            <a:ext cx="2428892" cy="1015663"/>
          </a:xfrm>
          <a:prstGeom prst="rect">
            <a:avLst/>
          </a:prstGeom>
          <a:noFill/>
        </p:spPr>
        <p:txBody>
          <a:bodyPr wrap="square" rtlCol="0">
            <a:spAutoFit/>
          </a:bodyPr>
          <a:lstStyle/>
          <a:p>
            <a:r>
              <a:rPr lang="en-US" altLang="ja-JP" sz="2000" dirty="0" smtClean="0"/>
              <a:t>t</a:t>
            </a:r>
            <a:r>
              <a:rPr kumimoji="1" lang="en-US" altLang="ja-JP" sz="2000" dirty="0" smtClean="0"/>
              <a:t>est</a:t>
            </a:r>
            <a:r>
              <a:rPr kumimoji="1" lang="ja-JP" altLang="en-US" sz="2000" dirty="0" smtClean="0"/>
              <a:t>という名前のファイルを自分で作って</a:t>
            </a:r>
            <a:r>
              <a:rPr lang="ja-JP" altLang="en-US" sz="2000" dirty="0" smtClean="0"/>
              <a:t>から実行してください。</a:t>
            </a:r>
            <a:endParaRPr kumimoji="1" lang="ja-JP" altLang="en-US" sz="2000" dirty="0"/>
          </a:p>
        </p:txBody>
      </p:sp>
      <p:sp>
        <p:nvSpPr>
          <p:cNvPr id="6" name="テキスト ボックス 5"/>
          <p:cNvSpPr txBox="1"/>
          <p:nvPr/>
        </p:nvSpPr>
        <p:spPr>
          <a:xfrm>
            <a:off x="5929322" y="1500174"/>
            <a:ext cx="2857520" cy="1015663"/>
          </a:xfrm>
          <a:prstGeom prst="rect">
            <a:avLst/>
          </a:prstGeom>
          <a:noFill/>
        </p:spPr>
        <p:txBody>
          <a:bodyPr wrap="square" rtlCol="0">
            <a:spAutoFit/>
          </a:bodyPr>
          <a:lstStyle/>
          <a:p>
            <a:r>
              <a:rPr lang="en-US" altLang="ja-JP" sz="2000" dirty="0" smtClean="0"/>
              <a:t>test</a:t>
            </a:r>
            <a:r>
              <a:rPr lang="ja-JP" altLang="en-US" sz="2000" dirty="0" smtClean="0"/>
              <a:t>という名前のファイルをオープンしてクローズするだけのプログラム。</a:t>
            </a:r>
            <a:endParaRPr lang="en-US" altLang="ja-JP" sz="2000" dirty="0" smtClean="0"/>
          </a:p>
        </p:txBody>
      </p:sp>
      <p:sp>
        <p:nvSpPr>
          <p:cNvPr id="7" name="正方形/長方形 6"/>
          <p:cNvSpPr/>
          <p:nvPr/>
        </p:nvSpPr>
        <p:spPr>
          <a:xfrm>
            <a:off x="6000760" y="2857496"/>
            <a:ext cx="2714644" cy="1323439"/>
          </a:xfrm>
          <a:prstGeom prst="rect">
            <a:avLst/>
          </a:prstGeom>
        </p:spPr>
        <p:txBody>
          <a:bodyPr wrap="square">
            <a:spAutoFit/>
          </a:bodyPr>
          <a:lstStyle/>
          <a:p>
            <a:pPr lvl="0"/>
            <a:r>
              <a:rPr lang="en-US" altLang="ja-JP" sz="2000" dirty="0" smtClean="0">
                <a:solidFill>
                  <a:prstClr val="black"/>
                </a:solidFill>
              </a:rPr>
              <a:t>test</a:t>
            </a:r>
            <a:r>
              <a:rPr lang="ja-JP" altLang="en-US" sz="2000" dirty="0" smtClean="0">
                <a:solidFill>
                  <a:prstClr val="black"/>
                </a:solidFill>
              </a:rPr>
              <a:t>という名前のファイルがない場合には「ファイルをオープンできません」と出力して終了。</a:t>
            </a:r>
            <a:endParaRPr lang="ja-JP" altLang="en-US" sz="20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FILE</a:t>
            </a:r>
            <a:r>
              <a:rPr kumimoji="1" lang="ja-JP" altLang="en-US" dirty="0" smtClean="0"/>
              <a:t>型</a:t>
            </a:r>
            <a:endParaRPr kumimoji="1" lang="ja-JP" altLang="en-US" dirty="0"/>
          </a:p>
        </p:txBody>
      </p:sp>
      <p:sp>
        <p:nvSpPr>
          <p:cNvPr id="4" name="テキスト ボックス 3"/>
          <p:cNvSpPr txBox="1"/>
          <p:nvPr/>
        </p:nvSpPr>
        <p:spPr>
          <a:xfrm>
            <a:off x="714348" y="1428736"/>
            <a:ext cx="7643866" cy="1938992"/>
          </a:xfrm>
          <a:prstGeom prst="rect">
            <a:avLst/>
          </a:prstGeom>
          <a:noFill/>
        </p:spPr>
        <p:txBody>
          <a:bodyPr wrap="square" rtlCol="0">
            <a:spAutoFit/>
          </a:bodyPr>
          <a:lstStyle/>
          <a:p>
            <a:r>
              <a:rPr lang="ja-JP" altLang="en-US" sz="2400" dirty="0" smtClean="0"/>
              <a:t>ライブラリ関数</a:t>
            </a:r>
            <a:r>
              <a:rPr lang="en-US" altLang="ja-JP" sz="2400" dirty="0" err="1" smtClean="0"/>
              <a:t>f</a:t>
            </a:r>
            <a:r>
              <a:rPr kumimoji="1" lang="en-US" altLang="ja-JP" sz="2400" dirty="0" err="1" smtClean="0"/>
              <a:t>open</a:t>
            </a:r>
            <a:r>
              <a:rPr kumimoji="1" lang="en-US" altLang="ja-JP" sz="2400" dirty="0" smtClean="0"/>
              <a:t>, </a:t>
            </a:r>
            <a:r>
              <a:rPr kumimoji="1" lang="en-US" altLang="ja-JP" sz="2400" dirty="0" err="1" smtClean="0"/>
              <a:t>fprintf</a:t>
            </a:r>
            <a:r>
              <a:rPr kumimoji="1" lang="en-US" altLang="ja-JP" sz="2400" dirty="0" smtClean="0"/>
              <a:t>, </a:t>
            </a:r>
            <a:r>
              <a:rPr kumimoji="1" lang="en-US" altLang="ja-JP" sz="2400" dirty="0" err="1" smtClean="0"/>
              <a:t>fscanf</a:t>
            </a:r>
            <a:r>
              <a:rPr kumimoji="1" lang="en-US" altLang="ja-JP" sz="2400" dirty="0" smtClean="0"/>
              <a:t>, </a:t>
            </a:r>
            <a:r>
              <a:rPr kumimoji="1" lang="en-US" altLang="ja-JP" sz="2400" dirty="0" err="1" smtClean="0"/>
              <a:t>fclose</a:t>
            </a:r>
            <a:r>
              <a:rPr kumimoji="1" lang="ja-JP" altLang="en-US" sz="2400" dirty="0" smtClean="0"/>
              <a:t>においては、</a:t>
            </a:r>
            <a:r>
              <a:rPr kumimoji="1" lang="en-US" altLang="ja-JP" sz="2400" dirty="0" smtClean="0"/>
              <a:t>FILE</a:t>
            </a:r>
            <a:r>
              <a:rPr kumimoji="1" lang="ja-JP" altLang="en-US" sz="2400" dirty="0" smtClean="0"/>
              <a:t>型のオブジェクトを介してファイルへのアクセスを行う。</a:t>
            </a:r>
            <a:r>
              <a:rPr kumimoji="1" lang="en-US" altLang="ja-JP" sz="2400" dirty="0" smtClean="0"/>
              <a:t>FILE</a:t>
            </a:r>
            <a:r>
              <a:rPr kumimoji="1" lang="ja-JP" altLang="en-US" sz="2400" dirty="0" smtClean="0"/>
              <a:t>型のオブジェクトにファイルへのアクセスに必要な情報が格納されている。</a:t>
            </a:r>
            <a:r>
              <a:rPr kumimoji="1" lang="en-US" altLang="ja-JP" sz="2400" dirty="0" smtClean="0"/>
              <a:t>FILE</a:t>
            </a:r>
            <a:r>
              <a:rPr kumimoji="1" lang="ja-JP" altLang="en-US" sz="2400" dirty="0" smtClean="0"/>
              <a:t>型の具体的なデータ構造は処理系によって異なる。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fopen</a:t>
            </a:r>
            <a:endParaRPr kumimoji="1" lang="ja-JP" altLang="en-US" dirty="0"/>
          </a:p>
        </p:txBody>
      </p:sp>
      <p:sp>
        <p:nvSpPr>
          <p:cNvPr id="4" name="テキスト ボックス 3"/>
          <p:cNvSpPr txBox="1"/>
          <p:nvPr/>
        </p:nvSpPr>
        <p:spPr>
          <a:xfrm>
            <a:off x="857224" y="1500174"/>
            <a:ext cx="7518363" cy="4154984"/>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は、ファイル名とモードを引数にとり、</a:t>
            </a:r>
            <a:r>
              <a:rPr lang="en-US" altLang="ja-JP" sz="2400" dirty="0" smtClean="0"/>
              <a:t>FILE</a:t>
            </a:r>
            <a:r>
              <a:rPr lang="ja-JP" altLang="en-US" sz="2400" dirty="0" smtClean="0"/>
              <a:t>型へのポインタを返り値として返す。オープンに失敗した場合は</a:t>
            </a:r>
            <a:r>
              <a:rPr lang="en-US" altLang="ja-JP" sz="2400" dirty="0" smtClean="0"/>
              <a:t>NULL</a:t>
            </a:r>
            <a:r>
              <a:rPr lang="ja-JP" altLang="en-US" sz="2400" dirty="0" smtClean="0"/>
              <a:t>ポインタを返す。</a:t>
            </a:r>
            <a:endParaRPr lang="en-US" altLang="ja-JP" sz="2400" dirty="0" smtClean="0"/>
          </a:p>
          <a:p>
            <a:endParaRPr lang="en-US" altLang="ja-JP" sz="2400" dirty="0" smtClean="0"/>
          </a:p>
          <a:p>
            <a:r>
              <a:rPr kumimoji="1" lang="en-US" altLang="ja-JP" sz="2400" dirty="0" smtClean="0"/>
              <a:t>[</a:t>
            </a:r>
            <a:r>
              <a:rPr kumimoji="1" lang="ja-JP" altLang="en-US" sz="2400" dirty="0" smtClean="0"/>
              <a:t>モード</a:t>
            </a:r>
            <a:r>
              <a:rPr kumimoji="1" lang="en-US" altLang="ja-JP" sz="2400" dirty="0" smtClean="0"/>
              <a:t>]</a:t>
            </a:r>
          </a:p>
          <a:p>
            <a:r>
              <a:rPr lang="en-US" altLang="ja-JP" sz="2400" dirty="0" smtClean="0"/>
              <a:t>   r --- </a:t>
            </a:r>
            <a:r>
              <a:rPr lang="ja-JP" altLang="en-US" sz="2400" dirty="0" smtClean="0"/>
              <a:t>読み取りモードでオープン</a:t>
            </a:r>
            <a:endParaRPr lang="en-US" altLang="ja-JP" sz="2400" dirty="0" smtClean="0"/>
          </a:p>
          <a:p>
            <a:r>
              <a:rPr kumimoji="1" lang="en-US" altLang="ja-JP" sz="2400" dirty="0" smtClean="0"/>
              <a:t>   w --- </a:t>
            </a:r>
            <a:r>
              <a:rPr kumimoji="1" lang="ja-JP" altLang="en-US" sz="2400" dirty="0" smtClean="0"/>
              <a:t>指定されたファイルがない場合は、書き込みモードでファイルを新たに生成してオープン。ある場合は、ファイルをオープンして、既存の内容を全部消す。</a:t>
            </a:r>
            <a:endParaRPr kumimoji="1" lang="en-US" altLang="ja-JP" sz="2400" dirty="0" smtClean="0"/>
          </a:p>
          <a:p>
            <a:endParaRPr lang="en-US" altLang="ja-JP" sz="2400" dirty="0" smtClean="0"/>
          </a:p>
          <a:p>
            <a:r>
              <a:rPr lang="ja-JP" altLang="en-US" sz="2400" dirty="0" smtClean="0"/>
              <a:t>他にもいくつかモードがある。詳しくは</a:t>
            </a:r>
            <a:r>
              <a:rPr lang="en-US" altLang="ja-JP" sz="2400" dirty="0" smtClean="0"/>
              <a:t>man </a:t>
            </a:r>
            <a:r>
              <a:rPr lang="en-US" altLang="ja-JP" sz="2400" dirty="0" err="1" smtClean="0"/>
              <a:t>fopen</a:t>
            </a:r>
            <a:r>
              <a:rPr lang="ja-JP" altLang="en-US" sz="2400" dirty="0" smtClean="0"/>
              <a:t>で確認。</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fclose</a:t>
            </a:r>
            <a:endParaRPr kumimoji="1" lang="ja-JP" altLang="en-US" dirty="0"/>
          </a:p>
        </p:txBody>
      </p:sp>
      <p:sp>
        <p:nvSpPr>
          <p:cNvPr id="4" name="テキスト ボックス 3"/>
          <p:cNvSpPr txBox="1"/>
          <p:nvPr/>
        </p:nvSpPr>
        <p:spPr>
          <a:xfrm>
            <a:off x="1000100" y="1526433"/>
            <a:ext cx="7000924" cy="830997"/>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a:t>
            </a:r>
            <a:r>
              <a:rPr lang="en-US" altLang="ja-JP" sz="2400" dirty="0" smtClean="0"/>
              <a:t>FILE</a:t>
            </a:r>
            <a:r>
              <a:rPr lang="ja-JP" altLang="en-US" sz="2400" dirty="0" smtClean="0"/>
              <a:t>型へのポインタを引数として受け取り、そのファイルを閉じる。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fprintf</a:t>
            </a:r>
            <a:endParaRPr kumimoji="1" lang="ja-JP" altLang="en-US" dirty="0"/>
          </a:p>
        </p:txBody>
      </p:sp>
      <p:sp>
        <p:nvSpPr>
          <p:cNvPr id="4" name="テキスト ボックス 3"/>
          <p:cNvSpPr txBox="1"/>
          <p:nvPr/>
        </p:nvSpPr>
        <p:spPr>
          <a:xfrm>
            <a:off x="1071538" y="1643050"/>
            <a:ext cx="7143800" cy="1938992"/>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型へのポインタを受け取り、そこへ書き込む。第２引数以降は</a:t>
            </a:r>
            <a:r>
              <a:rPr lang="en-US" altLang="ja-JP" sz="2400" dirty="0" err="1" smtClean="0"/>
              <a:t>printf</a:t>
            </a:r>
            <a:r>
              <a:rPr lang="ja-JP" altLang="en-US" sz="2400" dirty="0" smtClean="0"/>
              <a:t>と同じ形式である。</a:t>
            </a:r>
            <a:endParaRPr lang="en-US" altLang="ja-JP" sz="2400" dirty="0" smtClean="0"/>
          </a:p>
          <a:p>
            <a:r>
              <a:rPr lang="en-US" altLang="ja-JP" sz="2400" dirty="0" err="1" smtClean="0"/>
              <a:t>printf</a:t>
            </a:r>
            <a:r>
              <a:rPr lang="ja-JP" altLang="en-US" sz="2400" dirty="0" smtClean="0"/>
              <a:t>関数は、</a:t>
            </a:r>
            <a:r>
              <a:rPr lang="en-US" altLang="ja-JP" sz="2400" dirty="0" err="1" smtClean="0"/>
              <a:t>fprintf</a:t>
            </a:r>
            <a:r>
              <a:rPr lang="ja-JP" altLang="en-US" sz="2400" dirty="0" smtClean="0"/>
              <a:t>関数の第一引数に</a:t>
            </a:r>
            <a:r>
              <a:rPr lang="en-US" altLang="ja-JP" sz="2400" dirty="0" err="1" smtClean="0"/>
              <a:t>stdout</a:t>
            </a:r>
            <a:r>
              <a:rPr lang="ja-JP" altLang="en-US" sz="2400" dirty="0" smtClean="0"/>
              <a:t>を指定した場合と同じ意味である。（</a:t>
            </a:r>
            <a:r>
              <a:rPr lang="en-US" altLang="ja-JP" sz="2400" dirty="0" err="1" smtClean="0"/>
              <a:t>stdout</a:t>
            </a:r>
            <a:r>
              <a:rPr lang="ja-JP" altLang="en-US" sz="2400" dirty="0" smtClean="0"/>
              <a:t>は標準出力を表す</a:t>
            </a:r>
            <a:r>
              <a:rPr lang="en-US" altLang="ja-JP" sz="2400" dirty="0" smtClean="0"/>
              <a:t>FILE</a:t>
            </a:r>
            <a:r>
              <a:rPr lang="ja-JP" altLang="en-US" sz="2400" dirty="0" smtClean="0"/>
              <a:t>型へのポインタ。）</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357158" y="1428736"/>
            <a:ext cx="5857916"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"w");</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ファイルをオープンできません</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fprintf</a:t>
            </a:r>
            <a:r>
              <a:rPr lang="en-US" altLang="ja-JP" sz="2400" dirty="0" smtClean="0"/>
              <a:t> (</a:t>
            </a:r>
            <a:r>
              <a:rPr lang="en-US" altLang="ja-JP" sz="2400" dirty="0" err="1" smtClean="0"/>
              <a:t>fp</a:t>
            </a:r>
            <a:r>
              <a:rPr lang="en-US" altLang="ja-JP" sz="2400" dirty="0" smtClean="0"/>
              <a:t>, "%d+%d=%d\n", 1, 1, 2);</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return 0;</a:t>
            </a:r>
          </a:p>
          <a:p>
            <a:r>
              <a:rPr lang="en-US" altLang="ja-JP" sz="2400" dirty="0" smtClean="0"/>
              <a:t>}</a:t>
            </a:r>
          </a:p>
        </p:txBody>
      </p:sp>
      <p:sp>
        <p:nvSpPr>
          <p:cNvPr id="5" name="テキスト ボックス 4"/>
          <p:cNvSpPr txBox="1"/>
          <p:nvPr/>
        </p:nvSpPr>
        <p:spPr>
          <a:xfrm flipH="1">
            <a:off x="6357950" y="1500174"/>
            <a:ext cx="2286016" cy="4708981"/>
          </a:xfrm>
          <a:prstGeom prst="rect">
            <a:avLst/>
          </a:prstGeom>
          <a:noFill/>
        </p:spPr>
        <p:txBody>
          <a:bodyPr wrap="square" rtlCol="0">
            <a:spAutoFit/>
          </a:bodyPr>
          <a:lstStyle/>
          <a:p>
            <a:r>
              <a:rPr lang="en-US" altLang="ja-JP" sz="2000" dirty="0" smtClean="0"/>
              <a:t>te</a:t>
            </a:r>
            <a:r>
              <a:rPr kumimoji="1" lang="en-US" altLang="ja-JP" sz="2000" dirty="0" smtClean="0"/>
              <a:t>st</a:t>
            </a:r>
            <a:r>
              <a:rPr kumimoji="1" lang="ja-JP" altLang="en-US" sz="2000" dirty="0" smtClean="0"/>
              <a:t>というファイル</a:t>
            </a:r>
            <a:r>
              <a:rPr lang="ja-JP" altLang="en-US" sz="2000" dirty="0" smtClean="0"/>
              <a:t>に</a:t>
            </a:r>
            <a:r>
              <a:rPr lang="en-US" altLang="ja-JP" sz="2000" dirty="0" smtClean="0"/>
              <a:t>1+1=2</a:t>
            </a:r>
            <a:r>
              <a:rPr lang="ja-JP" altLang="en-US" sz="2000" dirty="0" smtClean="0"/>
              <a:t>と書きこむプログラム。</a:t>
            </a:r>
            <a:endParaRPr lang="en-US" altLang="ja-JP" sz="2000" dirty="0" smtClean="0"/>
          </a:p>
          <a:p>
            <a:endParaRPr lang="en-US" altLang="ja-JP" sz="2000" dirty="0" smtClean="0"/>
          </a:p>
          <a:p>
            <a:r>
              <a:rPr lang="en-US" altLang="ja-JP" sz="2000" dirty="0" smtClean="0"/>
              <a:t>t</a:t>
            </a:r>
            <a:r>
              <a:rPr kumimoji="1" lang="en-US" altLang="ja-JP" sz="2000" dirty="0" smtClean="0"/>
              <a:t>est</a:t>
            </a:r>
            <a:r>
              <a:rPr kumimoji="1" lang="ja-JP" altLang="en-US" sz="2000" dirty="0" smtClean="0"/>
              <a:t>というファイルがあったら、その内容は消されてから</a:t>
            </a:r>
            <a:r>
              <a:rPr lang="en-US" altLang="ja-JP" sz="2000" dirty="0" smtClean="0"/>
              <a:t>1+1=2</a:t>
            </a:r>
            <a:r>
              <a:rPr kumimoji="1" lang="ja-JP" altLang="en-US" sz="2000" dirty="0" smtClean="0"/>
              <a:t>と書きこまれる。</a:t>
            </a:r>
            <a:endParaRPr kumimoji="1" lang="en-US" altLang="ja-JP" sz="2000" dirty="0" smtClean="0"/>
          </a:p>
          <a:p>
            <a:endParaRPr kumimoji="1" lang="en-US" altLang="ja-JP" sz="2000" dirty="0" smtClean="0"/>
          </a:p>
          <a:p>
            <a:r>
              <a:rPr lang="en-US" altLang="ja-JP" sz="2000" dirty="0" smtClean="0"/>
              <a:t>test</a:t>
            </a:r>
            <a:r>
              <a:rPr lang="ja-JP" altLang="en-US" sz="2000" dirty="0" smtClean="0"/>
              <a:t>というファイルがなければ、新たに作成されてから</a:t>
            </a:r>
            <a:r>
              <a:rPr lang="en-US" altLang="ja-JP" sz="2000" dirty="0" smtClean="0"/>
              <a:t>1+1=2</a:t>
            </a:r>
            <a:r>
              <a:rPr lang="ja-JP" altLang="en-US" sz="2000" dirty="0" smtClean="0"/>
              <a:t>と書きこまれる。</a:t>
            </a:r>
            <a:endParaRPr kumimoji="1"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fscanf</a:t>
            </a:r>
            <a:endParaRPr kumimoji="1" lang="ja-JP" altLang="en-US" dirty="0"/>
          </a:p>
        </p:txBody>
      </p:sp>
      <p:sp>
        <p:nvSpPr>
          <p:cNvPr id="4" name="テキスト ボックス 3"/>
          <p:cNvSpPr txBox="1"/>
          <p:nvPr/>
        </p:nvSpPr>
        <p:spPr>
          <a:xfrm>
            <a:off x="827584" y="1406381"/>
            <a:ext cx="7315746" cy="5262979"/>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型へのポインタを受け取り、そこから読み取る。第２引数以降は</a:t>
            </a:r>
            <a:r>
              <a:rPr lang="en-US" altLang="ja-JP" sz="2400" dirty="0" err="1" smtClean="0"/>
              <a:t>scanf</a:t>
            </a:r>
            <a:r>
              <a:rPr lang="ja-JP" altLang="en-US" sz="2400" dirty="0" smtClean="0"/>
              <a:t>と同じ形式である。</a:t>
            </a:r>
            <a:endParaRPr lang="en-US" altLang="ja-JP" sz="2400" dirty="0" smtClean="0"/>
          </a:p>
          <a:p>
            <a:r>
              <a:rPr lang="en-US" altLang="ja-JP" sz="2400" dirty="0" err="1" smtClean="0"/>
              <a:t>scanf</a:t>
            </a:r>
            <a:r>
              <a:rPr lang="ja-JP" altLang="en-US" sz="2400" dirty="0" smtClean="0"/>
              <a:t>関数は、</a:t>
            </a:r>
            <a:r>
              <a:rPr lang="en-US" altLang="ja-JP" sz="2400" dirty="0" err="1" smtClean="0"/>
              <a:t>fscanf</a:t>
            </a:r>
            <a:r>
              <a:rPr lang="ja-JP" altLang="en-US" sz="2400" dirty="0" smtClean="0"/>
              <a:t>関数の第一引数に</a:t>
            </a:r>
            <a:r>
              <a:rPr lang="en-US" altLang="ja-JP" sz="2400" dirty="0" err="1" smtClean="0"/>
              <a:t>stdin</a:t>
            </a:r>
            <a:r>
              <a:rPr lang="ja-JP" altLang="en-US" sz="2400" dirty="0" smtClean="0"/>
              <a:t>を指定した場合と同じ意味である。（</a:t>
            </a:r>
            <a:r>
              <a:rPr lang="en-US" altLang="ja-JP" sz="2400" dirty="0" err="1" smtClean="0"/>
              <a:t>stdin</a:t>
            </a:r>
            <a:r>
              <a:rPr lang="ja-JP" altLang="en-US" sz="2400" dirty="0" smtClean="0"/>
              <a:t>は標準入力を表す</a:t>
            </a:r>
            <a:r>
              <a:rPr lang="en-US" altLang="ja-JP" sz="2400" dirty="0" smtClean="0"/>
              <a:t>FILE</a:t>
            </a:r>
            <a:r>
              <a:rPr lang="ja-JP" altLang="en-US" sz="2400" dirty="0" smtClean="0"/>
              <a:t>型へのポインタ。）</a:t>
            </a:r>
            <a:endParaRPr lang="en-US" altLang="ja-JP" sz="2400" dirty="0" smtClean="0"/>
          </a:p>
          <a:p>
            <a:endParaRPr lang="en-US" altLang="ja-JP" sz="2400" dirty="0" smtClean="0"/>
          </a:p>
          <a:p>
            <a:r>
              <a:rPr lang="en-US" altLang="ja-JP" sz="2400" dirty="0" smtClean="0"/>
              <a:t>[</a:t>
            </a:r>
            <a:r>
              <a:rPr lang="ja-JP" altLang="en-US" sz="2400" dirty="0" smtClean="0"/>
              <a:t>少し詳しい説明</a:t>
            </a:r>
            <a:r>
              <a:rPr lang="en-US" altLang="ja-JP" sz="2400" dirty="0" smtClean="0"/>
              <a:t>]</a:t>
            </a:r>
          </a:p>
          <a:p>
            <a:r>
              <a:rPr lang="en-US" altLang="ja-JP" sz="2400" dirty="0" err="1" smtClean="0"/>
              <a:t>fscanf</a:t>
            </a:r>
            <a:r>
              <a:rPr lang="ja-JP" altLang="en-US" sz="2400" dirty="0" smtClean="0"/>
              <a:t>は、第２引数によって指定されるフォーマットに従ってファイルから入力を読み取って変換し、第３引数以降に受け取ったポインタの指す先に（変換指定での照合が成功したら）順次代入する。変換指定と合わなかった時点で読み取りが終了する（合わなかった部分以降はストリーム上に残る。詳細は</a:t>
            </a:r>
            <a:r>
              <a:rPr lang="en-US" altLang="ja-JP" sz="2400" dirty="0" smtClean="0"/>
              <a:t>man </a:t>
            </a:r>
            <a:r>
              <a:rPr lang="en-US" altLang="ja-JP" sz="2400" dirty="0" err="1" smtClean="0"/>
              <a:t>scanf</a:t>
            </a:r>
            <a:r>
              <a:rPr lang="ja-JP" altLang="en-US" sz="2400" dirty="0" smtClean="0"/>
              <a:t>でマニュアルを参照）。行われた代入の個数が返り値として返される。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142844" y="1214422"/>
            <a:ext cx="3429024"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FILE * </a:t>
            </a:r>
            <a:r>
              <a:rPr lang="en-US" altLang="ja-JP" sz="2000" dirty="0" err="1" smtClean="0"/>
              <a:t>fp</a:t>
            </a:r>
            <a:r>
              <a:rPr lang="en-US" altLang="ja-JP" sz="2000" dirty="0" smtClean="0"/>
              <a:t>;</a:t>
            </a:r>
          </a:p>
          <a:p>
            <a:r>
              <a:rPr lang="en-US" altLang="ja-JP" sz="2000" dirty="0" smtClean="0"/>
              <a:t>  </a:t>
            </a:r>
            <a:r>
              <a:rPr lang="en-US" altLang="ja-JP" sz="2000" dirty="0" err="1" smtClean="0"/>
              <a:t>int</a:t>
            </a:r>
            <a:r>
              <a:rPr lang="en-US" altLang="ja-JP" sz="2000" dirty="0" smtClean="0"/>
              <a:t> num=0;</a:t>
            </a:r>
          </a:p>
          <a:p>
            <a:r>
              <a:rPr lang="en-US" altLang="ja-JP" sz="2000" dirty="0" smtClean="0"/>
              <a:t>  char name [100];</a:t>
            </a:r>
          </a:p>
          <a:p>
            <a:r>
              <a:rPr lang="en-US" altLang="ja-JP" sz="2000" dirty="0" smtClean="0"/>
              <a:t>  double height, weight;</a:t>
            </a:r>
          </a:p>
          <a:p>
            <a:r>
              <a:rPr lang="en-US" altLang="ja-JP" sz="2000" dirty="0" smtClean="0"/>
              <a:t>  double </a:t>
            </a:r>
            <a:r>
              <a:rPr lang="en-US" altLang="ja-JP" sz="2000" dirty="0" err="1" smtClean="0"/>
              <a:t>hsum</a:t>
            </a:r>
            <a:r>
              <a:rPr lang="en-US" altLang="ja-JP" sz="2000" dirty="0" smtClean="0"/>
              <a:t>=0.0, </a:t>
            </a:r>
            <a:r>
              <a:rPr lang="en-US" altLang="ja-JP" sz="2000" dirty="0" err="1" smtClean="0"/>
              <a:t>wsum</a:t>
            </a:r>
            <a:r>
              <a:rPr lang="en-US" altLang="ja-JP" sz="2000" dirty="0" smtClean="0"/>
              <a:t>=0.0;</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 ("data", "r");</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p:txBody>
      </p:sp>
      <p:sp>
        <p:nvSpPr>
          <p:cNvPr id="5" name="正方形/長方形 4"/>
          <p:cNvSpPr/>
          <p:nvPr/>
        </p:nvSpPr>
        <p:spPr>
          <a:xfrm>
            <a:off x="3714744" y="1214422"/>
            <a:ext cx="5214974" cy="3785652"/>
          </a:xfrm>
          <a:prstGeom prst="rect">
            <a:avLst/>
          </a:prstGeom>
          <a:ln>
            <a:solidFill>
              <a:schemeClr val="tx1"/>
            </a:solidFill>
          </a:ln>
        </p:spPr>
        <p:txBody>
          <a:bodyPr wrap="square">
            <a:spAutoFit/>
          </a:bodyPr>
          <a:lstStyle/>
          <a:p>
            <a:r>
              <a:rPr lang="en-US" altLang="ja-JP" sz="2000" dirty="0" smtClean="0"/>
              <a:t>/* </a:t>
            </a:r>
            <a:r>
              <a:rPr lang="ja-JP" altLang="en-US" sz="2000" dirty="0" smtClean="0"/>
              <a:t>続き</a:t>
            </a:r>
            <a:r>
              <a:rPr lang="en-US" altLang="ja-JP" sz="2000" dirty="0" smtClean="0"/>
              <a:t>*/</a:t>
            </a:r>
          </a:p>
          <a:p>
            <a:r>
              <a:rPr lang="en-US" altLang="ja-JP" sz="2000" dirty="0" smtClean="0"/>
              <a:t> while (</a:t>
            </a:r>
            <a:r>
              <a:rPr lang="en-US" altLang="ja-JP" sz="2000" dirty="0" err="1" smtClean="0"/>
              <a:t>fscanf</a:t>
            </a:r>
            <a:r>
              <a:rPr lang="en-US" altLang="ja-JP" sz="2000" dirty="0" smtClean="0"/>
              <a:t> (</a:t>
            </a:r>
            <a:r>
              <a:rPr lang="en-US" altLang="ja-JP" sz="2000" dirty="0" err="1" smtClean="0"/>
              <a:t>fp</a:t>
            </a:r>
            <a:r>
              <a:rPr lang="en-US" altLang="ja-JP" sz="2000" dirty="0" smtClean="0"/>
              <a:t>, "%</a:t>
            </a:r>
            <a:r>
              <a:rPr lang="en-US" altLang="ja-JP" sz="2000" dirty="0" err="1" smtClean="0"/>
              <a:t>s%lf%lf</a:t>
            </a:r>
            <a:r>
              <a:rPr lang="en-US" altLang="ja-JP" sz="2000" dirty="0" smtClean="0"/>
              <a:t>", name,</a:t>
            </a:r>
          </a:p>
          <a:p>
            <a:r>
              <a:rPr lang="en-US" altLang="ja-JP" sz="2000" dirty="0" smtClean="0"/>
              <a:t>                 &amp;height, &amp;weight) == 3) {</a:t>
            </a:r>
          </a:p>
          <a:p>
            <a:r>
              <a:rPr lang="en-US" altLang="ja-JP" sz="2000" dirty="0" smtClean="0"/>
              <a:t>    num++;</a:t>
            </a:r>
          </a:p>
          <a:p>
            <a:r>
              <a:rPr lang="en-US" altLang="ja-JP" sz="2000" dirty="0" smtClean="0"/>
              <a:t>    </a:t>
            </a:r>
            <a:r>
              <a:rPr lang="en-US" altLang="ja-JP" sz="2000" dirty="0" err="1" smtClean="0"/>
              <a:t>hsum</a:t>
            </a:r>
            <a:r>
              <a:rPr lang="en-US" altLang="ja-JP" sz="2000" dirty="0" smtClean="0"/>
              <a:t> = </a:t>
            </a:r>
            <a:r>
              <a:rPr lang="en-US" altLang="ja-JP" sz="2000" dirty="0" err="1" smtClean="0"/>
              <a:t>hsum</a:t>
            </a:r>
            <a:r>
              <a:rPr lang="en-US" altLang="ja-JP" sz="2000" dirty="0" smtClean="0"/>
              <a:t> + height;</a:t>
            </a:r>
          </a:p>
          <a:p>
            <a:r>
              <a:rPr lang="en-US" altLang="ja-JP" sz="2000" dirty="0" smtClean="0"/>
              <a:t>    </a:t>
            </a:r>
            <a:r>
              <a:rPr lang="en-US" altLang="ja-JP" sz="2000" dirty="0" err="1" smtClean="0"/>
              <a:t>wsum</a:t>
            </a:r>
            <a:r>
              <a:rPr lang="en-US" altLang="ja-JP" sz="2000" dirty="0" smtClean="0"/>
              <a:t> = </a:t>
            </a:r>
            <a:r>
              <a:rPr lang="en-US" altLang="ja-JP" sz="2000" dirty="0" err="1" smtClean="0"/>
              <a:t>wsum</a:t>
            </a:r>
            <a:r>
              <a:rPr lang="en-US" altLang="ja-JP" sz="2000" dirty="0" smtClean="0"/>
              <a:t> + weight;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平均身長</a:t>
            </a:r>
            <a:r>
              <a:rPr lang="en-US" altLang="ja-JP" sz="2000" dirty="0" smtClean="0"/>
              <a:t>: %5.1fcm\n", </a:t>
            </a:r>
            <a:r>
              <a:rPr lang="en-US" altLang="ja-JP" sz="2000" dirty="0" err="1" smtClean="0"/>
              <a:t>hsum</a:t>
            </a:r>
            <a:r>
              <a:rPr lang="en-US" altLang="ja-JP" sz="2000" dirty="0" smtClean="0"/>
              <a:t> / num);</a:t>
            </a:r>
          </a:p>
          <a:p>
            <a:r>
              <a:rPr lang="en-US" altLang="ja-JP" sz="2000" dirty="0" smtClean="0"/>
              <a:t>  </a:t>
            </a:r>
            <a:r>
              <a:rPr lang="en-US" altLang="ja-JP" sz="2000" dirty="0" err="1" smtClean="0"/>
              <a:t>printf</a:t>
            </a:r>
            <a:r>
              <a:rPr lang="en-US" altLang="ja-JP" sz="2000" dirty="0" smtClean="0"/>
              <a:t> ("</a:t>
            </a:r>
            <a:r>
              <a:rPr lang="ja-JP" altLang="en-US" sz="2000" dirty="0" smtClean="0"/>
              <a:t>平均体重</a:t>
            </a:r>
            <a:r>
              <a:rPr lang="en-US" altLang="ja-JP" sz="2000" dirty="0" smtClean="0"/>
              <a:t>: %5.1fkg\n", </a:t>
            </a:r>
            <a:r>
              <a:rPr lang="en-US" altLang="ja-JP" sz="2000" dirty="0" err="1" smtClean="0"/>
              <a:t>wsum</a:t>
            </a:r>
            <a:r>
              <a:rPr lang="en-US" altLang="ja-JP" sz="2000" dirty="0" smtClean="0"/>
              <a:t> / num);</a:t>
            </a:r>
          </a:p>
          <a:p>
            <a:r>
              <a:rPr lang="en-US" altLang="ja-JP" sz="2000" dirty="0" smtClean="0"/>
              <a:t>  </a:t>
            </a:r>
            <a:r>
              <a:rPr lang="en-US" altLang="ja-JP" sz="2000" dirty="0" err="1" smtClean="0"/>
              <a:t>fclose</a:t>
            </a:r>
            <a:r>
              <a:rPr lang="en-US" altLang="ja-JP" sz="2000" dirty="0" smtClean="0"/>
              <a:t> (</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ja-JP" altLang="en-US" sz="2000" dirty="0"/>
          </a:p>
        </p:txBody>
      </p:sp>
      <p:sp>
        <p:nvSpPr>
          <p:cNvPr id="6" name="正方形/長方形 5"/>
          <p:cNvSpPr/>
          <p:nvPr/>
        </p:nvSpPr>
        <p:spPr>
          <a:xfrm>
            <a:off x="285720" y="5143512"/>
            <a:ext cx="3214710" cy="1569660"/>
          </a:xfrm>
          <a:prstGeom prst="rect">
            <a:avLst/>
          </a:prstGeom>
          <a:ln>
            <a:solidFill>
              <a:schemeClr val="tx1"/>
            </a:solidFill>
          </a:ln>
        </p:spPr>
        <p:txBody>
          <a:bodyPr wrap="square">
            <a:spAutoFit/>
          </a:bodyPr>
          <a:lstStyle/>
          <a:p>
            <a:r>
              <a:rPr lang="en-US" altLang="ja-JP" sz="2400" dirty="0" smtClean="0">
                <a:latin typeface="ＭＳ ゴシック" pitchFamily="49" charset="-128"/>
                <a:ea typeface="ＭＳ ゴシック" pitchFamily="49" charset="-128"/>
              </a:rPr>
              <a:t>Taro   160.0 59.3</a:t>
            </a:r>
          </a:p>
          <a:p>
            <a:r>
              <a:rPr lang="en-US" altLang="ja-JP" sz="2400" dirty="0" err="1" smtClean="0">
                <a:latin typeface="ＭＳ ゴシック" pitchFamily="49" charset="-128"/>
                <a:ea typeface="ＭＳ ゴシック" pitchFamily="49" charset="-128"/>
              </a:rPr>
              <a:t>Jiro</a:t>
            </a:r>
            <a:r>
              <a:rPr lang="en-US" altLang="ja-JP" sz="2400" dirty="0" smtClean="0">
                <a:latin typeface="ＭＳ ゴシック" pitchFamily="49" charset="-128"/>
                <a:ea typeface="ＭＳ ゴシック" pitchFamily="49" charset="-128"/>
              </a:rPr>
              <a:t>   162.0 51.6</a:t>
            </a:r>
          </a:p>
          <a:p>
            <a:r>
              <a:rPr lang="en-US" altLang="ja-JP" sz="2400" dirty="0" err="1" smtClean="0">
                <a:latin typeface="ＭＳ ゴシック" pitchFamily="49" charset="-128"/>
                <a:ea typeface="ＭＳ ゴシック" pitchFamily="49" charset="-128"/>
              </a:rPr>
              <a:t>Saburo</a:t>
            </a:r>
            <a:r>
              <a:rPr lang="en-US" altLang="ja-JP" sz="2400" dirty="0" smtClean="0">
                <a:latin typeface="ＭＳ ゴシック" pitchFamily="49" charset="-128"/>
                <a:ea typeface="ＭＳ ゴシック" pitchFamily="49" charset="-128"/>
              </a:rPr>
              <a:t> 182.0 76.5</a:t>
            </a:r>
          </a:p>
          <a:p>
            <a:r>
              <a:rPr lang="en-US" altLang="ja-JP" sz="2400" dirty="0" err="1" smtClean="0">
                <a:latin typeface="ＭＳ ゴシック" pitchFamily="49" charset="-128"/>
                <a:ea typeface="ＭＳ ゴシック" pitchFamily="49" charset="-128"/>
              </a:rPr>
              <a:t>Shiro</a:t>
            </a:r>
            <a:r>
              <a:rPr lang="en-US" altLang="ja-JP" sz="2400" dirty="0" smtClean="0">
                <a:latin typeface="ＭＳ ゴシック" pitchFamily="49" charset="-128"/>
                <a:ea typeface="ＭＳ ゴシック" pitchFamily="49" charset="-128"/>
              </a:rPr>
              <a:t>  170.0 60.7</a:t>
            </a:r>
          </a:p>
        </p:txBody>
      </p:sp>
      <p:sp>
        <p:nvSpPr>
          <p:cNvPr id="7" name="テキスト ボックス 6"/>
          <p:cNvSpPr txBox="1"/>
          <p:nvPr/>
        </p:nvSpPr>
        <p:spPr>
          <a:xfrm>
            <a:off x="3786182" y="5143512"/>
            <a:ext cx="4786346" cy="1569660"/>
          </a:xfrm>
          <a:prstGeom prst="rect">
            <a:avLst/>
          </a:prstGeom>
          <a:noFill/>
        </p:spPr>
        <p:txBody>
          <a:bodyPr wrap="square" rtlCol="0">
            <a:spAutoFit/>
          </a:bodyPr>
          <a:lstStyle/>
          <a:p>
            <a:r>
              <a:rPr lang="ja-JP" altLang="en-US" sz="2400" dirty="0" smtClean="0"/>
              <a:t>左のような内容のファイルを</a:t>
            </a:r>
            <a:r>
              <a:rPr lang="en-US" altLang="ja-JP" sz="2400" dirty="0" smtClean="0"/>
              <a:t>data</a:t>
            </a:r>
            <a:r>
              <a:rPr lang="ja-JP" altLang="en-US" sz="2400" dirty="0" smtClean="0"/>
              <a:t>という名前で作成し、上記プログラムを実行すると、平均身長、平均体重が表示される。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基本課題１</a:t>
            </a:r>
            <a:endParaRPr kumimoji="1" lang="ja-JP" altLang="en-US" dirty="0"/>
          </a:p>
        </p:txBody>
      </p:sp>
      <p:sp>
        <p:nvSpPr>
          <p:cNvPr id="3" name="テキスト ボックス 2"/>
          <p:cNvSpPr txBox="1"/>
          <p:nvPr/>
        </p:nvSpPr>
        <p:spPr>
          <a:xfrm>
            <a:off x="857224" y="1556792"/>
            <a:ext cx="7143800" cy="1938992"/>
          </a:xfrm>
          <a:prstGeom prst="rect">
            <a:avLst/>
          </a:prstGeom>
          <a:noFill/>
        </p:spPr>
        <p:txBody>
          <a:bodyPr wrap="square" rtlCol="0">
            <a:spAutoFit/>
          </a:bodyPr>
          <a:lstStyle/>
          <a:p>
            <a:r>
              <a:rPr kumimoji="1" lang="ja-JP" altLang="en-US" sz="2400" dirty="0" smtClean="0"/>
              <a:t>さきほどのプログラムは、身長、体重データをファイルから読み取って平均値を表示するプログラムであった。</a:t>
            </a:r>
            <a:endParaRPr kumimoji="1" lang="en-US" altLang="ja-JP" sz="2400" dirty="0" smtClean="0"/>
          </a:p>
          <a:p>
            <a:r>
              <a:rPr kumimoji="1" lang="ja-JP" altLang="en-US" sz="2400" dirty="0" smtClean="0"/>
              <a:t>同じ形式のファイルからデータを読み取り、身長、体重の最大値を表示するプログラムを作成せよ。</a:t>
            </a:r>
            <a:endParaRPr kumimoji="1" lang="en-US" altLang="ja-JP" sz="2400" dirty="0" smtClean="0"/>
          </a:p>
          <a:p>
            <a:endParaRPr lang="en-US" altLang="ja-JP" sz="2400" dirty="0" smtClean="0"/>
          </a:p>
        </p:txBody>
      </p:sp>
      <p:sp>
        <p:nvSpPr>
          <p:cNvPr id="4" name="正方形/長方形 3"/>
          <p:cNvSpPr/>
          <p:nvPr/>
        </p:nvSpPr>
        <p:spPr>
          <a:xfrm>
            <a:off x="1187624" y="4581128"/>
            <a:ext cx="4572000" cy="1200329"/>
          </a:xfrm>
          <a:prstGeom prst="rect">
            <a:avLst/>
          </a:prstGeom>
          <a:ln>
            <a:solidFill>
              <a:schemeClr val="tx1"/>
            </a:solidFill>
          </a:ln>
        </p:spPr>
        <p:txBody>
          <a:bodyPr>
            <a:spAutoFit/>
          </a:bodyPr>
          <a:lstStyle/>
          <a:p>
            <a:r>
              <a:rPr lang="en-US" altLang="ja-JP" sz="2400" dirty="0" smtClean="0"/>
              <a:t>[</a:t>
            </a:r>
            <a:r>
              <a:rPr lang="ja-JP" altLang="en-US" sz="2400" dirty="0" smtClean="0"/>
              <a:t>さきほどのデータでの実行例</a:t>
            </a:r>
            <a:r>
              <a:rPr lang="en-US" altLang="ja-JP" sz="2400" dirty="0" smtClean="0"/>
              <a:t>]</a:t>
            </a:r>
          </a:p>
          <a:p>
            <a:r>
              <a:rPr lang="ja-JP" altLang="en-US" sz="2400" dirty="0" smtClean="0"/>
              <a:t>身長の最大値</a:t>
            </a:r>
            <a:r>
              <a:rPr lang="en-US" altLang="ja-JP" sz="2400" dirty="0" smtClean="0"/>
              <a:t>: 182.0cm</a:t>
            </a:r>
          </a:p>
          <a:p>
            <a:r>
              <a:rPr lang="ja-JP" altLang="en-US" sz="2400" dirty="0" smtClean="0"/>
              <a:t>体重の最大値</a:t>
            </a:r>
            <a:r>
              <a:rPr lang="en-US" altLang="ja-JP" sz="2400" dirty="0" smtClean="0"/>
              <a:t>: 76.5kg</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基本課題２</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smtClean="0"/>
              <a:t>キーボードからファイル名</a:t>
            </a:r>
            <a:r>
              <a:rPr lang="en-US" altLang="ja-JP" sz="2400" dirty="0" smtClean="0"/>
              <a:t>f</a:t>
            </a:r>
            <a:r>
              <a:rPr lang="ja-JP" altLang="en-US" sz="2400" dirty="0" smtClean="0"/>
              <a:t>および文字列</a:t>
            </a:r>
            <a:r>
              <a:rPr lang="en-US" altLang="ja-JP" sz="2400" dirty="0" smtClean="0"/>
              <a:t>s</a:t>
            </a:r>
            <a:r>
              <a:rPr lang="ja-JP" altLang="en-US" sz="2400" dirty="0" smtClean="0"/>
              <a:t>を入力させ、文字列</a:t>
            </a:r>
            <a:r>
              <a:rPr lang="en-US" altLang="ja-JP" sz="2400" dirty="0" smtClean="0"/>
              <a:t>s</a:t>
            </a:r>
            <a:r>
              <a:rPr lang="ja-JP" altLang="en-US" sz="2400" dirty="0" smtClean="0"/>
              <a:t>をファイル</a:t>
            </a:r>
            <a:r>
              <a:rPr lang="en-US" altLang="ja-JP" sz="2400" dirty="0" smtClean="0"/>
              <a:t>f</a:t>
            </a:r>
            <a:r>
              <a:rPr lang="ja-JP" altLang="en-US" sz="2400" dirty="0" smtClean="0"/>
              <a:t>に書きこむプログラムを書け。</a:t>
            </a:r>
            <a:endParaRPr lang="en-US" altLang="ja-JP" sz="2400" dirty="0" smtClean="0"/>
          </a:p>
        </p:txBody>
      </p:sp>
      <p:sp>
        <p:nvSpPr>
          <p:cNvPr id="6" name="正方形/長方形 5"/>
          <p:cNvSpPr/>
          <p:nvPr/>
        </p:nvSpPr>
        <p:spPr>
          <a:xfrm>
            <a:off x="1187624" y="3068960"/>
            <a:ext cx="6336704" cy="3046988"/>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smtClean="0"/>
              <a:t>./</a:t>
            </a:r>
            <a:r>
              <a:rPr lang="en-US" altLang="ja-JP" sz="2400" dirty="0" err="1" smtClean="0"/>
              <a:t>a.out</a:t>
            </a:r>
            <a:endParaRPr lang="en-US" altLang="ja-JP" sz="2400" dirty="0" smtClean="0"/>
          </a:p>
          <a:p>
            <a:r>
              <a:rPr lang="ja-JP" altLang="en-US" sz="2400" dirty="0" smtClean="0"/>
              <a:t>文字列をファイルに書き込みます</a:t>
            </a:r>
          </a:p>
          <a:p>
            <a:r>
              <a:rPr lang="ja-JP" altLang="en-US" sz="2400" dirty="0" smtClean="0"/>
              <a:t>ファイル名を入力してください</a:t>
            </a:r>
            <a:r>
              <a:rPr lang="en-US" altLang="ja-JP" sz="2400" dirty="0" smtClean="0"/>
              <a:t>: </a:t>
            </a:r>
            <a:r>
              <a:rPr lang="en-US" altLang="ja-JP" sz="2400" dirty="0" err="1" smtClean="0">
                <a:solidFill>
                  <a:srgbClr val="FF0000"/>
                </a:solidFill>
              </a:rPr>
              <a:t>fff</a:t>
            </a:r>
            <a:endParaRPr lang="en-US" altLang="ja-JP" sz="2400" dirty="0" smtClean="0">
              <a:solidFill>
                <a:srgbClr val="FF0000"/>
              </a:solidFill>
            </a:endParaRPr>
          </a:p>
          <a:p>
            <a:r>
              <a:rPr lang="ja-JP" altLang="en-US" sz="2400" dirty="0" smtClean="0"/>
              <a:t>文字列を入力してください</a:t>
            </a:r>
            <a:r>
              <a:rPr lang="en-US" altLang="ja-JP" sz="2400" dirty="0" smtClean="0"/>
              <a:t>: </a:t>
            </a:r>
            <a:r>
              <a:rPr lang="en-US" altLang="ja-JP" sz="2400" dirty="0" err="1" smtClean="0">
                <a:solidFill>
                  <a:srgbClr val="FF0000"/>
                </a:solidFill>
              </a:rPr>
              <a:t>abcde</a:t>
            </a:r>
            <a:endParaRPr lang="en-US" altLang="ja-JP" sz="2400" dirty="0" smtClean="0">
              <a:solidFill>
                <a:srgbClr val="FF0000"/>
              </a:solidFill>
            </a:endParaRPr>
          </a:p>
          <a:p>
            <a:r>
              <a:rPr lang="en-US" altLang="ja-JP" sz="2400" dirty="0" smtClean="0"/>
              <a:t>$ </a:t>
            </a:r>
            <a:r>
              <a:rPr lang="en-US" altLang="ja-JP" sz="2400" dirty="0" smtClean="0"/>
              <a:t>cat </a:t>
            </a:r>
            <a:r>
              <a:rPr lang="en-US" altLang="ja-JP" sz="2400" dirty="0" err="1" smtClean="0"/>
              <a:t>fff</a:t>
            </a:r>
            <a:endParaRPr lang="en-US" altLang="ja-JP" sz="2400" dirty="0" smtClean="0"/>
          </a:p>
          <a:p>
            <a:r>
              <a:rPr lang="en-US" altLang="ja-JP" sz="2400" dirty="0" err="1"/>
              <a:t>a</a:t>
            </a:r>
            <a:r>
              <a:rPr lang="en-US" altLang="ja-JP" sz="2400" dirty="0" err="1" smtClean="0"/>
              <a:t>bcde</a:t>
            </a:r>
            <a:endParaRPr lang="en-US" altLang="ja-JP" sz="2400" dirty="0" smtClean="0"/>
          </a:p>
          <a:p>
            <a:r>
              <a:rPr lang="en-US" altLang="ja-JP" sz="2400" dirty="0" smtClean="0"/>
              <a:t>$</a:t>
            </a:r>
            <a:endParaRPr lang="en-US" altLang="ja-JP"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発展課題１</a:t>
            </a:r>
            <a:endParaRPr kumimoji="1" lang="ja-JP" altLang="en-US" dirty="0"/>
          </a:p>
        </p:txBody>
      </p:sp>
      <p:sp>
        <p:nvSpPr>
          <p:cNvPr id="3" name="テキスト ボックス 2"/>
          <p:cNvSpPr txBox="1"/>
          <p:nvPr/>
        </p:nvSpPr>
        <p:spPr>
          <a:xfrm>
            <a:off x="755576" y="1196752"/>
            <a:ext cx="7316886" cy="1569660"/>
          </a:xfrm>
          <a:prstGeom prst="rect">
            <a:avLst/>
          </a:prstGeom>
          <a:noFill/>
        </p:spPr>
        <p:txBody>
          <a:bodyPr wrap="square" rtlCol="0">
            <a:spAutoFit/>
          </a:bodyPr>
          <a:lstStyle/>
          <a:p>
            <a:r>
              <a:rPr kumimoji="1" lang="ja-JP" altLang="en-US" sz="2400" dirty="0" smtClean="0"/>
              <a:t>掛け算の九九の表をファイルに書き込むプログラムを作成せよ</a:t>
            </a:r>
            <a:r>
              <a:rPr lang="ja-JP" altLang="en-US" sz="2400" dirty="0" smtClean="0"/>
              <a:t>。ファイル名は自由とする。形式は以下のようにせよ。（空白の個数を調整し、表示位置がそろうようにせよ。例えば、</a:t>
            </a:r>
            <a:r>
              <a:rPr lang="en-US" altLang="ja-JP" sz="2400" dirty="0" err="1" smtClean="0"/>
              <a:t>printf</a:t>
            </a:r>
            <a:r>
              <a:rPr lang="ja-JP" altLang="en-US" sz="2400" dirty="0" smtClean="0"/>
              <a:t>の変換指定で</a:t>
            </a:r>
            <a:r>
              <a:rPr lang="en-US" altLang="ja-JP" sz="2400" dirty="0" smtClean="0"/>
              <a:t>%3d</a:t>
            </a:r>
            <a:r>
              <a:rPr lang="ja-JP" altLang="en-US" sz="2400" dirty="0" smtClean="0"/>
              <a:t>を用いればよい。）</a:t>
            </a:r>
            <a:endParaRPr lang="en-US" altLang="ja-JP" sz="2400" dirty="0" smtClean="0"/>
          </a:p>
        </p:txBody>
      </p:sp>
      <p:sp>
        <p:nvSpPr>
          <p:cNvPr id="4" name="正方形/長方形 3"/>
          <p:cNvSpPr/>
          <p:nvPr/>
        </p:nvSpPr>
        <p:spPr>
          <a:xfrm>
            <a:off x="1403648" y="2852936"/>
            <a:ext cx="4286280" cy="3416320"/>
          </a:xfrm>
          <a:prstGeom prst="rect">
            <a:avLst/>
          </a:prstGeom>
          <a:ln>
            <a:solidFill>
              <a:schemeClr val="tx1"/>
            </a:solidFill>
          </a:ln>
        </p:spPr>
        <p:txBody>
          <a:bodyPr wrap="square">
            <a:spAutoFit/>
          </a:bodyPr>
          <a:lstStyle/>
          <a:p>
            <a:r>
              <a:rPr lang="ja-JP" altLang="en-US" sz="2400" dirty="0" smtClean="0">
                <a:latin typeface="ＭＳ ゴシック" pitchFamily="49" charset="-128"/>
                <a:ea typeface="ＭＳ ゴシック" pitchFamily="49" charset="-128"/>
              </a:rPr>
              <a:t> </a:t>
            </a:r>
            <a:r>
              <a:rPr lang="en-US" altLang="ja-JP" sz="2400" dirty="0" smtClean="0">
                <a:latin typeface="ＭＳ ゴシック" pitchFamily="49" charset="-128"/>
                <a:ea typeface="ＭＳ ゴシック" pitchFamily="49" charset="-128"/>
              </a:rPr>
              <a:t>1  2  3  4  5  6  7  8  9</a:t>
            </a:r>
          </a:p>
          <a:p>
            <a:r>
              <a:rPr lang="en-US" altLang="ja-JP" sz="2400" dirty="0" smtClean="0">
                <a:latin typeface="ＭＳ ゴシック" pitchFamily="49" charset="-128"/>
                <a:ea typeface="ＭＳ ゴシック" pitchFamily="49" charset="-128"/>
              </a:rPr>
              <a:t> 2  4  6  8 10 12 14 16 18</a:t>
            </a:r>
          </a:p>
          <a:p>
            <a:r>
              <a:rPr lang="en-US" altLang="ja-JP" sz="2400" dirty="0" smtClean="0">
                <a:latin typeface="ＭＳ ゴシック" pitchFamily="49" charset="-128"/>
                <a:ea typeface="ＭＳ ゴシック" pitchFamily="49" charset="-128"/>
              </a:rPr>
              <a:t> 3  6  9 12 15 18 21 24 27</a:t>
            </a:r>
          </a:p>
          <a:p>
            <a:r>
              <a:rPr lang="en-US" altLang="ja-JP" sz="2400" dirty="0" smtClean="0">
                <a:latin typeface="ＭＳ ゴシック" pitchFamily="49" charset="-128"/>
                <a:ea typeface="ＭＳ ゴシック" pitchFamily="49" charset="-128"/>
              </a:rPr>
              <a:t> 4  8 12 16 20 24 28 32 36</a:t>
            </a:r>
          </a:p>
          <a:p>
            <a:r>
              <a:rPr lang="en-US" altLang="ja-JP" sz="2400" dirty="0" smtClean="0">
                <a:latin typeface="ＭＳ ゴシック" pitchFamily="49" charset="-128"/>
                <a:ea typeface="ＭＳ ゴシック" pitchFamily="49" charset="-128"/>
              </a:rPr>
              <a:t> 5 10 15 20 25 30 35 40 45</a:t>
            </a:r>
          </a:p>
          <a:p>
            <a:r>
              <a:rPr lang="en-US" altLang="ja-JP" sz="2400" dirty="0" smtClean="0">
                <a:latin typeface="ＭＳ ゴシック" pitchFamily="49" charset="-128"/>
                <a:ea typeface="ＭＳ ゴシック" pitchFamily="49" charset="-128"/>
              </a:rPr>
              <a:t> 6 12 18 24 30 36 42 48 54</a:t>
            </a:r>
          </a:p>
          <a:p>
            <a:r>
              <a:rPr lang="en-US" altLang="ja-JP" sz="2400" dirty="0" smtClean="0">
                <a:latin typeface="ＭＳ ゴシック" pitchFamily="49" charset="-128"/>
                <a:ea typeface="ＭＳ ゴシック" pitchFamily="49" charset="-128"/>
              </a:rPr>
              <a:t> 7 14 21 28 35 42 49 56 63</a:t>
            </a:r>
          </a:p>
          <a:p>
            <a:r>
              <a:rPr lang="en-US" altLang="ja-JP" sz="2400" dirty="0" smtClean="0">
                <a:latin typeface="ＭＳ ゴシック" pitchFamily="49" charset="-128"/>
                <a:ea typeface="ＭＳ ゴシック" pitchFamily="49" charset="-128"/>
              </a:rPr>
              <a:t> 8 16 24 32 40 48 56 64 72</a:t>
            </a:r>
          </a:p>
          <a:p>
            <a:r>
              <a:rPr lang="en-US" altLang="ja-JP" sz="2400" dirty="0" smtClean="0">
                <a:latin typeface="ＭＳ ゴシック" pitchFamily="49" charset="-128"/>
                <a:ea typeface="ＭＳ ゴシック" pitchFamily="49" charset="-128"/>
              </a:rPr>
              <a:t> 9 18 27 36 45 54 63 72 81</a:t>
            </a:r>
            <a:endParaRPr lang="en-US" altLang="ja-JP" sz="2400" dirty="0">
              <a:latin typeface="ＭＳ ゴシック" pitchFamily="49" charset="-128"/>
              <a:ea typeface="ＭＳ ゴシック" pitchFamily="49" charset="-128"/>
            </a:endParaRPr>
          </a:p>
        </p:txBody>
      </p:sp>
      <p:sp>
        <p:nvSpPr>
          <p:cNvPr id="5" name="テキスト ボックス 4"/>
          <p:cNvSpPr txBox="1"/>
          <p:nvPr/>
        </p:nvSpPr>
        <p:spPr>
          <a:xfrm>
            <a:off x="5868144" y="3429000"/>
            <a:ext cx="2865523" cy="1323439"/>
          </a:xfrm>
          <a:prstGeom prst="rect">
            <a:avLst/>
          </a:prstGeom>
          <a:noFill/>
        </p:spPr>
        <p:txBody>
          <a:bodyPr wrap="square" rtlCol="0">
            <a:spAutoFit/>
          </a:bodyPr>
          <a:lstStyle/>
          <a:p>
            <a:r>
              <a:rPr lang="ja-JP" altLang="en-US" sz="2000" dirty="0" smtClean="0"/>
              <a:t>（注意）九九のかけ算をプログラム中で</a:t>
            </a:r>
            <a:r>
              <a:rPr kumimoji="1" lang="ja-JP" altLang="en-US" sz="2000" dirty="0" smtClean="0"/>
              <a:t>行ってください。二重ループで書いてください。</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テキスト ボックス 3"/>
          <p:cNvSpPr txBox="1"/>
          <p:nvPr/>
        </p:nvSpPr>
        <p:spPr>
          <a:xfrm>
            <a:off x="785786" y="1500174"/>
            <a:ext cx="7358114" cy="1569660"/>
          </a:xfrm>
          <a:prstGeom prst="rect">
            <a:avLst/>
          </a:prstGeom>
          <a:noFill/>
        </p:spPr>
        <p:txBody>
          <a:bodyPr wrap="square" rtlCol="0">
            <a:spAutoFit/>
          </a:bodyPr>
          <a:lstStyle/>
          <a:p>
            <a:r>
              <a:rPr lang="ja-JP" altLang="en-US" sz="2400" dirty="0" smtClean="0"/>
              <a:t>基本課題１と同じ形式</a:t>
            </a:r>
            <a:r>
              <a:rPr kumimoji="1" lang="ja-JP" altLang="en-US" sz="2400" dirty="0" smtClean="0"/>
              <a:t>のファイル（名前、身長、体重のデータ）を読み込み、さらにキーボードから名前を入力させ、その名前の人のデータを以下の実行例のように画面に表示するプログラムを書け</a:t>
            </a:r>
            <a:r>
              <a:rPr lang="ja-JP" altLang="en-US" sz="2400" dirty="0"/>
              <a:t>。</a:t>
            </a:r>
            <a:endParaRPr kumimoji="1" lang="en-US" altLang="ja-JP" sz="2400" dirty="0" smtClean="0"/>
          </a:p>
        </p:txBody>
      </p:sp>
      <p:sp>
        <p:nvSpPr>
          <p:cNvPr id="5" name="正方形/長方形 4"/>
          <p:cNvSpPr/>
          <p:nvPr/>
        </p:nvSpPr>
        <p:spPr>
          <a:xfrm>
            <a:off x="1331640" y="3452808"/>
            <a:ext cx="4572000" cy="1200328"/>
          </a:xfrm>
          <a:prstGeom prst="rect">
            <a:avLst/>
          </a:prstGeom>
          <a:ln>
            <a:solidFill>
              <a:schemeClr val="tx1"/>
            </a:solidFill>
          </a:ln>
        </p:spPr>
        <p:txBody>
          <a:bodyPr>
            <a:spAutoFit/>
          </a:bodyPr>
          <a:lstStyle/>
          <a:p>
            <a:r>
              <a:rPr lang="en-US" altLang="ja-JP" sz="2400" dirty="0" smtClean="0"/>
              <a:t>[</a:t>
            </a:r>
            <a:r>
              <a:rPr lang="ja-JP" altLang="en-US" sz="2400" dirty="0" smtClean="0"/>
              <a:t>さきほどのデータでの実行例</a:t>
            </a:r>
            <a:r>
              <a:rPr lang="en-US" altLang="ja-JP" sz="2400" dirty="0" smtClean="0"/>
              <a:t>]</a:t>
            </a:r>
          </a:p>
          <a:p>
            <a:r>
              <a:rPr lang="ja-JP" altLang="en-US" sz="2400" dirty="0" smtClean="0"/>
              <a:t>名前</a:t>
            </a:r>
            <a:r>
              <a:rPr lang="ja-JP" altLang="en-US" sz="2400" dirty="0" smtClean="0"/>
              <a:t>を入力</a:t>
            </a:r>
            <a:r>
              <a:rPr lang="en-US" altLang="ja-JP" sz="2400" dirty="0" smtClean="0"/>
              <a:t>: </a:t>
            </a:r>
            <a:r>
              <a:rPr lang="en-US" altLang="ja-JP" sz="2400" dirty="0" err="1" smtClean="0">
                <a:solidFill>
                  <a:srgbClr val="FF0000"/>
                </a:solidFill>
              </a:rPr>
              <a:t>Jiro</a:t>
            </a:r>
            <a:endParaRPr lang="en-US" altLang="ja-JP" sz="2400" dirty="0" smtClean="0">
              <a:solidFill>
                <a:srgbClr val="FF0000"/>
              </a:solidFill>
            </a:endParaRPr>
          </a:p>
          <a:p>
            <a:r>
              <a:rPr lang="en-US" altLang="ja-JP" sz="2400" dirty="0" err="1" smtClean="0"/>
              <a:t>Jiro</a:t>
            </a:r>
            <a:r>
              <a:rPr lang="en-US" altLang="ja-JP" sz="2400" dirty="0" smtClean="0"/>
              <a:t> 162.0cm </a:t>
            </a:r>
            <a:r>
              <a:rPr lang="en-US" altLang="ja-JP" sz="2400" dirty="0" smtClean="0"/>
              <a:t>51.6kg</a:t>
            </a:r>
            <a:endParaRPr lang="en-US" altLang="ja-JP" sz="2400" dirty="0" smtClean="0"/>
          </a:p>
        </p:txBody>
      </p:sp>
      <p:sp>
        <p:nvSpPr>
          <p:cNvPr id="6" name="正方形/長方形 5"/>
          <p:cNvSpPr/>
          <p:nvPr/>
        </p:nvSpPr>
        <p:spPr>
          <a:xfrm>
            <a:off x="611560" y="5229200"/>
            <a:ext cx="6768752" cy="1323439"/>
          </a:xfrm>
          <a:prstGeom prst="rect">
            <a:avLst/>
          </a:prstGeom>
        </p:spPr>
        <p:txBody>
          <a:bodyPr wrap="square">
            <a:spAutoFit/>
          </a:bodyPr>
          <a:lstStyle/>
          <a:p>
            <a:r>
              <a:rPr lang="ja-JP" altLang="en-US" sz="2000" dirty="0" smtClean="0"/>
              <a:t>（ヒント）文字列の比較は、</a:t>
            </a:r>
            <a:r>
              <a:rPr lang="en-US" altLang="ja-JP" sz="2000" dirty="0" err="1" smtClean="0"/>
              <a:t>strcmp</a:t>
            </a:r>
            <a:r>
              <a:rPr lang="ja-JP" altLang="en-US" sz="2000" dirty="0" smtClean="0"/>
              <a:t>というライブラリ関数を使って行ってください。もちろん自分で書いてもいいですが。ライブラリ関数</a:t>
            </a:r>
            <a:r>
              <a:rPr lang="en-US" altLang="ja-JP" sz="2000" dirty="0" err="1" smtClean="0"/>
              <a:t>strcmp</a:t>
            </a:r>
            <a:r>
              <a:rPr lang="ja-JP" altLang="en-US" sz="2000" dirty="0" smtClean="0"/>
              <a:t>を使うときは、</a:t>
            </a:r>
            <a:r>
              <a:rPr lang="en-US" altLang="ja-JP" sz="2000" dirty="0" err="1" smtClean="0"/>
              <a:t>string.h</a:t>
            </a:r>
            <a:r>
              <a:rPr lang="ja-JP" altLang="en-US" sz="2000" dirty="0" smtClean="0"/>
              <a:t>を</a:t>
            </a:r>
            <a:r>
              <a:rPr lang="en-US" altLang="ja-JP" sz="2000" dirty="0" smtClean="0"/>
              <a:t>include</a:t>
            </a:r>
            <a:r>
              <a:rPr lang="ja-JP" altLang="en-US" sz="2000" dirty="0" smtClean="0"/>
              <a:t>してください。使い方は、</a:t>
            </a:r>
            <a:r>
              <a:rPr lang="en-US" altLang="ja-JP" sz="2000" dirty="0" smtClean="0"/>
              <a:t>man</a:t>
            </a:r>
            <a:r>
              <a:rPr lang="ja-JP" altLang="en-US" sz="2000" dirty="0" smtClean="0"/>
              <a:t>コマンドで調べてください。</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a:t>
            </a:r>
            <a:r>
              <a:rPr kumimoji="1" lang="ja-JP" altLang="en-US" dirty="0" smtClean="0"/>
              <a:t>課題３</a:t>
            </a:r>
            <a:endParaRPr kumimoji="1" lang="ja-JP" altLang="en-US" dirty="0"/>
          </a:p>
        </p:txBody>
      </p:sp>
      <p:sp>
        <p:nvSpPr>
          <p:cNvPr id="5" name="テキスト ボックス 4"/>
          <p:cNvSpPr txBox="1"/>
          <p:nvPr/>
        </p:nvSpPr>
        <p:spPr>
          <a:xfrm>
            <a:off x="785786" y="1500174"/>
            <a:ext cx="7358114" cy="1938992"/>
          </a:xfrm>
          <a:prstGeom prst="rect">
            <a:avLst/>
          </a:prstGeom>
          <a:noFill/>
        </p:spPr>
        <p:txBody>
          <a:bodyPr wrap="square" rtlCol="0">
            <a:spAutoFit/>
          </a:bodyPr>
          <a:lstStyle/>
          <a:p>
            <a:r>
              <a:rPr lang="ja-JP" altLang="en-US" sz="2400" dirty="0" smtClean="0"/>
              <a:t>基本課題１と同じ形式</a:t>
            </a:r>
            <a:r>
              <a:rPr kumimoji="1" lang="ja-JP" altLang="en-US" sz="2400" dirty="0" smtClean="0"/>
              <a:t>のファイル（名前、身長、体重のデータ）を、名前、体重、身長の順に並べ替えて新たなファイル（ファイル名自由）に書き出すプログラムを書け。</a:t>
            </a:r>
            <a:endParaRPr kumimoji="1" lang="en-US" altLang="ja-JP" sz="2400" dirty="0" smtClean="0"/>
          </a:p>
          <a:p>
            <a:r>
              <a:rPr kumimoji="1" lang="ja-JP" altLang="en-US" sz="2400" dirty="0" smtClean="0"/>
              <a:t>名前、身長、体重のデータ間の空白などについて、入力ファイルと同一でなくてよい。</a:t>
            </a:r>
            <a:endParaRPr kumimoji="1" lang="ja-JP" altLang="en-US" sz="2400" dirty="0"/>
          </a:p>
        </p:txBody>
      </p:sp>
      <p:sp>
        <p:nvSpPr>
          <p:cNvPr id="4" name="正方形/長方形 3"/>
          <p:cNvSpPr/>
          <p:nvPr/>
        </p:nvSpPr>
        <p:spPr>
          <a:xfrm>
            <a:off x="825697" y="4010288"/>
            <a:ext cx="7706743" cy="1938992"/>
          </a:xfrm>
          <a:prstGeom prst="rect">
            <a:avLst/>
          </a:prstGeom>
        </p:spPr>
        <p:txBody>
          <a:bodyPr wrap="square">
            <a:spAutoFit/>
          </a:bodyPr>
          <a:lstStyle/>
          <a:p>
            <a:r>
              <a:rPr lang="ja-JP" altLang="en-US" sz="2400" dirty="0" smtClean="0"/>
              <a:t>（ヒント）</a:t>
            </a:r>
            <a:r>
              <a:rPr lang="en-US" altLang="ja-JP" sz="2400" dirty="0" err="1" smtClean="0"/>
              <a:t>fprintf</a:t>
            </a:r>
            <a:r>
              <a:rPr lang="ja-JP" altLang="en-US" sz="2400" dirty="0" smtClean="0"/>
              <a:t>の出力形式の例（各行）： </a:t>
            </a:r>
            <a:endParaRPr lang="en-US" altLang="ja-JP" sz="2400" dirty="0" smtClean="0"/>
          </a:p>
          <a:p>
            <a:r>
              <a:rPr lang="en-US" altLang="ja-JP" sz="2400" dirty="0" smtClean="0"/>
              <a:t>         </a:t>
            </a:r>
            <a:r>
              <a:rPr lang="ja-JP" altLang="en-US" sz="2400" dirty="0" smtClean="0"/>
              <a:t> </a:t>
            </a:r>
            <a:r>
              <a:rPr lang="en-US" altLang="ja-JP" sz="2400" dirty="0" smtClean="0"/>
              <a:t>"%-6s %3.1f %3.1f\n"</a:t>
            </a:r>
          </a:p>
          <a:p>
            <a:r>
              <a:rPr lang="en-US" altLang="ja-JP" sz="2400" dirty="0" smtClean="0"/>
              <a:t>%-6s</a:t>
            </a:r>
            <a:r>
              <a:rPr lang="ja-JP" altLang="en-US" sz="2400" dirty="0" smtClean="0"/>
              <a:t>におけるマイナスは左詰めを表す。</a:t>
            </a:r>
            <a:endParaRPr lang="en-US" altLang="ja-JP" sz="2400" dirty="0" smtClean="0"/>
          </a:p>
          <a:p>
            <a:r>
              <a:rPr lang="ja-JP" altLang="en-US" sz="2400" dirty="0" smtClean="0"/>
              <a:t>（名前の長さ等によって、最小フィールド幅の指定を変更すればよい。）</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34082"/>
          </a:xfrm>
        </p:spPr>
        <p:txBody>
          <a:bodyPr>
            <a:normAutofit fontScale="90000"/>
          </a:bodyPr>
          <a:lstStyle/>
          <a:p>
            <a:r>
              <a:rPr lang="ja-JP" altLang="en-US" dirty="0" smtClean="0"/>
              <a:t>発展課題４</a:t>
            </a:r>
            <a:endParaRPr kumimoji="1" lang="ja-JP" altLang="en-US" dirty="0"/>
          </a:p>
        </p:txBody>
      </p:sp>
      <p:sp>
        <p:nvSpPr>
          <p:cNvPr id="4" name="テキスト ボックス 3"/>
          <p:cNvSpPr txBox="1"/>
          <p:nvPr/>
        </p:nvSpPr>
        <p:spPr>
          <a:xfrm>
            <a:off x="971600" y="1196752"/>
            <a:ext cx="7128792" cy="1015663"/>
          </a:xfrm>
          <a:prstGeom prst="rect">
            <a:avLst/>
          </a:prstGeom>
          <a:noFill/>
        </p:spPr>
        <p:txBody>
          <a:bodyPr wrap="square" rtlCol="0">
            <a:spAutoFit/>
          </a:bodyPr>
          <a:lstStyle/>
          <a:p>
            <a:r>
              <a:rPr kumimoji="1" lang="ja-JP" altLang="en-US" sz="2000" dirty="0" smtClean="0"/>
              <a:t>以下のような形式の、商品番号、商品名、値段に関するファイル（ファイル名自由）を読み込み、キーボードから商品番号と個数を入力させ、合計金額を表示するプログラムを書け。</a:t>
            </a:r>
            <a:endParaRPr kumimoji="1" lang="ja-JP" altLang="en-US" sz="2000" dirty="0"/>
          </a:p>
        </p:txBody>
      </p:sp>
      <p:sp>
        <p:nvSpPr>
          <p:cNvPr id="5" name="正方形/長方形 4"/>
          <p:cNvSpPr/>
          <p:nvPr/>
        </p:nvSpPr>
        <p:spPr>
          <a:xfrm>
            <a:off x="827584" y="2537609"/>
            <a:ext cx="2016224" cy="1323439"/>
          </a:xfrm>
          <a:prstGeom prst="rect">
            <a:avLst/>
          </a:prstGeom>
          <a:ln>
            <a:solidFill>
              <a:schemeClr val="tx1"/>
            </a:solidFill>
          </a:ln>
        </p:spPr>
        <p:txBody>
          <a:bodyPr wrap="square">
            <a:spAutoFit/>
          </a:bodyPr>
          <a:lstStyle/>
          <a:p>
            <a:r>
              <a:rPr lang="en-US" altLang="ja-JP" sz="2000" dirty="0" smtClean="0">
                <a:latin typeface="ＭＳ ゴシック" pitchFamily="49" charset="-128"/>
                <a:ea typeface="ＭＳ ゴシック" pitchFamily="49" charset="-128"/>
              </a:rPr>
              <a:t>1 </a:t>
            </a:r>
            <a:r>
              <a:rPr lang="ja-JP" altLang="en-US" sz="2000" dirty="0" smtClean="0">
                <a:latin typeface="ＭＳ ゴシック" pitchFamily="49" charset="-128"/>
                <a:ea typeface="ＭＳ ゴシック" pitchFamily="49" charset="-128"/>
              </a:rPr>
              <a:t>鉛筆 </a:t>
            </a:r>
            <a:r>
              <a:rPr lang="en-US" altLang="ja-JP" sz="2000" dirty="0" smtClean="0">
                <a:latin typeface="ＭＳ ゴシック" pitchFamily="49" charset="-128"/>
                <a:ea typeface="ＭＳ ゴシック" pitchFamily="49" charset="-128"/>
              </a:rPr>
              <a:t>80</a:t>
            </a:r>
          </a:p>
          <a:p>
            <a:r>
              <a:rPr lang="en-US" altLang="ja-JP" sz="2000" dirty="0" smtClean="0">
                <a:latin typeface="ＭＳ ゴシック" pitchFamily="49" charset="-128"/>
                <a:ea typeface="ＭＳ ゴシック" pitchFamily="49" charset="-128"/>
              </a:rPr>
              <a:t>2 </a:t>
            </a:r>
            <a:r>
              <a:rPr lang="ja-JP" altLang="en-US" sz="2000" dirty="0" smtClean="0">
                <a:latin typeface="ＭＳ ゴシック" pitchFamily="49" charset="-128"/>
                <a:ea typeface="ＭＳ ゴシック" pitchFamily="49" charset="-128"/>
              </a:rPr>
              <a:t>定規 </a:t>
            </a:r>
            <a:r>
              <a:rPr lang="en-US" altLang="ja-JP" sz="2000" dirty="0" smtClean="0">
                <a:latin typeface="ＭＳ ゴシック" pitchFamily="49" charset="-128"/>
                <a:ea typeface="ＭＳ ゴシック" pitchFamily="49" charset="-128"/>
              </a:rPr>
              <a:t>200</a:t>
            </a:r>
          </a:p>
          <a:p>
            <a:r>
              <a:rPr lang="en-US" altLang="ja-JP" sz="2000" dirty="0" smtClean="0">
                <a:latin typeface="ＭＳ ゴシック" pitchFamily="49" charset="-128"/>
                <a:ea typeface="ＭＳ ゴシック" pitchFamily="49" charset="-128"/>
              </a:rPr>
              <a:t>3 </a:t>
            </a:r>
            <a:r>
              <a:rPr lang="ja-JP" altLang="en-US" sz="2000" dirty="0" smtClean="0">
                <a:latin typeface="ＭＳ ゴシック" pitchFamily="49" charset="-128"/>
                <a:ea typeface="ＭＳ ゴシック" pitchFamily="49" charset="-128"/>
              </a:rPr>
              <a:t>けしごむ </a:t>
            </a:r>
            <a:r>
              <a:rPr lang="en-US" altLang="ja-JP" sz="2000" dirty="0" smtClean="0">
                <a:latin typeface="ＭＳ ゴシック" pitchFamily="49" charset="-128"/>
                <a:ea typeface="ＭＳ ゴシック" pitchFamily="49" charset="-128"/>
              </a:rPr>
              <a:t>30</a:t>
            </a:r>
          </a:p>
          <a:p>
            <a:r>
              <a:rPr lang="en-US" altLang="ja-JP" sz="2000" dirty="0" smtClean="0">
                <a:latin typeface="ＭＳ ゴシック" pitchFamily="49" charset="-128"/>
                <a:ea typeface="ＭＳ ゴシック" pitchFamily="49" charset="-128"/>
              </a:rPr>
              <a:t>4 </a:t>
            </a:r>
            <a:r>
              <a:rPr lang="ja-JP" altLang="en-US" sz="2000" dirty="0" smtClean="0">
                <a:latin typeface="ＭＳ ゴシック" pitchFamily="49" charset="-128"/>
                <a:ea typeface="ＭＳ ゴシック" pitchFamily="49" charset="-128"/>
              </a:rPr>
              <a:t>電卓 </a:t>
            </a:r>
            <a:r>
              <a:rPr lang="en-US" altLang="ja-JP" sz="2000" dirty="0" smtClean="0">
                <a:latin typeface="ＭＳ ゴシック" pitchFamily="49" charset="-128"/>
                <a:ea typeface="ＭＳ ゴシック" pitchFamily="49" charset="-128"/>
              </a:rPr>
              <a:t>1000</a:t>
            </a:r>
            <a:endParaRPr lang="en-US" altLang="ja-JP" sz="2000" dirty="0">
              <a:latin typeface="ＭＳ ゴシック" pitchFamily="49" charset="-128"/>
              <a:ea typeface="ＭＳ ゴシック" pitchFamily="49" charset="-128"/>
            </a:endParaRPr>
          </a:p>
        </p:txBody>
      </p:sp>
      <p:sp>
        <p:nvSpPr>
          <p:cNvPr id="6" name="正方形/長方形 5"/>
          <p:cNvSpPr/>
          <p:nvPr/>
        </p:nvSpPr>
        <p:spPr>
          <a:xfrm>
            <a:off x="3816424" y="2503924"/>
            <a:ext cx="4572000" cy="3785652"/>
          </a:xfrm>
          <a:prstGeom prst="rect">
            <a:avLst/>
          </a:prstGeom>
          <a:ln>
            <a:solidFill>
              <a:schemeClr val="tx1"/>
            </a:solidFill>
          </a:ln>
        </p:spPr>
        <p:txBody>
          <a:bodyPr>
            <a:spAutoFit/>
          </a:bodyPr>
          <a:lstStyle/>
          <a:p>
            <a:r>
              <a:rPr lang="en-US" altLang="ja-JP" sz="2000" dirty="0" smtClean="0">
                <a:latin typeface="ＭＳ ゴシック" pitchFamily="49" charset="-128"/>
                <a:ea typeface="ＭＳ ゴシック" pitchFamily="49" charset="-128"/>
              </a:rPr>
              <a:t>[</a:t>
            </a:r>
            <a:r>
              <a:rPr lang="ja-JP" altLang="en-US" sz="2000" dirty="0" smtClean="0">
                <a:latin typeface="ＭＳ ゴシック" pitchFamily="49" charset="-128"/>
                <a:ea typeface="ＭＳ ゴシック" pitchFamily="49" charset="-128"/>
              </a:rPr>
              <a:t>実行例</a:t>
            </a:r>
            <a:r>
              <a:rPr lang="en-US" altLang="ja-JP" sz="2000" dirty="0" smtClean="0">
                <a:latin typeface="ＭＳ ゴシック" pitchFamily="49" charset="-128"/>
                <a:ea typeface="ＭＳ ゴシック" pitchFamily="49" charset="-128"/>
              </a:rPr>
              <a:t>]</a:t>
            </a:r>
          </a:p>
          <a:p>
            <a:r>
              <a:rPr lang="en-US" altLang="ja-JP" sz="2000" dirty="0" smtClean="0">
                <a:latin typeface="ＭＳ ゴシック" pitchFamily="49" charset="-128"/>
                <a:ea typeface="ＭＳ ゴシック" pitchFamily="49" charset="-128"/>
              </a:rPr>
              <a:t>$ </a:t>
            </a:r>
            <a:r>
              <a:rPr lang="en-US" altLang="ja-JP" sz="2000" dirty="0" smtClean="0">
                <a:latin typeface="ＭＳ ゴシック" pitchFamily="49" charset="-128"/>
                <a:ea typeface="ＭＳ ゴシック" pitchFamily="49" charset="-128"/>
              </a:rPr>
              <a:t>./</a:t>
            </a:r>
            <a:r>
              <a:rPr lang="en-US" altLang="ja-JP" sz="2000" dirty="0" err="1" smtClean="0">
                <a:latin typeface="ＭＳ ゴシック" pitchFamily="49" charset="-128"/>
                <a:ea typeface="ＭＳ ゴシック" pitchFamily="49" charset="-128"/>
              </a:rPr>
              <a:t>a.out</a:t>
            </a:r>
            <a:endParaRPr lang="en-US" altLang="ja-JP" sz="2000" dirty="0" smtClean="0">
              <a:latin typeface="ＭＳ ゴシック" pitchFamily="49" charset="-128"/>
              <a:ea typeface="ＭＳ ゴシック" pitchFamily="49" charset="-128"/>
            </a:endParaRPr>
          </a:p>
          <a:p>
            <a:r>
              <a:rPr lang="ja-JP" altLang="en-US" sz="2000" dirty="0" smtClean="0">
                <a:latin typeface="ＭＳ ゴシック" pitchFamily="49" charset="-128"/>
                <a:ea typeface="ＭＳ ゴシック" pitchFamily="49" charset="-128"/>
              </a:rPr>
              <a:t>買い物をします</a:t>
            </a:r>
          </a:p>
          <a:p>
            <a:r>
              <a:rPr lang="en-US" altLang="ja-JP" sz="2000" dirty="0" smtClean="0">
                <a:latin typeface="ＭＳ ゴシック" pitchFamily="49" charset="-128"/>
                <a:ea typeface="ＭＳ ゴシック" pitchFamily="49" charset="-128"/>
              </a:rPr>
              <a:t>--</a:t>
            </a:r>
            <a:r>
              <a:rPr lang="ja-JP" altLang="en-US" sz="2000" dirty="0" smtClean="0">
                <a:latin typeface="ＭＳ ゴシック" pitchFamily="49" charset="-128"/>
                <a:ea typeface="ＭＳ ゴシック" pitchFamily="49" charset="-128"/>
              </a:rPr>
              <a:t>商品リスト</a:t>
            </a:r>
            <a:r>
              <a:rPr lang="en-US" altLang="ja-JP" sz="2000" dirty="0" smtClean="0">
                <a:latin typeface="ＭＳ ゴシック" pitchFamily="49" charset="-128"/>
                <a:ea typeface="ＭＳ ゴシック" pitchFamily="49" charset="-128"/>
              </a:rPr>
              <a:t>--</a:t>
            </a:r>
          </a:p>
          <a:p>
            <a:r>
              <a:rPr lang="en-US" altLang="ja-JP" sz="2000" dirty="0" smtClean="0">
                <a:latin typeface="ＭＳ ゴシック" pitchFamily="49" charset="-128"/>
                <a:ea typeface="ＭＳ ゴシック" pitchFamily="49" charset="-128"/>
              </a:rPr>
              <a:t>1 </a:t>
            </a:r>
            <a:r>
              <a:rPr lang="ja-JP" altLang="en-US" sz="2000" dirty="0" smtClean="0">
                <a:latin typeface="ＭＳ ゴシック" pitchFamily="49" charset="-128"/>
                <a:ea typeface="ＭＳ ゴシック" pitchFamily="49" charset="-128"/>
              </a:rPr>
              <a:t>鉛筆         </a:t>
            </a:r>
            <a:r>
              <a:rPr lang="en-US" altLang="ja-JP" sz="2000" dirty="0" smtClean="0">
                <a:latin typeface="ＭＳ ゴシック" pitchFamily="49" charset="-128"/>
                <a:ea typeface="ＭＳ ゴシック" pitchFamily="49" charset="-128"/>
              </a:rPr>
              <a:t>80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2 </a:t>
            </a:r>
            <a:r>
              <a:rPr lang="ja-JP" altLang="en-US" sz="2000" dirty="0" smtClean="0">
                <a:latin typeface="ＭＳ ゴシック" pitchFamily="49" charset="-128"/>
                <a:ea typeface="ＭＳ ゴシック" pitchFamily="49" charset="-128"/>
              </a:rPr>
              <a:t>定規        </a:t>
            </a:r>
            <a:r>
              <a:rPr lang="en-US" altLang="ja-JP" sz="2000" dirty="0" smtClean="0">
                <a:latin typeface="ＭＳ ゴシック" pitchFamily="49" charset="-128"/>
                <a:ea typeface="ＭＳ ゴシック" pitchFamily="49" charset="-128"/>
              </a:rPr>
              <a:t>200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3 </a:t>
            </a:r>
            <a:r>
              <a:rPr lang="ja-JP" altLang="en-US" sz="2000" dirty="0" smtClean="0">
                <a:latin typeface="ＭＳ ゴシック" pitchFamily="49" charset="-128"/>
                <a:ea typeface="ＭＳ ゴシック" pitchFamily="49" charset="-128"/>
              </a:rPr>
              <a:t>けしごむ     </a:t>
            </a:r>
            <a:r>
              <a:rPr lang="en-US" altLang="ja-JP" sz="2000" dirty="0" smtClean="0">
                <a:latin typeface="ＭＳ ゴシック" pitchFamily="49" charset="-128"/>
                <a:ea typeface="ＭＳ ゴシック" pitchFamily="49" charset="-128"/>
              </a:rPr>
              <a:t>30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4 </a:t>
            </a:r>
            <a:r>
              <a:rPr lang="ja-JP" altLang="en-US" sz="2000" dirty="0" smtClean="0">
                <a:latin typeface="ＭＳ ゴシック" pitchFamily="49" charset="-128"/>
                <a:ea typeface="ＭＳ ゴシック" pitchFamily="49" charset="-128"/>
              </a:rPr>
              <a:t>電卓       </a:t>
            </a:r>
            <a:r>
              <a:rPr lang="en-US" altLang="ja-JP" sz="2000" dirty="0" smtClean="0">
                <a:latin typeface="ＭＳ ゴシック" pitchFamily="49" charset="-128"/>
                <a:ea typeface="ＭＳ ゴシック" pitchFamily="49" charset="-128"/>
              </a:rPr>
              <a:t>1000</a:t>
            </a:r>
            <a:r>
              <a:rPr lang="ja-JP" altLang="en-US" sz="2000" dirty="0" smtClean="0">
                <a:latin typeface="ＭＳ ゴシック" pitchFamily="49" charset="-128"/>
                <a:ea typeface="ＭＳ ゴシック" pitchFamily="49" charset="-128"/>
              </a:rPr>
              <a:t>円</a:t>
            </a:r>
          </a:p>
          <a:p>
            <a:r>
              <a:rPr lang="ja-JP" altLang="en-US" sz="2000" dirty="0" smtClean="0">
                <a:latin typeface="ＭＳ ゴシック" pitchFamily="49" charset="-128"/>
                <a:ea typeface="ＭＳ ゴシック" pitchFamily="49" charset="-128"/>
              </a:rPr>
              <a:t>商品番号と個数を入力</a:t>
            </a:r>
          </a:p>
          <a:p>
            <a:r>
              <a:rPr lang="ja-JP" altLang="en-US" sz="2000" dirty="0" smtClean="0">
                <a:latin typeface="ＭＳ ゴシック" pitchFamily="49" charset="-128"/>
                <a:ea typeface="ＭＳ ゴシック" pitchFamily="49" charset="-128"/>
              </a:rPr>
              <a:t>商品番号</a:t>
            </a:r>
            <a:r>
              <a:rPr lang="en-US" altLang="ja-JP" sz="2000" dirty="0" smtClean="0">
                <a:latin typeface="ＭＳ ゴシック" pitchFamily="49" charset="-128"/>
                <a:ea typeface="ＭＳ ゴシック" pitchFamily="49" charset="-128"/>
              </a:rPr>
              <a:t>: </a:t>
            </a:r>
            <a:r>
              <a:rPr lang="en-US" altLang="ja-JP" sz="2000" dirty="0" smtClean="0">
                <a:solidFill>
                  <a:srgbClr val="FF0000"/>
                </a:solidFill>
                <a:latin typeface="ＭＳ ゴシック" pitchFamily="49" charset="-128"/>
                <a:ea typeface="ＭＳ ゴシック" pitchFamily="49" charset="-128"/>
              </a:rPr>
              <a:t>2</a:t>
            </a:r>
          </a:p>
          <a:p>
            <a:r>
              <a:rPr lang="ja-JP" altLang="en-US" sz="2000" dirty="0" smtClean="0">
                <a:latin typeface="ＭＳ ゴシック" pitchFamily="49" charset="-128"/>
                <a:ea typeface="ＭＳ ゴシック" pitchFamily="49" charset="-128"/>
              </a:rPr>
              <a:t>個数</a:t>
            </a:r>
            <a:r>
              <a:rPr lang="en-US" altLang="ja-JP" sz="2000" dirty="0" smtClean="0">
                <a:latin typeface="ＭＳ ゴシック" pitchFamily="49" charset="-128"/>
                <a:ea typeface="ＭＳ ゴシック" pitchFamily="49" charset="-128"/>
              </a:rPr>
              <a:t>: </a:t>
            </a:r>
            <a:r>
              <a:rPr lang="en-US" altLang="ja-JP" sz="2000" dirty="0" smtClean="0">
                <a:solidFill>
                  <a:srgbClr val="FF0000"/>
                </a:solidFill>
                <a:latin typeface="ＭＳ ゴシック" pitchFamily="49" charset="-128"/>
                <a:ea typeface="ＭＳ ゴシック" pitchFamily="49" charset="-128"/>
              </a:rPr>
              <a:t>3</a:t>
            </a:r>
          </a:p>
          <a:p>
            <a:r>
              <a:rPr lang="ja-JP" altLang="en-US" sz="2000" dirty="0" smtClean="0">
                <a:latin typeface="ＭＳ ゴシック" pitchFamily="49" charset="-128"/>
                <a:ea typeface="ＭＳ ゴシック" pitchFamily="49" charset="-128"/>
              </a:rPr>
              <a:t>合計金額は</a:t>
            </a:r>
            <a:r>
              <a:rPr lang="en-US" altLang="ja-JP" sz="2000" dirty="0" smtClean="0">
                <a:latin typeface="ＭＳ ゴシック" pitchFamily="49" charset="-128"/>
                <a:ea typeface="ＭＳ ゴシック" pitchFamily="49" charset="-128"/>
              </a:rPr>
              <a:t>600</a:t>
            </a:r>
            <a:r>
              <a:rPr lang="ja-JP" altLang="en-US" sz="2000" dirty="0" smtClean="0">
                <a:latin typeface="ＭＳ ゴシック" pitchFamily="49" charset="-128"/>
                <a:ea typeface="ＭＳ ゴシック" pitchFamily="49" charset="-128"/>
              </a:rPr>
              <a:t>円</a:t>
            </a:r>
            <a:r>
              <a:rPr lang="ja-JP" altLang="en-US" sz="2000" dirty="0" smtClean="0">
                <a:latin typeface="ＭＳ ゴシック" pitchFamily="49" charset="-128"/>
                <a:ea typeface="ＭＳ ゴシック" pitchFamily="49" charset="-128"/>
              </a:rPr>
              <a:t>です</a:t>
            </a:r>
            <a:endParaRPr lang="en-US" altLang="ja-JP" sz="2000" dirty="0" smtClean="0">
              <a:latin typeface="ＭＳ ゴシック" pitchFamily="49" charset="-128"/>
              <a:ea typeface="ＭＳ ゴシック" pitchFamily="49" charset="-128"/>
            </a:endParaRPr>
          </a:p>
        </p:txBody>
      </p:sp>
      <p:sp>
        <p:nvSpPr>
          <p:cNvPr id="7" name="正方形/長方形 6"/>
          <p:cNvSpPr/>
          <p:nvPr/>
        </p:nvSpPr>
        <p:spPr>
          <a:xfrm>
            <a:off x="323528" y="4077072"/>
            <a:ext cx="3096344" cy="2554545"/>
          </a:xfrm>
          <a:prstGeom prst="rect">
            <a:avLst/>
          </a:prstGeom>
        </p:spPr>
        <p:txBody>
          <a:bodyPr wrap="square">
            <a:spAutoFit/>
          </a:bodyPr>
          <a:lstStyle/>
          <a:p>
            <a:r>
              <a:rPr lang="ja-JP" altLang="en-US" sz="2000" dirty="0" smtClean="0"/>
              <a:t>（参考）</a:t>
            </a:r>
            <a:endParaRPr lang="en-US" altLang="ja-JP" sz="2000" dirty="0" smtClean="0"/>
          </a:p>
          <a:p>
            <a:r>
              <a:rPr lang="en-US" altLang="ja-JP" sz="2000" dirty="0" smtClean="0"/>
              <a:t> </a:t>
            </a:r>
            <a:r>
              <a:rPr lang="en-US" altLang="ja-JP" sz="2000" dirty="0" err="1" smtClean="0"/>
              <a:t>fseek</a:t>
            </a:r>
            <a:r>
              <a:rPr lang="en-US" altLang="ja-JP" sz="2000" dirty="0" smtClean="0"/>
              <a:t> (</a:t>
            </a:r>
            <a:r>
              <a:rPr lang="en-US" altLang="ja-JP" sz="2000" dirty="0" err="1" smtClean="0"/>
              <a:t>fp</a:t>
            </a:r>
            <a:r>
              <a:rPr lang="en-US" altLang="ja-JP" sz="2000" dirty="0" smtClean="0"/>
              <a:t>, 0, SEEK_SET);</a:t>
            </a:r>
          </a:p>
          <a:p>
            <a:r>
              <a:rPr lang="ja-JP" altLang="en-US" sz="2000" dirty="0" err="1" smtClean="0"/>
              <a:t>のような</a:t>
            </a:r>
            <a:r>
              <a:rPr lang="ja-JP" altLang="en-US" sz="2000" dirty="0" smtClean="0"/>
              <a:t>関数呼び出しをすることによって、開いたファイル中の現在読み書きしている位置を先頭に戻すことができます。詳しくは</a:t>
            </a:r>
            <a:r>
              <a:rPr lang="en-US" altLang="ja-JP" sz="2000" dirty="0" smtClean="0"/>
              <a:t>man </a:t>
            </a:r>
            <a:r>
              <a:rPr lang="en-US" altLang="ja-JP" sz="2000" dirty="0" err="1" smtClean="0"/>
              <a:t>fseek</a:t>
            </a:r>
            <a:r>
              <a:rPr lang="ja-JP" altLang="en-US" sz="2000" dirty="0" smtClean="0"/>
              <a:t>で調べてください。</a:t>
            </a:r>
            <a:endParaRPr lang="en-US" altLang="ja-JP"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参考課題１</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smtClean="0"/>
              <a:t>キーボードからファイル名</a:t>
            </a:r>
            <a:r>
              <a:rPr lang="en-US" altLang="ja-JP" sz="2400" dirty="0" smtClean="0"/>
              <a:t>f</a:t>
            </a:r>
            <a:r>
              <a:rPr lang="ja-JP" altLang="en-US" sz="2400" dirty="0" smtClean="0"/>
              <a:t>および</a:t>
            </a:r>
            <a:r>
              <a:rPr lang="en-US" altLang="ja-JP" sz="2400" dirty="0" err="1" smtClean="0"/>
              <a:t>int</a:t>
            </a:r>
            <a:r>
              <a:rPr lang="ja-JP" altLang="en-US" sz="2400" dirty="0" smtClean="0"/>
              <a:t>型の数</a:t>
            </a:r>
            <a:r>
              <a:rPr lang="en-US" altLang="ja-JP" sz="2400" dirty="0" smtClean="0"/>
              <a:t>n</a:t>
            </a:r>
            <a:r>
              <a:rPr lang="ja-JP" altLang="en-US" sz="2400" dirty="0" smtClean="0"/>
              <a:t>を入力させ、</a:t>
            </a:r>
            <a:r>
              <a:rPr lang="en-US" altLang="ja-JP" sz="2400" dirty="0" smtClean="0"/>
              <a:t>n</a:t>
            </a:r>
            <a:r>
              <a:rPr lang="ja-JP" altLang="en-US" sz="2400" dirty="0" smtClean="0"/>
              <a:t>をファイル</a:t>
            </a:r>
            <a:r>
              <a:rPr lang="en-US" altLang="ja-JP" sz="2400" dirty="0" smtClean="0"/>
              <a:t>f</a:t>
            </a:r>
            <a:r>
              <a:rPr lang="ja-JP" altLang="en-US" sz="2400" dirty="0" smtClean="0"/>
              <a:t>に書きこむプログラムを書け。</a:t>
            </a:r>
            <a:endParaRPr lang="en-US" altLang="ja-JP" sz="2400" dirty="0" smtClean="0"/>
          </a:p>
        </p:txBody>
      </p:sp>
      <p:sp>
        <p:nvSpPr>
          <p:cNvPr id="6" name="正方形/長方形 5"/>
          <p:cNvSpPr/>
          <p:nvPr/>
        </p:nvSpPr>
        <p:spPr>
          <a:xfrm>
            <a:off x="1403648" y="2996952"/>
            <a:ext cx="6336704" cy="3046988"/>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smtClean="0"/>
              <a:t>./</a:t>
            </a:r>
            <a:r>
              <a:rPr lang="en-US" altLang="ja-JP" sz="2400" dirty="0" err="1" smtClean="0"/>
              <a:t>a.out</a:t>
            </a:r>
            <a:endParaRPr lang="en-US" altLang="ja-JP" sz="2400" dirty="0" smtClean="0"/>
          </a:p>
          <a:p>
            <a:r>
              <a:rPr lang="en-US" altLang="ja-JP" sz="2400" dirty="0" err="1" smtClean="0"/>
              <a:t>int</a:t>
            </a:r>
            <a:r>
              <a:rPr lang="ja-JP" altLang="en-US" sz="2400" dirty="0" smtClean="0"/>
              <a:t>型の数をファイルに書き込みます</a:t>
            </a:r>
          </a:p>
          <a:p>
            <a:r>
              <a:rPr lang="ja-JP" altLang="en-US" sz="2400" dirty="0" smtClean="0"/>
              <a:t>ファイル名を入力してください</a:t>
            </a:r>
            <a:r>
              <a:rPr lang="en-US" altLang="ja-JP" sz="2400" dirty="0" smtClean="0"/>
              <a:t>: </a:t>
            </a:r>
            <a:r>
              <a:rPr lang="en-US" altLang="ja-JP" sz="2400" dirty="0" err="1" smtClean="0">
                <a:solidFill>
                  <a:srgbClr val="FF0000"/>
                </a:solidFill>
              </a:rPr>
              <a:t>fff</a:t>
            </a:r>
            <a:endParaRPr lang="en-US" altLang="ja-JP" sz="2400" dirty="0" smtClean="0">
              <a:solidFill>
                <a:srgbClr val="FF0000"/>
              </a:solidFill>
            </a:endParaRPr>
          </a:p>
          <a:p>
            <a:r>
              <a:rPr lang="en-US" altLang="ja-JP" sz="2400" dirty="0" err="1" smtClean="0"/>
              <a:t>int</a:t>
            </a:r>
            <a:r>
              <a:rPr lang="ja-JP" altLang="en-US" sz="2400" dirty="0" smtClean="0"/>
              <a:t>型の数を入力してください</a:t>
            </a:r>
            <a:r>
              <a:rPr lang="en-US" altLang="ja-JP" sz="2400" dirty="0" smtClean="0"/>
              <a:t>: </a:t>
            </a:r>
            <a:r>
              <a:rPr lang="en-US" altLang="ja-JP" sz="2400" dirty="0" smtClean="0">
                <a:solidFill>
                  <a:srgbClr val="FF0000"/>
                </a:solidFill>
              </a:rPr>
              <a:t>300</a:t>
            </a:r>
          </a:p>
          <a:p>
            <a:r>
              <a:rPr lang="en-US" altLang="ja-JP" sz="2400" dirty="0" smtClean="0"/>
              <a:t>$ </a:t>
            </a:r>
            <a:r>
              <a:rPr lang="en-US" altLang="ja-JP" sz="2400" dirty="0" smtClean="0"/>
              <a:t>cat </a:t>
            </a:r>
            <a:r>
              <a:rPr lang="en-US" altLang="ja-JP" sz="2400" dirty="0" err="1" smtClean="0"/>
              <a:t>fff</a:t>
            </a:r>
            <a:endParaRPr lang="en-US" altLang="ja-JP" sz="2400" dirty="0" smtClean="0"/>
          </a:p>
          <a:p>
            <a:r>
              <a:rPr lang="en-US" altLang="ja-JP" sz="2400" dirty="0" smtClean="0"/>
              <a:t>300</a:t>
            </a:r>
          </a:p>
          <a:p>
            <a:r>
              <a:rPr lang="en-US" altLang="ja-JP" sz="2400" dirty="0" smtClean="0"/>
              <a:t>$</a:t>
            </a:r>
            <a:endParaRPr lang="en-US" altLang="ja-JP" sz="24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755576" y="692696"/>
            <a:ext cx="936104" cy="4954562"/>
          </a:xfrm>
        </p:spPr>
        <p:txBody>
          <a:bodyPr vert="eaVert">
            <a:normAutofit/>
          </a:bodyPr>
          <a:lstStyle/>
          <a:p>
            <a:r>
              <a:rPr kumimoji="1" lang="ja-JP" altLang="en-US" dirty="0" smtClean="0"/>
              <a:t>参考課題１　解答例</a:t>
            </a:r>
            <a:endParaRPr kumimoji="1" lang="ja-JP" altLang="en-US" dirty="0"/>
          </a:p>
        </p:txBody>
      </p:sp>
      <p:sp>
        <p:nvSpPr>
          <p:cNvPr id="4" name="正方形/長方形 3"/>
          <p:cNvSpPr/>
          <p:nvPr/>
        </p:nvSpPr>
        <p:spPr>
          <a:xfrm>
            <a:off x="2555776" y="349488"/>
            <a:ext cx="5472608" cy="6247864"/>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FILE *</a:t>
            </a:r>
            <a:r>
              <a:rPr lang="en-US" altLang="ja-JP" sz="2000" dirty="0" err="1" smtClean="0"/>
              <a:t>fp</a:t>
            </a:r>
            <a:r>
              <a:rPr lang="en-US" altLang="ja-JP" sz="2000" dirty="0" smtClean="0"/>
              <a:t>;</a:t>
            </a:r>
          </a:p>
          <a:p>
            <a:r>
              <a:rPr lang="en-US" altLang="ja-JP" sz="2000" dirty="0" smtClean="0"/>
              <a:t>  char </a:t>
            </a:r>
            <a:r>
              <a:rPr lang="en-US" altLang="ja-JP" sz="2000" dirty="0" err="1" smtClean="0"/>
              <a:t>fileName</a:t>
            </a:r>
            <a:r>
              <a:rPr lang="en-US" altLang="ja-JP" sz="2000" dirty="0" smtClean="0"/>
              <a:t>[30];</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printf</a:t>
            </a:r>
            <a:r>
              <a:rPr lang="en-US" altLang="ja-JP" sz="2000" dirty="0" smtClean="0"/>
              <a:t>("</a:t>
            </a:r>
            <a:r>
              <a:rPr lang="en-US" altLang="ja-JP" sz="2000" dirty="0" err="1" smtClean="0"/>
              <a:t>int</a:t>
            </a:r>
            <a:r>
              <a:rPr lang="ja-JP" altLang="en-US" sz="2000" dirty="0" smtClean="0"/>
              <a:t>型の数をファイルに書き込みます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ファイル名を入力してください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("%s", </a:t>
            </a:r>
            <a:r>
              <a:rPr lang="en-US" altLang="ja-JP" sz="2000" dirty="0" err="1" smtClean="0"/>
              <a:t>fileName</a:t>
            </a:r>
            <a:r>
              <a:rPr lang="en-US" altLang="ja-JP" sz="2000" dirty="0" smtClean="0"/>
              <a:t>);</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a:t>
            </a:r>
            <a:r>
              <a:rPr lang="en-US" altLang="ja-JP" sz="2000" dirty="0" err="1" smtClean="0"/>
              <a:t>fileName</a:t>
            </a:r>
            <a:r>
              <a:rPr lang="en-US" altLang="ja-JP" sz="2000" dirty="0" smtClean="0"/>
              <a:t>, "w");</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int</a:t>
            </a:r>
            <a:r>
              <a:rPr lang="ja-JP" altLang="en-US" sz="2000" dirty="0" smtClean="0"/>
              <a:t>型の数を入力してください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a:t>
            </a:r>
            <a:r>
              <a:rPr lang="en-US" altLang="ja-JP" sz="2000" dirty="0" err="1" smtClean="0"/>
              <a:t>fprintf</a:t>
            </a:r>
            <a:r>
              <a:rPr lang="en-US" altLang="ja-JP" sz="2000" dirty="0" smtClean="0"/>
              <a:t>(</a:t>
            </a:r>
            <a:r>
              <a:rPr lang="en-US" altLang="ja-JP" sz="2000" dirty="0" err="1" smtClean="0"/>
              <a:t>fp</a:t>
            </a:r>
            <a:r>
              <a:rPr lang="en-US" altLang="ja-JP" sz="2000" dirty="0" smtClean="0"/>
              <a:t>,"%d\n", n);</a:t>
            </a:r>
          </a:p>
          <a:p>
            <a:r>
              <a:rPr lang="en-US" altLang="ja-JP" sz="2000" dirty="0" smtClean="0"/>
              <a:t>  </a:t>
            </a:r>
            <a:r>
              <a:rPr lang="en-US" altLang="ja-JP" sz="2000" dirty="0" err="1" smtClean="0"/>
              <a:t>fclose</a:t>
            </a:r>
            <a:r>
              <a:rPr lang="en-US" altLang="ja-JP" sz="2000" dirty="0" smtClean="0"/>
              <a:t>(</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本演習で扱わなかった内容</a:t>
            </a:r>
            <a:endParaRPr kumimoji="1" lang="ja-JP" altLang="en-US" dirty="0"/>
          </a:p>
        </p:txBody>
      </p:sp>
      <p:sp>
        <p:nvSpPr>
          <p:cNvPr id="3" name="コンテンツ プレースホルダ 2"/>
          <p:cNvSpPr>
            <a:spLocks noGrp="1"/>
          </p:cNvSpPr>
          <p:nvPr>
            <p:ph idx="1"/>
          </p:nvPr>
        </p:nvSpPr>
        <p:spPr>
          <a:xfrm>
            <a:off x="571472" y="1072116"/>
            <a:ext cx="8229600" cy="4589132"/>
          </a:xfrm>
        </p:spPr>
        <p:txBody>
          <a:bodyPr>
            <a:noAutofit/>
          </a:bodyPr>
          <a:lstStyle/>
          <a:p>
            <a:r>
              <a:rPr lang="ja-JP" altLang="en-US" sz="2400" dirty="0" smtClean="0"/>
              <a:t>ビット演算（教科書 </a:t>
            </a:r>
            <a:r>
              <a:rPr lang="en-US" altLang="ja-JP" sz="2400" dirty="0" smtClean="0"/>
              <a:t>p.164-171</a:t>
            </a:r>
            <a:r>
              <a:rPr lang="ja-JP" altLang="en-US" sz="2400" dirty="0" smtClean="0"/>
              <a:t>）</a:t>
            </a:r>
            <a:endParaRPr lang="en-US" altLang="ja-JP" sz="2400" dirty="0" smtClean="0"/>
          </a:p>
          <a:p>
            <a:r>
              <a:rPr lang="ja-JP" altLang="en-US" sz="2400" dirty="0" smtClean="0"/>
              <a:t>関数へのポインタ（ポインタの極意 第９章）</a:t>
            </a:r>
            <a:endParaRPr lang="en-US" altLang="ja-JP" sz="2400" dirty="0" smtClean="0"/>
          </a:p>
          <a:p>
            <a:r>
              <a:rPr lang="en-US" altLang="ja-JP" sz="2400" dirty="0" smtClean="0"/>
              <a:t>switch</a:t>
            </a:r>
            <a:r>
              <a:rPr lang="ja-JP" altLang="en-US" sz="2400" dirty="0" smtClean="0"/>
              <a:t>文（教科書 </a:t>
            </a:r>
            <a:r>
              <a:rPr lang="en-US" altLang="ja-JP" sz="2400" dirty="0" smtClean="0"/>
              <a:t>p.54-57</a:t>
            </a:r>
            <a:r>
              <a:rPr lang="ja-JP" altLang="en-US" sz="2400" dirty="0" smtClean="0"/>
              <a:t>）</a:t>
            </a:r>
            <a:endParaRPr lang="en-US" altLang="ja-JP" sz="2400" dirty="0" smtClean="0"/>
          </a:p>
          <a:p>
            <a:r>
              <a:rPr lang="en-US" altLang="ja-JP" sz="2400" dirty="0" smtClean="0"/>
              <a:t>do while</a:t>
            </a:r>
            <a:r>
              <a:rPr lang="ja-JP" altLang="en-US" sz="2400" dirty="0" smtClean="0"/>
              <a:t>文（教科書 </a:t>
            </a:r>
            <a:r>
              <a:rPr lang="en-US" altLang="ja-JP" sz="2400" dirty="0" smtClean="0"/>
              <a:t>p.60-67</a:t>
            </a:r>
            <a:r>
              <a:rPr lang="ja-JP" altLang="en-US" sz="2400" dirty="0" smtClean="0"/>
              <a:t>）</a:t>
            </a:r>
            <a:endParaRPr lang="en-US" altLang="ja-JP" sz="2400" dirty="0" smtClean="0"/>
          </a:p>
          <a:p>
            <a:r>
              <a:rPr lang="ja-JP" altLang="en-US" sz="2400" dirty="0" smtClean="0"/>
              <a:t>マクロ（教科書</a:t>
            </a:r>
            <a:r>
              <a:rPr lang="en-US" altLang="ja-JP" sz="2400" dirty="0" smtClean="0"/>
              <a:t> p.96-97</a:t>
            </a:r>
            <a:r>
              <a:rPr lang="ja-JP" altLang="en-US" sz="2400" dirty="0" smtClean="0"/>
              <a:t>）</a:t>
            </a:r>
            <a:endParaRPr lang="en-US" altLang="ja-JP" sz="2400" dirty="0" smtClean="0"/>
          </a:p>
          <a:p>
            <a:r>
              <a:rPr lang="ja-JP" altLang="en-US" sz="2400" dirty="0" smtClean="0"/>
              <a:t>不完全型（実践編 </a:t>
            </a:r>
            <a:r>
              <a:rPr lang="en-US" altLang="ja-JP" sz="2400" dirty="0" smtClean="0"/>
              <a:t>p.27</a:t>
            </a:r>
            <a:r>
              <a:rPr lang="ja-JP" altLang="en-US" sz="2400" dirty="0" smtClean="0"/>
              <a:t>）</a:t>
            </a:r>
            <a:endParaRPr lang="en-US" altLang="ja-JP" sz="2400" dirty="0" smtClean="0"/>
          </a:p>
          <a:p>
            <a:r>
              <a:rPr lang="ja-JP" altLang="en-US" sz="2400" dirty="0" smtClean="0"/>
              <a:t>変数の記憶域期間（教科書</a:t>
            </a:r>
            <a:r>
              <a:rPr lang="en-US" altLang="ja-JP" sz="2400" dirty="0" smtClean="0"/>
              <a:t> p.142-145</a:t>
            </a:r>
            <a:r>
              <a:rPr lang="ja-JP" altLang="en-US" sz="2400" dirty="0" smtClean="0"/>
              <a:t>）</a:t>
            </a:r>
            <a:endParaRPr lang="en-US" altLang="ja-JP" sz="2400" dirty="0" smtClean="0"/>
          </a:p>
          <a:p>
            <a:r>
              <a:rPr lang="en-US" altLang="ja-JP" sz="2400" dirty="0" smtClean="0"/>
              <a:t>const</a:t>
            </a:r>
            <a:r>
              <a:rPr lang="ja-JP" altLang="en-US" sz="2400" dirty="0" smtClean="0"/>
              <a:t>型修飾子</a:t>
            </a:r>
            <a:r>
              <a:rPr lang="en-US" altLang="ja-JP" sz="2400" dirty="0" smtClean="0"/>
              <a:t>(</a:t>
            </a:r>
            <a:r>
              <a:rPr lang="ja-JP" altLang="en-US" sz="2400" dirty="0" smtClean="0"/>
              <a:t>教科書 </a:t>
            </a:r>
            <a:r>
              <a:rPr lang="en-US" altLang="ja-JP" sz="2400" dirty="0" smtClean="0"/>
              <a:t>p.133)</a:t>
            </a:r>
          </a:p>
          <a:p>
            <a:r>
              <a:rPr lang="ja-JP" altLang="en-US" sz="2400" dirty="0" smtClean="0"/>
              <a:t>複合代入演算子（教科書 </a:t>
            </a:r>
            <a:r>
              <a:rPr lang="en-US" altLang="ja-JP" sz="2400" dirty="0" smtClean="0"/>
              <a:t>p. 66</a:t>
            </a:r>
            <a:r>
              <a:rPr lang="ja-JP" altLang="en-US" sz="2400" dirty="0" smtClean="0"/>
              <a:t>）</a:t>
            </a:r>
            <a:endParaRPr lang="en-US" altLang="ja-JP" sz="2400" dirty="0" smtClean="0"/>
          </a:p>
        </p:txBody>
      </p:sp>
      <p:sp>
        <p:nvSpPr>
          <p:cNvPr id="4" name="テキスト ボックス 3"/>
          <p:cNvSpPr txBox="1"/>
          <p:nvPr/>
        </p:nvSpPr>
        <p:spPr>
          <a:xfrm>
            <a:off x="642910" y="5812713"/>
            <a:ext cx="7858180" cy="830997"/>
          </a:xfrm>
          <a:prstGeom prst="rect">
            <a:avLst/>
          </a:prstGeom>
          <a:noFill/>
        </p:spPr>
        <p:txBody>
          <a:bodyPr wrap="square" rtlCol="0">
            <a:spAutoFit/>
          </a:bodyPr>
          <a:lstStyle/>
          <a:p>
            <a:r>
              <a:rPr kumimoji="1" lang="ja-JP" altLang="en-US" sz="2400" dirty="0" smtClean="0"/>
              <a:t>これらについては、各自上記の教科書、参考書を参照してください。最終的には規格書を参照することになります。</a:t>
            </a:r>
            <a:endParaRPr kumimoji="1"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906</TotalTime>
  <Words>3343</Words>
  <Application>Microsoft Macintosh PowerPoint</Application>
  <PresentationFormat>画面に合わせる (4:3)</PresentationFormat>
  <Paragraphs>298</Paragraphs>
  <Slides>29</Slides>
  <Notes>0</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Office テーマ</vt:lpstr>
      <vt:lpstr>プログラミング入門</vt:lpstr>
      <vt:lpstr>確認事項</vt:lpstr>
      <vt:lpstr>今日の内容</vt:lpstr>
      <vt:lpstr>コンマ演算子</vt:lpstr>
      <vt:lpstr>コンマ演算子</vt:lpstr>
      <vt:lpstr>例（打ち込んで確認）</vt:lpstr>
      <vt:lpstr>for文に入れた例（打ち込んで確認）</vt:lpstr>
      <vt:lpstr>増分演算子（前置）</vt:lpstr>
      <vt:lpstr>典型例</vt:lpstr>
      <vt:lpstr>（参考） ++e と e=e+1 が異なる場合</vt:lpstr>
      <vt:lpstr>増分演算子（後置）</vt:lpstr>
      <vt:lpstr>ファイル処理</vt:lpstr>
      <vt:lpstr>例（入力して確認）</vt:lpstr>
      <vt:lpstr>FILE型</vt:lpstr>
      <vt:lpstr>ライブラリ関数fopen</vt:lpstr>
      <vt:lpstr>ライブラリ関数fclose</vt:lpstr>
      <vt:lpstr>ライブラリ関数fprintf</vt:lpstr>
      <vt:lpstr>例（打ち込んで確認）</vt:lpstr>
      <vt:lpstr>ライブラリ関数fscanf</vt:lpstr>
      <vt:lpstr>例（打ち込んで確認）</vt:lpstr>
      <vt:lpstr>基本課題１</vt:lpstr>
      <vt:lpstr>基本課題２</vt:lpstr>
      <vt:lpstr>発展課題１</vt:lpstr>
      <vt:lpstr>発展課題２</vt:lpstr>
      <vt:lpstr>発展課題３</vt:lpstr>
      <vt:lpstr>発展課題４</vt:lpstr>
      <vt:lpstr>参考課題１</vt:lpstr>
      <vt:lpstr>参考課題１　解答例</vt:lpstr>
      <vt:lpstr>本演習で扱わなかった内容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dc:title>
  <dc:creator>sasano</dc:creator>
  <cp:lastModifiedBy>Sasano Isao</cp:lastModifiedBy>
  <cp:revision>570</cp:revision>
  <dcterms:created xsi:type="dcterms:W3CDTF">2009-12-12T09:36:31Z</dcterms:created>
  <dcterms:modified xsi:type="dcterms:W3CDTF">2012-12-10T11:34:04Z</dcterms:modified>
</cp:coreProperties>
</file>