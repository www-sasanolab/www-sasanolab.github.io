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handoutMasterIdLst>
    <p:handoutMasterId r:id="rId49"/>
  </p:handoutMasterIdLst>
  <p:sldIdLst>
    <p:sldId id="256" r:id="rId2"/>
    <p:sldId id="258" r:id="rId3"/>
    <p:sldId id="259" r:id="rId4"/>
    <p:sldId id="260" r:id="rId5"/>
    <p:sldId id="261" r:id="rId6"/>
    <p:sldId id="262" r:id="rId7"/>
    <p:sldId id="313" r:id="rId8"/>
    <p:sldId id="263" r:id="rId9"/>
    <p:sldId id="264" r:id="rId10"/>
    <p:sldId id="265" r:id="rId11"/>
    <p:sldId id="267" r:id="rId12"/>
    <p:sldId id="279" r:id="rId13"/>
    <p:sldId id="280" r:id="rId14"/>
    <p:sldId id="281" r:id="rId15"/>
    <p:sldId id="282" r:id="rId16"/>
    <p:sldId id="283" r:id="rId17"/>
    <p:sldId id="314"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311" r:id="rId46"/>
    <p:sldId id="312" r:id="rId47"/>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9" d="100"/>
          <a:sy n="89" d="100"/>
        </p:scale>
        <p:origin x="-1320"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printerSettings" Target="printerSettings/printerSettings1.bin"/><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C3775AB-837E-6842-A901-4DC6AA024842}" type="datetimeFigureOut">
              <a:rPr kumimoji="1" lang="ja-JP" altLang="en-US" smtClean="0"/>
              <a:t>12/09/23</a:t>
            </a:fld>
            <a:endParaRPr kumimoji="1" lang="ja-JP" altLang="en-US"/>
          </a:p>
        </p:txBody>
      </p:sp>
      <p:sp>
        <p:nvSpPr>
          <p:cNvPr id="4" name="フッター プレースホルダー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AA0DE3D-C234-1046-981A-1777E005FA8C}" type="slidenum">
              <a:rPr kumimoji="1" lang="ja-JP" altLang="en-US" smtClean="0"/>
              <a:t>‹#›</a:t>
            </a:fld>
            <a:endParaRPr kumimoji="1" lang="ja-JP" altLang="en-US"/>
          </a:p>
        </p:txBody>
      </p:sp>
    </p:spTree>
    <p:extLst>
      <p:ext uri="{BB962C8B-B14F-4D97-AF65-F5344CB8AC3E}">
        <p14:creationId xmlns:p14="http://schemas.microsoft.com/office/powerpoint/2010/main" val="22305979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A362BF-D8A0-C64F-AB24-D7A33CA63938}" type="datetimeFigureOut">
              <a:rPr kumimoji="1" lang="ja-JP" altLang="en-US" smtClean="0"/>
              <a:t>12/09/23</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1487822-8E7B-9A44-A0BA-1C5E522C001E}" type="slidenum">
              <a:rPr kumimoji="1" lang="ja-JP" altLang="en-US" smtClean="0"/>
              <a:t>‹#›</a:t>
            </a:fld>
            <a:endParaRPr kumimoji="1" lang="ja-JP" altLang="en-US"/>
          </a:p>
        </p:txBody>
      </p:sp>
    </p:spTree>
    <p:extLst>
      <p:ext uri="{BB962C8B-B14F-4D97-AF65-F5344CB8AC3E}">
        <p14:creationId xmlns:p14="http://schemas.microsoft.com/office/powerpoint/2010/main" val="47125052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552EE19B-115C-0245-8DF4-70D050BD0903}" type="slidenum">
              <a:rPr kumimoji="0" lang="en-US" altLang="ja-JP" sz="1200">
                <a:latin typeface="Times" charset="0"/>
                <a:ea typeface="ＭＳ Ｐゴシック" charset="0"/>
                <a:cs typeface="ＭＳ Ｐゴシック" charset="0"/>
              </a:rPr>
              <a:pPr/>
              <a:t>2</a:t>
            </a:fld>
            <a:endParaRPr kumimoji="0" lang="en-US" altLang="ja-JP" sz="1200">
              <a:latin typeface="Times" charset="0"/>
              <a:ea typeface="ＭＳ Ｐゴシック" charset="0"/>
              <a:cs typeface="ＭＳ Ｐゴシック" charset="0"/>
            </a:endParaRPr>
          </a:p>
        </p:txBody>
      </p:sp>
      <p:sp>
        <p:nvSpPr>
          <p:cNvPr id="18434" name="Rectangle 1026"/>
          <p:cNvSpPr>
            <a:spLocks noGrp="1" noRot="1" noChangeAspect="1" noChangeArrowheads="1" noTextEdit="1"/>
          </p:cNvSpPr>
          <p:nvPr>
            <p:ph type="sldImg"/>
          </p:nvPr>
        </p:nvSpPr>
        <p:spPr>
          <a:ln/>
        </p:spPr>
      </p:sp>
      <p:sp>
        <p:nvSpPr>
          <p:cNvPr id="1843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83EC1512-CE19-FB49-BA79-B77455F5666D}" type="slidenum">
              <a:rPr kumimoji="0" lang="en-US" altLang="ja-JP" sz="1200">
                <a:latin typeface="Times" charset="0"/>
                <a:ea typeface="ＭＳ Ｐゴシック" charset="0"/>
                <a:cs typeface="ＭＳ Ｐゴシック" charset="0"/>
              </a:rPr>
              <a:pPr/>
              <a:t>3</a:t>
            </a:fld>
            <a:endParaRPr kumimoji="0" lang="en-US" altLang="ja-JP" sz="1200">
              <a:latin typeface="Times" charset="0"/>
              <a:ea typeface="ＭＳ Ｐゴシック" charset="0"/>
              <a:cs typeface="ＭＳ Ｐゴシック" charset="0"/>
            </a:endParaRPr>
          </a:p>
        </p:txBody>
      </p:sp>
      <p:sp>
        <p:nvSpPr>
          <p:cNvPr id="20482" name="Rectangle 1026"/>
          <p:cNvSpPr>
            <a:spLocks noGrp="1" noRot="1" noChangeAspect="1" noChangeArrowheads="1" noTextEdit="1"/>
          </p:cNvSpPr>
          <p:nvPr>
            <p:ph type="sldImg"/>
          </p:nvPr>
        </p:nvSpPr>
        <p:spPr>
          <a:ln/>
        </p:spPr>
      </p:sp>
      <p:sp>
        <p:nvSpPr>
          <p:cNvPr id="20483"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EFBDB7DF-860A-5546-A93A-42649BA4E25D}" type="slidenum">
              <a:rPr kumimoji="0" lang="en-US" altLang="ja-JP" sz="1200">
                <a:latin typeface="Times" charset="0"/>
                <a:ea typeface="ＭＳ Ｐゴシック" charset="0"/>
                <a:cs typeface="ＭＳ Ｐゴシック" charset="0"/>
              </a:rPr>
              <a:pPr/>
              <a:t>4</a:t>
            </a:fld>
            <a:endParaRPr kumimoji="0" lang="en-US" altLang="ja-JP" sz="1200">
              <a:latin typeface="Times" charset="0"/>
              <a:ea typeface="ＭＳ Ｐゴシック" charset="0"/>
              <a:cs typeface="ＭＳ Ｐゴシック" charset="0"/>
            </a:endParaRPr>
          </a:p>
        </p:txBody>
      </p:sp>
      <p:sp>
        <p:nvSpPr>
          <p:cNvPr id="22530" name="Rectangle 1026"/>
          <p:cNvSpPr>
            <a:spLocks noGrp="1" noRot="1" noChangeAspect="1" noChangeArrowheads="1" noTextEdit="1"/>
          </p:cNvSpPr>
          <p:nvPr>
            <p:ph type="sldImg"/>
          </p:nvPr>
        </p:nvSpPr>
        <p:spPr>
          <a:ln/>
        </p:spPr>
      </p:sp>
      <p:sp>
        <p:nvSpPr>
          <p:cNvPr id="22531"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0F991229-ED62-0246-827F-0C7ACDDEAE8A}" type="slidenum">
              <a:rPr kumimoji="0" lang="en-US" altLang="ja-JP" sz="1200">
                <a:latin typeface="Times" charset="0"/>
                <a:ea typeface="ＭＳ Ｐゴシック" charset="0"/>
                <a:cs typeface="ＭＳ Ｐゴシック" charset="0"/>
              </a:rPr>
              <a:pPr/>
              <a:t>5</a:t>
            </a:fld>
            <a:endParaRPr kumimoji="0" lang="en-US" altLang="ja-JP" sz="1200">
              <a:latin typeface="Times" charset="0"/>
              <a:ea typeface="ＭＳ Ｐゴシック" charset="0"/>
              <a:cs typeface="ＭＳ Ｐゴシック" charset="0"/>
            </a:endParaRPr>
          </a:p>
        </p:txBody>
      </p:sp>
      <p:sp>
        <p:nvSpPr>
          <p:cNvPr id="24578" name="Rectangle 1026"/>
          <p:cNvSpPr>
            <a:spLocks noGrp="1" noRot="1" noChangeAspect="1" noChangeArrowheads="1" noTextEdit="1"/>
          </p:cNvSpPr>
          <p:nvPr>
            <p:ph type="sldImg"/>
          </p:nvPr>
        </p:nvSpPr>
        <p:spPr>
          <a:ln/>
        </p:spPr>
      </p:sp>
      <p:sp>
        <p:nvSpPr>
          <p:cNvPr id="24579"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90FDBE8E-7EBC-534E-BB9B-12DFB49364F3}" type="slidenum">
              <a:rPr kumimoji="0" lang="en-US" altLang="ja-JP" sz="1200">
                <a:latin typeface="Times" charset="0"/>
                <a:ea typeface="ＭＳ Ｐゴシック" charset="0"/>
                <a:cs typeface="ＭＳ Ｐゴシック" charset="0"/>
              </a:rPr>
              <a:pPr/>
              <a:t>6</a:t>
            </a:fld>
            <a:endParaRPr kumimoji="0" lang="en-US" altLang="ja-JP" sz="1200">
              <a:latin typeface="Times" charset="0"/>
              <a:ea typeface="ＭＳ Ｐゴシック" charset="0"/>
              <a:cs typeface="ＭＳ Ｐゴシック" charset="0"/>
            </a:endParaRPr>
          </a:p>
        </p:txBody>
      </p:sp>
      <p:sp>
        <p:nvSpPr>
          <p:cNvPr id="26626" name="Rectangle 1026"/>
          <p:cNvSpPr>
            <a:spLocks noGrp="1" noRot="1" noChangeAspect="1" noChangeArrowheads="1" noTextEdit="1"/>
          </p:cNvSpPr>
          <p:nvPr>
            <p:ph type="sldImg"/>
          </p:nvPr>
        </p:nvSpPr>
        <p:spPr>
          <a:ln/>
        </p:spPr>
      </p:sp>
      <p:sp>
        <p:nvSpPr>
          <p:cNvPr id="2662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4FC5D087-B1B2-C74F-8DFF-BE6D00B6B89D}" type="slidenum">
              <a:rPr kumimoji="0" lang="en-US" altLang="ja-JP" sz="1200">
                <a:latin typeface="Times" charset="0"/>
                <a:ea typeface="ＭＳ Ｐゴシック" charset="0"/>
                <a:cs typeface="ＭＳ Ｐゴシック" charset="0"/>
              </a:rPr>
              <a:pPr/>
              <a:t>8</a:t>
            </a:fld>
            <a:endParaRPr kumimoji="0" lang="en-US" altLang="ja-JP" sz="1200">
              <a:latin typeface="Times" charset="0"/>
              <a:ea typeface="ＭＳ Ｐゴシック" charset="0"/>
              <a:cs typeface="ＭＳ Ｐゴシック" charset="0"/>
            </a:endParaRPr>
          </a:p>
        </p:txBody>
      </p:sp>
      <p:sp>
        <p:nvSpPr>
          <p:cNvPr id="28674" name="Rectangle 1026"/>
          <p:cNvSpPr>
            <a:spLocks noGrp="1" noRot="1" noChangeAspect="1" noChangeArrowheads="1" noTextEdit="1"/>
          </p:cNvSpPr>
          <p:nvPr>
            <p:ph type="sldImg"/>
          </p:nvPr>
        </p:nvSpPr>
        <p:spPr>
          <a:ln/>
        </p:spPr>
      </p:sp>
      <p:sp>
        <p:nvSpPr>
          <p:cNvPr id="28675"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B2F1C4B4-92F0-0440-B1AD-151713C70BF9}" type="slidenum">
              <a:rPr kumimoji="0" lang="en-US" altLang="ja-JP" sz="1200">
                <a:latin typeface="Times" charset="0"/>
                <a:ea typeface="ＭＳ Ｐゴシック" charset="0"/>
                <a:cs typeface="ＭＳ Ｐゴシック" charset="0"/>
              </a:rPr>
              <a:pPr/>
              <a:t>9</a:t>
            </a:fld>
            <a:endParaRPr kumimoji="0" lang="en-US" altLang="ja-JP" sz="1200">
              <a:latin typeface="Times" charset="0"/>
              <a:ea typeface="ＭＳ Ｐゴシック" charset="0"/>
              <a:cs typeface="ＭＳ Ｐゴシック" charset="0"/>
            </a:endParaRPr>
          </a:p>
        </p:txBody>
      </p:sp>
      <p:sp>
        <p:nvSpPr>
          <p:cNvPr id="30722" name="Rectangle 1026"/>
          <p:cNvSpPr>
            <a:spLocks noGrp="1" noRot="1" noChangeAspect="1" noChangeArrowheads="1" noTextEdit="1"/>
          </p:cNvSpPr>
          <p:nvPr>
            <p:ph type="sldImg"/>
          </p:nvPr>
        </p:nvSpPr>
        <p:spPr>
          <a:ln/>
        </p:spPr>
      </p:sp>
      <p:sp>
        <p:nvSpPr>
          <p:cNvPr id="30723"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fld id="{BE329C05-E0CB-A047-B6F4-211AD23E2496}" type="slidenum">
              <a:rPr kumimoji="0" lang="en-US" altLang="ja-JP" sz="1200">
                <a:latin typeface="Times" charset="0"/>
                <a:ea typeface="ＭＳ Ｐゴシック" charset="0"/>
                <a:cs typeface="ＭＳ Ｐゴシック" charset="0"/>
              </a:rPr>
              <a:pPr/>
              <a:t>10</a:t>
            </a:fld>
            <a:endParaRPr kumimoji="0" lang="en-US" altLang="ja-JP" sz="1200">
              <a:latin typeface="Times" charset="0"/>
              <a:ea typeface="ＭＳ Ｐゴシック" charset="0"/>
              <a:cs typeface="ＭＳ Ｐゴシック" charset="0"/>
            </a:endParaRPr>
          </a:p>
        </p:txBody>
      </p:sp>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endParaRPr kumimoji="0" lang="ja-JP" altLang="en-US">
              <a:latin typeface="Arial" charset="0"/>
              <a:ea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r>
              <a:rPr kumimoji="1" lang="ja-JP" altLang="en-US" smtClean="0"/>
              <a:t>第２回</a:t>
            </a:r>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23020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r>
              <a:rPr kumimoji="1" lang="ja-JP" altLang="en-US" smtClean="0"/>
              <a:t>第２回</a:t>
            </a:r>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821851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r>
              <a:rPr kumimoji="1" lang="ja-JP" altLang="en-US" smtClean="0"/>
              <a:t>第２回</a:t>
            </a:r>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585885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r>
              <a:rPr kumimoji="1" lang="ja-JP" altLang="en-US" smtClean="0"/>
              <a:t>第２回</a:t>
            </a:r>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867209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r>
              <a:rPr kumimoji="1" lang="ja-JP" altLang="en-US" smtClean="0"/>
              <a:t>第２回</a:t>
            </a:r>
            <a:endParaRPr kumimoji="1" lang="ja-JP" altLang="en-US"/>
          </a:p>
        </p:txBody>
      </p:sp>
      <p:sp>
        <p:nvSpPr>
          <p:cNvPr id="8" name="フッター プレースホルダー 7"/>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9" name="スライド番号プレースホルダー 8"/>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36555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r>
              <a:rPr kumimoji="1" lang="ja-JP" altLang="en-US" smtClean="0"/>
              <a:t>第２回</a:t>
            </a:r>
            <a:endParaRPr kumimoji="1" lang="ja-JP" altLang="en-US"/>
          </a:p>
        </p:txBody>
      </p:sp>
      <p:sp>
        <p:nvSpPr>
          <p:cNvPr id="4" name="フッター プレースホルダー 3"/>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5" name="スライド番号プレースホルダー 4"/>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050711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r>
              <a:rPr kumimoji="1" lang="ja-JP" altLang="en-US" smtClean="0"/>
              <a:t>第２回</a:t>
            </a:r>
            <a:endParaRPr kumimoji="1" lang="ja-JP" altLang="en-US"/>
          </a:p>
        </p:txBody>
      </p:sp>
      <p:sp>
        <p:nvSpPr>
          <p:cNvPr id="3" name="フッター プレースホルダー 2"/>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4" name="スライド番号プレースホルダー 3"/>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430795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r>
              <a:rPr kumimoji="1" lang="ja-JP" altLang="en-US" smtClean="0"/>
              <a:t>第２回</a:t>
            </a:r>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841779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r>
              <a:rPr kumimoji="1" lang="ja-JP" altLang="en-US" smtClean="0"/>
              <a:t>第２回</a:t>
            </a:r>
            <a:endParaRPr kumimoji="1" lang="ja-JP" altLang="en-US"/>
          </a:p>
        </p:txBody>
      </p:sp>
      <p:sp>
        <p:nvSpPr>
          <p:cNvPr id="6" name="フッター プレースホルダー 5"/>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7" name="スライド番号プレースホルダー 6"/>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3600722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r>
              <a:rPr kumimoji="1" lang="ja-JP" altLang="en-US" smtClean="0"/>
              <a:t>第２回</a:t>
            </a:r>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4236781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r>
              <a:rPr kumimoji="1" lang="ja-JP" altLang="en-US" smtClean="0"/>
              <a:t>第２回</a:t>
            </a:r>
            <a:endParaRPr kumimoji="1" lang="ja-JP" altLang="en-US"/>
          </a:p>
        </p:txBody>
      </p:sp>
      <p:sp>
        <p:nvSpPr>
          <p:cNvPr id="5" name="フッター プレースホルダー 4"/>
          <p:cNvSpPr>
            <a:spLocks noGrp="1"/>
          </p:cNvSpPr>
          <p:nvPr>
            <p:ph type="ftr" sz="quarter" idx="11"/>
          </p:nvPr>
        </p:nvSpPr>
        <p:spPr/>
        <p:txBody>
          <a:body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12"/>
          </p:nvPr>
        </p:nvSpPr>
        <p:spPr/>
        <p:txBody>
          <a:body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1272730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タイトル、テキスト、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smtClean="0"/>
              <a:t>マスタ タイトルの書式設定</a:t>
            </a:r>
            <a:endParaRPr lang="ja-JP" altLang="en-US"/>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Rectangle 4"/>
          <p:cNvSpPr>
            <a:spLocks noGrp="1" noChangeArrowheads="1"/>
          </p:cNvSpPr>
          <p:nvPr>
            <p:ph type="dt" sz="half" idx="10"/>
          </p:nvPr>
        </p:nvSpPr>
        <p:spPr/>
        <p:txBody>
          <a:bodyPr/>
          <a:lstStyle>
            <a:lvl1pPr>
              <a:defRPr/>
            </a:lvl1pPr>
          </a:lstStyle>
          <a:p>
            <a:pPr>
              <a:defRPr/>
            </a:pPr>
            <a:r>
              <a:rPr lang="ja-JP" altLang="en-US" smtClean="0"/>
              <a:t>第２回</a:t>
            </a:r>
            <a:endParaRPr lang="en-US" altLang="ja-JP"/>
          </a:p>
        </p:txBody>
      </p:sp>
      <p:sp>
        <p:nvSpPr>
          <p:cNvPr id="6" name="Rectangle 5"/>
          <p:cNvSpPr>
            <a:spLocks noGrp="1" noChangeArrowheads="1"/>
          </p:cNvSpPr>
          <p:nvPr>
            <p:ph type="ftr" sz="quarter" idx="11"/>
          </p:nvPr>
        </p:nvSpPr>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2"/>
          </p:nvPr>
        </p:nvSpPr>
        <p:spPr/>
        <p:txBody>
          <a:bodyPr/>
          <a:lstStyle>
            <a:lvl1pPr>
              <a:defRPr smtClean="0"/>
            </a:lvl1pPr>
          </a:lstStyle>
          <a:p>
            <a:pPr>
              <a:defRPr/>
            </a:pPr>
            <a:fld id="{CD4ADC2E-2136-A841-9B99-53F07E5479AF}" type="slidenum">
              <a:rPr lang="en-US" altLang="ja-JP"/>
              <a:pPr>
                <a:defRPr/>
              </a:pPr>
              <a:t>‹#›</a:t>
            </a:fld>
            <a:endParaRPr lang="en-US" altLang="ja-JP"/>
          </a:p>
        </p:txBody>
      </p:sp>
    </p:spTree>
    <p:extLst>
      <p:ext uri="{BB962C8B-B14F-4D97-AF65-F5344CB8AC3E}">
        <p14:creationId xmlns:p14="http://schemas.microsoft.com/office/powerpoint/2010/main" val="194103532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kumimoji="1" lang="ja-JP" altLang="en-US" smtClean="0"/>
              <a:t>第２回</a:t>
            </a:r>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kumimoji="1" lang="ja-JP" altLang="en-US" smtClean="0"/>
              <a:t>プログラミング入門２</a:t>
            </a:r>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1C5F77-F8E5-BA43-B41B-31660F2E33AF}" type="slidenum">
              <a:rPr kumimoji="1" lang="ja-JP" altLang="en-US" smtClean="0"/>
              <a:t>‹#›</a:t>
            </a:fld>
            <a:endParaRPr kumimoji="1" lang="ja-JP" altLang="en-US"/>
          </a:p>
        </p:txBody>
      </p:sp>
    </p:spTree>
    <p:extLst>
      <p:ext uri="{BB962C8B-B14F-4D97-AF65-F5344CB8AC3E}">
        <p14:creationId xmlns:p14="http://schemas.microsoft.com/office/powerpoint/2010/main" val="2872315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sasano@sic.shibaura-it.ac.jp" TargetMode="External"/><Relationship Id="rId4" Type="http://schemas.openxmlformats.org/officeDocument/2006/relationships/hyperlink" Target="http://www.sic.shibaura-it.ac.jp/~sasano/lecture/lecture.html" TargetMode="External"/><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438361"/>
            <a:ext cx="7772400" cy="1470025"/>
          </a:xfrm>
        </p:spPr>
        <p:txBody>
          <a:bodyPr/>
          <a:lstStyle/>
          <a:p>
            <a:r>
              <a:rPr lang="ja-JP" altLang="en-US" dirty="0">
                <a:ea typeface="ＭＳ Ｐゴシック" pitchFamily="-112" charset="-128"/>
              </a:rPr>
              <a:t>プログラミング入門</a:t>
            </a:r>
            <a:r>
              <a:rPr lang="ja-JP" altLang="en-US" dirty="0" smtClean="0">
                <a:ea typeface="ＭＳ Ｐゴシック" pitchFamily="-112" charset="-128"/>
              </a:rPr>
              <a:t>２</a:t>
            </a:r>
            <a:endParaRPr kumimoji="1" lang="ja-JP" altLang="en-US" dirty="0"/>
          </a:p>
        </p:txBody>
      </p:sp>
      <p:sp>
        <p:nvSpPr>
          <p:cNvPr id="4" name="Text Box 18"/>
          <p:cNvSpPr txBox="1">
            <a:spLocks noChangeArrowheads="1"/>
          </p:cNvSpPr>
          <p:nvPr/>
        </p:nvSpPr>
        <p:spPr bwMode="auto">
          <a:xfrm>
            <a:off x="905141" y="3251205"/>
            <a:ext cx="7459494" cy="1200329"/>
          </a:xfrm>
          <a:prstGeom prst="rect">
            <a:avLst/>
          </a:prstGeom>
          <a:noFill/>
          <a:ln w="9525">
            <a:noFill/>
            <a:miter lim="800000"/>
            <a:headEnd/>
            <a:tailEnd/>
          </a:ln>
          <a:effectLst/>
        </p:spPr>
        <p:txBody>
          <a:bodyPr wrap="none">
            <a:spAutoFit/>
          </a:bodyPr>
          <a:lstStyle/>
          <a:p>
            <a:pPr algn="ctr">
              <a:defRPr/>
            </a:pPr>
            <a:r>
              <a:rPr lang="ja-JP" altLang="en-US" sz="3600" dirty="0" smtClean="0">
                <a:ea typeface="ＭＳ Ｐゴシック" pitchFamily="-112" charset="-128"/>
              </a:rPr>
              <a:t>第１回</a:t>
            </a:r>
            <a:r>
              <a:rPr lang="en-US" altLang="ja-JP" sz="3600" dirty="0" smtClean="0">
                <a:ea typeface="ＭＳ Ｐゴシック" pitchFamily="-112" charset="-128"/>
              </a:rPr>
              <a:t> </a:t>
            </a:r>
            <a:endParaRPr lang="en-US" altLang="ja-JP" sz="3600" dirty="0" smtClean="0">
              <a:ea typeface="ＭＳ Ｐゴシック" pitchFamily="-112" charset="-128"/>
            </a:endParaRPr>
          </a:p>
          <a:p>
            <a:pPr algn="ctr">
              <a:defRPr/>
            </a:pPr>
            <a:r>
              <a:rPr lang="ja-JP" altLang="en-US" sz="3600" dirty="0" smtClean="0">
                <a:ea typeface="ＭＳ Ｐゴシック" pitchFamily="-112" charset="-128"/>
              </a:rPr>
              <a:t>導入</a:t>
            </a:r>
            <a:r>
              <a:rPr lang="ja-JP" altLang="en-US" sz="3600" dirty="0" smtClean="0">
                <a:ea typeface="ＭＳ Ｐゴシック" pitchFamily="-112" charset="-128"/>
              </a:rPr>
              <a:t>、</a:t>
            </a:r>
            <a:r>
              <a:rPr kumimoji="0" lang="ja-JP" altLang="en-US" sz="3600" dirty="0" smtClean="0">
                <a:latin typeface="News Gothic" charset="0"/>
              </a:rPr>
              <a:t>型</a:t>
            </a:r>
            <a:r>
              <a:rPr kumimoji="0" lang="ja-JP" altLang="en-US" sz="3600" dirty="0">
                <a:latin typeface="News Gothic" charset="0"/>
              </a:rPr>
              <a:t>と演算、条件分岐、式の</a:t>
            </a:r>
            <a:r>
              <a:rPr kumimoji="0" lang="ja-JP" altLang="en-US" sz="3600" dirty="0" smtClean="0">
                <a:latin typeface="News Gothic" charset="0"/>
              </a:rPr>
              <a:t>評価</a:t>
            </a:r>
            <a:endParaRPr kumimoji="0" lang="ja-JP" altLang="en-US" sz="3600" dirty="0">
              <a:latin typeface="News Gothic" charset="0"/>
            </a:endParaRPr>
          </a:p>
        </p:txBody>
      </p:sp>
      <p:sp>
        <p:nvSpPr>
          <p:cNvPr id="5" name="Text Box 17"/>
          <p:cNvSpPr txBox="1">
            <a:spLocks noChangeArrowheads="1"/>
          </p:cNvSpPr>
          <p:nvPr/>
        </p:nvSpPr>
        <p:spPr bwMode="auto">
          <a:xfrm>
            <a:off x="1676400" y="5337551"/>
            <a:ext cx="6096000" cy="1077912"/>
          </a:xfrm>
          <a:prstGeom prst="rect">
            <a:avLst/>
          </a:prstGeom>
          <a:noFill/>
          <a:ln w="9525">
            <a:noFill/>
            <a:miter lim="800000"/>
            <a:headEnd/>
            <a:tailEnd/>
          </a:ln>
          <a:effectLst/>
        </p:spPr>
        <p:txBody>
          <a:bodyPr>
            <a:spAutoFit/>
          </a:bodyPr>
          <a:lstStyle/>
          <a:p>
            <a:pPr algn="ctr">
              <a:defRPr/>
            </a:pPr>
            <a:r>
              <a:rPr lang="ja-JP" altLang="en-US" sz="3200" dirty="0">
                <a:ea typeface="ＭＳ Ｐゴシック" pitchFamily="-112" charset="-128"/>
                <a:cs typeface="+mn-cs"/>
              </a:rPr>
              <a:t>情報工学科</a:t>
            </a:r>
            <a:endParaRPr lang="en-US" altLang="ja-JP" sz="3200" dirty="0">
              <a:ea typeface="ＭＳ Ｐゴシック" pitchFamily="-112" charset="-128"/>
              <a:cs typeface="+mn-cs"/>
            </a:endParaRPr>
          </a:p>
          <a:p>
            <a:pPr algn="ctr">
              <a:defRPr/>
            </a:pPr>
            <a:r>
              <a:rPr lang="ja-JP" altLang="en-US" sz="3200" dirty="0">
                <a:ea typeface="ＭＳ Ｐゴシック" pitchFamily="-112" charset="-128"/>
                <a:cs typeface="+mn-cs"/>
              </a:rPr>
              <a:t>篠埜　功</a:t>
            </a:r>
          </a:p>
        </p:txBody>
      </p:sp>
    </p:spTree>
    <p:extLst>
      <p:ext uri="{BB962C8B-B14F-4D97-AF65-F5344CB8AC3E}">
        <p14:creationId xmlns:p14="http://schemas.microsoft.com/office/powerpoint/2010/main" val="2682846015"/>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550512" y="342484"/>
            <a:ext cx="7620000" cy="685800"/>
          </a:xfrm>
        </p:spPr>
        <p:txBody>
          <a:bodyPr>
            <a:normAutofit/>
          </a:bodyPr>
          <a:lstStyle/>
          <a:p>
            <a:r>
              <a:rPr kumimoji="0" lang="ja-JP" altLang="en-US" sz="3600" dirty="0">
                <a:latin typeface="Calibri" charset="0"/>
              </a:rPr>
              <a:t>講義情報</a:t>
            </a:r>
          </a:p>
        </p:txBody>
      </p:sp>
      <p:sp>
        <p:nvSpPr>
          <p:cNvPr id="17410" name="Rectangle 3"/>
          <p:cNvSpPr>
            <a:spLocks noGrp="1" noChangeArrowheads="1"/>
          </p:cNvSpPr>
          <p:nvPr>
            <p:ph idx="1"/>
          </p:nvPr>
        </p:nvSpPr>
        <p:spPr>
          <a:xfrm>
            <a:off x="250825" y="1309355"/>
            <a:ext cx="8607425" cy="5113337"/>
          </a:xfrm>
        </p:spPr>
        <p:txBody>
          <a:bodyPr/>
          <a:lstStyle/>
          <a:p>
            <a:pPr>
              <a:lnSpc>
                <a:spcPct val="90000"/>
              </a:lnSpc>
            </a:pPr>
            <a:r>
              <a:rPr kumimoji="0" lang="ja-JP" altLang="en-US" sz="2400" dirty="0">
                <a:latin typeface="News Gothic" charset="0"/>
              </a:rPr>
              <a:t>担当教員</a:t>
            </a:r>
          </a:p>
          <a:p>
            <a:pPr lvl="1">
              <a:lnSpc>
                <a:spcPct val="90000"/>
              </a:lnSpc>
            </a:pPr>
            <a:r>
              <a:rPr kumimoji="0" lang="ja-JP" altLang="en-US" sz="2400" dirty="0">
                <a:latin typeface="ＭＳ ゴシック" charset="0"/>
                <a:ea typeface="ＭＳ ゴシック" charset="0"/>
                <a:cs typeface="ＭＳ ゴシック" charset="0"/>
              </a:rPr>
              <a:t>篠埜　功</a:t>
            </a:r>
            <a:endParaRPr kumimoji="0" lang="en-US" altLang="ja-JP" sz="2400" dirty="0">
              <a:latin typeface="ＭＳ ゴシック" charset="0"/>
              <a:ea typeface="ＭＳ ゴシック" charset="0"/>
              <a:cs typeface="ＭＳ ゴシック" charset="0"/>
            </a:endParaRPr>
          </a:p>
          <a:p>
            <a:pPr lvl="1">
              <a:lnSpc>
                <a:spcPct val="90000"/>
              </a:lnSpc>
            </a:pPr>
            <a:r>
              <a:rPr kumimoji="0" lang="ja-JP" altLang="en-US" sz="2400" dirty="0">
                <a:latin typeface="ＭＳ ゴシック" charset="0"/>
                <a:ea typeface="ＭＳ ゴシック" charset="0"/>
                <a:cs typeface="ＭＳ ゴシック" charset="0"/>
              </a:rPr>
              <a:t>居室 豊洲校舎 </a:t>
            </a:r>
            <a:r>
              <a:rPr kumimoji="0" lang="en-US" altLang="ja-JP" sz="2400" dirty="0">
                <a:latin typeface="ＭＳ ゴシック" charset="0"/>
                <a:ea typeface="ＭＳ ゴシック" charset="0"/>
                <a:cs typeface="ＭＳ ゴシック" charset="0"/>
              </a:rPr>
              <a:t>14</a:t>
            </a:r>
            <a:r>
              <a:rPr kumimoji="0" lang="ja-JP" altLang="en-US" sz="2400" dirty="0">
                <a:latin typeface="ＭＳ ゴシック" charset="0"/>
                <a:ea typeface="ＭＳ ゴシック" charset="0"/>
                <a:cs typeface="ＭＳ ゴシック" charset="0"/>
              </a:rPr>
              <a:t>階 </a:t>
            </a:r>
            <a:r>
              <a:rPr kumimoji="0" lang="en-US" altLang="ja-JP" sz="2400" dirty="0">
                <a:latin typeface="ＭＳ ゴシック" charset="0"/>
                <a:ea typeface="ＭＳ ゴシック" charset="0"/>
                <a:cs typeface="ＭＳ ゴシック" charset="0"/>
              </a:rPr>
              <a:t>14K32</a:t>
            </a:r>
          </a:p>
          <a:p>
            <a:pPr lvl="1">
              <a:lnSpc>
                <a:spcPct val="90000"/>
              </a:lnSpc>
            </a:pPr>
            <a:r>
              <a:rPr kumimoji="0" lang="en-US" altLang="ja-JP" sz="2400" dirty="0">
                <a:latin typeface="ＭＳ ゴシック" charset="0"/>
                <a:ea typeface="ＭＳ ゴシック" charset="0"/>
                <a:cs typeface="ＭＳ ゴシック" charset="0"/>
              </a:rPr>
              <a:t>E-mail: </a:t>
            </a:r>
            <a:r>
              <a:rPr kumimoji="0" lang="en-US" altLang="ja-JP" sz="2400" dirty="0">
                <a:latin typeface="ＭＳ ゴシック" charset="0"/>
                <a:ea typeface="ＭＳ ゴシック" charset="0"/>
                <a:cs typeface="ＭＳ ゴシック" charset="0"/>
                <a:hlinkClick r:id="rId3"/>
              </a:rPr>
              <a:t>sasano@sic.shibaura-it.ac.jp</a:t>
            </a:r>
            <a:endParaRPr kumimoji="0" lang="en-US" altLang="ja-JP" sz="2400" dirty="0">
              <a:latin typeface="Syntax" charset="0"/>
              <a:cs typeface="ＭＳ Ｐゴシック" charset="0"/>
            </a:endParaRPr>
          </a:p>
          <a:p>
            <a:pPr>
              <a:lnSpc>
                <a:spcPct val="90000"/>
              </a:lnSpc>
            </a:pPr>
            <a:r>
              <a:rPr kumimoji="0" lang="ja-JP" altLang="en-US" sz="2400" dirty="0">
                <a:latin typeface="News Gothic" charset="0"/>
              </a:rPr>
              <a:t>講義用</a:t>
            </a:r>
            <a:r>
              <a:rPr kumimoji="0" lang="en-US" altLang="ja-JP" sz="2400" dirty="0">
                <a:latin typeface="News Gothic" charset="0"/>
              </a:rPr>
              <a:t>web page</a:t>
            </a:r>
          </a:p>
          <a:p>
            <a:pPr>
              <a:lnSpc>
                <a:spcPct val="90000"/>
              </a:lnSpc>
              <a:buFont typeface="Wingdings" charset="0"/>
              <a:buNone/>
            </a:pPr>
            <a:r>
              <a:rPr kumimoji="0" lang="en-US" altLang="ja-JP" sz="2400" dirty="0">
                <a:latin typeface="News Gothic" charset="0"/>
              </a:rPr>
              <a:t>    </a:t>
            </a:r>
            <a:r>
              <a:rPr kumimoji="0" lang="en-US" altLang="ja-JP" sz="2400" dirty="0">
                <a:latin typeface="News Gothic" charset="0"/>
                <a:hlinkClick r:id="rId4"/>
              </a:rPr>
              <a:t> </a:t>
            </a:r>
            <a:r>
              <a:rPr lang="en-US" altLang="ja-JP" sz="2400" dirty="0">
                <a:latin typeface="News Gothic" charset="0"/>
                <a:ea typeface="ヒラギノ角ゴ Pro W3" charset="0"/>
                <a:cs typeface="ヒラギノ角ゴ Pro W3" charset="0"/>
                <a:hlinkClick r:id="rId4"/>
              </a:rPr>
              <a:t>http://www.sic.shibaura-it.ac.jp/~sasano/lecture/lecture.html</a:t>
            </a:r>
            <a:endParaRPr lang="en-US" altLang="ja-JP" sz="2400" dirty="0">
              <a:latin typeface="News Gothic" charset="0"/>
              <a:ea typeface="ヒラギノ角ゴ Pro W3" charset="0"/>
              <a:cs typeface="ヒラギノ角ゴ Pro W3" charset="0"/>
            </a:endParaRPr>
          </a:p>
          <a:p>
            <a:pPr>
              <a:lnSpc>
                <a:spcPct val="90000"/>
              </a:lnSpc>
              <a:buFont typeface="Wingdings" charset="0"/>
              <a:buNone/>
            </a:pPr>
            <a:r>
              <a:rPr kumimoji="0" lang="en-US" altLang="ja-JP" sz="2400" dirty="0">
                <a:latin typeface="News Gothic" charset="0"/>
              </a:rPr>
              <a:t>      </a:t>
            </a:r>
            <a:r>
              <a:rPr kumimoji="0" lang="ja-JP" altLang="en-US" sz="2400" dirty="0">
                <a:latin typeface="News Gothic" charset="0"/>
              </a:rPr>
              <a:t>ここへ毎回講義用資料を置く。</a:t>
            </a:r>
            <a:endParaRPr kumimoji="0" lang="en-US" altLang="ja-JP" sz="2400" dirty="0">
              <a:latin typeface="News Gothic" charset="0"/>
            </a:endParaRPr>
          </a:p>
          <a:p>
            <a:pPr>
              <a:lnSpc>
                <a:spcPct val="90000"/>
              </a:lnSpc>
            </a:pPr>
            <a:r>
              <a:rPr kumimoji="0" lang="ja-JP" altLang="en-US" sz="2400" dirty="0">
                <a:latin typeface="News Gothic" charset="0"/>
              </a:rPr>
              <a:t>時間・場所</a:t>
            </a:r>
          </a:p>
          <a:p>
            <a:pPr lvl="1">
              <a:lnSpc>
                <a:spcPct val="90000"/>
              </a:lnSpc>
            </a:pPr>
            <a:r>
              <a:rPr kumimoji="0" lang="ja-JP" altLang="en-US" sz="2400" dirty="0">
                <a:latin typeface="Syntax" charset="0"/>
                <a:cs typeface="ＭＳ Ｐゴシック" charset="0"/>
              </a:rPr>
              <a:t>月曜日　</a:t>
            </a:r>
            <a:r>
              <a:rPr kumimoji="0" lang="en-US" altLang="ja-JP" sz="2400" dirty="0">
                <a:latin typeface="Syntax" charset="0"/>
                <a:cs typeface="ＭＳ Ｐゴシック" charset="0"/>
              </a:rPr>
              <a:t>3</a:t>
            </a:r>
            <a:r>
              <a:rPr kumimoji="0" lang="ja-JP" altLang="en-US" sz="2400" dirty="0">
                <a:latin typeface="Syntax" charset="0"/>
                <a:cs typeface="ＭＳ Ｐゴシック" charset="0"/>
              </a:rPr>
              <a:t>～</a:t>
            </a:r>
            <a:r>
              <a:rPr kumimoji="0" lang="en-US" altLang="ja-JP" sz="2400" dirty="0">
                <a:latin typeface="Syntax" charset="0"/>
                <a:cs typeface="ＭＳ Ｐゴシック" charset="0"/>
              </a:rPr>
              <a:t>4</a:t>
            </a:r>
            <a:r>
              <a:rPr kumimoji="0" lang="ja-JP" altLang="en-US" sz="2400" dirty="0">
                <a:latin typeface="Syntax" charset="0"/>
                <a:cs typeface="ＭＳ Ｐゴシック" charset="0"/>
              </a:rPr>
              <a:t>限</a:t>
            </a:r>
          </a:p>
          <a:p>
            <a:pPr lvl="1">
              <a:lnSpc>
                <a:spcPct val="90000"/>
              </a:lnSpc>
            </a:pPr>
            <a:r>
              <a:rPr lang="en-US" altLang="zh-TW" sz="2400" dirty="0">
                <a:latin typeface="Syntax" charset="0"/>
                <a:ea typeface="ヒラギノ角ゴ Pro W3" charset="0"/>
                <a:cs typeface="ヒラギノ角ゴ Pro W3" charset="0"/>
              </a:rPr>
              <a:t>2</a:t>
            </a:r>
            <a:r>
              <a:rPr lang="zh-TW" altLang="en-US" sz="2400" dirty="0">
                <a:latin typeface="Syntax" charset="0"/>
                <a:ea typeface="ヒラギノ角ゴ Pro W3" charset="0"/>
                <a:cs typeface="ヒラギノ角ゴ Pro W3" charset="0"/>
              </a:rPr>
              <a:t>号館</a:t>
            </a:r>
            <a:r>
              <a:rPr lang="en-US" altLang="zh-TW" sz="2400" dirty="0">
                <a:latin typeface="Syntax" charset="0"/>
                <a:ea typeface="ヒラギノ角ゴ Pro W3" charset="0"/>
                <a:cs typeface="ヒラギノ角ゴ Pro W3" charset="0"/>
              </a:rPr>
              <a:t>PC</a:t>
            </a:r>
            <a:r>
              <a:rPr lang="zh-TW" altLang="en-US" sz="2400" dirty="0">
                <a:latin typeface="Syntax" charset="0"/>
                <a:ea typeface="ヒラギノ角ゴ Pro W3" charset="0"/>
                <a:cs typeface="ヒラギノ角ゴ Pro W3" charset="0"/>
              </a:rPr>
              <a:t>実習室</a:t>
            </a:r>
            <a:r>
              <a:rPr lang="en-US" altLang="zh-TW" sz="2400" dirty="0">
                <a:latin typeface="Syntax" charset="0"/>
                <a:ea typeface="ヒラギノ角ゴ Pro W3" charset="0"/>
                <a:cs typeface="ヒラギノ角ゴ Pro W3" charset="0"/>
              </a:rPr>
              <a:t>6,7,8</a:t>
            </a:r>
          </a:p>
          <a:p>
            <a:pPr lvl="1">
              <a:lnSpc>
                <a:spcPct val="90000"/>
              </a:lnSpc>
            </a:pPr>
            <a:r>
              <a:rPr kumimoji="0" lang="en-US" altLang="ja-JP" sz="2400" dirty="0">
                <a:latin typeface="Syntax" charset="0"/>
                <a:cs typeface="ＭＳ Ｐゴシック" charset="0"/>
              </a:rPr>
              <a:t>12:50-13:10</a:t>
            </a:r>
            <a:r>
              <a:rPr kumimoji="0" lang="ja-JP" altLang="en-US" sz="2400" dirty="0">
                <a:latin typeface="Syntax" charset="0"/>
                <a:cs typeface="ＭＳ Ｐゴシック" charset="0"/>
              </a:rPr>
              <a:t>はホームルームの時間とする。		</a:t>
            </a:r>
          </a:p>
          <a:p>
            <a:pPr lvl="1">
              <a:lnSpc>
                <a:spcPct val="90000"/>
              </a:lnSpc>
              <a:buFont typeface="Wingdings" charset="0"/>
              <a:buNone/>
            </a:pPr>
            <a:endParaRPr kumimoji="0" lang="en-US" altLang="ja-JP" dirty="0">
              <a:latin typeface="Syntax" charset="0"/>
              <a:cs typeface="ＭＳ Ｐゴシック" charset="0"/>
            </a:endParaRPr>
          </a:p>
        </p:txBody>
      </p:sp>
    </p:spTree>
    <p:extLst>
      <p:ext uri="{BB962C8B-B14F-4D97-AF65-F5344CB8AC3E}">
        <p14:creationId xmlns:p14="http://schemas.microsoft.com/office/powerpoint/2010/main" val="3693643190"/>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758809" y="411156"/>
            <a:ext cx="7620000" cy="685800"/>
          </a:xfrm>
        </p:spPr>
        <p:txBody>
          <a:bodyPr/>
          <a:lstStyle/>
          <a:p>
            <a:pPr>
              <a:lnSpc>
                <a:spcPct val="90000"/>
              </a:lnSpc>
            </a:pPr>
            <a:r>
              <a:rPr kumimoji="0" lang="ja-JP" altLang="en-US" sz="3600" dirty="0">
                <a:latin typeface="Calibri" charset="0"/>
              </a:rPr>
              <a:t>本講義（演習）の目的</a:t>
            </a:r>
          </a:p>
        </p:txBody>
      </p:sp>
      <p:sp>
        <p:nvSpPr>
          <p:cNvPr id="19458" name="Rectangle 3"/>
          <p:cNvSpPr>
            <a:spLocks noGrp="1" noChangeArrowheads="1"/>
          </p:cNvSpPr>
          <p:nvPr>
            <p:ph idx="1"/>
          </p:nvPr>
        </p:nvSpPr>
        <p:spPr>
          <a:xfrm>
            <a:off x="494240" y="1579556"/>
            <a:ext cx="8127984" cy="3839111"/>
          </a:xfrm>
        </p:spPr>
        <p:txBody>
          <a:bodyPr/>
          <a:lstStyle/>
          <a:p>
            <a:pPr>
              <a:lnSpc>
                <a:spcPct val="90000"/>
              </a:lnSpc>
            </a:pPr>
            <a:r>
              <a:rPr kumimoji="0" lang="ja-JP" altLang="en-US" sz="2400" dirty="0">
                <a:latin typeface="News Gothic" charset="0"/>
              </a:rPr>
              <a:t>現在世界で広く用いられている</a:t>
            </a:r>
            <a:r>
              <a:rPr kumimoji="0" lang="en-US" altLang="ja-JP" sz="2400" dirty="0">
                <a:latin typeface="News Gothic" charset="0"/>
              </a:rPr>
              <a:t>C</a:t>
            </a:r>
            <a:r>
              <a:rPr kumimoji="0" lang="ja-JP" altLang="en-US" sz="2400" dirty="0">
                <a:latin typeface="News Gothic" charset="0"/>
              </a:rPr>
              <a:t>言語に触れる。</a:t>
            </a:r>
          </a:p>
          <a:p>
            <a:pPr lvl="1">
              <a:lnSpc>
                <a:spcPct val="90000"/>
              </a:lnSpc>
              <a:buFont typeface="Wingdings" charset="0"/>
              <a:buNone/>
            </a:pPr>
            <a:r>
              <a:rPr kumimoji="0" lang="en-US" altLang="ja-JP" sz="2400" dirty="0">
                <a:latin typeface="Syntax" charset="0"/>
                <a:cs typeface="ＭＳ Ｐゴシック" charset="0"/>
              </a:rPr>
              <a:t>→</a:t>
            </a:r>
            <a:r>
              <a:rPr kumimoji="0" lang="ja-JP" altLang="en-US" sz="2400" dirty="0">
                <a:latin typeface="Syntax" charset="0"/>
                <a:cs typeface="ＭＳ Ｐゴシック" charset="0"/>
              </a:rPr>
              <a:t>　</a:t>
            </a:r>
            <a:r>
              <a:rPr kumimoji="0" lang="en-US" altLang="ja-JP" sz="2400" dirty="0">
                <a:latin typeface="Syntax" charset="0"/>
                <a:cs typeface="ＭＳ Ｐゴシック" charset="0"/>
              </a:rPr>
              <a:t>C</a:t>
            </a:r>
            <a:r>
              <a:rPr kumimoji="0" lang="ja-JP" altLang="en-US" sz="2400" dirty="0">
                <a:latin typeface="Syntax" charset="0"/>
                <a:cs typeface="ＭＳ Ｐゴシック" charset="0"/>
              </a:rPr>
              <a:t>言語を知っていれば</a:t>
            </a:r>
            <a:r>
              <a:rPr kumimoji="0" lang="en-US" altLang="ja-JP" sz="2400" dirty="0">
                <a:latin typeface="Syntax" charset="0"/>
                <a:cs typeface="ＭＳ Ｐゴシック" charset="0"/>
              </a:rPr>
              <a:t>Java, C++,C#</a:t>
            </a:r>
            <a:r>
              <a:rPr kumimoji="0" lang="ja-JP" altLang="en-US" sz="2400" dirty="0">
                <a:latin typeface="Syntax" charset="0"/>
                <a:cs typeface="ＭＳ Ｐゴシック" charset="0"/>
              </a:rPr>
              <a:t>等、</a:t>
            </a:r>
            <a:r>
              <a:rPr kumimoji="0" lang="en-US" altLang="ja-JP" sz="2400" dirty="0">
                <a:latin typeface="Syntax" charset="0"/>
                <a:cs typeface="ＭＳ Ｐゴシック" charset="0"/>
              </a:rPr>
              <a:t>C</a:t>
            </a:r>
            <a:r>
              <a:rPr kumimoji="0" lang="ja-JP" altLang="en-US" sz="2400" dirty="0">
                <a:latin typeface="Syntax" charset="0"/>
                <a:cs typeface="ＭＳ Ｐゴシック" charset="0"/>
              </a:rPr>
              <a:t>の影響を受けている言語の理解にも役立つ。</a:t>
            </a:r>
          </a:p>
          <a:p>
            <a:pPr>
              <a:lnSpc>
                <a:spcPct val="90000"/>
              </a:lnSpc>
            </a:pPr>
            <a:r>
              <a:rPr kumimoji="0" lang="en-US" altLang="ja-JP" sz="2400" dirty="0">
                <a:latin typeface="News Gothic" charset="0"/>
              </a:rPr>
              <a:t>C</a:t>
            </a:r>
            <a:r>
              <a:rPr kumimoji="0" lang="ja-JP" altLang="en-US" sz="2400" dirty="0">
                <a:latin typeface="News Gothic" charset="0"/>
              </a:rPr>
              <a:t>言語を通して、プログラミングをする際に必要な考え方を身につける。</a:t>
            </a:r>
            <a:endParaRPr kumimoji="0" lang="en-US" altLang="ja-JP" sz="2400" dirty="0">
              <a:latin typeface="News Gothic" charset="0"/>
            </a:endParaRPr>
          </a:p>
          <a:p>
            <a:pPr>
              <a:lnSpc>
                <a:spcPct val="90000"/>
              </a:lnSpc>
            </a:pPr>
            <a:r>
              <a:rPr kumimoji="0" lang="en-US" altLang="ja-JP" sz="2400" dirty="0">
                <a:latin typeface="News Gothic" charset="0"/>
              </a:rPr>
              <a:t>C</a:t>
            </a:r>
            <a:r>
              <a:rPr kumimoji="0" lang="ja-JP" altLang="en-US" sz="2400" dirty="0">
                <a:latin typeface="News Gothic" charset="0"/>
              </a:rPr>
              <a:t>言語のすべてを扱うには時間が足りないので、</a:t>
            </a:r>
            <a:r>
              <a:rPr kumimoji="0" lang="en-US" altLang="ja-JP" sz="2400" dirty="0">
                <a:latin typeface="News Gothic" charset="0"/>
              </a:rPr>
              <a:t>C</a:t>
            </a:r>
            <a:r>
              <a:rPr kumimoji="0" lang="ja-JP" altLang="en-US" sz="2400" dirty="0">
                <a:latin typeface="News Gothic" charset="0"/>
              </a:rPr>
              <a:t>言語の核となる部分のみを扱う。</a:t>
            </a:r>
            <a:endParaRPr kumimoji="0" lang="en-US" altLang="ja-JP" sz="2400" dirty="0">
              <a:latin typeface="News Gothic" charset="0"/>
            </a:endParaRPr>
          </a:p>
          <a:p>
            <a:pPr>
              <a:lnSpc>
                <a:spcPct val="90000"/>
              </a:lnSpc>
            </a:pPr>
            <a:r>
              <a:rPr kumimoji="0" lang="ja-JP" altLang="en-US" sz="2400" dirty="0">
                <a:latin typeface="News Gothic" charset="0"/>
              </a:rPr>
              <a:t>扱わなかった内容は各自で教科書等を読んで補う。（他人の書いたプログラムを読むためには、あらゆる構文に対応できる必要がある。必要に応じて補う。）</a:t>
            </a:r>
          </a:p>
        </p:txBody>
      </p:sp>
    </p:spTree>
    <p:extLst>
      <p:ext uri="{BB962C8B-B14F-4D97-AF65-F5344CB8AC3E}">
        <p14:creationId xmlns:p14="http://schemas.microsoft.com/office/powerpoint/2010/main" val="1171901048"/>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8"/>
          <p:cNvSpPr>
            <a:spLocks noGrp="1" noChangeArrowheads="1"/>
          </p:cNvSpPr>
          <p:nvPr>
            <p:ph type="title"/>
          </p:nvPr>
        </p:nvSpPr>
        <p:spPr>
          <a:xfrm>
            <a:off x="592138" y="188913"/>
            <a:ext cx="7620000" cy="685800"/>
          </a:xfrm>
        </p:spPr>
        <p:txBody>
          <a:bodyPr>
            <a:normAutofit/>
          </a:bodyPr>
          <a:lstStyle/>
          <a:p>
            <a:r>
              <a:rPr kumimoji="0" lang="ja-JP" altLang="en-US" sz="3600" dirty="0">
                <a:latin typeface="Calibri" charset="0"/>
              </a:rPr>
              <a:t>講義情報</a:t>
            </a:r>
          </a:p>
        </p:txBody>
      </p:sp>
      <p:sp>
        <p:nvSpPr>
          <p:cNvPr id="21506" name="Rectangle 3"/>
          <p:cNvSpPr>
            <a:spLocks noGrp="1" noChangeArrowheads="1"/>
          </p:cNvSpPr>
          <p:nvPr>
            <p:ph idx="1"/>
          </p:nvPr>
        </p:nvSpPr>
        <p:spPr>
          <a:xfrm>
            <a:off x="107950" y="1052513"/>
            <a:ext cx="8807450" cy="5329237"/>
          </a:xfrm>
        </p:spPr>
        <p:txBody>
          <a:bodyPr>
            <a:normAutofit/>
          </a:bodyPr>
          <a:lstStyle/>
          <a:p>
            <a:pPr>
              <a:lnSpc>
                <a:spcPct val="80000"/>
              </a:lnSpc>
            </a:pPr>
            <a:r>
              <a:rPr kumimoji="0" lang="ja-JP" altLang="en-US" sz="2000" dirty="0">
                <a:latin typeface="MS UI Gothic" charset="0"/>
                <a:ea typeface="MS UI Gothic" charset="0"/>
                <a:cs typeface="MS UI Gothic" charset="0"/>
              </a:rPr>
              <a:t>授業の進め方</a:t>
            </a:r>
          </a:p>
          <a:p>
            <a:pPr lvl="1">
              <a:lnSpc>
                <a:spcPct val="80000"/>
              </a:lnSpc>
            </a:pPr>
            <a:r>
              <a:rPr kumimoji="0" lang="ja-JP" altLang="en-US" sz="2000" dirty="0">
                <a:latin typeface="MS UI Gothic" charset="0"/>
                <a:ea typeface="MS UI Gothic" charset="0"/>
                <a:cs typeface="MS UI Gothic" charset="0"/>
              </a:rPr>
              <a:t>内容説明（３限）　</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演習課題（４限） </a:t>
            </a:r>
            <a:r>
              <a:rPr kumimoji="0" lang="en-US" altLang="ja-JP" sz="2000" dirty="0">
                <a:latin typeface="MS UI Gothic" charset="0"/>
                <a:ea typeface="MS UI Gothic" charset="0"/>
                <a:cs typeface="MS UI Gothic" charset="0"/>
              </a:rPr>
              <a:t>---</a:t>
            </a:r>
            <a:r>
              <a:rPr kumimoji="0" lang="ja-JP" altLang="en-US" sz="2000" dirty="0">
                <a:latin typeface="MS UI Gothic" charset="0"/>
                <a:ea typeface="MS UI Gothic" charset="0"/>
                <a:cs typeface="MS UI Gothic" charset="0"/>
              </a:rPr>
              <a:t>第</a:t>
            </a:r>
            <a:r>
              <a:rPr kumimoji="0" lang="en-US" altLang="ja-JP" sz="2000" dirty="0">
                <a:latin typeface="MS UI Gothic" charset="0"/>
                <a:ea typeface="MS UI Gothic" charset="0"/>
                <a:cs typeface="MS UI Gothic" charset="0"/>
              </a:rPr>
              <a:t>12</a:t>
            </a:r>
            <a:r>
              <a:rPr kumimoji="0" lang="ja-JP" altLang="en-US" sz="2000" dirty="0">
                <a:latin typeface="MS UI Gothic" charset="0"/>
                <a:ea typeface="MS UI Gothic" charset="0"/>
                <a:cs typeface="MS UI Gothic" charset="0"/>
              </a:rPr>
              <a:t>回までは毎回、基本課題を</a:t>
            </a:r>
            <a:r>
              <a:rPr kumimoji="0" lang="en-US" altLang="ja-JP" sz="2000" dirty="0">
                <a:latin typeface="MS UI Gothic" charset="0"/>
                <a:ea typeface="MS UI Gothic" charset="0"/>
                <a:cs typeface="MS UI Gothic" charset="0"/>
              </a:rPr>
              <a:t>2</a:t>
            </a:r>
            <a:r>
              <a:rPr kumimoji="0" lang="ja-JP" altLang="en-US" sz="2000" dirty="0">
                <a:latin typeface="MS UI Gothic" charset="0"/>
                <a:ea typeface="MS UI Gothic" charset="0"/>
                <a:cs typeface="MS UI Gothic" charset="0"/>
              </a:rPr>
              <a:t>問ずつ出題する（</a:t>
            </a:r>
            <a:r>
              <a:rPr kumimoji="0" lang="en-US" altLang="ja-JP" sz="2000" dirty="0">
                <a:latin typeface="MS UI Gothic" charset="0"/>
                <a:ea typeface="MS UI Gothic" charset="0"/>
                <a:cs typeface="MS UI Gothic" charset="0"/>
              </a:rPr>
              <a:t>1</a:t>
            </a:r>
            <a:r>
              <a:rPr kumimoji="0" lang="ja-JP" altLang="en-US" sz="2000" dirty="0">
                <a:latin typeface="MS UI Gothic" charset="0"/>
                <a:ea typeface="MS UI Gothic" charset="0"/>
                <a:cs typeface="MS UI Gothic" charset="0"/>
              </a:rPr>
              <a:t>問</a:t>
            </a:r>
            <a:r>
              <a:rPr kumimoji="0" lang="en-US" altLang="ja-JP" sz="2000" dirty="0">
                <a:latin typeface="MS UI Gothic" charset="0"/>
                <a:ea typeface="MS UI Gothic" charset="0"/>
                <a:cs typeface="MS UI Gothic" charset="0"/>
              </a:rPr>
              <a:t>0.5</a:t>
            </a:r>
            <a:r>
              <a:rPr kumimoji="0" lang="ja-JP" altLang="en-US" sz="2000" dirty="0">
                <a:latin typeface="MS UI Gothic" charset="0"/>
                <a:ea typeface="MS UI Gothic" charset="0"/>
                <a:cs typeface="MS UI Gothic" charset="0"/>
              </a:rPr>
              <a:t>点）。できた人は</a:t>
            </a:r>
            <a:r>
              <a:rPr kumimoji="0" lang="en-US" altLang="ja-JP" sz="2000" dirty="0">
                <a:latin typeface="MS UI Gothic" charset="0"/>
                <a:ea typeface="MS UI Gothic" charset="0"/>
                <a:cs typeface="MS UI Gothic" charset="0"/>
              </a:rPr>
              <a:t>TA</a:t>
            </a:r>
            <a:r>
              <a:rPr kumimoji="0" lang="ja-JP" altLang="en-US" sz="2000" dirty="0">
                <a:latin typeface="MS UI Gothic" charset="0"/>
                <a:ea typeface="MS UI Gothic" charset="0"/>
                <a:cs typeface="MS UI Gothic" charset="0"/>
              </a:rPr>
              <a:t>に確認してもらう。その日に終わらなかったら次の回に確認してもらう。次回以降でも受け付けるが、なるべく早めに終わらせる。（中間試験があるので、この部分は</a:t>
            </a:r>
            <a:r>
              <a:rPr kumimoji="0" lang="en-US" altLang="ja-JP" sz="2000" dirty="0">
                <a:latin typeface="MS UI Gothic" charset="0"/>
                <a:ea typeface="MS UI Gothic" charset="0"/>
                <a:cs typeface="MS UI Gothic" charset="0"/>
              </a:rPr>
              <a:t>11</a:t>
            </a:r>
            <a:r>
              <a:rPr kumimoji="0" lang="ja-JP" altLang="en-US" sz="2000" dirty="0">
                <a:latin typeface="MS UI Gothic" charset="0"/>
                <a:ea typeface="MS UI Gothic" charset="0"/>
                <a:cs typeface="MS UI Gothic" charset="0"/>
              </a:rPr>
              <a:t>回分で合計</a:t>
            </a:r>
            <a:r>
              <a:rPr kumimoji="0" lang="en-US" altLang="ja-JP" sz="2000" dirty="0">
                <a:latin typeface="MS UI Gothic" charset="0"/>
                <a:ea typeface="MS UI Gothic" charset="0"/>
                <a:cs typeface="MS UI Gothic" charset="0"/>
              </a:rPr>
              <a:t>11</a:t>
            </a:r>
            <a:r>
              <a:rPr kumimoji="0" lang="ja-JP" altLang="en-US" sz="2000" dirty="0">
                <a:latin typeface="MS UI Gothic" charset="0"/>
                <a:ea typeface="MS UI Gothic" charset="0"/>
                <a:cs typeface="MS UI Gothic" charset="0"/>
              </a:rPr>
              <a:t>点。）</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基本課題が２問ともできて時間に余裕がある人は発展課題を解いて</a:t>
            </a:r>
            <a:r>
              <a:rPr kumimoji="0" lang="en-US" altLang="ja-JP" sz="2000" dirty="0">
                <a:latin typeface="MS UI Gothic" charset="0"/>
                <a:ea typeface="MS UI Gothic" charset="0"/>
                <a:cs typeface="MS UI Gothic" charset="0"/>
              </a:rPr>
              <a:t>TA</a:t>
            </a:r>
            <a:r>
              <a:rPr kumimoji="0" lang="ja-JP" altLang="en-US" sz="2000" dirty="0">
                <a:latin typeface="MS UI Gothic" charset="0"/>
                <a:ea typeface="MS UI Gothic" charset="0"/>
                <a:cs typeface="MS UI Gothic" charset="0"/>
              </a:rPr>
              <a:t>に確認してもらう。</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第</a:t>
            </a:r>
            <a:r>
              <a:rPr kumimoji="0" lang="en-US" altLang="ja-JP" sz="2000" dirty="0" smtClean="0">
                <a:latin typeface="MS UI Gothic" charset="0"/>
                <a:ea typeface="MS UI Gothic" charset="0"/>
                <a:cs typeface="MS UI Gothic" charset="0"/>
              </a:rPr>
              <a:t>13</a:t>
            </a:r>
            <a:r>
              <a:rPr kumimoji="0" lang="ja-JP" altLang="en-US" sz="2000" dirty="0" smtClean="0">
                <a:latin typeface="MS UI Gothic" charset="0"/>
                <a:ea typeface="MS UI Gothic" charset="0"/>
                <a:cs typeface="MS UI Gothic" charset="0"/>
              </a:rPr>
              <a:t>回</a:t>
            </a:r>
            <a:r>
              <a:rPr kumimoji="0" lang="en-US" altLang="ja-JP" sz="2000" dirty="0" smtClean="0">
                <a:latin typeface="MS UI Gothic" charset="0"/>
                <a:ea typeface="MS UI Gothic" charset="0"/>
                <a:cs typeface="MS UI Gothic" charset="0"/>
              </a:rPr>
              <a:t>,14</a:t>
            </a:r>
            <a:r>
              <a:rPr kumimoji="0" lang="ja-JP" altLang="en-US" sz="2000" dirty="0" smtClean="0">
                <a:latin typeface="MS UI Gothic" charset="0"/>
                <a:ea typeface="MS UI Gothic" charset="0"/>
                <a:cs typeface="MS UI Gothic" charset="0"/>
              </a:rPr>
              <a:t>回</a:t>
            </a:r>
            <a:r>
              <a:rPr kumimoji="0" lang="ja-JP" altLang="en-US" sz="2000" dirty="0">
                <a:latin typeface="MS UI Gothic" charset="0"/>
                <a:ea typeface="MS UI Gothic" charset="0"/>
                <a:cs typeface="MS UI Gothic" charset="0"/>
              </a:rPr>
              <a:t>は総合演習とする</a:t>
            </a:r>
            <a:r>
              <a:rPr kumimoji="0" lang="ja-JP" altLang="en-US" sz="2000" dirty="0" smtClean="0">
                <a:latin typeface="MS UI Gothic" charset="0"/>
                <a:ea typeface="MS UI Gothic" charset="0"/>
                <a:cs typeface="MS UI Gothic" charset="0"/>
              </a:rPr>
              <a:t>。</a:t>
            </a:r>
            <a:r>
              <a:rPr kumimoji="0" lang="en-US" altLang="ja-JP" sz="2000" dirty="0" smtClean="0">
                <a:latin typeface="MS UI Gothic" charset="0"/>
                <a:ea typeface="MS UI Gothic" charset="0"/>
                <a:cs typeface="MS UI Gothic" charset="0"/>
              </a:rPr>
              <a:t>3</a:t>
            </a:r>
            <a:r>
              <a:rPr kumimoji="0" lang="ja-JP" altLang="en-US" sz="2000" dirty="0">
                <a:latin typeface="MS UI Gothic" charset="0"/>
                <a:ea typeface="MS UI Gothic" charset="0"/>
                <a:cs typeface="MS UI Gothic" charset="0"/>
              </a:rPr>
              <a:t>問出題する（１問１点、計３点）。</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演習の合計得点は</a:t>
            </a:r>
            <a:r>
              <a:rPr kumimoji="0" lang="en-US" altLang="ja-JP" sz="2000" dirty="0">
                <a:latin typeface="MS UI Gothic" charset="0"/>
                <a:ea typeface="MS UI Gothic" charset="0"/>
                <a:cs typeface="MS UI Gothic" charset="0"/>
              </a:rPr>
              <a:t>14</a:t>
            </a:r>
            <a:r>
              <a:rPr kumimoji="0" lang="ja-JP" altLang="en-US" sz="2000" dirty="0">
                <a:latin typeface="MS UI Gothic" charset="0"/>
                <a:ea typeface="MS UI Gothic" charset="0"/>
                <a:cs typeface="MS UI Gothic" charset="0"/>
              </a:rPr>
              <a:t>点。（端数が出た場合は切り上げる。）</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演習問題の解答の</a:t>
            </a:r>
            <a:r>
              <a:rPr kumimoji="0" lang="en-US" altLang="ja-JP" sz="2000" dirty="0">
                <a:latin typeface="MS UI Gothic" charset="0"/>
                <a:ea typeface="MS UI Gothic" charset="0"/>
                <a:cs typeface="MS UI Gothic" charset="0"/>
              </a:rPr>
              <a:t>TA</a:t>
            </a:r>
            <a:r>
              <a:rPr kumimoji="0" lang="ja-JP" altLang="en-US" sz="2000" dirty="0">
                <a:latin typeface="MS UI Gothic" charset="0"/>
                <a:ea typeface="MS UI Gothic" charset="0"/>
                <a:cs typeface="MS UI Gothic" charset="0"/>
              </a:rPr>
              <a:t>による確認の締め切りは第</a:t>
            </a:r>
            <a:r>
              <a:rPr kumimoji="0" lang="en-US" altLang="ja-JP" sz="2000" dirty="0" smtClean="0">
                <a:latin typeface="MS UI Gothic" charset="0"/>
                <a:ea typeface="MS UI Gothic" charset="0"/>
                <a:cs typeface="MS UI Gothic" charset="0"/>
              </a:rPr>
              <a:t>14</a:t>
            </a:r>
            <a:r>
              <a:rPr kumimoji="0" lang="ja-JP" altLang="en-US" sz="2000" dirty="0" smtClean="0">
                <a:latin typeface="MS UI Gothic" charset="0"/>
                <a:ea typeface="MS UI Gothic" charset="0"/>
                <a:cs typeface="MS UI Gothic" charset="0"/>
              </a:rPr>
              <a:t>回</a:t>
            </a:r>
            <a:r>
              <a:rPr kumimoji="0" lang="ja-JP" altLang="en-US" sz="2000" dirty="0">
                <a:latin typeface="MS UI Gothic" charset="0"/>
                <a:ea typeface="MS UI Gothic" charset="0"/>
                <a:cs typeface="MS UI Gothic" charset="0"/>
              </a:rPr>
              <a:t>の終了時</a:t>
            </a:r>
            <a:r>
              <a:rPr kumimoji="0" lang="en-US" altLang="ja-JP" sz="2000" dirty="0">
                <a:latin typeface="MS UI Gothic" charset="0"/>
                <a:ea typeface="MS UI Gothic" charset="0"/>
                <a:cs typeface="MS UI Gothic" charset="0"/>
              </a:rPr>
              <a:t>(16:10)</a:t>
            </a:r>
            <a:r>
              <a:rPr kumimoji="0" lang="ja-JP" altLang="en-US" sz="2000" dirty="0">
                <a:latin typeface="MS UI Gothic" charset="0"/>
                <a:ea typeface="MS UI Gothic" charset="0"/>
                <a:cs typeface="MS UI Gothic" charset="0"/>
              </a:rPr>
              <a:t>とする。これ以降は受け付けない。</a:t>
            </a:r>
          </a:p>
          <a:p>
            <a:pPr>
              <a:lnSpc>
                <a:spcPct val="80000"/>
              </a:lnSpc>
            </a:pPr>
            <a:r>
              <a:rPr kumimoji="0" lang="ja-JP" altLang="en-US" sz="2000" dirty="0">
                <a:latin typeface="MS UI Gothic" charset="0"/>
                <a:ea typeface="MS UI Gothic" charset="0"/>
                <a:cs typeface="MS UI Gothic" charset="0"/>
              </a:rPr>
              <a:t>評価方法</a:t>
            </a:r>
          </a:p>
          <a:p>
            <a:pPr lvl="1">
              <a:lnSpc>
                <a:spcPct val="80000"/>
              </a:lnSpc>
            </a:pPr>
            <a:r>
              <a:rPr kumimoji="0" lang="ja-JP" altLang="en-US" sz="2000" dirty="0">
                <a:latin typeface="MS UI Gothic" charset="0"/>
                <a:ea typeface="MS UI Gothic" charset="0"/>
                <a:cs typeface="MS UI Gothic" charset="0"/>
              </a:rPr>
              <a:t>授業時の演習 </a:t>
            </a:r>
            <a:r>
              <a:rPr kumimoji="0" lang="en-US" altLang="ja-JP" sz="2000" dirty="0">
                <a:latin typeface="MS UI Gothic" charset="0"/>
                <a:ea typeface="MS UI Gothic" charset="0"/>
                <a:cs typeface="MS UI Gothic" charset="0"/>
              </a:rPr>
              <a:t>(14</a:t>
            </a:r>
            <a:r>
              <a:rPr kumimoji="0" lang="ja-JP" altLang="en-US" sz="2000" dirty="0">
                <a:latin typeface="MS UI Gothic" charset="0"/>
                <a:ea typeface="MS UI Gothic" charset="0"/>
                <a:cs typeface="MS UI Gothic" charset="0"/>
              </a:rPr>
              <a:t>点</a:t>
            </a:r>
            <a:r>
              <a:rPr kumimoji="0" lang="en-US" altLang="ja-JP" sz="2000" dirty="0">
                <a:latin typeface="MS UI Gothic" charset="0"/>
                <a:ea typeface="MS UI Gothic" charset="0"/>
                <a:cs typeface="MS UI Gothic" charset="0"/>
              </a:rPr>
              <a:t>)</a:t>
            </a:r>
          </a:p>
          <a:p>
            <a:pPr lvl="1">
              <a:lnSpc>
                <a:spcPct val="80000"/>
              </a:lnSpc>
            </a:pPr>
            <a:r>
              <a:rPr kumimoji="0" lang="ja-JP" altLang="en-US" sz="2000" dirty="0">
                <a:latin typeface="MS UI Gothic" charset="0"/>
                <a:ea typeface="MS UI Gothic" charset="0"/>
                <a:cs typeface="MS UI Gothic" charset="0"/>
              </a:rPr>
              <a:t>中間試験 </a:t>
            </a:r>
            <a:r>
              <a:rPr kumimoji="0" lang="en-US" altLang="ja-JP" sz="2000" dirty="0">
                <a:latin typeface="MS UI Gothic" charset="0"/>
                <a:ea typeface="MS UI Gothic" charset="0"/>
                <a:cs typeface="MS UI Gothic" charset="0"/>
              </a:rPr>
              <a:t>(36</a:t>
            </a:r>
            <a:r>
              <a:rPr kumimoji="0" lang="ja-JP" altLang="en-US" sz="2000" dirty="0">
                <a:latin typeface="MS UI Gothic" charset="0"/>
                <a:ea typeface="MS UI Gothic" charset="0"/>
                <a:cs typeface="MS UI Gothic" charset="0"/>
              </a:rPr>
              <a:t>点</a:t>
            </a:r>
            <a:r>
              <a:rPr kumimoji="0" lang="en-US" altLang="ja-JP" sz="2000" dirty="0">
                <a:latin typeface="MS UI Gothic" charset="0"/>
                <a:ea typeface="MS UI Gothic" charset="0"/>
                <a:cs typeface="MS UI Gothic" charset="0"/>
              </a:rPr>
              <a:t>) --- </a:t>
            </a:r>
            <a:r>
              <a:rPr kumimoji="0" lang="ja-JP" altLang="en-US" sz="2000" dirty="0">
                <a:latin typeface="MS UI Gothic" charset="0"/>
                <a:ea typeface="MS UI Gothic" charset="0"/>
                <a:cs typeface="MS UI Gothic" charset="0"/>
              </a:rPr>
              <a:t>筆記試験</a:t>
            </a:r>
          </a:p>
          <a:p>
            <a:pPr lvl="1">
              <a:lnSpc>
                <a:spcPct val="80000"/>
              </a:lnSpc>
            </a:pPr>
            <a:r>
              <a:rPr kumimoji="0" lang="ja-JP" altLang="en-US" sz="2000" dirty="0">
                <a:latin typeface="MS UI Gothic" charset="0"/>
                <a:ea typeface="MS UI Gothic" charset="0"/>
                <a:cs typeface="MS UI Gothic" charset="0"/>
              </a:rPr>
              <a:t>期末試験 </a:t>
            </a:r>
            <a:r>
              <a:rPr kumimoji="0" lang="en-US" altLang="ja-JP" sz="2000" dirty="0">
                <a:latin typeface="MS UI Gothic" charset="0"/>
                <a:ea typeface="MS UI Gothic" charset="0"/>
                <a:cs typeface="MS UI Gothic" charset="0"/>
              </a:rPr>
              <a:t>(50</a:t>
            </a:r>
            <a:r>
              <a:rPr kumimoji="0" lang="ja-JP" altLang="en-US" sz="2000" dirty="0">
                <a:latin typeface="MS UI Gothic" charset="0"/>
                <a:ea typeface="MS UI Gothic" charset="0"/>
                <a:cs typeface="MS UI Gothic" charset="0"/>
              </a:rPr>
              <a:t>点</a:t>
            </a:r>
            <a:r>
              <a:rPr kumimoji="0" lang="en-US" altLang="ja-JP" sz="2000" dirty="0">
                <a:latin typeface="MS UI Gothic" charset="0"/>
                <a:ea typeface="MS UI Gothic" charset="0"/>
                <a:cs typeface="MS UI Gothic" charset="0"/>
              </a:rPr>
              <a:t>) --- </a:t>
            </a:r>
            <a:r>
              <a:rPr kumimoji="0" lang="ja-JP" altLang="en-US" sz="2000" dirty="0">
                <a:latin typeface="MS UI Gothic" charset="0"/>
                <a:ea typeface="MS UI Gothic" charset="0"/>
                <a:cs typeface="MS UI Gothic" charset="0"/>
              </a:rPr>
              <a:t>筆記試験</a:t>
            </a:r>
            <a:endParaRPr kumimoji="0" lang="en-US" altLang="ja-JP" sz="2000" dirty="0">
              <a:latin typeface="MS UI Gothic" charset="0"/>
              <a:ea typeface="MS UI Gothic" charset="0"/>
              <a:cs typeface="MS UI Gothic" charset="0"/>
            </a:endParaRPr>
          </a:p>
          <a:p>
            <a:pPr lvl="1">
              <a:lnSpc>
                <a:spcPct val="80000"/>
              </a:lnSpc>
            </a:pPr>
            <a:r>
              <a:rPr kumimoji="0" lang="ja-JP" altLang="en-US" sz="2000" dirty="0">
                <a:latin typeface="MS UI Gothic" charset="0"/>
                <a:ea typeface="MS UI Gothic" charset="0"/>
                <a:cs typeface="MS UI Gothic" charset="0"/>
              </a:rPr>
              <a:t>出欠、遅刻は記録するが、得点には算入しない。</a:t>
            </a:r>
            <a:endParaRPr kumimoji="0" lang="en-US" altLang="ja-JP" sz="2000" dirty="0">
              <a:latin typeface="MS UI Gothic" charset="0"/>
              <a:ea typeface="MS UI Gothic" charset="0"/>
              <a:cs typeface="MS UI Gothic" charset="0"/>
            </a:endParaRPr>
          </a:p>
        </p:txBody>
      </p:sp>
      <p:sp>
        <p:nvSpPr>
          <p:cNvPr id="21510" name="Text Box 4"/>
          <p:cNvSpPr txBox="1">
            <a:spLocks noChangeArrowheads="1"/>
          </p:cNvSpPr>
          <p:nvPr/>
        </p:nvSpPr>
        <p:spPr bwMode="auto">
          <a:xfrm>
            <a:off x="592138" y="20081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endParaRPr kumimoji="0" lang="ja-JP" altLang="en-US" sz="2400">
              <a:ea typeface="ＭＳ Ｐゴシック" charset="0"/>
              <a:cs typeface="ＭＳ Ｐゴシック" charset="0"/>
            </a:endParaRPr>
          </a:p>
        </p:txBody>
      </p:sp>
    </p:spTree>
    <p:extLst>
      <p:ext uri="{BB962C8B-B14F-4D97-AF65-F5344CB8AC3E}">
        <p14:creationId xmlns:p14="http://schemas.microsoft.com/office/powerpoint/2010/main" val="3701268471"/>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8"/>
          <p:cNvSpPr>
            <a:spLocks noGrp="1" noChangeArrowheads="1"/>
          </p:cNvSpPr>
          <p:nvPr>
            <p:ph type="title"/>
          </p:nvPr>
        </p:nvSpPr>
        <p:spPr>
          <a:xfrm>
            <a:off x="755122" y="284160"/>
            <a:ext cx="7620000" cy="685800"/>
          </a:xfrm>
        </p:spPr>
        <p:txBody>
          <a:bodyPr>
            <a:normAutofit/>
          </a:bodyPr>
          <a:lstStyle/>
          <a:p>
            <a:r>
              <a:rPr kumimoji="0" lang="ja-JP" altLang="en-US" sz="3600" dirty="0">
                <a:latin typeface="Calibri" charset="0"/>
              </a:rPr>
              <a:t>教科書、参考書</a:t>
            </a:r>
          </a:p>
        </p:txBody>
      </p:sp>
      <p:sp>
        <p:nvSpPr>
          <p:cNvPr id="23554" name="Rectangle 3"/>
          <p:cNvSpPr>
            <a:spLocks noGrp="1" noChangeArrowheads="1"/>
          </p:cNvSpPr>
          <p:nvPr>
            <p:ph idx="1"/>
          </p:nvPr>
        </p:nvSpPr>
        <p:spPr>
          <a:xfrm>
            <a:off x="496891" y="1211265"/>
            <a:ext cx="8262408" cy="5170488"/>
          </a:xfrm>
        </p:spPr>
        <p:txBody>
          <a:bodyPr>
            <a:noAutofit/>
          </a:bodyPr>
          <a:lstStyle/>
          <a:p>
            <a:pPr>
              <a:lnSpc>
                <a:spcPct val="80000"/>
              </a:lnSpc>
            </a:pPr>
            <a:r>
              <a:rPr kumimoji="0" lang="ja-JP" altLang="en-US" sz="2400" dirty="0">
                <a:latin typeface="MS UI Gothic" charset="0"/>
                <a:ea typeface="MS UI Gothic" charset="0"/>
                <a:cs typeface="MS UI Gothic" charset="0"/>
              </a:rPr>
              <a:t>教科書</a:t>
            </a:r>
            <a:endParaRPr kumimoji="0" lang="en-US" altLang="ja-JP" sz="2400" dirty="0">
              <a:latin typeface="MS UI Gothic" charset="0"/>
              <a:ea typeface="MS UI Gothic" charset="0"/>
              <a:cs typeface="MS UI Gothic" charset="0"/>
            </a:endParaRPr>
          </a:p>
          <a:p>
            <a:pPr>
              <a:lnSpc>
                <a:spcPct val="80000"/>
              </a:lnSpc>
              <a:buFont typeface="Wingdings" charset="0"/>
              <a:buNone/>
            </a:pPr>
            <a:r>
              <a:rPr kumimoji="0" lang="ja-JP" altLang="en-US" sz="2400" dirty="0">
                <a:latin typeface="MS UI Gothic" charset="0"/>
                <a:ea typeface="MS UI Gothic" charset="0"/>
                <a:cs typeface="MS UI Gothic" charset="0"/>
              </a:rPr>
              <a:t>         新版明解</a:t>
            </a:r>
            <a:r>
              <a:rPr kumimoji="0" lang="en-US" altLang="ja-JP" sz="2400" dirty="0">
                <a:latin typeface="MS UI Gothic" charset="0"/>
                <a:ea typeface="MS UI Gothic" charset="0"/>
                <a:cs typeface="MS UI Gothic" charset="0"/>
              </a:rPr>
              <a:t>C</a:t>
            </a:r>
            <a:r>
              <a:rPr kumimoji="0" lang="ja-JP" altLang="en-US" sz="2400" dirty="0">
                <a:latin typeface="MS UI Gothic" charset="0"/>
                <a:ea typeface="MS UI Gothic" charset="0"/>
                <a:cs typeface="MS UI Gothic" charset="0"/>
              </a:rPr>
              <a:t>言語入門編，柴田望洋著</a:t>
            </a:r>
            <a:r>
              <a:rPr kumimoji="0" lang="en-US" altLang="ja-JP" sz="2400" dirty="0">
                <a:latin typeface="MS UI Gothic" charset="0"/>
                <a:ea typeface="MS UI Gothic" charset="0"/>
                <a:cs typeface="MS UI Gothic" charset="0"/>
              </a:rPr>
              <a:t>, 2,310</a:t>
            </a:r>
            <a:r>
              <a:rPr kumimoji="0" lang="ja-JP" altLang="en-US" sz="2400" dirty="0">
                <a:latin typeface="MS UI Gothic" charset="0"/>
                <a:ea typeface="MS UI Gothic" charset="0"/>
                <a:cs typeface="MS UI Gothic" charset="0"/>
              </a:rPr>
              <a:t>円</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ソフトバンククリエイティブ</a:t>
            </a:r>
            <a:endParaRPr kumimoji="0" lang="en-US" altLang="ja-JP" sz="2400" dirty="0">
              <a:latin typeface="MS UI Gothic" charset="0"/>
              <a:ea typeface="MS UI Gothic" charset="0"/>
              <a:cs typeface="MS UI Gothic" charset="0"/>
            </a:endParaRPr>
          </a:p>
          <a:p>
            <a:pPr>
              <a:lnSpc>
                <a:spcPct val="80000"/>
              </a:lnSpc>
            </a:pPr>
            <a:r>
              <a:rPr kumimoji="0" lang="ja-JP" altLang="en-US" sz="2400" dirty="0">
                <a:latin typeface="MS UI Gothic" charset="0"/>
                <a:ea typeface="MS UI Gothic" charset="0"/>
                <a:cs typeface="MS UI Gothic" charset="0"/>
              </a:rPr>
              <a:t>参考書</a:t>
            </a:r>
            <a:endParaRPr kumimoji="0" lang="en-US" altLang="ja-JP" sz="2400" dirty="0">
              <a:latin typeface="MS UI Gothic" charset="0"/>
              <a:ea typeface="MS UI Gothic" charset="0"/>
              <a:cs typeface="MS UI Gothic" charset="0"/>
            </a:endParaRPr>
          </a:p>
          <a:p>
            <a:pPr lvl="1">
              <a:lnSpc>
                <a:spcPct val="80000"/>
              </a:lnSpc>
            </a:pPr>
            <a:r>
              <a:rPr kumimoji="0" lang="ja-JP" altLang="en-US" sz="2400" dirty="0">
                <a:latin typeface="MS UI Gothic" charset="0"/>
                <a:ea typeface="MS UI Gothic" charset="0"/>
                <a:cs typeface="MS UI Gothic" charset="0"/>
              </a:rPr>
              <a:t>新版明解Ｃ言語実践編</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柴田望洋著</a:t>
            </a:r>
            <a:r>
              <a:rPr kumimoji="0" lang="en-US" altLang="ja-JP" sz="2400" dirty="0">
                <a:latin typeface="MS UI Gothic" charset="0"/>
                <a:ea typeface="MS UI Gothic" charset="0"/>
                <a:cs typeface="MS UI Gothic" charset="0"/>
              </a:rPr>
              <a:t>, 2,310</a:t>
            </a:r>
            <a:r>
              <a:rPr kumimoji="0" lang="ja-JP" altLang="en-US" sz="2400" dirty="0">
                <a:latin typeface="MS UI Gothic" charset="0"/>
                <a:ea typeface="MS UI Gothic" charset="0"/>
                <a:cs typeface="MS UI Gothic" charset="0"/>
              </a:rPr>
              <a:t>円</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ソフトバンククリエイティブ</a:t>
            </a:r>
            <a:endParaRPr kumimoji="0" lang="en-US" altLang="ja-JP" sz="2400" dirty="0">
              <a:latin typeface="MS UI Gothic" charset="0"/>
              <a:ea typeface="MS UI Gothic" charset="0"/>
              <a:cs typeface="MS UI Gothic" charset="0"/>
            </a:endParaRPr>
          </a:p>
          <a:p>
            <a:pPr lvl="1">
              <a:lnSpc>
                <a:spcPct val="80000"/>
              </a:lnSpc>
            </a:pPr>
            <a:r>
              <a:rPr kumimoji="0" lang="ja-JP" altLang="en-US" sz="2400" dirty="0">
                <a:latin typeface="MS UI Gothic" charset="0"/>
                <a:ea typeface="MS UI Gothic" charset="0"/>
                <a:cs typeface="MS UI Gothic" charset="0"/>
              </a:rPr>
              <a:t>図解</a:t>
            </a:r>
            <a:r>
              <a:rPr kumimoji="0" lang="en-US" altLang="ja-JP" sz="2400" dirty="0">
                <a:latin typeface="MS UI Gothic" charset="0"/>
                <a:ea typeface="MS UI Gothic" charset="0"/>
                <a:cs typeface="MS UI Gothic" charset="0"/>
              </a:rPr>
              <a:t>C</a:t>
            </a:r>
            <a:r>
              <a:rPr kumimoji="0" lang="ja-JP" altLang="en-US" sz="2400" dirty="0">
                <a:latin typeface="MS UI Gothic" charset="0"/>
                <a:ea typeface="MS UI Gothic" charset="0"/>
                <a:cs typeface="MS UI Gothic" charset="0"/>
              </a:rPr>
              <a:t>言語 ポインタの極意</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柴田望洋著</a:t>
            </a:r>
            <a:r>
              <a:rPr kumimoji="0" lang="en-US" altLang="ja-JP" sz="2400" dirty="0">
                <a:latin typeface="MS UI Gothic" charset="0"/>
                <a:ea typeface="MS UI Gothic" charset="0"/>
                <a:cs typeface="MS UI Gothic" charset="0"/>
              </a:rPr>
              <a:t>, 2,520</a:t>
            </a:r>
            <a:r>
              <a:rPr kumimoji="0" lang="ja-JP" altLang="en-US" sz="2400" dirty="0">
                <a:latin typeface="MS UI Gothic" charset="0"/>
                <a:ea typeface="MS UI Gothic" charset="0"/>
                <a:cs typeface="MS UI Gothic" charset="0"/>
              </a:rPr>
              <a:t>円</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ソフトバンククリエイティブ</a:t>
            </a:r>
            <a:endParaRPr kumimoji="0" lang="en-US" altLang="ja-JP" sz="2400" dirty="0">
              <a:latin typeface="MS UI Gothic" charset="0"/>
              <a:ea typeface="MS UI Gothic" charset="0"/>
              <a:cs typeface="MS UI Gothic" charset="0"/>
            </a:endParaRPr>
          </a:p>
          <a:p>
            <a:pPr lvl="1">
              <a:lnSpc>
                <a:spcPct val="80000"/>
              </a:lnSpc>
            </a:pPr>
            <a:r>
              <a:rPr kumimoji="0" lang="ja-JP" altLang="en-US" sz="2400" dirty="0">
                <a:latin typeface="MS UI Gothic" charset="0"/>
                <a:ea typeface="MS UI Gothic" charset="0"/>
                <a:cs typeface="MS UI Gothic" charset="0"/>
              </a:rPr>
              <a:t>新</a:t>
            </a:r>
            <a:r>
              <a:rPr kumimoji="0" lang="en-US" altLang="ja-JP" sz="2400" dirty="0">
                <a:latin typeface="MS UI Gothic" charset="0"/>
                <a:ea typeface="MS UI Gothic" charset="0"/>
                <a:cs typeface="MS UI Gothic" charset="0"/>
              </a:rPr>
              <a:t>ANSI C</a:t>
            </a:r>
            <a:r>
              <a:rPr kumimoji="0" lang="ja-JP" altLang="en-US" sz="2400" dirty="0">
                <a:latin typeface="MS UI Gothic" charset="0"/>
                <a:ea typeface="MS UI Gothic" charset="0"/>
                <a:cs typeface="MS UI Gothic" charset="0"/>
              </a:rPr>
              <a:t>言語辞典</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平林雅英著</a:t>
            </a:r>
            <a:r>
              <a:rPr kumimoji="0" lang="en-US" altLang="ja-JP" sz="2400" dirty="0">
                <a:latin typeface="MS UI Gothic" charset="0"/>
                <a:ea typeface="MS UI Gothic" charset="0"/>
                <a:cs typeface="MS UI Gothic" charset="0"/>
              </a:rPr>
              <a:t>, 2,300</a:t>
            </a:r>
            <a:r>
              <a:rPr kumimoji="0" lang="ja-JP" altLang="en-US" sz="2400" dirty="0">
                <a:latin typeface="MS UI Gothic" charset="0"/>
                <a:ea typeface="MS UI Gothic" charset="0"/>
                <a:cs typeface="MS UI Gothic" charset="0"/>
              </a:rPr>
              <a:t>円</a:t>
            </a:r>
            <a:r>
              <a:rPr kumimoji="0" lang="en-US" altLang="ja-JP" sz="2400" dirty="0">
                <a:latin typeface="MS UI Gothic" charset="0"/>
                <a:ea typeface="MS UI Gothic" charset="0"/>
                <a:cs typeface="MS UI Gothic" charset="0"/>
              </a:rPr>
              <a:t>,</a:t>
            </a:r>
            <a:r>
              <a:rPr kumimoji="0" lang="ja-JP" altLang="en-US" sz="2400" dirty="0">
                <a:latin typeface="MS UI Gothic" charset="0"/>
                <a:ea typeface="MS UI Gothic" charset="0"/>
                <a:cs typeface="MS UI Gothic" charset="0"/>
              </a:rPr>
              <a:t>技術評論社（現在入手困難）</a:t>
            </a:r>
          </a:p>
          <a:p>
            <a:pPr lvl="1">
              <a:lnSpc>
                <a:spcPct val="80000"/>
              </a:lnSpc>
            </a:pPr>
            <a:r>
              <a:rPr kumimoji="0" lang="en-US" altLang="ja-JP" sz="2400" dirty="0">
                <a:latin typeface="MS UI Gothic" charset="0"/>
                <a:ea typeface="MS UI Gothic" charset="0"/>
                <a:cs typeface="MS UI Gothic" charset="0"/>
              </a:rPr>
              <a:t>(</a:t>
            </a:r>
            <a:r>
              <a:rPr kumimoji="0" lang="ja-JP" altLang="en-US" sz="2400" dirty="0">
                <a:latin typeface="MS UI Gothic" charset="0"/>
                <a:ea typeface="MS UI Gothic" charset="0"/>
                <a:cs typeface="MS UI Gothic" charset="0"/>
              </a:rPr>
              <a:t>推奨はしない</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プログラミング言語</a:t>
            </a:r>
            <a:r>
              <a:rPr kumimoji="0" lang="en-US" altLang="ja-JP" sz="2400" dirty="0">
                <a:latin typeface="MS UI Gothic" charset="0"/>
                <a:ea typeface="MS UI Gothic" charset="0"/>
                <a:cs typeface="MS UI Gothic" charset="0"/>
              </a:rPr>
              <a:t>C, </a:t>
            </a:r>
            <a:r>
              <a:rPr kumimoji="0" lang="ja-JP" altLang="en-US" sz="2400" dirty="0">
                <a:latin typeface="MS UI Gothic" charset="0"/>
                <a:ea typeface="MS UI Gothic" charset="0"/>
                <a:cs typeface="MS UI Gothic" charset="0"/>
              </a:rPr>
              <a:t>カーニハン</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リッチー</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石田晴久訳</a:t>
            </a:r>
            <a:r>
              <a:rPr kumimoji="0" lang="en-US" altLang="ja-JP" sz="2400" dirty="0">
                <a:latin typeface="MS UI Gothic" charset="0"/>
                <a:ea typeface="MS UI Gothic" charset="0"/>
                <a:cs typeface="MS UI Gothic" charset="0"/>
              </a:rPr>
              <a:t>, </a:t>
            </a:r>
            <a:r>
              <a:rPr kumimoji="0" lang="ja-JP" altLang="en-US" sz="2400" dirty="0">
                <a:latin typeface="MS UI Gothic" charset="0"/>
                <a:ea typeface="MS UI Gothic" charset="0"/>
                <a:cs typeface="MS UI Gothic" charset="0"/>
              </a:rPr>
              <a:t>共立出版</a:t>
            </a:r>
            <a:endParaRPr kumimoji="0" lang="en-US" altLang="ja-JP" sz="2400" dirty="0">
              <a:latin typeface="MS UI Gothic" charset="0"/>
              <a:ea typeface="MS UI Gothic" charset="0"/>
              <a:cs typeface="MS UI Gothic" charset="0"/>
            </a:endParaRPr>
          </a:p>
          <a:p>
            <a:pPr lvl="1">
              <a:lnSpc>
                <a:spcPct val="80000"/>
              </a:lnSpc>
            </a:pPr>
            <a:r>
              <a:rPr lang="en-US" altLang="ja-JP" sz="2400" dirty="0">
                <a:latin typeface="MS UI Gothic" charset="0"/>
                <a:ea typeface="MS UI Gothic" charset="0"/>
                <a:cs typeface="MS UI Gothic" charset="0"/>
              </a:rPr>
              <a:t>ISO</a:t>
            </a:r>
            <a:r>
              <a:rPr lang="ja-JP" altLang="en-US" sz="2400" dirty="0">
                <a:latin typeface="MS UI Gothic" charset="0"/>
                <a:ea typeface="MS UI Gothic" charset="0"/>
                <a:cs typeface="MS UI Gothic" charset="0"/>
              </a:rPr>
              <a:t>規格書  規格番号  </a:t>
            </a:r>
            <a:r>
              <a:rPr lang="en-US" altLang="ja-JP" sz="2400" dirty="0">
                <a:latin typeface="MS UI Gothic" charset="0"/>
                <a:ea typeface="MS UI Gothic" charset="0"/>
                <a:cs typeface="MS UI Gothic" charset="0"/>
              </a:rPr>
              <a:t>ISO/IEC 9899:1999</a:t>
            </a:r>
            <a:r>
              <a:rPr lang="ja-JP" altLang="en-US" sz="2400" dirty="0">
                <a:latin typeface="MS UI Gothic" charset="0"/>
                <a:ea typeface="MS UI Gothic" charset="0"/>
                <a:cs typeface="MS UI Gothic" charset="0"/>
              </a:rPr>
              <a:t> </a:t>
            </a:r>
            <a:r>
              <a:rPr lang="en-US" altLang="ja-JP" sz="2400" dirty="0">
                <a:latin typeface="MS UI Gothic" charset="0"/>
                <a:ea typeface="MS UI Gothic" charset="0"/>
                <a:cs typeface="MS UI Gothic" charset="0"/>
              </a:rPr>
              <a:t>Programming languages – C </a:t>
            </a:r>
            <a:r>
              <a:rPr lang="ja-JP" altLang="en-US" sz="2400" dirty="0">
                <a:latin typeface="MS UI Gothic" charset="0"/>
                <a:ea typeface="MS UI Gothic" charset="0"/>
                <a:cs typeface="MS UI Gothic" charset="0"/>
              </a:rPr>
              <a:t>（日本規格協会から入手可能。</a:t>
            </a:r>
            <a:r>
              <a:rPr lang="en-US" altLang="ja-JP" sz="2400" dirty="0">
                <a:latin typeface="MS UI Gothic" charset="0"/>
                <a:ea typeface="MS UI Gothic" charset="0"/>
                <a:cs typeface="MS UI Gothic" charset="0"/>
              </a:rPr>
              <a:t>3-4</a:t>
            </a:r>
            <a:r>
              <a:rPr lang="ja-JP" altLang="en-US" sz="2400" dirty="0">
                <a:latin typeface="MS UI Gothic" charset="0"/>
                <a:ea typeface="MS UI Gothic" charset="0"/>
                <a:cs typeface="MS UI Gothic" charset="0"/>
              </a:rPr>
              <a:t>万円程度。</a:t>
            </a:r>
            <a:r>
              <a:rPr lang="ja-JP" altLang="en-US" sz="2400" dirty="0" smtClean="0">
                <a:latin typeface="MS UI Gothic" charset="0"/>
                <a:ea typeface="MS UI Gothic" charset="0"/>
                <a:cs typeface="MS UI Gothic" charset="0"/>
              </a:rPr>
              <a:t>）（最近、新しい</a:t>
            </a:r>
            <a:r>
              <a:rPr lang="en-US" altLang="ja-JP" sz="2400" dirty="0" smtClean="0">
                <a:latin typeface="MS UI Gothic" charset="0"/>
                <a:ea typeface="MS UI Gothic" charset="0"/>
                <a:cs typeface="MS UI Gothic" charset="0"/>
              </a:rPr>
              <a:t>ISO</a:t>
            </a:r>
            <a:r>
              <a:rPr lang="ja-JP" altLang="en-US" sz="2400" dirty="0" smtClean="0">
                <a:latin typeface="MS UI Gothic" charset="0"/>
                <a:ea typeface="MS UI Gothic" charset="0"/>
                <a:cs typeface="MS UI Gothic" charset="0"/>
              </a:rPr>
              <a:t>規格が出された。</a:t>
            </a:r>
            <a:r>
              <a:rPr lang="en-US" altLang="ja-JP" sz="2400" dirty="0" smtClean="0">
                <a:latin typeface="MS UI Gothic" charset="0"/>
                <a:ea typeface="MS UI Gothic" charset="0"/>
                <a:cs typeface="MS UI Gothic" charset="0"/>
              </a:rPr>
              <a:t>)</a:t>
            </a:r>
          </a:p>
        </p:txBody>
      </p:sp>
      <p:sp>
        <p:nvSpPr>
          <p:cNvPr id="23558" name="Text Box 4"/>
          <p:cNvSpPr txBox="1">
            <a:spLocks noChangeArrowheads="1"/>
          </p:cNvSpPr>
          <p:nvPr/>
        </p:nvSpPr>
        <p:spPr bwMode="auto">
          <a:xfrm>
            <a:off x="592138" y="20081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endParaRPr kumimoji="0" lang="ja-JP" altLang="en-US" sz="2400">
              <a:ea typeface="ＭＳ Ｐゴシック" charset="0"/>
              <a:cs typeface="ＭＳ Ｐゴシック" charset="0"/>
            </a:endParaRPr>
          </a:p>
        </p:txBody>
      </p:sp>
    </p:spTree>
    <p:extLst>
      <p:ext uri="{BB962C8B-B14F-4D97-AF65-F5344CB8AC3E}">
        <p14:creationId xmlns:p14="http://schemas.microsoft.com/office/powerpoint/2010/main" val="190854473"/>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a:xfrm>
            <a:off x="702205" y="260258"/>
            <a:ext cx="7620000" cy="685800"/>
          </a:xfrm>
        </p:spPr>
        <p:txBody>
          <a:bodyPr rtlCol="0">
            <a:normAutofit/>
          </a:bodyPr>
          <a:lstStyle/>
          <a:p>
            <a:pPr fontAlgn="auto">
              <a:spcAft>
                <a:spcPts val="0"/>
              </a:spcAft>
              <a:defRPr/>
            </a:pPr>
            <a:r>
              <a:rPr kumimoji="0" lang="ja-JP" altLang="en-US" sz="3600" dirty="0" smtClean="0">
                <a:ea typeface="ＭＳ Ｐゴシック" pitchFamily="-112" charset="-128"/>
                <a:cs typeface="+mj-cs"/>
              </a:rPr>
              <a:t>講義スケジュール（予定）</a:t>
            </a:r>
          </a:p>
        </p:txBody>
      </p:sp>
      <p:sp>
        <p:nvSpPr>
          <p:cNvPr id="25602" name="Rectangle 3"/>
          <p:cNvSpPr>
            <a:spLocks noGrp="1" noChangeArrowheads="1"/>
          </p:cNvSpPr>
          <p:nvPr>
            <p:ph idx="1"/>
          </p:nvPr>
        </p:nvSpPr>
        <p:spPr>
          <a:xfrm>
            <a:off x="455081" y="1299105"/>
            <a:ext cx="7514169" cy="5273145"/>
          </a:xfrm>
        </p:spPr>
        <p:txBody>
          <a:bodyPr>
            <a:noAutofit/>
          </a:bodyPr>
          <a:lstStyle/>
          <a:p>
            <a:pPr marL="381000" indent="-381000">
              <a:lnSpc>
                <a:spcPct val="90000"/>
              </a:lnSpc>
            </a:pPr>
            <a:r>
              <a:rPr kumimoji="0" lang="ja-JP" altLang="en-US" sz="2000" dirty="0" smtClean="0">
                <a:latin typeface="News Gothic" charset="0"/>
              </a:rPr>
              <a:t>第１回 前期の復習、</a:t>
            </a:r>
            <a:r>
              <a:rPr kumimoji="0" lang="ja-JP" altLang="en-US" sz="2000" dirty="0" smtClean="0">
                <a:latin typeface="News Gothic" charset="0"/>
              </a:rPr>
              <a:t>型</a:t>
            </a:r>
            <a:r>
              <a:rPr kumimoji="0" lang="ja-JP" altLang="en-US" sz="2000" dirty="0" smtClean="0">
                <a:latin typeface="News Gothic" charset="0"/>
              </a:rPr>
              <a:t>変換</a:t>
            </a:r>
            <a:r>
              <a:rPr kumimoji="0" lang="ja-JP" altLang="en-US" sz="2000" dirty="0" smtClean="0">
                <a:latin typeface="News Gothic" charset="0"/>
              </a:rPr>
              <a:t>、</a:t>
            </a:r>
            <a:r>
              <a:rPr kumimoji="0" lang="ja-JP" altLang="en-US" sz="2000" dirty="0">
                <a:latin typeface="News Gothic" charset="0"/>
              </a:rPr>
              <a:t>条件分岐、式の評価</a:t>
            </a:r>
          </a:p>
          <a:p>
            <a:pPr marL="381000" indent="-381000">
              <a:lnSpc>
                <a:spcPct val="90000"/>
              </a:lnSpc>
            </a:pPr>
            <a:r>
              <a:rPr kumimoji="0" lang="ja-JP" altLang="en-US" sz="2000" dirty="0" smtClean="0">
                <a:latin typeface="News Gothic" charset="0"/>
              </a:rPr>
              <a:t>第２回 </a:t>
            </a:r>
            <a:r>
              <a:rPr kumimoji="0" lang="ja-JP" altLang="en-US" sz="2000" dirty="0">
                <a:latin typeface="News Gothic" charset="0"/>
              </a:rPr>
              <a:t>複合文、繰り返し、ラベル</a:t>
            </a:r>
          </a:p>
          <a:p>
            <a:pPr marL="381000" indent="-381000">
              <a:lnSpc>
                <a:spcPct val="90000"/>
              </a:lnSpc>
            </a:pPr>
            <a:r>
              <a:rPr kumimoji="0" lang="ja-JP" altLang="en-US" sz="2000" dirty="0" smtClean="0">
                <a:latin typeface="News Gothic" charset="0"/>
              </a:rPr>
              <a:t>第３回 </a:t>
            </a:r>
            <a:r>
              <a:rPr kumimoji="0" lang="ja-JP" altLang="en-US" sz="2000" dirty="0">
                <a:latin typeface="News Gothic" charset="0"/>
              </a:rPr>
              <a:t>式文、代入式、論理演算子、ループの脱出、スキップ</a:t>
            </a:r>
          </a:p>
          <a:p>
            <a:pPr marL="381000" indent="-381000">
              <a:lnSpc>
                <a:spcPct val="90000"/>
              </a:lnSpc>
            </a:pPr>
            <a:r>
              <a:rPr kumimoji="0" lang="ja-JP" altLang="en-US" sz="2000" dirty="0" smtClean="0">
                <a:latin typeface="News Gothic" charset="0"/>
              </a:rPr>
              <a:t>第４回 </a:t>
            </a:r>
            <a:r>
              <a:rPr kumimoji="0" lang="ja-JP" altLang="en-US" sz="2000" dirty="0">
                <a:latin typeface="News Gothic" charset="0"/>
              </a:rPr>
              <a:t>配列、変数宣言、初期化</a:t>
            </a:r>
          </a:p>
          <a:p>
            <a:pPr marL="381000" indent="-381000">
              <a:lnSpc>
                <a:spcPct val="90000"/>
              </a:lnSpc>
            </a:pPr>
            <a:r>
              <a:rPr kumimoji="0" lang="ja-JP" altLang="en-US" sz="2000" dirty="0" smtClean="0">
                <a:latin typeface="News Gothic" charset="0"/>
              </a:rPr>
              <a:t>第５回 </a:t>
            </a:r>
            <a:r>
              <a:rPr kumimoji="0" lang="ja-JP" altLang="en-US" sz="2000" dirty="0">
                <a:latin typeface="News Gothic" charset="0"/>
              </a:rPr>
              <a:t>関数</a:t>
            </a:r>
          </a:p>
          <a:p>
            <a:pPr marL="381000" indent="-381000">
              <a:lnSpc>
                <a:spcPct val="90000"/>
              </a:lnSpc>
            </a:pPr>
            <a:r>
              <a:rPr kumimoji="0" lang="ja-JP" altLang="en-US" sz="2000" dirty="0" smtClean="0">
                <a:latin typeface="News Gothic" charset="0"/>
              </a:rPr>
              <a:t>第６回 </a:t>
            </a:r>
            <a:r>
              <a:rPr kumimoji="0" lang="ja-JP" altLang="en-US" sz="2000" dirty="0">
                <a:latin typeface="News Gothic" charset="0"/>
              </a:rPr>
              <a:t>基本型、文字列</a:t>
            </a:r>
            <a:endParaRPr kumimoji="0" lang="en-US" altLang="ja-JP" sz="2000" dirty="0">
              <a:latin typeface="News Gothic" charset="0"/>
            </a:endParaRPr>
          </a:p>
          <a:p>
            <a:pPr marL="381000" indent="-381000">
              <a:lnSpc>
                <a:spcPct val="90000"/>
              </a:lnSpc>
            </a:pPr>
            <a:r>
              <a:rPr kumimoji="0" lang="ja-JP" altLang="en-US" sz="2000" dirty="0" smtClean="0">
                <a:latin typeface="News Gothic" charset="0"/>
              </a:rPr>
              <a:t>第７回 </a:t>
            </a:r>
            <a:r>
              <a:rPr kumimoji="0" lang="ja-JP" altLang="en-US" sz="2000" dirty="0">
                <a:latin typeface="News Gothic" charset="0"/>
              </a:rPr>
              <a:t>中間試験（持ち込み不可）</a:t>
            </a:r>
          </a:p>
          <a:p>
            <a:pPr marL="381000" indent="-381000">
              <a:lnSpc>
                <a:spcPct val="90000"/>
              </a:lnSpc>
            </a:pPr>
            <a:r>
              <a:rPr kumimoji="0" lang="ja-JP" altLang="en-US" sz="2000" dirty="0" smtClean="0">
                <a:latin typeface="News Gothic" charset="0"/>
              </a:rPr>
              <a:t>第８回 </a:t>
            </a:r>
            <a:r>
              <a:rPr kumimoji="0" lang="ja-JP" altLang="en-US" sz="2000" dirty="0">
                <a:latin typeface="News Gothic" charset="0"/>
              </a:rPr>
              <a:t>ポインタ</a:t>
            </a:r>
          </a:p>
          <a:p>
            <a:pPr marL="381000" indent="-381000">
              <a:lnSpc>
                <a:spcPct val="90000"/>
              </a:lnSpc>
            </a:pPr>
            <a:r>
              <a:rPr kumimoji="0" lang="ja-JP" altLang="en-US" sz="2000" dirty="0" smtClean="0">
                <a:latin typeface="News Gothic" charset="0"/>
              </a:rPr>
              <a:t>第９回 </a:t>
            </a:r>
            <a:r>
              <a:rPr kumimoji="0" lang="ja-JP" altLang="en-US" sz="2000" dirty="0">
                <a:latin typeface="News Gothic" charset="0"/>
              </a:rPr>
              <a:t>構造体</a:t>
            </a:r>
            <a:endParaRPr kumimoji="0" lang="en-US" altLang="ja-JP" sz="2000" dirty="0">
              <a:latin typeface="News Gothic" charset="0"/>
            </a:endParaRPr>
          </a:p>
          <a:p>
            <a:pPr marL="381000" indent="-381000">
              <a:lnSpc>
                <a:spcPct val="90000"/>
              </a:lnSpc>
            </a:pPr>
            <a:r>
              <a:rPr kumimoji="0" lang="ja-JP" altLang="en-US" sz="2000" dirty="0" smtClean="0">
                <a:latin typeface="News Gothic" charset="0"/>
              </a:rPr>
              <a:t>第１０回 </a:t>
            </a:r>
            <a:r>
              <a:rPr kumimoji="0" lang="ja-JP" altLang="en-US" sz="2000" dirty="0">
                <a:latin typeface="News Gothic" charset="0"/>
              </a:rPr>
              <a:t>動的な領域</a:t>
            </a:r>
            <a:r>
              <a:rPr kumimoji="0" lang="ja-JP" altLang="en-US" sz="2000" dirty="0" smtClean="0">
                <a:latin typeface="News Gothic" charset="0"/>
              </a:rPr>
              <a:t>確保</a:t>
            </a:r>
            <a:endParaRPr kumimoji="0" lang="en-US" altLang="ja-JP" sz="2000" dirty="0">
              <a:latin typeface="News Gothic" charset="0"/>
            </a:endParaRPr>
          </a:p>
          <a:p>
            <a:pPr marL="381000" indent="-381000">
              <a:lnSpc>
                <a:spcPct val="90000"/>
              </a:lnSpc>
            </a:pPr>
            <a:r>
              <a:rPr kumimoji="0" lang="ja-JP" altLang="en-US" sz="2000" dirty="0" smtClean="0">
                <a:latin typeface="News Gothic" charset="0"/>
              </a:rPr>
              <a:t>第１１回</a:t>
            </a:r>
            <a:r>
              <a:rPr kumimoji="0" lang="en-US" altLang="ja-JP" sz="2000" dirty="0">
                <a:latin typeface="News Gothic" charset="0"/>
              </a:rPr>
              <a:t> </a:t>
            </a:r>
            <a:r>
              <a:rPr kumimoji="0" lang="ja-JP" altLang="en-US" sz="2000" dirty="0" smtClean="0">
                <a:latin typeface="News Gothic" charset="0"/>
              </a:rPr>
              <a:t>共用体</a:t>
            </a:r>
            <a:endParaRPr kumimoji="0" lang="en-US" altLang="ja-JP" sz="2000" dirty="0">
              <a:latin typeface="News Gothic" charset="0"/>
            </a:endParaRPr>
          </a:p>
          <a:p>
            <a:pPr marL="381000" indent="-381000">
              <a:lnSpc>
                <a:spcPct val="90000"/>
              </a:lnSpc>
            </a:pPr>
            <a:r>
              <a:rPr kumimoji="0" lang="ja-JP" altLang="en-US" sz="2000" dirty="0" smtClean="0">
                <a:latin typeface="News Gothic" charset="0"/>
              </a:rPr>
              <a:t>第１２回 </a:t>
            </a:r>
            <a:r>
              <a:rPr kumimoji="0" lang="ja-JP" altLang="en-US" sz="2000" dirty="0">
                <a:latin typeface="News Gothic" charset="0"/>
              </a:rPr>
              <a:t>種々の構文の紹介、ファイル、総合演習課題</a:t>
            </a:r>
            <a:r>
              <a:rPr kumimoji="0" lang="ja-JP" altLang="en-US" sz="2000" dirty="0" smtClean="0">
                <a:latin typeface="News Gothic" charset="0"/>
              </a:rPr>
              <a:t>出題</a:t>
            </a:r>
            <a:endParaRPr kumimoji="0" lang="en-US" altLang="ja-JP" sz="2000" dirty="0" smtClean="0">
              <a:latin typeface="News Gothic" charset="0"/>
            </a:endParaRPr>
          </a:p>
          <a:p>
            <a:pPr marL="381000" indent="-381000">
              <a:lnSpc>
                <a:spcPct val="90000"/>
              </a:lnSpc>
            </a:pPr>
            <a:r>
              <a:rPr kumimoji="0" lang="ja-JP" altLang="en-US" sz="2000" dirty="0" smtClean="0">
                <a:latin typeface="News Gothic" charset="0"/>
              </a:rPr>
              <a:t>第１３回 </a:t>
            </a:r>
            <a:r>
              <a:rPr kumimoji="0" lang="ja-JP" altLang="en-US" sz="2000" dirty="0">
                <a:latin typeface="News Gothic" charset="0"/>
              </a:rPr>
              <a:t>総合</a:t>
            </a:r>
            <a:r>
              <a:rPr kumimoji="0" lang="ja-JP" altLang="en-US" sz="2000" dirty="0" smtClean="0">
                <a:latin typeface="News Gothic" charset="0"/>
              </a:rPr>
              <a:t>演習</a:t>
            </a:r>
            <a:endParaRPr kumimoji="0" lang="ja-JP" altLang="en-US" sz="2000" dirty="0">
              <a:latin typeface="News Gothic" charset="0"/>
            </a:endParaRPr>
          </a:p>
          <a:p>
            <a:pPr marL="381000" indent="-381000">
              <a:lnSpc>
                <a:spcPct val="90000"/>
              </a:lnSpc>
            </a:pPr>
            <a:r>
              <a:rPr kumimoji="0" lang="ja-JP" altLang="en-US" sz="2000" dirty="0" smtClean="0">
                <a:latin typeface="News Gothic" charset="0"/>
              </a:rPr>
              <a:t>第１４回 </a:t>
            </a:r>
            <a:r>
              <a:rPr kumimoji="0" lang="ja-JP" altLang="en-US" sz="2000" dirty="0">
                <a:latin typeface="News Gothic" charset="0"/>
              </a:rPr>
              <a:t>総合演習</a:t>
            </a:r>
            <a:endParaRPr kumimoji="0" lang="en-US" altLang="ja-JP" sz="2000" dirty="0">
              <a:latin typeface="News Gothic" charset="0"/>
            </a:endParaRPr>
          </a:p>
          <a:p>
            <a:pPr marL="381000" indent="-381000">
              <a:lnSpc>
                <a:spcPct val="90000"/>
              </a:lnSpc>
            </a:pPr>
            <a:r>
              <a:rPr kumimoji="0" lang="ja-JP" altLang="en-US" sz="2000" dirty="0" smtClean="0">
                <a:latin typeface="News Gothic" charset="0"/>
              </a:rPr>
              <a:t>第１５回 </a:t>
            </a:r>
            <a:r>
              <a:rPr kumimoji="0" lang="ja-JP" altLang="en-US" sz="2000" dirty="0">
                <a:latin typeface="News Gothic" charset="0"/>
              </a:rPr>
              <a:t>期末試験（持ち込み不可）</a:t>
            </a:r>
          </a:p>
        </p:txBody>
      </p:sp>
      <p:sp>
        <p:nvSpPr>
          <p:cNvPr id="25606" name="Text Box 5"/>
          <p:cNvSpPr txBox="1">
            <a:spLocks noChangeArrowheads="1"/>
          </p:cNvSpPr>
          <p:nvPr/>
        </p:nvSpPr>
        <p:spPr bwMode="auto">
          <a:xfrm>
            <a:off x="3984625" y="3954463"/>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spcBef>
                <a:spcPct val="50000"/>
              </a:spcBef>
            </a:pPr>
            <a:endParaRPr kumimoji="0" lang="ja-JP" altLang="en-US">
              <a:ea typeface="ＭＳ Ｐゴシック" charset="0"/>
              <a:cs typeface="ＭＳ Ｐゴシック" charset="0"/>
            </a:endParaRPr>
          </a:p>
        </p:txBody>
      </p:sp>
    </p:spTree>
    <p:extLst>
      <p:ext uri="{BB962C8B-B14F-4D97-AF65-F5344CB8AC3E}">
        <p14:creationId xmlns:p14="http://schemas.microsoft.com/office/powerpoint/2010/main" val="71334257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a:xfrm>
            <a:off x="750888" y="273579"/>
            <a:ext cx="7620000" cy="685800"/>
          </a:xfrm>
        </p:spPr>
        <p:txBody>
          <a:bodyPr>
            <a:normAutofit/>
          </a:bodyPr>
          <a:lstStyle/>
          <a:p>
            <a:r>
              <a:rPr kumimoji="0" lang="ja-JP" altLang="en-US" sz="3600" dirty="0">
                <a:latin typeface="Calibri" charset="0"/>
              </a:rPr>
              <a:t>今回の講義内容</a:t>
            </a:r>
            <a:endParaRPr kumimoji="0" lang="en-US" altLang="ja-JP" sz="3600" dirty="0">
              <a:latin typeface="Calibri" charset="0"/>
            </a:endParaRPr>
          </a:p>
        </p:txBody>
      </p:sp>
      <p:sp>
        <p:nvSpPr>
          <p:cNvPr id="8194" name="Rectangle 3"/>
          <p:cNvSpPr>
            <a:spLocks noGrp="1" noChangeArrowheads="1"/>
          </p:cNvSpPr>
          <p:nvPr>
            <p:ph idx="1"/>
          </p:nvPr>
        </p:nvSpPr>
        <p:spPr>
          <a:xfrm>
            <a:off x="780836" y="1434082"/>
            <a:ext cx="6913902" cy="4226270"/>
          </a:xfrm>
        </p:spPr>
        <p:txBody>
          <a:bodyPr>
            <a:normAutofit/>
          </a:bodyPr>
          <a:lstStyle/>
          <a:p>
            <a:r>
              <a:rPr kumimoji="0" lang="en-US" altLang="ja-JP" sz="2800" dirty="0">
                <a:latin typeface="News Gothic" charset="0"/>
              </a:rPr>
              <a:t> </a:t>
            </a:r>
            <a:r>
              <a:rPr kumimoji="0" lang="ja-JP" altLang="en-US" sz="2800" dirty="0" smtClean="0">
                <a:latin typeface="News Gothic" charset="0"/>
              </a:rPr>
              <a:t>型</a:t>
            </a:r>
            <a:r>
              <a:rPr kumimoji="0" lang="ja-JP" altLang="en-US" sz="2800" dirty="0" smtClean="0">
                <a:latin typeface="News Gothic" charset="0"/>
              </a:rPr>
              <a:t>変換</a:t>
            </a:r>
            <a:endParaRPr kumimoji="0" lang="en-US" altLang="ja-JP" sz="2800" dirty="0" smtClean="0">
              <a:latin typeface="News Gothic" charset="0"/>
            </a:endParaRPr>
          </a:p>
          <a:p>
            <a:pPr lvl="1"/>
            <a:r>
              <a:rPr kumimoji="0" lang="ja-JP" altLang="en-US" dirty="0" smtClean="0">
                <a:latin typeface="Syntax" charset="0"/>
                <a:cs typeface="ＭＳ Ｐゴシック" charset="0"/>
              </a:rPr>
              <a:t>暗黙</a:t>
            </a:r>
            <a:r>
              <a:rPr kumimoji="0" lang="ja-JP" altLang="en-US" dirty="0" smtClean="0">
                <a:latin typeface="Syntax" charset="0"/>
                <a:cs typeface="ＭＳ Ｐゴシック" charset="0"/>
              </a:rPr>
              <a:t>の型</a:t>
            </a:r>
            <a:r>
              <a:rPr kumimoji="0" lang="ja-JP" altLang="en-US" dirty="0" smtClean="0">
                <a:latin typeface="Syntax" charset="0"/>
                <a:cs typeface="ＭＳ Ｐゴシック" charset="0"/>
              </a:rPr>
              <a:t>変換</a:t>
            </a:r>
            <a:r>
              <a:rPr kumimoji="0" lang="ja-JP" altLang="en-US" dirty="0" smtClean="0">
                <a:latin typeface="Syntax" charset="0"/>
                <a:cs typeface="ＭＳ Ｐゴシック" charset="0"/>
              </a:rPr>
              <a:t>（暗黙のうちに行われる型変換）</a:t>
            </a:r>
            <a:endParaRPr kumimoji="0" lang="en-US" altLang="ja-JP" dirty="0" smtClean="0">
              <a:latin typeface="Syntax" charset="0"/>
              <a:cs typeface="ＭＳ Ｐゴシック" charset="0"/>
            </a:endParaRPr>
          </a:p>
          <a:p>
            <a:pPr lvl="1"/>
            <a:r>
              <a:rPr kumimoji="0" lang="ja-JP" altLang="en-US" dirty="0" smtClean="0">
                <a:latin typeface="Syntax" charset="0"/>
                <a:cs typeface="ＭＳ Ｐゴシック" charset="0"/>
              </a:rPr>
              <a:t>キャスト演算子（型変換</a:t>
            </a:r>
            <a:r>
              <a:rPr kumimoji="0" lang="ja-JP" altLang="en-US" dirty="0" smtClean="0">
                <a:latin typeface="Syntax" charset="0"/>
                <a:cs typeface="ＭＳ Ｐゴシック" charset="0"/>
              </a:rPr>
              <a:t>を</a:t>
            </a:r>
            <a:r>
              <a:rPr kumimoji="0" lang="ja-JP" altLang="en-US" dirty="0" smtClean="0">
                <a:latin typeface="Syntax" charset="0"/>
                <a:cs typeface="ＭＳ Ｐゴシック" charset="0"/>
              </a:rPr>
              <a:t>強制的に</a:t>
            </a:r>
            <a:r>
              <a:rPr kumimoji="0" lang="ja-JP" altLang="en-US" dirty="0" smtClean="0">
                <a:latin typeface="Syntax" charset="0"/>
                <a:cs typeface="ＭＳ Ｐゴシック" charset="0"/>
              </a:rPr>
              <a:t>行う</a:t>
            </a:r>
            <a:r>
              <a:rPr kumimoji="0" lang="ja-JP" altLang="en-US" dirty="0" smtClean="0">
                <a:latin typeface="Syntax" charset="0"/>
                <a:cs typeface="ＭＳ Ｐゴシック" charset="0"/>
              </a:rPr>
              <a:t>演算子</a:t>
            </a:r>
            <a:r>
              <a:rPr kumimoji="0" lang="ja-JP" altLang="en-US" dirty="0" smtClean="0">
                <a:latin typeface="Syntax" charset="0"/>
                <a:cs typeface="ＭＳ Ｐゴシック" charset="0"/>
              </a:rPr>
              <a:t>）</a:t>
            </a:r>
            <a:endParaRPr kumimoji="0" lang="en-US" altLang="ja-JP" dirty="0">
              <a:latin typeface="Syntax" charset="0"/>
              <a:cs typeface="ＭＳ Ｐゴシック" charset="0"/>
            </a:endParaRPr>
          </a:p>
          <a:p>
            <a:r>
              <a:rPr kumimoji="0" lang="ja-JP" altLang="en-US" sz="2800" dirty="0">
                <a:latin typeface="News Gothic" charset="0"/>
              </a:rPr>
              <a:t>条件分岐</a:t>
            </a:r>
            <a:endParaRPr kumimoji="0" lang="en-US" altLang="ja-JP" sz="2800" dirty="0">
              <a:latin typeface="News Gothic" charset="0"/>
            </a:endParaRPr>
          </a:p>
          <a:p>
            <a:pPr lvl="1"/>
            <a:r>
              <a:rPr kumimoji="0" lang="en-US" altLang="ja-JP" dirty="0">
                <a:latin typeface="Syntax" charset="0"/>
                <a:cs typeface="ＭＳ Ｐゴシック" charset="0"/>
              </a:rPr>
              <a:t>i</a:t>
            </a:r>
            <a:r>
              <a:rPr kumimoji="0" lang="en-US" altLang="ja-JP" dirty="0" smtClean="0">
                <a:latin typeface="Syntax" charset="0"/>
                <a:cs typeface="ＭＳ Ｐゴシック" charset="0"/>
              </a:rPr>
              <a:t>f</a:t>
            </a:r>
            <a:r>
              <a:rPr kumimoji="0" lang="ja-JP" altLang="en-US" dirty="0" smtClean="0">
                <a:latin typeface="Syntax" charset="0"/>
                <a:cs typeface="ＭＳ Ｐゴシック" charset="0"/>
              </a:rPr>
              <a:t>文</a:t>
            </a:r>
            <a:endParaRPr kumimoji="0" lang="en-US" altLang="ja-JP" dirty="0">
              <a:latin typeface="Syntax" charset="0"/>
              <a:cs typeface="ＭＳ Ｐゴシック" charset="0"/>
            </a:endParaRPr>
          </a:p>
          <a:p>
            <a:r>
              <a:rPr kumimoji="0" lang="ja-JP" altLang="en-US" sz="2800" dirty="0" smtClean="0">
                <a:latin typeface="Syntax" charset="0"/>
                <a:cs typeface="ＭＳ Ｐゴシック" charset="0"/>
              </a:rPr>
              <a:t>式の評価</a:t>
            </a:r>
            <a:endParaRPr kumimoji="0" lang="ja-JP" altLang="en-US" sz="2800" dirty="0">
              <a:latin typeface="Syntax" charset="0"/>
              <a:cs typeface="ＭＳ Ｐゴシック" charset="0"/>
            </a:endParaRPr>
          </a:p>
        </p:txBody>
      </p:sp>
    </p:spTree>
    <p:extLst>
      <p:ext uri="{BB962C8B-B14F-4D97-AF65-F5344CB8AC3E}">
        <p14:creationId xmlns:p14="http://schemas.microsoft.com/office/powerpoint/2010/main" val="367860494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836083" y="294746"/>
            <a:ext cx="7620000" cy="685800"/>
          </a:xfrm>
        </p:spPr>
        <p:txBody>
          <a:bodyPr rtlCol="0">
            <a:normAutofit fontScale="90000"/>
          </a:bodyPr>
          <a:lstStyle/>
          <a:p>
            <a:pPr fontAlgn="auto">
              <a:spcAft>
                <a:spcPts val="0"/>
              </a:spcAft>
              <a:defRPr/>
            </a:pPr>
            <a:r>
              <a:rPr kumimoji="0" lang="ja-JP" altLang="en-US" dirty="0" smtClean="0">
                <a:ea typeface="ＭＳ Ｐゴシック" pitchFamily="-112" charset="-128"/>
                <a:cs typeface="+mj-cs"/>
              </a:rPr>
              <a:t>準備</a:t>
            </a:r>
          </a:p>
        </p:txBody>
      </p:sp>
      <p:sp>
        <p:nvSpPr>
          <p:cNvPr id="27650" name="コンテンツ プレースホルダ 15"/>
          <p:cNvSpPr>
            <a:spLocks noGrp="1"/>
          </p:cNvSpPr>
          <p:nvPr>
            <p:ph idx="1"/>
          </p:nvPr>
        </p:nvSpPr>
        <p:spPr>
          <a:xfrm>
            <a:off x="762000" y="1295400"/>
            <a:ext cx="8024813" cy="3862388"/>
          </a:xfrm>
        </p:spPr>
        <p:txBody>
          <a:bodyPr/>
          <a:lstStyle/>
          <a:p>
            <a:r>
              <a:rPr lang="en-US" altLang="ja-JP" sz="2800">
                <a:latin typeface="News Gothic" charset="0"/>
                <a:ea typeface="ヒラギノ角ゴ Pro W3" charset="0"/>
                <a:cs typeface="ヒラギノ角ゴ Pro W3" charset="0"/>
              </a:rPr>
              <a:t>TeraTerm</a:t>
            </a:r>
            <a:r>
              <a:rPr lang="ja-JP" altLang="en-US" sz="2800">
                <a:latin typeface="News Gothic" charset="0"/>
                <a:ea typeface="ヒラギノ角ゴ Pro W3" charset="0"/>
                <a:cs typeface="ヒラギノ角ゴ Pro W3" charset="0"/>
              </a:rPr>
              <a:t>を起動し、</a:t>
            </a:r>
            <a:r>
              <a:rPr lang="en-US" altLang="ja-JP" sz="2800">
                <a:latin typeface="News Gothic" charset="0"/>
                <a:ea typeface="ヒラギノ角ゴ Pro W3" charset="0"/>
                <a:cs typeface="ヒラギノ角ゴ Pro W3" charset="0"/>
              </a:rPr>
              <a:t>oli.shibaura-it.ac.jp</a:t>
            </a:r>
            <a:r>
              <a:rPr lang="ja-JP" altLang="en-US" sz="2800">
                <a:latin typeface="News Gothic" charset="0"/>
                <a:ea typeface="ヒラギノ角ゴ Pro W3" charset="0"/>
                <a:cs typeface="ヒラギノ角ゴ Pro W3" charset="0"/>
              </a:rPr>
              <a:t>へログイン</a:t>
            </a:r>
            <a:endParaRPr lang="en-US" altLang="ja-JP" sz="2800">
              <a:latin typeface="News Gothic" charset="0"/>
              <a:ea typeface="ヒラギノ角ゴ Pro W3" charset="0"/>
              <a:cs typeface="ヒラギノ角ゴ Pro W3" charset="0"/>
            </a:endParaRPr>
          </a:p>
        </p:txBody>
      </p:sp>
    </p:spTree>
    <p:extLst>
      <p:ext uri="{BB962C8B-B14F-4D97-AF65-F5344CB8AC3E}">
        <p14:creationId xmlns:p14="http://schemas.microsoft.com/office/powerpoint/2010/main" val="205048555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a:xfrm>
            <a:off x="250825" y="294746"/>
            <a:ext cx="8818563" cy="685800"/>
          </a:xfrm>
        </p:spPr>
        <p:txBody>
          <a:bodyPr rtlCol="0">
            <a:noAutofit/>
          </a:bodyPr>
          <a:lstStyle/>
          <a:p>
            <a:pPr fontAlgn="auto">
              <a:spcAft>
                <a:spcPts val="0"/>
              </a:spcAft>
              <a:defRPr/>
            </a:pPr>
            <a:r>
              <a:rPr kumimoji="0" lang="ja-JP" altLang="en-US" sz="3600" dirty="0" smtClean="0">
                <a:ea typeface="ＭＳ Ｐゴシック" pitchFamily="-112" charset="-128"/>
                <a:cs typeface="+mj-cs"/>
              </a:rPr>
              <a:t>プログラムのコンパイル、実行の手順（例）</a:t>
            </a:r>
          </a:p>
        </p:txBody>
      </p:sp>
      <p:sp>
        <p:nvSpPr>
          <p:cNvPr id="10246" name="Rectangle 3"/>
          <p:cNvSpPr>
            <a:spLocks noGrp="1" noChangeArrowheads="1"/>
          </p:cNvSpPr>
          <p:nvPr>
            <p:ph idx="1"/>
          </p:nvPr>
        </p:nvSpPr>
        <p:spPr>
          <a:xfrm>
            <a:off x="594783" y="1019403"/>
            <a:ext cx="8020050" cy="5037997"/>
          </a:xfrm>
        </p:spPr>
        <p:txBody>
          <a:bodyPr rtlCol="0">
            <a:noAutofit/>
          </a:bodyPr>
          <a:lstStyle/>
          <a:p>
            <a:pPr>
              <a:defRPr/>
            </a:pPr>
            <a:r>
              <a:rPr kumimoji="0" lang="en-US" altLang="ja-JP" sz="2200" dirty="0" err="1" smtClean="0">
                <a:latin typeface="News Gothic" charset="0"/>
              </a:rPr>
              <a:t>mkdir</a:t>
            </a:r>
            <a:r>
              <a:rPr kumimoji="0" lang="ja-JP" altLang="en-US" sz="2200" dirty="0" smtClean="0">
                <a:latin typeface="News Gothic" charset="0"/>
              </a:rPr>
              <a:t>コマンドで自分の好きなディレクトリ</a:t>
            </a:r>
            <a:r>
              <a:rPr kumimoji="0" lang="en-US" altLang="ja-JP" sz="2200" dirty="0" smtClean="0">
                <a:latin typeface="News Gothic" charset="0"/>
              </a:rPr>
              <a:t>(1kai</a:t>
            </a:r>
            <a:r>
              <a:rPr kumimoji="0" lang="ja-JP" altLang="en-US" sz="2200" dirty="0" smtClean="0">
                <a:latin typeface="News Gothic" charset="0"/>
              </a:rPr>
              <a:t>など</a:t>
            </a:r>
            <a:r>
              <a:rPr kumimoji="0" lang="en-US" altLang="ja-JP" sz="2200" dirty="0" smtClean="0">
                <a:latin typeface="News Gothic" charset="0"/>
              </a:rPr>
              <a:t>)</a:t>
            </a:r>
            <a:r>
              <a:rPr kumimoji="0" lang="ja-JP" altLang="en-US" sz="2200" dirty="0" smtClean="0">
                <a:latin typeface="News Gothic" charset="0"/>
              </a:rPr>
              <a:t>を作成する。</a:t>
            </a:r>
            <a:endParaRPr kumimoji="0" lang="en-US" altLang="ja-JP" sz="2200" dirty="0" smtClean="0">
              <a:latin typeface="News Gothic" charset="0"/>
            </a:endParaRPr>
          </a:p>
          <a:p>
            <a:pPr lvl="1">
              <a:buFont typeface="Wingdings" charset="0"/>
              <a:buNone/>
              <a:defRPr/>
            </a:pPr>
            <a:r>
              <a:rPr kumimoji="0" lang="en-US" altLang="ja-JP" sz="2200" dirty="0" smtClean="0">
                <a:latin typeface="Syntax" charset="0"/>
                <a:cs typeface="ＭＳ Ｐゴシック" charset="0"/>
              </a:rPr>
              <a:t>$ </a:t>
            </a:r>
            <a:r>
              <a:rPr kumimoji="0" lang="en-US" altLang="ja-JP" sz="2200" dirty="0" err="1" smtClean="0">
                <a:latin typeface="Syntax" charset="0"/>
                <a:cs typeface="ＭＳ Ｐゴシック" charset="0"/>
              </a:rPr>
              <a:t>mkdir</a:t>
            </a:r>
            <a:r>
              <a:rPr kumimoji="0" lang="ja-JP" altLang="en-US" sz="2200" dirty="0" smtClean="0">
                <a:latin typeface="Syntax" charset="0"/>
                <a:cs typeface="ＭＳ Ｐゴシック" charset="0"/>
              </a:rPr>
              <a:t> </a:t>
            </a:r>
            <a:r>
              <a:rPr kumimoji="0" lang="en-US" altLang="ja-JP" sz="2200" dirty="0" smtClean="0">
                <a:latin typeface="Syntax" charset="0"/>
                <a:cs typeface="ＭＳ Ｐゴシック" charset="0"/>
              </a:rPr>
              <a:t>1kai ($</a:t>
            </a:r>
            <a:r>
              <a:rPr kumimoji="0" lang="ja-JP" altLang="en-US" sz="2200" dirty="0" smtClean="0">
                <a:latin typeface="Syntax" charset="0"/>
                <a:cs typeface="ＭＳ Ｐゴシック" charset="0"/>
              </a:rPr>
              <a:t>はプロンプト。各自、設定により異なる）</a:t>
            </a:r>
            <a:endParaRPr kumimoji="0" lang="en-US" altLang="ja-JP" sz="2200" dirty="0" smtClean="0">
              <a:latin typeface="Syntax" charset="0"/>
              <a:cs typeface="ＭＳ Ｐゴシック" charset="0"/>
            </a:endParaRPr>
          </a:p>
          <a:p>
            <a:pPr>
              <a:defRPr/>
            </a:pPr>
            <a:r>
              <a:rPr kumimoji="0" lang="en-US" altLang="ja-JP" sz="2200" dirty="0" smtClean="0">
                <a:latin typeface="News Gothic" charset="0"/>
              </a:rPr>
              <a:t>cd</a:t>
            </a:r>
            <a:r>
              <a:rPr kumimoji="0" lang="ja-JP" altLang="en-US" sz="2200" dirty="0" smtClean="0">
                <a:latin typeface="News Gothic" charset="0"/>
              </a:rPr>
              <a:t>コマンドでそのディレクトリへ移動    </a:t>
            </a:r>
            <a:r>
              <a:rPr kumimoji="0" lang="en-US" altLang="ja-JP" sz="2200" dirty="0" smtClean="0">
                <a:latin typeface="News Gothic" charset="0"/>
              </a:rPr>
              <a:t>$ cd 1kai</a:t>
            </a:r>
          </a:p>
          <a:p>
            <a:pPr>
              <a:defRPr/>
            </a:pPr>
            <a:r>
              <a:rPr kumimoji="0" lang="en-US" altLang="ja-JP" sz="2200" dirty="0" err="1" smtClean="0">
                <a:latin typeface="News Gothic" charset="0"/>
              </a:rPr>
              <a:t>emacs</a:t>
            </a:r>
            <a:r>
              <a:rPr kumimoji="0" lang="ja-JP" altLang="en-US" sz="2200" dirty="0" smtClean="0">
                <a:latin typeface="News Gothic" charset="0"/>
              </a:rPr>
              <a:t>コマンドで</a:t>
            </a:r>
            <a:r>
              <a:rPr kumimoji="0" lang="en-US" altLang="ja-JP" sz="2200" dirty="0" err="1" smtClean="0">
                <a:latin typeface="News Gothic" charset="0"/>
              </a:rPr>
              <a:t>Emacs</a:t>
            </a:r>
            <a:r>
              <a:rPr kumimoji="0" lang="ja-JP" altLang="en-US" sz="2200" dirty="0" smtClean="0">
                <a:latin typeface="News Gothic" charset="0"/>
              </a:rPr>
              <a:t>を起動  </a:t>
            </a:r>
            <a:r>
              <a:rPr kumimoji="0" lang="en-US" altLang="ja-JP" sz="2200" dirty="0" smtClean="0">
                <a:latin typeface="News Gothic" charset="0"/>
              </a:rPr>
              <a:t>$ </a:t>
            </a:r>
            <a:r>
              <a:rPr kumimoji="0" lang="en-US" altLang="ja-JP" sz="2200" dirty="0" err="1" smtClean="0">
                <a:latin typeface="News Gothic" charset="0"/>
              </a:rPr>
              <a:t>emacs</a:t>
            </a:r>
            <a:endParaRPr kumimoji="0" lang="en-US" altLang="ja-JP" sz="2200" dirty="0" smtClean="0">
              <a:latin typeface="News Gothic" charset="0"/>
            </a:endParaRPr>
          </a:p>
          <a:p>
            <a:pPr>
              <a:defRPr/>
            </a:pPr>
            <a:r>
              <a:rPr kumimoji="0" lang="en-US" altLang="ja-JP" sz="2200" dirty="0" err="1" smtClean="0">
                <a:latin typeface="News Gothic" charset="0"/>
              </a:rPr>
              <a:t>Emacs</a:t>
            </a:r>
            <a:r>
              <a:rPr kumimoji="0" lang="ja-JP" altLang="en-US" sz="2200" dirty="0" smtClean="0">
                <a:latin typeface="News Gothic" charset="0"/>
              </a:rPr>
              <a:t>上でファイルを開く（</a:t>
            </a:r>
            <a:r>
              <a:rPr kumimoji="0" lang="en-US" altLang="ja-JP" sz="2200" dirty="0" smtClean="0">
                <a:latin typeface="News Gothic" charset="0"/>
              </a:rPr>
              <a:t>C-x C-f</a:t>
            </a:r>
            <a:r>
              <a:rPr kumimoji="0" lang="ja-JP" altLang="en-US" sz="2200" dirty="0" smtClean="0">
                <a:latin typeface="News Gothic" charset="0"/>
              </a:rPr>
              <a:t>の後ファイル名</a:t>
            </a:r>
            <a:r>
              <a:rPr kumimoji="0" lang="en-US" altLang="ja-JP" sz="2200" dirty="0" smtClean="0">
                <a:latin typeface="News Gothic" charset="0"/>
              </a:rPr>
              <a:t>(</a:t>
            </a:r>
            <a:r>
              <a:rPr kumimoji="0" lang="en-US" altLang="ja-JP" sz="2200" dirty="0" err="1" smtClean="0">
                <a:latin typeface="News Gothic" charset="0"/>
              </a:rPr>
              <a:t>test.c</a:t>
            </a:r>
            <a:r>
              <a:rPr kumimoji="0" lang="ja-JP" altLang="en-US" sz="2200" dirty="0" smtClean="0">
                <a:latin typeface="News Gothic" charset="0"/>
              </a:rPr>
              <a:t>など</a:t>
            </a:r>
            <a:r>
              <a:rPr kumimoji="0" lang="en-US" altLang="ja-JP" sz="2200" dirty="0" smtClean="0">
                <a:latin typeface="News Gothic" charset="0"/>
              </a:rPr>
              <a:t>)</a:t>
            </a:r>
            <a:r>
              <a:rPr kumimoji="0" lang="ja-JP" altLang="en-US" sz="2200" dirty="0" smtClean="0">
                <a:latin typeface="News Gothic" charset="0"/>
              </a:rPr>
              <a:t>を入力）</a:t>
            </a:r>
            <a:endParaRPr kumimoji="0" lang="en-US" altLang="ja-JP" sz="2200" dirty="0" smtClean="0">
              <a:latin typeface="News Gothic" charset="0"/>
            </a:endParaRPr>
          </a:p>
          <a:p>
            <a:pPr>
              <a:defRPr/>
            </a:pPr>
            <a:r>
              <a:rPr kumimoji="0" lang="ja-JP" altLang="en-US" sz="2200" dirty="0" smtClean="0">
                <a:latin typeface="News Gothic" charset="0"/>
              </a:rPr>
              <a:t>プログラムを記述した後、保存（</a:t>
            </a:r>
            <a:r>
              <a:rPr kumimoji="0" lang="en-US" altLang="ja-JP" sz="2200" dirty="0" smtClean="0">
                <a:latin typeface="News Gothic" charset="0"/>
              </a:rPr>
              <a:t>C-x C-s</a:t>
            </a:r>
            <a:r>
              <a:rPr kumimoji="0" lang="ja-JP" altLang="en-US" sz="2200" dirty="0" smtClean="0">
                <a:latin typeface="News Gothic" charset="0"/>
              </a:rPr>
              <a:t>）</a:t>
            </a:r>
            <a:endParaRPr kumimoji="0" lang="en-US" altLang="ja-JP" sz="2200" dirty="0" smtClean="0">
              <a:latin typeface="News Gothic" charset="0"/>
            </a:endParaRPr>
          </a:p>
          <a:p>
            <a:pPr>
              <a:defRPr/>
            </a:pPr>
            <a:r>
              <a:rPr kumimoji="0" lang="en-US" altLang="ja-JP" sz="2200" dirty="0" err="1" smtClean="0">
                <a:latin typeface="News Gothic" charset="0"/>
              </a:rPr>
              <a:t>Emacs</a:t>
            </a:r>
            <a:r>
              <a:rPr kumimoji="0" lang="ja-JP" altLang="en-US" sz="2200" dirty="0" smtClean="0">
                <a:latin typeface="News Gothic" charset="0"/>
              </a:rPr>
              <a:t>を終了する</a:t>
            </a:r>
            <a:r>
              <a:rPr kumimoji="0" lang="en-US" altLang="ja-JP" sz="2200" dirty="0" smtClean="0">
                <a:latin typeface="News Gothic" charset="0"/>
              </a:rPr>
              <a:t>(C-x C-c)</a:t>
            </a:r>
            <a:r>
              <a:rPr kumimoji="0" lang="ja-JP" altLang="en-US" sz="2200" dirty="0" smtClean="0">
                <a:latin typeface="News Gothic" charset="0"/>
              </a:rPr>
              <a:t>か、あるいは中断する</a:t>
            </a:r>
            <a:r>
              <a:rPr kumimoji="0" lang="en-US" altLang="ja-JP" sz="2200" dirty="0" smtClean="0">
                <a:latin typeface="News Gothic" charset="0"/>
              </a:rPr>
              <a:t>(C-z)</a:t>
            </a:r>
            <a:endParaRPr kumimoji="0" lang="ja-JP" altLang="en-US" sz="2200" dirty="0" smtClean="0">
              <a:latin typeface="News Gothic" charset="0"/>
            </a:endParaRPr>
          </a:p>
          <a:p>
            <a:pPr>
              <a:defRPr/>
            </a:pPr>
            <a:r>
              <a:rPr kumimoji="0" lang="en-US" altLang="ja-JP" sz="2200" dirty="0" err="1" smtClean="0">
                <a:latin typeface="News Gothic" charset="0"/>
              </a:rPr>
              <a:t>gcc</a:t>
            </a:r>
            <a:r>
              <a:rPr kumimoji="0" lang="ja-JP" altLang="en-US" sz="2200" dirty="0" smtClean="0">
                <a:latin typeface="News Gothic" charset="0"/>
              </a:rPr>
              <a:t>コマンドでコンパイル   </a:t>
            </a:r>
            <a:r>
              <a:rPr kumimoji="0" lang="en-US" altLang="ja-JP" sz="2200" dirty="0" smtClean="0">
                <a:latin typeface="News Gothic" charset="0"/>
              </a:rPr>
              <a:t>$ </a:t>
            </a:r>
            <a:r>
              <a:rPr kumimoji="0" lang="en-US" altLang="ja-JP" sz="2200" dirty="0" err="1" smtClean="0">
                <a:latin typeface="News Gothic" charset="0"/>
              </a:rPr>
              <a:t>gcc</a:t>
            </a:r>
            <a:r>
              <a:rPr kumimoji="0" lang="en-US" altLang="ja-JP" sz="2200" dirty="0" smtClean="0">
                <a:latin typeface="News Gothic" charset="0"/>
              </a:rPr>
              <a:t> </a:t>
            </a:r>
            <a:r>
              <a:rPr kumimoji="0" lang="en-US" altLang="ja-JP" sz="2200" dirty="0" err="1" smtClean="0">
                <a:latin typeface="News Gothic" charset="0"/>
              </a:rPr>
              <a:t>test.c</a:t>
            </a:r>
            <a:r>
              <a:rPr kumimoji="0" lang="en-US" altLang="ja-JP" sz="2200" dirty="0" smtClean="0">
                <a:latin typeface="News Gothic" charset="0"/>
              </a:rPr>
              <a:t> –o test</a:t>
            </a:r>
          </a:p>
          <a:p>
            <a:pPr>
              <a:defRPr/>
            </a:pPr>
            <a:r>
              <a:rPr kumimoji="0" lang="ja-JP" altLang="en-US" sz="2200" dirty="0" smtClean="0">
                <a:latin typeface="News Gothic" charset="0"/>
              </a:rPr>
              <a:t>実行  </a:t>
            </a:r>
            <a:r>
              <a:rPr kumimoji="0" lang="en-US" altLang="ja-JP" sz="2200" dirty="0" smtClean="0">
                <a:latin typeface="News Gothic" charset="0"/>
              </a:rPr>
              <a:t>$ ./test</a:t>
            </a:r>
          </a:p>
          <a:p>
            <a:pPr>
              <a:defRPr/>
            </a:pPr>
            <a:r>
              <a:rPr kumimoji="0" lang="en-US" altLang="ja-JP" sz="2200" dirty="0" err="1" smtClean="0">
                <a:latin typeface="News Gothic" charset="0"/>
              </a:rPr>
              <a:t>test.c</a:t>
            </a:r>
            <a:r>
              <a:rPr kumimoji="0" lang="ja-JP" altLang="en-US" sz="2200" dirty="0" smtClean="0">
                <a:latin typeface="News Gothic" charset="0"/>
              </a:rPr>
              <a:t>を再編集する場合は、</a:t>
            </a:r>
            <a:r>
              <a:rPr kumimoji="0" lang="en-US" altLang="ja-JP" sz="2200" dirty="0" err="1" smtClean="0">
                <a:latin typeface="News Gothic" charset="0"/>
              </a:rPr>
              <a:t>Emacs</a:t>
            </a:r>
            <a:r>
              <a:rPr kumimoji="0" lang="ja-JP" altLang="en-US" sz="2200" dirty="0" smtClean="0">
                <a:latin typeface="News Gothic" charset="0"/>
              </a:rPr>
              <a:t>を</a:t>
            </a:r>
            <a:r>
              <a:rPr kumimoji="0" lang="en-US" altLang="ja-JP" sz="2200" dirty="0" err="1" smtClean="0">
                <a:latin typeface="News Gothic" charset="0"/>
              </a:rPr>
              <a:t>emacs</a:t>
            </a:r>
            <a:r>
              <a:rPr kumimoji="0" lang="ja-JP" altLang="en-US" sz="2200" dirty="0" smtClean="0">
                <a:latin typeface="News Gothic" charset="0"/>
              </a:rPr>
              <a:t>コマンドでもう一度起動する（さきほど終了した場合）か、あるいは</a:t>
            </a:r>
            <a:r>
              <a:rPr kumimoji="0" lang="en-US" altLang="ja-JP" sz="2200" dirty="0" err="1" smtClean="0">
                <a:latin typeface="News Gothic" charset="0"/>
              </a:rPr>
              <a:t>fg</a:t>
            </a:r>
            <a:r>
              <a:rPr kumimoji="0" lang="ja-JP" altLang="en-US" sz="2200" dirty="0" smtClean="0">
                <a:latin typeface="News Gothic" charset="0"/>
              </a:rPr>
              <a:t>コマンドで再開させる（さきほど中断した場合）。</a:t>
            </a:r>
            <a:endParaRPr kumimoji="0" lang="en-US" altLang="ja-JP" sz="2200" dirty="0" smtClean="0">
              <a:latin typeface="News Gothic" charset="0"/>
            </a:endParaRPr>
          </a:p>
        </p:txBody>
      </p:sp>
      <p:sp>
        <p:nvSpPr>
          <p:cNvPr id="2" name="正方形/長方形 1"/>
          <p:cNvSpPr/>
          <p:nvPr/>
        </p:nvSpPr>
        <p:spPr>
          <a:xfrm>
            <a:off x="618736" y="6094343"/>
            <a:ext cx="7696211" cy="707886"/>
          </a:xfrm>
          <a:prstGeom prst="rect">
            <a:avLst/>
          </a:prstGeom>
        </p:spPr>
        <p:txBody>
          <a:bodyPr wrap="square">
            <a:spAutoFit/>
          </a:bodyPr>
          <a:lstStyle/>
          <a:p>
            <a:pPr>
              <a:defRPr/>
            </a:pPr>
            <a:r>
              <a:rPr kumimoji="0" lang="en-US" altLang="ja-JP" sz="2000" dirty="0" smtClean="0">
                <a:latin typeface="News Gothic" charset="0"/>
              </a:rPr>
              <a:t>(</a:t>
            </a:r>
            <a:r>
              <a:rPr kumimoji="0" lang="ja-JP" altLang="en-US" sz="2000" dirty="0" smtClean="0">
                <a:latin typeface="News Gothic" charset="0"/>
              </a:rPr>
              <a:t>参考</a:t>
            </a:r>
            <a:r>
              <a:rPr kumimoji="0" lang="en-US" altLang="ja-JP" sz="2000" dirty="0" smtClean="0">
                <a:latin typeface="News Gothic" charset="0"/>
              </a:rPr>
              <a:t>) Terminal</a:t>
            </a:r>
            <a:r>
              <a:rPr kumimoji="0" lang="ja-JP" altLang="en-US" sz="2000" dirty="0" smtClean="0">
                <a:latin typeface="News Gothic" charset="0"/>
              </a:rPr>
              <a:t>を２つ使って、１つ</a:t>
            </a:r>
            <a:r>
              <a:rPr kumimoji="0" lang="ja-JP" altLang="en-US" sz="2000" dirty="0">
                <a:latin typeface="News Gothic" charset="0"/>
              </a:rPr>
              <a:t>はコンパイル用、もう１つは</a:t>
            </a:r>
            <a:r>
              <a:rPr kumimoji="0" lang="en-US" altLang="ja-JP" sz="2000" dirty="0" err="1">
                <a:latin typeface="News Gothic" charset="0"/>
              </a:rPr>
              <a:t>Emacs</a:t>
            </a:r>
            <a:r>
              <a:rPr kumimoji="0" lang="ja-JP" altLang="en-US" sz="2000" dirty="0">
                <a:latin typeface="News Gothic" charset="0"/>
              </a:rPr>
              <a:t>用にすると、</a:t>
            </a:r>
            <a:r>
              <a:rPr kumimoji="0" lang="en-US" altLang="ja-JP" sz="2000" dirty="0" err="1">
                <a:latin typeface="News Gothic" charset="0"/>
              </a:rPr>
              <a:t>Emacs</a:t>
            </a:r>
            <a:r>
              <a:rPr kumimoji="0" lang="ja-JP" altLang="en-US" sz="2000" dirty="0">
                <a:latin typeface="News Gothic" charset="0"/>
              </a:rPr>
              <a:t>を終了したり中断したりする必要がなくなる。</a:t>
            </a:r>
          </a:p>
        </p:txBody>
      </p:sp>
    </p:spTree>
    <p:extLst>
      <p:ext uri="{BB962C8B-B14F-4D97-AF65-F5344CB8AC3E}">
        <p14:creationId xmlns:p14="http://schemas.microsoft.com/office/powerpoint/2010/main" val="2188422005"/>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0" name="Rectangle 4"/>
          <p:cNvSpPr>
            <a:spLocks noGrp="1" noChangeArrowheads="1"/>
          </p:cNvSpPr>
          <p:nvPr>
            <p:ph type="title"/>
          </p:nvPr>
        </p:nvSpPr>
        <p:spPr>
          <a:xfrm>
            <a:off x="494242" y="262994"/>
            <a:ext cx="8137525" cy="685800"/>
          </a:xfrm>
        </p:spPr>
        <p:txBody>
          <a:bodyPr rtlCol="0">
            <a:normAutofit fontScale="90000"/>
          </a:bodyPr>
          <a:lstStyle/>
          <a:p>
            <a:pPr fontAlgn="auto">
              <a:spcAft>
                <a:spcPts val="0"/>
              </a:spcAft>
              <a:defRPr/>
            </a:pPr>
            <a:r>
              <a:rPr kumimoji="0" lang="ja-JP" altLang="en-US" dirty="0" smtClean="0">
                <a:ea typeface="ＭＳ Ｐゴシック" pitchFamily="-112" charset="-128"/>
                <a:cs typeface="+mj-cs"/>
              </a:rPr>
              <a:t>例（打ち込んで実行）</a:t>
            </a:r>
          </a:p>
        </p:txBody>
      </p:sp>
      <p:sp>
        <p:nvSpPr>
          <p:cNvPr id="31749" name="Text Box 7"/>
          <p:cNvSpPr txBox="1">
            <a:spLocks noChangeArrowheads="1"/>
          </p:cNvSpPr>
          <p:nvPr/>
        </p:nvSpPr>
        <p:spPr bwMode="auto">
          <a:xfrm>
            <a:off x="1324521" y="1489305"/>
            <a:ext cx="3065427" cy="23050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a:ea typeface="ＭＳ Ｐゴシック" charset="0"/>
                <a:cs typeface="ＭＳ Ｐゴシック" charset="0"/>
              </a:rPr>
              <a:t>#include &lt;stdio.h&gt;</a:t>
            </a:r>
          </a:p>
          <a:p>
            <a:r>
              <a:rPr kumimoji="0" lang="en-US" altLang="ja-JP" sz="2400">
                <a:ea typeface="ＭＳ Ｐゴシック" charset="0"/>
                <a:cs typeface="ＭＳ Ｐゴシック" charset="0"/>
              </a:rPr>
              <a:t>int main (void)</a:t>
            </a:r>
          </a:p>
          <a:p>
            <a:r>
              <a:rPr kumimoji="0" lang="en-US" altLang="ja-JP" sz="2400">
                <a:ea typeface="ＭＳ Ｐゴシック" charset="0"/>
                <a:cs typeface="ＭＳ Ｐゴシック" charset="0"/>
              </a:rPr>
              <a:t>{</a:t>
            </a:r>
          </a:p>
          <a:p>
            <a:r>
              <a:rPr kumimoji="0" lang="en-US" altLang="ja-JP" sz="2400">
                <a:ea typeface="ＭＳ Ｐゴシック" charset="0"/>
                <a:cs typeface="ＭＳ Ｐゴシック" charset="0"/>
              </a:rPr>
              <a:t>    printf(“test\n”);</a:t>
            </a:r>
          </a:p>
          <a:p>
            <a:r>
              <a:rPr kumimoji="0" lang="en-US" altLang="ja-JP" sz="2400">
                <a:ea typeface="ＭＳ Ｐゴシック" charset="0"/>
                <a:cs typeface="ＭＳ Ｐゴシック" charset="0"/>
              </a:rPr>
              <a:t>    return 0;</a:t>
            </a:r>
          </a:p>
          <a:p>
            <a:r>
              <a:rPr kumimoji="0" lang="en-US" altLang="ja-JP" sz="2400">
                <a:ea typeface="ＭＳ Ｐゴシック" charset="0"/>
                <a:cs typeface="ＭＳ Ｐゴシック" charset="0"/>
              </a:rPr>
              <a:t>}</a:t>
            </a:r>
          </a:p>
        </p:txBody>
      </p:sp>
      <p:sp>
        <p:nvSpPr>
          <p:cNvPr id="31751" name="テキスト ボックス 7"/>
          <p:cNvSpPr txBox="1">
            <a:spLocks noChangeArrowheads="1"/>
          </p:cNvSpPr>
          <p:nvPr/>
        </p:nvSpPr>
        <p:spPr bwMode="auto">
          <a:xfrm>
            <a:off x="360362" y="4686110"/>
            <a:ext cx="855161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smtClean="0"/>
              <a:t>注意１</a:t>
            </a:r>
            <a:r>
              <a:rPr lang="en-US" altLang="ja-JP" sz="2400" dirty="0" smtClean="0"/>
              <a:t>:  C</a:t>
            </a:r>
            <a:r>
              <a:rPr lang="ja-JP" altLang="en-US" sz="2400" dirty="0"/>
              <a:t>言語プログラムのファイル名は</a:t>
            </a:r>
            <a:r>
              <a:rPr lang="en-US" altLang="ja-JP" sz="2400" dirty="0"/>
              <a:t>.c</a:t>
            </a:r>
            <a:r>
              <a:rPr lang="ja-JP" altLang="en-US" sz="2400" dirty="0"/>
              <a:t>で終わる名前にしてください。（</a:t>
            </a:r>
            <a:r>
              <a:rPr lang="en-US" altLang="ja-JP" sz="2400" dirty="0" err="1"/>
              <a:t>gcc</a:t>
            </a:r>
            <a:r>
              <a:rPr lang="ja-JP" altLang="en-US" sz="2400" dirty="0"/>
              <a:t>がファイル名の拡張子部分を見るため</a:t>
            </a:r>
            <a:r>
              <a:rPr lang="ja-JP" altLang="en-US" sz="2400" dirty="0" smtClean="0"/>
              <a:t>）</a:t>
            </a:r>
            <a:endParaRPr lang="en-US" altLang="ja-JP" sz="2400" dirty="0" smtClean="0"/>
          </a:p>
          <a:p>
            <a:r>
              <a:rPr lang="ja-JP" altLang="en-US" sz="2400" dirty="0"/>
              <a:t>注意２</a:t>
            </a:r>
            <a:r>
              <a:rPr lang="ja-JP" altLang="en-US" sz="2400" dirty="0" smtClean="0"/>
              <a:t>：</a:t>
            </a:r>
            <a:r>
              <a:rPr lang="en-US" altLang="ja-JP" sz="2400" dirty="0" smtClean="0"/>
              <a:t> </a:t>
            </a:r>
            <a:r>
              <a:rPr lang="ja-JP" altLang="en-US" sz="2400" dirty="0" smtClean="0"/>
              <a:t>プログラム</a:t>
            </a:r>
            <a:r>
              <a:rPr lang="ja-JP" altLang="en-US" sz="2400" dirty="0"/>
              <a:t>は（日本語部分以外は）半角英数字で記述</a:t>
            </a:r>
            <a:r>
              <a:rPr lang="ja-JP" altLang="en-US" sz="2400" dirty="0" smtClean="0"/>
              <a:t>する</a:t>
            </a:r>
            <a:endParaRPr lang="ja-JP" altLang="en-US" sz="2400" dirty="0"/>
          </a:p>
        </p:txBody>
      </p:sp>
    </p:spTree>
    <p:extLst>
      <p:ext uri="{BB962C8B-B14F-4D97-AF65-F5344CB8AC3E}">
        <p14:creationId xmlns:p14="http://schemas.microsoft.com/office/powerpoint/2010/main" val="295940063"/>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タイトル 1"/>
          <p:cNvSpPr>
            <a:spLocks noGrp="1"/>
          </p:cNvSpPr>
          <p:nvPr>
            <p:ph type="title"/>
          </p:nvPr>
        </p:nvSpPr>
        <p:spPr>
          <a:xfrm>
            <a:off x="519113" y="226087"/>
            <a:ext cx="8229600" cy="938321"/>
          </a:xfrm>
        </p:spPr>
        <p:txBody>
          <a:bodyPr/>
          <a:lstStyle/>
          <a:p>
            <a:r>
              <a:rPr lang="ja-JP" altLang="en-US" dirty="0">
                <a:latin typeface="Calibri" charset="0"/>
              </a:rPr>
              <a:t>改行について</a:t>
            </a:r>
          </a:p>
        </p:txBody>
      </p:sp>
      <p:sp>
        <p:nvSpPr>
          <p:cNvPr id="35845" name="テキスト ボックス 6"/>
          <p:cNvSpPr txBox="1">
            <a:spLocks noChangeArrowheads="1"/>
          </p:cNvSpPr>
          <p:nvPr/>
        </p:nvSpPr>
        <p:spPr bwMode="auto">
          <a:xfrm>
            <a:off x="611188" y="1196975"/>
            <a:ext cx="75612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a:ea typeface="ＭＳ Ｐゴシック" charset="0"/>
                <a:cs typeface="ＭＳ Ｐゴシック" charset="0"/>
              </a:rPr>
              <a:t>さきほどのプログラムで、１行目以外は改行をしなくてもよい。</a:t>
            </a:r>
            <a:r>
              <a:rPr lang="ja-JP" altLang="en-US" sz="2400"/>
              <a:t>例えば、以下のプログラムはさきほどのプログラムと同じ意味である。</a:t>
            </a:r>
            <a:endParaRPr kumimoji="0" lang="ja-JP" altLang="en-US" sz="2400">
              <a:ea typeface="ＭＳ Ｐゴシック" charset="0"/>
              <a:cs typeface="ＭＳ Ｐゴシック" charset="0"/>
            </a:endParaRPr>
          </a:p>
        </p:txBody>
      </p:sp>
      <p:sp>
        <p:nvSpPr>
          <p:cNvPr id="35846" name="Text Box 7"/>
          <p:cNvSpPr txBox="1">
            <a:spLocks noChangeArrowheads="1"/>
          </p:cNvSpPr>
          <p:nvPr/>
        </p:nvSpPr>
        <p:spPr bwMode="auto">
          <a:xfrm>
            <a:off x="1042988" y="2420938"/>
            <a:ext cx="6049962" cy="8302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a:ea typeface="ＭＳ Ｐゴシック" charset="0"/>
                <a:cs typeface="ＭＳ Ｐゴシック" charset="0"/>
              </a:rPr>
              <a:t>#include &lt;stdio.h&gt;</a:t>
            </a:r>
          </a:p>
          <a:p>
            <a:r>
              <a:rPr kumimoji="0" lang="en-US" altLang="ja-JP" sz="2400">
                <a:ea typeface="ＭＳ Ｐゴシック" charset="0"/>
                <a:cs typeface="ＭＳ Ｐゴシック" charset="0"/>
              </a:rPr>
              <a:t>int main (void) { printf(“test\n”); return 0;}</a:t>
            </a:r>
          </a:p>
        </p:txBody>
      </p:sp>
      <p:sp>
        <p:nvSpPr>
          <p:cNvPr id="35847" name="テキスト ボックス 9"/>
          <p:cNvSpPr txBox="1">
            <a:spLocks noChangeArrowheads="1"/>
          </p:cNvSpPr>
          <p:nvPr/>
        </p:nvSpPr>
        <p:spPr bwMode="auto">
          <a:xfrm>
            <a:off x="395288" y="3429000"/>
            <a:ext cx="835342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dirty="0"/>
              <a:t>[</a:t>
            </a:r>
            <a:r>
              <a:rPr lang="ja-JP" altLang="en-US" sz="2400" dirty="0"/>
              <a:t>注意事項</a:t>
            </a:r>
            <a:r>
              <a:rPr lang="en-US" altLang="ja-JP" sz="2400" dirty="0"/>
              <a:t>]</a:t>
            </a:r>
          </a:p>
          <a:p>
            <a:r>
              <a:rPr lang="en-US" altLang="ja-JP" sz="2400" dirty="0"/>
              <a:t>#include</a:t>
            </a:r>
            <a:r>
              <a:rPr lang="ja-JP" altLang="en-US" sz="2400" dirty="0"/>
              <a:t>の行は特別で、改行が必要である。</a:t>
            </a:r>
            <a:endParaRPr lang="en-US" altLang="ja-JP" sz="2400" dirty="0"/>
          </a:p>
          <a:p>
            <a:r>
              <a:rPr lang="en-US" altLang="ja-JP" sz="2400" dirty="0" err="1"/>
              <a:t>int</a:t>
            </a:r>
            <a:r>
              <a:rPr lang="en-US" altLang="ja-JP" sz="2400" dirty="0"/>
              <a:t>, main, void, </a:t>
            </a:r>
            <a:r>
              <a:rPr lang="en-US" altLang="ja-JP" sz="2400" dirty="0" err="1"/>
              <a:t>printf</a:t>
            </a:r>
            <a:r>
              <a:rPr lang="en-US" altLang="ja-JP" sz="2400" dirty="0"/>
              <a:t>, return</a:t>
            </a:r>
            <a:r>
              <a:rPr lang="ja-JP" altLang="en-US" sz="2400" dirty="0"/>
              <a:t>など</a:t>
            </a:r>
            <a:r>
              <a:rPr lang="ja-JP" altLang="en-US" sz="2400" dirty="0" smtClean="0"/>
              <a:t>の綴りの途中</a:t>
            </a:r>
            <a:r>
              <a:rPr lang="ja-JP" altLang="en-US" sz="2400" dirty="0"/>
              <a:t>で改行してはいけない。</a:t>
            </a:r>
            <a:endParaRPr lang="en-US" altLang="ja-JP" sz="2400" dirty="0"/>
          </a:p>
          <a:p>
            <a:r>
              <a:rPr lang="ja-JP" altLang="en-US" sz="2400" dirty="0"/>
              <a:t>空白がある場所は自由に改行してよい（ダブルクォートの中、</a:t>
            </a:r>
            <a:r>
              <a:rPr lang="en-US" altLang="ja-JP" sz="2400" dirty="0"/>
              <a:t>#include</a:t>
            </a:r>
            <a:r>
              <a:rPr lang="ja-JP" altLang="en-US" sz="2400" dirty="0"/>
              <a:t>の行は除く）。</a:t>
            </a:r>
            <a:endParaRPr lang="en-US" altLang="ja-JP" sz="2400" dirty="0"/>
          </a:p>
          <a:p>
            <a:endParaRPr lang="ja-JP" altLang="en-US" sz="2400" dirty="0"/>
          </a:p>
        </p:txBody>
      </p:sp>
    </p:spTree>
    <p:extLst>
      <p:ext uri="{BB962C8B-B14F-4D97-AF65-F5344CB8AC3E}">
        <p14:creationId xmlns:p14="http://schemas.microsoft.com/office/powerpoint/2010/main" val="1699726207"/>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a:xfrm>
            <a:off x="669751" y="256802"/>
            <a:ext cx="7620000" cy="685800"/>
          </a:xfrm>
        </p:spPr>
        <p:txBody>
          <a:bodyPr>
            <a:normAutofit/>
          </a:bodyPr>
          <a:lstStyle/>
          <a:p>
            <a:r>
              <a:rPr kumimoji="0" lang="ja-JP" altLang="en-US" sz="3600" dirty="0" smtClean="0">
                <a:latin typeface="Calibri" charset="0"/>
              </a:rPr>
              <a:t>代入式における暗黙の型変換</a:t>
            </a:r>
            <a:endParaRPr kumimoji="0" lang="ja-JP" altLang="en-US" sz="3600" dirty="0">
              <a:latin typeface="Calibri" charset="0"/>
            </a:endParaRPr>
          </a:p>
        </p:txBody>
      </p:sp>
      <p:grpSp>
        <p:nvGrpSpPr>
          <p:cNvPr id="16390" name="Group 4"/>
          <p:cNvGrpSpPr>
            <a:grpSpLocks/>
          </p:cNvGrpSpPr>
          <p:nvPr/>
        </p:nvGrpSpPr>
        <p:grpSpPr bwMode="auto">
          <a:xfrm>
            <a:off x="3380349" y="2597150"/>
            <a:ext cx="1037211" cy="1254125"/>
            <a:chOff x="33" y="1616"/>
            <a:chExt cx="817" cy="790"/>
          </a:xfrm>
        </p:grpSpPr>
        <p:sp>
          <p:nvSpPr>
            <p:cNvPr id="16400" name="AutoShape 5"/>
            <p:cNvSpPr>
              <a:spLocks noChangeArrowheads="1"/>
            </p:cNvSpPr>
            <p:nvPr/>
          </p:nvSpPr>
          <p:spPr bwMode="auto">
            <a:xfrm>
              <a:off x="33" y="1616"/>
              <a:ext cx="817" cy="499"/>
            </a:xfrm>
            <a:prstGeom prst="cube">
              <a:avLst>
                <a:gd name="adj" fmla="val 25000"/>
              </a:avLst>
            </a:prstGeom>
            <a:solidFill>
              <a:schemeClr val="accent1">
                <a:alpha val="59999"/>
              </a:schemeClr>
            </a:solidFill>
            <a:ln w="9525">
              <a:solidFill>
                <a:schemeClr val="tx1"/>
              </a:solidFill>
              <a:miter lim="800000"/>
              <a:headEnd/>
              <a:tailEnd/>
            </a:ln>
          </p:spPr>
          <p:txBody>
            <a:bodyPr wrap="none" anchor="ctr"/>
            <a:lstStyle/>
            <a:p>
              <a:pPr algn="ctr"/>
              <a:r>
                <a:rPr lang="en-US" altLang="ja-JP">
                  <a:ea typeface="ＭＳ Ｐゴシック" charset="0"/>
                  <a:cs typeface="ＭＳ Ｐゴシック" charset="0"/>
                </a:rPr>
                <a:t>nx</a:t>
              </a:r>
            </a:p>
          </p:txBody>
        </p:sp>
        <p:sp>
          <p:nvSpPr>
            <p:cNvPr id="16401" name="Text Box 6"/>
            <p:cNvSpPr txBox="1">
              <a:spLocks noChangeArrowheads="1"/>
            </p:cNvSpPr>
            <p:nvPr/>
          </p:nvSpPr>
          <p:spPr bwMode="auto">
            <a:xfrm>
              <a:off x="168" y="2156"/>
              <a:ext cx="4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err="1">
                  <a:solidFill>
                    <a:srgbClr val="FF3300"/>
                  </a:solidFill>
                  <a:ea typeface="ＭＳ Ｐゴシック" charset="0"/>
                  <a:cs typeface="ＭＳ Ｐゴシック" charset="0"/>
                </a:rPr>
                <a:t>int</a:t>
              </a:r>
              <a:r>
                <a:rPr kumimoji="0" lang="ja-JP" altLang="en-US" sz="2000" dirty="0">
                  <a:solidFill>
                    <a:srgbClr val="FF3300"/>
                  </a:solidFill>
                  <a:ea typeface="ＭＳ Ｐゴシック" charset="0"/>
                  <a:cs typeface="ＭＳ Ｐゴシック" charset="0"/>
                </a:rPr>
                <a:t>型</a:t>
              </a:r>
            </a:p>
          </p:txBody>
        </p:sp>
      </p:grpSp>
      <p:sp>
        <p:nvSpPr>
          <p:cNvPr id="16391" name="Text Box 10"/>
          <p:cNvSpPr txBox="1">
            <a:spLocks noChangeArrowheads="1"/>
          </p:cNvSpPr>
          <p:nvPr/>
        </p:nvSpPr>
        <p:spPr bwMode="auto">
          <a:xfrm>
            <a:off x="1071563" y="2811463"/>
            <a:ext cx="9747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3200">
                <a:ea typeface="ＭＳ Ｐゴシック" charset="0"/>
                <a:cs typeface="ＭＳ Ｐゴシック" charset="0"/>
              </a:rPr>
              <a:t>9.99</a:t>
            </a:r>
          </a:p>
        </p:txBody>
      </p:sp>
      <p:grpSp>
        <p:nvGrpSpPr>
          <p:cNvPr id="16392" name="Group 28"/>
          <p:cNvGrpSpPr>
            <a:grpSpLocks/>
          </p:cNvGrpSpPr>
          <p:nvPr/>
        </p:nvGrpSpPr>
        <p:grpSpPr bwMode="auto">
          <a:xfrm>
            <a:off x="3338934" y="5106879"/>
            <a:ext cx="1404352" cy="1894405"/>
            <a:chOff x="2744" y="1480"/>
            <a:chExt cx="1192" cy="1189"/>
          </a:xfrm>
        </p:grpSpPr>
        <p:sp>
          <p:nvSpPr>
            <p:cNvPr id="16398" name="AutoShape 29"/>
            <p:cNvSpPr>
              <a:spLocks noChangeArrowheads="1"/>
            </p:cNvSpPr>
            <p:nvPr/>
          </p:nvSpPr>
          <p:spPr bwMode="auto">
            <a:xfrm>
              <a:off x="2744" y="1480"/>
              <a:ext cx="862" cy="816"/>
            </a:xfrm>
            <a:prstGeom prst="cube">
              <a:avLst>
                <a:gd name="adj" fmla="val 25000"/>
              </a:avLst>
            </a:prstGeom>
            <a:solidFill>
              <a:schemeClr val="accent1">
                <a:alpha val="59999"/>
              </a:schemeClr>
            </a:solidFill>
            <a:ln w="9525">
              <a:solidFill>
                <a:schemeClr val="tx1"/>
              </a:solidFill>
              <a:miter lim="800000"/>
              <a:headEnd/>
              <a:tailEnd/>
            </a:ln>
          </p:spPr>
          <p:txBody>
            <a:bodyPr wrap="none" anchor="ctr"/>
            <a:lstStyle/>
            <a:p>
              <a:pPr algn="ctr"/>
              <a:r>
                <a:rPr lang="en-US" altLang="ja-JP" sz="2400">
                  <a:ea typeface="ＭＳ Ｐゴシック" charset="0"/>
                  <a:cs typeface="ＭＳ Ｐゴシック" charset="0"/>
                </a:rPr>
                <a:t>dx</a:t>
              </a:r>
            </a:p>
          </p:txBody>
        </p:sp>
        <p:sp>
          <p:nvSpPr>
            <p:cNvPr id="16399" name="Text Box 30"/>
            <p:cNvSpPr txBox="1">
              <a:spLocks noChangeArrowheads="1"/>
            </p:cNvSpPr>
            <p:nvPr/>
          </p:nvSpPr>
          <p:spPr bwMode="auto">
            <a:xfrm>
              <a:off x="2777" y="2296"/>
              <a:ext cx="1159"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solidFill>
                    <a:srgbClr val="FF3300"/>
                  </a:solidFill>
                  <a:ea typeface="ＭＳ Ｐゴシック" charset="0"/>
                  <a:cs typeface="ＭＳ Ｐゴシック" charset="0"/>
                </a:rPr>
                <a:t>double</a:t>
              </a:r>
              <a:r>
                <a:rPr kumimoji="0" lang="ja-JP" altLang="en-US" sz="1800" dirty="0">
                  <a:solidFill>
                    <a:srgbClr val="FF3300"/>
                  </a:solidFill>
                  <a:ea typeface="ＭＳ Ｐゴシック" charset="0"/>
                  <a:cs typeface="ＭＳ Ｐゴシック" charset="0"/>
                </a:rPr>
                <a:t>型</a:t>
              </a:r>
            </a:p>
          </p:txBody>
        </p:sp>
      </p:grpSp>
      <p:sp>
        <p:nvSpPr>
          <p:cNvPr id="16393" name="Line 31"/>
          <p:cNvSpPr>
            <a:spLocks noChangeShapeType="1"/>
          </p:cNvSpPr>
          <p:nvPr/>
        </p:nvSpPr>
        <p:spPr bwMode="auto">
          <a:xfrm>
            <a:off x="2424113" y="5916022"/>
            <a:ext cx="5048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p>
        </p:txBody>
      </p:sp>
      <p:sp>
        <p:nvSpPr>
          <p:cNvPr id="16394" name="Text Box 32"/>
          <p:cNvSpPr txBox="1">
            <a:spLocks noChangeArrowheads="1"/>
          </p:cNvSpPr>
          <p:nvPr/>
        </p:nvSpPr>
        <p:spPr bwMode="auto">
          <a:xfrm>
            <a:off x="1770111" y="5588422"/>
            <a:ext cx="44142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dirty="0" smtClean="0">
                <a:ea typeface="ＭＳ Ｐゴシック" charset="0"/>
                <a:cs typeface="ＭＳ Ｐゴシック" charset="0"/>
              </a:rPr>
              <a:t>9</a:t>
            </a:r>
            <a:endParaRPr kumimoji="0" lang="ja-JP" altLang="en-US" dirty="0">
              <a:ea typeface="ＭＳ Ｐゴシック" charset="0"/>
              <a:cs typeface="ＭＳ Ｐゴシック" charset="0"/>
            </a:endParaRPr>
          </a:p>
        </p:txBody>
      </p:sp>
      <p:sp>
        <p:nvSpPr>
          <p:cNvPr id="16395" name="Text Box 33"/>
          <p:cNvSpPr txBox="1">
            <a:spLocks noChangeArrowheads="1"/>
          </p:cNvSpPr>
          <p:nvPr/>
        </p:nvSpPr>
        <p:spPr bwMode="auto">
          <a:xfrm>
            <a:off x="4961005" y="5514899"/>
            <a:ext cx="36433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solidFill>
                  <a:srgbClr val="000000"/>
                </a:solidFill>
                <a:ea typeface="ＭＳ Ｐゴシック" charset="0"/>
                <a:cs typeface="ＭＳ Ｐゴシック" charset="0"/>
              </a:rPr>
              <a:t>9</a:t>
            </a:r>
            <a:r>
              <a:rPr kumimoji="0" lang="ja-JP" altLang="en-US" sz="2000" dirty="0">
                <a:solidFill>
                  <a:srgbClr val="000000"/>
                </a:solidFill>
                <a:ea typeface="ＭＳ Ｐゴシック" charset="0"/>
                <a:cs typeface="ＭＳ Ｐゴシック" charset="0"/>
              </a:rPr>
              <a:t>が浮動小数点数</a:t>
            </a:r>
            <a:r>
              <a:rPr kumimoji="0" lang="en-US" altLang="ja-JP" sz="2000" dirty="0">
                <a:solidFill>
                  <a:srgbClr val="000000"/>
                </a:solidFill>
                <a:ea typeface="ＭＳ Ｐゴシック" charset="0"/>
                <a:cs typeface="ＭＳ Ｐゴシック" charset="0"/>
              </a:rPr>
              <a:t>9.000…</a:t>
            </a:r>
            <a:r>
              <a:rPr kumimoji="0" lang="ja-JP" altLang="en-US" sz="2000" dirty="0">
                <a:solidFill>
                  <a:srgbClr val="000000"/>
                </a:solidFill>
                <a:ea typeface="ＭＳ Ｐゴシック" charset="0"/>
                <a:cs typeface="ＭＳ Ｐゴシック" charset="0"/>
              </a:rPr>
              <a:t>に変換され、変数</a:t>
            </a:r>
            <a:r>
              <a:rPr kumimoji="0" lang="en-US" altLang="ja-JP" sz="2000" dirty="0">
                <a:solidFill>
                  <a:srgbClr val="000000"/>
                </a:solidFill>
                <a:ea typeface="ＭＳ Ｐゴシック" charset="0"/>
                <a:cs typeface="ＭＳ Ｐゴシック" charset="0"/>
              </a:rPr>
              <a:t>dx</a:t>
            </a:r>
            <a:r>
              <a:rPr kumimoji="0" lang="ja-JP" altLang="en-US" sz="2000" dirty="0">
                <a:solidFill>
                  <a:srgbClr val="000000"/>
                </a:solidFill>
                <a:ea typeface="ＭＳ Ｐゴシック" charset="0"/>
                <a:cs typeface="ＭＳ Ｐゴシック" charset="0"/>
              </a:rPr>
              <a:t>に代入される。</a:t>
            </a:r>
            <a:endParaRPr kumimoji="0" lang="en-US" altLang="ja-JP" sz="2000" dirty="0">
              <a:solidFill>
                <a:srgbClr val="000000"/>
              </a:solidFill>
              <a:ea typeface="ＭＳ Ｐゴシック" charset="0"/>
              <a:cs typeface="ＭＳ Ｐゴシック" charset="0"/>
            </a:endParaRPr>
          </a:p>
        </p:txBody>
      </p:sp>
      <p:sp>
        <p:nvSpPr>
          <p:cNvPr id="16396" name="Text Box 33"/>
          <p:cNvSpPr txBox="1">
            <a:spLocks noChangeArrowheads="1"/>
          </p:cNvSpPr>
          <p:nvPr/>
        </p:nvSpPr>
        <p:spPr bwMode="auto">
          <a:xfrm>
            <a:off x="5057639" y="2681288"/>
            <a:ext cx="30003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solidFill>
                  <a:srgbClr val="000000"/>
                </a:solidFill>
                <a:ea typeface="ＭＳ Ｐゴシック" charset="0"/>
                <a:cs typeface="ＭＳ Ｐゴシック" charset="0"/>
              </a:rPr>
              <a:t>9.99</a:t>
            </a:r>
            <a:r>
              <a:rPr kumimoji="0" lang="ja-JP" altLang="en-US" sz="2000" dirty="0">
                <a:solidFill>
                  <a:srgbClr val="000000"/>
                </a:solidFill>
                <a:ea typeface="ＭＳ Ｐゴシック" charset="0"/>
                <a:cs typeface="ＭＳ Ｐゴシック" charset="0"/>
              </a:rPr>
              <a:t>が整数</a:t>
            </a:r>
            <a:r>
              <a:rPr kumimoji="0" lang="en-US" altLang="ja-JP" sz="2000" dirty="0">
                <a:solidFill>
                  <a:srgbClr val="000000"/>
                </a:solidFill>
                <a:ea typeface="ＭＳ Ｐゴシック" charset="0"/>
                <a:cs typeface="ＭＳ Ｐゴシック" charset="0"/>
              </a:rPr>
              <a:t>9</a:t>
            </a:r>
            <a:r>
              <a:rPr kumimoji="0" lang="ja-JP" altLang="en-US" sz="2000" dirty="0">
                <a:solidFill>
                  <a:srgbClr val="000000"/>
                </a:solidFill>
                <a:ea typeface="ＭＳ Ｐゴシック" charset="0"/>
                <a:cs typeface="ＭＳ Ｐゴシック" charset="0"/>
              </a:rPr>
              <a:t>に変換され、変数</a:t>
            </a:r>
            <a:r>
              <a:rPr kumimoji="0" lang="en-US" altLang="ja-JP" sz="2000" dirty="0" err="1">
                <a:solidFill>
                  <a:srgbClr val="000000"/>
                </a:solidFill>
                <a:ea typeface="ＭＳ Ｐゴシック" charset="0"/>
                <a:cs typeface="ＭＳ Ｐゴシック" charset="0"/>
              </a:rPr>
              <a:t>nx</a:t>
            </a:r>
            <a:r>
              <a:rPr kumimoji="0" lang="ja-JP" altLang="en-US" sz="2000" dirty="0">
                <a:solidFill>
                  <a:srgbClr val="000000"/>
                </a:solidFill>
                <a:ea typeface="ＭＳ Ｐゴシック" charset="0"/>
                <a:cs typeface="ＭＳ Ｐゴシック" charset="0"/>
              </a:rPr>
              <a:t>に代入される。</a:t>
            </a:r>
            <a:endParaRPr kumimoji="0" lang="en-US" altLang="ja-JP" sz="2000" dirty="0">
              <a:solidFill>
                <a:srgbClr val="000000"/>
              </a:solidFill>
              <a:ea typeface="ＭＳ Ｐゴシック" charset="0"/>
              <a:cs typeface="ＭＳ Ｐゴシック" charset="0"/>
            </a:endParaRPr>
          </a:p>
        </p:txBody>
      </p:sp>
      <p:sp>
        <p:nvSpPr>
          <p:cNvPr id="16397" name="Line 31"/>
          <p:cNvSpPr>
            <a:spLocks noChangeShapeType="1"/>
          </p:cNvSpPr>
          <p:nvPr/>
        </p:nvSpPr>
        <p:spPr bwMode="auto">
          <a:xfrm>
            <a:off x="2327415" y="3097213"/>
            <a:ext cx="6429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p>
        </p:txBody>
      </p:sp>
      <p:sp>
        <p:nvSpPr>
          <p:cNvPr id="2" name="正方形/長方形 1"/>
          <p:cNvSpPr/>
          <p:nvPr/>
        </p:nvSpPr>
        <p:spPr>
          <a:xfrm>
            <a:off x="651457" y="3962680"/>
            <a:ext cx="5814663" cy="461665"/>
          </a:xfrm>
          <a:prstGeom prst="rect">
            <a:avLst/>
          </a:prstGeom>
        </p:spPr>
        <p:txBody>
          <a:bodyPr wrap="none">
            <a:spAutoFit/>
          </a:bodyPr>
          <a:lstStyle/>
          <a:p>
            <a:r>
              <a:rPr kumimoji="0" lang="en-US" altLang="ja-JP" sz="2400" dirty="0">
                <a:latin typeface="News Gothic" charset="0"/>
              </a:rPr>
              <a:t>double</a:t>
            </a:r>
            <a:r>
              <a:rPr kumimoji="0" lang="ja-JP" altLang="en-US" sz="2400" dirty="0">
                <a:latin typeface="News Gothic" charset="0"/>
              </a:rPr>
              <a:t>型の</a:t>
            </a:r>
            <a:r>
              <a:rPr kumimoji="0" lang="ja-JP" altLang="en-US" sz="2400" dirty="0" smtClean="0">
                <a:latin typeface="News Gothic" charset="0"/>
              </a:rPr>
              <a:t>変数</a:t>
            </a:r>
            <a:r>
              <a:rPr kumimoji="0" lang="en-US" altLang="ja-JP" sz="2400" dirty="0" smtClean="0">
                <a:latin typeface="News Gothic" charset="0"/>
              </a:rPr>
              <a:t>dx</a:t>
            </a:r>
            <a:r>
              <a:rPr kumimoji="0" lang="ja-JP" altLang="en-US" sz="2400" dirty="0" smtClean="0">
                <a:latin typeface="News Gothic" charset="0"/>
              </a:rPr>
              <a:t>に</a:t>
            </a:r>
            <a:r>
              <a:rPr kumimoji="0" lang="en-US" altLang="ja-JP" sz="2400" dirty="0" err="1" smtClean="0">
                <a:latin typeface="News Gothic" charset="0"/>
              </a:rPr>
              <a:t>int</a:t>
            </a:r>
            <a:r>
              <a:rPr kumimoji="0" lang="ja-JP" altLang="en-US" sz="2400" dirty="0" smtClean="0">
                <a:latin typeface="News Gothic" charset="0"/>
              </a:rPr>
              <a:t>型の</a:t>
            </a:r>
            <a:r>
              <a:rPr kumimoji="0" lang="ja-JP" altLang="en-US" sz="2400" dirty="0" smtClean="0">
                <a:latin typeface="News Gothic" charset="0"/>
              </a:rPr>
              <a:t>値</a:t>
            </a:r>
            <a:r>
              <a:rPr kumimoji="0" lang="en-US" altLang="ja-JP" sz="2400" dirty="0" smtClean="0">
                <a:latin typeface="News Gothic" charset="0"/>
              </a:rPr>
              <a:t>9</a:t>
            </a:r>
            <a:r>
              <a:rPr kumimoji="0" lang="ja-JP" altLang="en-US" sz="2400" dirty="0" smtClean="0">
                <a:latin typeface="News Gothic" charset="0"/>
              </a:rPr>
              <a:t>を</a:t>
            </a:r>
            <a:r>
              <a:rPr kumimoji="0" lang="ja-JP" altLang="en-US" sz="2400" dirty="0">
                <a:latin typeface="News Gothic" charset="0"/>
              </a:rPr>
              <a:t>代入</a:t>
            </a:r>
            <a:r>
              <a:rPr kumimoji="0" lang="ja-JP" altLang="en-US" sz="2400" dirty="0" smtClean="0">
                <a:latin typeface="News Gothic" charset="0"/>
              </a:rPr>
              <a:t>する</a:t>
            </a:r>
            <a:endParaRPr kumimoji="0" lang="ja-JP" altLang="en-US" sz="2400" dirty="0">
              <a:latin typeface="News Gothic" charset="0"/>
            </a:endParaRPr>
          </a:p>
        </p:txBody>
      </p:sp>
      <p:sp>
        <p:nvSpPr>
          <p:cNvPr id="4" name="正方形/長方形 3"/>
          <p:cNvSpPr/>
          <p:nvPr/>
        </p:nvSpPr>
        <p:spPr>
          <a:xfrm>
            <a:off x="566097" y="1201751"/>
            <a:ext cx="6328024" cy="461665"/>
          </a:xfrm>
          <a:prstGeom prst="rect">
            <a:avLst/>
          </a:prstGeom>
        </p:spPr>
        <p:txBody>
          <a:bodyPr wrap="none">
            <a:spAutoFit/>
          </a:bodyPr>
          <a:lstStyle/>
          <a:p>
            <a:r>
              <a:rPr kumimoji="0" lang="en-US" altLang="ja-JP" sz="2400" dirty="0">
                <a:latin typeface="News Gothic" charset="0"/>
              </a:rPr>
              <a:t> </a:t>
            </a:r>
            <a:r>
              <a:rPr kumimoji="0" lang="en-US" altLang="ja-JP" sz="2400" dirty="0" err="1">
                <a:latin typeface="News Gothic" charset="0"/>
              </a:rPr>
              <a:t>int</a:t>
            </a:r>
            <a:r>
              <a:rPr kumimoji="0" lang="ja-JP" altLang="en-US" sz="2400" dirty="0">
                <a:latin typeface="News Gothic" charset="0"/>
              </a:rPr>
              <a:t>型の</a:t>
            </a:r>
            <a:r>
              <a:rPr kumimoji="0" lang="ja-JP" altLang="en-US" sz="2400" dirty="0" smtClean="0">
                <a:latin typeface="News Gothic" charset="0"/>
              </a:rPr>
              <a:t>変数</a:t>
            </a:r>
            <a:r>
              <a:rPr kumimoji="0" lang="en-US" altLang="ja-JP" sz="2400" dirty="0" err="1" smtClean="0">
                <a:latin typeface="News Gothic" charset="0"/>
              </a:rPr>
              <a:t>nx</a:t>
            </a:r>
            <a:r>
              <a:rPr kumimoji="0" lang="ja-JP" altLang="en-US" sz="2400" dirty="0" smtClean="0">
                <a:latin typeface="News Gothic" charset="0"/>
              </a:rPr>
              <a:t>に</a:t>
            </a:r>
            <a:r>
              <a:rPr kumimoji="0" lang="en-US" altLang="ja-JP" sz="2400" dirty="0" smtClean="0">
                <a:latin typeface="News Gothic" charset="0"/>
              </a:rPr>
              <a:t>double</a:t>
            </a:r>
            <a:r>
              <a:rPr kumimoji="0" lang="ja-JP" altLang="en-US" sz="2400" dirty="0" smtClean="0">
                <a:latin typeface="News Gothic" charset="0"/>
              </a:rPr>
              <a:t>型の値</a:t>
            </a:r>
            <a:r>
              <a:rPr kumimoji="0" lang="en-US" altLang="ja-JP" sz="2400" dirty="0" smtClean="0">
                <a:latin typeface="News Gothic" charset="0"/>
              </a:rPr>
              <a:t>9.99</a:t>
            </a:r>
            <a:r>
              <a:rPr kumimoji="0" lang="ja-JP" altLang="en-US" sz="2400" dirty="0" smtClean="0">
                <a:latin typeface="News Gothic" charset="0"/>
              </a:rPr>
              <a:t>を</a:t>
            </a:r>
            <a:r>
              <a:rPr kumimoji="0" lang="ja-JP" altLang="en-US" sz="2400" dirty="0">
                <a:latin typeface="News Gothic" charset="0"/>
              </a:rPr>
              <a:t>代入</a:t>
            </a:r>
            <a:r>
              <a:rPr kumimoji="0" lang="ja-JP" altLang="en-US" sz="2400" dirty="0" smtClean="0">
                <a:latin typeface="News Gothic" charset="0"/>
              </a:rPr>
              <a:t>する</a:t>
            </a:r>
            <a:endParaRPr kumimoji="0" lang="en-US" altLang="ja-JP" sz="2400" dirty="0" smtClean="0">
              <a:latin typeface="News Gothic" charset="0"/>
            </a:endParaRPr>
          </a:p>
        </p:txBody>
      </p:sp>
      <p:sp>
        <p:nvSpPr>
          <p:cNvPr id="3" name="正方形/長方形 2"/>
          <p:cNvSpPr/>
          <p:nvPr/>
        </p:nvSpPr>
        <p:spPr>
          <a:xfrm>
            <a:off x="1069422" y="1766153"/>
            <a:ext cx="2107174" cy="830997"/>
          </a:xfrm>
          <a:prstGeom prst="rect">
            <a:avLst/>
          </a:prstGeom>
          <a:ln>
            <a:solidFill>
              <a:schemeClr val="tx1"/>
            </a:solidFill>
          </a:ln>
        </p:spPr>
        <p:txBody>
          <a:bodyPr wrap="square">
            <a:spAutoFit/>
          </a:bodyPr>
          <a:lstStyle/>
          <a:p>
            <a:r>
              <a:rPr kumimoji="0" lang="en-US" altLang="ja-JP" sz="2400" dirty="0" smtClean="0">
                <a:latin typeface="News Gothic" charset="0"/>
              </a:rPr>
              <a:t>   </a:t>
            </a:r>
            <a:r>
              <a:rPr kumimoji="0" lang="en-US" altLang="ja-JP" sz="2400" dirty="0" err="1">
                <a:latin typeface="News Gothic" charset="0"/>
              </a:rPr>
              <a:t>int</a:t>
            </a:r>
            <a:r>
              <a:rPr kumimoji="0" lang="en-US" altLang="ja-JP" sz="2400" dirty="0">
                <a:latin typeface="News Gothic" charset="0"/>
              </a:rPr>
              <a:t> </a:t>
            </a:r>
            <a:r>
              <a:rPr kumimoji="0" lang="en-US" altLang="ja-JP" sz="2400" dirty="0" err="1">
                <a:latin typeface="News Gothic" charset="0"/>
              </a:rPr>
              <a:t>nx</a:t>
            </a:r>
            <a:r>
              <a:rPr kumimoji="0" lang="en-US" altLang="ja-JP" sz="2400" dirty="0">
                <a:latin typeface="News Gothic" charset="0"/>
              </a:rPr>
              <a:t>;</a:t>
            </a:r>
          </a:p>
          <a:p>
            <a:r>
              <a:rPr kumimoji="0" lang="en-US" altLang="ja-JP" sz="2400" dirty="0">
                <a:latin typeface="News Gothic" charset="0"/>
              </a:rPr>
              <a:t>   </a:t>
            </a:r>
            <a:r>
              <a:rPr kumimoji="0" lang="en-US" altLang="ja-JP" sz="2400" dirty="0" err="1">
                <a:latin typeface="News Gothic" charset="0"/>
              </a:rPr>
              <a:t>nx</a:t>
            </a:r>
            <a:r>
              <a:rPr kumimoji="0" lang="en-US" altLang="ja-JP" sz="2400" dirty="0">
                <a:latin typeface="News Gothic" charset="0"/>
              </a:rPr>
              <a:t> = 9.99;</a:t>
            </a:r>
            <a:endParaRPr lang="ja-JP" altLang="en-US" sz="2400" dirty="0"/>
          </a:p>
        </p:txBody>
      </p:sp>
      <p:sp>
        <p:nvSpPr>
          <p:cNvPr id="18" name="正方形/長方形 17"/>
          <p:cNvSpPr/>
          <p:nvPr/>
        </p:nvSpPr>
        <p:spPr>
          <a:xfrm>
            <a:off x="1110833" y="4548545"/>
            <a:ext cx="2107174" cy="830997"/>
          </a:xfrm>
          <a:prstGeom prst="rect">
            <a:avLst/>
          </a:prstGeom>
          <a:ln>
            <a:solidFill>
              <a:schemeClr val="tx1"/>
            </a:solidFill>
          </a:ln>
        </p:spPr>
        <p:txBody>
          <a:bodyPr wrap="square">
            <a:spAutoFit/>
          </a:bodyPr>
          <a:lstStyle/>
          <a:p>
            <a:r>
              <a:rPr kumimoji="0" lang="en-US" altLang="ja-JP" sz="2400" dirty="0" smtClean="0">
                <a:latin typeface="News Gothic" charset="0"/>
              </a:rPr>
              <a:t>  </a:t>
            </a:r>
            <a:r>
              <a:rPr kumimoji="0" lang="en-US" altLang="ja-JP" sz="2400" dirty="0">
                <a:latin typeface="News Gothic" charset="0"/>
              </a:rPr>
              <a:t> </a:t>
            </a:r>
            <a:r>
              <a:rPr kumimoji="0" lang="en-US" altLang="ja-JP" sz="2400" dirty="0" smtClean="0">
                <a:latin typeface="News Gothic" charset="0"/>
              </a:rPr>
              <a:t>double dx</a:t>
            </a:r>
            <a:r>
              <a:rPr kumimoji="0" lang="en-US" altLang="ja-JP" sz="2400" dirty="0">
                <a:latin typeface="News Gothic" charset="0"/>
              </a:rPr>
              <a:t>;</a:t>
            </a:r>
          </a:p>
          <a:p>
            <a:r>
              <a:rPr kumimoji="0" lang="en-US" altLang="ja-JP" sz="2400" dirty="0">
                <a:latin typeface="News Gothic" charset="0"/>
              </a:rPr>
              <a:t>   </a:t>
            </a:r>
            <a:r>
              <a:rPr kumimoji="0" lang="en-US" altLang="ja-JP" sz="2400" dirty="0" smtClean="0">
                <a:latin typeface="News Gothic" charset="0"/>
              </a:rPr>
              <a:t>dx </a:t>
            </a:r>
            <a:r>
              <a:rPr kumimoji="0" lang="en-US" altLang="ja-JP" sz="2400" dirty="0">
                <a:latin typeface="News Gothic" charset="0"/>
              </a:rPr>
              <a:t>= </a:t>
            </a:r>
            <a:r>
              <a:rPr kumimoji="0" lang="en-US" altLang="ja-JP" sz="2400" dirty="0" smtClean="0">
                <a:latin typeface="News Gothic" charset="0"/>
              </a:rPr>
              <a:t>9;</a:t>
            </a:r>
            <a:endParaRPr lang="ja-JP" altLang="en-US" sz="2400" dirty="0"/>
          </a:p>
        </p:txBody>
      </p:sp>
      <p:sp>
        <p:nvSpPr>
          <p:cNvPr id="5" name="テキスト ボックス 4"/>
          <p:cNvSpPr txBox="1"/>
          <p:nvPr/>
        </p:nvSpPr>
        <p:spPr>
          <a:xfrm>
            <a:off x="1060259" y="3389313"/>
            <a:ext cx="1062122" cy="369332"/>
          </a:xfrm>
          <a:prstGeom prst="rect">
            <a:avLst/>
          </a:prstGeom>
          <a:noFill/>
        </p:spPr>
        <p:txBody>
          <a:bodyPr wrap="none" rtlCol="0">
            <a:spAutoFit/>
          </a:bodyPr>
          <a:lstStyle/>
          <a:p>
            <a:r>
              <a:rPr lang="en-US" altLang="ja-JP" dirty="0" smtClean="0">
                <a:solidFill>
                  <a:srgbClr val="FF0000"/>
                </a:solidFill>
              </a:rPr>
              <a:t>d</a:t>
            </a:r>
            <a:r>
              <a:rPr kumimoji="1" lang="en-US" altLang="ja-JP" dirty="0" smtClean="0">
                <a:solidFill>
                  <a:srgbClr val="FF0000"/>
                </a:solidFill>
              </a:rPr>
              <a:t>ouble</a:t>
            </a:r>
            <a:r>
              <a:rPr kumimoji="1" lang="ja-JP" altLang="en-US" dirty="0" smtClean="0">
                <a:solidFill>
                  <a:srgbClr val="FF0000"/>
                </a:solidFill>
              </a:rPr>
              <a:t>型</a:t>
            </a:r>
            <a:endParaRPr kumimoji="1" lang="ja-JP" altLang="en-US" dirty="0">
              <a:solidFill>
                <a:srgbClr val="FF0000"/>
              </a:solidFill>
            </a:endParaRPr>
          </a:p>
        </p:txBody>
      </p:sp>
      <p:sp>
        <p:nvSpPr>
          <p:cNvPr id="20" name="テキスト ボックス 19"/>
          <p:cNvSpPr txBox="1"/>
          <p:nvPr/>
        </p:nvSpPr>
        <p:spPr>
          <a:xfrm>
            <a:off x="1618930" y="6222326"/>
            <a:ext cx="667070" cy="369332"/>
          </a:xfrm>
          <a:prstGeom prst="rect">
            <a:avLst/>
          </a:prstGeom>
          <a:noFill/>
        </p:spPr>
        <p:txBody>
          <a:bodyPr wrap="none" rtlCol="0">
            <a:spAutoFit/>
          </a:bodyPr>
          <a:lstStyle/>
          <a:p>
            <a:r>
              <a:rPr lang="en-US" altLang="ja-JP" dirty="0" err="1">
                <a:solidFill>
                  <a:srgbClr val="FF0000"/>
                </a:solidFill>
              </a:rPr>
              <a:t>i</a:t>
            </a:r>
            <a:r>
              <a:rPr kumimoji="1" lang="en-US" altLang="ja-JP" dirty="0" err="1" smtClean="0">
                <a:solidFill>
                  <a:srgbClr val="FF0000"/>
                </a:solidFill>
              </a:rPr>
              <a:t>nt</a:t>
            </a:r>
            <a:r>
              <a:rPr kumimoji="1" lang="ja-JP" altLang="en-US" dirty="0" smtClean="0">
                <a:solidFill>
                  <a:srgbClr val="FF0000"/>
                </a:solidFill>
              </a:rPr>
              <a:t>型</a:t>
            </a:r>
            <a:endParaRPr kumimoji="1" lang="ja-JP" altLang="en-US" dirty="0">
              <a:solidFill>
                <a:srgbClr val="FF0000"/>
              </a:solidFill>
            </a:endParaRPr>
          </a:p>
        </p:txBody>
      </p:sp>
    </p:spTree>
    <p:extLst>
      <p:ext uri="{BB962C8B-B14F-4D97-AF65-F5344CB8AC3E}">
        <p14:creationId xmlns:p14="http://schemas.microsoft.com/office/powerpoint/2010/main" val="393500804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p:cNvSpPr>
            <a:spLocks noGrp="1" noChangeArrowheads="1"/>
          </p:cNvSpPr>
          <p:nvPr>
            <p:ph type="title"/>
          </p:nvPr>
        </p:nvSpPr>
        <p:spPr>
          <a:xfrm>
            <a:off x="738188" y="285553"/>
            <a:ext cx="7620000" cy="685800"/>
          </a:xfrm>
        </p:spPr>
        <p:txBody>
          <a:bodyPr>
            <a:normAutofit/>
          </a:bodyPr>
          <a:lstStyle/>
          <a:p>
            <a:r>
              <a:rPr kumimoji="0" lang="ja-JP" altLang="en-US" sz="3600" dirty="0">
                <a:latin typeface="Calibri" charset="0"/>
              </a:rPr>
              <a:t>四則演算における暗黙の型変換</a:t>
            </a:r>
            <a:endParaRPr kumimoji="0" lang="ja-JP" altLang="en-US" sz="3600" dirty="0">
              <a:latin typeface="Calibri" charset="0"/>
            </a:endParaRPr>
          </a:p>
        </p:txBody>
      </p:sp>
      <p:sp>
        <p:nvSpPr>
          <p:cNvPr id="17414" name="Text Box 4"/>
          <p:cNvSpPr txBox="1">
            <a:spLocks noChangeArrowheads="1"/>
          </p:cNvSpPr>
          <p:nvPr/>
        </p:nvSpPr>
        <p:spPr bwMode="auto">
          <a:xfrm>
            <a:off x="987817" y="1994134"/>
            <a:ext cx="2454518" cy="584776"/>
          </a:xfrm>
          <a:prstGeom prst="rect">
            <a:avLst/>
          </a:prstGeom>
          <a:solidFill>
            <a:srgbClr val="CCECFF"/>
          </a:solidFill>
          <a:ln w="9525">
            <a:solidFill>
              <a:srgbClr val="000000"/>
            </a:solidFill>
            <a:miter lim="800000"/>
            <a:headEnd/>
            <a:tailEnd/>
          </a:ln>
          <a:extLst/>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buFontTx/>
              <a:buAutoNum type="arabicPlain" startAt="5"/>
            </a:pPr>
            <a:r>
              <a:rPr kumimoji="0" lang="en-US" altLang="ja-JP" sz="3200" dirty="0">
                <a:ea typeface="ＭＳ Ｐゴシック" charset="0"/>
                <a:cs typeface="ＭＳ Ｐゴシック" charset="0"/>
              </a:rPr>
              <a:t> </a:t>
            </a:r>
            <a:r>
              <a:rPr kumimoji="0" lang="en-US" altLang="ja-JP" sz="3200" dirty="0" smtClean="0">
                <a:ea typeface="ＭＳ Ｐゴシック" charset="0"/>
                <a:cs typeface="ＭＳ Ｐゴシック" charset="0"/>
              </a:rPr>
              <a:t>/   </a:t>
            </a:r>
            <a:r>
              <a:rPr kumimoji="0" lang="en-US" altLang="ja-JP" sz="3200" dirty="0">
                <a:ea typeface="ＭＳ Ｐゴシック" charset="0"/>
                <a:cs typeface="ＭＳ Ｐゴシック" charset="0"/>
              </a:rPr>
              <a:t>2	→</a:t>
            </a:r>
            <a:r>
              <a:rPr kumimoji="0" lang="ja-JP" altLang="en-US" sz="3200" dirty="0">
                <a:ea typeface="ＭＳ Ｐゴシック" charset="0"/>
                <a:cs typeface="ＭＳ Ｐゴシック" charset="0"/>
              </a:rPr>
              <a:t>　</a:t>
            </a:r>
            <a:r>
              <a:rPr kumimoji="0" lang="en-US" altLang="ja-JP" sz="3200" dirty="0">
                <a:ea typeface="ＭＳ Ｐゴシック" charset="0"/>
                <a:cs typeface="ＭＳ Ｐゴシック" charset="0"/>
              </a:rPr>
              <a:t>2</a:t>
            </a:r>
          </a:p>
        </p:txBody>
      </p:sp>
      <p:sp>
        <p:nvSpPr>
          <p:cNvPr id="17415" name="Text Box 5"/>
          <p:cNvSpPr txBox="1">
            <a:spLocks noChangeArrowheads="1"/>
          </p:cNvSpPr>
          <p:nvPr/>
        </p:nvSpPr>
        <p:spPr bwMode="auto">
          <a:xfrm>
            <a:off x="4004563" y="1994134"/>
            <a:ext cx="3371850" cy="584200"/>
          </a:xfrm>
          <a:prstGeom prst="rect">
            <a:avLst/>
          </a:prstGeom>
          <a:solidFill>
            <a:srgbClr val="CCECFF"/>
          </a:solidFill>
          <a:ln w="9525">
            <a:solidFill>
              <a:srgbClr val="000000"/>
            </a:solidFill>
            <a:miter lim="800000"/>
            <a:headEnd/>
            <a:tailEnd/>
          </a:ln>
          <a:extLst/>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r>
              <a:rPr kumimoji="0" lang="en-US" altLang="ja-JP" sz="3200">
                <a:ea typeface="ＭＳ Ｐゴシック" charset="0"/>
                <a:cs typeface="ＭＳ Ｐゴシック" charset="0"/>
              </a:rPr>
              <a:t>5.0  /  2.0  →</a:t>
            </a:r>
            <a:r>
              <a:rPr kumimoji="0" lang="ja-JP" altLang="en-US" sz="3200">
                <a:ea typeface="ＭＳ Ｐゴシック" charset="0"/>
                <a:cs typeface="ＭＳ Ｐゴシック" charset="0"/>
              </a:rPr>
              <a:t>　</a:t>
            </a:r>
            <a:r>
              <a:rPr kumimoji="0" lang="en-US" altLang="ja-JP" sz="3200">
                <a:ea typeface="ＭＳ Ｐゴシック" charset="0"/>
                <a:cs typeface="ＭＳ Ｐゴシック" charset="0"/>
              </a:rPr>
              <a:t>2.5</a:t>
            </a:r>
          </a:p>
        </p:txBody>
      </p:sp>
      <p:sp>
        <p:nvSpPr>
          <p:cNvPr id="17418" name="テキスト ボックス 24"/>
          <p:cNvSpPr txBox="1">
            <a:spLocks noChangeArrowheads="1"/>
          </p:cNvSpPr>
          <p:nvPr/>
        </p:nvSpPr>
        <p:spPr bwMode="auto">
          <a:xfrm>
            <a:off x="886014" y="5212048"/>
            <a:ext cx="7341689"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dirty="0"/>
              <a:t>片方が</a:t>
            </a:r>
            <a:r>
              <a:rPr lang="en-US" altLang="ja-JP" sz="2000" dirty="0" err="1"/>
              <a:t>int</a:t>
            </a:r>
            <a:r>
              <a:rPr lang="ja-JP" altLang="en-US" sz="2000" dirty="0"/>
              <a:t>型、もう片方が</a:t>
            </a:r>
            <a:r>
              <a:rPr lang="en-US" altLang="ja-JP" sz="2000" dirty="0"/>
              <a:t>double</a:t>
            </a:r>
            <a:r>
              <a:rPr lang="ja-JP" altLang="en-US" sz="2000" dirty="0"/>
              <a:t>型の場合、</a:t>
            </a:r>
            <a:r>
              <a:rPr lang="en-US" altLang="ja-JP" sz="2000" dirty="0" err="1"/>
              <a:t>int</a:t>
            </a:r>
            <a:r>
              <a:rPr lang="ja-JP" altLang="en-US" sz="2000" dirty="0"/>
              <a:t>型の数値を</a:t>
            </a:r>
            <a:r>
              <a:rPr lang="en-US" altLang="ja-JP" sz="2000" dirty="0"/>
              <a:t>double</a:t>
            </a:r>
            <a:r>
              <a:rPr lang="ja-JP" altLang="en-US" sz="2000" dirty="0"/>
              <a:t>型に変換してから演算が行われれる（暗黙の型変換</a:t>
            </a:r>
            <a:r>
              <a:rPr lang="en-US" altLang="ja-JP" sz="2000" dirty="0"/>
              <a:t>, implicit conversion</a:t>
            </a:r>
            <a:r>
              <a:rPr lang="ja-JP" altLang="en-US" sz="2000" dirty="0"/>
              <a:t>）。</a:t>
            </a:r>
            <a:r>
              <a:rPr lang="en-US" altLang="ja-JP" sz="2000" dirty="0"/>
              <a:t>+ </a:t>
            </a:r>
            <a:r>
              <a:rPr lang="ja-JP" altLang="en-US" sz="2000" dirty="0"/>
              <a:t>や </a:t>
            </a:r>
            <a:r>
              <a:rPr lang="en-US" altLang="ja-JP" sz="2000" dirty="0"/>
              <a:t>* </a:t>
            </a:r>
            <a:r>
              <a:rPr lang="ja-JP" altLang="en-US" sz="2000" dirty="0"/>
              <a:t>などの演算でも同様。</a:t>
            </a:r>
            <a:endParaRPr lang="en-US" altLang="ja-JP" sz="2000" dirty="0"/>
          </a:p>
        </p:txBody>
      </p:sp>
      <p:sp>
        <p:nvSpPr>
          <p:cNvPr id="17420" name="テキスト ボックス 14"/>
          <p:cNvSpPr txBox="1">
            <a:spLocks noChangeArrowheads="1"/>
          </p:cNvSpPr>
          <p:nvPr/>
        </p:nvSpPr>
        <p:spPr bwMode="auto">
          <a:xfrm>
            <a:off x="857250" y="2795054"/>
            <a:ext cx="45481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000"/>
              <a:t>int</a:t>
            </a:r>
            <a:r>
              <a:rPr lang="ja-JP" altLang="en-US" sz="2000"/>
              <a:t>型同士の場合結果も</a:t>
            </a:r>
            <a:r>
              <a:rPr lang="en-US" altLang="ja-JP" sz="2000"/>
              <a:t>int</a:t>
            </a:r>
            <a:r>
              <a:rPr lang="ja-JP" altLang="en-US" sz="2000"/>
              <a:t>型。</a:t>
            </a:r>
            <a:endParaRPr lang="en-US" altLang="ja-JP" sz="2000"/>
          </a:p>
          <a:p>
            <a:r>
              <a:rPr lang="en-US" altLang="ja-JP" sz="2000"/>
              <a:t>double</a:t>
            </a:r>
            <a:r>
              <a:rPr lang="ja-JP" altLang="en-US" sz="2000"/>
              <a:t>型同士の場合結果も</a:t>
            </a:r>
            <a:r>
              <a:rPr lang="en-US" altLang="ja-JP" sz="2000"/>
              <a:t>double</a:t>
            </a:r>
            <a:r>
              <a:rPr lang="ja-JP" altLang="en-US" sz="2000"/>
              <a:t>型。</a:t>
            </a:r>
            <a:endParaRPr lang="en-US" altLang="ja-JP" sz="2000"/>
          </a:p>
        </p:txBody>
      </p:sp>
      <p:sp>
        <p:nvSpPr>
          <p:cNvPr id="3" name="正方形/長方形 2"/>
          <p:cNvSpPr/>
          <p:nvPr/>
        </p:nvSpPr>
        <p:spPr>
          <a:xfrm>
            <a:off x="416312" y="1279534"/>
            <a:ext cx="5112272" cy="523220"/>
          </a:xfrm>
          <a:prstGeom prst="rect">
            <a:avLst/>
          </a:prstGeom>
        </p:spPr>
        <p:txBody>
          <a:bodyPr wrap="none">
            <a:spAutoFit/>
          </a:bodyPr>
          <a:lstStyle/>
          <a:p>
            <a:r>
              <a:rPr kumimoji="0" lang="en-US" altLang="ja-JP" sz="2800" dirty="0" err="1">
                <a:latin typeface="News Gothic" charset="0"/>
              </a:rPr>
              <a:t>int</a:t>
            </a:r>
            <a:r>
              <a:rPr kumimoji="0" lang="ja-JP" altLang="en-US" sz="2800" dirty="0">
                <a:latin typeface="News Gothic" charset="0"/>
              </a:rPr>
              <a:t>型同士、</a:t>
            </a:r>
            <a:r>
              <a:rPr kumimoji="0" lang="en-US" altLang="ja-JP" sz="2800" dirty="0">
                <a:latin typeface="News Gothic" charset="0"/>
              </a:rPr>
              <a:t>double</a:t>
            </a:r>
            <a:r>
              <a:rPr kumimoji="0" lang="ja-JP" altLang="en-US" sz="2800" dirty="0">
                <a:latin typeface="News Gothic" charset="0"/>
              </a:rPr>
              <a:t>型同士の演算</a:t>
            </a:r>
            <a:endParaRPr kumimoji="0" lang="en-US" altLang="ja-JP" sz="2800" dirty="0">
              <a:latin typeface="News Gothic" charset="0"/>
            </a:endParaRPr>
          </a:p>
        </p:txBody>
      </p:sp>
      <p:sp>
        <p:nvSpPr>
          <p:cNvPr id="4" name="正方形/長方形 3"/>
          <p:cNvSpPr/>
          <p:nvPr/>
        </p:nvSpPr>
        <p:spPr>
          <a:xfrm>
            <a:off x="416312" y="3798362"/>
            <a:ext cx="3662656" cy="523220"/>
          </a:xfrm>
          <a:prstGeom prst="rect">
            <a:avLst/>
          </a:prstGeom>
        </p:spPr>
        <p:txBody>
          <a:bodyPr wrap="none">
            <a:spAutoFit/>
          </a:bodyPr>
          <a:lstStyle/>
          <a:p>
            <a:r>
              <a:rPr lang="en-US" altLang="ja-JP" sz="2800" dirty="0"/>
              <a:t>double</a:t>
            </a:r>
            <a:r>
              <a:rPr lang="ja-JP" altLang="en-US" sz="2800" dirty="0"/>
              <a:t>型と</a:t>
            </a:r>
            <a:r>
              <a:rPr lang="en-US" altLang="ja-JP" sz="2800" dirty="0" err="1"/>
              <a:t>int</a:t>
            </a:r>
            <a:r>
              <a:rPr lang="ja-JP" altLang="en-US" sz="2800" dirty="0"/>
              <a:t>型の演算</a:t>
            </a:r>
          </a:p>
        </p:txBody>
      </p:sp>
      <p:sp>
        <p:nvSpPr>
          <p:cNvPr id="11" name="Text Box 4"/>
          <p:cNvSpPr txBox="1">
            <a:spLocks noChangeArrowheads="1"/>
          </p:cNvSpPr>
          <p:nvPr/>
        </p:nvSpPr>
        <p:spPr bwMode="auto">
          <a:xfrm>
            <a:off x="1006795" y="4443608"/>
            <a:ext cx="3218349" cy="584776"/>
          </a:xfrm>
          <a:prstGeom prst="rect">
            <a:avLst/>
          </a:prstGeom>
          <a:solidFill>
            <a:srgbClr val="CCECFF"/>
          </a:solidFill>
          <a:ln w="9525">
            <a:solidFill>
              <a:srgbClr val="000000"/>
            </a:solidFill>
            <a:miter lim="800000"/>
            <a:headEnd/>
            <a:tailEnd/>
          </a:ln>
          <a:extLst/>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marL="0" indent="0" algn="ctr"/>
            <a:r>
              <a:rPr kumimoji="0" lang="en-US" altLang="ja-JP" sz="3200" dirty="0">
                <a:ea typeface="ＭＳ Ｐゴシック" charset="0"/>
                <a:cs typeface="ＭＳ Ｐゴシック" charset="0"/>
              </a:rPr>
              <a:t>5.0   /   2  →  2.5</a:t>
            </a:r>
          </a:p>
        </p:txBody>
      </p:sp>
      <p:sp>
        <p:nvSpPr>
          <p:cNvPr id="12" name="Text Box 4"/>
          <p:cNvSpPr txBox="1">
            <a:spLocks noChangeArrowheads="1"/>
          </p:cNvSpPr>
          <p:nvPr/>
        </p:nvSpPr>
        <p:spPr bwMode="auto">
          <a:xfrm>
            <a:off x="4489738" y="4453097"/>
            <a:ext cx="2990322" cy="584776"/>
          </a:xfrm>
          <a:prstGeom prst="rect">
            <a:avLst/>
          </a:prstGeom>
          <a:solidFill>
            <a:srgbClr val="CCECFF"/>
          </a:solidFill>
          <a:ln w="9525">
            <a:solidFill>
              <a:srgbClr val="000000"/>
            </a:solidFill>
            <a:miter lim="800000"/>
            <a:headEnd/>
            <a:tailEnd/>
          </a:ln>
          <a:extLst/>
        </p:spPr>
        <p:txBody>
          <a:bodyPr wrap="none">
            <a:spAutoFit/>
          </a:bodyPr>
          <a:lstStyle>
            <a:lvl1pPr marL="457200" indent="-457200">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pPr algn="ctr"/>
            <a:r>
              <a:rPr kumimoji="0" lang="en-US" altLang="ja-JP" sz="3200" dirty="0">
                <a:ea typeface="ＭＳ Ｐゴシック" charset="0"/>
                <a:cs typeface="ＭＳ Ｐゴシック" charset="0"/>
              </a:rPr>
              <a:t>5  /  2.0  →  2.5</a:t>
            </a:r>
            <a:endParaRPr kumimoji="0" lang="en-US" altLang="ja-JP" sz="3200" dirty="0">
              <a:ea typeface="ＭＳ Ｐゴシック" charset="0"/>
              <a:cs typeface="ＭＳ Ｐゴシック" charset="0"/>
            </a:endParaRPr>
          </a:p>
        </p:txBody>
      </p:sp>
    </p:spTree>
    <p:extLst>
      <p:ext uri="{BB962C8B-B14F-4D97-AF65-F5344CB8AC3E}">
        <p14:creationId xmlns:p14="http://schemas.microsoft.com/office/powerpoint/2010/main" val="267472121"/>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684213" y="338324"/>
            <a:ext cx="7620000" cy="685800"/>
          </a:xfrm>
        </p:spPr>
        <p:txBody>
          <a:bodyPr>
            <a:noAutofit/>
          </a:bodyPr>
          <a:lstStyle/>
          <a:p>
            <a:r>
              <a:rPr kumimoji="0" lang="ja-JP" altLang="en-US" sz="3600" dirty="0">
                <a:latin typeface="Calibri" charset="0"/>
              </a:rPr>
              <a:t>四則演算における暗黙の型変換</a:t>
            </a:r>
            <a:endParaRPr kumimoji="0" lang="ja-JP" altLang="en-US" sz="3600" dirty="0">
              <a:latin typeface="Calibri" charset="0"/>
            </a:endParaRPr>
          </a:p>
        </p:txBody>
      </p:sp>
      <p:sp>
        <p:nvSpPr>
          <p:cNvPr id="18437" name="Text Box 4"/>
          <p:cNvSpPr txBox="1">
            <a:spLocks noChangeArrowheads="1"/>
          </p:cNvSpPr>
          <p:nvPr/>
        </p:nvSpPr>
        <p:spPr bwMode="auto">
          <a:xfrm>
            <a:off x="550487" y="1580029"/>
            <a:ext cx="8205044" cy="1262063"/>
          </a:xfrm>
          <a:prstGeom prst="rect">
            <a:avLst/>
          </a:prstGeom>
          <a:solidFill>
            <a:srgbClr val="CCECFF"/>
          </a:solidFill>
          <a:ln w="9525">
            <a:solidFill>
              <a:schemeClr val="tx1"/>
            </a:solidFill>
            <a:miter lim="800000"/>
            <a:headEnd/>
            <a:tailEnd/>
          </a:ln>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smtClean="0">
                <a:ea typeface="ＭＳ Ｐゴシック" charset="0"/>
                <a:cs typeface="ＭＳ Ｐゴシック" charset="0"/>
              </a:rPr>
              <a:t>四則演算</a:t>
            </a:r>
            <a:r>
              <a:rPr kumimoji="0" lang="en-US" altLang="ja-JP" sz="2400" dirty="0" smtClean="0">
                <a:ea typeface="ＭＳ Ｐゴシック" charset="0"/>
                <a:cs typeface="ＭＳ Ｐゴシック" charset="0"/>
              </a:rPr>
              <a:t>+</a:t>
            </a:r>
            <a:r>
              <a:rPr kumimoji="0" lang="en-US" altLang="ja-JP" sz="2400" dirty="0">
                <a:ea typeface="ＭＳ Ｐゴシック" charset="0"/>
                <a:cs typeface="ＭＳ Ｐゴシック" charset="0"/>
              </a:rPr>
              <a:t>, -, *, /</a:t>
            </a:r>
            <a:r>
              <a:rPr kumimoji="0" lang="ja-JP" altLang="en-US" sz="2400" dirty="0">
                <a:ea typeface="ＭＳ Ｐゴシック" charset="0"/>
                <a:cs typeface="ＭＳ Ｐゴシック" charset="0"/>
              </a:rPr>
              <a:t>において、異なる型同士の演算では、</a:t>
            </a:r>
          </a:p>
          <a:p>
            <a:r>
              <a:rPr kumimoji="0" lang="ja-JP" altLang="en-US" sz="2800" dirty="0">
                <a:ea typeface="ＭＳ Ｐゴシック" charset="0"/>
                <a:cs typeface="ＭＳ Ｐゴシック" charset="0"/>
              </a:rPr>
              <a:t>　</a:t>
            </a:r>
            <a:r>
              <a:rPr kumimoji="0" lang="ja-JP" altLang="en-US" sz="2800" dirty="0">
                <a:solidFill>
                  <a:srgbClr val="FF0000"/>
                </a:solidFill>
                <a:ea typeface="ＭＳ Ｐゴシック" charset="0"/>
                <a:cs typeface="ＭＳ Ｐゴシック" charset="0"/>
              </a:rPr>
              <a:t>型が</a:t>
            </a:r>
            <a:r>
              <a:rPr kumimoji="0" lang="ja-JP" altLang="en-US" sz="2800" dirty="0">
                <a:solidFill>
                  <a:srgbClr val="FF3300"/>
                </a:solidFill>
                <a:ea typeface="ＭＳ Ｐゴシック" charset="0"/>
                <a:cs typeface="ＭＳ Ｐゴシック" charset="0"/>
              </a:rPr>
              <a:t>小さい方のオペランドは、大きい方の型に</a:t>
            </a:r>
            <a:r>
              <a:rPr kumimoji="0" lang="ja-JP" altLang="en-US" sz="2800" dirty="0" smtClean="0">
                <a:solidFill>
                  <a:srgbClr val="FF3300"/>
                </a:solidFill>
                <a:ea typeface="ＭＳ Ｐゴシック" charset="0"/>
                <a:cs typeface="ＭＳ Ｐゴシック" charset="0"/>
              </a:rPr>
              <a:t>変換</a:t>
            </a:r>
            <a:endParaRPr kumimoji="0" lang="en-US" altLang="ja-JP" sz="2800" dirty="0" smtClean="0">
              <a:solidFill>
                <a:srgbClr val="FF3300"/>
              </a:solidFill>
              <a:ea typeface="ＭＳ Ｐゴシック" charset="0"/>
              <a:cs typeface="ＭＳ Ｐゴシック" charset="0"/>
            </a:endParaRPr>
          </a:p>
          <a:p>
            <a:r>
              <a:rPr kumimoji="0" lang="ja-JP" altLang="en-US" sz="2400" dirty="0" smtClean="0">
                <a:ea typeface="ＭＳ Ｐゴシック" charset="0"/>
                <a:cs typeface="ＭＳ Ｐゴシック" charset="0"/>
              </a:rPr>
              <a:t>された</a:t>
            </a:r>
            <a:r>
              <a:rPr kumimoji="0" lang="ja-JP" altLang="en-US" sz="2400" dirty="0">
                <a:ea typeface="ＭＳ Ｐゴシック" charset="0"/>
                <a:cs typeface="ＭＳ Ｐゴシック" charset="0"/>
              </a:rPr>
              <a:t>上で演算が行われる。</a:t>
            </a:r>
            <a:endParaRPr kumimoji="0" lang="en-US" altLang="ja-JP" sz="2400" dirty="0">
              <a:ea typeface="ＭＳ Ｐゴシック" charset="0"/>
              <a:cs typeface="ＭＳ Ｐゴシック" charset="0"/>
            </a:endParaRPr>
          </a:p>
        </p:txBody>
      </p:sp>
      <p:sp>
        <p:nvSpPr>
          <p:cNvPr id="18438" name="テキスト ボックス 6"/>
          <p:cNvSpPr txBox="1">
            <a:spLocks noChangeArrowheads="1"/>
          </p:cNvSpPr>
          <p:nvPr/>
        </p:nvSpPr>
        <p:spPr bwMode="auto">
          <a:xfrm>
            <a:off x="684213" y="3429000"/>
            <a:ext cx="72009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（注）</a:t>
            </a:r>
            <a:r>
              <a:rPr lang="en-US" altLang="ja-JP" sz="2400" dirty="0"/>
              <a:t>%</a:t>
            </a:r>
            <a:r>
              <a:rPr lang="ja-JP" altLang="en-US" sz="2400" dirty="0"/>
              <a:t>演算子（割り算の余りを求める演算子）は</a:t>
            </a:r>
            <a:r>
              <a:rPr lang="en-US" altLang="ja-JP" sz="2400" dirty="0"/>
              <a:t>double</a:t>
            </a:r>
            <a:r>
              <a:rPr lang="ja-JP" altLang="en-US" sz="2400" dirty="0"/>
              <a:t>型は引数にとれない。</a:t>
            </a:r>
          </a:p>
        </p:txBody>
      </p:sp>
    </p:spTree>
    <p:extLst>
      <p:ext uri="{BB962C8B-B14F-4D97-AF65-F5344CB8AC3E}">
        <p14:creationId xmlns:p14="http://schemas.microsoft.com/office/powerpoint/2010/main" val="286605979"/>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5"/>
          <p:cNvSpPr>
            <a:spLocks noGrp="1" noChangeArrowheads="1"/>
          </p:cNvSpPr>
          <p:nvPr>
            <p:ph type="title"/>
          </p:nvPr>
        </p:nvSpPr>
        <p:spPr>
          <a:xfrm>
            <a:off x="747153" y="265299"/>
            <a:ext cx="7620000" cy="685800"/>
          </a:xfrm>
        </p:spPr>
        <p:txBody>
          <a:bodyPr>
            <a:normAutofit/>
          </a:bodyPr>
          <a:lstStyle/>
          <a:p>
            <a:r>
              <a:rPr kumimoji="0" lang="ja-JP" altLang="en-US" sz="3600" dirty="0">
                <a:latin typeface="Calibri" charset="0"/>
              </a:rPr>
              <a:t>キャスト</a:t>
            </a:r>
            <a:r>
              <a:rPr kumimoji="0" lang="ja-JP" altLang="en-US" sz="3600" dirty="0" smtClean="0">
                <a:latin typeface="Calibri" charset="0"/>
              </a:rPr>
              <a:t>演算子</a:t>
            </a:r>
            <a:r>
              <a:rPr kumimoji="0" lang="en-US" altLang="ja-JP" sz="3600" dirty="0" smtClean="0">
                <a:latin typeface="Calibri" charset="0"/>
              </a:rPr>
              <a:t> --- </a:t>
            </a:r>
            <a:r>
              <a:rPr kumimoji="0" lang="ja-JP" altLang="en-US" sz="3600" dirty="0" smtClean="0">
                <a:latin typeface="Calibri" charset="0"/>
              </a:rPr>
              <a:t>型</a:t>
            </a:r>
            <a:r>
              <a:rPr kumimoji="0" lang="ja-JP" altLang="en-US" sz="3600" dirty="0">
                <a:latin typeface="Calibri" charset="0"/>
              </a:rPr>
              <a:t>を強制的に変換</a:t>
            </a:r>
          </a:p>
        </p:txBody>
      </p:sp>
      <p:sp>
        <p:nvSpPr>
          <p:cNvPr id="19461" name="Text Box 10"/>
          <p:cNvSpPr txBox="1">
            <a:spLocks noChangeArrowheads="1"/>
          </p:cNvSpPr>
          <p:nvPr/>
        </p:nvSpPr>
        <p:spPr bwMode="auto">
          <a:xfrm>
            <a:off x="214313" y="1357313"/>
            <a:ext cx="32146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（例１）</a:t>
            </a:r>
          </a:p>
          <a:p>
            <a:r>
              <a:rPr kumimoji="0" lang="ja-JP" altLang="en-US" sz="2400" dirty="0">
                <a:ea typeface="ＭＳ Ｐゴシック" charset="0"/>
                <a:cs typeface="ＭＳ Ｐゴシック" charset="0"/>
              </a:rPr>
              <a:t>　</a:t>
            </a:r>
            <a:r>
              <a:rPr kumimoji="0" lang="ja-JP" altLang="en-US" sz="2400" dirty="0">
                <a:solidFill>
                  <a:schemeClr val="accent1"/>
                </a:solidFill>
                <a:ea typeface="ＭＳ Ｐゴシック" charset="0"/>
                <a:cs typeface="ＭＳ Ｐゴシック" charset="0"/>
              </a:rPr>
              <a:t>　　</a:t>
            </a:r>
            <a:r>
              <a:rPr kumimoji="0" lang="en-US" altLang="ja-JP" sz="2400" dirty="0">
                <a:solidFill>
                  <a:srgbClr val="3366FF"/>
                </a:solidFill>
                <a:ea typeface="ＭＳ Ｐゴシック" charset="0"/>
                <a:cs typeface="ＭＳ Ｐゴシック" charset="0"/>
              </a:rPr>
              <a:t>(double) </a:t>
            </a:r>
            <a:r>
              <a:rPr kumimoji="0" lang="en-US" altLang="ja-JP" sz="2400" dirty="0">
                <a:ea typeface="ＭＳ Ｐゴシック" charset="0"/>
                <a:cs typeface="ＭＳ Ｐゴシック" charset="0"/>
              </a:rPr>
              <a:t>5 →</a:t>
            </a:r>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5.0</a:t>
            </a:r>
            <a:endParaRPr kumimoji="0" lang="ja-JP" altLang="en-US" sz="2400" dirty="0">
              <a:ea typeface="ＭＳ Ｐゴシック" charset="0"/>
              <a:cs typeface="ＭＳ Ｐゴシック" charset="0"/>
            </a:endParaRPr>
          </a:p>
          <a:p>
            <a:r>
              <a:rPr kumimoji="0" lang="ja-JP" altLang="en-US" sz="2400" dirty="0">
                <a:ea typeface="ＭＳ Ｐゴシック" charset="0"/>
                <a:cs typeface="ＭＳ Ｐゴシック" charset="0"/>
              </a:rPr>
              <a:t>      </a:t>
            </a:r>
            <a:r>
              <a:rPr kumimoji="0" lang="ja-JP" altLang="en-US" sz="2400" dirty="0" smtClean="0">
                <a:solidFill>
                  <a:srgbClr val="3366FF"/>
                </a:solidFill>
                <a:ea typeface="ＭＳ Ｐゴシック" charset="0"/>
                <a:cs typeface="ＭＳ Ｐゴシック" charset="0"/>
              </a:rPr>
              <a:t>（</a:t>
            </a:r>
            <a:r>
              <a:rPr kumimoji="0" lang="en-US" altLang="ja-JP" sz="2400" dirty="0" err="1">
                <a:solidFill>
                  <a:srgbClr val="3366FF"/>
                </a:solidFill>
                <a:ea typeface="ＭＳ Ｐゴシック" charset="0"/>
                <a:cs typeface="ＭＳ Ｐゴシック" charset="0"/>
              </a:rPr>
              <a:t>int</a:t>
            </a:r>
            <a:r>
              <a:rPr kumimoji="0" lang="ja-JP" altLang="en-US" sz="2400" dirty="0">
                <a:solidFill>
                  <a:srgbClr val="3366FF"/>
                </a:solidFill>
                <a:ea typeface="ＭＳ Ｐゴシック" charset="0"/>
                <a:cs typeface="ＭＳ Ｐゴシック" charset="0"/>
              </a:rPr>
              <a:t>） </a:t>
            </a:r>
            <a:r>
              <a:rPr kumimoji="0" lang="en-US" altLang="ja-JP" sz="2400" dirty="0">
                <a:ea typeface="ＭＳ Ｐゴシック" charset="0"/>
                <a:cs typeface="ＭＳ Ｐゴシック" charset="0"/>
              </a:rPr>
              <a:t>2.55  →</a:t>
            </a:r>
            <a:r>
              <a:rPr kumimoji="0" lang="ja-JP" altLang="en-US" sz="2400" dirty="0">
                <a:ea typeface="ＭＳ Ｐゴシック" charset="0"/>
                <a:cs typeface="ＭＳ Ｐゴシック" charset="0"/>
              </a:rPr>
              <a:t>　</a:t>
            </a:r>
            <a:r>
              <a:rPr kumimoji="0" lang="en-US" altLang="ja-JP" sz="2400" dirty="0">
                <a:ea typeface="ＭＳ Ｐゴシック" charset="0"/>
                <a:cs typeface="ＭＳ Ｐゴシック" charset="0"/>
              </a:rPr>
              <a:t>2</a:t>
            </a:r>
            <a:endParaRPr kumimoji="0" lang="ja-JP" altLang="en-US" sz="2400" dirty="0">
              <a:ea typeface="ＭＳ Ｐゴシック" charset="0"/>
              <a:cs typeface="ＭＳ Ｐゴシック" charset="0"/>
            </a:endParaRPr>
          </a:p>
        </p:txBody>
      </p:sp>
      <p:sp>
        <p:nvSpPr>
          <p:cNvPr id="19462" name="Text Box 11"/>
          <p:cNvSpPr txBox="1">
            <a:spLocks noChangeArrowheads="1"/>
          </p:cNvSpPr>
          <p:nvPr/>
        </p:nvSpPr>
        <p:spPr bwMode="auto">
          <a:xfrm>
            <a:off x="214313" y="5094077"/>
            <a:ext cx="5043568" cy="120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a:t>
            </a:r>
            <a:r>
              <a:rPr kumimoji="0" lang="en-US" altLang="ja-JP" sz="2400" dirty="0">
                <a:ea typeface="ＭＳ Ｐゴシック" charset="0"/>
                <a:cs typeface="ＭＳ Ｐゴシック" charset="0"/>
              </a:rPr>
              <a:t>2</a:t>
            </a:r>
            <a:r>
              <a:rPr kumimoji="0" lang="ja-JP" altLang="en-US" sz="2400" dirty="0">
                <a:ea typeface="ＭＳ Ｐゴシック" charset="0"/>
                <a:cs typeface="ＭＳ Ｐゴシック" charset="0"/>
              </a:rPr>
              <a:t>）</a:t>
            </a:r>
          </a:p>
          <a:p>
            <a:r>
              <a:rPr kumimoji="0" lang="en-US" altLang="ja-JP" sz="2400" dirty="0" smtClean="0">
                <a:ea typeface="ＭＳ Ｐゴシック" charset="0"/>
                <a:cs typeface="ＭＳ Ｐゴシック" charset="0"/>
              </a:rPr>
              <a:t>       double </a:t>
            </a:r>
            <a:r>
              <a:rPr kumimoji="0" lang="en-US" altLang="ja-JP" sz="2400" dirty="0">
                <a:ea typeface="ＭＳ Ｐゴシック" charset="0"/>
                <a:cs typeface="ＭＳ Ｐゴシック" charset="0"/>
              </a:rPr>
              <a:t>average;</a:t>
            </a:r>
          </a:p>
          <a:p>
            <a:r>
              <a:rPr kumimoji="0" lang="en-US" altLang="ja-JP" sz="2400" dirty="0" smtClean="0">
                <a:ea typeface="ＭＳ Ｐゴシック" charset="0"/>
                <a:cs typeface="ＭＳ Ｐゴシック" charset="0"/>
              </a:rPr>
              <a:t>       average </a:t>
            </a:r>
            <a:r>
              <a:rPr kumimoji="0" lang="en-US" altLang="ja-JP" sz="2400" dirty="0">
                <a:ea typeface="ＭＳ Ｐゴシック" charset="0"/>
                <a:cs typeface="ＭＳ Ｐゴシック" charset="0"/>
              </a:rPr>
              <a:t>= </a:t>
            </a:r>
            <a:r>
              <a:rPr kumimoji="0" lang="en-US" altLang="ja-JP" sz="2400" dirty="0">
                <a:solidFill>
                  <a:srgbClr val="3366FF"/>
                </a:solidFill>
                <a:ea typeface="ＭＳ Ｐゴシック" charset="0"/>
                <a:cs typeface="ＭＳ Ｐゴシック" charset="0"/>
              </a:rPr>
              <a:t>(double) </a:t>
            </a:r>
            <a:r>
              <a:rPr kumimoji="0" lang="en-US" altLang="ja-JP" sz="2400" dirty="0" smtClean="0">
                <a:ea typeface="ＭＳ Ｐゴシック" charset="0"/>
                <a:cs typeface="ＭＳ Ｐゴシック" charset="0"/>
              </a:rPr>
              <a:t>(</a:t>
            </a:r>
            <a:r>
              <a:rPr kumimoji="0" lang="en-US" altLang="ja-JP" sz="2400" dirty="0" smtClean="0">
                <a:ea typeface="ＭＳ Ｐゴシック" charset="0"/>
                <a:cs typeface="ＭＳ Ｐゴシック" charset="0"/>
              </a:rPr>
              <a:t>40</a:t>
            </a:r>
            <a:r>
              <a:rPr kumimoji="0" lang="en-US" altLang="ja-JP" sz="2400" dirty="0" smtClean="0">
                <a:ea typeface="ＭＳ Ｐゴシック" charset="0"/>
                <a:cs typeface="ＭＳ Ｐゴシック" charset="0"/>
              </a:rPr>
              <a:t>+</a:t>
            </a:r>
            <a:r>
              <a:rPr kumimoji="0" lang="en-US" altLang="ja-JP" sz="2400" dirty="0" smtClean="0">
                <a:ea typeface="ＭＳ Ｐゴシック" charset="0"/>
                <a:cs typeface="ＭＳ Ｐゴシック" charset="0"/>
              </a:rPr>
              <a:t>45</a:t>
            </a:r>
            <a:r>
              <a:rPr kumimoji="0" lang="en-US" altLang="ja-JP" sz="2400" dirty="0" smtClean="0">
                <a:ea typeface="ＭＳ Ｐゴシック" charset="0"/>
                <a:cs typeface="ＭＳ Ｐゴシック" charset="0"/>
              </a:rPr>
              <a:t>) </a:t>
            </a:r>
            <a:r>
              <a:rPr kumimoji="0" lang="en-US" altLang="ja-JP" sz="2400" dirty="0">
                <a:ea typeface="ＭＳ Ｐゴシック" charset="0"/>
                <a:cs typeface="ＭＳ Ｐゴシック" charset="0"/>
              </a:rPr>
              <a:t>/ </a:t>
            </a:r>
            <a:r>
              <a:rPr kumimoji="0" lang="en-US" altLang="ja-JP" sz="2400" dirty="0" smtClean="0">
                <a:ea typeface="ＭＳ Ｐゴシック" charset="0"/>
                <a:cs typeface="ＭＳ Ｐゴシック" charset="0"/>
              </a:rPr>
              <a:t>2;</a:t>
            </a:r>
            <a:endParaRPr kumimoji="0" lang="ja-JP" altLang="en-US" sz="2400" dirty="0">
              <a:ea typeface="ＭＳ Ｐゴシック" charset="0"/>
              <a:cs typeface="ＭＳ Ｐゴシック" charset="0"/>
            </a:endParaRPr>
          </a:p>
        </p:txBody>
      </p:sp>
      <p:sp>
        <p:nvSpPr>
          <p:cNvPr id="19463" name="Text Box 12"/>
          <p:cNvSpPr txBox="1">
            <a:spLocks noChangeArrowheads="1"/>
          </p:cNvSpPr>
          <p:nvPr/>
        </p:nvSpPr>
        <p:spPr bwMode="auto">
          <a:xfrm>
            <a:off x="4053748" y="3050426"/>
            <a:ext cx="49580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400" dirty="0">
                <a:ea typeface="ＭＳ Ｐゴシック" charset="0"/>
                <a:cs typeface="ＭＳ Ｐゴシック" charset="0"/>
              </a:rPr>
              <a:t>average = </a:t>
            </a:r>
            <a:r>
              <a:rPr kumimoji="0" lang="en-US" altLang="ja-JP" sz="2400" dirty="0">
                <a:solidFill>
                  <a:srgbClr val="3333FF"/>
                </a:solidFill>
                <a:ea typeface="ＭＳ Ｐゴシック" charset="0"/>
                <a:cs typeface="ＭＳ Ｐゴシック" charset="0"/>
              </a:rPr>
              <a:t>(double)</a:t>
            </a:r>
            <a:r>
              <a:rPr kumimoji="0" lang="en-US" altLang="ja-JP" sz="2400" dirty="0">
                <a:ea typeface="ＭＳ Ｐゴシック" charset="0"/>
                <a:cs typeface="ＭＳ Ｐゴシック" charset="0"/>
              </a:rPr>
              <a:t> </a:t>
            </a:r>
            <a:r>
              <a:rPr kumimoji="0" lang="en-US" altLang="ja-JP" sz="2400" dirty="0" smtClean="0">
                <a:ea typeface="ＭＳ Ｐゴシック" charset="0"/>
                <a:cs typeface="ＭＳ Ｐゴシック" charset="0"/>
              </a:rPr>
              <a:t>(40 </a:t>
            </a:r>
            <a:r>
              <a:rPr kumimoji="0" lang="en-US" altLang="ja-JP" sz="2400" dirty="0">
                <a:ea typeface="ＭＳ Ｐゴシック" charset="0"/>
                <a:cs typeface="ＭＳ Ｐゴシック" charset="0"/>
              </a:rPr>
              <a:t>+ </a:t>
            </a:r>
            <a:r>
              <a:rPr kumimoji="0" lang="en-US" altLang="ja-JP" sz="2400" dirty="0" smtClean="0">
                <a:ea typeface="ＭＳ Ｐゴシック" charset="0"/>
                <a:cs typeface="ＭＳ Ｐゴシック" charset="0"/>
              </a:rPr>
              <a:t>45</a:t>
            </a:r>
            <a:r>
              <a:rPr kumimoji="0" lang="en-US" altLang="ja-JP" sz="2400" dirty="0" smtClean="0">
                <a:ea typeface="ＭＳ Ｐゴシック" charset="0"/>
                <a:cs typeface="ＭＳ Ｐゴシック" charset="0"/>
              </a:rPr>
              <a:t>)   </a:t>
            </a:r>
            <a:r>
              <a:rPr kumimoji="0" lang="en-US" altLang="ja-JP" sz="2400" dirty="0">
                <a:ea typeface="ＭＳ Ｐゴシック" charset="0"/>
                <a:cs typeface="ＭＳ Ｐゴシック" charset="0"/>
              </a:rPr>
              <a:t>/  2 ;</a:t>
            </a:r>
          </a:p>
          <a:p>
            <a:endParaRPr kumimoji="0" lang="ja-JP" altLang="en-US" sz="2400" dirty="0">
              <a:ea typeface="ＭＳ Ｐゴシック" charset="0"/>
              <a:cs typeface="ＭＳ Ｐゴシック" charset="0"/>
            </a:endParaRPr>
          </a:p>
        </p:txBody>
      </p:sp>
      <p:sp>
        <p:nvSpPr>
          <p:cNvPr id="19464" name="Line 13"/>
          <p:cNvSpPr>
            <a:spLocks noChangeShapeType="1"/>
          </p:cNvSpPr>
          <p:nvPr/>
        </p:nvSpPr>
        <p:spPr bwMode="auto">
          <a:xfrm>
            <a:off x="6768373" y="3485401"/>
            <a:ext cx="132947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9465" name="Text Box 14"/>
          <p:cNvSpPr txBox="1">
            <a:spLocks noChangeArrowheads="1"/>
          </p:cNvSpPr>
          <p:nvPr/>
        </p:nvSpPr>
        <p:spPr bwMode="auto">
          <a:xfrm>
            <a:off x="6625498" y="3485401"/>
            <a:ext cx="1158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2000" dirty="0">
                <a:ea typeface="ＭＳ Ｐゴシック" charset="0"/>
                <a:cs typeface="ＭＳ Ｐゴシック" charset="0"/>
              </a:rPr>
              <a:t>85(</a:t>
            </a:r>
            <a:r>
              <a:rPr kumimoji="0" lang="en-US" altLang="ja-JP" sz="2000" dirty="0" err="1">
                <a:ea typeface="ＭＳ Ｐゴシック" charset="0"/>
                <a:cs typeface="ＭＳ Ｐゴシック" charset="0"/>
              </a:rPr>
              <a:t>int</a:t>
            </a:r>
            <a:r>
              <a:rPr kumimoji="0" lang="ja-JP" altLang="en-US" sz="2000" dirty="0">
                <a:ea typeface="ＭＳ Ｐゴシック" charset="0"/>
                <a:cs typeface="ＭＳ Ｐゴシック" charset="0"/>
              </a:rPr>
              <a:t>型</a:t>
            </a:r>
            <a:r>
              <a:rPr kumimoji="0" lang="en-US" altLang="ja-JP" sz="2000" dirty="0">
                <a:ea typeface="ＭＳ Ｐゴシック" charset="0"/>
                <a:cs typeface="ＭＳ Ｐゴシック" charset="0"/>
              </a:rPr>
              <a:t>)</a:t>
            </a:r>
          </a:p>
        </p:txBody>
      </p:sp>
      <p:grpSp>
        <p:nvGrpSpPr>
          <p:cNvPr id="19466" name="Group 15"/>
          <p:cNvGrpSpPr>
            <a:grpSpLocks/>
          </p:cNvGrpSpPr>
          <p:nvPr/>
        </p:nvGrpSpPr>
        <p:grpSpPr bwMode="auto">
          <a:xfrm>
            <a:off x="5553935" y="3920328"/>
            <a:ext cx="2543912" cy="500062"/>
            <a:chOff x="2962" y="3339"/>
            <a:chExt cx="1350" cy="231"/>
          </a:xfrm>
        </p:grpSpPr>
        <p:sp>
          <p:nvSpPr>
            <p:cNvPr id="19476" name="Line 17"/>
            <p:cNvSpPr>
              <a:spLocks noChangeShapeType="1"/>
            </p:cNvSpPr>
            <p:nvPr/>
          </p:nvSpPr>
          <p:spPr bwMode="auto">
            <a:xfrm flipV="1">
              <a:off x="2962" y="3339"/>
              <a:ext cx="1350" cy="0"/>
            </a:xfrm>
            <a:prstGeom prst="line">
              <a:avLst/>
            </a:prstGeom>
            <a:noFill/>
            <a:ln w="28575">
              <a:solidFill>
                <a:srgbClr val="3333FF"/>
              </a:solidFill>
              <a:round/>
              <a:headEnd/>
              <a:tailEnd/>
            </a:ln>
            <a:extLst>
              <a:ext uri="{909E8E84-426E-40dd-AFC4-6F175D3DCCD1}">
                <a14:hiddenFill xmlns:a14="http://schemas.microsoft.com/office/drawing/2010/main">
                  <a:noFill/>
                </a14:hiddenFill>
              </a:ext>
            </a:extLst>
          </p:spPr>
          <p:txBody>
            <a:bodyPr/>
            <a:lstStyle/>
            <a:p>
              <a:endParaRPr lang="ja-JP" altLang="en-US"/>
            </a:p>
          </p:txBody>
        </p:sp>
        <p:sp>
          <p:nvSpPr>
            <p:cNvPr id="19477" name="Text Box 19"/>
            <p:cNvSpPr txBox="1">
              <a:spLocks noChangeArrowheads="1"/>
            </p:cNvSpPr>
            <p:nvPr/>
          </p:nvSpPr>
          <p:spPr bwMode="auto">
            <a:xfrm>
              <a:off x="3187" y="3339"/>
              <a:ext cx="10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a:ea typeface="ＭＳ Ｐゴシック" charset="0"/>
                  <a:cs typeface="ＭＳ Ｐゴシック" charset="0"/>
                </a:rPr>
                <a:t>85.0(double</a:t>
              </a:r>
              <a:r>
                <a:rPr kumimoji="0" lang="ja-JP" altLang="en-US" sz="1800">
                  <a:ea typeface="ＭＳ Ｐゴシック" charset="0"/>
                  <a:cs typeface="ＭＳ Ｐゴシック" charset="0"/>
                </a:rPr>
                <a:t>型</a:t>
              </a:r>
              <a:r>
                <a:rPr kumimoji="0" lang="en-US" altLang="ja-JP" sz="1800">
                  <a:ea typeface="ＭＳ Ｐゴシック" charset="0"/>
                  <a:cs typeface="ＭＳ Ｐゴシック" charset="0"/>
                </a:rPr>
                <a:t>)</a:t>
              </a:r>
            </a:p>
          </p:txBody>
        </p:sp>
      </p:grpSp>
      <p:grpSp>
        <p:nvGrpSpPr>
          <p:cNvPr id="19467" name="Group 20"/>
          <p:cNvGrpSpPr>
            <a:grpSpLocks/>
          </p:cNvGrpSpPr>
          <p:nvPr/>
        </p:nvGrpSpPr>
        <p:grpSpPr bwMode="auto">
          <a:xfrm>
            <a:off x="5553935" y="4338101"/>
            <a:ext cx="3161440" cy="722313"/>
            <a:chOff x="2962" y="3609"/>
            <a:chExt cx="1868" cy="455"/>
          </a:xfrm>
        </p:grpSpPr>
        <p:sp>
          <p:nvSpPr>
            <p:cNvPr id="19474" name="Text Box 21"/>
            <p:cNvSpPr txBox="1">
              <a:spLocks noChangeArrowheads="1"/>
            </p:cNvSpPr>
            <p:nvPr/>
          </p:nvSpPr>
          <p:spPr bwMode="auto">
            <a:xfrm>
              <a:off x="3775" y="3660"/>
              <a:ext cx="101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ea typeface="ＭＳ Ｐゴシック" charset="0"/>
                  <a:cs typeface="ＭＳ Ｐゴシック" charset="0"/>
                </a:rPr>
                <a:t>85.0</a:t>
              </a:r>
              <a:r>
                <a:rPr kumimoji="0" lang="ja-JP" altLang="en-US" sz="1800" dirty="0">
                  <a:ea typeface="ＭＳ Ｐゴシック" charset="0"/>
                  <a:cs typeface="ＭＳ Ｐゴシック" charset="0"/>
                </a:rPr>
                <a:t>　</a:t>
              </a:r>
              <a:r>
                <a:rPr kumimoji="0" lang="en-US" altLang="ja-JP" sz="1800" dirty="0">
                  <a:ea typeface="ＭＳ Ｐゴシック" charset="0"/>
                  <a:cs typeface="ＭＳ Ｐゴシック" charset="0"/>
                </a:rPr>
                <a:t>/  2</a:t>
              </a:r>
            </a:p>
            <a:p>
              <a:r>
                <a:rPr kumimoji="0" lang="en-US" altLang="ja-JP" sz="1800" dirty="0">
                  <a:ea typeface="ＭＳ Ｐゴシック" charset="0"/>
                  <a:cs typeface="ＭＳ Ｐゴシック" charset="0"/>
                </a:rPr>
                <a:t>(double) / (</a:t>
              </a:r>
              <a:r>
                <a:rPr kumimoji="0" lang="en-US" altLang="ja-JP" sz="1800" dirty="0" err="1">
                  <a:ea typeface="ＭＳ Ｐゴシック" charset="0"/>
                  <a:cs typeface="ＭＳ Ｐゴシック" charset="0"/>
                </a:rPr>
                <a:t>int</a:t>
              </a:r>
              <a:r>
                <a:rPr kumimoji="0" lang="en-US" altLang="ja-JP" sz="1800" dirty="0">
                  <a:ea typeface="ＭＳ Ｐゴシック" charset="0"/>
                  <a:cs typeface="ＭＳ Ｐゴシック" charset="0"/>
                </a:rPr>
                <a:t>)</a:t>
              </a:r>
            </a:p>
          </p:txBody>
        </p:sp>
        <p:sp>
          <p:nvSpPr>
            <p:cNvPr id="19475" name="Line 22"/>
            <p:cNvSpPr>
              <a:spLocks noChangeShapeType="1"/>
            </p:cNvSpPr>
            <p:nvPr/>
          </p:nvSpPr>
          <p:spPr bwMode="auto">
            <a:xfrm>
              <a:off x="2962" y="3609"/>
              <a:ext cx="1868" cy="3"/>
            </a:xfrm>
            <a:prstGeom prst="line">
              <a:avLst/>
            </a:prstGeom>
            <a:noFill/>
            <a:ln w="28575">
              <a:solidFill>
                <a:srgbClr val="33CC33"/>
              </a:solidFill>
              <a:round/>
              <a:headEnd/>
              <a:tailEnd/>
            </a:ln>
            <a:extLst>
              <a:ext uri="{909E8E84-426E-40dd-AFC4-6F175D3DCCD1}">
                <a14:hiddenFill xmlns:a14="http://schemas.microsoft.com/office/drawing/2010/main">
                  <a:noFill/>
                </a14:hiddenFill>
              </a:ext>
            </a:extLst>
          </p:spPr>
          <p:txBody>
            <a:bodyPr/>
            <a:lstStyle/>
            <a:p>
              <a:endParaRPr lang="ja-JP" altLang="en-US"/>
            </a:p>
          </p:txBody>
        </p:sp>
      </p:grpSp>
      <p:sp>
        <p:nvSpPr>
          <p:cNvPr id="19468" name="Line 25"/>
          <p:cNvSpPr>
            <a:spLocks noChangeShapeType="1"/>
          </p:cNvSpPr>
          <p:nvPr/>
        </p:nvSpPr>
        <p:spPr bwMode="auto">
          <a:xfrm flipH="1">
            <a:off x="5844448" y="4727804"/>
            <a:ext cx="7858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p>
        </p:txBody>
      </p:sp>
      <p:sp>
        <p:nvSpPr>
          <p:cNvPr id="19469" name="Line 28"/>
          <p:cNvSpPr>
            <a:spLocks noChangeShapeType="1"/>
          </p:cNvSpPr>
          <p:nvPr/>
        </p:nvSpPr>
        <p:spPr bwMode="auto">
          <a:xfrm flipV="1">
            <a:off x="4982435" y="3553664"/>
            <a:ext cx="0" cy="865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ja-JP" altLang="en-US"/>
          </a:p>
        </p:txBody>
      </p:sp>
      <p:sp>
        <p:nvSpPr>
          <p:cNvPr id="19470" name="Text Box 29"/>
          <p:cNvSpPr txBox="1">
            <a:spLocks noChangeArrowheads="1"/>
          </p:cNvSpPr>
          <p:nvPr/>
        </p:nvSpPr>
        <p:spPr bwMode="auto">
          <a:xfrm>
            <a:off x="3696560" y="3687430"/>
            <a:ext cx="13557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1800" dirty="0">
                <a:ea typeface="ＭＳ Ｐゴシック" charset="0"/>
                <a:cs typeface="ＭＳ Ｐゴシック" charset="0"/>
              </a:rPr>
              <a:t>４２．５が代入される</a:t>
            </a:r>
          </a:p>
        </p:txBody>
      </p:sp>
      <p:sp>
        <p:nvSpPr>
          <p:cNvPr id="19471" name="Text Box 21"/>
          <p:cNvSpPr txBox="1">
            <a:spLocks noChangeArrowheads="1"/>
          </p:cNvSpPr>
          <p:nvPr/>
        </p:nvSpPr>
        <p:spPr bwMode="auto">
          <a:xfrm>
            <a:off x="3915635" y="4415787"/>
            <a:ext cx="207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en-US" altLang="ja-JP" sz="1800" dirty="0">
                <a:ea typeface="ＭＳ Ｐゴシック" charset="0"/>
                <a:cs typeface="ＭＳ Ｐゴシック" charset="0"/>
              </a:rPr>
              <a:t>     85.0</a:t>
            </a:r>
            <a:r>
              <a:rPr kumimoji="0" lang="ja-JP" altLang="en-US" sz="1800" dirty="0">
                <a:ea typeface="ＭＳ Ｐゴシック" charset="0"/>
                <a:cs typeface="ＭＳ Ｐゴシック" charset="0"/>
              </a:rPr>
              <a:t>　</a:t>
            </a:r>
            <a:r>
              <a:rPr kumimoji="0" lang="en-US" altLang="ja-JP" sz="1800" dirty="0">
                <a:ea typeface="ＭＳ Ｐゴシック" charset="0"/>
                <a:cs typeface="ＭＳ Ｐゴシック" charset="0"/>
              </a:rPr>
              <a:t>/  2.0</a:t>
            </a:r>
          </a:p>
          <a:p>
            <a:r>
              <a:rPr kumimoji="0" lang="en-US" altLang="ja-JP" sz="1800" dirty="0">
                <a:ea typeface="ＭＳ Ｐゴシック" charset="0"/>
                <a:cs typeface="ＭＳ Ｐゴシック" charset="0"/>
              </a:rPr>
              <a:t>(double) / (double)</a:t>
            </a:r>
          </a:p>
        </p:txBody>
      </p:sp>
      <p:sp>
        <p:nvSpPr>
          <p:cNvPr id="19472" name="テキスト ボックス 33"/>
          <p:cNvSpPr txBox="1">
            <a:spLocks noChangeArrowheads="1"/>
          </p:cNvSpPr>
          <p:nvPr/>
        </p:nvSpPr>
        <p:spPr bwMode="auto">
          <a:xfrm>
            <a:off x="4895595" y="5209329"/>
            <a:ext cx="2916238"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1800"/>
              <a:t>2</a:t>
            </a:r>
            <a:r>
              <a:rPr lang="ja-JP" altLang="en-US" sz="1800"/>
              <a:t>は</a:t>
            </a:r>
            <a:r>
              <a:rPr lang="en-US" altLang="ja-JP" sz="1800"/>
              <a:t>2.0</a:t>
            </a:r>
            <a:r>
              <a:rPr lang="ja-JP" altLang="en-US" sz="1800"/>
              <a:t>に暗黙に型変換</a:t>
            </a:r>
            <a:endParaRPr lang="en-US" altLang="ja-JP" sz="1800"/>
          </a:p>
          <a:p>
            <a:r>
              <a:rPr lang="ja-JP" altLang="en-US" sz="1800"/>
              <a:t>される</a:t>
            </a:r>
            <a:r>
              <a:rPr lang="en-US" altLang="ja-JP" sz="1800"/>
              <a:t>(implicit conversion)</a:t>
            </a:r>
            <a:endParaRPr lang="ja-JP" altLang="en-US" sz="1800"/>
          </a:p>
        </p:txBody>
      </p:sp>
      <p:sp>
        <p:nvSpPr>
          <p:cNvPr id="19473" name="テキスト ボックス 34"/>
          <p:cNvSpPr txBox="1">
            <a:spLocks noChangeArrowheads="1"/>
          </p:cNvSpPr>
          <p:nvPr/>
        </p:nvSpPr>
        <p:spPr bwMode="auto">
          <a:xfrm>
            <a:off x="4714875" y="2339226"/>
            <a:ext cx="40005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1800"/>
              <a:t>85</a:t>
            </a:r>
            <a:r>
              <a:rPr lang="ja-JP" altLang="en-US" sz="1800"/>
              <a:t>は</a:t>
            </a:r>
            <a:r>
              <a:rPr lang="en-US" altLang="ja-JP" sz="1800"/>
              <a:t>85.0</a:t>
            </a:r>
            <a:r>
              <a:rPr lang="ja-JP" altLang="en-US" sz="1800"/>
              <a:t>にキャスト演算子</a:t>
            </a:r>
            <a:r>
              <a:rPr lang="en-US" altLang="ja-JP" sz="1800">
                <a:solidFill>
                  <a:srgbClr val="3333FF"/>
                </a:solidFill>
              </a:rPr>
              <a:t>(double)</a:t>
            </a:r>
            <a:r>
              <a:rPr lang="ja-JP" altLang="en-US" sz="1800"/>
              <a:t>によって強制的に型変換される</a:t>
            </a:r>
          </a:p>
        </p:txBody>
      </p:sp>
    </p:spTree>
    <p:extLst>
      <p:ext uri="{BB962C8B-B14F-4D97-AF65-F5344CB8AC3E}">
        <p14:creationId xmlns:p14="http://schemas.microsoft.com/office/powerpoint/2010/main" val="79618076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5"/>
          <p:cNvSpPr>
            <a:spLocks noGrp="1" noChangeArrowheads="1"/>
          </p:cNvSpPr>
          <p:nvPr>
            <p:ph type="title"/>
          </p:nvPr>
        </p:nvSpPr>
        <p:spPr>
          <a:xfrm>
            <a:off x="762094" y="325064"/>
            <a:ext cx="7620000" cy="685800"/>
          </a:xfrm>
        </p:spPr>
        <p:txBody>
          <a:bodyPr>
            <a:normAutofit/>
          </a:bodyPr>
          <a:lstStyle/>
          <a:p>
            <a:r>
              <a:rPr kumimoji="0" lang="ja-JP" altLang="en-US" sz="3600" dirty="0">
                <a:latin typeface="Calibri" charset="0"/>
              </a:rPr>
              <a:t>キャスト演算子の構文</a:t>
            </a:r>
          </a:p>
        </p:txBody>
      </p:sp>
      <p:sp>
        <p:nvSpPr>
          <p:cNvPr id="20485" name="Text Box 6"/>
          <p:cNvSpPr txBox="1">
            <a:spLocks noChangeArrowheads="1"/>
          </p:cNvSpPr>
          <p:nvPr/>
        </p:nvSpPr>
        <p:spPr bwMode="auto">
          <a:xfrm>
            <a:off x="1000125" y="1857375"/>
            <a:ext cx="2201863"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800">
                <a:ea typeface="ＭＳ Ｐゴシック" charset="0"/>
                <a:cs typeface="ＭＳ Ｐゴシック" charset="0"/>
              </a:rPr>
              <a:t>（</a:t>
            </a:r>
            <a:r>
              <a:rPr kumimoji="0" lang="en-US" altLang="ja-JP" sz="2800">
                <a:ea typeface="ＭＳ Ｐゴシック" charset="0"/>
                <a:cs typeface="ＭＳ Ｐゴシック" charset="0"/>
              </a:rPr>
              <a:t>&lt;</a:t>
            </a:r>
            <a:r>
              <a:rPr kumimoji="0" lang="ja-JP" altLang="en-US" sz="2800">
                <a:ea typeface="ＭＳ Ｐゴシック" charset="0"/>
                <a:cs typeface="ＭＳ Ｐゴシック" charset="0"/>
              </a:rPr>
              <a:t>型</a:t>
            </a:r>
            <a:r>
              <a:rPr kumimoji="0" lang="en-US" altLang="ja-JP" sz="2800">
                <a:ea typeface="ＭＳ Ｐゴシック" charset="0"/>
                <a:cs typeface="ＭＳ Ｐゴシック" charset="0"/>
              </a:rPr>
              <a:t>&gt;</a:t>
            </a:r>
            <a:r>
              <a:rPr kumimoji="0" lang="ja-JP" altLang="en-US" sz="2800">
                <a:ea typeface="ＭＳ Ｐゴシック" charset="0"/>
                <a:cs typeface="ＭＳ Ｐゴシック" charset="0"/>
              </a:rPr>
              <a:t>） </a:t>
            </a:r>
            <a:r>
              <a:rPr kumimoji="0" lang="en-US" altLang="ja-JP" sz="2800">
                <a:ea typeface="ＭＳ Ｐゴシック" charset="0"/>
                <a:cs typeface="ＭＳ Ｐゴシック" charset="0"/>
              </a:rPr>
              <a:t>&lt;</a:t>
            </a:r>
            <a:r>
              <a:rPr kumimoji="0" lang="ja-JP" altLang="en-US" sz="2800">
                <a:ea typeface="ＭＳ Ｐゴシック" charset="0"/>
                <a:cs typeface="ＭＳ Ｐゴシック" charset="0"/>
              </a:rPr>
              <a:t>式</a:t>
            </a:r>
            <a:r>
              <a:rPr kumimoji="0" lang="en-US" altLang="ja-JP" sz="2800">
                <a:ea typeface="ＭＳ Ｐゴシック" charset="0"/>
                <a:cs typeface="ＭＳ Ｐゴシック" charset="0"/>
              </a:rPr>
              <a:t>&gt;</a:t>
            </a:r>
          </a:p>
        </p:txBody>
      </p:sp>
      <p:sp>
        <p:nvSpPr>
          <p:cNvPr id="20486" name="Text Box 9"/>
          <p:cNvSpPr txBox="1">
            <a:spLocks noChangeArrowheads="1"/>
          </p:cNvSpPr>
          <p:nvPr/>
        </p:nvSpPr>
        <p:spPr bwMode="auto">
          <a:xfrm>
            <a:off x="1000125" y="3527425"/>
            <a:ext cx="7000875" cy="830263"/>
          </a:xfrm>
          <a:prstGeom prst="rect">
            <a:avLst/>
          </a:prstGeom>
          <a:solidFill>
            <a:srgbClr val="CCFFCC"/>
          </a:solidFill>
          <a:ln w="9525">
            <a:solidFill>
              <a:schemeClr val="tx1"/>
            </a:solidFill>
            <a:miter lim="800000"/>
            <a:headEnd/>
            <a:tailEnd/>
          </a:ln>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a:ea typeface="ＭＳ Ｐゴシック" charset="0"/>
                <a:cs typeface="ＭＳ Ｐゴシック" charset="0"/>
              </a:rPr>
              <a:t>式</a:t>
            </a:r>
            <a:r>
              <a:rPr kumimoji="0" lang="en-US" altLang="ja-JP" sz="2400">
                <a:ea typeface="ＭＳ Ｐゴシック" charset="0"/>
                <a:cs typeface="ＭＳ Ｐゴシック" charset="0"/>
              </a:rPr>
              <a:t>e</a:t>
            </a:r>
            <a:r>
              <a:rPr kumimoji="0" lang="ja-JP" altLang="en-US" sz="2400">
                <a:ea typeface="ＭＳ Ｐゴシック" charset="0"/>
                <a:cs typeface="ＭＳ Ｐゴシック" charset="0"/>
              </a:rPr>
              <a:t>の評価結果の値を型</a:t>
            </a:r>
            <a:r>
              <a:rPr kumimoji="0" lang="en-US" altLang="ja-JP" sz="2400">
                <a:ea typeface="ＭＳ Ｐゴシック" charset="0"/>
                <a:cs typeface="ＭＳ Ｐゴシック" charset="0"/>
              </a:rPr>
              <a:t>t</a:t>
            </a:r>
            <a:r>
              <a:rPr kumimoji="0" lang="ja-JP" altLang="en-US" sz="2400">
                <a:ea typeface="ＭＳ Ｐゴシック" charset="0"/>
                <a:cs typeface="ＭＳ Ｐゴシック" charset="0"/>
              </a:rPr>
              <a:t>に変換した値が、式 </a:t>
            </a:r>
            <a:r>
              <a:rPr kumimoji="0" lang="en-US" altLang="ja-JP" sz="2400">
                <a:ea typeface="ＭＳ Ｐゴシック" charset="0"/>
                <a:cs typeface="ＭＳ Ｐゴシック" charset="0"/>
              </a:rPr>
              <a:t>(t) e </a:t>
            </a:r>
            <a:r>
              <a:rPr kumimoji="0" lang="ja-JP" altLang="en-US" sz="2400">
                <a:ea typeface="ＭＳ Ｐゴシック" charset="0"/>
                <a:cs typeface="ＭＳ Ｐゴシック" charset="0"/>
              </a:rPr>
              <a:t>の評価結果となる。</a:t>
            </a:r>
          </a:p>
        </p:txBody>
      </p:sp>
      <p:sp>
        <p:nvSpPr>
          <p:cNvPr id="20487" name="テキスト ボックス 29"/>
          <p:cNvSpPr txBox="1">
            <a:spLocks noChangeArrowheads="1"/>
          </p:cNvSpPr>
          <p:nvPr/>
        </p:nvSpPr>
        <p:spPr bwMode="auto">
          <a:xfrm>
            <a:off x="428625" y="1285875"/>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20488" name="テキスト ボックス 28"/>
          <p:cNvSpPr txBox="1">
            <a:spLocks noChangeArrowheads="1"/>
          </p:cNvSpPr>
          <p:nvPr/>
        </p:nvSpPr>
        <p:spPr bwMode="auto">
          <a:xfrm>
            <a:off x="500063" y="2813050"/>
            <a:ext cx="27574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  </a:t>
            </a:r>
            <a:r>
              <a:rPr lang="en-US" altLang="ja-JP" sz="2800"/>
              <a:t>(t) e   </a:t>
            </a:r>
            <a:r>
              <a:rPr lang="ja-JP" altLang="en-US" sz="2800"/>
              <a:t>の意味</a:t>
            </a:r>
          </a:p>
        </p:txBody>
      </p:sp>
    </p:spTree>
    <p:extLst>
      <p:ext uri="{BB962C8B-B14F-4D97-AF65-F5344CB8AC3E}">
        <p14:creationId xmlns:p14="http://schemas.microsoft.com/office/powerpoint/2010/main" val="188657414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例（打ち込んで実行）</a:t>
            </a:r>
            <a:endParaRPr kumimoji="1" lang="ja-JP" altLang="en-US" dirty="0"/>
          </a:p>
        </p:txBody>
      </p:sp>
      <p:sp>
        <p:nvSpPr>
          <p:cNvPr id="4" name="正方形/長方形 3"/>
          <p:cNvSpPr/>
          <p:nvPr/>
        </p:nvSpPr>
        <p:spPr>
          <a:xfrm>
            <a:off x="1444024" y="1417638"/>
            <a:ext cx="5291782" cy="4893647"/>
          </a:xfrm>
          <a:prstGeom prst="rect">
            <a:avLst/>
          </a:prstGeom>
          <a:ln>
            <a:solidFill>
              <a:srgbClr val="000000"/>
            </a:solidFill>
          </a:ln>
        </p:spPr>
        <p:txBody>
          <a:bodyPr wrap="square">
            <a:spAutoFit/>
          </a:bodyPr>
          <a:lstStyle/>
          <a:p>
            <a:r>
              <a:rPr lang="en-US" altLang="ja-JP" sz="2400" dirty="0"/>
              <a:t>#include &lt;</a:t>
            </a:r>
            <a:r>
              <a:rPr lang="en-US" altLang="ja-JP" sz="2400" dirty="0" err="1"/>
              <a:t>stdio.h</a:t>
            </a:r>
            <a:r>
              <a:rPr lang="en-US" altLang="ja-JP" sz="2400" dirty="0"/>
              <a:t>&gt;</a:t>
            </a:r>
          </a:p>
          <a:p>
            <a:endParaRPr lang="en-US" altLang="ja-JP" sz="2400" dirty="0"/>
          </a:p>
          <a:p>
            <a:r>
              <a:rPr lang="en-US" altLang="ja-JP" sz="2400" dirty="0" err="1"/>
              <a:t>int</a:t>
            </a:r>
            <a:r>
              <a:rPr lang="en-US" altLang="ja-JP" sz="2400" dirty="0"/>
              <a:t> main (void) {</a:t>
            </a:r>
          </a:p>
          <a:p>
            <a:r>
              <a:rPr lang="en-US" altLang="ja-JP" sz="2400" dirty="0"/>
              <a:t>  double average;</a:t>
            </a:r>
          </a:p>
          <a:p>
            <a:r>
              <a:rPr lang="en-US" altLang="ja-JP" sz="2400" dirty="0"/>
              <a:t>  </a:t>
            </a:r>
            <a:r>
              <a:rPr lang="en-US" altLang="ja-JP" sz="2400" dirty="0" err="1"/>
              <a:t>int</a:t>
            </a:r>
            <a:r>
              <a:rPr lang="en-US" altLang="ja-JP" sz="2400" dirty="0"/>
              <a:t> </a:t>
            </a:r>
            <a:r>
              <a:rPr lang="en-US" altLang="ja-JP" sz="2400" dirty="0" err="1"/>
              <a:t>intAver</a:t>
            </a:r>
            <a:r>
              <a:rPr lang="en-US" altLang="ja-JP" sz="2400" dirty="0"/>
              <a:t>;</a:t>
            </a:r>
          </a:p>
          <a:p>
            <a:r>
              <a:rPr lang="en-US" altLang="ja-JP" sz="2400" dirty="0"/>
              <a:t>  average = (double)(40+45)/2;</a:t>
            </a:r>
          </a:p>
          <a:p>
            <a:r>
              <a:rPr lang="en-US" altLang="ja-JP" sz="2400" dirty="0"/>
              <a:t>  </a:t>
            </a:r>
            <a:r>
              <a:rPr lang="en-US" altLang="ja-JP" sz="2400" dirty="0" err="1"/>
              <a:t>printf</a:t>
            </a:r>
            <a:r>
              <a:rPr lang="en-US" altLang="ja-JP" sz="2400" dirty="0"/>
              <a:t> ("average=%f\n", average);</a:t>
            </a:r>
          </a:p>
          <a:p>
            <a:r>
              <a:rPr lang="en-US" altLang="ja-JP" sz="2400" dirty="0"/>
              <a:t>  </a:t>
            </a:r>
            <a:r>
              <a:rPr lang="en-US" altLang="ja-JP" sz="2400" dirty="0" err="1"/>
              <a:t>intAver</a:t>
            </a:r>
            <a:r>
              <a:rPr lang="en-US" altLang="ja-JP" sz="2400" dirty="0"/>
              <a:t> = average;</a:t>
            </a:r>
          </a:p>
          <a:p>
            <a:r>
              <a:rPr lang="en-US" altLang="ja-JP" sz="2400" dirty="0"/>
              <a:t>  </a:t>
            </a:r>
            <a:r>
              <a:rPr lang="en-US" altLang="ja-JP" sz="2400" dirty="0" err="1"/>
              <a:t>printf</a:t>
            </a:r>
            <a:r>
              <a:rPr lang="en-US" altLang="ja-JP" sz="2400" dirty="0"/>
              <a:t> ("average=%d\n", </a:t>
            </a:r>
            <a:r>
              <a:rPr lang="en-US" altLang="ja-JP" sz="2400" dirty="0" err="1"/>
              <a:t>intAver</a:t>
            </a:r>
            <a:r>
              <a:rPr lang="en-US" altLang="ja-JP" sz="2400" dirty="0"/>
              <a:t>);</a:t>
            </a:r>
          </a:p>
          <a:p>
            <a:r>
              <a:rPr lang="en-US" altLang="ja-JP" sz="2400" dirty="0"/>
              <a:t>  average = (40+45)/2;</a:t>
            </a:r>
          </a:p>
          <a:p>
            <a:r>
              <a:rPr lang="en-US" altLang="ja-JP" sz="2400" dirty="0"/>
              <a:t>  </a:t>
            </a:r>
            <a:r>
              <a:rPr lang="en-US" altLang="ja-JP" sz="2400" dirty="0" err="1"/>
              <a:t>printf</a:t>
            </a:r>
            <a:r>
              <a:rPr lang="en-US" altLang="ja-JP" sz="2400" dirty="0"/>
              <a:t> ("average=%f\n", average);</a:t>
            </a:r>
          </a:p>
          <a:p>
            <a:r>
              <a:rPr lang="en-US" altLang="ja-JP" sz="2400" dirty="0"/>
              <a:t>  return 0;</a:t>
            </a:r>
          </a:p>
          <a:p>
            <a:r>
              <a:rPr lang="en-US" altLang="ja-JP" sz="2400" dirty="0"/>
              <a:t>}</a:t>
            </a:r>
            <a:endParaRPr lang="ja-JP" altLang="en-US" sz="2400" dirty="0"/>
          </a:p>
        </p:txBody>
      </p:sp>
    </p:spTree>
    <p:extLst>
      <p:ext uri="{BB962C8B-B14F-4D97-AF65-F5344CB8AC3E}">
        <p14:creationId xmlns:p14="http://schemas.microsoft.com/office/powerpoint/2010/main" val="1189122651"/>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18590" y="398089"/>
            <a:ext cx="7620000" cy="685800"/>
          </a:xfrm>
        </p:spPr>
        <p:txBody>
          <a:bodyPr>
            <a:noAutofit/>
          </a:bodyPr>
          <a:lstStyle/>
          <a:p>
            <a:r>
              <a:rPr kumimoji="0" lang="en-US" altLang="ja-JP" sz="4000" dirty="0">
                <a:latin typeface="Calibri" charset="0"/>
              </a:rPr>
              <a:t> if</a:t>
            </a:r>
            <a:r>
              <a:rPr kumimoji="0" lang="ja-JP" altLang="en-US" sz="4000" dirty="0">
                <a:latin typeface="Calibri" charset="0"/>
              </a:rPr>
              <a:t>文による条件分岐</a:t>
            </a:r>
          </a:p>
        </p:txBody>
      </p:sp>
      <p:sp>
        <p:nvSpPr>
          <p:cNvPr id="21506" name="Rectangle 3"/>
          <p:cNvSpPr>
            <a:spLocks noGrp="1" noChangeArrowheads="1"/>
          </p:cNvSpPr>
          <p:nvPr>
            <p:ph idx="1"/>
          </p:nvPr>
        </p:nvSpPr>
        <p:spPr>
          <a:xfrm>
            <a:off x="323850" y="1482726"/>
            <a:ext cx="7677150" cy="588962"/>
          </a:xfrm>
        </p:spPr>
        <p:txBody>
          <a:bodyPr/>
          <a:lstStyle/>
          <a:p>
            <a:r>
              <a:rPr kumimoji="0" lang="ja-JP" altLang="en-US" sz="2600" dirty="0">
                <a:latin typeface="News Gothic" charset="0"/>
              </a:rPr>
              <a:t>条件により、プログラムの流れを変える。</a:t>
            </a:r>
          </a:p>
        </p:txBody>
      </p:sp>
      <p:sp>
        <p:nvSpPr>
          <p:cNvPr id="21510" name="Text Box 4"/>
          <p:cNvSpPr txBox="1">
            <a:spLocks noChangeArrowheads="1"/>
          </p:cNvSpPr>
          <p:nvPr/>
        </p:nvSpPr>
        <p:spPr bwMode="auto">
          <a:xfrm>
            <a:off x="642938" y="2320191"/>
            <a:ext cx="8072437"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kumimoji="0" lang="ja-JP" altLang="en-US" sz="2400" dirty="0">
                <a:ea typeface="ＭＳ Ｐゴシック" charset="0"/>
                <a:cs typeface="ＭＳ Ｐゴシック" charset="0"/>
              </a:rPr>
              <a:t>（例）キーボードから入力した整数値が、 </a:t>
            </a:r>
            <a:endParaRPr kumimoji="0" lang="en-US" altLang="ja-JP" sz="2400" dirty="0">
              <a:ea typeface="ＭＳ Ｐゴシック" charset="0"/>
              <a:cs typeface="ＭＳ Ｐゴシック" charset="0"/>
            </a:endParaRPr>
          </a:p>
          <a:p>
            <a:pPr lvl="1">
              <a:buFont typeface="Arial" charset="0"/>
              <a:buChar char="•"/>
            </a:pPr>
            <a:r>
              <a:rPr kumimoji="0" lang="ja-JP" altLang="en-US" sz="2400" dirty="0">
                <a:ea typeface="ＭＳ Ｐゴシック" charset="0"/>
                <a:cs typeface="ＭＳ Ｐゴシック" charset="0"/>
              </a:rPr>
              <a:t>   </a:t>
            </a:r>
            <a:r>
              <a:rPr kumimoji="0" lang="ja-JP" altLang="en-US" sz="2400" dirty="0" smtClean="0">
                <a:solidFill>
                  <a:srgbClr val="FF3300"/>
                </a:solidFill>
                <a:ea typeface="ＭＳ Ｐゴシック" charset="0"/>
                <a:cs typeface="ＭＳ Ｐゴシック" charset="0"/>
              </a:rPr>
              <a:t>５</a:t>
            </a:r>
            <a:r>
              <a:rPr kumimoji="0" lang="ja-JP" altLang="en-US" sz="2400" dirty="0">
                <a:solidFill>
                  <a:srgbClr val="FF3300"/>
                </a:solidFill>
                <a:ea typeface="ＭＳ Ｐゴシック" charset="0"/>
                <a:cs typeface="ＭＳ Ｐゴシック" charset="0"/>
              </a:rPr>
              <a:t>で割り切れなかったら、</a:t>
            </a:r>
            <a:r>
              <a:rPr kumimoji="0" lang="ja-JP" altLang="en-US" sz="2400" dirty="0">
                <a:ea typeface="ＭＳ Ｐゴシック" charset="0"/>
                <a:cs typeface="ＭＳ Ｐゴシック" charset="0"/>
              </a:rPr>
              <a:t>“５の倍数でありません。”</a:t>
            </a:r>
          </a:p>
          <a:p>
            <a:r>
              <a:rPr kumimoji="0" lang="ja-JP" altLang="en-US" sz="2400" dirty="0">
                <a:ea typeface="ＭＳ Ｐゴシック" charset="0"/>
                <a:cs typeface="ＭＳ Ｐゴシック" charset="0"/>
              </a:rPr>
              <a:t>　　　と表示する。</a:t>
            </a:r>
          </a:p>
          <a:p>
            <a:pPr lvl="1">
              <a:buFont typeface="Arial" charset="0"/>
              <a:buChar char="•"/>
            </a:pPr>
            <a:r>
              <a:rPr kumimoji="0" lang="ja-JP" altLang="en-US" sz="2400" dirty="0">
                <a:ea typeface="ＭＳ Ｐゴシック" charset="0"/>
                <a:cs typeface="ＭＳ Ｐゴシック" charset="0"/>
              </a:rPr>
              <a:t>　</a:t>
            </a:r>
            <a:r>
              <a:rPr kumimoji="0" lang="ja-JP" altLang="en-US" sz="2400" dirty="0">
                <a:solidFill>
                  <a:srgbClr val="FF3300"/>
                </a:solidFill>
                <a:ea typeface="ＭＳ Ｐゴシック" charset="0"/>
                <a:cs typeface="ＭＳ Ｐゴシック" charset="0"/>
              </a:rPr>
              <a:t>そうでなかったら（５で割り切れたら）、</a:t>
            </a:r>
            <a:r>
              <a:rPr kumimoji="0" lang="ja-JP" altLang="en-US" sz="2400" dirty="0">
                <a:ea typeface="ＭＳ Ｐゴシック" charset="0"/>
                <a:cs typeface="ＭＳ Ｐゴシック" charset="0"/>
              </a:rPr>
              <a:t>“５の倍数です。”</a:t>
            </a:r>
          </a:p>
          <a:p>
            <a:r>
              <a:rPr kumimoji="0" lang="ja-JP" altLang="en-US" sz="2400" dirty="0">
                <a:ea typeface="ＭＳ Ｐゴシック" charset="0"/>
                <a:cs typeface="ＭＳ Ｐゴシック" charset="0"/>
              </a:rPr>
              <a:t>　　　と表示する。</a:t>
            </a:r>
          </a:p>
        </p:txBody>
      </p:sp>
    </p:spTree>
    <p:extLst>
      <p:ext uri="{BB962C8B-B14F-4D97-AF65-F5344CB8AC3E}">
        <p14:creationId xmlns:p14="http://schemas.microsoft.com/office/powerpoint/2010/main" val="4116493769"/>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250825" y="188913"/>
            <a:ext cx="7620000" cy="685800"/>
          </a:xfrm>
        </p:spPr>
        <p:txBody>
          <a:bodyPr/>
          <a:lstStyle/>
          <a:p>
            <a:r>
              <a:rPr kumimoji="0" lang="en-US" altLang="ja-JP" sz="3400">
                <a:latin typeface="Syntax" charset="0"/>
              </a:rPr>
              <a:t> </a:t>
            </a:r>
            <a:r>
              <a:rPr lang="en-US" altLang="ja-JP" sz="3600">
                <a:latin typeface="Syntax" charset="0"/>
                <a:ea typeface="ヒラギノ角ゴ Pro W3" charset="0"/>
                <a:cs typeface="ヒラギノ角ゴ Pro W3" charset="0"/>
              </a:rPr>
              <a:t> if</a:t>
            </a:r>
            <a:r>
              <a:rPr lang="ja-JP" altLang="en-US" sz="3600">
                <a:latin typeface="Syntax" charset="0"/>
                <a:ea typeface="ヒラギノ角ゴ Pro W3" charset="0"/>
                <a:cs typeface="ヒラギノ角ゴ Pro W3" charset="0"/>
              </a:rPr>
              <a:t>文の構文</a:t>
            </a:r>
            <a:r>
              <a:rPr lang="en-US" altLang="ja-JP" sz="3600">
                <a:latin typeface="Syntax" charset="0"/>
                <a:ea typeface="ヒラギノ角ゴ Pro W3" charset="0"/>
                <a:cs typeface="ヒラギノ角ゴ Pro W3" charset="0"/>
              </a:rPr>
              <a:t>(</a:t>
            </a:r>
            <a:r>
              <a:rPr lang="ja-JP" altLang="en-US" sz="3600">
                <a:latin typeface="Syntax" charset="0"/>
                <a:ea typeface="ヒラギノ角ゴ Pro W3" charset="0"/>
                <a:cs typeface="ヒラギノ角ゴ Pro W3" charset="0"/>
              </a:rPr>
              <a:t>その１</a:t>
            </a:r>
            <a:r>
              <a:rPr lang="en-US" altLang="ja-JP" sz="3600">
                <a:latin typeface="Syntax" charset="0"/>
                <a:ea typeface="ヒラギノ角ゴ Pro W3" charset="0"/>
                <a:cs typeface="ヒラギノ角ゴ Pro W3" charset="0"/>
              </a:rPr>
              <a:t>)</a:t>
            </a:r>
            <a:endParaRPr kumimoji="0" lang="ja-JP" altLang="en-US" sz="3400">
              <a:latin typeface="Syntax" charset="0"/>
            </a:endParaRPr>
          </a:p>
        </p:txBody>
      </p:sp>
      <p:sp>
        <p:nvSpPr>
          <p:cNvPr id="22533" name="テキスト ボックス 11"/>
          <p:cNvSpPr txBox="1">
            <a:spLocks noChangeArrowheads="1"/>
          </p:cNvSpPr>
          <p:nvPr/>
        </p:nvSpPr>
        <p:spPr bwMode="auto">
          <a:xfrm>
            <a:off x="642938" y="1214438"/>
            <a:ext cx="3648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3200"/>
              <a:t> if</a:t>
            </a:r>
            <a:r>
              <a:rPr lang="ja-JP" altLang="en-US" sz="3200"/>
              <a:t>文の構文</a:t>
            </a:r>
            <a:r>
              <a:rPr lang="en-US" altLang="ja-JP" sz="3200"/>
              <a:t>(</a:t>
            </a:r>
            <a:r>
              <a:rPr lang="ja-JP" altLang="en-US" sz="3200"/>
              <a:t>その１</a:t>
            </a:r>
            <a:r>
              <a:rPr lang="en-US" altLang="ja-JP" sz="3200"/>
              <a:t>)</a:t>
            </a:r>
          </a:p>
        </p:txBody>
      </p:sp>
      <p:sp>
        <p:nvSpPr>
          <p:cNvPr id="22534" name="正方形/長方形 12"/>
          <p:cNvSpPr>
            <a:spLocks noChangeArrowheads="1"/>
          </p:cNvSpPr>
          <p:nvPr/>
        </p:nvSpPr>
        <p:spPr bwMode="auto">
          <a:xfrm>
            <a:off x="1928813" y="1857375"/>
            <a:ext cx="2830512" cy="584200"/>
          </a:xfrm>
          <a:prstGeom prst="rect">
            <a:avLst/>
          </a:prstGeom>
          <a:solidFill>
            <a:srgbClr val="FFFF00"/>
          </a:solidFill>
          <a:ln w="9525">
            <a:solidFill>
              <a:schemeClr val="tx1"/>
            </a:solidFill>
            <a:miter lim="800000"/>
            <a:headEnd/>
            <a:tailEnd/>
          </a:ln>
        </p:spPr>
        <p:txBody>
          <a:bodyPr wrap="none">
            <a:spAutoFit/>
          </a:bodyPr>
          <a:lstStyle/>
          <a:p>
            <a:r>
              <a:rPr kumimoji="1" lang="en-US" altLang="ja-JP" sz="3200"/>
              <a:t> </a:t>
            </a:r>
            <a:r>
              <a:rPr kumimoji="1" lang="en-US" altLang="ja-JP" sz="3200" b="1"/>
              <a:t>if</a:t>
            </a:r>
            <a:r>
              <a:rPr kumimoji="1" lang="en-US" altLang="ja-JP" sz="3200"/>
              <a:t> (&lt;</a:t>
            </a:r>
            <a:r>
              <a:rPr kumimoji="1" lang="ja-JP" altLang="en-US" sz="3200"/>
              <a:t>式</a:t>
            </a:r>
            <a:r>
              <a:rPr kumimoji="1" lang="en-US" altLang="ja-JP" sz="3200"/>
              <a:t>&gt;) &lt;</a:t>
            </a:r>
            <a:r>
              <a:rPr kumimoji="1" lang="ja-JP" altLang="en-US" sz="3200"/>
              <a:t>文</a:t>
            </a:r>
            <a:r>
              <a:rPr kumimoji="1" lang="en-US" altLang="ja-JP" sz="3200"/>
              <a:t>&gt;</a:t>
            </a:r>
            <a:endParaRPr lang="ja-JP" altLang="en-US" sz="3200"/>
          </a:p>
        </p:txBody>
      </p:sp>
      <p:sp>
        <p:nvSpPr>
          <p:cNvPr id="22535" name="テキスト ボックス 13"/>
          <p:cNvSpPr txBox="1">
            <a:spLocks noChangeArrowheads="1"/>
          </p:cNvSpPr>
          <p:nvPr/>
        </p:nvSpPr>
        <p:spPr bwMode="auto">
          <a:xfrm>
            <a:off x="714375" y="3832225"/>
            <a:ext cx="757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if</a:t>
            </a:r>
            <a:r>
              <a:rPr lang="ja-JP" altLang="en-US" sz="2800"/>
              <a:t>文   </a:t>
            </a:r>
            <a:r>
              <a:rPr lang="en-US" altLang="ja-JP" sz="2800" b="1"/>
              <a:t>if</a:t>
            </a:r>
            <a:r>
              <a:rPr lang="en-US" altLang="ja-JP" sz="2800"/>
              <a:t> (e) s   </a:t>
            </a:r>
            <a:r>
              <a:rPr lang="ja-JP" altLang="en-US" sz="2800"/>
              <a:t>の意味  </a:t>
            </a:r>
            <a:endParaRPr lang="en-US" altLang="ja-JP" sz="2800"/>
          </a:p>
        </p:txBody>
      </p:sp>
      <p:sp>
        <p:nvSpPr>
          <p:cNvPr id="22536" name="正方形/長方形 14"/>
          <p:cNvSpPr>
            <a:spLocks noChangeArrowheads="1"/>
          </p:cNvSpPr>
          <p:nvPr/>
        </p:nvSpPr>
        <p:spPr bwMode="auto">
          <a:xfrm>
            <a:off x="1857375" y="4618038"/>
            <a:ext cx="4857750" cy="954087"/>
          </a:xfrm>
          <a:prstGeom prst="rect">
            <a:avLst/>
          </a:prstGeom>
          <a:solidFill>
            <a:srgbClr val="CCFFCC"/>
          </a:solidFill>
          <a:ln w="9525">
            <a:solidFill>
              <a:schemeClr val="tx1"/>
            </a:solidFill>
            <a:miter lim="800000"/>
            <a:headEnd/>
            <a:tailEnd/>
          </a:ln>
        </p:spPr>
        <p:txBody>
          <a:bodyPr>
            <a:spAutoFit/>
          </a:bodyPr>
          <a:lstStyle/>
          <a:p>
            <a:r>
              <a:rPr kumimoji="1" lang="ja-JP" altLang="en-US" sz="2800">
                <a:solidFill>
                  <a:srgbClr val="000000"/>
                </a:solidFill>
              </a:rPr>
              <a:t>式</a:t>
            </a:r>
            <a:r>
              <a:rPr kumimoji="1" lang="en-US" altLang="ja-JP" sz="2800">
                <a:solidFill>
                  <a:srgbClr val="000000"/>
                </a:solidFill>
              </a:rPr>
              <a:t>e</a:t>
            </a:r>
            <a:r>
              <a:rPr kumimoji="1" lang="ja-JP" altLang="en-US" sz="2800">
                <a:solidFill>
                  <a:srgbClr val="000000"/>
                </a:solidFill>
              </a:rPr>
              <a:t>を評価し、その結果が</a:t>
            </a:r>
            <a:r>
              <a:rPr kumimoji="1" lang="en-US" altLang="ja-JP" sz="2800">
                <a:solidFill>
                  <a:srgbClr val="000000"/>
                </a:solidFill>
              </a:rPr>
              <a:t>0</a:t>
            </a:r>
            <a:r>
              <a:rPr kumimoji="1" lang="ja-JP" altLang="en-US" sz="2800">
                <a:solidFill>
                  <a:srgbClr val="000000"/>
                </a:solidFill>
              </a:rPr>
              <a:t>でないとき文</a:t>
            </a:r>
            <a:r>
              <a:rPr kumimoji="1" lang="en-US" altLang="ja-JP" sz="2800">
                <a:solidFill>
                  <a:srgbClr val="000000"/>
                </a:solidFill>
              </a:rPr>
              <a:t>s</a:t>
            </a:r>
            <a:r>
              <a:rPr kumimoji="1" lang="ja-JP" altLang="en-US" sz="2800">
                <a:solidFill>
                  <a:srgbClr val="000000"/>
                </a:solidFill>
              </a:rPr>
              <a:t>を実行する。</a:t>
            </a:r>
            <a:endParaRPr lang="ja-JP" altLang="en-US"/>
          </a:p>
        </p:txBody>
      </p:sp>
      <p:sp>
        <p:nvSpPr>
          <p:cNvPr id="22537" name="テキスト ボックス 15"/>
          <p:cNvSpPr txBox="1">
            <a:spLocks noChangeArrowheads="1"/>
          </p:cNvSpPr>
          <p:nvPr/>
        </p:nvSpPr>
        <p:spPr bwMode="auto">
          <a:xfrm>
            <a:off x="1857375" y="2571750"/>
            <a:ext cx="6286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（これ自体も文である。たとえば、</a:t>
            </a:r>
            <a:r>
              <a:rPr lang="en-US" altLang="ja-JP" sz="2400"/>
              <a:t>if</a:t>
            </a:r>
            <a:r>
              <a:rPr lang="ja-JP" altLang="en-US" sz="2400"/>
              <a:t>文の中に</a:t>
            </a:r>
            <a:r>
              <a:rPr lang="en-US" altLang="ja-JP" sz="2400"/>
              <a:t>if</a:t>
            </a:r>
            <a:r>
              <a:rPr lang="ja-JP" altLang="en-US" sz="2400"/>
              <a:t>文を書くことができる。）</a:t>
            </a:r>
          </a:p>
        </p:txBody>
      </p:sp>
    </p:spTree>
    <p:extLst>
      <p:ext uri="{BB962C8B-B14F-4D97-AF65-F5344CB8AC3E}">
        <p14:creationId xmlns:p14="http://schemas.microsoft.com/office/powerpoint/2010/main" val="1806613283"/>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574144" y="379411"/>
            <a:ext cx="7620000" cy="685800"/>
          </a:xfrm>
        </p:spPr>
        <p:txBody>
          <a:bodyPr>
            <a:normAutofit/>
          </a:bodyPr>
          <a:lstStyle/>
          <a:p>
            <a:r>
              <a:rPr kumimoji="0" lang="ja-JP" altLang="en-US" sz="3600" dirty="0">
                <a:latin typeface="Calibri" charset="0"/>
              </a:rPr>
              <a:t>例（打ち込んで</a:t>
            </a:r>
            <a:r>
              <a:rPr kumimoji="0" lang="ja-JP" altLang="en-US" sz="3600" dirty="0" smtClean="0">
                <a:latin typeface="Calibri" charset="0"/>
              </a:rPr>
              <a:t>確認）</a:t>
            </a:r>
            <a:endParaRPr kumimoji="0" lang="ja-JP" altLang="en-US" sz="3600" dirty="0">
              <a:latin typeface="Calibri" charset="0"/>
            </a:endParaRPr>
          </a:p>
        </p:txBody>
      </p:sp>
      <p:sp>
        <p:nvSpPr>
          <p:cNvPr id="266244" name="Rectangle 4"/>
          <p:cNvSpPr>
            <a:spLocks noChangeArrowheads="1"/>
          </p:cNvSpPr>
          <p:nvPr/>
        </p:nvSpPr>
        <p:spPr bwMode="auto">
          <a:xfrm>
            <a:off x="500063" y="1500188"/>
            <a:ext cx="7715250" cy="4154487"/>
          </a:xfrm>
          <a:prstGeom prst="rect">
            <a:avLst/>
          </a:prstGeom>
          <a:solidFill>
            <a:schemeClr val="bg1"/>
          </a:solidFill>
          <a:ln w="9525">
            <a:solidFill>
              <a:schemeClr val="tx1"/>
            </a:solidFill>
            <a:miter lim="800000"/>
            <a:headEnd/>
            <a:tailEnd/>
          </a:ln>
          <a:effectLst/>
        </p:spPr>
        <p:txBody>
          <a:bodyPr>
            <a:spAutoFit/>
          </a:bodyPr>
          <a:lstStyle/>
          <a:p>
            <a:pPr>
              <a:defRPr/>
            </a:pPr>
            <a:r>
              <a:rPr lang="en-US" altLang="ja-JP" sz="2400">
                <a:ea typeface="ＭＳ Ｐゴシック" charset="0"/>
                <a:cs typeface="ＭＳ Ｐゴシック" charset="0"/>
              </a:rPr>
              <a:t>/* </a:t>
            </a:r>
            <a:r>
              <a:rPr lang="ja-JP" altLang="en-US" sz="2400">
                <a:ea typeface="ＭＳ Ｐゴシック" charset="0"/>
                <a:cs typeface="ＭＳ Ｐゴシック" charset="0"/>
              </a:rPr>
              <a:t>読み込んだ整数値が５で割り切れるかどうか判定 *</a:t>
            </a:r>
            <a:r>
              <a:rPr lang="en-US" altLang="ja-JP" sz="2400">
                <a:ea typeface="ＭＳ Ｐゴシック" charset="0"/>
                <a:cs typeface="ＭＳ Ｐゴシック" charset="0"/>
              </a:rPr>
              <a:t>/</a:t>
            </a:r>
          </a:p>
          <a:p>
            <a:pPr>
              <a:defRPr/>
            </a:pPr>
            <a:r>
              <a:rPr lang="en-US" altLang="ja-JP" sz="2400">
                <a:ea typeface="ＭＳ Ｐゴシック" charset="0"/>
                <a:cs typeface="ＭＳ Ｐゴシック" charset="0"/>
              </a:rPr>
              <a:t>#include  &lt;stdio.h&gt;</a:t>
            </a:r>
          </a:p>
          <a:p>
            <a:pPr>
              <a:defRPr/>
            </a:pPr>
            <a:r>
              <a:rPr lang="en-US" altLang="ja-JP" sz="2400">
                <a:ea typeface="ＭＳ Ｐゴシック" charset="0"/>
                <a:cs typeface="ＭＳ Ｐゴシック" charset="0"/>
              </a:rPr>
              <a:t>int main(void)</a:t>
            </a:r>
          </a:p>
          <a:p>
            <a:pPr>
              <a:defRPr/>
            </a:pPr>
            <a:r>
              <a:rPr lang="en-US" altLang="ja-JP" sz="2400">
                <a:ea typeface="ＭＳ Ｐゴシック" charset="0"/>
                <a:cs typeface="ＭＳ Ｐゴシック" charset="0"/>
              </a:rPr>
              <a:t>{</a:t>
            </a:r>
          </a:p>
          <a:p>
            <a:pPr>
              <a:defRPr/>
            </a:pPr>
            <a:r>
              <a:rPr lang="en-US" altLang="ja-JP" sz="2400">
                <a:ea typeface="ＭＳ Ｐゴシック" charset="0"/>
                <a:cs typeface="ＭＳ Ｐゴシック" charset="0"/>
              </a:rPr>
              <a:t>	int x;</a:t>
            </a:r>
          </a:p>
          <a:p>
            <a:pPr>
              <a:defRPr/>
            </a:pPr>
            <a:r>
              <a:rPr lang="en-US" altLang="ja-JP" sz="2400">
                <a:ea typeface="ＭＳ Ｐゴシック" charset="0"/>
                <a:cs typeface="ＭＳ Ｐゴシック" charset="0"/>
              </a:rPr>
              <a:t>	printf("</a:t>
            </a:r>
            <a:r>
              <a:rPr lang="ja-JP" altLang="en-US" sz="2400">
                <a:ea typeface="ＭＳ Ｐゴシック" charset="0"/>
                <a:cs typeface="ＭＳ Ｐゴシック" charset="0"/>
              </a:rPr>
              <a:t>整数を入力してください：</a:t>
            </a:r>
            <a:r>
              <a:rPr lang="en-US" altLang="ja-JP" sz="2400">
                <a:ea typeface="ＭＳ Ｐゴシック" charset="0"/>
                <a:cs typeface="ＭＳ Ｐゴシック" charset="0"/>
              </a:rPr>
              <a:t>");</a:t>
            </a:r>
          </a:p>
          <a:p>
            <a:pPr>
              <a:defRPr/>
            </a:pPr>
            <a:r>
              <a:rPr lang="en-US" altLang="ja-JP" sz="2400">
                <a:ea typeface="ＭＳ Ｐゴシック" charset="0"/>
                <a:cs typeface="ＭＳ Ｐゴシック" charset="0"/>
              </a:rPr>
              <a:t>	scanf("%d", &amp;x);</a:t>
            </a:r>
          </a:p>
          <a:p>
            <a:pPr>
              <a:defRPr/>
            </a:pPr>
            <a:r>
              <a:rPr lang="en-US" altLang="ja-JP" sz="2400">
                <a:ea typeface="ＭＳ Ｐゴシック" charset="0"/>
                <a:cs typeface="ＭＳ Ｐゴシック" charset="0"/>
              </a:rPr>
              <a:t>	if (x % 5)</a:t>
            </a:r>
          </a:p>
          <a:p>
            <a:pPr>
              <a:defRPr/>
            </a:pPr>
            <a:r>
              <a:rPr lang="en-US" altLang="ja-JP" sz="2400">
                <a:ea typeface="ＭＳ Ｐゴシック" charset="0"/>
                <a:cs typeface="ＭＳ Ｐゴシック" charset="0"/>
              </a:rPr>
              <a:t>                printf ("</a:t>
            </a:r>
            <a:r>
              <a:rPr lang="ja-JP" altLang="en-US" sz="2400">
                <a:ea typeface="ＭＳ Ｐゴシック" charset="0"/>
                <a:cs typeface="ＭＳ Ｐゴシック" charset="0"/>
              </a:rPr>
              <a:t>その数は５で割り切れません。</a:t>
            </a:r>
            <a:r>
              <a:rPr lang="en-US" altLang="ja-JP" sz="2400">
                <a:ea typeface="ＭＳ Ｐゴシック" charset="0"/>
                <a:cs typeface="ＭＳ Ｐゴシック" charset="0"/>
              </a:rPr>
              <a:t>\n");</a:t>
            </a:r>
          </a:p>
          <a:p>
            <a:pPr>
              <a:defRPr/>
            </a:pPr>
            <a:r>
              <a:rPr lang="en-US" altLang="ja-JP" sz="2400">
                <a:ea typeface="ＭＳ Ｐゴシック" charset="0"/>
                <a:cs typeface="ＭＳ Ｐゴシック" charset="0"/>
              </a:rPr>
              <a:t>	return  0;</a:t>
            </a:r>
          </a:p>
          <a:p>
            <a:pPr>
              <a:defRPr/>
            </a:pPr>
            <a:r>
              <a:rPr lang="en-US" altLang="ja-JP" sz="2400">
                <a:ea typeface="ＭＳ Ｐゴシック" charset="0"/>
                <a:cs typeface="ＭＳ Ｐゴシック" charset="0"/>
              </a:rPr>
              <a:t>}</a:t>
            </a:r>
            <a:endParaRPr lang="ja-JP" altLang="en-US" sz="2400">
              <a:ea typeface="ＭＳ Ｐゴシック" charset="0"/>
              <a:cs typeface="ＭＳ Ｐゴシック" charset="0"/>
            </a:endParaRPr>
          </a:p>
        </p:txBody>
      </p:sp>
    </p:spTree>
    <p:extLst>
      <p:ext uri="{BB962C8B-B14F-4D97-AF65-F5344CB8AC3E}">
        <p14:creationId xmlns:p14="http://schemas.microsoft.com/office/powerpoint/2010/main" val="2738296870"/>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250825" y="188913"/>
            <a:ext cx="7620000" cy="685800"/>
          </a:xfrm>
        </p:spPr>
        <p:txBody>
          <a:bodyPr/>
          <a:lstStyle/>
          <a:p>
            <a:r>
              <a:rPr kumimoji="0" lang="en-US" altLang="ja-JP" sz="3400">
                <a:latin typeface="Syntax" charset="0"/>
              </a:rPr>
              <a:t> </a:t>
            </a:r>
            <a:r>
              <a:rPr lang="en-US" altLang="ja-JP" sz="3600">
                <a:latin typeface="Syntax" charset="0"/>
                <a:ea typeface="ヒラギノ角ゴ Pro W3" charset="0"/>
                <a:cs typeface="ヒラギノ角ゴ Pro W3" charset="0"/>
              </a:rPr>
              <a:t> if</a:t>
            </a:r>
            <a:r>
              <a:rPr lang="ja-JP" altLang="en-US" sz="3600">
                <a:latin typeface="Syntax" charset="0"/>
                <a:ea typeface="ヒラギノ角ゴ Pro W3" charset="0"/>
                <a:cs typeface="ヒラギノ角ゴ Pro W3" charset="0"/>
              </a:rPr>
              <a:t>文の構文</a:t>
            </a:r>
            <a:r>
              <a:rPr lang="en-US" altLang="ja-JP" sz="3600">
                <a:latin typeface="Syntax" charset="0"/>
                <a:ea typeface="ヒラギノ角ゴ Pro W3" charset="0"/>
                <a:cs typeface="ヒラギノ角ゴ Pro W3" charset="0"/>
              </a:rPr>
              <a:t>(</a:t>
            </a:r>
            <a:r>
              <a:rPr lang="ja-JP" altLang="en-US" sz="3600">
                <a:latin typeface="Syntax" charset="0"/>
                <a:ea typeface="ヒラギノ角ゴ Pro W3" charset="0"/>
                <a:cs typeface="ヒラギノ角ゴ Pro W3" charset="0"/>
              </a:rPr>
              <a:t>その２</a:t>
            </a:r>
            <a:r>
              <a:rPr lang="en-US" altLang="ja-JP" sz="3600">
                <a:latin typeface="Syntax" charset="0"/>
                <a:ea typeface="ヒラギノ角ゴ Pro W3" charset="0"/>
                <a:cs typeface="ヒラギノ角ゴ Pro W3" charset="0"/>
              </a:rPr>
              <a:t>)</a:t>
            </a:r>
            <a:endParaRPr kumimoji="0" lang="ja-JP" altLang="en-US" sz="3400">
              <a:latin typeface="Syntax" charset="0"/>
            </a:endParaRPr>
          </a:p>
        </p:txBody>
      </p:sp>
      <p:sp>
        <p:nvSpPr>
          <p:cNvPr id="24581" name="テキスト ボックス 11"/>
          <p:cNvSpPr txBox="1">
            <a:spLocks noChangeArrowheads="1"/>
          </p:cNvSpPr>
          <p:nvPr/>
        </p:nvSpPr>
        <p:spPr bwMode="auto">
          <a:xfrm>
            <a:off x="357188" y="1285875"/>
            <a:ext cx="3648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3200"/>
              <a:t> if</a:t>
            </a:r>
            <a:r>
              <a:rPr lang="ja-JP" altLang="en-US" sz="3200"/>
              <a:t>文の構文</a:t>
            </a:r>
            <a:r>
              <a:rPr lang="en-US" altLang="ja-JP" sz="3200"/>
              <a:t>(</a:t>
            </a:r>
            <a:r>
              <a:rPr lang="ja-JP" altLang="en-US" sz="3200"/>
              <a:t>その２</a:t>
            </a:r>
            <a:r>
              <a:rPr lang="en-US" altLang="ja-JP" sz="3200"/>
              <a:t>)</a:t>
            </a:r>
          </a:p>
        </p:txBody>
      </p:sp>
      <p:sp>
        <p:nvSpPr>
          <p:cNvPr id="24582" name="正方形/長方形 12"/>
          <p:cNvSpPr>
            <a:spLocks noChangeArrowheads="1"/>
          </p:cNvSpPr>
          <p:nvPr/>
        </p:nvSpPr>
        <p:spPr bwMode="auto">
          <a:xfrm>
            <a:off x="1643063" y="1857375"/>
            <a:ext cx="4527713" cy="584200"/>
          </a:xfrm>
          <a:prstGeom prst="rect">
            <a:avLst/>
          </a:prstGeom>
          <a:solidFill>
            <a:srgbClr val="FFFF00"/>
          </a:solidFill>
          <a:ln w="9525">
            <a:solidFill>
              <a:schemeClr val="tx1"/>
            </a:solidFill>
            <a:miter lim="800000"/>
            <a:headEnd/>
            <a:tailEnd/>
          </a:ln>
        </p:spPr>
        <p:txBody>
          <a:bodyPr wrap="square">
            <a:spAutoFit/>
          </a:bodyPr>
          <a:lstStyle/>
          <a:p>
            <a:r>
              <a:rPr kumimoji="1" lang="en-US" altLang="ja-JP" sz="3200"/>
              <a:t> </a:t>
            </a:r>
            <a:r>
              <a:rPr kumimoji="1" lang="en-US" altLang="ja-JP" sz="3200" b="1"/>
              <a:t>if</a:t>
            </a:r>
            <a:r>
              <a:rPr kumimoji="1" lang="en-US" altLang="ja-JP" sz="3200"/>
              <a:t> (&lt;</a:t>
            </a:r>
            <a:r>
              <a:rPr kumimoji="1" lang="ja-JP" altLang="en-US" sz="3200"/>
              <a:t>式</a:t>
            </a:r>
            <a:r>
              <a:rPr kumimoji="1" lang="en-US" altLang="ja-JP" sz="3200"/>
              <a:t>&gt;) &lt;</a:t>
            </a:r>
            <a:r>
              <a:rPr kumimoji="1" lang="ja-JP" altLang="en-US" sz="3200"/>
              <a:t>文</a:t>
            </a:r>
            <a:r>
              <a:rPr kumimoji="1" lang="en-US" altLang="ja-JP" sz="3200"/>
              <a:t>&gt;</a:t>
            </a:r>
            <a:r>
              <a:rPr kumimoji="1" lang="ja-JP" altLang="en-US" sz="3200"/>
              <a:t> </a:t>
            </a:r>
            <a:r>
              <a:rPr kumimoji="1" lang="en-US" altLang="ja-JP" sz="3200" b="1"/>
              <a:t>else</a:t>
            </a:r>
            <a:r>
              <a:rPr kumimoji="1" lang="en-US" altLang="ja-JP" sz="3200"/>
              <a:t> &lt;</a:t>
            </a:r>
            <a:r>
              <a:rPr kumimoji="1" lang="ja-JP" altLang="en-US" sz="3200"/>
              <a:t>文</a:t>
            </a:r>
            <a:r>
              <a:rPr kumimoji="1" lang="en-US" altLang="ja-JP" sz="3200"/>
              <a:t>&gt;</a:t>
            </a:r>
            <a:endParaRPr lang="ja-JP" altLang="en-US" sz="3200"/>
          </a:p>
        </p:txBody>
      </p:sp>
      <p:sp>
        <p:nvSpPr>
          <p:cNvPr id="24583" name="テキスト ボックス 13"/>
          <p:cNvSpPr txBox="1">
            <a:spLocks noChangeArrowheads="1"/>
          </p:cNvSpPr>
          <p:nvPr/>
        </p:nvSpPr>
        <p:spPr bwMode="auto">
          <a:xfrm>
            <a:off x="500063" y="3759200"/>
            <a:ext cx="75723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if</a:t>
            </a:r>
            <a:r>
              <a:rPr lang="ja-JP" altLang="en-US" sz="2800"/>
              <a:t>文    </a:t>
            </a:r>
            <a:r>
              <a:rPr lang="en-US" altLang="ja-JP" sz="2800" b="1"/>
              <a:t>if</a:t>
            </a:r>
            <a:r>
              <a:rPr lang="en-US" altLang="ja-JP" sz="2800"/>
              <a:t> (e)  s1  </a:t>
            </a:r>
            <a:r>
              <a:rPr lang="en-US" altLang="ja-JP" sz="2800" b="1"/>
              <a:t>else</a:t>
            </a:r>
            <a:r>
              <a:rPr lang="en-US" altLang="ja-JP" sz="2800"/>
              <a:t>  s2    </a:t>
            </a:r>
            <a:r>
              <a:rPr lang="ja-JP" altLang="en-US" sz="2800"/>
              <a:t>の意味  </a:t>
            </a:r>
            <a:endParaRPr lang="en-US" altLang="ja-JP" sz="2800"/>
          </a:p>
        </p:txBody>
      </p:sp>
      <p:sp>
        <p:nvSpPr>
          <p:cNvPr id="24584" name="正方形/長方形 8"/>
          <p:cNvSpPr>
            <a:spLocks noChangeArrowheads="1"/>
          </p:cNvSpPr>
          <p:nvPr/>
        </p:nvSpPr>
        <p:spPr bwMode="auto">
          <a:xfrm>
            <a:off x="1643063" y="4402138"/>
            <a:ext cx="5214937" cy="1384300"/>
          </a:xfrm>
          <a:prstGeom prst="rect">
            <a:avLst/>
          </a:prstGeom>
          <a:solidFill>
            <a:srgbClr val="CCFFCC"/>
          </a:solidFill>
          <a:ln w="9525">
            <a:solidFill>
              <a:schemeClr val="tx1"/>
            </a:solidFill>
            <a:miter lim="800000"/>
            <a:headEnd/>
            <a:tailEnd/>
          </a:ln>
        </p:spPr>
        <p:txBody>
          <a:bodyPr>
            <a:spAutoFit/>
          </a:bodyPr>
          <a:lstStyle/>
          <a:p>
            <a:r>
              <a:rPr kumimoji="1" lang="ja-JP" altLang="en-US" sz="2800">
                <a:solidFill>
                  <a:srgbClr val="000000"/>
                </a:solidFill>
              </a:rPr>
              <a:t>式</a:t>
            </a:r>
            <a:r>
              <a:rPr kumimoji="1" lang="en-US" altLang="ja-JP" sz="2800">
                <a:solidFill>
                  <a:srgbClr val="000000"/>
                </a:solidFill>
              </a:rPr>
              <a:t>e</a:t>
            </a:r>
            <a:r>
              <a:rPr kumimoji="1" lang="ja-JP" altLang="en-US" sz="2800">
                <a:solidFill>
                  <a:srgbClr val="000000"/>
                </a:solidFill>
              </a:rPr>
              <a:t>を評価し、その結果が</a:t>
            </a:r>
            <a:r>
              <a:rPr kumimoji="1" lang="en-US" altLang="ja-JP" sz="2800">
                <a:solidFill>
                  <a:srgbClr val="000000"/>
                </a:solidFill>
              </a:rPr>
              <a:t>0</a:t>
            </a:r>
            <a:r>
              <a:rPr kumimoji="1" lang="ja-JP" altLang="en-US" sz="2800">
                <a:solidFill>
                  <a:srgbClr val="000000"/>
                </a:solidFill>
              </a:rPr>
              <a:t>でないとき文</a:t>
            </a:r>
            <a:r>
              <a:rPr kumimoji="1" lang="en-US" altLang="ja-JP" sz="2800">
                <a:solidFill>
                  <a:srgbClr val="000000"/>
                </a:solidFill>
              </a:rPr>
              <a:t>s1</a:t>
            </a:r>
            <a:r>
              <a:rPr kumimoji="1" lang="ja-JP" altLang="en-US" sz="2800">
                <a:solidFill>
                  <a:srgbClr val="000000"/>
                </a:solidFill>
              </a:rPr>
              <a:t>を実行し、</a:t>
            </a:r>
            <a:r>
              <a:rPr kumimoji="1" lang="en-US" altLang="ja-JP" sz="2800">
                <a:solidFill>
                  <a:srgbClr val="000000"/>
                </a:solidFill>
              </a:rPr>
              <a:t>0</a:t>
            </a:r>
            <a:r>
              <a:rPr kumimoji="1" lang="ja-JP" altLang="en-US" sz="2800">
                <a:solidFill>
                  <a:srgbClr val="000000"/>
                </a:solidFill>
              </a:rPr>
              <a:t>のとき文</a:t>
            </a:r>
            <a:r>
              <a:rPr kumimoji="1" lang="en-US" altLang="ja-JP" sz="2800">
                <a:solidFill>
                  <a:srgbClr val="000000"/>
                </a:solidFill>
              </a:rPr>
              <a:t>s2</a:t>
            </a:r>
            <a:r>
              <a:rPr kumimoji="1" lang="ja-JP" altLang="en-US" sz="2800">
                <a:solidFill>
                  <a:srgbClr val="000000"/>
                </a:solidFill>
              </a:rPr>
              <a:t>を実行する。</a:t>
            </a:r>
            <a:endParaRPr lang="ja-JP" altLang="en-US"/>
          </a:p>
        </p:txBody>
      </p:sp>
      <p:sp>
        <p:nvSpPr>
          <p:cNvPr id="24585" name="テキスト ボックス 9"/>
          <p:cNvSpPr txBox="1">
            <a:spLocks noChangeArrowheads="1"/>
          </p:cNvSpPr>
          <p:nvPr/>
        </p:nvSpPr>
        <p:spPr bwMode="auto">
          <a:xfrm>
            <a:off x="1785938" y="2571750"/>
            <a:ext cx="6286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（これ自体も文である。たとえば、</a:t>
            </a:r>
            <a:r>
              <a:rPr lang="en-US" altLang="ja-JP" sz="2400"/>
              <a:t>if</a:t>
            </a:r>
            <a:r>
              <a:rPr lang="ja-JP" altLang="en-US" sz="2400"/>
              <a:t>文の中に</a:t>
            </a:r>
            <a:r>
              <a:rPr lang="en-US" altLang="ja-JP" sz="2400"/>
              <a:t>if</a:t>
            </a:r>
            <a:r>
              <a:rPr lang="ja-JP" altLang="en-US" sz="2400"/>
              <a:t>文を書くことができる。）</a:t>
            </a:r>
          </a:p>
        </p:txBody>
      </p:sp>
    </p:spTree>
    <p:extLst>
      <p:ext uri="{BB962C8B-B14F-4D97-AF65-F5344CB8AC3E}">
        <p14:creationId xmlns:p14="http://schemas.microsoft.com/office/powerpoint/2010/main" val="1689337117"/>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6" name="Rectangle 14"/>
          <p:cNvSpPr>
            <a:spLocks noGrp="1" noChangeArrowheads="1"/>
          </p:cNvSpPr>
          <p:nvPr>
            <p:ph type="title"/>
          </p:nvPr>
        </p:nvSpPr>
        <p:spPr>
          <a:xfrm>
            <a:off x="758809" y="368828"/>
            <a:ext cx="7620000" cy="685800"/>
          </a:xfrm>
        </p:spPr>
        <p:txBody>
          <a:bodyPr rtlCol="0">
            <a:normAutofit fontScale="90000"/>
          </a:bodyPr>
          <a:lstStyle/>
          <a:p>
            <a:pPr fontAlgn="auto">
              <a:spcAft>
                <a:spcPts val="0"/>
              </a:spcAft>
              <a:defRPr/>
            </a:pPr>
            <a:r>
              <a:rPr kumimoji="0" lang="ja-JP" altLang="en-US" dirty="0" smtClean="0">
                <a:ea typeface="ＭＳ Ｐゴシック" pitchFamily="-112" charset="-128"/>
                <a:cs typeface="+mj-cs"/>
              </a:rPr>
              <a:t>例（打ち込んで確認）</a:t>
            </a:r>
          </a:p>
        </p:txBody>
      </p:sp>
      <p:sp>
        <p:nvSpPr>
          <p:cNvPr id="100368" name="Rectangle 16"/>
          <p:cNvSpPr>
            <a:spLocks noChangeArrowheads="1"/>
          </p:cNvSpPr>
          <p:nvPr/>
        </p:nvSpPr>
        <p:spPr bwMode="auto">
          <a:xfrm>
            <a:off x="1050398" y="1391709"/>
            <a:ext cx="7204604" cy="4524375"/>
          </a:xfrm>
          <a:prstGeom prst="rect">
            <a:avLst/>
          </a:prstGeom>
          <a:solidFill>
            <a:schemeClr val="bg1"/>
          </a:solidFill>
          <a:ln w="9525">
            <a:solidFill>
              <a:schemeClr val="tx1"/>
            </a:solidFill>
            <a:miter lim="800000"/>
            <a:headEnd/>
            <a:tailEnd/>
          </a:ln>
          <a:effectLst/>
        </p:spPr>
        <p:txBody>
          <a:bodyPr wrap="square">
            <a:spAutoFit/>
          </a:bodyPr>
          <a:lstStyle/>
          <a:p>
            <a:pPr>
              <a:defRPr/>
            </a:pPr>
            <a:r>
              <a:rPr lang="en-US" altLang="ja-JP" sz="2400" dirty="0">
                <a:ea typeface="ＭＳ Ｐゴシック" charset="0"/>
                <a:cs typeface="ＭＳ Ｐゴシック" charset="0"/>
              </a:rPr>
              <a:t>#include  &lt;</a:t>
            </a:r>
            <a:r>
              <a:rPr lang="en-US" altLang="ja-JP" sz="2400" dirty="0" err="1">
                <a:ea typeface="ＭＳ Ｐゴシック" charset="0"/>
                <a:cs typeface="ＭＳ Ｐゴシック" charset="0"/>
              </a:rPr>
              <a:t>stdio.h</a:t>
            </a:r>
            <a:r>
              <a:rPr lang="en-US" altLang="ja-JP" sz="2400" dirty="0">
                <a:ea typeface="ＭＳ Ｐゴシック" charset="0"/>
                <a:cs typeface="ＭＳ Ｐゴシック" charset="0"/>
              </a:rPr>
              <a:t>&gt;</a:t>
            </a:r>
          </a:p>
          <a:p>
            <a:pPr>
              <a:defRPr/>
            </a:pPr>
            <a:r>
              <a:rPr lang="en-US" altLang="ja-JP" sz="2400" dirty="0" err="1">
                <a:ea typeface="ＭＳ Ｐゴシック" charset="0"/>
                <a:cs typeface="ＭＳ Ｐゴシック" charset="0"/>
              </a:rPr>
              <a:t>int</a:t>
            </a:r>
            <a:r>
              <a:rPr lang="en-US" altLang="ja-JP" sz="2400" dirty="0">
                <a:ea typeface="ＭＳ Ｐゴシック" charset="0"/>
                <a:cs typeface="ＭＳ Ｐゴシック" charset="0"/>
              </a:rPr>
              <a:t> main</a:t>
            </a:r>
            <a:r>
              <a:rPr lang="ja-JP" altLang="en-US" sz="2400" dirty="0">
                <a:ea typeface="ＭＳ Ｐゴシック" charset="0"/>
                <a:cs typeface="ＭＳ Ｐゴシック" charset="0"/>
              </a:rPr>
              <a:t> </a:t>
            </a:r>
            <a:r>
              <a:rPr lang="en-US" altLang="ja-JP" sz="2400" dirty="0">
                <a:ea typeface="ＭＳ Ｐゴシック" charset="0"/>
                <a:cs typeface="ＭＳ Ｐゴシック" charset="0"/>
              </a:rPr>
              <a:t>(void)</a:t>
            </a:r>
          </a:p>
          <a:p>
            <a:pPr>
              <a:defRPr/>
            </a:pP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int</a:t>
            </a:r>
            <a:r>
              <a:rPr lang="en-US" altLang="ja-JP" sz="2400" dirty="0">
                <a:ea typeface="ＭＳ Ｐゴシック" charset="0"/>
                <a:cs typeface="ＭＳ Ｐゴシック" charset="0"/>
              </a:rPr>
              <a:t>  x;</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dirty="0">
                <a:ea typeface="ＭＳ Ｐゴシック" charset="0"/>
                <a:cs typeface="ＭＳ Ｐゴシック" charset="0"/>
              </a:rPr>
              <a:t>整数を入力してください：</a:t>
            </a:r>
            <a:r>
              <a:rPr lang="en-US" altLang="ja-JP" sz="2400" dirty="0">
                <a:ea typeface="ＭＳ Ｐゴシック" charset="0"/>
                <a:cs typeface="ＭＳ Ｐゴシック" charset="0"/>
              </a:rPr>
              <a:t>");</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scanf</a:t>
            </a:r>
            <a:r>
              <a:rPr lang="en-US" altLang="ja-JP" sz="2400" dirty="0">
                <a:ea typeface="ＭＳ Ｐゴシック" charset="0"/>
                <a:cs typeface="ＭＳ Ｐゴシック" charset="0"/>
              </a:rPr>
              <a:t> ("%d", &amp;x);</a:t>
            </a:r>
          </a:p>
          <a:p>
            <a:pPr>
              <a:defRPr/>
            </a:pPr>
            <a:r>
              <a:rPr lang="en-US" altLang="ja-JP" sz="2400" dirty="0">
                <a:ea typeface="ＭＳ Ｐゴシック" charset="0"/>
                <a:cs typeface="ＭＳ Ｐゴシック" charset="0"/>
              </a:rPr>
              <a:t>	if (x % 5)</a:t>
            </a:r>
          </a:p>
          <a:p>
            <a:pPr>
              <a:defRPr/>
            </a:pPr>
            <a:r>
              <a:rPr lang="en-US" altLang="ja-JP" sz="2400" dirty="0">
                <a:ea typeface="ＭＳ Ｐゴシック" charset="0"/>
                <a:cs typeface="ＭＳ Ｐゴシック" charset="0"/>
              </a:rPr>
              <a:t>	      </a:t>
            </a:r>
            <a:r>
              <a:rPr lang="en-US" altLang="ja-JP" sz="2400" dirty="0" err="1">
                <a:ea typeface="ＭＳ Ｐゴシック" charset="0"/>
                <a:cs typeface="ＭＳ Ｐゴシック" charset="0"/>
              </a:rPr>
              <a:t>printf</a:t>
            </a:r>
            <a:r>
              <a:rPr lang="en-US" altLang="ja-JP" sz="2400" dirty="0">
                <a:ea typeface="ＭＳ Ｐゴシック" charset="0"/>
                <a:cs typeface="ＭＳ Ｐゴシック" charset="0"/>
              </a:rPr>
              <a:t> (“</a:t>
            </a:r>
            <a:r>
              <a:rPr lang="ja-JP" altLang="en-US" sz="2400" dirty="0">
                <a:ea typeface="ＭＳ Ｐゴシック" charset="0"/>
                <a:cs typeface="ＭＳ Ｐゴシック" charset="0"/>
              </a:rPr>
              <a:t>その数は５で割り切れません。</a:t>
            </a:r>
            <a:r>
              <a:rPr lang="en-US" altLang="ja-JP" sz="2400" dirty="0">
                <a:ea typeface="ＭＳ Ｐゴシック" charset="0"/>
                <a:cs typeface="ＭＳ Ｐゴシック" charset="0"/>
              </a:rPr>
              <a:t>\n");</a:t>
            </a:r>
          </a:p>
          <a:p>
            <a:pPr>
              <a:defRPr/>
            </a:pPr>
            <a:r>
              <a:rPr lang="en-US" altLang="ja-JP" sz="2400" dirty="0">
                <a:ea typeface="ＭＳ Ｐゴシック" charset="0"/>
                <a:cs typeface="ＭＳ Ｐゴシック" charset="0"/>
              </a:rPr>
              <a:t>	else</a:t>
            </a:r>
          </a:p>
          <a:p>
            <a:pPr>
              <a:defRPr/>
            </a:pPr>
            <a:r>
              <a:rPr lang="ja-JP" altLang="en-US" sz="2400" dirty="0">
                <a:ea typeface="ＭＳ Ｐゴシック" charset="0"/>
                <a:cs typeface="ＭＳ Ｐゴシック" charset="0"/>
              </a:rPr>
              <a:t>	   </a:t>
            </a:r>
            <a:r>
              <a:rPr lang="en-US" altLang="ja-JP" sz="2400" dirty="0">
                <a:ea typeface="ＭＳ Ｐゴシック" charset="0"/>
                <a:cs typeface="ＭＳ Ｐゴシック" charset="0"/>
              </a:rPr>
              <a:t> </a:t>
            </a:r>
            <a:r>
              <a:rPr lang="en-US" altLang="ja-JP" sz="2400" dirty="0" err="1" smtClean="0">
                <a:ea typeface="ＭＳ Ｐゴシック" charset="0"/>
                <a:cs typeface="ＭＳ Ｐゴシック" charset="0"/>
              </a:rPr>
              <a:t>printf</a:t>
            </a:r>
            <a:r>
              <a:rPr lang="en-US" altLang="ja-JP" sz="2400" dirty="0" smtClean="0">
                <a:ea typeface="ＭＳ Ｐゴシック" charset="0"/>
                <a:cs typeface="ＭＳ Ｐゴシック" charset="0"/>
              </a:rPr>
              <a:t> </a:t>
            </a:r>
            <a:r>
              <a:rPr lang="en-US" altLang="ja-JP" sz="2400" dirty="0">
                <a:ea typeface="ＭＳ Ｐゴシック" charset="0"/>
                <a:cs typeface="ＭＳ Ｐゴシック" charset="0"/>
              </a:rPr>
              <a:t>(“</a:t>
            </a:r>
            <a:r>
              <a:rPr lang="ja-JP" altLang="en-US" sz="2400" dirty="0">
                <a:ea typeface="ＭＳ Ｐゴシック" charset="0"/>
                <a:cs typeface="ＭＳ Ｐゴシック" charset="0"/>
              </a:rPr>
              <a:t>その数は５で割り切れます。</a:t>
            </a:r>
            <a:r>
              <a:rPr lang="en-US" altLang="ja-JP" sz="2400" dirty="0">
                <a:ea typeface="ＭＳ Ｐゴシック" charset="0"/>
                <a:cs typeface="ＭＳ Ｐゴシック" charset="0"/>
              </a:rPr>
              <a:t>\n");</a:t>
            </a:r>
          </a:p>
          <a:p>
            <a:pPr>
              <a:defRPr/>
            </a:pPr>
            <a:r>
              <a:rPr lang="en-US" altLang="ja-JP" sz="2400" dirty="0">
                <a:ea typeface="ＭＳ Ｐゴシック" charset="0"/>
                <a:cs typeface="ＭＳ Ｐゴシック" charset="0"/>
              </a:rPr>
              <a:t>	return  0;</a:t>
            </a:r>
          </a:p>
          <a:p>
            <a:pPr>
              <a:defRPr/>
            </a:pPr>
            <a:r>
              <a:rPr lang="en-US" altLang="ja-JP" sz="2400" dirty="0">
                <a:ea typeface="ＭＳ Ｐゴシック" charset="0"/>
                <a:cs typeface="ＭＳ Ｐゴシック" charset="0"/>
              </a:rPr>
              <a:t>}</a:t>
            </a:r>
            <a:endParaRPr lang="ja-JP" altLang="en-US" sz="2400" dirty="0">
              <a:ea typeface="ＭＳ Ｐゴシック" charset="0"/>
              <a:cs typeface="ＭＳ Ｐゴシック" charset="0"/>
            </a:endParaRPr>
          </a:p>
        </p:txBody>
      </p:sp>
    </p:spTree>
    <p:extLst>
      <p:ext uri="{BB962C8B-B14F-4D97-AF65-F5344CB8AC3E}">
        <p14:creationId xmlns:p14="http://schemas.microsoft.com/office/powerpoint/2010/main" val="3728355271"/>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747800" y="235282"/>
            <a:ext cx="7620000" cy="685800"/>
          </a:xfrm>
        </p:spPr>
        <p:txBody>
          <a:bodyPr>
            <a:normAutofit/>
          </a:bodyPr>
          <a:lstStyle/>
          <a:p>
            <a:r>
              <a:rPr kumimoji="0" lang="ja-JP" altLang="en-US" sz="3600">
                <a:latin typeface="Calibri" charset="0"/>
              </a:rPr>
              <a:t>式の評価</a:t>
            </a:r>
          </a:p>
        </p:txBody>
      </p:sp>
      <p:sp>
        <p:nvSpPr>
          <p:cNvPr id="22534" name="Rectangle 3"/>
          <p:cNvSpPr>
            <a:spLocks noGrp="1" noChangeArrowheads="1"/>
          </p:cNvSpPr>
          <p:nvPr>
            <p:ph idx="1"/>
          </p:nvPr>
        </p:nvSpPr>
        <p:spPr>
          <a:xfrm>
            <a:off x="250825" y="1230312"/>
            <a:ext cx="8643937" cy="5405437"/>
          </a:xfrm>
        </p:spPr>
        <p:txBody>
          <a:bodyPr rtlCol="0">
            <a:noAutofit/>
          </a:bodyPr>
          <a:lstStyle/>
          <a:p>
            <a:pPr fontAlgn="auto">
              <a:lnSpc>
                <a:spcPct val="90000"/>
              </a:lnSpc>
              <a:spcAft>
                <a:spcPts val="0"/>
              </a:spcAft>
              <a:buFont typeface="Arial"/>
              <a:buChar char="•"/>
              <a:defRPr/>
            </a:pPr>
            <a:r>
              <a:rPr kumimoji="0" lang="en-US" altLang="ja-JP" sz="2400" dirty="0" smtClean="0">
                <a:latin typeface="News Gothic" charset="0"/>
              </a:rPr>
              <a:t>C</a:t>
            </a:r>
            <a:r>
              <a:rPr kumimoji="0" lang="ja-JP" altLang="en-US" sz="2400" dirty="0" smtClean="0">
                <a:latin typeface="News Gothic" charset="0"/>
              </a:rPr>
              <a:t>言語における</a:t>
            </a:r>
            <a:r>
              <a:rPr kumimoji="0" lang="ja-JP" altLang="en-US" sz="2400" dirty="0" smtClean="0">
                <a:solidFill>
                  <a:srgbClr val="000000"/>
                </a:solidFill>
                <a:latin typeface="News Gothic" charset="0"/>
              </a:rPr>
              <a:t>式</a:t>
            </a:r>
            <a:r>
              <a:rPr kumimoji="0" lang="ja-JP" altLang="en-US" sz="2400" dirty="0" smtClean="0">
                <a:latin typeface="News Gothic" charset="0"/>
              </a:rPr>
              <a:t>の例</a:t>
            </a:r>
            <a:endParaRPr kumimoji="0" lang="en-US" altLang="ja-JP" sz="2400" dirty="0" smtClean="0">
              <a:latin typeface="News Gothic" charset="0"/>
            </a:endParaRPr>
          </a:p>
          <a:p>
            <a:pPr lvl="1" fontAlgn="auto">
              <a:lnSpc>
                <a:spcPct val="90000"/>
              </a:lnSpc>
              <a:spcAft>
                <a:spcPts val="0"/>
              </a:spcAft>
              <a:buFont typeface="Arial"/>
              <a:buChar char="–"/>
              <a:defRPr/>
            </a:pPr>
            <a:r>
              <a:rPr kumimoji="0" lang="en-US" altLang="ja-JP" sz="2400" dirty="0" smtClean="0">
                <a:latin typeface="Syntax" charset="0"/>
                <a:cs typeface="ＭＳ Ｐゴシック" charset="0"/>
              </a:rPr>
              <a:t>x</a:t>
            </a:r>
            <a:r>
              <a:rPr kumimoji="0" lang="ja-JP" altLang="en-US" sz="2400" dirty="0" smtClean="0">
                <a:latin typeface="Syntax" charset="0"/>
                <a:cs typeface="ＭＳ Ｐゴシック" charset="0"/>
              </a:rPr>
              <a:t>　</a:t>
            </a:r>
            <a:endParaRPr kumimoji="0" lang="en-US" altLang="ja-JP" sz="2400" dirty="0" smtClean="0">
              <a:latin typeface="Syntax" charset="0"/>
              <a:cs typeface="ＭＳ Ｐゴシック" charset="0"/>
            </a:endParaRPr>
          </a:p>
          <a:p>
            <a:pPr lvl="1" fontAlgn="auto">
              <a:lnSpc>
                <a:spcPct val="90000"/>
              </a:lnSpc>
              <a:spcAft>
                <a:spcPts val="0"/>
              </a:spcAft>
              <a:buFont typeface="Arial"/>
              <a:buChar char="–"/>
              <a:defRPr/>
            </a:pPr>
            <a:r>
              <a:rPr kumimoji="0" lang="en-US" altLang="ja-JP" sz="2400" dirty="0" smtClean="0">
                <a:latin typeface="Syntax" charset="0"/>
                <a:cs typeface="ＭＳ Ｐゴシック" charset="0"/>
              </a:rPr>
              <a:t>38</a:t>
            </a:r>
            <a:r>
              <a:rPr kumimoji="0" lang="ja-JP" altLang="en-US" sz="2400" dirty="0" smtClean="0">
                <a:latin typeface="Syntax" charset="0"/>
                <a:cs typeface="ＭＳ Ｐゴシック" charset="0"/>
              </a:rPr>
              <a:t>　</a:t>
            </a:r>
          </a:p>
          <a:p>
            <a:pPr lvl="1" fontAlgn="auto">
              <a:lnSpc>
                <a:spcPct val="90000"/>
              </a:lnSpc>
              <a:spcAft>
                <a:spcPts val="0"/>
              </a:spcAft>
              <a:buFont typeface="Arial"/>
              <a:buChar char="–"/>
              <a:defRPr/>
            </a:pPr>
            <a:r>
              <a:rPr kumimoji="0" lang="en-US" altLang="ja-JP" sz="2400" dirty="0" smtClean="0">
                <a:latin typeface="Syntax" charset="0"/>
                <a:cs typeface="ＭＳ Ｐゴシック" charset="0"/>
              </a:rPr>
              <a:t>x + 38</a:t>
            </a:r>
          </a:p>
          <a:p>
            <a:pPr lvl="1" fontAlgn="auto">
              <a:lnSpc>
                <a:spcPct val="90000"/>
              </a:lnSpc>
              <a:spcAft>
                <a:spcPts val="0"/>
              </a:spcAft>
              <a:buFont typeface="Arial"/>
              <a:buChar char="–"/>
              <a:defRPr/>
            </a:pPr>
            <a:r>
              <a:rPr kumimoji="0" lang="en-US" altLang="ja-JP" sz="2400" dirty="0" smtClean="0">
                <a:latin typeface="Syntax" charset="0"/>
                <a:cs typeface="ＭＳ Ｐゴシック" charset="0"/>
              </a:rPr>
              <a:t>(x+38) / 2</a:t>
            </a:r>
          </a:p>
          <a:p>
            <a:pPr fontAlgn="auto">
              <a:lnSpc>
                <a:spcPct val="90000"/>
              </a:lnSpc>
              <a:spcAft>
                <a:spcPts val="0"/>
              </a:spcAft>
              <a:buFont typeface="Arial"/>
              <a:buChar char="•"/>
              <a:defRPr/>
            </a:pPr>
            <a:r>
              <a:rPr kumimoji="0" lang="ja-JP" altLang="en-US" sz="2400" dirty="0" smtClean="0">
                <a:latin typeface="News Gothic" charset="0"/>
              </a:rPr>
              <a:t>式の評価</a:t>
            </a:r>
            <a:endParaRPr kumimoji="0" lang="en-US" altLang="ja-JP" sz="2400" dirty="0" smtClean="0">
              <a:latin typeface="News Gothic" charset="0"/>
            </a:endParaRPr>
          </a:p>
          <a:p>
            <a:pPr lvl="1" fontAlgn="auto">
              <a:lnSpc>
                <a:spcPct val="90000"/>
              </a:lnSpc>
              <a:spcAft>
                <a:spcPts val="0"/>
              </a:spcAft>
              <a:buFont typeface="Arial"/>
              <a:buChar char="–"/>
              <a:defRPr/>
            </a:pPr>
            <a:r>
              <a:rPr kumimoji="0" lang="en-US" altLang="ja-JP" sz="2400" dirty="0" smtClean="0">
                <a:latin typeface="Syntax" charset="0"/>
                <a:cs typeface="ＭＳ Ｐゴシック" charset="0"/>
              </a:rPr>
              <a:t>x</a:t>
            </a:r>
            <a:r>
              <a:rPr kumimoji="0" lang="ja-JP" altLang="en-US" sz="2400" dirty="0" smtClean="0">
                <a:latin typeface="Syntax" charset="0"/>
                <a:cs typeface="ＭＳ Ｐゴシック" charset="0"/>
              </a:rPr>
              <a:t>が</a:t>
            </a:r>
            <a:r>
              <a:rPr kumimoji="0" lang="en-US" altLang="ja-JP" sz="2400" dirty="0" err="1" smtClean="0">
                <a:latin typeface="Syntax" charset="0"/>
                <a:cs typeface="ＭＳ Ｐゴシック" charset="0"/>
              </a:rPr>
              <a:t>int</a:t>
            </a:r>
            <a:r>
              <a:rPr kumimoji="0" lang="ja-JP" altLang="en-US" sz="2400" dirty="0" smtClean="0">
                <a:latin typeface="Syntax" charset="0"/>
                <a:cs typeface="ＭＳ Ｐゴシック" charset="0"/>
              </a:rPr>
              <a:t>型で、</a:t>
            </a:r>
            <a:r>
              <a:rPr kumimoji="0" lang="en-US" altLang="ja-JP" sz="2400" dirty="0" smtClean="0">
                <a:latin typeface="Syntax" charset="0"/>
                <a:cs typeface="ＭＳ Ｐゴシック" charset="0"/>
              </a:rPr>
              <a:t>15</a:t>
            </a:r>
            <a:r>
              <a:rPr kumimoji="0" lang="ja-JP" altLang="en-US" sz="2400" dirty="0" smtClean="0">
                <a:latin typeface="Syntax" charset="0"/>
                <a:cs typeface="ＭＳ Ｐゴシック" charset="0"/>
              </a:rPr>
              <a:t>が代入されていたとする。そのとき、</a:t>
            </a:r>
            <a:endParaRPr kumimoji="0" lang="en-US" altLang="ja-JP" sz="2400" dirty="0" smtClean="0">
              <a:latin typeface="Syntax" charset="0"/>
              <a:cs typeface="ＭＳ Ｐゴシック" charset="0"/>
            </a:endParaRPr>
          </a:p>
          <a:p>
            <a:pPr lvl="2" fontAlgn="auto">
              <a:lnSpc>
                <a:spcPct val="90000"/>
              </a:lnSpc>
              <a:spcAft>
                <a:spcPts val="0"/>
              </a:spcAft>
              <a:buFont typeface="Arial"/>
              <a:buChar char="•"/>
              <a:defRPr/>
            </a:pPr>
            <a:r>
              <a:rPr kumimoji="0" lang="ja-JP" altLang="en-US" dirty="0" smtClean="0">
                <a:latin typeface="News Gothic" charset="0"/>
                <a:cs typeface="ＭＳ Ｐゴシック" charset="0"/>
              </a:rPr>
              <a:t>式</a:t>
            </a:r>
            <a:r>
              <a:rPr kumimoji="0" lang="en-US" altLang="ja-JP" dirty="0" smtClean="0">
                <a:latin typeface="News Gothic" charset="0"/>
                <a:cs typeface="ＭＳ Ｐゴシック" charset="0"/>
              </a:rPr>
              <a:t>x</a:t>
            </a:r>
            <a:r>
              <a:rPr kumimoji="0" lang="ja-JP" altLang="en-US" dirty="0" smtClean="0">
                <a:latin typeface="News Gothic" charset="0"/>
                <a:cs typeface="ＭＳ Ｐゴシック" charset="0"/>
              </a:rPr>
              <a:t>の値は</a:t>
            </a:r>
            <a:r>
              <a:rPr kumimoji="0" lang="en-US" altLang="ja-JP" dirty="0" smtClean="0">
                <a:latin typeface="News Gothic" charset="0"/>
                <a:cs typeface="ＭＳ Ｐゴシック" charset="0"/>
              </a:rPr>
              <a:t>15</a:t>
            </a:r>
          </a:p>
          <a:p>
            <a:pPr lvl="2" fontAlgn="auto">
              <a:lnSpc>
                <a:spcPct val="90000"/>
              </a:lnSpc>
              <a:spcAft>
                <a:spcPts val="0"/>
              </a:spcAft>
              <a:buFont typeface="Arial"/>
              <a:buChar char="•"/>
              <a:defRPr/>
            </a:pPr>
            <a:r>
              <a:rPr kumimoji="0" lang="ja-JP" altLang="en-US" dirty="0" smtClean="0">
                <a:latin typeface="News Gothic" charset="0"/>
                <a:cs typeface="ＭＳ Ｐゴシック" charset="0"/>
              </a:rPr>
              <a:t>式</a:t>
            </a:r>
            <a:r>
              <a:rPr kumimoji="0" lang="en-US" altLang="ja-JP" dirty="0" smtClean="0">
                <a:latin typeface="News Gothic" charset="0"/>
                <a:cs typeface="ＭＳ Ｐゴシック" charset="0"/>
              </a:rPr>
              <a:t>38</a:t>
            </a:r>
            <a:r>
              <a:rPr kumimoji="0" lang="ja-JP" altLang="en-US" dirty="0" smtClean="0">
                <a:latin typeface="News Gothic" charset="0"/>
                <a:cs typeface="ＭＳ Ｐゴシック" charset="0"/>
              </a:rPr>
              <a:t>の値は</a:t>
            </a:r>
            <a:r>
              <a:rPr kumimoji="0" lang="en-US" altLang="ja-JP" dirty="0" smtClean="0">
                <a:latin typeface="News Gothic" charset="0"/>
                <a:cs typeface="ＭＳ Ｐゴシック" charset="0"/>
              </a:rPr>
              <a:t>38</a:t>
            </a:r>
          </a:p>
          <a:p>
            <a:pPr lvl="2" fontAlgn="auto">
              <a:lnSpc>
                <a:spcPct val="90000"/>
              </a:lnSpc>
              <a:spcAft>
                <a:spcPts val="0"/>
              </a:spcAft>
              <a:buFont typeface="Arial"/>
              <a:buChar char="•"/>
              <a:defRPr/>
            </a:pPr>
            <a:r>
              <a:rPr kumimoji="0" lang="ja-JP" altLang="en-US" dirty="0" smtClean="0">
                <a:latin typeface="News Gothic" charset="0"/>
                <a:cs typeface="ＭＳ Ｐゴシック" charset="0"/>
              </a:rPr>
              <a:t>式 </a:t>
            </a:r>
            <a:r>
              <a:rPr kumimoji="0" lang="en-US" altLang="ja-JP" dirty="0" smtClean="0">
                <a:latin typeface="News Gothic" charset="0"/>
                <a:cs typeface="ＭＳ Ｐゴシック" charset="0"/>
              </a:rPr>
              <a:t>x+38</a:t>
            </a:r>
            <a:r>
              <a:rPr kumimoji="0" lang="ja-JP" altLang="en-US" dirty="0" smtClean="0">
                <a:latin typeface="News Gothic" charset="0"/>
                <a:cs typeface="ＭＳ Ｐゴシック" charset="0"/>
              </a:rPr>
              <a:t>の値は、</a:t>
            </a:r>
            <a:r>
              <a:rPr kumimoji="0" lang="en-US" altLang="ja-JP" dirty="0" smtClean="0">
                <a:latin typeface="News Gothic" charset="0"/>
                <a:cs typeface="ＭＳ Ｐゴシック" charset="0"/>
              </a:rPr>
              <a:t>53</a:t>
            </a:r>
          </a:p>
          <a:p>
            <a:pPr lvl="2" fontAlgn="auto">
              <a:lnSpc>
                <a:spcPct val="90000"/>
              </a:lnSpc>
              <a:spcAft>
                <a:spcPts val="0"/>
              </a:spcAft>
              <a:buFont typeface="Arial"/>
              <a:buChar char="•"/>
              <a:defRPr/>
            </a:pPr>
            <a:r>
              <a:rPr kumimoji="0" lang="ja-JP" altLang="en-US" dirty="0" smtClean="0">
                <a:latin typeface="News Gothic" charset="0"/>
                <a:cs typeface="ＭＳ Ｐゴシック" charset="0"/>
              </a:rPr>
              <a:t>式 </a:t>
            </a:r>
            <a:r>
              <a:rPr kumimoji="0" lang="en-US" altLang="ja-JP" dirty="0" smtClean="0">
                <a:latin typeface="News Gothic" charset="0"/>
                <a:cs typeface="ＭＳ Ｐゴシック" charset="0"/>
              </a:rPr>
              <a:t>(x+38) / 2 </a:t>
            </a:r>
            <a:r>
              <a:rPr kumimoji="0" lang="ja-JP" altLang="en-US" dirty="0" smtClean="0">
                <a:latin typeface="News Gothic" charset="0"/>
                <a:cs typeface="ＭＳ Ｐゴシック" charset="0"/>
              </a:rPr>
              <a:t>の値は、</a:t>
            </a:r>
            <a:r>
              <a:rPr kumimoji="0" lang="en-US" altLang="ja-JP" dirty="0" smtClean="0">
                <a:latin typeface="News Gothic" charset="0"/>
                <a:cs typeface="ＭＳ Ｐゴシック" charset="0"/>
              </a:rPr>
              <a:t>26</a:t>
            </a:r>
          </a:p>
          <a:p>
            <a:pPr lvl="1" fontAlgn="auto">
              <a:lnSpc>
                <a:spcPct val="90000"/>
              </a:lnSpc>
              <a:spcAft>
                <a:spcPts val="0"/>
              </a:spcAft>
              <a:buFont typeface="Arial"/>
              <a:buChar char="–"/>
              <a:defRPr/>
            </a:pPr>
            <a:r>
              <a:rPr kumimoji="0" lang="ja-JP" altLang="en-US" sz="2400" dirty="0" smtClean="0">
                <a:latin typeface="Syntax" charset="0"/>
                <a:cs typeface="ＭＳ Ｐゴシック" charset="0"/>
              </a:rPr>
              <a:t>上記のように、複雑な式は、部分式の評価をまず行い、その結果の値を用いて演算（この例では足し算、割り算）を行う。</a:t>
            </a:r>
          </a:p>
        </p:txBody>
      </p:sp>
    </p:spTree>
    <p:extLst>
      <p:ext uri="{BB962C8B-B14F-4D97-AF65-F5344CB8AC3E}">
        <p14:creationId xmlns:p14="http://schemas.microsoft.com/office/powerpoint/2010/main" val="2515201337"/>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571500" y="333375"/>
            <a:ext cx="7620000" cy="685800"/>
          </a:xfrm>
        </p:spPr>
        <p:txBody>
          <a:bodyPr>
            <a:normAutofit/>
          </a:bodyPr>
          <a:lstStyle/>
          <a:p>
            <a:r>
              <a:rPr kumimoji="0" lang="ja-JP" altLang="en-US" sz="3600" dirty="0">
                <a:latin typeface="Calibri" charset="0"/>
              </a:rPr>
              <a:t>四則演算式</a:t>
            </a:r>
          </a:p>
        </p:txBody>
      </p:sp>
      <p:sp>
        <p:nvSpPr>
          <p:cNvPr id="27650" name="Rectangle 3"/>
          <p:cNvSpPr>
            <a:spLocks noGrp="1" noChangeArrowheads="1"/>
          </p:cNvSpPr>
          <p:nvPr>
            <p:ph type="body" sz="half" idx="1"/>
          </p:nvPr>
        </p:nvSpPr>
        <p:spPr>
          <a:xfrm>
            <a:off x="714375" y="1143000"/>
            <a:ext cx="2500313" cy="428625"/>
          </a:xfrm>
        </p:spPr>
        <p:txBody>
          <a:bodyPr>
            <a:normAutofit lnSpcReduction="10000"/>
          </a:bodyPr>
          <a:lstStyle/>
          <a:p>
            <a:pPr>
              <a:buFont typeface="Wingdings" charset="0"/>
              <a:buNone/>
            </a:pPr>
            <a:r>
              <a:rPr kumimoji="0" lang="ja-JP" altLang="en-US" sz="2400">
                <a:latin typeface="News Gothic" charset="0"/>
              </a:rPr>
              <a:t>足し算式の構文</a:t>
            </a:r>
            <a:endParaRPr kumimoji="0" lang="ja-JP" altLang="en-US" sz="2400">
              <a:solidFill>
                <a:srgbClr val="3333FF"/>
              </a:solidFill>
              <a:latin typeface="News Gothic" charset="0"/>
            </a:endParaRPr>
          </a:p>
        </p:txBody>
      </p:sp>
      <p:sp>
        <p:nvSpPr>
          <p:cNvPr id="27654" name="テキスト ボックス 8"/>
          <p:cNvSpPr txBox="1">
            <a:spLocks noChangeArrowheads="1"/>
          </p:cNvSpPr>
          <p:nvPr/>
        </p:nvSpPr>
        <p:spPr bwMode="auto">
          <a:xfrm>
            <a:off x="1357313" y="1714500"/>
            <a:ext cx="2400300"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 &lt;</a:t>
            </a:r>
            <a:r>
              <a:rPr lang="ja-JP" altLang="en-US" sz="2800"/>
              <a:t>式</a:t>
            </a:r>
            <a:r>
              <a:rPr lang="en-US" altLang="ja-JP" sz="2800"/>
              <a:t>&gt; + &lt;</a:t>
            </a:r>
            <a:r>
              <a:rPr lang="ja-JP" altLang="en-US" sz="2800"/>
              <a:t>式＞</a:t>
            </a:r>
          </a:p>
        </p:txBody>
      </p:sp>
      <p:sp>
        <p:nvSpPr>
          <p:cNvPr id="10" name="Rectangle 3"/>
          <p:cNvSpPr txBox="1">
            <a:spLocks noChangeArrowheads="1"/>
          </p:cNvSpPr>
          <p:nvPr/>
        </p:nvSpPr>
        <p:spPr bwMode="auto">
          <a:xfrm>
            <a:off x="714375" y="2357438"/>
            <a:ext cx="4357688" cy="428625"/>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112" charset="2"/>
              <a:buNone/>
              <a:defRPr/>
            </a:pPr>
            <a:r>
              <a:rPr lang="ja-JP" altLang="en-US" sz="2400" kern="0" dirty="0">
                <a:latin typeface="+mn-lt"/>
                <a:ea typeface="ＭＳ Ｐゴシック" pitchFamily="-112" charset="-128"/>
                <a:cs typeface="+mn-cs"/>
              </a:rPr>
              <a:t>足し算式   </a:t>
            </a:r>
            <a:r>
              <a:rPr lang="en-US" altLang="ja-JP" sz="2400" kern="0" dirty="0">
                <a:latin typeface="+mn-lt"/>
                <a:ea typeface="ＭＳ Ｐゴシック" pitchFamily="-112" charset="-128"/>
                <a:cs typeface="+mn-cs"/>
              </a:rPr>
              <a:t>e1 + e2  </a:t>
            </a:r>
            <a:r>
              <a:rPr lang="ja-JP" altLang="en-US" sz="2400" kern="0" dirty="0">
                <a:latin typeface="+mn-lt"/>
                <a:ea typeface="ＭＳ Ｐゴシック" pitchFamily="-112" charset="-128"/>
                <a:cs typeface="+mn-cs"/>
              </a:rPr>
              <a:t>の意味</a:t>
            </a:r>
            <a:endParaRPr lang="ja-JP" altLang="en-US" sz="2400" kern="0" dirty="0">
              <a:solidFill>
                <a:srgbClr val="3333FF"/>
              </a:solidFill>
              <a:latin typeface="+mn-lt"/>
              <a:ea typeface="ＭＳ Ｐゴシック" pitchFamily="-112" charset="-128"/>
              <a:cs typeface="+mn-cs"/>
            </a:endParaRPr>
          </a:p>
        </p:txBody>
      </p:sp>
      <p:sp>
        <p:nvSpPr>
          <p:cNvPr id="27656" name="テキスト ボックス 10"/>
          <p:cNvSpPr txBox="1">
            <a:spLocks noChangeArrowheads="1"/>
          </p:cNvSpPr>
          <p:nvPr/>
        </p:nvSpPr>
        <p:spPr bwMode="auto">
          <a:xfrm>
            <a:off x="1285875" y="2928938"/>
            <a:ext cx="6929438" cy="830262"/>
          </a:xfrm>
          <a:prstGeom prst="rect">
            <a:avLst/>
          </a:prstGeom>
          <a:solidFill>
            <a:srgbClr val="CCFFCC"/>
          </a:solidFill>
          <a:ln w="9525">
            <a:solidFill>
              <a:schemeClr val="tx1"/>
            </a:solidFill>
            <a:miter lim="800000"/>
            <a:headEnd/>
            <a:tailEnd/>
          </a:ln>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 e1</a:t>
            </a:r>
            <a:r>
              <a:rPr lang="ja-JP" altLang="en-US" sz="2400"/>
              <a:t>と</a:t>
            </a:r>
            <a:r>
              <a:rPr lang="en-US" altLang="ja-JP" sz="2400"/>
              <a:t>e2</a:t>
            </a:r>
            <a:r>
              <a:rPr lang="ja-JP" altLang="en-US" sz="2400"/>
              <a:t>をまず評価し、それらの結果</a:t>
            </a:r>
            <a:r>
              <a:rPr lang="en-US" altLang="ja-JP" sz="2400"/>
              <a:t>v1, v2</a:t>
            </a:r>
            <a:r>
              <a:rPr lang="ja-JP" altLang="en-US" sz="2400"/>
              <a:t>の和が足し算式 </a:t>
            </a:r>
            <a:r>
              <a:rPr lang="en-US" altLang="ja-JP" sz="2400"/>
              <a:t>e1+e2 </a:t>
            </a:r>
            <a:r>
              <a:rPr lang="ja-JP" altLang="en-US" sz="2400"/>
              <a:t>の評価結果である。</a:t>
            </a:r>
          </a:p>
        </p:txBody>
      </p:sp>
      <p:sp>
        <p:nvSpPr>
          <p:cNvPr id="27657" name="テキスト ボックス 11"/>
          <p:cNvSpPr txBox="1">
            <a:spLocks noChangeArrowheads="1"/>
          </p:cNvSpPr>
          <p:nvPr/>
        </p:nvSpPr>
        <p:spPr bwMode="auto">
          <a:xfrm>
            <a:off x="571500" y="4143375"/>
            <a:ext cx="79295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四則演算式は式である。したがって、たとえば</a:t>
            </a:r>
            <a:r>
              <a:rPr lang="en-US" altLang="ja-JP" sz="2000"/>
              <a:t>+</a:t>
            </a:r>
            <a:r>
              <a:rPr lang="ja-JP" altLang="en-US" sz="2000"/>
              <a:t>の左側や右側に引き算式を書いてよい。</a:t>
            </a:r>
            <a:endParaRPr lang="en-US" altLang="ja-JP" sz="2000"/>
          </a:p>
          <a:p>
            <a:r>
              <a:rPr lang="ja-JP" altLang="en-US" sz="2000"/>
              <a:t>（例）</a:t>
            </a:r>
            <a:r>
              <a:rPr lang="en-US" altLang="ja-JP" sz="2000">
                <a:solidFill>
                  <a:srgbClr val="FF0000"/>
                </a:solidFill>
              </a:rPr>
              <a:t>1 - 2 </a:t>
            </a:r>
            <a:r>
              <a:rPr lang="en-US" altLang="ja-JP" sz="2000"/>
              <a:t>+ 3 </a:t>
            </a:r>
            <a:r>
              <a:rPr lang="ja-JP" altLang="en-US" sz="2000"/>
              <a:t>など。</a:t>
            </a:r>
            <a:r>
              <a:rPr lang="en-US" altLang="ja-JP" sz="2000"/>
              <a:t> </a:t>
            </a:r>
            <a:r>
              <a:rPr lang="ja-JP" altLang="en-US" sz="2000"/>
              <a:t>この例では、赤字の部分の</a:t>
            </a:r>
            <a:r>
              <a:rPr lang="en-US" altLang="ja-JP" sz="2000"/>
              <a:t>1-2</a:t>
            </a:r>
            <a:r>
              <a:rPr lang="ja-JP" altLang="en-US" sz="2000"/>
              <a:t>という式が、足し算式の左側の式を成している。</a:t>
            </a:r>
            <a:endParaRPr lang="en-US" altLang="ja-JP" sz="2000"/>
          </a:p>
          <a:p>
            <a:r>
              <a:rPr lang="ja-JP" altLang="en-US" sz="2000"/>
              <a:t>（補足）四則演算の演算子は左結合である。よって</a:t>
            </a:r>
            <a:r>
              <a:rPr lang="en-US" altLang="ja-JP" sz="2000"/>
              <a:t>1-2+3</a:t>
            </a:r>
            <a:r>
              <a:rPr lang="ja-JP" altLang="en-US" sz="2000"/>
              <a:t>は</a:t>
            </a:r>
            <a:r>
              <a:rPr lang="en-US" altLang="ja-JP" sz="2000"/>
              <a:t>1-2</a:t>
            </a:r>
            <a:r>
              <a:rPr lang="ja-JP" altLang="en-US" sz="2000"/>
              <a:t>に</a:t>
            </a:r>
            <a:r>
              <a:rPr lang="en-US" altLang="ja-JP" sz="2000"/>
              <a:t>3</a:t>
            </a:r>
            <a:r>
              <a:rPr lang="ja-JP" altLang="en-US" sz="2000"/>
              <a:t>を足すという意味である。</a:t>
            </a:r>
            <a:r>
              <a:rPr lang="en-US" altLang="ja-JP" sz="2000"/>
              <a:t>2+3</a:t>
            </a:r>
            <a:r>
              <a:rPr lang="ja-JP" altLang="en-US" sz="2000"/>
              <a:t>を先にしたい場合は括弧をつけ、</a:t>
            </a:r>
            <a:r>
              <a:rPr lang="en-US" altLang="ja-JP" sz="2000"/>
              <a:t>1-(2+3)</a:t>
            </a:r>
            <a:r>
              <a:rPr lang="ja-JP" altLang="en-US" sz="2000"/>
              <a:t>のように記述する。</a:t>
            </a:r>
          </a:p>
        </p:txBody>
      </p:sp>
      <p:sp>
        <p:nvSpPr>
          <p:cNvPr id="27658" name="テキスト ボックス 12"/>
          <p:cNvSpPr txBox="1">
            <a:spLocks noChangeArrowheads="1"/>
          </p:cNvSpPr>
          <p:nvPr/>
        </p:nvSpPr>
        <p:spPr bwMode="auto">
          <a:xfrm>
            <a:off x="3057525" y="1111250"/>
            <a:ext cx="4886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（引き算、掛け算なども同様。）</a:t>
            </a:r>
            <a:r>
              <a:rPr lang="en-US" altLang="ja-JP" sz="2400" dirty="0"/>
              <a:t> </a:t>
            </a:r>
          </a:p>
        </p:txBody>
      </p:sp>
    </p:spTree>
    <p:extLst>
      <p:ext uri="{BB962C8B-B14F-4D97-AF65-F5344CB8AC3E}">
        <p14:creationId xmlns:p14="http://schemas.microsoft.com/office/powerpoint/2010/main" val="3190993502"/>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p:cNvSpPr>
            <a:spLocks noGrp="1" noChangeArrowheads="1"/>
          </p:cNvSpPr>
          <p:nvPr>
            <p:ph type="title"/>
          </p:nvPr>
        </p:nvSpPr>
        <p:spPr>
          <a:xfrm>
            <a:off x="179387" y="313165"/>
            <a:ext cx="8890530" cy="685800"/>
          </a:xfrm>
        </p:spPr>
        <p:txBody>
          <a:bodyPr>
            <a:normAutofit/>
          </a:bodyPr>
          <a:lstStyle/>
          <a:p>
            <a:r>
              <a:rPr kumimoji="0" lang="ja-JP" altLang="en-US" sz="3600" dirty="0">
                <a:latin typeface="Syntax" charset="0"/>
              </a:rPr>
              <a:t>値の比較の式</a:t>
            </a:r>
            <a:r>
              <a:rPr kumimoji="0" lang="en-US" altLang="ja-JP" sz="3600" dirty="0">
                <a:latin typeface="Syntax" charset="0"/>
              </a:rPr>
              <a:t>: </a:t>
            </a:r>
            <a:r>
              <a:rPr kumimoji="0" lang="ja-JP" altLang="en-US" sz="3600" dirty="0">
                <a:latin typeface="Syntax" charset="0"/>
              </a:rPr>
              <a:t>等価演算子</a:t>
            </a:r>
            <a:r>
              <a:rPr kumimoji="0" lang="en-US" altLang="ja-JP" sz="3600" dirty="0">
                <a:latin typeface="Syntax" charset="0"/>
              </a:rPr>
              <a:t>(</a:t>
            </a:r>
            <a:r>
              <a:rPr kumimoji="0" lang="ja-JP" altLang="en-US" sz="3600" dirty="0">
                <a:latin typeface="Syntax" charset="0"/>
              </a:rPr>
              <a:t>その１</a:t>
            </a:r>
            <a:r>
              <a:rPr kumimoji="0" lang="en-US" altLang="ja-JP" sz="3600" dirty="0">
                <a:latin typeface="Syntax" charset="0"/>
              </a:rPr>
              <a:t>) ==</a:t>
            </a:r>
            <a:endParaRPr kumimoji="0" lang="ja-JP" altLang="en-US" sz="3600" dirty="0">
              <a:latin typeface="Syntax" charset="0"/>
            </a:endParaRPr>
          </a:p>
        </p:txBody>
      </p:sp>
      <p:sp>
        <p:nvSpPr>
          <p:cNvPr id="28677" name="テキスト ボックス 6"/>
          <p:cNvSpPr txBox="1">
            <a:spLocks noChangeArrowheads="1"/>
          </p:cNvSpPr>
          <p:nvPr/>
        </p:nvSpPr>
        <p:spPr bwMode="auto">
          <a:xfrm>
            <a:off x="744398" y="1474344"/>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28678" name="テキスト ボックス 7"/>
          <p:cNvSpPr txBox="1">
            <a:spLocks noChangeArrowheads="1"/>
          </p:cNvSpPr>
          <p:nvPr/>
        </p:nvSpPr>
        <p:spPr bwMode="auto">
          <a:xfrm>
            <a:off x="1601648" y="2117282"/>
            <a:ext cx="2362200"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&lt;</a:t>
            </a:r>
            <a:r>
              <a:rPr lang="ja-JP" altLang="en-US" sz="2800"/>
              <a:t>式</a:t>
            </a:r>
            <a:r>
              <a:rPr lang="en-US" altLang="ja-JP" sz="2800"/>
              <a:t>&gt; == &lt;</a:t>
            </a:r>
            <a:r>
              <a:rPr lang="ja-JP" altLang="en-US" sz="2800"/>
              <a:t>式</a:t>
            </a:r>
            <a:r>
              <a:rPr lang="en-US" altLang="ja-JP" sz="2800"/>
              <a:t>&gt;</a:t>
            </a:r>
            <a:endParaRPr lang="ja-JP" altLang="en-US" sz="2800"/>
          </a:p>
        </p:txBody>
      </p:sp>
      <p:sp>
        <p:nvSpPr>
          <p:cNvPr id="28679" name="テキスト ボックス 8"/>
          <p:cNvSpPr txBox="1">
            <a:spLocks noChangeArrowheads="1"/>
          </p:cNvSpPr>
          <p:nvPr/>
        </p:nvSpPr>
        <p:spPr bwMode="auto">
          <a:xfrm>
            <a:off x="815835" y="3917507"/>
            <a:ext cx="30416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a:t>
            </a:r>
            <a:r>
              <a:rPr lang="en-US" altLang="ja-JP" sz="2800"/>
              <a:t> e1==e2 </a:t>
            </a:r>
            <a:r>
              <a:rPr lang="ja-JP" altLang="en-US" sz="2800"/>
              <a:t>の意味</a:t>
            </a:r>
          </a:p>
        </p:txBody>
      </p:sp>
      <p:sp>
        <p:nvSpPr>
          <p:cNvPr id="28680" name="テキスト ボックス 9"/>
          <p:cNvSpPr txBox="1">
            <a:spLocks noChangeArrowheads="1"/>
          </p:cNvSpPr>
          <p:nvPr/>
        </p:nvSpPr>
        <p:spPr bwMode="auto">
          <a:xfrm>
            <a:off x="1815960" y="2760219"/>
            <a:ext cx="66436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（これ自体も式である。たとえば、</a:t>
            </a:r>
            <a:r>
              <a:rPr lang="en-US" altLang="ja-JP" sz="2400"/>
              <a:t>==</a:t>
            </a:r>
            <a:r>
              <a:rPr lang="ja-JP" altLang="en-US" sz="2400"/>
              <a:t>の左辺や右辺で</a:t>
            </a:r>
            <a:r>
              <a:rPr lang="en-US" altLang="ja-JP" sz="2400"/>
              <a:t>==</a:t>
            </a:r>
            <a:r>
              <a:rPr lang="ja-JP" altLang="en-US" sz="2400"/>
              <a:t>を使った比較式を書ける。）</a:t>
            </a:r>
          </a:p>
        </p:txBody>
      </p:sp>
      <p:sp>
        <p:nvSpPr>
          <p:cNvPr id="28681" name="正方形/長方形 10"/>
          <p:cNvSpPr>
            <a:spLocks noChangeArrowheads="1"/>
          </p:cNvSpPr>
          <p:nvPr/>
        </p:nvSpPr>
        <p:spPr bwMode="auto">
          <a:xfrm>
            <a:off x="1673085" y="4703319"/>
            <a:ext cx="6868583" cy="830997"/>
          </a:xfrm>
          <a:prstGeom prst="rect">
            <a:avLst/>
          </a:prstGeom>
          <a:solidFill>
            <a:srgbClr val="CCFFCC"/>
          </a:solidFill>
          <a:ln w="9525">
            <a:solidFill>
              <a:schemeClr val="tx1"/>
            </a:solidFill>
            <a:miter lim="800000"/>
            <a:headEnd/>
            <a:tailEnd/>
          </a:ln>
        </p:spPr>
        <p:txBody>
          <a:bodyPr wrap="square">
            <a:spAutoFit/>
          </a:bodyPr>
          <a:lstStyle/>
          <a:p>
            <a:r>
              <a:rPr lang="ja-JP" altLang="en-US" sz="2400"/>
              <a:t>式</a:t>
            </a:r>
            <a:r>
              <a:rPr lang="en-US" altLang="ja-JP" sz="2400"/>
              <a:t>e1, e2</a:t>
            </a:r>
            <a:r>
              <a:rPr lang="ja-JP" altLang="en-US" sz="2400"/>
              <a:t>を評価し、それらの結果</a:t>
            </a:r>
            <a:r>
              <a:rPr lang="en-US" altLang="ja-JP" sz="2400"/>
              <a:t>v1, v2</a:t>
            </a:r>
            <a:r>
              <a:rPr lang="ja-JP" altLang="en-US" sz="2400"/>
              <a:t>が等しいときは</a:t>
            </a:r>
            <a:r>
              <a:rPr lang="en-US" altLang="ja-JP" sz="2400"/>
              <a:t>1</a:t>
            </a:r>
            <a:r>
              <a:rPr lang="ja-JP" altLang="en-US" sz="2400"/>
              <a:t>、異なるときは</a:t>
            </a:r>
            <a:r>
              <a:rPr lang="en-US" altLang="ja-JP" sz="2400"/>
              <a:t>0</a:t>
            </a:r>
            <a:r>
              <a:rPr lang="ja-JP" altLang="en-US" sz="2400"/>
              <a:t>が、式</a:t>
            </a:r>
            <a:r>
              <a:rPr lang="en-US" altLang="ja-JP" sz="2400"/>
              <a:t>e1==e2</a:t>
            </a:r>
            <a:r>
              <a:rPr lang="ja-JP" altLang="en-US" sz="2400"/>
              <a:t>の評価結果となる。</a:t>
            </a:r>
          </a:p>
        </p:txBody>
      </p:sp>
    </p:spTree>
    <p:extLst>
      <p:ext uri="{BB962C8B-B14F-4D97-AF65-F5344CB8AC3E}">
        <p14:creationId xmlns:p14="http://schemas.microsoft.com/office/powerpoint/2010/main" val="3740334910"/>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571500" y="152400"/>
            <a:ext cx="7620000" cy="685800"/>
          </a:xfrm>
        </p:spPr>
        <p:txBody>
          <a:bodyPr>
            <a:normAutofit/>
          </a:bodyPr>
          <a:lstStyle/>
          <a:p>
            <a:r>
              <a:rPr kumimoji="0" lang="ja-JP" altLang="en-US" sz="3600" dirty="0">
                <a:latin typeface="Syntax" charset="0"/>
              </a:rPr>
              <a:t>値比較のプログラム</a:t>
            </a:r>
            <a:r>
              <a:rPr kumimoji="0" lang="en-US" altLang="ja-JP" sz="3600" dirty="0">
                <a:latin typeface="Syntax" charset="0"/>
              </a:rPr>
              <a:t>(1)</a:t>
            </a:r>
          </a:p>
        </p:txBody>
      </p:sp>
      <p:sp>
        <p:nvSpPr>
          <p:cNvPr id="252932" name="Text Box 4"/>
          <p:cNvSpPr txBox="1">
            <a:spLocks noChangeArrowheads="1"/>
          </p:cNvSpPr>
          <p:nvPr/>
        </p:nvSpPr>
        <p:spPr bwMode="auto">
          <a:xfrm>
            <a:off x="571500" y="1071563"/>
            <a:ext cx="7273925" cy="53244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lvl1pPr>
              <a:defRPr sz="3600">
                <a:solidFill>
                  <a:schemeClr val="tx1"/>
                </a:solidFill>
                <a:latin typeface="Arial" charset="0"/>
                <a:ea typeface="ヒラギノ角ゴ Pro W3" charset="0"/>
                <a:cs typeface="ヒラギノ角ゴ Pro W3" charset="0"/>
              </a:defRPr>
            </a:lvl1pPr>
            <a:lvl2pPr marL="742950" indent="-285750">
              <a:defRPr sz="3600">
                <a:solidFill>
                  <a:schemeClr val="tx1"/>
                </a:solidFill>
                <a:latin typeface="Arial" charset="0"/>
                <a:ea typeface="ヒラギノ角ゴ Pro W3" charset="0"/>
                <a:cs typeface="ヒラギノ角ゴ Pro W3" charset="0"/>
              </a:defRPr>
            </a:lvl2pPr>
            <a:lvl3pPr marL="1143000" indent="-228600">
              <a:defRPr sz="3600">
                <a:solidFill>
                  <a:schemeClr val="tx1"/>
                </a:solidFill>
                <a:latin typeface="Arial" charset="0"/>
                <a:ea typeface="ヒラギノ角ゴ Pro W3" charset="0"/>
                <a:cs typeface="ヒラギノ角ゴ Pro W3" charset="0"/>
              </a:defRPr>
            </a:lvl3pPr>
            <a:lvl4pPr marL="1600200" indent="-228600">
              <a:defRPr sz="3600">
                <a:solidFill>
                  <a:schemeClr val="tx1"/>
                </a:solidFill>
                <a:latin typeface="Arial" charset="0"/>
                <a:ea typeface="ヒラギノ角ゴ Pro W3" charset="0"/>
                <a:cs typeface="ヒラギノ角ゴ Pro W3" charset="0"/>
              </a:defRPr>
            </a:lvl4pPr>
            <a:lvl5pPr marL="2057400" indent="-228600">
              <a:defRPr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9pPr>
          </a:lstStyle>
          <a:p>
            <a:pPr>
              <a:defRPr/>
            </a:pPr>
            <a:r>
              <a:rPr lang="en-US" altLang="ja-JP" sz="2000" smtClean="0">
                <a:ea typeface="ＭＳ Ｐゴシック" charset="0"/>
                <a:cs typeface="ＭＳ Ｐゴシック" charset="0"/>
              </a:rPr>
              <a:t>/*</a:t>
            </a:r>
            <a:r>
              <a:rPr lang="ja-JP" altLang="en-US" sz="2000" smtClean="0">
                <a:ea typeface="ＭＳ Ｐゴシック" charset="0"/>
                <a:cs typeface="ＭＳ Ｐゴシック" charset="0"/>
              </a:rPr>
              <a:t>　二つの整数値をキーボードから読み込んで比較　*</a:t>
            </a:r>
            <a:r>
              <a:rPr lang="en-US" altLang="ja-JP" sz="2000" smtClean="0">
                <a:ea typeface="ＭＳ Ｐゴシック" charset="0"/>
                <a:cs typeface="ＭＳ Ｐゴシック" charset="0"/>
              </a:rPr>
              <a:t>/</a:t>
            </a:r>
          </a:p>
          <a:p>
            <a:pPr>
              <a:defRPr/>
            </a:pPr>
            <a:r>
              <a:rPr lang="en-US" altLang="ja-JP" sz="2000" smtClean="0">
                <a:ea typeface="ＭＳ Ｐゴシック" charset="0"/>
                <a:cs typeface="ＭＳ Ｐゴシック" charset="0"/>
              </a:rPr>
              <a:t>#include  &lt;stdio.h&gt;</a:t>
            </a:r>
          </a:p>
          <a:p>
            <a:pPr>
              <a:defRPr/>
            </a:pPr>
            <a:r>
              <a:rPr lang="en-US" altLang="ja-JP" sz="2000" smtClean="0">
                <a:ea typeface="ＭＳ Ｐゴシック" charset="0"/>
                <a:cs typeface="ＭＳ Ｐゴシック" charset="0"/>
              </a:rPr>
              <a:t>int main (void)</a:t>
            </a:r>
          </a:p>
          <a:p>
            <a:pPr>
              <a:defRPr/>
            </a:pPr>
            <a:r>
              <a:rPr lang="en-US" altLang="ja-JP" sz="2000" smtClean="0">
                <a:ea typeface="ＭＳ Ｐゴシック" charset="0"/>
                <a:cs typeface="ＭＳ Ｐゴシック" charset="0"/>
              </a:rPr>
              <a:t>{</a:t>
            </a:r>
          </a:p>
          <a:p>
            <a:pPr>
              <a:defRPr/>
            </a:pPr>
            <a:r>
              <a:rPr lang="en-US" altLang="ja-JP" sz="2000" smtClean="0">
                <a:ea typeface="ＭＳ Ｐゴシック" charset="0"/>
                <a:cs typeface="ＭＳ Ｐゴシック" charset="0"/>
              </a:rPr>
              <a:t>	int  x1;</a:t>
            </a:r>
          </a:p>
          <a:p>
            <a:pPr>
              <a:defRPr/>
            </a:pPr>
            <a:r>
              <a:rPr lang="en-US" altLang="ja-JP" sz="2000" smtClean="0">
                <a:ea typeface="ＭＳ Ｐゴシック" charset="0"/>
                <a:cs typeface="ＭＳ Ｐゴシック" charset="0"/>
              </a:rPr>
              <a:t>             int  x2;</a:t>
            </a:r>
          </a:p>
          <a:p>
            <a:pPr>
              <a:defRPr/>
            </a:pPr>
            <a:r>
              <a:rPr lang="en-US" altLang="ja-JP" sz="2000" smtClean="0">
                <a:ea typeface="ＭＳ Ｐゴシック" charset="0"/>
                <a:cs typeface="ＭＳ Ｐゴシック" charset="0"/>
              </a:rPr>
              <a:t>	printf ("</a:t>
            </a:r>
            <a:r>
              <a:rPr lang="ja-JP" altLang="en-US" sz="2000" smtClean="0">
                <a:ea typeface="ＭＳ Ｐゴシック" charset="0"/>
                <a:cs typeface="ＭＳ Ｐゴシック" charset="0"/>
              </a:rPr>
              <a:t>二つの整数を入力してください。</a:t>
            </a:r>
            <a:r>
              <a:rPr lang="en-US" altLang="ja-JP" sz="2000" smtClean="0">
                <a:ea typeface="ＭＳ Ｐゴシック" charset="0"/>
                <a:cs typeface="ＭＳ Ｐゴシック" charset="0"/>
              </a:rPr>
              <a:t>\n");</a:t>
            </a:r>
          </a:p>
          <a:p>
            <a:pPr>
              <a:defRPr/>
            </a:pPr>
            <a:r>
              <a:rPr lang="en-US" altLang="ja-JP" sz="2000" smtClean="0">
                <a:ea typeface="ＭＳ Ｐゴシック" charset="0"/>
                <a:cs typeface="ＭＳ Ｐゴシック" charset="0"/>
              </a:rPr>
              <a:t>	printf("</a:t>
            </a:r>
            <a:r>
              <a:rPr lang="ja-JP" altLang="en-US" sz="2000" smtClean="0">
                <a:ea typeface="ＭＳ Ｐゴシック" charset="0"/>
                <a:cs typeface="ＭＳ Ｐゴシック" charset="0"/>
              </a:rPr>
              <a:t>整数１：</a:t>
            </a:r>
            <a:r>
              <a:rPr lang="en-US" altLang="ja-JP" sz="2000" smtClean="0">
                <a:ea typeface="ＭＳ Ｐゴシック" charset="0"/>
                <a:cs typeface="ＭＳ Ｐゴシック" charset="0"/>
              </a:rPr>
              <a:t>");	</a:t>
            </a:r>
          </a:p>
          <a:p>
            <a:pPr>
              <a:defRPr/>
            </a:pPr>
            <a:r>
              <a:rPr lang="en-US" altLang="ja-JP" sz="2000" smtClean="0">
                <a:ea typeface="ＭＳ Ｐゴシック" charset="0"/>
                <a:cs typeface="ＭＳ Ｐゴシック" charset="0"/>
              </a:rPr>
              <a:t>	scanf("%d", &amp;x1);</a:t>
            </a:r>
          </a:p>
          <a:p>
            <a:pPr>
              <a:defRPr/>
            </a:pPr>
            <a:r>
              <a:rPr lang="en-US" altLang="ja-JP" sz="2000" smtClean="0">
                <a:ea typeface="ＭＳ Ｐゴシック" charset="0"/>
                <a:cs typeface="ＭＳ Ｐゴシック" charset="0"/>
              </a:rPr>
              <a:t>	printf("</a:t>
            </a:r>
            <a:r>
              <a:rPr lang="ja-JP" altLang="en-US" sz="2000" smtClean="0">
                <a:ea typeface="ＭＳ Ｐゴシック" charset="0"/>
                <a:cs typeface="ＭＳ Ｐゴシック" charset="0"/>
              </a:rPr>
              <a:t>整数２：</a:t>
            </a:r>
            <a:r>
              <a:rPr lang="en-US" altLang="ja-JP" sz="2000" smtClean="0">
                <a:ea typeface="ＭＳ Ｐゴシック" charset="0"/>
                <a:cs typeface="ＭＳ Ｐゴシック" charset="0"/>
              </a:rPr>
              <a:t>");	</a:t>
            </a:r>
          </a:p>
          <a:p>
            <a:pPr>
              <a:defRPr/>
            </a:pPr>
            <a:r>
              <a:rPr lang="en-US" altLang="ja-JP" sz="2000" smtClean="0">
                <a:ea typeface="ＭＳ Ｐゴシック" charset="0"/>
                <a:cs typeface="ＭＳ Ｐゴシック" charset="0"/>
              </a:rPr>
              <a:t>	scanf("%d", &amp;x2);</a:t>
            </a:r>
          </a:p>
          <a:p>
            <a:pPr>
              <a:defRPr/>
            </a:pPr>
            <a:r>
              <a:rPr lang="en-US" altLang="ja-JP" sz="2000" smtClean="0">
                <a:ea typeface="ＭＳ Ｐゴシック" charset="0"/>
                <a:cs typeface="ＭＳ Ｐゴシック" charset="0"/>
              </a:rPr>
              <a:t>	if (x1 == x2)</a:t>
            </a:r>
          </a:p>
          <a:p>
            <a:pPr>
              <a:defRPr/>
            </a:pPr>
            <a:r>
              <a:rPr lang="en-US" altLang="ja-JP" sz="2000" smtClean="0">
                <a:ea typeface="ＭＳ Ｐゴシック" charset="0"/>
                <a:cs typeface="ＭＳ Ｐゴシック" charset="0"/>
              </a:rPr>
              <a:t>		printf ("</a:t>
            </a:r>
            <a:r>
              <a:rPr lang="ja-JP" altLang="en-US" sz="2000" smtClean="0">
                <a:ea typeface="ＭＳ Ｐゴシック" charset="0"/>
                <a:cs typeface="ＭＳ Ｐゴシック" charset="0"/>
              </a:rPr>
              <a:t>それらの値は同じです。</a:t>
            </a:r>
            <a:r>
              <a:rPr lang="en-US" altLang="ja-JP" sz="2000" smtClean="0">
                <a:ea typeface="ＭＳ Ｐゴシック" charset="0"/>
                <a:cs typeface="ＭＳ Ｐゴシック" charset="0"/>
              </a:rPr>
              <a:t>\n");</a:t>
            </a:r>
          </a:p>
          <a:p>
            <a:pPr>
              <a:defRPr/>
            </a:pPr>
            <a:r>
              <a:rPr lang="en-US" altLang="ja-JP" sz="2000" smtClean="0">
                <a:ea typeface="ＭＳ Ｐゴシック" charset="0"/>
                <a:cs typeface="ＭＳ Ｐゴシック" charset="0"/>
              </a:rPr>
              <a:t>	else</a:t>
            </a:r>
          </a:p>
          <a:p>
            <a:pPr>
              <a:defRPr/>
            </a:pPr>
            <a:r>
              <a:rPr lang="en-US" altLang="ja-JP" sz="2000" smtClean="0">
                <a:ea typeface="ＭＳ Ｐゴシック" charset="0"/>
                <a:cs typeface="ＭＳ Ｐゴシック" charset="0"/>
              </a:rPr>
              <a:t>		printf (“</a:t>
            </a:r>
            <a:r>
              <a:rPr lang="ja-JP" altLang="en-US" sz="2000" smtClean="0">
                <a:ea typeface="ＭＳ Ｐゴシック" charset="0"/>
                <a:cs typeface="ＭＳ Ｐゴシック" charset="0"/>
              </a:rPr>
              <a:t>それらの値は違います。</a:t>
            </a:r>
            <a:r>
              <a:rPr lang="en-US" altLang="ja-JP" sz="2000" smtClean="0">
                <a:ea typeface="ＭＳ Ｐゴシック" charset="0"/>
                <a:cs typeface="ＭＳ Ｐゴシック" charset="0"/>
              </a:rPr>
              <a:t>\n”);</a:t>
            </a:r>
          </a:p>
          <a:p>
            <a:pPr>
              <a:defRPr/>
            </a:pPr>
            <a:r>
              <a:rPr lang="en-US" altLang="ja-JP" sz="2000" smtClean="0">
                <a:ea typeface="ＭＳ Ｐゴシック" charset="0"/>
                <a:cs typeface="ＭＳ Ｐゴシック" charset="0"/>
              </a:rPr>
              <a:t>	return  0;</a:t>
            </a:r>
          </a:p>
          <a:p>
            <a:pPr>
              <a:defRPr/>
            </a:pPr>
            <a:r>
              <a:rPr lang="en-US" altLang="ja-JP" sz="2000" smtClean="0">
                <a:ea typeface="ＭＳ Ｐゴシック" charset="0"/>
                <a:cs typeface="ＭＳ Ｐゴシック" charset="0"/>
              </a:rPr>
              <a:t>}</a:t>
            </a:r>
          </a:p>
        </p:txBody>
      </p:sp>
    </p:spTree>
    <p:extLst>
      <p:ext uri="{BB962C8B-B14F-4D97-AF65-F5344CB8AC3E}">
        <p14:creationId xmlns:p14="http://schemas.microsoft.com/office/powerpoint/2010/main" val="1934656561"/>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4"/>
          <p:cNvSpPr>
            <a:spLocks noGrp="1" noChangeArrowheads="1"/>
          </p:cNvSpPr>
          <p:nvPr>
            <p:ph type="title"/>
          </p:nvPr>
        </p:nvSpPr>
        <p:spPr>
          <a:xfrm>
            <a:off x="433380" y="252411"/>
            <a:ext cx="8139112" cy="685800"/>
          </a:xfrm>
        </p:spPr>
        <p:txBody>
          <a:bodyPr>
            <a:noAutofit/>
          </a:bodyPr>
          <a:lstStyle/>
          <a:p>
            <a:r>
              <a:rPr kumimoji="0" lang="ja-JP" altLang="en-US" sz="3600" dirty="0">
                <a:latin typeface="Syntax" charset="0"/>
              </a:rPr>
              <a:t>値の比較の式： 等価演算子</a:t>
            </a:r>
            <a:r>
              <a:rPr kumimoji="0" lang="en-US" altLang="ja-JP" sz="3600" dirty="0">
                <a:latin typeface="Syntax" charset="0"/>
              </a:rPr>
              <a:t>(</a:t>
            </a:r>
            <a:r>
              <a:rPr kumimoji="0" lang="ja-JP" altLang="en-US" sz="3600" dirty="0">
                <a:latin typeface="Syntax" charset="0"/>
              </a:rPr>
              <a:t>その２</a:t>
            </a:r>
            <a:r>
              <a:rPr kumimoji="0" lang="en-US" altLang="ja-JP" sz="3600" dirty="0">
                <a:latin typeface="Syntax" charset="0"/>
              </a:rPr>
              <a:t>)  !=</a:t>
            </a:r>
            <a:endParaRPr kumimoji="0" lang="ja-JP" altLang="en-US" sz="3600" dirty="0">
              <a:latin typeface="Syntax" charset="0"/>
            </a:endParaRPr>
          </a:p>
        </p:txBody>
      </p:sp>
      <p:sp>
        <p:nvSpPr>
          <p:cNvPr id="30725" name="テキスト ボックス 6"/>
          <p:cNvSpPr txBox="1">
            <a:spLocks noChangeArrowheads="1"/>
          </p:cNvSpPr>
          <p:nvPr/>
        </p:nvSpPr>
        <p:spPr bwMode="auto">
          <a:xfrm>
            <a:off x="722315" y="1365243"/>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構文</a:t>
            </a:r>
          </a:p>
        </p:txBody>
      </p:sp>
      <p:sp>
        <p:nvSpPr>
          <p:cNvPr id="30726" name="テキスト ボックス 7"/>
          <p:cNvSpPr txBox="1">
            <a:spLocks noChangeArrowheads="1"/>
          </p:cNvSpPr>
          <p:nvPr/>
        </p:nvSpPr>
        <p:spPr bwMode="auto">
          <a:xfrm>
            <a:off x="1579565" y="2008181"/>
            <a:ext cx="2251075" cy="523875"/>
          </a:xfrm>
          <a:prstGeom prst="rect">
            <a:avLst/>
          </a:prstGeom>
          <a:solidFill>
            <a:srgbClr val="FFFF00"/>
          </a:solidFill>
          <a:ln w="9525">
            <a:solidFill>
              <a:schemeClr val="tx1"/>
            </a:solidFill>
            <a:miter lim="800000"/>
            <a:headEnd/>
            <a:tailEnd/>
          </a:ln>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800"/>
              <a:t>&lt;</a:t>
            </a:r>
            <a:r>
              <a:rPr lang="ja-JP" altLang="en-US" sz="2800"/>
              <a:t>式</a:t>
            </a:r>
            <a:r>
              <a:rPr lang="en-US" altLang="ja-JP" sz="2800"/>
              <a:t>&gt; != &lt;</a:t>
            </a:r>
            <a:r>
              <a:rPr lang="ja-JP" altLang="en-US" sz="2800"/>
              <a:t>式</a:t>
            </a:r>
            <a:r>
              <a:rPr lang="en-US" altLang="ja-JP" sz="2800"/>
              <a:t>&gt;</a:t>
            </a:r>
            <a:endParaRPr lang="ja-JP" altLang="en-US" sz="2800"/>
          </a:p>
        </p:txBody>
      </p:sp>
      <p:sp>
        <p:nvSpPr>
          <p:cNvPr id="30727" name="テキスト ボックス 8"/>
          <p:cNvSpPr txBox="1">
            <a:spLocks noChangeArrowheads="1"/>
          </p:cNvSpPr>
          <p:nvPr/>
        </p:nvSpPr>
        <p:spPr bwMode="auto">
          <a:xfrm>
            <a:off x="793752" y="3808406"/>
            <a:ext cx="31289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a:t>式</a:t>
            </a:r>
            <a:r>
              <a:rPr lang="en-US" altLang="ja-JP" sz="2800"/>
              <a:t>  e1!=e2  </a:t>
            </a:r>
            <a:r>
              <a:rPr lang="ja-JP" altLang="en-US" sz="2800"/>
              <a:t>の意味</a:t>
            </a:r>
          </a:p>
        </p:txBody>
      </p:sp>
      <p:sp>
        <p:nvSpPr>
          <p:cNvPr id="30728" name="正方形/長方形 10"/>
          <p:cNvSpPr>
            <a:spLocks noChangeArrowheads="1"/>
          </p:cNvSpPr>
          <p:nvPr/>
        </p:nvSpPr>
        <p:spPr bwMode="auto">
          <a:xfrm>
            <a:off x="1651002" y="4594218"/>
            <a:ext cx="6786563" cy="830997"/>
          </a:xfrm>
          <a:prstGeom prst="rect">
            <a:avLst/>
          </a:prstGeom>
          <a:solidFill>
            <a:srgbClr val="CCFFCC"/>
          </a:solidFill>
          <a:ln w="9525">
            <a:solidFill>
              <a:schemeClr val="tx1"/>
            </a:solidFill>
            <a:miter lim="800000"/>
            <a:headEnd/>
            <a:tailEnd/>
          </a:ln>
        </p:spPr>
        <p:txBody>
          <a:bodyPr wrap="square">
            <a:spAutoFit/>
          </a:bodyPr>
          <a:lstStyle/>
          <a:p>
            <a:r>
              <a:rPr lang="ja-JP" altLang="en-US" sz="2400" dirty="0"/>
              <a:t>式</a:t>
            </a:r>
            <a:r>
              <a:rPr lang="en-US" altLang="ja-JP" sz="2400" dirty="0"/>
              <a:t>e1, e2</a:t>
            </a:r>
            <a:r>
              <a:rPr lang="ja-JP" altLang="en-US" sz="2400" dirty="0"/>
              <a:t>を評価し、それらの結果</a:t>
            </a:r>
            <a:r>
              <a:rPr lang="en-US" altLang="ja-JP" sz="2400" dirty="0"/>
              <a:t>v1, v2</a:t>
            </a:r>
            <a:r>
              <a:rPr lang="ja-JP" altLang="en-US" sz="2400" dirty="0"/>
              <a:t>が異なるときは</a:t>
            </a:r>
            <a:r>
              <a:rPr lang="en-US" altLang="ja-JP" sz="2400" dirty="0"/>
              <a:t>1</a:t>
            </a:r>
            <a:r>
              <a:rPr lang="ja-JP" altLang="en-US" sz="2400" dirty="0"/>
              <a:t>、等しいときは</a:t>
            </a:r>
            <a:r>
              <a:rPr lang="en-US" altLang="ja-JP" sz="2400" dirty="0"/>
              <a:t>0</a:t>
            </a:r>
            <a:r>
              <a:rPr lang="ja-JP" altLang="en-US" sz="2400" dirty="0"/>
              <a:t>が、式</a:t>
            </a:r>
            <a:r>
              <a:rPr lang="en-US" altLang="ja-JP" sz="2400" dirty="0"/>
              <a:t>e1!=e2</a:t>
            </a:r>
            <a:r>
              <a:rPr lang="ja-JP" altLang="en-US" sz="2400" dirty="0"/>
              <a:t>の評価結果となる。</a:t>
            </a:r>
          </a:p>
        </p:txBody>
      </p:sp>
      <p:sp>
        <p:nvSpPr>
          <p:cNvPr id="30729" name="テキスト ボックス 11"/>
          <p:cNvSpPr txBox="1">
            <a:spLocks noChangeArrowheads="1"/>
          </p:cNvSpPr>
          <p:nvPr/>
        </p:nvSpPr>
        <p:spPr bwMode="auto">
          <a:xfrm>
            <a:off x="1656298" y="2722556"/>
            <a:ext cx="66436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（これ自体も式である。たとえば、</a:t>
            </a:r>
            <a:r>
              <a:rPr lang="en-US" altLang="ja-JP" sz="2400" dirty="0"/>
              <a:t>==</a:t>
            </a:r>
            <a:r>
              <a:rPr lang="ja-JP" altLang="en-US" sz="2400" dirty="0"/>
              <a:t>や</a:t>
            </a:r>
            <a:r>
              <a:rPr lang="en-US" altLang="ja-JP" sz="2400" dirty="0"/>
              <a:t>!=</a:t>
            </a:r>
            <a:r>
              <a:rPr lang="ja-JP" altLang="en-US" sz="2400" dirty="0"/>
              <a:t>の左辺や右辺で</a:t>
            </a:r>
            <a:r>
              <a:rPr lang="en-US" altLang="ja-JP" sz="2400" dirty="0"/>
              <a:t>!=</a:t>
            </a:r>
            <a:r>
              <a:rPr lang="ja-JP" altLang="en-US" sz="2400" dirty="0"/>
              <a:t>を使った比較式を書ける。）</a:t>
            </a:r>
          </a:p>
        </p:txBody>
      </p:sp>
    </p:spTree>
    <p:extLst>
      <p:ext uri="{BB962C8B-B14F-4D97-AF65-F5344CB8AC3E}">
        <p14:creationId xmlns:p14="http://schemas.microsoft.com/office/powerpoint/2010/main" val="2390744708"/>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08064" y="245090"/>
            <a:ext cx="7620000" cy="685800"/>
          </a:xfrm>
        </p:spPr>
        <p:txBody>
          <a:bodyPr>
            <a:normAutofit/>
          </a:bodyPr>
          <a:lstStyle/>
          <a:p>
            <a:r>
              <a:rPr kumimoji="0" lang="ja-JP" altLang="en-US" sz="3600" dirty="0">
                <a:latin typeface="Syntax" charset="0"/>
              </a:rPr>
              <a:t>値比較のプログラム</a:t>
            </a:r>
            <a:r>
              <a:rPr kumimoji="0" lang="en-US" altLang="ja-JP" sz="3600" dirty="0">
                <a:latin typeface="Syntax" charset="0"/>
              </a:rPr>
              <a:t>(2)</a:t>
            </a:r>
          </a:p>
        </p:txBody>
      </p:sp>
      <p:sp>
        <p:nvSpPr>
          <p:cNvPr id="252932" name="Text Box 4"/>
          <p:cNvSpPr txBox="1">
            <a:spLocks noChangeArrowheads="1"/>
          </p:cNvSpPr>
          <p:nvPr/>
        </p:nvSpPr>
        <p:spPr bwMode="auto">
          <a:xfrm>
            <a:off x="571500" y="1071563"/>
            <a:ext cx="7273925" cy="532447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lvl1pPr>
              <a:defRPr sz="3600">
                <a:solidFill>
                  <a:schemeClr val="tx1"/>
                </a:solidFill>
                <a:latin typeface="Arial" charset="0"/>
                <a:ea typeface="ヒラギノ角ゴ Pro W3" charset="0"/>
                <a:cs typeface="ヒラギノ角ゴ Pro W3" charset="0"/>
              </a:defRPr>
            </a:lvl1pPr>
            <a:lvl2pPr marL="742950" indent="-285750">
              <a:defRPr sz="3600">
                <a:solidFill>
                  <a:schemeClr val="tx1"/>
                </a:solidFill>
                <a:latin typeface="Arial" charset="0"/>
                <a:ea typeface="ヒラギノ角ゴ Pro W3" charset="0"/>
                <a:cs typeface="ヒラギノ角ゴ Pro W3" charset="0"/>
              </a:defRPr>
            </a:lvl2pPr>
            <a:lvl3pPr marL="1143000" indent="-228600">
              <a:defRPr sz="3600">
                <a:solidFill>
                  <a:schemeClr val="tx1"/>
                </a:solidFill>
                <a:latin typeface="Arial" charset="0"/>
                <a:ea typeface="ヒラギノ角ゴ Pro W3" charset="0"/>
                <a:cs typeface="ヒラギノ角ゴ Pro W3" charset="0"/>
              </a:defRPr>
            </a:lvl3pPr>
            <a:lvl4pPr marL="1600200" indent="-228600">
              <a:defRPr sz="3600">
                <a:solidFill>
                  <a:schemeClr val="tx1"/>
                </a:solidFill>
                <a:latin typeface="Arial" charset="0"/>
                <a:ea typeface="ヒラギノ角ゴ Pro W3" charset="0"/>
                <a:cs typeface="ヒラギノ角ゴ Pro W3" charset="0"/>
              </a:defRPr>
            </a:lvl4pPr>
            <a:lvl5pPr marL="2057400" indent="-228600">
              <a:defRPr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3600">
                <a:solidFill>
                  <a:schemeClr val="tx1"/>
                </a:solidFill>
                <a:latin typeface="Arial" charset="0"/>
                <a:ea typeface="ヒラギノ角ゴ Pro W3" charset="0"/>
                <a:cs typeface="ヒラギノ角ゴ Pro W3" charset="0"/>
              </a:defRPr>
            </a:lvl9pPr>
          </a:lstStyle>
          <a:p>
            <a:pPr>
              <a:defRPr/>
            </a:pPr>
            <a:r>
              <a:rPr lang="en-US" altLang="ja-JP" sz="2000" dirty="0" smtClean="0">
                <a:ea typeface="ＭＳ Ｐゴシック" charset="0"/>
                <a:cs typeface="ＭＳ Ｐゴシック" charset="0"/>
              </a:rPr>
              <a:t>/*</a:t>
            </a:r>
            <a:r>
              <a:rPr lang="ja-JP" altLang="en-US" sz="2000" dirty="0" smtClean="0">
                <a:ea typeface="ＭＳ Ｐゴシック" charset="0"/>
                <a:cs typeface="ＭＳ Ｐゴシック" charset="0"/>
              </a:rPr>
              <a:t>　二つの整数値をキーボードから読み込んで比較　*</a:t>
            </a:r>
            <a:r>
              <a:rPr lang="en-US" altLang="ja-JP" sz="2000" dirty="0" smtClean="0">
                <a:ea typeface="ＭＳ Ｐゴシック" charset="0"/>
                <a:cs typeface="ＭＳ Ｐゴシック" charset="0"/>
              </a:rPr>
              <a:t>/</a:t>
            </a:r>
          </a:p>
          <a:p>
            <a:pPr>
              <a:defRPr/>
            </a:pPr>
            <a:r>
              <a:rPr lang="en-US" altLang="ja-JP" sz="2000" dirty="0" smtClean="0">
                <a:ea typeface="ＭＳ Ｐゴシック" charset="0"/>
                <a:cs typeface="ＭＳ Ｐゴシック" charset="0"/>
              </a:rPr>
              <a:t>#include  &lt;</a:t>
            </a:r>
            <a:r>
              <a:rPr lang="en-US" altLang="ja-JP" sz="2000" dirty="0" err="1" smtClean="0">
                <a:ea typeface="ＭＳ Ｐゴシック" charset="0"/>
                <a:cs typeface="ＭＳ Ｐゴシック" charset="0"/>
              </a:rPr>
              <a:t>stdio.h</a:t>
            </a:r>
            <a:r>
              <a:rPr lang="en-US" altLang="ja-JP" sz="2000" dirty="0" smtClean="0">
                <a:ea typeface="ＭＳ Ｐゴシック" charset="0"/>
                <a:cs typeface="ＭＳ Ｐゴシック" charset="0"/>
              </a:rPr>
              <a:t>&gt;</a:t>
            </a:r>
          </a:p>
          <a:p>
            <a:pPr>
              <a:defRPr/>
            </a:pPr>
            <a:r>
              <a:rPr lang="en-US" altLang="ja-JP" sz="2000" dirty="0" err="1" smtClean="0">
                <a:ea typeface="ＭＳ Ｐゴシック" charset="0"/>
                <a:cs typeface="ＭＳ Ｐゴシック" charset="0"/>
              </a:rPr>
              <a:t>int</a:t>
            </a:r>
            <a:r>
              <a:rPr lang="en-US" altLang="ja-JP" sz="2000" dirty="0" smtClean="0">
                <a:ea typeface="ＭＳ Ｐゴシック" charset="0"/>
                <a:cs typeface="ＭＳ Ｐゴシック" charset="0"/>
              </a:rPr>
              <a:t> main (void)</a:t>
            </a:r>
          </a:p>
          <a:p>
            <a:pPr>
              <a:defRPr/>
            </a:pPr>
            <a:r>
              <a:rPr lang="en-US" altLang="ja-JP" sz="2000" dirty="0" smtClean="0">
                <a:ea typeface="ＭＳ Ｐゴシック" charset="0"/>
                <a:cs typeface="ＭＳ Ｐゴシック" charset="0"/>
              </a:rPr>
              <a:t>{</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int</a:t>
            </a:r>
            <a:r>
              <a:rPr lang="en-US" altLang="ja-JP" sz="2000" dirty="0" smtClean="0">
                <a:ea typeface="ＭＳ Ｐゴシック" charset="0"/>
                <a:cs typeface="ＭＳ Ｐゴシック" charset="0"/>
              </a:rPr>
              <a:t>  x1;</a:t>
            </a:r>
          </a:p>
          <a:p>
            <a:pPr>
              <a:defRPr/>
            </a:pPr>
            <a:r>
              <a:rPr lang="en-US" altLang="ja-JP" sz="2000" dirty="0">
                <a:ea typeface="ＭＳ Ｐゴシック" charset="0"/>
                <a:cs typeface="ＭＳ Ｐゴシック" charset="0"/>
              </a:rPr>
              <a:t>	</a:t>
            </a:r>
            <a:r>
              <a:rPr lang="en-US" altLang="ja-JP" sz="2000" dirty="0" err="1" smtClean="0">
                <a:ea typeface="ＭＳ Ｐゴシック" charset="0"/>
                <a:cs typeface="ＭＳ Ｐゴシック" charset="0"/>
              </a:rPr>
              <a:t>int</a:t>
            </a:r>
            <a:r>
              <a:rPr lang="en-US" altLang="ja-JP" sz="2000" dirty="0" smtClean="0">
                <a:ea typeface="ＭＳ Ｐゴシック" charset="0"/>
                <a:cs typeface="ＭＳ Ｐゴシック" charset="0"/>
              </a:rPr>
              <a:t>  </a:t>
            </a:r>
            <a:r>
              <a:rPr lang="en-US" altLang="ja-JP" sz="2000" dirty="0" smtClean="0">
                <a:ea typeface="ＭＳ Ｐゴシック" charset="0"/>
                <a:cs typeface="ＭＳ Ｐゴシック" charset="0"/>
              </a:rPr>
              <a:t>x2;</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printf</a:t>
            </a:r>
            <a:r>
              <a:rPr lang="en-US" altLang="ja-JP" sz="2000" dirty="0" smtClean="0">
                <a:ea typeface="ＭＳ Ｐゴシック" charset="0"/>
                <a:cs typeface="ＭＳ Ｐゴシック" charset="0"/>
              </a:rPr>
              <a:t> ("</a:t>
            </a:r>
            <a:r>
              <a:rPr lang="ja-JP" altLang="en-US" sz="2000" dirty="0" smtClean="0">
                <a:ea typeface="ＭＳ Ｐゴシック" charset="0"/>
                <a:cs typeface="ＭＳ Ｐゴシック" charset="0"/>
              </a:rPr>
              <a:t>二つの整数を入力してください。</a:t>
            </a:r>
            <a:r>
              <a:rPr lang="en-US" altLang="ja-JP" sz="2000" dirty="0" smtClean="0">
                <a:ea typeface="ＭＳ Ｐゴシック" charset="0"/>
                <a:cs typeface="ＭＳ Ｐゴシック" charset="0"/>
              </a:rPr>
              <a:t>\n");</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printf</a:t>
            </a:r>
            <a:r>
              <a:rPr lang="ja-JP" altLang="en-US" sz="2000" dirty="0" smtClean="0">
                <a:ea typeface="ＭＳ Ｐゴシック" charset="0"/>
                <a:cs typeface="ＭＳ Ｐゴシック" charset="0"/>
              </a:rPr>
              <a:t> </a:t>
            </a:r>
            <a:r>
              <a:rPr lang="en-US" altLang="ja-JP" sz="2000" dirty="0" smtClean="0">
                <a:ea typeface="ＭＳ Ｐゴシック" charset="0"/>
                <a:cs typeface="ＭＳ Ｐゴシック" charset="0"/>
              </a:rPr>
              <a:t>("</a:t>
            </a:r>
            <a:r>
              <a:rPr lang="ja-JP" altLang="en-US" sz="2000" dirty="0" smtClean="0">
                <a:ea typeface="ＭＳ Ｐゴシック" charset="0"/>
                <a:cs typeface="ＭＳ Ｐゴシック" charset="0"/>
              </a:rPr>
              <a:t>整数１：</a:t>
            </a:r>
            <a:r>
              <a:rPr lang="en-US" altLang="ja-JP" sz="2000" dirty="0" smtClean="0">
                <a:ea typeface="ＭＳ Ｐゴシック" charset="0"/>
                <a:cs typeface="ＭＳ Ｐゴシック" charset="0"/>
              </a:rPr>
              <a:t>");	</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scanf</a:t>
            </a:r>
            <a:r>
              <a:rPr lang="en-US" altLang="ja-JP" sz="2000" dirty="0" smtClean="0">
                <a:ea typeface="ＭＳ Ｐゴシック" charset="0"/>
                <a:cs typeface="ＭＳ Ｐゴシック" charset="0"/>
              </a:rPr>
              <a:t> ("%d", &amp;x1);</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printf</a:t>
            </a:r>
            <a:r>
              <a:rPr lang="en-US" altLang="ja-JP" sz="2000" dirty="0" smtClean="0">
                <a:ea typeface="ＭＳ Ｐゴシック" charset="0"/>
                <a:cs typeface="ＭＳ Ｐゴシック" charset="0"/>
              </a:rPr>
              <a:t> ("</a:t>
            </a:r>
            <a:r>
              <a:rPr lang="ja-JP" altLang="en-US" sz="2000" dirty="0" smtClean="0">
                <a:ea typeface="ＭＳ Ｐゴシック" charset="0"/>
                <a:cs typeface="ＭＳ Ｐゴシック" charset="0"/>
              </a:rPr>
              <a:t>整数２：</a:t>
            </a:r>
            <a:r>
              <a:rPr lang="en-US" altLang="ja-JP" sz="2000" dirty="0" smtClean="0">
                <a:ea typeface="ＭＳ Ｐゴシック" charset="0"/>
                <a:cs typeface="ＭＳ Ｐゴシック" charset="0"/>
              </a:rPr>
              <a:t>");	</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scanf</a:t>
            </a:r>
            <a:r>
              <a:rPr lang="en-US" altLang="ja-JP" sz="2000" dirty="0" smtClean="0">
                <a:ea typeface="ＭＳ Ｐゴシック" charset="0"/>
                <a:cs typeface="ＭＳ Ｐゴシック" charset="0"/>
              </a:rPr>
              <a:t> ("%d", &amp;x2);</a:t>
            </a:r>
          </a:p>
          <a:p>
            <a:pPr>
              <a:defRPr/>
            </a:pPr>
            <a:r>
              <a:rPr lang="en-US" altLang="ja-JP" sz="2000" dirty="0" smtClean="0">
                <a:ea typeface="ＭＳ Ｐゴシック" charset="0"/>
                <a:cs typeface="ＭＳ Ｐゴシック" charset="0"/>
              </a:rPr>
              <a:t>	if (x1 != x2)</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printf</a:t>
            </a:r>
            <a:r>
              <a:rPr lang="en-US" altLang="ja-JP" sz="2000" dirty="0" smtClean="0">
                <a:ea typeface="ＭＳ Ｐゴシック" charset="0"/>
                <a:cs typeface="ＭＳ Ｐゴシック" charset="0"/>
              </a:rPr>
              <a:t> (“</a:t>
            </a:r>
            <a:r>
              <a:rPr lang="ja-JP" altLang="en-US" sz="2000" dirty="0" smtClean="0">
                <a:ea typeface="ＭＳ Ｐゴシック" charset="0"/>
                <a:cs typeface="ＭＳ Ｐゴシック" charset="0"/>
              </a:rPr>
              <a:t>それらの値は違います。</a:t>
            </a:r>
            <a:r>
              <a:rPr lang="en-US" altLang="ja-JP" sz="2000" dirty="0" smtClean="0">
                <a:ea typeface="ＭＳ Ｐゴシック" charset="0"/>
                <a:cs typeface="ＭＳ Ｐゴシック" charset="0"/>
              </a:rPr>
              <a:t>\n");</a:t>
            </a:r>
          </a:p>
          <a:p>
            <a:pPr>
              <a:defRPr/>
            </a:pPr>
            <a:r>
              <a:rPr lang="en-US" altLang="ja-JP" sz="2000" dirty="0" smtClean="0">
                <a:ea typeface="ＭＳ Ｐゴシック" charset="0"/>
                <a:cs typeface="ＭＳ Ｐゴシック" charset="0"/>
              </a:rPr>
              <a:t>	else</a:t>
            </a:r>
          </a:p>
          <a:p>
            <a:pPr>
              <a:defRPr/>
            </a:pPr>
            <a:r>
              <a:rPr lang="en-US" altLang="ja-JP" sz="2000" dirty="0" smtClean="0">
                <a:ea typeface="ＭＳ Ｐゴシック" charset="0"/>
                <a:cs typeface="ＭＳ Ｐゴシック" charset="0"/>
              </a:rPr>
              <a:t>		</a:t>
            </a:r>
            <a:r>
              <a:rPr lang="en-US" altLang="ja-JP" sz="2000" dirty="0" err="1" smtClean="0">
                <a:ea typeface="ＭＳ Ｐゴシック" charset="0"/>
                <a:cs typeface="ＭＳ Ｐゴシック" charset="0"/>
              </a:rPr>
              <a:t>printf</a:t>
            </a:r>
            <a:r>
              <a:rPr lang="en-US" altLang="ja-JP" sz="2000" dirty="0" smtClean="0">
                <a:ea typeface="ＭＳ Ｐゴシック" charset="0"/>
                <a:cs typeface="ＭＳ Ｐゴシック" charset="0"/>
              </a:rPr>
              <a:t> (“</a:t>
            </a:r>
            <a:r>
              <a:rPr lang="ja-JP" altLang="en-US" sz="2000" dirty="0" smtClean="0">
                <a:ea typeface="ＭＳ Ｐゴシック" charset="0"/>
                <a:cs typeface="ＭＳ Ｐゴシック" charset="0"/>
              </a:rPr>
              <a:t>それらの値は同じです。</a:t>
            </a:r>
            <a:r>
              <a:rPr lang="en-US" altLang="ja-JP" sz="2000" dirty="0" smtClean="0">
                <a:ea typeface="ＭＳ Ｐゴシック" charset="0"/>
                <a:cs typeface="ＭＳ Ｐゴシック" charset="0"/>
              </a:rPr>
              <a:t>\n”);</a:t>
            </a:r>
          </a:p>
          <a:p>
            <a:pPr>
              <a:defRPr/>
            </a:pPr>
            <a:r>
              <a:rPr lang="en-US" altLang="ja-JP" sz="2000" dirty="0" smtClean="0">
                <a:ea typeface="ＭＳ Ｐゴシック" charset="0"/>
                <a:cs typeface="ＭＳ Ｐゴシック" charset="0"/>
              </a:rPr>
              <a:t>	return  0;</a:t>
            </a:r>
          </a:p>
          <a:p>
            <a:pPr>
              <a:defRPr/>
            </a:pPr>
            <a:r>
              <a:rPr lang="en-US" altLang="ja-JP" sz="2000" dirty="0" smtClean="0">
                <a:ea typeface="ＭＳ Ｐゴシック" charset="0"/>
                <a:cs typeface="ＭＳ Ｐゴシック" charset="0"/>
              </a:rPr>
              <a:t>}</a:t>
            </a:r>
          </a:p>
        </p:txBody>
      </p:sp>
    </p:spTree>
    <p:extLst>
      <p:ext uri="{BB962C8B-B14F-4D97-AF65-F5344CB8AC3E}">
        <p14:creationId xmlns:p14="http://schemas.microsoft.com/office/powerpoint/2010/main" val="1588979232"/>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250825" y="188913"/>
            <a:ext cx="7620000" cy="685800"/>
          </a:xfrm>
        </p:spPr>
        <p:txBody>
          <a:bodyPr/>
          <a:lstStyle/>
          <a:p>
            <a:r>
              <a:rPr kumimoji="0" lang="ja-JP" altLang="en-US" sz="3400">
                <a:latin typeface="Calibri" charset="0"/>
              </a:rPr>
              <a:t>３つ以上の条件分岐をするには？</a:t>
            </a:r>
          </a:p>
        </p:txBody>
      </p:sp>
      <p:sp>
        <p:nvSpPr>
          <p:cNvPr id="32770" name="Rectangle 3"/>
          <p:cNvSpPr>
            <a:spLocks noGrp="1" noChangeArrowheads="1"/>
          </p:cNvSpPr>
          <p:nvPr>
            <p:ph idx="1"/>
          </p:nvPr>
        </p:nvSpPr>
        <p:spPr>
          <a:xfrm>
            <a:off x="611187" y="1268412"/>
            <a:ext cx="8113489" cy="3149423"/>
          </a:xfrm>
        </p:spPr>
        <p:txBody>
          <a:bodyPr>
            <a:normAutofit fontScale="92500" lnSpcReduction="10000"/>
          </a:bodyPr>
          <a:lstStyle/>
          <a:p>
            <a:r>
              <a:rPr kumimoji="0" lang="ja-JP" altLang="en-US" sz="2800" dirty="0">
                <a:latin typeface="News Gothic" charset="0"/>
              </a:rPr>
              <a:t>これまでは流れを２つに分岐　</a:t>
            </a:r>
            <a:r>
              <a:rPr kumimoji="0" lang="en-US" altLang="ja-JP" sz="2800" dirty="0">
                <a:latin typeface="News Gothic" charset="0"/>
              </a:rPr>
              <a:t>→</a:t>
            </a:r>
            <a:r>
              <a:rPr kumimoji="0" lang="ja-JP" altLang="en-US" sz="2800" dirty="0">
                <a:latin typeface="News Gothic" charset="0"/>
              </a:rPr>
              <a:t>　３つ以上の場合は？</a:t>
            </a:r>
          </a:p>
          <a:p>
            <a:r>
              <a:rPr kumimoji="0" lang="ja-JP" altLang="en-US" sz="2800" dirty="0" smtClean="0">
                <a:latin typeface="News Gothic" charset="0"/>
              </a:rPr>
              <a:t>例</a:t>
            </a:r>
            <a:r>
              <a:rPr kumimoji="0" lang="en-US" altLang="ja-JP" sz="2800" dirty="0" smtClean="0">
                <a:latin typeface="News Gothic" charset="0"/>
              </a:rPr>
              <a:t>) </a:t>
            </a:r>
            <a:r>
              <a:rPr kumimoji="0" lang="ja-JP" altLang="en-US" sz="2800" dirty="0" smtClean="0">
                <a:latin typeface="Syntax" charset="0"/>
                <a:cs typeface="ＭＳ Ｐゴシック" charset="0"/>
              </a:rPr>
              <a:t>キーボードから</a:t>
            </a:r>
            <a:r>
              <a:rPr kumimoji="0" lang="ja-JP" altLang="en-US" sz="2800" dirty="0" smtClean="0">
                <a:latin typeface="Syntax" charset="0"/>
                <a:cs typeface="ＭＳ Ｐゴシック" charset="0"/>
              </a:rPr>
              <a:t>読み込んだ整数</a:t>
            </a:r>
            <a:r>
              <a:rPr kumimoji="0" lang="ja-JP" altLang="en-US" sz="2800" dirty="0" smtClean="0">
                <a:latin typeface="Syntax" charset="0"/>
                <a:cs typeface="ＭＳ Ｐゴシック" charset="0"/>
              </a:rPr>
              <a:t>値が</a:t>
            </a:r>
            <a:endParaRPr kumimoji="0" lang="en-US" altLang="ja-JP" sz="2800" dirty="0" smtClean="0">
              <a:latin typeface="Syntax" charset="0"/>
              <a:cs typeface="ＭＳ Ｐゴシック" charset="0"/>
            </a:endParaRPr>
          </a:p>
          <a:p>
            <a:pPr lvl="1">
              <a:buFont typeface="Wingdings" charset="0"/>
              <a:buNone/>
            </a:pPr>
            <a:r>
              <a:rPr kumimoji="0" lang="en-US" altLang="ja-JP" dirty="0" smtClean="0">
                <a:latin typeface="Syntax" charset="0"/>
                <a:cs typeface="ＭＳ Ｐゴシック" charset="0"/>
              </a:rPr>
              <a:t>     </a:t>
            </a:r>
            <a:r>
              <a:rPr kumimoji="0" lang="en-US" altLang="ja-JP" dirty="0" smtClean="0">
                <a:latin typeface="Syntax" charset="0"/>
                <a:cs typeface="ＭＳ Ｐゴシック" charset="0"/>
              </a:rPr>
              <a:t>(</a:t>
            </a:r>
            <a:r>
              <a:rPr kumimoji="0" lang="en-US" altLang="ja-JP" dirty="0">
                <a:latin typeface="Syntax" charset="0"/>
                <a:cs typeface="ＭＳ Ｐゴシック" charset="0"/>
              </a:rPr>
              <a:t>1)</a:t>
            </a:r>
            <a:r>
              <a:rPr kumimoji="0" lang="ja-JP" altLang="en-US" dirty="0">
                <a:latin typeface="Syntax" charset="0"/>
                <a:cs typeface="ＭＳ Ｐゴシック" charset="0"/>
              </a:rPr>
              <a:t>　</a:t>
            </a:r>
            <a:r>
              <a:rPr kumimoji="0" lang="en-US" altLang="ja-JP" dirty="0" smtClean="0">
                <a:latin typeface="Syntax" charset="0"/>
                <a:cs typeface="ＭＳ Ｐゴシック" charset="0"/>
              </a:rPr>
              <a:t>0</a:t>
            </a:r>
          </a:p>
          <a:p>
            <a:pPr lvl="1">
              <a:buFont typeface="Wingdings" charset="0"/>
              <a:buNone/>
            </a:pPr>
            <a:r>
              <a:rPr kumimoji="0" lang="ja-JP" altLang="en-US" dirty="0">
                <a:latin typeface="Syntax" charset="0"/>
                <a:cs typeface="ＭＳ Ｐゴシック" charset="0"/>
              </a:rPr>
              <a:t>　　</a:t>
            </a:r>
            <a:r>
              <a:rPr kumimoji="0" lang="en-US" altLang="ja-JP" dirty="0">
                <a:latin typeface="Syntax" charset="0"/>
                <a:cs typeface="ＭＳ Ｐゴシック" charset="0"/>
              </a:rPr>
              <a:t>(2)</a:t>
            </a:r>
            <a:r>
              <a:rPr kumimoji="0" lang="ja-JP" altLang="en-US" dirty="0">
                <a:latin typeface="Syntax" charset="0"/>
                <a:cs typeface="ＭＳ Ｐゴシック" charset="0"/>
              </a:rPr>
              <a:t>　</a:t>
            </a:r>
            <a:r>
              <a:rPr kumimoji="0" lang="ja-JP" altLang="en-US" dirty="0" smtClean="0">
                <a:latin typeface="Syntax" charset="0"/>
                <a:cs typeface="ＭＳ Ｐゴシック" charset="0"/>
              </a:rPr>
              <a:t>正</a:t>
            </a:r>
            <a:endParaRPr kumimoji="0" lang="ja-JP" altLang="en-US" dirty="0">
              <a:latin typeface="Syntax" charset="0"/>
              <a:cs typeface="ＭＳ Ｐゴシック" charset="0"/>
            </a:endParaRPr>
          </a:p>
          <a:p>
            <a:pPr lvl="1">
              <a:buFont typeface="Wingdings" charset="0"/>
              <a:buNone/>
            </a:pPr>
            <a:r>
              <a:rPr kumimoji="0" lang="ja-JP" altLang="en-US" dirty="0">
                <a:latin typeface="Syntax" charset="0"/>
                <a:cs typeface="ＭＳ Ｐゴシック" charset="0"/>
              </a:rPr>
              <a:t>　　</a:t>
            </a:r>
            <a:r>
              <a:rPr kumimoji="0" lang="en-US" altLang="ja-JP" dirty="0">
                <a:latin typeface="Syntax" charset="0"/>
                <a:cs typeface="ＭＳ Ｐゴシック" charset="0"/>
              </a:rPr>
              <a:t>(3)</a:t>
            </a:r>
            <a:r>
              <a:rPr kumimoji="0" lang="ja-JP" altLang="en-US" dirty="0">
                <a:latin typeface="Syntax" charset="0"/>
                <a:cs typeface="ＭＳ Ｐゴシック" charset="0"/>
              </a:rPr>
              <a:t>　</a:t>
            </a:r>
            <a:r>
              <a:rPr kumimoji="0" lang="ja-JP" altLang="en-US" dirty="0" smtClean="0">
                <a:latin typeface="Syntax" charset="0"/>
                <a:cs typeface="ＭＳ Ｐゴシック" charset="0"/>
              </a:rPr>
              <a:t>負</a:t>
            </a:r>
            <a:endParaRPr kumimoji="0" lang="en-US" altLang="ja-JP" dirty="0" smtClean="0">
              <a:latin typeface="Syntax" charset="0"/>
              <a:cs typeface="ＭＳ Ｐゴシック" charset="0"/>
            </a:endParaRPr>
          </a:p>
          <a:p>
            <a:pPr lvl="1">
              <a:buNone/>
            </a:pPr>
            <a:r>
              <a:rPr kumimoji="0" lang="ja-JP" altLang="en-US" dirty="0" smtClean="0">
                <a:latin typeface="Syntax" charset="0"/>
                <a:cs typeface="ＭＳ Ｐゴシック" charset="0"/>
              </a:rPr>
              <a:t>のいずれであるかによって処理を変えたい場合</a:t>
            </a:r>
            <a:r>
              <a:rPr kumimoji="0" lang="ja-JP" altLang="en-US" dirty="0">
                <a:latin typeface="Syntax" charset="0"/>
                <a:cs typeface="ＭＳ Ｐゴシック" charset="0"/>
              </a:rPr>
              <a:t>は</a:t>
            </a:r>
            <a:r>
              <a:rPr kumimoji="0" lang="ja-JP" altLang="en-US" dirty="0" smtClean="0">
                <a:latin typeface="Syntax" charset="0"/>
                <a:cs typeface="ＭＳ Ｐゴシック" charset="0"/>
              </a:rPr>
              <a:t>、</a:t>
            </a:r>
            <a:endParaRPr kumimoji="0" lang="en-US" altLang="ja-JP" dirty="0" smtClean="0">
              <a:latin typeface="Syntax" charset="0"/>
              <a:cs typeface="ＭＳ Ｐゴシック" charset="0"/>
            </a:endParaRPr>
          </a:p>
          <a:p>
            <a:pPr lvl="1">
              <a:buNone/>
            </a:pPr>
            <a:r>
              <a:rPr kumimoji="0" lang="en-US" altLang="ja-JP" dirty="0" smtClean="0">
                <a:latin typeface="Syntax" charset="0"/>
                <a:cs typeface="ＭＳ Ｐゴシック" charset="0"/>
              </a:rPr>
              <a:t>if</a:t>
            </a:r>
            <a:r>
              <a:rPr kumimoji="0" lang="ja-JP" altLang="en-US" dirty="0">
                <a:latin typeface="Syntax" charset="0"/>
                <a:cs typeface="ＭＳ Ｐゴシック" charset="0"/>
              </a:rPr>
              <a:t>文の中で</a:t>
            </a:r>
            <a:r>
              <a:rPr kumimoji="0" lang="en-US" altLang="ja-JP" dirty="0">
                <a:latin typeface="Syntax" charset="0"/>
                <a:cs typeface="ＭＳ Ｐゴシック" charset="0"/>
              </a:rPr>
              <a:t>if</a:t>
            </a:r>
            <a:r>
              <a:rPr kumimoji="0" lang="ja-JP" altLang="en-US" dirty="0">
                <a:latin typeface="Syntax" charset="0"/>
                <a:cs typeface="ＭＳ Ｐゴシック" charset="0"/>
              </a:rPr>
              <a:t>文を使えばよい。</a:t>
            </a:r>
            <a:r>
              <a:rPr kumimoji="0" lang="en-US" altLang="ja-JP" dirty="0">
                <a:latin typeface="Syntax" charset="0"/>
                <a:cs typeface="ＭＳ Ｐゴシック" charset="0"/>
              </a:rPr>
              <a:t>(nest, </a:t>
            </a:r>
            <a:r>
              <a:rPr kumimoji="0" lang="ja-JP" altLang="en-US" dirty="0">
                <a:latin typeface="Syntax" charset="0"/>
                <a:cs typeface="ＭＳ Ｐゴシック" charset="0"/>
              </a:rPr>
              <a:t>入れ子</a:t>
            </a:r>
            <a:r>
              <a:rPr kumimoji="0" lang="en-US" altLang="ja-JP" dirty="0">
                <a:latin typeface="Syntax" charset="0"/>
                <a:cs typeface="ＭＳ Ｐゴシック" charset="0"/>
              </a:rPr>
              <a:t>)</a:t>
            </a:r>
          </a:p>
          <a:p>
            <a:pPr lvl="1">
              <a:buNone/>
            </a:pPr>
            <a:endParaRPr kumimoji="0" lang="ja-JP" altLang="en-US" dirty="0">
              <a:latin typeface="Syntax" charset="0"/>
              <a:cs typeface="ＭＳ Ｐゴシック" charset="0"/>
            </a:endParaRPr>
          </a:p>
          <a:p>
            <a:endParaRPr kumimoji="0" lang="en-US" altLang="ja-JP" sz="1000" dirty="0">
              <a:latin typeface="News Gothic" charset="0"/>
            </a:endParaRPr>
          </a:p>
        </p:txBody>
      </p:sp>
      <p:sp>
        <p:nvSpPr>
          <p:cNvPr id="32775" name="正方形/長方形 7"/>
          <p:cNvSpPr>
            <a:spLocks noChangeArrowheads="1"/>
          </p:cNvSpPr>
          <p:nvPr/>
        </p:nvSpPr>
        <p:spPr bwMode="auto">
          <a:xfrm>
            <a:off x="4000500" y="4891946"/>
            <a:ext cx="3870325" cy="523875"/>
          </a:xfrm>
          <a:prstGeom prst="rect">
            <a:avLst/>
          </a:prstGeom>
          <a:solidFill>
            <a:srgbClr val="FFFF00"/>
          </a:solidFill>
          <a:ln w="9525">
            <a:solidFill>
              <a:schemeClr val="tx1"/>
            </a:solidFill>
            <a:miter lim="800000"/>
            <a:headEnd/>
            <a:tailEnd/>
          </a:ln>
        </p:spPr>
        <p:txBody>
          <a:bodyPr wrap="square">
            <a:spAutoFit/>
          </a:bodyPr>
          <a:lstStyle/>
          <a:p>
            <a:r>
              <a:rPr kumimoji="1" lang="en-US" altLang="ja-JP" sz="2800"/>
              <a:t> </a:t>
            </a:r>
            <a:r>
              <a:rPr kumimoji="1" lang="en-US" altLang="ja-JP" sz="2800" b="1"/>
              <a:t>if</a:t>
            </a:r>
            <a:r>
              <a:rPr kumimoji="1" lang="en-US" altLang="ja-JP" sz="2800"/>
              <a:t> (&lt;</a:t>
            </a:r>
            <a:r>
              <a:rPr kumimoji="1" lang="ja-JP" altLang="en-US" sz="2800"/>
              <a:t>式</a:t>
            </a:r>
            <a:r>
              <a:rPr kumimoji="1" lang="en-US" altLang="ja-JP" sz="2800"/>
              <a:t>&gt;) &lt;</a:t>
            </a:r>
            <a:r>
              <a:rPr kumimoji="1" lang="ja-JP" altLang="en-US" sz="2800"/>
              <a:t>文</a:t>
            </a:r>
            <a:r>
              <a:rPr kumimoji="1" lang="en-US" altLang="ja-JP" sz="2800"/>
              <a:t>&gt;</a:t>
            </a:r>
            <a:r>
              <a:rPr kumimoji="1" lang="ja-JP" altLang="en-US" sz="2800"/>
              <a:t> </a:t>
            </a:r>
            <a:r>
              <a:rPr kumimoji="1" lang="en-US" altLang="ja-JP" sz="2800" b="1"/>
              <a:t>else</a:t>
            </a:r>
            <a:r>
              <a:rPr kumimoji="1" lang="en-US" altLang="ja-JP" sz="2800"/>
              <a:t> &lt;</a:t>
            </a:r>
            <a:r>
              <a:rPr kumimoji="1" lang="ja-JP" altLang="en-US" sz="2800"/>
              <a:t>文</a:t>
            </a:r>
            <a:r>
              <a:rPr kumimoji="1" lang="en-US" altLang="ja-JP" sz="2800"/>
              <a:t>&gt;</a:t>
            </a:r>
            <a:endParaRPr lang="ja-JP" altLang="en-US" sz="2800"/>
          </a:p>
        </p:txBody>
      </p:sp>
      <p:sp>
        <p:nvSpPr>
          <p:cNvPr id="32776" name="テキスト ボックス 8"/>
          <p:cNvSpPr txBox="1">
            <a:spLocks noChangeArrowheads="1"/>
          </p:cNvSpPr>
          <p:nvPr/>
        </p:nvSpPr>
        <p:spPr bwMode="auto">
          <a:xfrm>
            <a:off x="500063" y="4963383"/>
            <a:ext cx="3482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dirty="0"/>
              <a:t> </a:t>
            </a:r>
            <a:r>
              <a:rPr lang="ja-JP" altLang="en-US" sz="2400" dirty="0"/>
              <a:t>復習 </a:t>
            </a:r>
            <a:r>
              <a:rPr lang="en-US" altLang="ja-JP" sz="2400" dirty="0"/>
              <a:t>if</a:t>
            </a:r>
            <a:r>
              <a:rPr lang="ja-JP" altLang="en-US" sz="2400" dirty="0"/>
              <a:t>文の構文</a:t>
            </a:r>
            <a:r>
              <a:rPr lang="en-US" altLang="ja-JP" sz="2400" dirty="0"/>
              <a:t>(</a:t>
            </a:r>
            <a:r>
              <a:rPr lang="ja-JP" altLang="en-US" sz="2400" dirty="0"/>
              <a:t>その２</a:t>
            </a:r>
            <a:r>
              <a:rPr lang="en-US" altLang="ja-JP" sz="2400" dirty="0"/>
              <a:t>)</a:t>
            </a:r>
            <a:endParaRPr lang="ja-JP" altLang="en-US" sz="2400" dirty="0"/>
          </a:p>
        </p:txBody>
      </p:sp>
      <p:sp>
        <p:nvSpPr>
          <p:cNvPr id="32777" name="テキスト ボックス 9"/>
          <p:cNvSpPr txBox="1">
            <a:spLocks noChangeArrowheads="1"/>
          </p:cNvSpPr>
          <p:nvPr/>
        </p:nvSpPr>
        <p:spPr bwMode="auto">
          <a:xfrm>
            <a:off x="928688" y="5534883"/>
            <a:ext cx="6578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 if</a:t>
            </a:r>
            <a:r>
              <a:rPr lang="ja-JP" altLang="en-US" sz="2400"/>
              <a:t>文自体、文である。したがって、</a:t>
            </a:r>
            <a:r>
              <a:rPr lang="en-US" altLang="ja-JP" sz="2400"/>
              <a:t>if</a:t>
            </a:r>
            <a:r>
              <a:rPr lang="ja-JP" altLang="en-US" sz="2400"/>
              <a:t>文の中の</a:t>
            </a:r>
            <a:endParaRPr lang="en-US" altLang="ja-JP" sz="2400"/>
          </a:p>
          <a:p>
            <a:r>
              <a:rPr lang="ja-JP" altLang="en-US" sz="2400"/>
              <a:t>＜文＞のところに</a:t>
            </a:r>
            <a:r>
              <a:rPr lang="en-US" altLang="ja-JP" sz="2400"/>
              <a:t>if</a:t>
            </a:r>
            <a:r>
              <a:rPr lang="ja-JP" altLang="en-US" sz="2400"/>
              <a:t>文を書いてよい。</a:t>
            </a:r>
          </a:p>
        </p:txBody>
      </p:sp>
    </p:spTree>
    <p:extLst>
      <p:ext uri="{BB962C8B-B14F-4D97-AF65-F5344CB8AC3E}">
        <p14:creationId xmlns:p14="http://schemas.microsoft.com/office/powerpoint/2010/main" val="2982590986"/>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Rectangle 4"/>
          <p:cNvSpPr>
            <a:spLocks noChangeArrowheads="1"/>
          </p:cNvSpPr>
          <p:nvPr/>
        </p:nvSpPr>
        <p:spPr bwMode="black">
          <a:xfrm>
            <a:off x="578898" y="188913"/>
            <a:ext cx="8035925" cy="685800"/>
          </a:xfrm>
          <a:prstGeom prst="rect">
            <a:avLst/>
          </a:prstGeom>
          <a:noFill/>
          <a:ln w="9525">
            <a:noFill/>
            <a:miter lim="800000"/>
            <a:headEnd/>
            <a:tailEnd/>
          </a:ln>
          <a:effectLst/>
        </p:spPr>
        <p:txBody>
          <a:bodyPr anchor="ctr"/>
          <a:lstStyle/>
          <a:p>
            <a:pPr eaLnBrk="1" hangingPunct="1">
              <a:defRPr/>
            </a:pPr>
            <a:r>
              <a:rPr lang="ja-JP" altLang="en-US" sz="3400" dirty="0">
                <a:solidFill>
                  <a:srgbClr val="000000"/>
                </a:solidFill>
                <a:latin typeface="Syntax" pitchFamily="34" charset="0"/>
                <a:ea typeface="ＭＳ Ｐゴシック" pitchFamily="-112" charset="-128"/>
                <a:cs typeface="+mn-cs"/>
              </a:rPr>
              <a:t>値比較のプログラム</a:t>
            </a:r>
            <a:r>
              <a:rPr lang="en-US" altLang="ja-JP" sz="3400" dirty="0">
                <a:solidFill>
                  <a:srgbClr val="000000"/>
                </a:solidFill>
                <a:latin typeface="Syntax" pitchFamily="34" charset="0"/>
                <a:ea typeface="ＭＳ Ｐゴシック" pitchFamily="-112" charset="-128"/>
                <a:cs typeface="+mn-cs"/>
              </a:rPr>
              <a:t>(3)</a:t>
            </a:r>
            <a:r>
              <a:rPr lang="ja-JP" altLang="en-US" sz="3400" dirty="0">
                <a:solidFill>
                  <a:srgbClr val="000000"/>
                </a:solidFill>
                <a:latin typeface="Syntax" pitchFamily="34" charset="0"/>
                <a:ea typeface="ＭＳ Ｐゴシック" pitchFamily="-112" charset="-128"/>
                <a:cs typeface="+mn-cs"/>
              </a:rPr>
              <a:t>（打ち込んで確認）</a:t>
            </a:r>
            <a:endParaRPr lang="en-US" altLang="ja-JP" sz="3400" dirty="0">
              <a:solidFill>
                <a:srgbClr val="000000"/>
              </a:solidFill>
              <a:latin typeface="Syntax" pitchFamily="34" charset="0"/>
              <a:ea typeface="ＭＳ Ｐゴシック" pitchFamily="-112" charset="-128"/>
              <a:cs typeface="+mn-cs"/>
            </a:endParaRPr>
          </a:p>
        </p:txBody>
      </p:sp>
      <p:sp>
        <p:nvSpPr>
          <p:cNvPr id="270342" name="Text Box 6"/>
          <p:cNvSpPr txBox="1">
            <a:spLocks noChangeArrowheads="1"/>
          </p:cNvSpPr>
          <p:nvPr/>
        </p:nvSpPr>
        <p:spPr bwMode="auto">
          <a:xfrm>
            <a:off x="357188" y="1143000"/>
            <a:ext cx="8643937" cy="4708525"/>
          </a:xfrm>
          <a:prstGeom prst="rect">
            <a:avLst/>
          </a:prstGeom>
          <a:solidFill>
            <a:schemeClr val="bg1"/>
          </a:solidFill>
          <a:ln w="9525">
            <a:solidFill>
              <a:schemeClr val="tx1"/>
            </a:solidFill>
            <a:miter lim="800000"/>
            <a:headEnd/>
            <a:tailEnd/>
          </a:ln>
          <a:effectLst>
            <a:outerShdw blurRad="63500" dist="107763" dir="2700000" algn="ctr" rotWithShape="0">
              <a:schemeClr val="bg2">
                <a:alpha val="50000"/>
              </a:schemeClr>
            </a:outerShdw>
          </a:effectLst>
        </p:spPr>
        <p:txBody>
          <a:bodyPr>
            <a:spAutoFit/>
          </a:bodyPr>
          <a:lstStyle/>
          <a:p>
            <a:pPr>
              <a:defRPr/>
            </a:pPr>
            <a:r>
              <a:rPr lang="en-US" altLang="ja-JP" sz="2000" dirty="0">
                <a:ea typeface="ＭＳ Ｐゴシック" pitchFamily="-112" charset="-128"/>
                <a:cs typeface="+mn-cs"/>
              </a:rPr>
              <a:t>/*</a:t>
            </a:r>
            <a:r>
              <a:rPr lang="ja-JP" altLang="en-US" sz="2000" dirty="0">
                <a:ea typeface="ＭＳ Ｐゴシック" pitchFamily="-112" charset="-128"/>
                <a:cs typeface="+mn-cs"/>
              </a:rPr>
              <a:t>　読み込んだ整数値の符号を判定　*</a:t>
            </a: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#include  &lt;</a:t>
            </a:r>
            <a:r>
              <a:rPr lang="en-US" altLang="ja-JP" sz="2000" dirty="0" err="1">
                <a:ea typeface="ＭＳ Ｐゴシック" pitchFamily="-112" charset="-128"/>
                <a:cs typeface="+mn-cs"/>
              </a:rPr>
              <a:t>stdio.h</a:t>
            </a:r>
            <a:r>
              <a:rPr lang="en-US" altLang="ja-JP" sz="2000" dirty="0">
                <a:ea typeface="ＭＳ Ｐゴシック" pitchFamily="-112" charset="-128"/>
                <a:cs typeface="+mn-cs"/>
              </a:rPr>
              <a:t>&gt;</a:t>
            </a:r>
          </a:p>
          <a:p>
            <a:pPr>
              <a:defRPr/>
            </a:pPr>
            <a:r>
              <a:rPr lang="en-US" altLang="ja-JP" sz="2000" dirty="0" err="1">
                <a:ea typeface="ＭＳ Ｐゴシック" pitchFamily="-112" charset="-128"/>
                <a:cs typeface="+mn-cs"/>
              </a:rPr>
              <a:t>int</a:t>
            </a:r>
            <a:r>
              <a:rPr lang="en-US" altLang="ja-JP" sz="2000" dirty="0">
                <a:ea typeface="ＭＳ Ｐゴシック" pitchFamily="-112" charset="-128"/>
                <a:cs typeface="+mn-cs"/>
              </a:rPr>
              <a:t> main</a:t>
            </a:r>
            <a:r>
              <a:rPr lang="ja-JP" altLang="en-US" sz="2000" dirty="0">
                <a:ea typeface="ＭＳ Ｐゴシック" pitchFamily="-112" charset="-128"/>
                <a:cs typeface="+mn-cs"/>
              </a:rPr>
              <a:t> </a:t>
            </a:r>
            <a:r>
              <a:rPr lang="en-US" altLang="ja-JP" sz="2000" dirty="0">
                <a:ea typeface="ＭＳ Ｐゴシック" pitchFamily="-112" charset="-128"/>
                <a:cs typeface="+mn-cs"/>
              </a:rPr>
              <a:t>(void)</a:t>
            </a:r>
          </a:p>
          <a:p>
            <a:pPr>
              <a:defRPr/>
            </a:pP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int</a:t>
            </a:r>
            <a:r>
              <a:rPr lang="ja-JP" altLang="en-US" sz="2000" dirty="0">
                <a:ea typeface="ＭＳ Ｐゴシック" pitchFamily="-112" charset="-128"/>
                <a:cs typeface="+mn-cs"/>
              </a:rPr>
              <a:t>　 </a:t>
            </a:r>
            <a:r>
              <a:rPr lang="en-US" altLang="ja-JP" sz="2000" dirty="0">
                <a:ea typeface="ＭＳ Ｐゴシック" pitchFamily="-112" charset="-128"/>
                <a:cs typeface="+mn-cs"/>
              </a:rPr>
              <a:t>n;</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printf</a:t>
            </a:r>
            <a:r>
              <a:rPr lang="en-US" altLang="ja-JP" sz="2000" dirty="0">
                <a:ea typeface="ＭＳ Ｐゴシック" pitchFamily="-112" charset="-128"/>
                <a:cs typeface="+mn-cs"/>
              </a:rPr>
              <a:t> ("</a:t>
            </a:r>
            <a:r>
              <a:rPr lang="ja-JP" altLang="en-US" sz="2000" dirty="0">
                <a:ea typeface="ＭＳ Ｐゴシック" pitchFamily="-112" charset="-128"/>
                <a:cs typeface="+mn-cs"/>
              </a:rPr>
              <a:t>整数を入力してください：</a:t>
            </a:r>
            <a:r>
              <a:rPr lang="en-US" altLang="ja-JP" sz="2000" dirty="0">
                <a:ea typeface="ＭＳ Ｐゴシック" pitchFamily="-112" charset="-128"/>
                <a:cs typeface="+mn-cs"/>
              </a:rPr>
              <a:t>");</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scanf</a:t>
            </a:r>
            <a:r>
              <a:rPr lang="en-US" altLang="ja-JP" sz="2000" dirty="0">
                <a:ea typeface="ＭＳ Ｐゴシック" pitchFamily="-112" charset="-128"/>
                <a:cs typeface="+mn-cs"/>
              </a:rPr>
              <a:t> ("%d", &amp;n);</a:t>
            </a:r>
          </a:p>
          <a:p>
            <a:pPr>
              <a:defRPr/>
            </a:pPr>
            <a:r>
              <a:rPr lang="en-US" altLang="ja-JP" sz="2000" dirty="0">
                <a:ea typeface="ＭＳ Ｐゴシック" pitchFamily="-112" charset="-128"/>
                <a:cs typeface="+mn-cs"/>
              </a:rPr>
              <a:t>	if (n == 0)</a:t>
            </a:r>
          </a:p>
          <a:p>
            <a:pPr>
              <a:defRPr/>
            </a:pPr>
            <a:r>
              <a:rPr lang="en-US" altLang="ja-JP" sz="2000" dirty="0">
                <a:ea typeface="ＭＳ Ｐゴシック" pitchFamily="-112" charset="-128"/>
                <a:cs typeface="+mn-cs"/>
              </a:rPr>
              <a:t>		</a:t>
            </a:r>
            <a:r>
              <a:rPr lang="en-US" altLang="ja-JP" sz="2000" dirty="0" err="1">
                <a:ea typeface="ＭＳ Ｐゴシック" pitchFamily="-112" charset="-128"/>
                <a:cs typeface="+mn-cs"/>
              </a:rPr>
              <a:t>printf</a:t>
            </a:r>
            <a:r>
              <a:rPr lang="en-US" altLang="ja-JP" sz="2000" dirty="0">
                <a:ea typeface="ＭＳ Ｐゴシック" pitchFamily="-112" charset="-128"/>
                <a:cs typeface="+mn-cs"/>
              </a:rPr>
              <a:t> ("</a:t>
            </a:r>
            <a:r>
              <a:rPr lang="ja-JP" altLang="en-US" sz="2000" dirty="0">
                <a:ea typeface="ＭＳ Ｐゴシック" pitchFamily="-112" charset="-128"/>
                <a:cs typeface="+mn-cs"/>
              </a:rPr>
              <a:t>その数は</a:t>
            </a:r>
            <a:r>
              <a:rPr lang="en-US" altLang="ja-JP" sz="2000" dirty="0">
                <a:ea typeface="ＭＳ Ｐゴシック" pitchFamily="-112" charset="-128"/>
                <a:cs typeface="+mn-cs"/>
              </a:rPr>
              <a:t>0</a:t>
            </a:r>
            <a:r>
              <a:rPr lang="ja-JP" altLang="en-US" sz="2000" dirty="0">
                <a:ea typeface="ＭＳ Ｐゴシック" pitchFamily="-112" charset="-128"/>
                <a:cs typeface="+mn-cs"/>
              </a:rPr>
              <a:t>です。</a:t>
            </a:r>
            <a:r>
              <a:rPr lang="en-US" altLang="ja-JP" sz="2000" dirty="0">
                <a:ea typeface="ＭＳ Ｐゴシック" pitchFamily="-112" charset="-128"/>
                <a:cs typeface="+mn-cs"/>
              </a:rPr>
              <a:t>\n");</a:t>
            </a:r>
          </a:p>
          <a:p>
            <a:pPr>
              <a:defRPr/>
            </a:pPr>
            <a:r>
              <a:rPr lang="en-US" altLang="ja-JP" sz="2000" dirty="0">
                <a:ea typeface="ＭＳ Ｐゴシック" pitchFamily="-112" charset="-128"/>
                <a:cs typeface="+mn-cs"/>
              </a:rPr>
              <a:t>	else </a:t>
            </a:r>
            <a:r>
              <a:rPr lang="en-US" altLang="ja-JP" sz="2000" dirty="0">
                <a:solidFill>
                  <a:srgbClr val="FF0000"/>
                </a:solidFill>
                <a:ea typeface="ＭＳ Ｐゴシック" pitchFamily="-112" charset="-128"/>
                <a:cs typeface="+mn-cs"/>
              </a:rPr>
              <a:t>if (n &gt; 0)</a:t>
            </a:r>
          </a:p>
          <a:p>
            <a:pPr>
              <a:defRPr/>
            </a:pPr>
            <a:r>
              <a:rPr lang="en-US" altLang="ja-JP" sz="2000" dirty="0">
                <a:solidFill>
                  <a:srgbClr val="FF0000"/>
                </a:solidFill>
                <a:ea typeface="ＭＳ Ｐゴシック" pitchFamily="-112" charset="-128"/>
                <a:cs typeface="+mn-cs"/>
              </a:rPr>
              <a:t>		</a:t>
            </a:r>
            <a:r>
              <a:rPr lang="en-US" altLang="ja-JP" sz="2000" dirty="0" err="1">
                <a:solidFill>
                  <a:srgbClr val="FF0000"/>
                </a:solidFill>
                <a:ea typeface="ＭＳ Ｐゴシック" pitchFamily="-112" charset="-128"/>
                <a:cs typeface="+mn-cs"/>
              </a:rPr>
              <a:t>printf</a:t>
            </a:r>
            <a:r>
              <a:rPr lang="en-US" altLang="ja-JP" sz="2000" dirty="0">
                <a:solidFill>
                  <a:srgbClr val="FF0000"/>
                </a:solidFill>
                <a:ea typeface="ＭＳ Ｐゴシック" pitchFamily="-112" charset="-128"/>
                <a:cs typeface="+mn-cs"/>
              </a:rPr>
              <a:t> ("</a:t>
            </a:r>
            <a:r>
              <a:rPr lang="ja-JP" altLang="en-US" sz="2000" dirty="0">
                <a:solidFill>
                  <a:srgbClr val="FF0000"/>
                </a:solidFill>
                <a:ea typeface="ＭＳ Ｐゴシック" pitchFamily="-112" charset="-128"/>
                <a:cs typeface="+mn-cs"/>
              </a:rPr>
              <a:t>その数は正です。</a:t>
            </a:r>
            <a:r>
              <a:rPr lang="en-US" altLang="ja-JP" sz="2000" dirty="0">
                <a:solidFill>
                  <a:srgbClr val="FF0000"/>
                </a:solidFill>
                <a:ea typeface="ＭＳ Ｐゴシック" pitchFamily="-112" charset="-128"/>
                <a:cs typeface="+mn-cs"/>
              </a:rPr>
              <a:t>\n");</a:t>
            </a:r>
          </a:p>
          <a:p>
            <a:pPr>
              <a:defRPr/>
            </a:pPr>
            <a:r>
              <a:rPr lang="en-US" altLang="ja-JP" sz="2000" dirty="0">
                <a:solidFill>
                  <a:srgbClr val="FF0000"/>
                </a:solidFill>
                <a:ea typeface="ＭＳ Ｐゴシック" pitchFamily="-112" charset="-128"/>
                <a:cs typeface="+mn-cs"/>
              </a:rPr>
              <a:t>	else</a:t>
            </a:r>
          </a:p>
          <a:p>
            <a:pPr>
              <a:defRPr/>
            </a:pPr>
            <a:r>
              <a:rPr lang="en-US" altLang="ja-JP" sz="2000" dirty="0">
                <a:solidFill>
                  <a:srgbClr val="FF0000"/>
                </a:solidFill>
                <a:ea typeface="ＭＳ Ｐゴシック" pitchFamily="-112" charset="-128"/>
                <a:cs typeface="+mn-cs"/>
              </a:rPr>
              <a:t>		</a:t>
            </a:r>
            <a:r>
              <a:rPr lang="en-US" altLang="ja-JP" sz="2000" dirty="0" err="1">
                <a:solidFill>
                  <a:srgbClr val="FF0000"/>
                </a:solidFill>
                <a:ea typeface="ＭＳ Ｐゴシック" pitchFamily="-112" charset="-128"/>
                <a:cs typeface="+mn-cs"/>
              </a:rPr>
              <a:t>printf</a:t>
            </a:r>
            <a:r>
              <a:rPr lang="en-US" altLang="ja-JP" sz="2000" dirty="0">
                <a:solidFill>
                  <a:srgbClr val="FF0000"/>
                </a:solidFill>
                <a:ea typeface="ＭＳ Ｐゴシック" pitchFamily="-112" charset="-128"/>
                <a:cs typeface="+mn-cs"/>
              </a:rPr>
              <a:t> ("</a:t>
            </a:r>
            <a:r>
              <a:rPr lang="ja-JP" altLang="en-US" sz="2000" dirty="0">
                <a:solidFill>
                  <a:srgbClr val="FF0000"/>
                </a:solidFill>
                <a:ea typeface="ＭＳ Ｐゴシック" pitchFamily="-112" charset="-128"/>
                <a:cs typeface="+mn-cs"/>
              </a:rPr>
              <a:t>その数は負です。</a:t>
            </a:r>
            <a:r>
              <a:rPr lang="en-US" altLang="ja-JP" sz="2000" dirty="0">
                <a:solidFill>
                  <a:srgbClr val="FF0000"/>
                </a:solidFill>
                <a:ea typeface="ＭＳ Ｐゴシック" pitchFamily="-112" charset="-128"/>
                <a:cs typeface="+mn-cs"/>
              </a:rPr>
              <a:t>\n");</a:t>
            </a:r>
          </a:p>
          <a:p>
            <a:pPr>
              <a:defRPr/>
            </a:pPr>
            <a:r>
              <a:rPr lang="en-US" altLang="ja-JP" sz="2000" dirty="0">
                <a:ea typeface="ＭＳ Ｐゴシック" pitchFamily="-112" charset="-128"/>
                <a:cs typeface="+mn-cs"/>
              </a:rPr>
              <a:t>	return 0;</a:t>
            </a:r>
          </a:p>
          <a:p>
            <a:pPr>
              <a:defRPr/>
            </a:pPr>
            <a:r>
              <a:rPr lang="en-US" altLang="ja-JP" sz="2000" dirty="0">
                <a:ea typeface="ＭＳ Ｐゴシック" pitchFamily="-112" charset="-128"/>
                <a:cs typeface="+mn-cs"/>
              </a:rPr>
              <a:t>}</a:t>
            </a:r>
          </a:p>
        </p:txBody>
      </p:sp>
      <p:sp>
        <p:nvSpPr>
          <p:cNvPr id="33798" name="テキスト ボックス 7"/>
          <p:cNvSpPr txBox="1">
            <a:spLocks noChangeArrowheads="1"/>
          </p:cNvSpPr>
          <p:nvPr/>
        </p:nvSpPr>
        <p:spPr bwMode="auto">
          <a:xfrm>
            <a:off x="5715000" y="3857625"/>
            <a:ext cx="3000375" cy="15700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a:t>赤字の部分は</a:t>
            </a:r>
            <a:r>
              <a:rPr lang="en-US" altLang="ja-JP" sz="2400"/>
              <a:t>if</a:t>
            </a:r>
            <a:r>
              <a:rPr lang="ja-JP" altLang="en-US" sz="2400"/>
              <a:t>文であり、外側の</a:t>
            </a:r>
            <a:r>
              <a:rPr lang="en-US" altLang="ja-JP" sz="2400"/>
              <a:t>if</a:t>
            </a:r>
            <a:r>
              <a:rPr lang="ja-JP" altLang="en-US" sz="2400"/>
              <a:t>文の</a:t>
            </a:r>
            <a:r>
              <a:rPr lang="en-US" altLang="ja-JP" sz="2400"/>
              <a:t>else</a:t>
            </a:r>
            <a:r>
              <a:rPr lang="ja-JP" altLang="en-US" sz="2400"/>
              <a:t>パートを成している。</a:t>
            </a:r>
          </a:p>
        </p:txBody>
      </p:sp>
    </p:spTree>
    <p:extLst>
      <p:ext uri="{BB962C8B-B14F-4D97-AF65-F5344CB8AC3E}">
        <p14:creationId xmlns:p14="http://schemas.microsoft.com/office/powerpoint/2010/main" val="163718217"/>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571500" y="285750"/>
            <a:ext cx="7620000" cy="685800"/>
          </a:xfrm>
        </p:spPr>
        <p:txBody>
          <a:bodyPr/>
          <a:lstStyle/>
          <a:p>
            <a:r>
              <a:rPr kumimoji="0" lang="ja-JP" altLang="en-US" sz="3400">
                <a:latin typeface="Syntax" charset="0"/>
              </a:rPr>
              <a:t>大小関係を比較する　～　関係演算子 </a:t>
            </a:r>
            <a:r>
              <a:rPr kumimoji="0" lang="en-US" altLang="ja-JP" sz="3400">
                <a:latin typeface="Syntax" charset="0"/>
              </a:rPr>
              <a:t>&gt;</a:t>
            </a:r>
            <a:endParaRPr kumimoji="0" lang="ja-JP" altLang="en-US" sz="3400">
              <a:latin typeface="Syntax" charset="0"/>
            </a:endParaRPr>
          </a:p>
        </p:txBody>
      </p:sp>
      <p:sp>
        <p:nvSpPr>
          <p:cNvPr id="34821" name="テキスト ボックス 13"/>
          <p:cNvSpPr txBox="1">
            <a:spLocks noChangeArrowheads="1"/>
          </p:cNvSpPr>
          <p:nvPr/>
        </p:nvSpPr>
        <p:spPr bwMode="auto">
          <a:xfrm>
            <a:off x="714375" y="5000625"/>
            <a:ext cx="621506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この比較式自体、式である。</a:t>
            </a:r>
            <a:r>
              <a:rPr lang="en-US" altLang="ja-JP" sz="2000"/>
              <a:t>==</a:t>
            </a:r>
            <a:r>
              <a:rPr lang="ja-JP" altLang="en-US" sz="2000"/>
              <a:t>や</a:t>
            </a:r>
            <a:r>
              <a:rPr lang="en-US" altLang="ja-JP" sz="2000"/>
              <a:t>!=</a:t>
            </a:r>
            <a:r>
              <a:rPr lang="ja-JP" altLang="en-US" sz="2000"/>
              <a:t>と同様、典型的には</a:t>
            </a:r>
            <a:r>
              <a:rPr lang="en-US" altLang="ja-JP" sz="2000"/>
              <a:t>if</a:t>
            </a:r>
            <a:r>
              <a:rPr lang="ja-JP" altLang="en-US" sz="2000"/>
              <a:t>文の条件部分に使われるが、その他にも、式が書けるところなら自由に書くことができる。</a:t>
            </a:r>
            <a:endParaRPr lang="en-US" altLang="ja-JP" sz="2000"/>
          </a:p>
          <a:p>
            <a:r>
              <a:rPr lang="ja-JP" altLang="en-US" sz="2000"/>
              <a:t>比較演算子には、</a:t>
            </a:r>
            <a:r>
              <a:rPr lang="en-US" altLang="ja-JP" sz="2000"/>
              <a:t>&lt; </a:t>
            </a:r>
            <a:r>
              <a:rPr lang="ja-JP" altLang="en-US" sz="2000"/>
              <a:t>以外に、</a:t>
            </a:r>
            <a:r>
              <a:rPr lang="en-US" altLang="ja-JP" sz="2000"/>
              <a:t>&gt;, &lt;=, &gt;= </a:t>
            </a:r>
            <a:r>
              <a:rPr lang="ja-JP" altLang="en-US" sz="2000"/>
              <a:t>もある。</a:t>
            </a:r>
            <a:endParaRPr lang="en-US" altLang="ja-JP" sz="2000"/>
          </a:p>
        </p:txBody>
      </p:sp>
      <p:sp>
        <p:nvSpPr>
          <p:cNvPr id="34822" name="正方形/長方形 7"/>
          <p:cNvSpPr>
            <a:spLocks noChangeArrowheads="1"/>
          </p:cNvSpPr>
          <p:nvPr/>
        </p:nvSpPr>
        <p:spPr bwMode="auto">
          <a:xfrm>
            <a:off x="1285875" y="1857375"/>
            <a:ext cx="3714750" cy="523875"/>
          </a:xfrm>
          <a:prstGeom prst="rect">
            <a:avLst/>
          </a:prstGeom>
          <a:solidFill>
            <a:srgbClr val="FFFF00"/>
          </a:solidFill>
          <a:ln w="9525">
            <a:solidFill>
              <a:schemeClr val="tx1"/>
            </a:solidFill>
            <a:miter lim="800000"/>
            <a:headEnd/>
            <a:tailEnd/>
          </a:ln>
        </p:spPr>
        <p:txBody>
          <a:bodyPr>
            <a:spAutoFit/>
          </a:bodyPr>
          <a:lstStyle/>
          <a:p>
            <a:r>
              <a:rPr lang="ja-JP" altLang="en-US" sz="2800"/>
              <a:t> ＜式＞    </a:t>
            </a:r>
            <a:r>
              <a:rPr lang="en-US" altLang="ja-JP" sz="2800"/>
              <a:t>&gt;     </a:t>
            </a:r>
            <a:r>
              <a:rPr lang="ja-JP" altLang="en-US" sz="2800"/>
              <a:t>＜式＞</a:t>
            </a:r>
          </a:p>
        </p:txBody>
      </p:sp>
      <p:sp>
        <p:nvSpPr>
          <p:cNvPr id="34823" name="正方形/長方形 8"/>
          <p:cNvSpPr>
            <a:spLocks noChangeArrowheads="1"/>
          </p:cNvSpPr>
          <p:nvPr/>
        </p:nvSpPr>
        <p:spPr bwMode="auto">
          <a:xfrm>
            <a:off x="571500" y="1214438"/>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ja-JP" altLang="en-US" sz="2800"/>
              <a:t>大小比較式の構文</a:t>
            </a:r>
          </a:p>
        </p:txBody>
      </p:sp>
      <p:sp>
        <p:nvSpPr>
          <p:cNvPr id="34824" name="正方形/長方形 11"/>
          <p:cNvSpPr>
            <a:spLocks noChangeArrowheads="1"/>
          </p:cNvSpPr>
          <p:nvPr/>
        </p:nvSpPr>
        <p:spPr bwMode="auto">
          <a:xfrm>
            <a:off x="1285875" y="3429000"/>
            <a:ext cx="7429500" cy="1200150"/>
          </a:xfrm>
          <a:prstGeom prst="rect">
            <a:avLst/>
          </a:prstGeom>
          <a:solidFill>
            <a:srgbClr val="CCFFCC"/>
          </a:solidFill>
          <a:ln w="9525">
            <a:solidFill>
              <a:schemeClr val="tx1"/>
            </a:solidFill>
            <a:miter lim="800000"/>
            <a:headEnd/>
            <a:tailEnd/>
          </a:ln>
        </p:spPr>
        <p:txBody>
          <a:bodyPr>
            <a:spAutoFit/>
          </a:bodyPr>
          <a:lstStyle/>
          <a:p>
            <a:r>
              <a:rPr lang="ja-JP" altLang="en-US" sz="2400"/>
              <a:t>式</a:t>
            </a:r>
            <a:r>
              <a:rPr lang="en-US" altLang="ja-JP" sz="2400"/>
              <a:t>e1, e2</a:t>
            </a:r>
            <a:r>
              <a:rPr lang="ja-JP" altLang="en-US" sz="2400"/>
              <a:t>を評価し、その結果を</a:t>
            </a:r>
            <a:r>
              <a:rPr lang="en-US" altLang="ja-JP" sz="2400"/>
              <a:t>v1, v2</a:t>
            </a:r>
            <a:r>
              <a:rPr lang="ja-JP" altLang="en-US" sz="2400"/>
              <a:t>とする。</a:t>
            </a:r>
            <a:r>
              <a:rPr lang="en-US" altLang="ja-JP" sz="2400"/>
              <a:t>v1</a:t>
            </a:r>
            <a:r>
              <a:rPr lang="ja-JP" altLang="en-US" sz="2400"/>
              <a:t>が</a:t>
            </a:r>
            <a:r>
              <a:rPr lang="en-US" altLang="ja-JP" sz="2400"/>
              <a:t>v2</a:t>
            </a:r>
            <a:r>
              <a:rPr lang="ja-JP" altLang="en-US" sz="2400"/>
              <a:t>より大きければ</a:t>
            </a:r>
            <a:r>
              <a:rPr lang="en-US" altLang="ja-JP" sz="2400"/>
              <a:t>1</a:t>
            </a:r>
            <a:r>
              <a:rPr lang="ja-JP" altLang="en-US" sz="2400"/>
              <a:t>，そうでなければ</a:t>
            </a:r>
            <a:r>
              <a:rPr lang="en-US" altLang="ja-JP" sz="2400"/>
              <a:t>0</a:t>
            </a:r>
            <a:r>
              <a:rPr lang="ja-JP" altLang="en-US" sz="2400"/>
              <a:t>が、式</a:t>
            </a:r>
            <a:r>
              <a:rPr lang="en-US" altLang="ja-JP" sz="2400"/>
              <a:t>e1&gt;e2</a:t>
            </a:r>
            <a:r>
              <a:rPr lang="ja-JP" altLang="en-US" sz="2400"/>
              <a:t>の評価結果である。</a:t>
            </a:r>
          </a:p>
        </p:txBody>
      </p:sp>
      <p:sp>
        <p:nvSpPr>
          <p:cNvPr id="34825" name="正方形/長方形 14"/>
          <p:cNvSpPr>
            <a:spLocks noChangeArrowheads="1"/>
          </p:cNvSpPr>
          <p:nvPr/>
        </p:nvSpPr>
        <p:spPr bwMode="auto">
          <a:xfrm>
            <a:off x="500063" y="2786063"/>
            <a:ext cx="4764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ja-JP" sz="2800"/>
              <a:t> </a:t>
            </a:r>
            <a:r>
              <a:rPr lang="ja-JP" altLang="en-US" sz="2800"/>
              <a:t>大小比較式  </a:t>
            </a:r>
            <a:r>
              <a:rPr lang="en-US" altLang="ja-JP" sz="2800"/>
              <a:t>e1 &gt; e2  </a:t>
            </a:r>
            <a:r>
              <a:rPr lang="ja-JP" altLang="en-US" sz="2800"/>
              <a:t>の意味</a:t>
            </a:r>
            <a:endParaRPr lang="en-US" altLang="ja-JP" sz="2800"/>
          </a:p>
        </p:txBody>
      </p:sp>
    </p:spTree>
    <p:extLst>
      <p:ext uri="{BB962C8B-B14F-4D97-AF65-F5344CB8AC3E}">
        <p14:creationId xmlns:p14="http://schemas.microsoft.com/office/powerpoint/2010/main" val="4198146233"/>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571500" y="285750"/>
            <a:ext cx="7620000" cy="685800"/>
          </a:xfrm>
        </p:spPr>
        <p:txBody>
          <a:bodyPr/>
          <a:lstStyle/>
          <a:p>
            <a:r>
              <a:rPr kumimoji="0" lang="ja-JP" altLang="en-US" sz="3400">
                <a:latin typeface="Calibri" charset="0"/>
              </a:rPr>
              <a:t>大小関係を比較する　～　関係演算子</a:t>
            </a:r>
          </a:p>
        </p:txBody>
      </p:sp>
      <p:graphicFrame>
        <p:nvGraphicFramePr>
          <p:cNvPr id="272442" name="Group 58"/>
          <p:cNvGraphicFramePr>
            <a:graphicFrameLocks noGrp="1"/>
          </p:cNvGraphicFramePr>
          <p:nvPr>
            <p:ph sz="half" idx="1"/>
          </p:nvPr>
        </p:nvGraphicFramePr>
        <p:xfrm>
          <a:off x="357188" y="1428750"/>
          <a:ext cx="8572500" cy="3462654"/>
        </p:xfrm>
        <a:graphic>
          <a:graphicData uri="http://schemas.openxmlformats.org/drawingml/2006/table">
            <a:tbl>
              <a:tblPr/>
              <a:tblGrid>
                <a:gridCol w="1463603"/>
                <a:gridCol w="7108897"/>
              </a:tblGrid>
              <a:tr h="658606">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比較式</a:t>
                      </a:r>
                      <a:endPar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意味</a:t>
                      </a:r>
                      <a:endPar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 e1 &lt;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より小さければ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e1&lt;e2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の評価結果である。</a:t>
                      </a:r>
                      <a:endPar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&gt;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 </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より大きければ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e1&gt;e2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の評価結果である。</a:t>
                      </a: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 </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&lt;=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defRPr/>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以下のとき</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e1&lt;=e2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の評価結果である。</a:t>
                      </a:r>
                      <a:endPar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endParaRP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700933">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 e1 &gt;= e2</a:t>
                      </a:r>
                    </a:p>
                  </a:txBody>
                  <a:tcPr marL="91439" marR="91439" marT="45706" marB="4570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112" charset="2"/>
                        <a:buNone/>
                        <a:tabLst/>
                        <a:defRPr/>
                      </a:pP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 e2</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を評</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価し、その結果を</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 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とすると、</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v1</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v2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以上のとき</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1</a:t>
                      </a:r>
                      <a:r>
                        <a:rPr kumimoji="0" lang="ja-JP" altLang="en-US" sz="2000" b="0" i="0" u="none" strike="noStrike" cap="none" normalizeH="0" baseline="0" dirty="0" err="1" smtClean="0">
                          <a:ln>
                            <a:noFill/>
                          </a:ln>
                          <a:solidFill>
                            <a:schemeClr val="tx1"/>
                          </a:solidFill>
                          <a:effectLst/>
                          <a:latin typeface="News Gothic" pitchFamily="34" charset="0"/>
                          <a:ea typeface="ＭＳ Ｐゴシック" pitchFamily="-112" charset="-128"/>
                        </a:rPr>
                        <a:t>，</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そうでなければ</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0</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が、式</a:t>
                      </a:r>
                      <a:r>
                        <a:rPr kumimoji="0" lang="en-US" altLang="ja-JP" sz="2000" b="0" i="0" u="none" strike="noStrike" cap="none" normalizeH="0" baseline="0" dirty="0" smtClean="0">
                          <a:ln>
                            <a:noFill/>
                          </a:ln>
                          <a:solidFill>
                            <a:schemeClr val="tx1"/>
                          </a:solidFill>
                          <a:effectLst/>
                          <a:latin typeface="News Gothic" pitchFamily="34" charset="0"/>
                          <a:ea typeface="ＭＳ Ｐゴシック" pitchFamily="-112" charset="-128"/>
                        </a:rPr>
                        <a:t>e1&gt;=e2</a:t>
                      </a:r>
                      <a:r>
                        <a:rPr kumimoji="0" lang="ja-JP" altLang="en-US" sz="2000" b="0" i="0" u="none" strike="noStrike" cap="none" normalizeH="0" baseline="0" dirty="0" smtClean="0">
                          <a:ln>
                            <a:noFill/>
                          </a:ln>
                          <a:solidFill>
                            <a:schemeClr val="tx1"/>
                          </a:solidFill>
                          <a:effectLst/>
                          <a:latin typeface="News Gothic" pitchFamily="34" charset="0"/>
                          <a:ea typeface="ＭＳ Ｐゴシック" pitchFamily="-112" charset="-128"/>
                        </a:rPr>
                        <a:t>の評価結果である。</a:t>
                      </a:r>
                    </a:p>
                  </a:txBody>
                  <a:tcPr marL="91439" marR="91439" marT="45706" marB="4570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Tree>
    <p:extLst>
      <p:ext uri="{BB962C8B-B14F-4D97-AF65-F5344CB8AC3E}">
        <p14:creationId xmlns:p14="http://schemas.microsoft.com/office/powerpoint/2010/main" val="1566333143"/>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タイトル 8"/>
          <p:cNvSpPr>
            <a:spLocks noGrp="1"/>
          </p:cNvSpPr>
          <p:nvPr>
            <p:ph type="title"/>
          </p:nvPr>
        </p:nvSpPr>
        <p:spPr>
          <a:xfrm>
            <a:off x="457200" y="274638"/>
            <a:ext cx="8229600" cy="889529"/>
          </a:xfrm>
        </p:spPr>
        <p:txBody>
          <a:bodyPr>
            <a:normAutofit/>
          </a:bodyPr>
          <a:lstStyle/>
          <a:p>
            <a:r>
              <a:rPr lang="ja-JP" altLang="en-US" sz="3600" dirty="0">
                <a:latin typeface="Calibri" charset="0"/>
              </a:rPr>
              <a:t>基本課題１</a:t>
            </a:r>
          </a:p>
        </p:txBody>
      </p:sp>
      <p:sp>
        <p:nvSpPr>
          <p:cNvPr id="36869" name="テキスト ボックス 7"/>
          <p:cNvSpPr txBox="1">
            <a:spLocks noChangeArrowheads="1"/>
          </p:cNvSpPr>
          <p:nvPr/>
        </p:nvSpPr>
        <p:spPr bwMode="auto">
          <a:xfrm>
            <a:off x="468313" y="1341438"/>
            <a:ext cx="792003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400" dirty="0"/>
              <a:t>キーボードから金額を</a:t>
            </a:r>
            <a:r>
              <a:rPr lang="en-US" altLang="ja-JP" sz="2400" dirty="0" err="1"/>
              <a:t>int</a:t>
            </a:r>
            <a:r>
              <a:rPr lang="ja-JP" altLang="en-US" sz="2400" dirty="0"/>
              <a:t>型で読み込み、それに対し消費税を含む金額を計算するプログラムを書け。ただし、消費税は</a:t>
            </a:r>
            <a:r>
              <a:rPr lang="en-US" altLang="ja-JP" sz="2400" dirty="0"/>
              <a:t>5%</a:t>
            </a:r>
            <a:r>
              <a:rPr lang="ja-JP" altLang="en-US" sz="2400" dirty="0"/>
              <a:t>で、小数点以下は切り捨てとする。</a:t>
            </a:r>
            <a:endParaRPr lang="en-US" altLang="ja-JP" sz="2400" dirty="0"/>
          </a:p>
          <a:p>
            <a:endParaRPr lang="en-US" altLang="ja-JP" sz="2400" dirty="0"/>
          </a:p>
          <a:p>
            <a:r>
              <a:rPr lang="en-US" altLang="ja-JP" sz="2400" dirty="0"/>
              <a:t>[</a:t>
            </a:r>
            <a:r>
              <a:rPr lang="ja-JP" altLang="en-US" sz="2400" dirty="0"/>
              <a:t>実行例</a:t>
            </a:r>
            <a:r>
              <a:rPr lang="en-US" altLang="ja-JP" sz="2400" dirty="0"/>
              <a:t>]</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 ./</a:t>
            </a:r>
            <a:r>
              <a:rPr lang="en-US" altLang="ja-JP" sz="2400" dirty="0" smtClean="0"/>
              <a:t>kihon1-</a:t>
            </a:r>
            <a:r>
              <a:rPr lang="en-US" altLang="ja-JP" sz="2400" dirty="0"/>
              <a:t>1</a:t>
            </a:r>
          </a:p>
          <a:p>
            <a:r>
              <a:rPr lang="ja-JP" altLang="en-US" sz="2400" dirty="0"/>
              <a:t>金額を入力してください</a:t>
            </a:r>
            <a:r>
              <a:rPr lang="en-US" altLang="ja-JP" sz="2400" dirty="0"/>
              <a:t>: </a:t>
            </a:r>
            <a:r>
              <a:rPr lang="en-US" altLang="ja-JP" sz="2400" dirty="0">
                <a:solidFill>
                  <a:srgbClr val="FF0000"/>
                </a:solidFill>
              </a:rPr>
              <a:t>100</a:t>
            </a:r>
          </a:p>
          <a:p>
            <a:r>
              <a:rPr lang="ja-JP" altLang="en-US" sz="2400" dirty="0"/>
              <a:t>消費税を含めた金額は</a:t>
            </a:r>
            <a:r>
              <a:rPr lang="en-US" altLang="ja-JP" sz="2400" dirty="0"/>
              <a:t>105</a:t>
            </a:r>
            <a:r>
              <a:rPr lang="ja-JP" altLang="en-US" sz="2400" dirty="0"/>
              <a:t>円です</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a:t>
            </a:r>
          </a:p>
          <a:p>
            <a:endParaRPr lang="en-US" altLang="ja-JP" sz="2400" dirty="0"/>
          </a:p>
          <a:p>
            <a:r>
              <a:rPr kumimoji="0" lang="en-US" altLang="ja-JP" sz="2400" dirty="0"/>
              <a:t>(</a:t>
            </a:r>
            <a:r>
              <a:rPr kumimoji="0" lang="ja-JP" altLang="en-US" sz="2400" dirty="0"/>
              <a:t>実行例において、赤字がキーボードからの入力部分である。）</a:t>
            </a:r>
            <a:endParaRPr lang="ja-JP" altLang="en-US" sz="2400" dirty="0"/>
          </a:p>
        </p:txBody>
      </p:sp>
    </p:spTree>
    <p:extLst>
      <p:ext uri="{BB962C8B-B14F-4D97-AF65-F5344CB8AC3E}">
        <p14:creationId xmlns:p14="http://schemas.microsoft.com/office/powerpoint/2010/main" val="4275404833"/>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タイトル 1"/>
          <p:cNvSpPr>
            <a:spLocks noGrp="1"/>
          </p:cNvSpPr>
          <p:nvPr>
            <p:ph type="title"/>
          </p:nvPr>
        </p:nvSpPr>
        <p:spPr>
          <a:xfrm>
            <a:off x="457200" y="274638"/>
            <a:ext cx="8229600" cy="868362"/>
          </a:xfrm>
        </p:spPr>
        <p:txBody>
          <a:bodyPr>
            <a:normAutofit/>
          </a:bodyPr>
          <a:lstStyle/>
          <a:p>
            <a:r>
              <a:rPr lang="ja-JP" altLang="en-US" sz="3600" dirty="0">
                <a:latin typeface="Calibri" charset="0"/>
              </a:rPr>
              <a:t>基本課題２</a:t>
            </a:r>
          </a:p>
        </p:txBody>
      </p:sp>
      <p:sp>
        <p:nvSpPr>
          <p:cNvPr id="37894" name="テキスト ボックス 9"/>
          <p:cNvSpPr txBox="1">
            <a:spLocks noChangeArrowheads="1"/>
          </p:cNvSpPr>
          <p:nvPr/>
        </p:nvSpPr>
        <p:spPr bwMode="auto">
          <a:xfrm>
            <a:off x="309662" y="1282682"/>
            <a:ext cx="874871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000" dirty="0"/>
              <a:t> </a:t>
            </a:r>
            <a:r>
              <a:rPr lang="en-US" altLang="ja-JP" sz="2000" dirty="0" err="1"/>
              <a:t>int</a:t>
            </a:r>
            <a:r>
              <a:rPr lang="ja-JP" altLang="en-US" sz="2000" dirty="0" smtClean="0"/>
              <a:t>型の</a:t>
            </a:r>
            <a:r>
              <a:rPr lang="ja-JP" altLang="en-US" sz="2000" dirty="0" smtClean="0"/>
              <a:t>正の</a:t>
            </a:r>
            <a:r>
              <a:rPr lang="ja-JP" altLang="en-US" sz="2000" dirty="0" smtClean="0"/>
              <a:t>値</a:t>
            </a:r>
            <a:r>
              <a:rPr lang="ja-JP" altLang="en-US" sz="2000" dirty="0"/>
              <a:t>をキーボードから読み込み</a:t>
            </a:r>
            <a:r>
              <a:rPr lang="ja-JP" altLang="en-US" sz="2000" dirty="0" smtClean="0"/>
              <a:t>、それ</a:t>
            </a:r>
            <a:r>
              <a:rPr lang="ja-JP" altLang="en-US" sz="2000" dirty="0"/>
              <a:t>が偶数か奇数かを判定し、結果を画面上に表示するプログラムを作成せよ</a:t>
            </a:r>
            <a:r>
              <a:rPr lang="ja-JP" altLang="en-US" sz="2000" dirty="0" smtClean="0"/>
              <a:t>。</a:t>
            </a:r>
            <a:r>
              <a:rPr lang="ja-JP" altLang="en-US" sz="2000" dirty="0" smtClean="0"/>
              <a:t>入力された値が負の数の場合は正の数ではありませんと表示するようにせよ。</a:t>
            </a:r>
            <a:endParaRPr lang="ja-JP" altLang="en-US" sz="2000" dirty="0"/>
          </a:p>
        </p:txBody>
      </p:sp>
      <p:sp>
        <p:nvSpPr>
          <p:cNvPr id="2" name="正方形/長方形 1"/>
          <p:cNvSpPr/>
          <p:nvPr/>
        </p:nvSpPr>
        <p:spPr>
          <a:xfrm>
            <a:off x="457201" y="2481350"/>
            <a:ext cx="8105266" cy="4154983"/>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a:t>
            </a:r>
            <a:r>
              <a:rPr lang="en-US" altLang="ja-JP" sz="2400" dirty="0" err="1"/>
              <a:t>sasano@sasano-no-MacBook-Air</a:t>
            </a:r>
            <a:r>
              <a:rPr lang="en-US" altLang="ja-JP" sz="2400" dirty="0"/>
              <a:t> enshu2012]% ./kihon1-2</a:t>
            </a:r>
          </a:p>
          <a:p>
            <a:r>
              <a:rPr lang="ja-JP" altLang="en-US" sz="2400" dirty="0"/>
              <a:t>正の整数を入力してください</a:t>
            </a:r>
            <a:r>
              <a:rPr lang="en-US" altLang="ja-JP" sz="2400" dirty="0"/>
              <a:t>: </a:t>
            </a:r>
            <a:r>
              <a:rPr lang="en-US" altLang="ja-JP" sz="2400" dirty="0">
                <a:solidFill>
                  <a:srgbClr val="FF0000"/>
                </a:solidFill>
              </a:rPr>
              <a:t>100</a:t>
            </a:r>
          </a:p>
          <a:p>
            <a:r>
              <a:rPr lang="en-US" altLang="ja-JP" sz="2400" dirty="0"/>
              <a:t>100</a:t>
            </a:r>
            <a:r>
              <a:rPr lang="ja-JP" altLang="en-US" sz="2400" dirty="0"/>
              <a:t>は偶数です</a:t>
            </a:r>
          </a:p>
          <a:p>
            <a:r>
              <a:rPr lang="en-US" altLang="ja-JP" sz="2400" dirty="0"/>
              <a:t>[</a:t>
            </a:r>
            <a:r>
              <a:rPr lang="en-US" altLang="ja-JP" sz="2400" dirty="0" err="1"/>
              <a:t>sasano@sasano-no-MacBook-Air</a:t>
            </a:r>
            <a:r>
              <a:rPr lang="en-US" altLang="ja-JP" sz="2400" dirty="0"/>
              <a:t> enshu2012]% ./kihon1-2</a:t>
            </a:r>
          </a:p>
          <a:p>
            <a:r>
              <a:rPr lang="ja-JP" altLang="en-US" sz="2400" dirty="0"/>
              <a:t>正の整数を入力してください</a:t>
            </a:r>
            <a:r>
              <a:rPr lang="en-US" altLang="ja-JP" sz="2400" dirty="0"/>
              <a:t>: </a:t>
            </a:r>
            <a:r>
              <a:rPr lang="en-US" altLang="ja-JP" sz="2400" dirty="0">
                <a:solidFill>
                  <a:srgbClr val="FF0000"/>
                </a:solidFill>
              </a:rPr>
              <a:t>99</a:t>
            </a:r>
          </a:p>
          <a:p>
            <a:r>
              <a:rPr lang="en-US" altLang="ja-JP" sz="2400" dirty="0"/>
              <a:t>99</a:t>
            </a:r>
            <a:r>
              <a:rPr lang="ja-JP" altLang="en-US" sz="2400" dirty="0"/>
              <a:t>は奇数です</a:t>
            </a:r>
          </a:p>
          <a:p>
            <a:r>
              <a:rPr lang="en-US" altLang="ja-JP" sz="2400" dirty="0"/>
              <a:t>[</a:t>
            </a:r>
            <a:r>
              <a:rPr lang="en-US" altLang="ja-JP" sz="2400" dirty="0" err="1"/>
              <a:t>sasano@sasano-no-MacBook-Air</a:t>
            </a:r>
            <a:r>
              <a:rPr lang="en-US" altLang="ja-JP" sz="2400" dirty="0"/>
              <a:t> enshu2012]% ./kihon1-2</a:t>
            </a:r>
          </a:p>
          <a:p>
            <a:r>
              <a:rPr lang="ja-JP" altLang="en-US" sz="2400" dirty="0"/>
              <a:t>正の整数を入力してください</a:t>
            </a:r>
            <a:r>
              <a:rPr lang="en-US" altLang="ja-JP" sz="2400" dirty="0"/>
              <a:t>: </a:t>
            </a:r>
            <a:r>
              <a:rPr lang="en-US" altLang="ja-JP" sz="2400" dirty="0">
                <a:solidFill>
                  <a:srgbClr val="FF0000"/>
                </a:solidFill>
              </a:rPr>
              <a:t>-3</a:t>
            </a:r>
          </a:p>
          <a:p>
            <a:r>
              <a:rPr lang="en-US" altLang="ja-JP" sz="2400" dirty="0"/>
              <a:t>-3</a:t>
            </a:r>
            <a:r>
              <a:rPr lang="ja-JP" altLang="en-US" sz="2400" dirty="0"/>
              <a:t>は正の整数ではありません</a:t>
            </a:r>
          </a:p>
          <a:p>
            <a:r>
              <a:rPr lang="en-US" altLang="ja-JP" sz="2400" dirty="0"/>
              <a:t>[</a:t>
            </a:r>
            <a:r>
              <a:rPr lang="en-US" altLang="ja-JP" sz="2400" dirty="0" err="1"/>
              <a:t>sasano@sasano-no-MacBook-Air</a:t>
            </a:r>
            <a:r>
              <a:rPr lang="en-US" altLang="ja-JP" sz="2400" dirty="0"/>
              <a:t> enshu2012]% </a:t>
            </a:r>
          </a:p>
        </p:txBody>
      </p:sp>
    </p:spTree>
    <p:extLst>
      <p:ext uri="{BB962C8B-B14F-4D97-AF65-F5344CB8AC3E}">
        <p14:creationId xmlns:p14="http://schemas.microsoft.com/office/powerpoint/2010/main" val="426508746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タイトル 1"/>
          <p:cNvSpPr>
            <a:spLocks noGrp="1"/>
          </p:cNvSpPr>
          <p:nvPr>
            <p:ph type="title"/>
          </p:nvPr>
        </p:nvSpPr>
        <p:spPr>
          <a:xfrm>
            <a:off x="457200" y="274638"/>
            <a:ext cx="8229600" cy="773112"/>
          </a:xfrm>
        </p:spPr>
        <p:txBody>
          <a:bodyPr>
            <a:normAutofit/>
          </a:bodyPr>
          <a:lstStyle/>
          <a:p>
            <a:r>
              <a:rPr lang="ja-JP" altLang="en-US" sz="3600" dirty="0">
                <a:latin typeface="Calibri" charset="0"/>
              </a:rPr>
              <a:t>発展課題１</a:t>
            </a:r>
          </a:p>
        </p:txBody>
      </p:sp>
      <p:sp>
        <p:nvSpPr>
          <p:cNvPr id="38917" name="テキスト ボックス 8"/>
          <p:cNvSpPr txBox="1">
            <a:spLocks noChangeArrowheads="1"/>
          </p:cNvSpPr>
          <p:nvPr/>
        </p:nvSpPr>
        <p:spPr bwMode="auto">
          <a:xfrm>
            <a:off x="539750" y="1196975"/>
            <a:ext cx="8135938"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dirty="0"/>
              <a:t>西暦の年数</a:t>
            </a:r>
            <a:r>
              <a:rPr lang="en-US" altLang="ja-JP" sz="2000" dirty="0"/>
              <a:t>(1868</a:t>
            </a:r>
            <a:r>
              <a:rPr lang="ja-JP" altLang="en-US" sz="2000" dirty="0"/>
              <a:t>年以降</a:t>
            </a:r>
            <a:r>
              <a:rPr lang="en-US" altLang="ja-JP" sz="2000" dirty="0"/>
              <a:t>)</a:t>
            </a:r>
            <a:r>
              <a:rPr lang="ja-JP" altLang="en-US" sz="2000" dirty="0"/>
              <a:t>をキーボードから読み込み、明治、大正、昭和、平成の表記に変換し、画面上に表示するプログラムを作成せよ。ただし、平成は永久に続くと仮定する。また、</a:t>
            </a:r>
            <a:r>
              <a:rPr lang="en-US" altLang="ja-JP" sz="2000" dirty="0"/>
              <a:t>1</a:t>
            </a:r>
            <a:r>
              <a:rPr lang="ja-JP" altLang="en-US" sz="2000" dirty="0"/>
              <a:t>年は元年と表示するようにせよ。境目の年（明治</a:t>
            </a:r>
            <a:r>
              <a:rPr lang="en-US" altLang="ja-JP" sz="2000" dirty="0"/>
              <a:t>45</a:t>
            </a:r>
            <a:r>
              <a:rPr lang="ja-JP" altLang="en-US" sz="2000" dirty="0"/>
              <a:t>年と大正元年、大正</a:t>
            </a:r>
            <a:r>
              <a:rPr lang="en-US" altLang="ja-JP" sz="2000" dirty="0"/>
              <a:t>15</a:t>
            </a:r>
            <a:r>
              <a:rPr lang="ja-JP" altLang="en-US" sz="2000" dirty="0"/>
              <a:t>年と昭和元年、昭和</a:t>
            </a:r>
            <a:r>
              <a:rPr lang="en-US" altLang="ja-JP" sz="2000" dirty="0"/>
              <a:t>64</a:t>
            </a:r>
            <a:r>
              <a:rPr lang="ja-JP" altLang="en-US" sz="2000" dirty="0"/>
              <a:t>年と平成元年）は、新しい元号で表示するようにせよ。</a:t>
            </a:r>
            <a:endParaRPr lang="en-US" altLang="ja-JP" sz="2000" dirty="0"/>
          </a:p>
          <a:p>
            <a:endParaRPr lang="en-US" altLang="ja-JP" sz="2000" dirty="0"/>
          </a:p>
          <a:p>
            <a:r>
              <a:rPr lang="en-US" altLang="ja-JP" sz="2000" dirty="0"/>
              <a:t>[</a:t>
            </a:r>
            <a:r>
              <a:rPr lang="ja-JP" altLang="en-US" sz="2000" dirty="0"/>
              <a:t>実行例</a:t>
            </a:r>
            <a:r>
              <a:rPr lang="en-US" altLang="ja-JP" sz="2000" dirty="0"/>
              <a:t>]</a:t>
            </a:r>
          </a:p>
          <a:p>
            <a:r>
              <a:rPr lang="en-US" altLang="ja-JP" sz="2000" dirty="0"/>
              <a:t>[</a:t>
            </a:r>
            <a:r>
              <a:rPr lang="en-US" altLang="ja-JP" sz="2000" dirty="0" err="1"/>
              <a:t>sasano@localhost</a:t>
            </a:r>
            <a:r>
              <a:rPr lang="en-US" altLang="ja-JP" sz="2000" dirty="0"/>
              <a:t> </a:t>
            </a:r>
            <a:r>
              <a:rPr lang="en-US" altLang="ja-JP" sz="2000" dirty="0" err="1"/>
              <a:t>enshu</a:t>
            </a:r>
            <a:r>
              <a:rPr lang="en-US" altLang="ja-JP" sz="2000" dirty="0"/>
              <a:t>]$ ./hatten2</a:t>
            </a:r>
          </a:p>
          <a:p>
            <a:r>
              <a:rPr lang="ja-JP" altLang="en-US" sz="2000" dirty="0"/>
              <a:t>西暦</a:t>
            </a:r>
            <a:r>
              <a:rPr lang="en-US" altLang="ja-JP" sz="2000" dirty="0"/>
              <a:t>(1868</a:t>
            </a:r>
            <a:r>
              <a:rPr lang="ja-JP" altLang="en-US" sz="2000" dirty="0"/>
              <a:t>年以降</a:t>
            </a:r>
            <a:r>
              <a:rPr lang="en-US" altLang="ja-JP" sz="2000" dirty="0"/>
              <a:t>)</a:t>
            </a:r>
            <a:r>
              <a:rPr lang="ja-JP" altLang="en-US" sz="2000" dirty="0"/>
              <a:t>を入力してください</a:t>
            </a:r>
            <a:r>
              <a:rPr lang="en-US" altLang="ja-JP" sz="2000" dirty="0"/>
              <a:t>: </a:t>
            </a:r>
            <a:r>
              <a:rPr lang="en-US" altLang="ja-JP" sz="2000" dirty="0">
                <a:solidFill>
                  <a:srgbClr val="FF0000"/>
                </a:solidFill>
              </a:rPr>
              <a:t>2000</a:t>
            </a:r>
          </a:p>
          <a:p>
            <a:r>
              <a:rPr lang="en-US" altLang="ja-JP" sz="2000" dirty="0"/>
              <a:t>2000</a:t>
            </a:r>
            <a:r>
              <a:rPr lang="ja-JP" altLang="en-US" sz="2000" dirty="0"/>
              <a:t>年は平成</a:t>
            </a:r>
            <a:r>
              <a:rPr lang="en-US" altLang="ja-JP" sz="2000" dirty="0"/>
              <a:t>12</a:t>
            </a:r>
            <a:r>
              <a:rPr lang="ja-JP" altLang="en-US" sz="2000" dirty="0"/>
              <a:t>年です。</a:t>
            </a:r>
          </a:p>
          <a:p>
            <a:r>
              <a:rPr lang="en-US" altLang="ja-JP" sz="2000" dirty="0"/>
              <a:t>[</a:t>
            </a:r>
            <a:r>
              <a:rPr lang="en-US" altLang="ja-JP" sz="2000" dirty="0" err="1"/>
              <a:t>sasano@localhost</a:t>
            </a:r>
            <a:r>
              <a:rPr lang="en-US" altLang="ja-JP" sz="2000" dirty="0"/>
              <a:t> </a:t>
            </a:r>
            <a:r>
              <a:rPr lang="en-US" altLang="ja-JP" sz="2000" dirty="0" err="1"/>
              <a:t>enshu</a:t>
            </a:r>
            <a:r>
              <a:rPr lang="en-US" altLang="ja-JP" sz="2000" dirty="0"/>
              <a:t>]$ ./hatten2</a:t>
            </a:r>
          </a:p>
          <a:p>
            <a:r>
              <a:rPr lang="ja-JP" altLang="en-US" sz="2000" dirty="0"/>
              <a:t>西暦</a:t>
            </a:r>
            <a:r>
              <a:rPr lang="en-US" altLang="ja-JP" sz="2000" dirty="0"/>
              <a:t>(1868</a:t>
            </a:r>
            <a:r>
              <a:rPr lang="ja-JP" altLang="en-US" sz="2000" dirty="0"/>
              <a:t>年以降</a:t>
            </a:r>
            <a:r>
              <a:rPr lang="en-US" altLang="ja-JP" sz="2000" dirty="0"/>
              <a:t>)</a:t>
            </a:r>
            <a:r>
              <a:rPr lang="ja-JP" altLang="en-US" sz="2000" dirty="0"/>
              <a:t>を入力してください</a:t>
            </a:r>
            <a:r>
              <a:rPr lang="en-US" altLang="ja-JP" sz="2000" dirty="0"/>
              <a:t>: </a:t>
            </a:r>
            <a:r>
              <a:rPr lang="en-US" altLang="ja-JP" sz="2000" dirty="0">
                <a:solidFill>
                  <a:srgbClr val="FF0000"/>
                </a:solidFill>
              </a:rPr>
              <a:t>1912</a:t>
            </a:r>
          </a:p>
          <a:p>
            <a:r>
              <a:rPr lang="en-US" altLang="ja-JP" sz="2000" dirty="0"/>
              <a:t>1912</a:t>
            </a:r>
            <a:r>
              <a:rPr lang="ja-JP" altLang="en-US" sz="2000" dirty="0"/>
              <a:t>年は大正元年です。</a:t>
            </a:r>
          </a:p>
          <a:p>
            <a:r>
              <a:rPr lang="en-US" altLang="ja-JP" sz="2000" dirty="0"/>
              <a:t>[</a:t>
            </a:r>
            <a:r>
              <a:rPr lang="en-US" altLang="ja-JP" sz="2000" dirty="0" err="1"/>
              <a:t>sasano@localhost</a:t>
            </a:r>
            <a:r>
              <a:rPr lang="en-US" altLang="ja-JP" sz="2000" dirty="0"/>
              <a:t> </a:t>
            </a:r>
            <a:r>
              <a:rPr lang="en-US" altLang="ja-JP" sz="2000" dirty="0" err="1"/>
              <a:t>enshu</a:t>
            </a:r>
            <a:r>
              <a:rPr lang="en-US" altLang="ja-JP" sz="2000" dirty="0"/>
              <a:t>]$</a:t>
            </a:r>
          </a:p>
          <a:p>
            <a:r>
              <a:rPr lang="ja-JP" altLang="en-US" sz="2000" dirty="0"/>
              <a:t>（上記実行例において、赤字がキーボードからの入力部分である。）</a:t>
            </a:r>
            <a:endParaRPr lang="en-US" altLang="ja-JP" sz="2000" dirty="0"/>
          </a:p>
          <a:p>
            <a:endParaRPr lang="en-US" altLang="ja-JP" sz="2000" dirty="0"/>
          </a:p>
          <a:p>
            <a:r>
              <a:rPr lang="en-US" altLang="ja-JP" sz="2000" dirty="0"/>
              <a:t>(</a:t>
            </a:r>
            <a:r>
              <a:rPr lang="ja-JP" altLang="en-US" sz="2000" dirty="0"/>
              <a:t>ヒント</a:t>
            </a:r>
            <a:r>
              <a:rPr lang="en-US" altLang="ja-JP" sz="2000" dirty="0"/>
              <a:t>) if</a:t>
            </a:r>
            <a:r>
              <a:rPr lang="ja-JP" altLang="en-US" sz="2000" dirty="0"/>
              <a:t>文のネストで記述する。</a:t>
            </a:r>
            <a:endParaRPr lang="en-US" altLang="ja-JP" sz="2000" dirty="0"/>
          </a:p>
        </p:txBody>
      </p:sp>
    </p:spTree>
    <p:extLst>
      <p:ext uri="{BB962C8B-B14F-4D97-AF65-F5344CB8AC3E}">
        <p14:creationId xmlns:p14="http://schemas.microsoft.com/office/powerpoint/2010/main" val="2166338731"/>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タイトル 1"/>
          <p:cNvSpPr>
            <a:spLocks noGrp="1"/>
          </p:cNvSpPr>
          <p:nvPr>
            <p:ph type="title"/>
          </p:nvPr>
        </p:nvSpPr>
        <p:spPr>
          <a:xfrm>
            <a:off x="446617" y="232306"/>
            <a:ext cx="8229600" cy="633412"/>
          </a:xfrm>
        </p:spPr>
        <p:txBody>
          <a:bodyPr>
            <a:noAutofit/>
          </a:bodyPr>
          <a:lstStyle/>
          <a:p>
            <a:r>
              <a:rPr lang="ja-JP" altLang="en-US" sz="3600" dirty="0">
                <a:latin typeface="Calibri" charset="0"/>
              </a:rPr>
              <a:t>発展課題２</a:t>
            </a:r>
          </a:p>
        </p:txBody>
      </p:sp>
      <p:sp>
        <p:nvSpPr>
          <p:cNvPr id="39938" name="コンテンツ プレースホルダ 2"/>
          <p:cNvSpPr>
            <a:spLocks noGrp="1"/>
          </p:cNvSpPr>
          <p:nvPr>
            <p:ph idx="1"/>
          </p:nvPr>
        </p:nvSpPr>
        <p:spPr>
          <a:xfrm>
            <a:off x="611188" y="1056218"/>
            <a:ext cx="8137525" cy="5346700"/>
          </a:xfrm>
        </p:spPr>
        <p:txBody>
          <a:bodyPr>
            <a:normAutofit lnSpcReduction="10000"/>
          </a:bodyPr>
          <a:lstStyle/>
          <a:p>
            <a:r>
              <a:rPr lang="ja-JP" altLang="en-US" sz="2000" dirty="0">
                <a:latin typeface="News Gothic" charset="0"/>
                <a:ea typeface="ヒラギノ角ゴ Pro W3" charset="0"/>
                <a:cs typeface="ヒラギノ角ゴ Pro W3" charset="0"/>
              </a:rPr>
              <a:t>西暦の年数（</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年以降）をキーボードから読み込み、閏年かどうかを判定し、結果を画面上に表示するプログラムを作成せよ。</a:t>
            </a:r>
            <a:endParaRPr lang="en-US" altLang="ja-JP" sz="2000" dirty="0">
              <a:latin typeface="News Gothic" charset="0"/>
              <a:ea typeface="ヒラギノ角ゴ Pro W3" charset="0"/>
              <a:cs typeface="ヒラギノ角ゴ Pro W3" charset="0"/>
            </a:endParaRPr>
          </a:p>
          <a:p>
            <a:r>
              <a:rPr lang="ja-JP" altLang="en-US" sz="2000" dirty="0">
                <a:latin typeface="News Gothic" charset="0"/>
                <a:ea typeface="ヒラギノ角ゴ Pro W3" charset="0"/>
                <a:cs typeface="ヒラギノ角ゴ Pro W3" charset="0"/>
              </a:rPr>
              <a:t>閏年の定義としては、以下を用いる。</a:t>
            </a:r>
            <a:endParaRPr lang="en-US" altLang="ja-JP" sz="2000" dirty="0">
              <a:latin typeface="News Gothic" charset="0"/>
              <a:ea typeface="ヒラギノ角ゴ Pro W3" charset="0"/>
              <a:cs typeface="ヒラギノ角ゴ Pro W3" charset="0"/>
            </a:endParaRPr>
          </a:p>
          <a:p>
            <a:pPr lvl="1">
              <a:buFont typeface="Wingdings" charset="0"/>
              <a:buNone/>
            </a:pPr>
            <a:r>
              <a:rPr lang="ja-JP" altLang="en-US" sz="2000" dirty="0">
                <a:latin typeface="Syntax" charset="0"/>
                <a:ea typeface="ヒラギノ角ゴ Pro W3" charset="0"/>
                <a:cs typeface="ヒラギノ角ゴ Pro W3" charset="0"/>
              </a:rPr>
              <a:t>４で割り切れる年は閏年。</a:t>
            </a:r>
            <a:endParaRPr lang="en-US" altLang="ja-JP" sz="2000" dirty="0">
              <a:latin typeface="Syntax" charset="0"/>
              <a:ea typeface="ヒラギノ角ゴ Pro W3" charset="0"/>
              <a:cs typeface="ヒラギノ角ゴ Pro W3" charset="0"/>
            </a:endParaRPr>
          </a:p>
          <a:p>
            <a:pPr lvl="1">
              <a:buFont typeface="Wingdings" charset="0"/>
              <a:buNone/>
            </a:pPr>
            <a:r>
              <a:rPr lang="ja-JP" altLang="en-US" sz="2000" dirty="0">
                <a:latin typeface="Syntax" charset="0"/>
                <a:ea typeface="ヒラギノ角ゴ Pro W3" charset="0"/>
                <a:cs typeface="ヒラギノ角ゴ Pro W3" charset="0"/>
              </a:rPr>
              <a:t>ただし、１００で割り切れる年は閏年ではない。ただし、４００で割り切れる年は閏年。</a:t>
            </a:r>
            <a:endParaRPr lang="en-US" altLang="ja-JP" sz="2000" dirty="0">
              <a:latin typeface="Syntax"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実行例</a:t>
            </a:r>
            <a:r>
              <a:rPr lang="en-US" altLang="ja-JP" sz="2000" dirty="0">
                <a:latin typeface="News Gothic" charset="0"/>
                <a:ea typeface="ヒラギノ角ゴ Pro W3" charset="0"/>
                <a:cs typeface="ヒラギノ角ゴ Pro W3" charset="0"/>
              </a:rPr>
              <a:t>]</a:t>
            </a: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2010</a:t>
            </a:r>
          </a:p>
          <a:p>
            <a:pPr>
              <a:buFont typeface="Wingdings" charset="0"/>
              <a:buNone/>
            </a:pPr>
            <a:r>
              <a:rPr lang="en-US" altLang="ja-JP" sz="2000" dirty="0">
                <a:latin typeface="News Gothic" charset="0"/>
                <a:ea typeface="ヒラギノ角ゴ Pro W3" charset="0"/>
                <a:cs typeface="ヒラギノ角ゴ Pro W3" charset="0"/>
              </a:rPr>
              <a:t>2010</a:t>
            </a:r>
            <a:r>
              <a:rPr lang="ja-JP" altLang="en-US" sz="2000" dirty="0">
                <a:latin typeface="News Gothic" charset="0"/>
                <a:ea typeface="ヒラギノ角ゴ Pro W3" charset="0"/>
                <a:cs typeface="ヒラギノ角ゴ Pro W3" charset="0"/>
              </a:rPr>
              <a:t>年は閏年ではありません。</a:t>
            </a:r>
            <a:endParaRPr lang="en-US" altLang="ja-JP" sz="2000" dirty="0">
              <a:latin typeface="News Gothic"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2000</a:t>
            </a:r>
          </a:p>
          <a:p>
            <a:pPr>
              <a:buFont typeface="Wingdings" charset="0"/>
              <a:buNone/>
            </a:pPr>
            <a:r>
              <a:rPr lang="en-US" altLang="ja-JP" sz="2000" dirty="0">
                <a:latin typeface="News Gothic" charset="0"/>
                <a:ea typeface="ヒラギノ角ゴ Pro W3" charset="0"/>
                <a:cs typeface="ヒラギノ角ゴ Pro W3" charset="0"/>
              </a:rPr>
              <a:t>2000</a:t>
            </a:r>
            <a:r>
              <a:rPr lang="ja-JP" altLang="en-US" sz="2000" dirty="0">
                <a:latin typeface="News Gothic" charset="0"/>
                <a:ea typeface="ヒラギノ角ゴ Pro W3" charset="0"/>
                <a:cs typeface="ヒラギノ角ゴ Pro W3" charset="0"/>
              </a:rPr>
              <a:t>年は閏年です。</a:t>
            </a:r>
            <a:endParaRPr lang="en-US" altLang="ja-JP" sz="2000" dirty="0">
              <a:latin typeface="News Gothic" charset="0"/>
              <a:ea typeface="ヒラギノ角ゴ Pro W3" charset="0"/>
              <a:cs typeface="ヒラギノ角ゴ Pro W3" charset="0"/>
            </a:endParaRPr>
          </a:p>
          <a:p>
            <a:pPr>
              <a:buFont typeface="Wingdings" charset="0"/>
              <a:buNone/>
            </a:pPr>
            <a:r>
              <a:rPr lang="en-US" altLang="ja-JP" sz="2000" dirty="0">
                <a:latin typeface="News Gothic" charset="0"/>
                <a:ea typeface="ヒラギノ角ゴ Pro W3" charset="0"/>
                <a:cs typeface="ヒラギノ角ゴ Pro W3" charset="0"/>
              </a:rPr>
              <a:t>$ ./hatten2-2</a:t>
            </a:r>
          </a:p>
          <a:p>
            <a:pPr>
              <a:buFont typeface="Wingdings" charset="0"/>
              <a:buNone/>
            </a:pPr>
            <a:r>
              <a:rPr lang="ja-JP" altLang="en-US" sz="2000" dirty="0">
                <a:latin typeface="News Gothic" charset="0"/>
                <a:ea typeface="ヒラギノ角ゴ Pro W3" charset="0"/>
                <a:cs typeface="ヒラギノ角ゴ Pro W3" charset="0"/>
              </a:rPr>
              <a:t>西暦</a:t>
            </a:r>
            <a:r>
              <a:rPr lang="en-US" altLang="ja-JP" sz="2000" dirty="0">
                <a:latin typeface="News Gothic" charset="0"/>
                <a:ea typeface="ヒラギノ角ゴ Pro W3" charset="0"/>
                <a:cs typeface="ヒラギノ角ゴ Pro W3" charset="0"/>
              </a:rPr>
              <a:t>(1582</a:t>
            </a:r>
            <a:r>
              <a:rPr lang="ja-JP" altLang="en-US" sz="2000" dirty="0">
                <a:latin typeface="News Gothic" charset="0"/>
                <a:ea typeface="ヒラギノ角ゴ Pro W3" charset="0"/>
                <a:cs typeface="ヒラギノ角ゴ Pro W3" charset="0"/>
              </a:rPr>
              <a:t>年以降</a:t>
            </a:r>
            <a:r>
              <a:rPr lang="en-US" altLang="ja-JP" sz="2000" dirty="0">
                <a:latin typeface="News Gothic" charset="0"/>
                <a:ea typeface="ヒラギノ角ゴ Pro W3" charset="0"/>
                <a:cs typeface="ヒラギノ角ゴ Pro W3" charset="0"/>
              </a:rPr>
              <a:t>)</a:t>
            </a:r>
            <a:r>
              <a:rPr lang="ja-JP" altLang="en-US" sz="2000" dirty="0">
                <a:latin typeface="News Gothic" charset="0"/>
                <a:ea typeface="ヒラギノ角ゴ Pro W3" charset="0"/>
                <a:cs typeface="ヒラギノ角ゴ Pro W3" charset="0"/>
              </a:rPr>
              <a:t>を入力してください</a:t>
            </a:r>
            <a:r>
              <a:rPr lang="en-US" altLang="ja-JP" sz="2000" dirty="0">
                <a:latin typeface="News Gothic" charset="0"/>
                <a:ea typeface="ヒラギノ角ゴ Pro W3" charset="0"/>
                <a:cs typeface="ヒラギノ角ゴ Pro W3" charset="0"/>
              </a:rPr>
              <a:t>: </a:t>
            </a:r>
            <a:r>
              <a:rPr lang="en-US" altLang="ja-JP" sz="2000" dirty="0">
                <a:solidFill>
                  <a:srgbClr val="FF0000"/>
                </a:solidFill>
                <a:latin typeface="News Gothic" charset="0"/>
                <a:ea typeface="ヒラギノ角ゴ Pro W3" charset="0"/>
                <a:cs typeface="ヒラギノ角ゴ Pro W3" charset="0"/>
              </a:rPr>
              <a:t>1900</a:t>
            </a:r>
          </a:p>
          <a:p>
            <a:pPr>
              <a:buFont typeface="Wingdings" charset="0"/>
              <a:buNone/>
            </a:pPr>
            <a:r>
              <a:rPr lang="en-US" altLang="ja-JP" sz="2000" dirty="0">
                <a:latin typeface="News Gothic" charset="0"/>
                <a:ea typeface="ヒラギノ角ゴ Pro W3" charset="0"/>
                <a:cs typeface="ヒラギノ角ゴ Pro W3" charset="0"/>
              </a:rPr>
              <a:t>1900</a:t>
            </a:r>
            <a:r>
              <a:rPr lang="ja-JP" altLang="en-US" sz="2000" dirty="0">
                <a:latin typeface="News Gothic" charset="0"/>
                <a:ea typeface="ヒラギノ角ゴ Pro W3" charset="0"/>
                <a:cs typeface="ヒラギノ角ゴ Pro W3" charset="0"/>
              </a:rPr>
              <a:t>年は閏年ではありません</a:t>
            </a:r>
            <a:r>
              <a:rPr lang="ja-JP" altLang="en-US" sz="2000" dirty="0" smtClean="0">
                <a:latin typeface="News Gothic" charset="0"/>
                <a:ea typeface="ヒラギノ角ゴ Pro W3" charset="0"/>
                <a:cs typeface="ヒラギノ角ゴ Pro W3" charset="0"/>
              </a:rPr>
              <a:t>。</a:t>
            </a:r>
            <a:endParaRPr lang="en-US" altLang="ja-JP" sz="2000" dirty="0">
              <a:latin typeface="News Gothic" charset="0"/>
              <a:ea typeface="ヒラギノ角ゴ Pro W3" charset="0"/>
              <a:cs typeface="ヒラギノ角ゴ Pro W3" charset="0"/>
            </a:endParaRPr>
          </a:p>
        </p:txBody>
      </p:sp>
    </p:spTree>
    <p:extLst>
      <p:ext uri="{BB962C8B-B14F-4D97-AF65-F5344CB8AC3E}">
        <p14:creationId xmlns:p14="http://schemas.microsoft.com/office/powerpoint/2010/main" val="1118734650"/>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タイトル 1"/>
          <p:cNvSpPr>
            <a:spLocks noGrp="1"/>
          </p:cNvSpPr>
          <p:nvPr>
            <p:ph type="title"/>
          </p:nvPr>
        </p:nvSpPr>
        <p:spPr>
          <a:xfrm>
            <a:off x="457200" y="274638"/>
            <a:ext cx="8229600" cy="847195"/>
          </a:xfrm>
        </p:spPr>
        <p:txBody>
          <a:bodyPr>
            <a:normAutofit/>
          </a:bodyPr>
          <a:lstStyle/>
          <a:p>
            <a:r>
              <a:rPr lang="ja-JP" altLang="en-US" sz="3600" dirty="0">
                <a:latin typeface="Calibri" charset="0"/>
              </a:rPr>
              <a:t>参考課題１</a:t>
            </a:r>
          </a:p>
        </p:txBody>
      </p:sp>
      <p:sp>
        <p:nvSpPr>
          <p:cNvPr id="40962" name="コンテンツ プレースホルダ 2"/>
          <p:cNvSpPr>
            <a:spLocks noGrp="1"/>
          </p:cNvSpPr>
          <p:nvPr>
            <p:ph idx="1"/>
          </p:nvPr>
        </p:nvSpPr>
        <p:spPr>
          <a:xfrm>
            <a:off x="762000" y="1295400"/>
            <a:ext cx="7343801" cy="930552"/>
          </a:xfrm>
        </p:spPr>
        <p:txBody>
          <a:bodyPr>
            <a:noAutofit/>
          </a:bodyPr>
          <a:lstStyle/>
          <a:p>
            <a:pPr marL="0" indent="0">
              <a:buNone/>
            </a:pPr>
            <a:r>
              <a:rPr lang="en-US" altLang="ja-JP" sz="2400" dirty="0" err="1">
                <a:latin typeface="News Gothic" charset="0"/>
                <a:ea typeface="ヒラギノ角ゴ Pro W3" charset="0"/>
                <a:cs typeface="ヒラギノ角ゴ Pro W3" charset="0"/>
              </a:rPr>
              <a:t>int</a:t>
            </a:r>
            <a:r>
              <a:rPr lang="ja-JP" altLang="en-US" sz="2400" dirty="0">
                <a:latin typeface="News Gothic" charset="0"/>
                <a:ea typeface="ヒラギノ角ゴ Pro W3" charset="0"/>
                <a:cs typeface="ヒラギノ角ゴ Pro W3" charset="0"/>
              </a:rPr>
              <a:t>型の値を３つキーボードから読み込み、それらの最大値を画面に表示するプログラムを書け。</a:t>
            </a:r>
          </a:p>
        </p:txBody>
      </p:sp>
      <p:sp>
        <p:nvSpPr>
          <p:cNvPr id="40966" name="正方形/長方形 6"/>
          <p:cNvSpPr>
            <a:spLocks noChangeArrowheads="1"/>
          </p:cNvSpPr>
          <p:nvPr/>
        </p:nvSpPr>
        <p:spPr bwMode="auto">
          <a:xfrm>
            <a:off x="1062038" y="2771776"/>
            <a:ext cx="6678612"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ja-JP" sz="2400" dirty="0"/>
              <a:t>[</a:t>
            </a:r>
            <a:r>
              <a:rPr lang="ja-JP" altLang="en-US" sz="2400" dirty="0"/>
              <a:t>実行例</a:t>
            </a:r>
            <a:r>
              <a:rPr lang="en-US" altLang="ja-JP" sz="2400" dirty="0" smtClean="0"/>
              <a:t>]</a:t>
            </a:r>
            <a:endParaRPr lang="en-US" altLang="ja-JP" sz="2400" dirty="0"/>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 ./sankou2-1</a:t>
            </a:r>
          </a:p>
          <a:p>
            <a:r>
              <a:rPr lang="en-US" altLang="ja-JP" sz="2400" dirty="0"/>
              <a:t>3</a:t>
            </a:r>
            <a:r>
              <a:rPr lang="ja-JP" altLang="en-US" sz="2400" dirty="0"/>
              <a:t>つの値から最大値を求めます。</a:t>
            </a:r>
          </a:p>
          <a:p>
            <a:r>
              <a:rPr lang="en-US" altLang="ja-JP" sz="2400" dirty="0"/>
              <a:t>1</a:t>
            </a:r>
            <a:r>
              <a:rPr lang="ja-JP" altLang="en-US" sz="2400" dirty="0"/>
              <a:t>つ目の値を入力してください。：</a:t>
            </a:r>
            <a:r>
              <a:rPr lang="en-US" altLang="ja-JP" sz="2400" dirty="0">
                <a:solidFill>
                  <a:srgbClr val="FF0000"/>
                </a:solidFill>
              </a:rPr>
              <a:t>3</a:t>
            </a:r>
          </a:p>
          <a:p>
            <a:r>
              <a:rPr lang="en-US" altLang="ja-JP" sz="2400" dirty="0"/>
              <a:t>2</a:t>
            </a:r>
            <a:r>
              <a:rPr lang="ja-JP" altLang="en-US" sz="2400" dirty="0"/>
              <a:t>つ目の値を入力してください。：</a:t>
            </a:r>
            <a:r>
              <a:rPr lang="en-US" altLang="ja-JP" sz="2400" dirty="0">
                <a:solidFill>
                  <a:srgbClr val="FF0000"/>
                </a:solidFill>
              </a:rPr>
              <a:t>4</a:t>
            </a:r>
          </a:p>
          <a:p>
            <a:r>
              <a:rPr lang="en-US" altLang="ja-JP" sz="2400" dirty="0"/>
              <a:t>3</a:t>
            </a:r>
            <a:r>
              <a:rPr lang="ja-JP" altLang="en-US" sz="2400" dirty="0"/>
              <a:t>つ目の値を入力してください。：</a:t>
            </a:r>
            <a:r>
              <a:rPr lang="en-US" altLang="ja-JP" sz="2400" dirty="0">
                <a:solidFill>
                  <a:srgbClr val="FF0000"/>
                </a:solidFill>
              </a:rPr>
              <a:t>2</a:t>
            </a:r>
          </a:p>
          <a:p>
            <a:r>
              <a:rPr lang="ja-JP" altLang="en-US" sz="2400" dirty="0"/>
              <a:t>最大値は</a:t>
            </a:r>
            <a:r>
              <a:rPr lang="en-US" altLang="ja-JP" sz="2400" dirty="0"/>
              <a:t>4</a:t>
            </a:r>
            <a:r>
              <a:rPr lang="ja-JP" altLang="en-US" sz="2400" dirty="0"/>
              <a:t>です。</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a:t>
            </a:r>
          </a:p>
        </p:txBody>
      </p:sp>
    </p:spTree>
    <p:extLst>
      <p:ext uri="{BB962C8B-B14F-4D97-AF65-F5344CB8AC3E}">
        <p14:creationId xmlns:p14="http://schemas.microsoft.com/office/powerpoint/2010/main" val="3201792888"/>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タイトル 1"/>
          <p:cNvSpPr>
            <a:spLocks noGrp="1"/>
          </p:cNvSpPr>
          <p:nvPr>
            <p:ph type="title"/>
          </p:nvPr>
        </p:nvSpPr>
        <p:spPr>
          <a:xfrm>
            <a:off x="457200" y="274638"/>
            <a:ext cx="8229600" cy="783695"/>
          </a:xfrm>
        </p:spPr>
        <p:txBody>
          <a:bodyPr>
            <a:normAutofit/>
          </a:bodyPr>
          <a:lstStyle/>
          <a:p>
            <a:r>
              <a:rPr lang="ja-JP" altLang="en-US" sz="3600" dirty="0">
                <a:latin typeface="Calibri" charset="0"/>
              </a:rPr>
              <a:t>参考課題１ 解答例</a:t>
            </a:r>
          </a:p>
        </p:txBody>
      </p:sp>
      <p:sp>
        <p:nvSpPr>
          <p:cNvPr id="41989" name="Rectangle 1"/>
          <p:cNvSpPr>
            <a:spLocks noChangeArrowheads="1"/>
          </p:cNvSpPr>
          <p:nvPr/>
        </p:nvSpPr>
        <p:spPr bwMode="auto">
          <a:xfrm>
            <a:off x="323850" y="1058333"/>
            <a:ext cx="6511852" cy="56323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r>
              <a:rPr lang="en-US" altLang="ja-JP" sz="2400" dirty="0">
                <a:cs typeface="Arial" charset="0"/>
              </a:rPr>
              <a:t>#include &lt;</a:t>
            </a:r>
            <a:r>
              <a:rPr lang="en-US" altLang="ja-JP" sz="2400" dirty="0" err="1">
                <a:cs typeface="Arial" charset="0"/>
              </a:rPr>
              <a:t>stdio.h</a:t>
            </a:r>
            <a:r>
              <a:rPr lang="en-US" altLang="ja-JP" sz="2400" dirty="0">
                <a:cs typeface="Arial" charset="0"/>
              </a:rPr>
              <a:t>&gt;</a:t>
            </a:r>
          </a:p>
          <a:p>
            <a:r>
              <a:rPr lang="en-US" altLang="ja-JP" sz="2400" dirty="0" err="1">
                <a:cs typeface="Arial" charset="0"/>
              </a:rPr>
              <a:t>int</a:t>
            </a:r>
            <a:r>
              <a:rPr lang="en-US" altLang="ja-JP" sz="2400" dirty="0">
                <a:cs typeface="Arial" charset="0"/>
              </a:rPr>
              <a:t> main(void)</a:t>
            </a:r>
          </a:p>
          <a:p>
            <a:r>
              <a:rPr lang="en-US" altLang="ja-JP" sz="2400" dirty="0">
                <a:cs typeface="Arial" charset="0"/>
              </a:rPr>
              <a:t>{</a:t>
            </a:r>
          </a:p>
          <a:p>
            <a:r>
              <a:rPr lang="en-US" altLang="ja-JP" sz="2400" dirty="0">
                <a:cs typeface="Arial" charset="0"/>
              </a:rPr>
              <a:t>    </a:t>
            </a:r>
            <a:r>
              <a:rPr lang="en-US" altLang="ja-JP" sz="2400" dirty="0" err="1">
                <a:cs typeface="Arial" charset="0"/>
              </a:rPr>
              <a:t>int</a:t>
            </a:r>
            <a:r>
              <a:rPr lang="en-US" altLang="ja-JP" sz="2400" dirty="0">
                <a:cs typeface="Arial" charset="0"/>
              </a:rPr>
              <a:t> x;</a:t>
            </a:r>
          </a:p>
          <a:p>
            <a:r>
              <a:rPr lang="en-US" altLang="ja-JP" sz="2400" dirty="0">
                <a:cs typeface="Arial" charset="0"/>
              </a:rPr>
              <a:t>    </a:t>
            </a:r>
            <a:r>
              <a:rPr lang="en-US" altLang="ja-JP" sz="2400" dirty="0" err="1">
                <a:cs typeface="Arial" charset="0"/>
              </a:rPr>
              <a:t>int</a:t>
            </a:r>
            <a:r>
              <a:rPr lang="en-US" altLang="ja-JP" sz="2400" dirty="0">
                <a:cs typeface="Arial" charset="0"/>
              </a:rPr>
              <a:t> y;</a:t>
            </a:r>
          </a:p>
          <a:p>
            <a:r>
              <a:rPr lang="en-US" altLang="ja-JP" sz="2400" dirty="0">
                <a:cs typeface="Arial" charset="0"/>
              </a:rPr>
              <a:t>    </a:t>
            </a:r>
            <a:r>
              <a:rPr lang="en-US" altLang="ja-JP" sz="2400" dirty="0" err="1">
                <a:cs typeface="Arial" charset="0"/>
              </a:rPr>
              <a:t>int</a:t>
            </a:r>
            <a:r>
              <a:rPr lang="en-US" altLang="ja-JP" sz="2400" dirty="0">
                <a:cs typeface="Arial" charset="0"/>
              </a:rPr>
              <a:t> z;</a:t>
            </a:r>
          </a:p>
          <a:p>
            <a:r>
              <a:rPr lang="en-US" altLang="ja-JP" sz="2400" dirty="0">
                <a:cs typeface="Arial" charset="0"/>
              </a:rPr>
              <a:t>    </a:t>
            </a:r>
            <a:r>
              <a:rPr lang="en-US" altLang="ja-JP" sz="2400" dirty="0" err="1">
                <a:cs typeface="Arial" charset="0"/>
              </a:rPr>
              <a:t>int</a:t>
            </a:r>
            <a:r>
              <a:rPr lang="en-US" altLang="ja-JP" sz="2400" dirty="0">
                <a:cs typeface="Arial" charset="0"/>
              </a:rPr>
              <a:t> max;</a:t>
            </a:r>
          </a:p>
          <a:p>
            <a:endParaRPr lang="en-US" altLang="ja-JP" sz="2400" dirty="0">
              <a:cs typeface="Arial" charset="0"/>
            </a:endParaRPr>
          </a:p>
          <a:p>
            <a:r>
              <a:rPr lang="en-US" altLang="ja-JP" sz="2400" dirty="0">
                <a:cs typeface="Arial" charset="0"/>
              </a:rPr>
              <a:t>    </a:t>
            </a:r>
            <a:r>
              <a:rPr lang="en-US" altLang="ja-JP" sz="2400" dirty="0" err="1">
                <a:cs typeface="Arial" charset="0"/>
              </a:rPr>
              <a:t>printf</a:t>
            </a:r>
            <a:r>
              <a:rPr lang="en-US" altLang="ja-JP" sz="2400" dirty="0">
                <a:cs typeface="Arial" charset="0"/>
              </a:rPr>
              <a:t>("3</a:t>
            </a:r>
            <a:r>
              <a:rPr lang="ja-JP" altLang="en-US" sz="2400" dirty="0">
                <a:cs typeface="Arial" charset="0"/>
              </a:rPr>
              <a:t>つの値から最大値を求めます。</a:t>
            </a:r>
            <a:r>
              <a:rPr lang="en-US" altLang="ja-JP" sz="2400" dirty="0">
                <a:cs typeface="Arial" charset="0"/>
              </a:rPr>
              <a:t>\n");</a:t>
            </a:r>
          </a:p>
          <a:p>
            <a:r>
              <a:rPr lang="en-US" altLang="ja-JP" sz="2400" dirty="0">
                <a:cs typeface="Arial" charset="0"/>
              </a:rPr>
              <a:t>    </a:t>
            </a:r>
            <a:r>
              <a:rPr lang="en-US" altLang="ja-JP" sz="2400" dirty="0" err="1">
                <a:cs typeface="Arial" charset="0"/>
              </a:rPr>
              <a:t>printf</a:t>
            </a:r>
            <a:r>
              <a:rPr lang="en-US" altLang="ja-JP" sz="2400" dirty="0">
                <a:cs typeface="Arial" charset="0"/>
              </a:rPr>
              <a:t>("1</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&amp;x);</a:t>
            </a:r>
          </a:p>
          <a:p>
            <a:r>
              <a:rPr lang="en-US" altLang="ja-JP" sz="2400" dirty="0">
                <a:cs typeface="Arial" charset="0"/>
              </a:rPr>
              <a:t>    </a:t>
            </a:r>
            <a:r>
              <a:rPr lang="en-US" altLang="ja-JP" sz="2400" dirty="0" err="1">
                <a:cs typeface="Arial" charset="0"/>
              </a:rPr>
              <a:t>printf</a:t>
            </a:r>
            <a:r>
              <a:rPr lang="en-US" altLang="ja-JP" sz="2400" dirty="0">
                <a:cs typeface="Arial" charset="0"/>
              </a:rPr>
              <a:t>("2</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&amp;y);</a:t>
            </a:r>
          </a:p>
          <a:p>
            <a:r>
              <a:rPr lang="en-US" altLang="ja-JP" sz="2400" dirty="0">
                <a:cs typeface="Arial" charset="0"/>
              </a:rPr>
              <a:t>    </a:t>
            </a:r>
            <a:r>
              <a:rPr lang="en-US" altLang="ja-JP" sz="2400" dirty="0" err="1">
                <a:cs typeface="Arial" charset="0"/>
              </a:rPr>
              <a:t>printf</a:t>
            </a:r>
            <a:r>
              <a:rPr lang="en-US" altLang="ja-JP" sz="2400" dirty="0">
                <a:cs typeface="Arial" charset="0"/>
              </a:rPr>
              <a:t>("3</a:t>
            </a:r>
            <a:r>
              <a:rPr lang="ja-JP" altLang="en-US" sz="2400" dirty="0">
                <a:cs typeface="Arial" charset="0"/>
              </a:rPr>
              <a:t>つ目の値を入力してください。：</a:t>
            </a:r>
            <a:r>
              <a:rPr lang="en-US" altLang="ja-JP" sz="2400" dirty="0">
                <a:cs typeface="Arial" charset="0"/>
              </a:rPr>
              <a:t>");</a:t>
            </a:r>
          </a:p>
          <a:p>
            <a:r>
              <a:rPr lang="en-US" altLang="ja-JP" sz="2400" dirty="0">
                <a:cs typeface="Arial" charset="0"/>
              </a:rPr>
              <a:t>    </a:t>
            </a:r>
            <a:r>
              <a:rPr lang="en-US" altLang="ja-JP" sz="2400" dirty="0" err="1">
                <a:cs typeface="Arial" charset="0"/>
              </a:rPr>
              <a:t>scanf</a:t>
            </a:r>
            <a:r>
              <a:rPr lang="en-US" altLang="ja-JP" sz="2400" dirty="0">
                <a:cs typeface="Arial" charset="0"/>
              </a:rPr>
              <a:t>("%d" , &amp;z);</a:t>
            </a:r>
          </a:p>
        </p:txBody>
      </p:sp>
      <p:sp>
        <p:nvSpPr>
          <p:cNvPr id="41990" name="正方形/長方形 8"/>
          <p:cNvSpPr>
            <a:spLocks noChangeArrowheads="1"/>
          </p:cNvSpPr>
          <p:nvPr/>
        </p:nvSpPr>
        <p:spPr bwMode="auto">
          <a:xfrm>
            <a:off x="3867379" y="1182799"/>
            <a:ext cx="5133912" cy="2677656"/>
          </a:xfrm>
          <a:prstGeom prst="rect">
            <a:avLst/>
          </a:prstGeom>
          <a:solidFill>
            <a:schemeClr val="bg1"/>
          </a:solidFill>
          <a:ln w="9525">
            <a:solidFill>
              <a:schemeClr val="tx1"/>
            </a:solidFill>
            <a:miter lim="800000"/>
            <a:headEnd/>
            <a:tailEnd/>
          </a:ln>
        </p:spPr>
        <p:txBody>
          <a:bodyPr wrap="square">
            <a:spAutoFit/>
          </a:bodyPr>
          <a:lstStyle/>
          <a:p>
            <a:r>
              <a:rPr lang="en-US" altLang="ja-JP" sz="2400">
                <a:cs typeface="Arial" charset="0"/>
              </a:rPr>
              <a:t>    /* </a:t>
            </a:r>
            <a:r>
              <a:rPr lang="ja-JP" altLang="en-US" sz="2400">
                <a:cs typeface="Arial" charset="0"/>
              </a:rPr>
              <a:t>続き </a:t>
            </a:r>
            <a:r>
              <a:rPr lang="en-US" altLang="ja-JP" sz="2400">
                <a:cs typeface="Arial" charset="0"/>
              </a:rPr>
              <a:t>*/ </a:t>
            </a:r>
          </a:p>
          <a:p>
            <a:r>
              <a:rPr lang="en-US" altLang="ja-JP" sz="2400">
                <a:cs typeface="Arial" charset="0"/>
              </a:rPr>
              <a:t>    max = x;</a:t>
            </a:r>
          </a:p>
          <a:p>
            <a:r>
              <a:rPr lang="en-US" altLang="ja-JP" sz="2400">
                <a:cs typeface="Arial" charset="0"/>
              </a:rPr>
              <a:t>    if (max &lt; y) max = y;</a:t>
            </a:r>
          </a:p>
          <a:p>
            <a:r>
              <a:rPr lang="en-US" altLang="ja-JP" sz="2400">
                <a:cs typeface="Arial" charset="0"/>
              </a:rPr>
              <a:t>    if (max &lt; z) max = z;</a:t>
            </a:r>
          </a:p>
          <a:p>
            <a:r>
              <a:rPr lang="en-US" altLang="ja-JP" sz="2400">
                <a:cs typeface="Arial" charset="0"/>
              </a:rPr>
              <a:t>    printf("</a:t>
            </a:r>
            <a:r>
              <a:rPr lang="ja-JP" altLang="en-US" sz="2400">
                <a:cs typeface="Arial" charset="0"/>
              </a:rPr>
              <a:t>最大値は</a:t>
            </a:r>
            <a:r>
              <a:rPr lang="en-US" altLang="ja-JP" sz="2400">
                <a:cs typeface="Arial" charset="0"/>
              </a:rPr>
              <a:t>%d</a:t>
            </a:r>
            <a:r>
              <a:rPr lang="ja-JP" altLang="en-US" sz="2400">
                <a:cs typeface="Arial" charset="0"/>
              </a:rPr>
              <a:t>です。</a:t>
            </a:r>
            <a:r>
              <a:rPr lang="en-US" altLang="ja-JP" sz="2400">
                <a:cs typeface="Arial" charset="0"/>
              </a:rPr>
              <a:t>\n" , max);</a:t>
            </a:r>
          </a:p>
          <a:p>
            <a:r>
              <a:rPr lang="en-US" altLang="ja-JP" sz="2400">
                <a:cs typeface="Arial" charset="0"/>
              </a:rPr>
              <a:t>    return 0;</a:t>
            </a:r>
          </a:p>
          <a:p>
            <a:r>
              <a:rPr lang="en-US" altLang="ja-JP" sz="2400">
                <a:cs typeface="Arial" charset="0"/>
              </a:rPr>
              <a:t>}</a:t>
            </a:r>
            <a:endParaRPr lang="ja-JP" altLang="en-US" sz="2400">
              <a:cs typeface="Arial" charset="0"/>
            </a:endParaRPr>
          </a:p>
        </p:txBody>
      </p:sp>
    </p:spTree>
    <p:extLst>
      <p:ext uri="{BB962C8B-B14F-4D97-AF65-F5344CB8AC3E}">
        <p14:creationId xmlns:p14="http://schemas.microsoft.com/office/powerpoint/2010/main" val="3431236702"/>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タイトル 1"/>
          <p:cNvSpPr>
            <a:spLocks noGrp="1"/>
          </p:cNvSpPr>
          <p:nvPr>
            <p:ph type="title"/>
          </p:nvPr>
        </p:nvSpPr>
        <p:spPr>
          <a:xfrm>
            <a:off x="457200" y="274638"/>
            <a:ext cx="8229600" cy="815445"/>
          </a:xfrm>
        </p:spPr>
        <p:txBody>
          <a:bodyPr>
            <a:normAutofit/>
          </a:bodyPr>
          <a:lstStyle/>
          <a:p>
            <a:r>
              <a:rPr lang="ja-JP" altLang="en-US" sz="3600" dirty="0">
                <a:latin typeface="Calibri" charset="0"/>
              </a:rPr>
              <a:t>参考課題２</a:t>
            </a:r>
          </a:p>
        </p:txBody>
      </p:sp>
      <p:sp>
        <p:nvSpPr>
          <p:cNvPr id="43013" name="テキスト ボックス 7"/>
          <p:cNvSpPr txBox="1">
            <a:spLocks noChangeArrowheads="1"/>
          </p:cNvSpPr>
          <p:nvPr/>
        </p:nvSpPr>
        <p:spPr bwMode="auto">
          <a:xfrm>
            <a:off x="684213" y="1341438"/>
            <a:ext cx="799147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800" dirty="0"/>
              <a:t>時速をキーボードから読み込み、秒速に変換して画面に表示するプログラムを書け。</a:t>
            </a:r>
          </a:p>
        </p:txBody>
      </p:sp>
      <p:sp>
        <p:nvSpPr>
          <p:cNvPr id="43014" name="正方形/長方形 8"/>
          <p:cNvSpPr>
            <a:spLocks noChangeArrowheads="1"/>
          </p:cNvSpPr>
          <p:nvPr/>
        </p:nvSpPr>
        <p:spPr bwMode="auto">
          <a:xfrm>
            <a:off x="755650" y="2781300"/>
            <a:ext cx="73453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a:t>
            </a:r>
            <a:r>
              <a:rPr lang="en-US" altLang="ja-JP" sz="2400" dirty="0" err="1"/>
              <a:t>sasano@localhost</a:t>
            </a:r>
            <a:r>
              <a:rPr lang="en-US" altLang="ja-JP" sz="2400" dirty="0"/>
              <a:t> </a:t>
            </a:r>
            <a:r>
              <a:rPr lang="en-US" altLang="ja-JP" sz="2400" dirty="0" err="1"/>
              <a:t>enshu</a:t>
            </a:r>
            <a:r>
              <a:rPr lang="en-US" altLang="ja-JP" sz="2400" dirty="0"/>
              <a:t>]$ ./sankou2-2</a:t>
            </a:r>
          </a:p>
          <a:p>
            <a:r>
              <a:rPr lang="ja-JP" altLang="en-US" sz="2400" dirty="0"/>
              <a:t>時速何</a:t>
            </a:r>
            <a:r>
              <a:rPr lang="en-US" altLang="ja-JP" sz="2400" dirty="0"/>
              <a:t>km</a:t>
            </a:r>
            <a:r>
              <a:rPr lang="ja-JP" altLang="en-US" sz="2400" dirty="0"/>
              <a:t>ですか：</a:t>
            </a:r>
            <a:r>
              <a:rPr lang="en-US" altLang="ja-JP" sz="2400" dirty="0">
                <a:solidFill>
                  <a:srgbClr val="FF0000"/>
                </a:solidFill>
              </a:rPr>
              <a:t>100</a:t>
            </a:r>
          </a:p>
          <a:p>
            <a:r>
              <a:rPr lang="ja-JP" altLang="en-US" sz="2400" dirty="0"/>
              <a:t>それを秒速に変換すると秒速</a:t>
            </a:r>
            <a:r>
              <a:rPr lang="en-US" altLang="ja-JP" sz="2400" dirty="0"/>
              <a:t>0.027778km</a:t>
            </a:r>
            <a:r>
              <a:rPr lang="ja-JP" altLang="en-US" sz="2400" dirty="0"/>
              <a:t>です</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a:t>
            </a:r>
          </a:p>
        </p:txBody>
      </p:sp>
    </p:spTree>
    <p:extLst>
      <p:ext uri="{BB962C8B-B14F-4D97-AF65-F5344CB8AC3E}">
        <p14:creationId xmlns:p14="http://schemas.microsoft.com/office/powerpoint/2010/main" val="3014938700"/>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タイトル 1"/>
          <p:cNvSpPr>
            <a:spLocks noGrp="1"/>
          </p:cNvSpPr>
          <p:nvPr>
            <p:ph type="title"/>
          </p:nvPr>
        </p:nvSpPr>
        <p:spPr>
          <a:xfrm>
            <a:off x="457200" y="274638"/>
            <a:ext cx="8229600" cy="815445"/>
          </a:xfrm>
        </p:spPr>
        <p:txBody>
          <a:bodyPr>
            <a:normAutofit/>
          </a:bodyPr>
          <a:lstStyle/>
          <a:p>
            <a:r>
              <a:rPr lang="ja-JP" altLang="en-US" sz="3600" dirty="0">
                <a:latin typeface="Calibri" charset="0"/>
              </a:rPr>
              <a:t>参考課題２　解答例</a:t>
            </a:r>
          </a:p>
        </p:txBody>
      </p:sp>
      <p:sp>
        <p:nvSpPr>
          <p:cNvPr id="44037" name="正方形/長方形 6"/>
          <p:cNvSpPr>
            <a:spLocks noChangeArrowheads="1"/>
          </p:cNvSpPr>
          <p:nvPr/>
        </p:nvSpPr>
        <p:spPr bwMode="auto">
          <a:xfrm>
            <a:off x="684380" y="1370135"/>
            <a:ext cx="7848600" cy="4154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a:t>
            </a:r>
            <a:endParaRPr lang="ja-JP" sz="2400" dirty="0"/>
          </a:p>
          <a:p>
            <a:r>
              <a:rPr lang="en-US" altLang="ja-JP" sz="2400" dirty="0"/>
              <a:t>{</a:t>
            </a:r>
            <a:endParaRPr lang="ja-JP" sz="2400" dirty="0"/>
          </a:p>
          <a:p>
            <a:r>
              <a:rPr lang="en-US" altLang="ja-JP" sz="2400" dirty="0"/>
              <a:t>    double a;</a:t>
            </a:r>
          </a:p>
          <a:p>
            <a:r>
              <a:rPr lang="en-US" altLang="ja-JP" sz="2400" dirty="0"/>
              <a:t>    double b;</a:t>
            </a:r>
            <a:endParaRPr lang="ja-JP" sz="2400" dirty="0"/>
          </a:p>
          <a:p>
            <a:r>
              <a:rPr lang="en-US" altLang="ja-JP" sz="2400" dirty="0"/>
              <a:t> </a:t>
            </a:r>
            <a:r>
              <a:rPr lang="en-US" altLang="ja-JP" sz="2400" dirty="0" smtClean="0"/>
              <a:t>   </a:t>
            </a:r>
            <a:r>
              <a:rPr lang="en-US" altLang="ja-JP" sz="2400" dirty="0" err="1" smtClean="0"/>
              <a:t>printf</a:t>
            </a:r>
            <a:r>
              <a:rPr lang="en-US" altLang="ja-JP" sz="2400" dirty="0" smtClean="0"/>
              <a:t>(“</a:t>
            </a:r>
            <a:r>
              <a:rPr lang="ja-JP" altLang="en-US" sz="2400" dirty="0" smtClean="0"/>
              <a:t>時速</a:t>
            </a:r>
            <a:r>
              <a:rPr lang="ja-JP" altLang="en-US" sz="2400" dirty="0"/>
              <a:t>何</a:t>
            </a:r>
            <a:r>
              <a:rPr lang="en-US" altLang="ja-JP" sz="2400" dirty="0"/>
              <a:t>km</a:t>
            </a:r>
            <a:r>
              <a:rPr lang="ja-JP" altLang="en-US" sz="2400" dirty="0"/>
              <a:t>ですか</a:t>
            </a:r>
            <a:r>
              <a:rPr lang="ja-JP" altLang="en-US" sz="2400" dirty="0" smtClean="0"/>
              <a:t>：</a:t>
            </a:r>
            <a:r>
              <a:rPr lang="en-US" altLang="ja-JP" sz="2400" dirty="0" smtClean="0"/>
              <a:t>”);</a:t>
            </a:r>
            <a:endParaRPr lang="en-US" altLang="ja-JP" sz="2400" dirty="0"/>
          </a:p>
          <a:p>
            <a:r>
              <a:rPr lang="en-US" altLang="ja-JP" sz="2400" dirty="0"/>
              <a:t> </a:t>
            </a:r>
            <a:r>
              <a:rPr lang="en-US" altLang="ja-JP" sz="2400" dirty="0" smtClean="0"/>
              <a:t>   </a:t>
            </a:r>
            <a:r>
              <a:rPr lang="en-US" altLang="ja-JP" sz="2400" dirty="0" err="1" smtClean="0"/>
              <a:t>scanf</a:t>
            </a:r>
            <a:r>
              <a:rPr lang="en-US" altLang="ja-JP" sz="2400" dirty="0"/>
              <a:t>("%lf", &amp;a);</a:t>
            </a:r>
            <a:endParaRPr lang="ja-JP" sz="2400" dirty="0"/>
          </a:p>
          <a:p>
            <a:r>
              <a:rPr lang="en-US" altLang="ja-JP" sz="2400" dirty="0"/>
              <a:t>    b=a/3600;</a:t>
            </a:r>
            <a:endParaRPr lang="ja-JP" sz="2400" dirty="0"/>
          </a:p>
          <a:p>
            <a:r>
              <a:rPr lang="en-US" altLang="ja-JP" sz="2400" dirty="0"/>
              <a:t> </a:t>
            </a:r>
            <a:r>
              <a:rPr lang="en-US" altLang="ja-JP" sz="2400" dirty="0" smtClean="0"/>
              <a:t>   </a:t>
            </a:r>
            <a:r>
              <a:rPr lang="en-US" altLang="ja-JP" sz="2400" dirty="0" err="1" smtClean="0"/>
              <a:t>printf</a:t>
            </a:r>
            <a:r>
              <a:rPr lang="en-US" altLang="ja-JP" sz="2400" dirty="0"/>
              <a:t>(“</a:t>
            </a:r>
            <a:r>
              <a:rPr lang="ja-JP" altLang="en-US" sz="2400" dirty="0"/>
              <a:t>それを秒速に変換すると秒速</a:t>
            </a:r>
            <a:r>
              <a:rPr lang="en-US" altLang="ja-JP" sz="2400" dirty="0"/>
              <a:t>%</a:t>
            </a:r>
            <a:r>
              <a:rPr lang="en-US" altLang="ja-JP" sz="2400" dirty="0" err="1"/>
              <a:t>fkm</a:t>
            </a:r>
            <a:r>
              <a:rPr lang="ja-JP" altLang="en-US" sz="2400" dirty="0"/>
              <a:t>です</a:t>
            </a:r>
            <a:r>
              <a:rPr lang="en-US" altLang="ja-JP" sz="2400" dirty="0"/>
              <a:t>”,</a:t>
            </a:r>
            <a:r>
              <a:rPr lang="ja-JP" altLang="en-US" sz="2400" dirty="0"/>
              <a:t> </a:t>
            </a:r>
            <a:r>
              <a:rPr lang="en-US" altLang="ja-JP" sz="2400" dirty="0"/>
              <a:t>b);</a:t>
            </a:r>
            <a:endParaRPr lang="ja-JP" sz="2400" dirty="0"/>
          </a:p>
          <a:p>
            <a:r>
              <a:rPr lang="en-US" altLang="ja-JP" sz="2400" dirty="0"/>
              <a:t>    return 0;</a:t>
            </a:r>
            <a:endParaRPr lang="ja-JP" sz="2400" dirty="0"/>
          </a:p>
          <a:p>
            <a:r>
              <a:rPr lang="en-US" altLang="ja-JP" sz="2400" dirty="0"/>
              <a:t>}</a:t>
            </a:r>
            <a:endParaRPr lang="ja-JP" sz="2400" dirty="0"/>
          </a:p>
        </p:txBody>
      </p:sp>
    </p:spTree>
    <p:extLst>
      <p:ext uri="{BB962C8B-B14F-4D97-AF65-F5344CB8AC3E}">
        <p14:creationId xmlns:p14="http://schemas.microsoft.com/office/powerpoint/2010/main" val="5456842"/>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タイトル 1"/>
          <p:cNvSpPr>
            <a:spLocks noGrp="1"/>
          </p:cNvSpPr>
          <p:nvPr>
            <p:ph type="title"/>
          </p:nvPr>
        </p:nvSpPr>
        <p:spPr>
          <a:xfrm>
            <a:off x="457200" y="274638"/>
            <a:ext cx="8229600" cy="773112"/>
          </a:xfrm>
        </p:spPr>
        <p:txBody>
          <a:bodyPr>
            <a:normAutofit/>
          </a:bodyPr>
          <a:lstStyle/>
          <a:p>
            <a:r>
              <a:rPr lang="ja-JP" altLang="en-US" sz="3600" dirty="0">
                <a:latin typeface="Calibri" charset="0"/>
              </a:rPr>
              <a:t>参考課題３</a:t>
            </a:r>
          </a:p>
        </p:txBody>
      </p:sp>
      <p:sp>
        <p:nvSpPr>
          <p:cNvPr id="45061" name="テキスト ボックス 6"/>
          <p:cNvSpPr txBox="1">
            <a:spLocks noChangeArrowheads="1"/>
          </p:cNvSpPr>
          <p:nvPr/>
        </p:nvSpPr>
        <p:spPr bwMode="auto">
          <a:xfrm>
            <a:off x="611188" y="1301750"/>
            <a:ext cx="734536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en-US" altLang="ja-JP" sz="2400"/>
              <a:t>double</a:t>
            </a:r>
            <a:r>
              <a:rPr lang="ja-JP" altLang="en-US" sz="2400"/>
              <a:t>型の値をキーボードから受け取り、四捨五入した値を表示するプログラムを書け。</a:t>
            </a:r>
          </a:p>
        </p:txBody>
      </p:sp>
      <p:sp>
        <p:nvSpPr>
          <p:cNvPr id="45062" name="正方形/長方形 7"/>
          <p:cNvSpPr>
            <a:spLocks noChangeArrowheads="1"/>
          </p:cNvSpPr>
          <p:nvPr/>
        </p:nvSpPr>
        <p:spPr bwMode="auto">
          <a:xfrm>
            <a:off x="827088" y="2661708"/>
            <a:ext cx="65532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ja-JP" sz="2400" dirty="0"/>
              <a:t>[</a:t>
            </a:r>
            <a:r>
              <a:rPr lang="ja-JP" altLang="en-US" sz="2400" dirty="0"/>
              <a:t>実行例</a:t>
            </a:r>
            <a:r>
              <a:rPr lang="en-US" altLang="ja-JP" sz="2400" dirty="0" smtClean="0"/>
              <a:t>]</a:t>
            </a:r>
            <a:endParaRPr lang="en-US" altLang="ja-JP" sz="2400" dirty="0"/>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 ./sankou2-3</a:t>
            </a:r>
          </a:p>
          <a:p>
            <a:r>
              <a:rPr lang="ja-JP" altLang="en-US" sz="2400" dirty="0"/>
              <a:t>小数点第</a:t>
            </a:r>
            <a:r>
              <a:rPr lang="en-US" altLang="ja-JP" sz="2400" dirty="0"/>
              <a:t>1</a:t>
            </a:r>
            <a:r>
              <a:rPr lang="ja-JP" altLang="en-US" sz="2400" dirty="0"/>
              <a:t>位を四捨五入します。</a:t>
            </a:r>
          </a:p>
          <a:p>
            <a:r>
              <a:rPr lang="ja-JP" altLang="en-US" sz="2400" dirty="0"/>
              <a:t>値を入力してください：</a:t>
            </a:r>
            <a:r>
              <a:rPr lang="en-US" altLang="ja-JP" sz="2400" dirty="0">
                <a:solidFill>
                  <a:srgbClr val="FF0000"/>
                </a:solidFill>
              </a:rPr>
              <a:t>2.6</a:t>
            </a:r>
          </a:p>
          <a:p>
            <a:r>
              <a:rPr lang="ja-JP" altLang="en-US" sz="2400" dirty="0"/>
              <a:t>四捨五入した値は</a:t>
            </a:r>
            <a:r>
              <a:rPr lang="en-US" altLang="ja-JP" sz="2400" dirty="0"/>
              <a:t>3</a:t>
            </a:r>
            <a:r>
              <a:rPr lang="ja-JP" altLang="en-US" sz="2400" dirty="0"/>
              <a:t>です。</a:t>
            </a:r>
          </a:p>
          <a:p>
            <a:r>
              <a:rPr lang="en-US" altLang="ja-JP" sz="2400" dirty="0"/>
              <a:t>[</a:t>
            </a:r>
            <a:r>
              <a:rPr lang="en-US" altLang="ja-JP" sz="2400" dirty="0" err="1"/>
              <a:t>sasano@localhost</a:t>
            </a:r>
            <a:r>
              <a:rPr lang="en-US" altLang="ja-JP" sz="2400" dirty="0"/>
              <a:t> </a:t>
            </a:r>
            <a:r>
              <a:rPr lang="en-US" altLang="ja-JP" sz="2400" dirty="0" err="1"/>
              <a:t>enshu</a:t>
            </a:r>
            <a:r>
              <a:rPr lang="en-US" altLang="ja-JP" sz="2400" dirty="0"/>
              <a:t>]$</a:t>
            </a:r>
          </a:p>
        </p:txBody>
      </p:sp>
    </p:spTree>
    <p:extLst>
      <p:ext uri="{BB962C8B-B14F-4D97-AF65-F5344CB8AC3E}">
        <p14:creationId xmlns:p14="http://schemas.microsoft.com/office/powerpoint/2010/main" val="3434738773"/>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タイトル 1"/>
          <p:cNvSpPr>
            <a:spLocks noGrp="1"/>
          </p:cNvSpPr>
          <p:nvPr>
            <p:ph type="title"/>
          </p:nvPr>
        </p:nvSpPr>
        <p:spPr>
          <a:xfrm>
            <a:off x="457200" y="274638"/>
            <a:ext cx="8229600" cy="963612"/>
          </a:xfrm>
        </p:spPr>
        <p:txBody>
          <a:bodyPr>
            <a:normAutofit/>
          </a:bodyPr>
          <a:lstStyle/>
          <a:p>
            <a:r>
              <a:rPr lang="ja-JP" altLang="en-US" sz="3600" dirty="0">
                <a:latin typeface="Calibri" charset="0"/>
              </a:rPr>
              <a:t>参考課題３　解答例</a:t>
            </a:r>
          </a:p>
        </p:txBody>
      </p:sp>
      <p:sp>
        <p:nvSpPr>
          <p:cNvPr id="46085" name="Rectangle 1"/>
          <p:cNvSpPr>
            <a:spLocks noChangeArrowheads="1"/>
          </p:cNvSpPr>
          <p:nvPr/>
        </p:nvSpPr>
        <p:spPr bwMode="auto">
          <a:xfrm>
            <a:off x="539750" y="1125538"/>
            <a:ext cx="6797675" cy="452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ltLang="ja-JP" sz="2400">
                <a:cs typeface="Arial" charset="0"/>
              </a:rPr>
              <a:t>#include</a:t>
            </a:r>
            <a:r>
              <a:rPr lang="ja-JP" altLang="en-US" sz="2400">
                <a:cs typeface="Arial" charset="0"/>
              </a:rPr>
              <a:t> </a:t>
            </a:r>
            <a:r>
              <a:rPr lang="en-US" altLang="ja-JP" sz="2400">
                <a:cs typeface="Arial" charset="0"/>
              </a:rPr>
              <a:t>&lt;stdio.h&gt;</a:t>
            </a:r>
          </a:p>
          <a:p>
            <a:r>
              <a:rPr lang="en-US" altLang="ja-JP" sz="2400">
                <a:cs typeface="Arial" charset="0"/>
              </a:rPr>
              <a:t>int main(void)</a:t>
            </a:r>
          </a:p>
          <a:p>
            <a:r>
              <a:rPr lang="en-US" altLang="ja-JP" sz="2400">
                <a:cs typeface="Arial" charset="0"/>
              </a:rPr>
              <a:t>{</a:t>
            </a:r>
          </a:p>
          <a:p>
            <a:r>
              <a:rPr lang="en-US" altLang="ja-JP" sz="2400">
                <a:cs typeface="Arial" charset="0"/>
              </a:rPr>
              <a:t>    double x;</a:t>
            </a:r>
          </a:p>
          <a:p>
            <a:r>
              <a:rPr lang="en-US" altLang="ja-JP" sz="2400">
                <a:cs typeface="Arial" charset="0"/>
              </a:rPr>
              <a:t>    int y;</a:t>
            </a:r>
          </a:p>
          <a:p>
            <a:r>
              <a:rPr lang="en-US" altLang="ja-JP" sz="2400">
                <a:cs typeface="Arial" charset="0"/>
              </a:rPr>
              <a:t>    printf("</a:t>
            </a:r>
            <a:r>
              <a:rPr lang="ja-JP" altLang="en-US" sz="2400">
                <a:cs typeface="Arial" charset="0"/>
              </a:rPr>
              <a:t>小数点第</a:t>
            </a:r>
            <a:r>
              <a:rPr lang="en-US" altLang="ja-JP" sz="2400">
                <a:cs typeface="Arial" charset="0"/>
              </a:rPr>
              <a:t>1</a:t>
            </a:r>
            <a:r>
              <a:rPr lang="ja-JP" altLang="en-US" sz="2400">
                <a:cs typeface="Arial" charset="0"/>
              </a:rPr>
              <a:t>位を四捨五入します。</a:t>
            </a:r>
            <a:r>
              <a:rPr lang="en-US" altLang="ja-JP" sz="2400">
                <a:cs typeface="Arial" charset="0"/>
              </a:rPr>
              <a:t>\n");</a:t>
            </a:r>
          </a:p>
          <a:p>
            <a:r>
              <a:rPr lang="en-US" altLang="ja-JP" sz="2400">
                <a:cs typeface="Arial" charset="0"/>
              </a:rPr>
              <a:t>    printf("</a:t>
            </a:r>
            <a:r>
              <a:rPr lang="ja-JP" altLang="en-US" sz="2400">
                <a:cs typeface="Arial" charset="0"/>
              </a:rPr>
              <a:t>値を入力してください：</a:t>
            </a:r>
            <a:r>
              <a:rPr lang="en-US" altLang="ja-JP" sz="2400">
                <a:cs typeface="Arial" charset="0"/>
              </a:rPr>
              <a:t>");</a:t>
            </a:r>
          </a:p>
          <a:p>
            <a:r>
              <a:rPr lang="en-US" altLang="ja-JP" sz="2400">
                <a:cs typeface="Arial" charset="0"/>
              </a:rPr>
              <a:t>    scanf("%lf" , &amp;x);</a:t>
            </a:r>
          </a:p>
          <a:p>
            <a:r>
              <a:rPr lang="en-US" altLang="ja-JP" sz="2400">
                <a:cs typeface="Arial" charset="0"/>
              </a:rPr>
              <a:t>    y = (int)(x+0.5);</a:t>
            </a:r>
          </a:p>
          <a:p>
            <a:r>
              <a:rPr lang="en-US" altLang="ja-JP" sz="2400">
                <a:cs typeface="Arial" charset="0"/>
              </a:rPr>
              <a:t>    printf("</a:t>
            </a:r>
            <a:r>
              <a:rPr lang="ja-JP" altLang="en-US" sz="2400">
                <a:cs typeface="Arial" charset="0"/>
              </a:rPr>
              <a:t>四捨五入した値は</a:t>
            </a:r>
            <a:r>
              <a:rPr lang="en-US" altLang="ja-JP" sz="2400">
                <a:cs typeface="Arial" charset="0"/>
              </a:rPr>
              <a:t>%d</a:t>
            </a:r>
            <a:r>
              <a:rPr lang="ja-JP" altLang="en-US" sz="2400">
                <a:cs typeface="Arial" charset="0"/>
              </a:rPr>
              <a:t>です。</a:t>
            </a:r>
            <a:r>
              <a:rPr lang="en-US" altLang="ja-JP" sz="2400">
                <a:cs typeface="Arial" charset="0"/>
              </a:rPr>
              <a:t>\n", y);</a:t>
            </a:r>
          </a:p>
          <a:p>
            <a:r>
              <a:rPr lang="en-US" altLang="ja-JP" sz="2400">
                <a:cs typeface="Arial" charset="0"/>
              </a:rPr>
              <a:t>    return 0;</a:t>
            </a:r>
          </a:p>
          <a:p>
            <a:r>
              <a:rPr lang="en-US" altLang="ja-JP" sz="2400">
                <a:cs typeface="Arial" charset="0"/>
              </a:rPr>
              <a:t>}</a:t>
            </a:r>
          </a:p>
        </p:txBody>
      </p:sp>
    </p:spTree>
    <p:extLst>
      <p:ext uri="{BB962C8B-B14F-4D97-AF65-F5344CB8AC3E}">
        <p14:creationId xmlns:p14="http://schemas.microsoft.com/office/powerpoint/2010/main" val="2393920076"/>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タイトル 1"/>
          <p:cNvSpPr>
            <a:spLocks noGrp="1"/>
          </p:cNvSpPr>
          <p:nvPr>
            <p:ph type="title"/>
          </p:nvPr>
        </p:nvSpPr>
        <p:spPr>
          <a:xfrm>
            <a:off x="457200" y="274638"/>
            <a:ext cx="8229600" cy="826029"/>
          </a:xfrm>
        </p:spPr>
        <p:txBody>
          <a:bodyPr>
            <a:normAutofit/>
          </a:bodyPr>
          <a:lstStyle/>
          <a:p>
            <a:r>
              <a:rPr lang="ja-JP" altLang="en-US" sz="3600" dirty="0">
                <a:latin typeface="Calibri" charset="0"/>
              </a:rPr>
              <a:t>参考課題４</a:t>
            </a:r>
          </a:p>
        </p:txBody>
      </p:sp>
      <p:sp>
        <p:nvSpPr>
          <p:cNvPr id="47109" name="正方形/長方形 6"/>
          <p:cNvSpPr>
            <a:spLocks noChangeArrowheads="1"/>
          </p:cNvSpPr>
          <p:nvPr/>
        </p:nvSpPr>
        <p:spPr bwMode="auto">
          <a:xfrm>
            <a:off x="755650" y="1341438"/>
            <a:ext cx="74882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ja-JP" altLang="en-US" sz="2400"/>
              <a:t>次のプログラムを実行すると</a:t>
            </a:r>
            <a:r>
              <a:rPr lang="en-US" altLang="ja-JP" sz="2400"/>
              <a:t>1.000...</a:t>
            </a:r>
            <a:r>
              <a:rPr lang="ja-JP" altLang="en-US" sz="2400"/>
              <a:t>と表示される。このプログラムを</a:t>
            </a:r>
            <a:r>
              <a:rPr lang="en-US" altLang="ja-JP" sz="2400"/>
              <a:t>1.500...</a:t>
            </a:r>
            <a:r>
              <a:rPr lang="ja-JP" altLang="en-US" sz="2400"/>
              <a:t>と表示されるようにせよ。</a:t>
            </a:r>
          </a:p>
        </p:txBody>
      </p:sp>
      <p:sp>
        <p:nvSpPr>
          <p:cNvPr id="47110" name="正方形/長方形 7"/>
          <p:cNvSpPr>
            <a:spLocks noChangeArrowheads="1"/>
          </p:cNvSpPr>
          <p:nvPr/>
        </p:nvSpPr>
        <p:spPr bwMode="auto">
          <a:xfrm>
            <a:off x="1331913" y="2565400"/>
            <a:ext cx="4572000" cy="2308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ja-JP" sz="2400"/>
              <a:t>#include&lt;stdio.h&gt;</a:t>
            </a:r>
          </a:p>
          <a:p>
            <a:r>
              <a:rPr lang="en-US" altLang="ja-JP" sz="2400"/>
              <a:t>int main(void)</a:t>
            </a:r>
          </a:p>
          <a:p>
            <a:r>
              <a:rPr lang="en-US" altLang="ja-JP" sz="2400"/>
              <a:t>{</a:t>
            </a:r>
          </a:p>
          <a:p>
            <a:r>
              <a:rPr lang="en-US" altLang="ja-JP" sz="2400"/>
              <a:t> </a:t>
            </a:r>
            <a:r>
              <a:rPr lang="ja-JP" altLang="en-US" sz="2400"/>
              <a:t>  </a:t>
            </a:r>
            <a:r>
              <a:rPr lang="en-US" altLang="ja-JP" sz="2400"/>
              <a:t> printf(“%f\n”,</a:t>
            </a:r>
            <a:r>
              <a:rPr lang="ja-JP" altLang="en-US" sz="2400"/>
              <a:t> </a:t>
            </a:r>
            <a:r>
              <a:rPr lang="en-US" altLang="ja-JP" sz="2400"/>
              <a:t>3/2);</a:t>
            </a:r>
          </a:p>
          <a:p>
            <a:r>
              <a:rPr lang="en-US" altLang="ja-JP" sz="2400"/>
              <a:t>    return 0;</a:t>
            </a:r>
          </a:p>
          <a:p>
            <a:r>
              <a:rPr lang="en-US" altLang="ja-JP" sz="2400"/>
              <a:t>}</a:t>
            </a:r>
            <a:endParaRPr lang="ja-JP" altLang="en-US" sz="2400"/>
          </a:p>
        </p:txBody>
      </p:sp>
    </p:spTree>
    <p:extLst>
      <p:ext uri="{BB962C8B-B14F-4D97-AF65-F5344CB8AC3E}">
        <p14:creationId xmlns:p14="http://schemas.microsoft.com/office/powerpoint/2010/main" val="2697332914"/>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タイトル 1"/>
          <p:cNvSpPr>
            <a:spLocks noGrp="1"/>
          </p:cNvSpPr>
          <p:nvPr>
            <p:ph type="title"/>
          </p:nvPr>
        </p:nvSpPr>
        <p:spPr>
          <a:xfrm>
            <a:off x="457200" y="274638"/>
            <a:ext cx="8229600" cy="984779"/>
          </a:xfrm>
        </p:spPr>
        <p:txBody>
          <a:bodyPr>
            <a:normAutofit/>
          </a:bodyPr>
          <a:lstStyle/>
          <a:p>
            <a:r>
              <a:rPr lang="ja-JP" altLang="en-US" sz="3600" dirty="0">
                <a:latin typeface="Calibri" charset="0"/>
              </a:rPr>
              <a:t>参考課題４　解答例</a:t>
            </a:r>
          </a:p>
        </p:txBody>
      </p:sp>
      <p:sp>
        <p:nvSpPr>
          <p:cNvPr id="48133" name="正方形/長方形 7"/>
          <p:cNvSpPr>
            <a:spLocks noChangeArrowheads="1"/>
          </p:cNvSpPr>
          <p:nvPr/>
        </p:nvSpPr>
        <p:spPr bwMode="auto">
          <a:xfrm>
            <a:off x="827088" y="1341438"/>
            <a:ext cx="4572000" cy="2308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r>
              <a:rPr lang="en-US" altLang="ja-JP" sz="2400"/>
              <a:t>#include&lt;stdio.h&gt;</a:t>
            </a:r>
          </a:p>
          <a:p>
            <a:r>
              <a:rPr lang="en-US" altLang="ja-JP" sz="2400"/>
              <a:t>int main(void)</a:t>
            </a:r>
          </a:p>
          <a:p>
            <a:r>
              <a:rPr lang="en-US" altLang="ja-JP" sz="2400"/>
              <a:t>{</a:t>
            </a:r>
          </a:p>
          <a:p>
            <a:r>
              <a:rPr lang="en-US" altLang="ja-JP" sz="2400"/>
              <a:t> </a:t>
            </a:r>
            <a:r>
              <a:rPr lang="ja-JP" altLang="en-US" sz="2400"/>
              <a:t>  </a:t>
            </a:r>
            <a:r>
              <a:rPr lang="en-US" altLang="ja-JP" sz="2400"/>
              <a:t> printf("%f\n",3.0/2);</a:t>
            </a:r>
          </a:p>
          <a:p>
            <a:r>
              <a:rPr lang="en-US" altLang="ja-JP" sz="2400"/>
              <a:t>    return 0;</a:t>
            </a:r>
          </a:p>
          <a:p>
            <a:r>
              <a:rPr lang="en-US" altLang="ja-JP" sz="2400"/>
              <a:t>}</a:t>
            </a:r>
            <a:endParaRPr lang="ja-JP" altLang="en-US" sz="2400"/>
          </a:p>
        </p:txBody>
      </p:sp>
      <p:sp>
        <p:nvSpPr>
          <p:cNvPr id="48134" name="正方形/長方形 8"/>
          <p:cNvSpPr>
            <a:spLocks noChangeArrowheads="1"/>
          </p:cNvSpPr>
          <p:nvPr/>
        </p:nvSpPr>
        <p:spPr bwMode="auto">
          <a:xfrm>
            <a:off x="684213" y="4005263"/>
            <a:ext cx="42545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ja-JP" altLang="en-US" sz="2400"/>
              <a:t>上記の解答で、</a:t>
            </a:r>
            <a:r>
              <a:rPr lang="en-US" altLang="ja-JP" sz="2400"/>
              <a:t>printf</a:t>
            </a:r>
            <a:r>
              <a:rPr lang="ja-JP" altLang="en-US" sz="2400"/>
              <a:t>の部分は</a:t>
            </a:r>
            <a:endParaRPr lang="en-US" altLang="ja-JP" sz="2400"/>
          </a:p>
          <a:p>
            <a:r>
              <a:rPr lang="en-US" altLang="ja-JP" sz="2400"/>
              <a:t>printf("%f\n",3/2.0);</a:t>
            </a:r>
          </a:p>
          <a:p>
            <a:r>
              <a:rPr lang="ja-JP" altLang="en-US" sz="2400"/>
              <a:t>や</a:t>
            </a:r>
            <a:endParaRPr lang="en-US" altLang="ja-JP" sz="2400"/>
          </a:p>
          <a:p>
            <a:r>
              <a:rPr lang="en-US" altLang="ja-JP" sz="2400"/>
              <a:t>printf("%f\n",3.0/2.0);</a:t>
            </a:r>
          </a:p>
          <a:p>
            <a:r>
              <a:rPr lang="ja-JP" altLang="en-US" sz="2400"/>
              <a:t>でもよい。</a:t>
            </a:r>
            <a:endParaRPr lang="en-US" altLang="ja-JP" sz="2400"/>
          </a:p>
        </p:txBody>
      </p:sp>
    </p:spTree>
    <p:extLst>
      <p:ext uri="{BB962C8B-B14F-4D97-AF65-F5344CB8AC3E}">
        <p14:creationId xmlns:p14="http://schemas.microsoft.com/office/powerpoint/2010/main" val="1663747670"/>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611188" y="411163"/>
            <a:ext cx="7620000" cy="685800"/>
          </a:xfrm>
        </p:spPr>
        <p:txBody>
          <a:bodyPr>
            <a:normAutofit/>
          </a:bodyPr>
          <a:lstStyle/>
          <a:p>
            <a:r>
              <a:rPr kumimoji="0" lang="ja-JP" altLang="en-US" sz="3600" dirty="0">
                <a:latin typeface="Calibri" charset="0"/>
              </a:rPr>
              <a:t>参考課題５</a:t>
            </a:r>
            <a:endParaRPr kumimoji="0" lang="en-US" altLang="ja-JP" sz="3600" dirty="0">
              <a:latin typeface="Calibri" charset="0"/>
            </a:endParaRPr>
          </a:p>
        </p:txBody>
      </p:sp>
      <p:sp>
        <p:nvSpPr>
          <p:cNvPr id="49157" name="正方形/長方形 6"/>
          <p:cNvSpPr>
            <a:spLocks noChangeArrowheads="1"/>
          </p:cNvSpPr>
          <p:nvPr/>
        </p:nvSpPr>
        <p:spPr bwMode="auto">
          <a:xfrm>
            <a:off x="827088" y="3771900"/>
            <a:ext cx="6769100" cy="120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58800" indent="-558800" eaLnBrk="1" hangingPunct="1">
              <a:lnSpc>
                <a:spcPct val="90000"/>
              </a:lnSpc>
              <a:buFont typeface="Wingdings" charset="0"/>
              <a:buNone/>
            </a:pPr>
            <a:r>
              <a:rPr lang="en-US" altLang="ja-JP" sz="2000" dirty="0">
                <a:ea typeface="ＭＳ Ｐゴシック" charset="0"/>
                <a:cs typeface="ＭＳ Ｐゴシック" charset="0"/>
              </a:rPr>
              <a:t>[</a:t>
            </a:r>
            <a:r>
              <a:rPr lang="ja-JP" altLang="en-US" sz="2000" dirty="0">
                <a:ea typeface="ＭＳ Ｐゴシック" charset="0"/>
                <a:cs typeface="ＭＳ Ｐゴシック" charset="0"/>
              </a:rPr>
              <a:t>実行例</a:t>
            </a:r>
            <a:r>
              <a:rPr lang="en-US" altLang="ja-JP" sz="2000" dirty="0">
                <a:ea typeface="ＭＳ Ｐゴシック" charset="0"/>
                <a:cs typeface="ＭＳ Ｐゴシック" charset="0"/>
              </a:rPr>
              <a:t>] </a:t>
            </a:r>
          </a:p>
          <a:p>
            <a:pPr marL="558800" indent="-558800" eaLnBrk="1" hangingPunct="1">
              <a:lnSpc>
                <a:spcPct val="90000"/>
              </a:lnSpc>
              <a:buFont typeface="Wingdings" charset="0"/>
              <a:buNone/>
            </a:pPr>
            <a:r>
              <a:rPr lang="en-US" altLang="ja-JP" sz="2000" dirty="0">
                <a:ea typeface="ＭＳ Ｐゴシック" charset="0"/>
                <a:cs typeface="ＭＳ Ｐゴシック" charset="0"/>
              </a:rPr>
              <a:t>[</a:t>
            </a:r>
            <a:r>
              <a:rPr lang="en-US" altLang="ja-JP" sz="2000" dirty="0" err="1">
                <a:ea typeface="ＭＳ Ｐゴシック" charset="0"/>
                <a:cs typeface="ＭＳ Ｐゴシック" charset="0"/>
              </a:rPr>
              <a:t>sasano@localhost</a:t>
            </a:r>
            <a:r>
              <a:rPr lang="en-US" altLang="ja-JP" sz="2000" dirty="0">
                <a:ea typeface="ＭＳ Ｐゴシック" charset="0"/>
                <a:cs typeface="ＭＳ Ｐゴシック" charset="0"/>
              </a:rPr>
              <a:t> </a:t>
            </a:r>
            <a:r>
              <a:rPr lang="en-US" altLang="ja-JP" sz="2000" dirty="0" err="1">
                <a:ea typeface="ＭＳ Ｐゴシック" charset="0"/>
                <a:cs typeface="ＭＳ Ｐゴシック" charset="0"/>
              </a:rPr>
              <a:t>enshu</a:t>
            </a:r>
            <a:r>
              <a:rPr lang="en-US" altLang="ja-JP" sz="2000" dirty="0">
                <a:ea typeface="ＭＳ Ｐゴシック" charset="0"/>
                <a:cs typeface="ＭＳ Ｐゴシック" charset="0"/>
              </a:rPr>
              <a:t>]$ ./kadai2-1</a:t>
            </a:r>
          </a:p>
          <a:p>
            <a:pPr marL="558800" indent="-558800" eaLnBrk="1" hangingPunct="1">
              <a:lnSpc>
                <a:spcPct val="90000"/>
              </a:lnSpc>
              <a:buFont typeface="Wingdings" charset="0"/>
              <a:buNone/>
            </a:pPr>
            <a:r>
              <a:rPr lang="ja-JP" altLang="en-US" sz="2000" dirty="0">
                <a:ea typeface="ＭＳ Ｐゴシック" charset="0"/>
                <a:cs typeface="ＭＳ Ｐゴシック" charset="0"/>
              </a:rPr>
              <a:t>身長を入力してください</a:t>
            </a:r>
            <a:r>
              <a:rPr lang="en-US" altLang="ja-JP" sz="2000" dirty="0">
                <a:ea typeface="ＭＳ Ｐゴシック" charset="0"/>
                <a:cs typeface="ＭＳ Ｐゴシック" charset="0"/>
              </a:rPr>
              <a:t>: </a:t>
            </a:r>
            <a:r>
              <a:rPr lang="en-US" altLang="ja-JP" sz="2000" dirty="0">
                <a:solidFill>
                  <a:srgbClr val="FF0000"/>
                </a:solidFill>
                <a:ea typeface="ＭＳ Ｐゴシック" charset="0"/>
                <a:cs typeface="ＭＳ Ｐゴシック" charset="0"/>
              </a:rPr>
              <a:t>176</a:t>
            </a:r>
          </a:p>
          <a:p>
            <a:pPr marL="558800" indent="-558800" eaLnBrk="1" hangingPunct="1">
              <a:lnSpc>
                <a:spcPct val="90000"/>
              </a:lnSpc>
              <a:buFont typeface="Wingdings" charset="0"/>
              <a:buNone/>
            </a:pPr>
            <a:r>
              <a:rPr lang="ja-JP" altLang="en-US" sz="2000" dirty="0">
                <a:ea typeface="ＭＳ Ｐゴシック" charset="0"/>
                <a:cs typeface="ＭＳ Ｐゴシック" charset="0"/>
              </a:rPr>
              <a:t>身長</a:t>
            </a:r>
            <a:r>
              <a:rPr lang="en-US" altLang="ja-JP" sz="2000" dirty="0">
                <a:ea typeface="ＭＳ Ｐゴシック" charset="0"/>
                <a:cs typeface="ＭＳ Ｐゴシック" charset="0"/>
              </a:rPr>
              <a:t>176cm</a:t>
            </a:r>
            <a:r>
              <a:rPr lang="ja-JP" altLang="en-US" sz="2000" dirty="0">
                <a:ea typeface="ＭＳ Ｐゴシック" charset="0"/>
                <a:cs typeface="ＭＳ Ｐゴシック" charset="0"/>
              </a:rPr>
              <a:t>の人の標準体重は</a:t>
            </a:r>
            <a:r>
              <a:rPr lang="en-US" altLang="ja-JP" sz="2000" dirty="0">
                <a:ea typeface="ＭＳ Ｐゴシック" charset="0"/>
                <a:cs typeface="ＭＳ Ｐゴシック" charset="0"/>
              </a:rPr>
              <a:t>68.400000kg</a:t>
            </a:r>
            <a:r>
              <a:rPr lang="ja-JP" altLang="en-US" sz="2000" dirty="0">
                <a:ea typeface="ＭＳ Ｐゴシック" charset="0"/>
                <a:cs typeface="ＭＳ Ｐゴシック" charset="0"/>
              </a:rPr>
              <a:t>です。</a:t>
            </a:r>
          </a:p>
        </p:txBody>
      </p:sp>
      <p:sp>
        <p:nvSpPr>
          <p:cNvPr id="49158" name="テキスト ボックス 8"/>
          <p:cNvSpPr txBox="1">
            <a:spLocks noChangeArrowheads="1"/>
          </p:cNvSpPr>
          <p:nvPr/>
        </p:nvSpPr>
        <p:spPr bwMode="auto">
          <a:xfrm>
            <a:off x="827088" y="1484313"/>
            <a:ext cx="72009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Arial" charset="0"/>
                <a:ea typeface="ヒラギノ角ゴ Pro W3" charset="0"/>
                <a:cs typeface="ヒラギノ角ゴ Pro W3" charset="0"/>
              </a:defRPr>
            </a:lvl1pPr>
            <a:lvl2pPr marL="742950" indent="-285750">
              <a:defRPr kumimoji="1" sz="3600">
                <a:solidFill>
                  <a:schemeClr val="tx1"/>
                </a:solidFill>
                <a:latin typeface="Arial" charset="0"/>
                <a:ea typeface="ヒラギノ角ゴ Pro W3" charset="0"/>
                <a:cs typeface="ヒラギノ角ゴ Pro W3" charset="0"/>
              </a:defRPr>
            </a:lvl2pPr>
            <a:lvl3pPr marL="1143000" indent="-228600">
              <a:defRPr kumimoji="1" sz="3600">
                <a:solidFill>
                  <a:schemeClr val="tx1"/>
                </a:solidFill>
                <a:latin typeface="Arial" charset="0"/>
                <a:ea typeface="ヒラギノ角ゴ Pro W3" charset="0"/>
                <a:cs typeface="ヒラギノ角ゴ Pro W3" charset="0"/>
              </a:defRPr>
            </a:lvl3pPr>
            <a:lvl4pPr marL="1600200" indent="-228600">
              <a:defRPr kumimoji="1" sz="3600">
                <a:solidFill>
                  <a:schemeClr val="tx1"/>
                </a:solidFill>
                <a:latin typeface="Arial" charset="0"/>
                <a:ea typeface="ヒラギノ角ゴ Pro W3" charset="0"/>
                <a:cs typeface="ヒラギノ角ゴ Pro W3" charset="0"/>
              </a:defRPr>
            </a:lvl4pPr>
            <a:lvl5pPr marL="2057400" indent="-228600">
              <a:defRPr kumimoji="1" sz="36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kumimoji="1" sz="3600">
                <a:solidFill>
                  <a:schemeClr val="tx1"/>
                </a:solidFill>
                <a:latin typeface="Arial" charset="0"/>
                <a:ea typeface="ヒラギノ角ゴ Pro W3" charset="0"/>
                <a:cs typeface="ヒラギノ角ゴ Pro W3" charset="0"/>
              </a:defRPr>
            </a:lvl9pPr>
          </a:lstStyle>
          <a:p>
            <a:r>
              <a:rPr lang="ja-JP" altLang="en-US" sz="2000"/>
              <a:t>身長を</a:t>
            </a:r>
            <a:r>
              <a:rPr lang="en-US" altLang="ja-JP" sz="2000"/>
              <a:t>int</a:t>
            </a:r>
            <a:r>
              <a:rPr lang="ja-JP" altLang="en-US" sz="2000"/>
              <a:t>型でキーボードから読み込み、それに対する標準体重を</a:t>
            </a:r>
            <a:r>
              <a:rPr lang="en-US" altLang="ja-JP" sz="2000"/>
              <a:t>double</a:t>
            </a:r>
            <a:r>
              <a:rPr lang="ja-JP" altLang="en-US" sz="2000"/>
              <a:t>型で求め、それを画面上に表示するプログラムを作成せよ。なお、標準体重の計算式は以下で与えられるものとする。</a:t>
            </a:r>
            <a:endParaRPr lang="en-US" altLang="ja-JP" sz="2000"/>
          </a:p>
          <a:p>
            <a:r>
              <a:rPr kumimoji="0" lang="ja-JP" altLang="en-US" sz="2000">
                <a:ea typeface="ＭＳ Ｐゴシック" charset="0"/>
                <a:cs typeface="ＭＳ Ｐゴシック" charset="0"/>
              </a:rPr>
              <a:t>    標準体重　＝　（身長－</a:t>
            </a:r>
            <a:r>
              <a:rPr kumimoji="0" lang="en-US" altLang="ja-JP" sz="2000">
                <a:ea typeface="ＭＳ Ｐゴシック" charset="0"/>
                <a:cs typeface="ＭＳ Ｐゴシック" charset="0"/>
              </a:rPr>
              <a:t>100</a:t>
            </a:r>
            <a:r>
              <a:rPr kumimoji="0" lang="ja-JP" altLang="en-US" sz="2000">
                <a:ea typeface="ＭＳ Ｐゴシック" charset="0"/>
                <a:cs typeface="ＭＳ Ｐゴシック" charset="0"/>
              </a:rPr>
              <a:t>）</a:t>
            </a:r>
            <a:r>
              <a:rPr kumimoji="0" lang="en-US" altLang="ja-JP" sz="2000">
                <a:ea typeface="ＭＳ Ｐゴシック" charset="0"/>
                <a:cs typeface="ＭＳ Ｐゴシック" charset="0"/>
              </a:rPr>
              <a:t>×0.9</a:t>
            </a:r>
            <a:endParaRPr lang="ja-JP" altLang="en-US" sz="2000"/>
          </a:p>
        </p:txBody>
      </p:sp>
    </p:spTree>
    <p:extLst>
      <p:ext uri="{BB962C8B-B14F-4D97-AF65-F5344CB8AC3E}">
        <p14:creationId xmlns:p14="http://schemas.microsoft.com/office/powerpoint/2010/main" val="1133986195"/>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タイトル 1"/>
          <p:cNvSpPr>
            <a:spLocks noGrp="1"/>
          </p:cNvSpPr>
          <p:nvPr>
            <p:ph type="title"/>
          </p:nvPr>
        </p:nvSpPr>
        <p:spPr>
          <a:xfrm>
            <a:off x="457200" y="274638"/>
            <a:ext cx="8229600" cy="709612"/>
          </a:xfrm>
        </p:spPr>
        <p:txBody>
          <a:bodyPr>
            <a:normAutofit/>
          </a:bodyPr>
          <a:lstStyle/>
          <a:p>
            <a:r>
              <a:rPr lang="ja-JP" altLang="en-US" sz="3600" dirty="0">
                <a:latin typeface="Calibri" charset="0"/>
              </a:rPr>
              <a:t>参考課題５　解答例</a:t>
            </a:r>
          </a:p>
        </p:txBody>
      </p:sp>
      <p:sp>
        <p:nvSpPr>
          <p:cNvPr id="50181" name="正方形/長方形 6"/>
          <p:cNvSpPr>
            <a:spLocks noChangeArrowheads="1"/>
          </p:cNvSpPr>
          <p:nvPr/>
        </p:nvSpPr>
        <p:spPr bwMode="auto">
          <a:xfrm>
            <a:off x="684213" y="1484313"/>
            <a:ext cx="77755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height;</a:t>
            </a:r>
          </a:p>
          <a:p>
            <a:r>
              <a:rPr lang="en-US" altLang="ja-JP" sz="2400" dirty="0"/>
              <a:t>    </a:t>
            </a:r>
            <a:r>
              <a:rPr lang="en-US" altLang="ja-JP" sz="2400" dirty="0" err="1"/>
              <a:t>printf</a:t>
            </a:r>
            <a:r>
              <a:rPr lang="en-US" altLang="ja-JP" sz="2400" dirty="0"/>
              <a:t> ("</a:t>
            </a:r>
            <a:r>
              <a:rPr lang="ja-JP" altLang="en-US" sz="2400" dirty="0"/>
              <a:t>身長を入力してください</a:t>
            </a:r>
            <a:r>
              <a:rPr lang="en-US" altLang="ja-JP" sz="2400" dirty="0"/>
              <a:t>: ");</a:t>
            </a:r>
          </a:p>
          <a:p>
            <a:r>
              <a:rPr lang="en-US" altLang="ja-JP" sz="2400" dirty="0"/>
              <a:t>    </a:t>
            </a:r>
            <a:r>
              <a:rPr lang="en-US" altLang="ja-JP" sz="2400" dirty="0" err="1"/>
              <a:t>scanf</a:t>
            </a:r>
            <a:r>
              <a:rPr lang="en-US" altLang="ja-JP" sz="2400" dirty="0"/>
              <a:t> ("%d", &amp;height);</a:t>
            </a:r>
          </a:p>
          <a:p>
            <a:r>
              <a:rPr lang="en-US" altLang="ja-JP" sz="2400" dirty="0"/>
              <a:t>    </a:t>
            </a:r>
            <a:r>
              <a:rPr lang="en-US" altLang="ja-JP" sz="2400" dirty="0" err="1"/>
              <a:t>printf</a:t>
            </a:r>
            <a:r>
              <a:rPr lang="en-US" altLang="ja-JP" sz="2400" dirty="0"/>
              <a:t> ("</a:t>
            </a:r>
            <a:r>
              <a:rPr lang="ja-JP" altLang="en-US" sz="2400" dirty="0"/>
              <a:t>身長</a:t>
            </a:r>
            <a:r>
              <a:rPr lang="en-US" altLang="ja-JP" sz="2400" dirty="0"/>
              <a:t>%</a:t>
            </a:r>
            <a:r>
              <a:rPr lang="en-US" altLang="ja-JP" sz="2400" dirty="0" err="1"/>
              <a:t>dcm</a:t>
            </a:r>
            <a:r>
              <a:rPr lang="ja-JP" altLang="en-US" sz="2400" dirty="0"/>
              <a:t>の人の標準体重は</a:t>
            </a:r>
            <a:r>
              <a:rPr lang="en-US" altLang="ja-JP" sz="2400" dirty="0"/>
              <a:t>%</a:t>
            </a:r>
            <a:r>
              <a:rPr lang="en-US" altLang="ja-JP" sz="2400" dirty="0" err="1"/>
              <a:t>fkg</a:t>
            </a:r>
            <a:r>
              <a:rPr lang="ja-JP" altLang="en-US" sz="2400" dirty="0"/>
              <a:t>です。</a:t>
            </a:r>
            <a:r>
              <a:rPr lang="en-US" altLang="ja-JP" sz="2400" dirty="0"/>
              <a:t>\n",</a:t>
            </a:r>
          </a:p>
          <a:p>
            <a:r>
              <a:rPr lang="en-US" altLang="ja-JP" sz="2400" dirty="0"/>
              <a:t>              height, (height - 100) * 0.9);</a:t>
            </a:r>
          </a:p>
          <a:p>
            <a:r>
              <a:rPr lang="en-US" altLang="ja-JP" sz="2400" dirty="0"/>
              <a:t>    return 0;</a:t>
            </a:r>
          </a:p>
          <a:p>
            <a:r>
              <a:rPr lang="en-US" altLang="ja-JP" sz="2400" dirty="0"/>
              <a:t>}</a:t>
            </a:r>
          </a:p>
        </p:txBody>
      </p:sp>
    </p:spTree>
    <p:extLst>
      <p:ext uri="{BB962C8B-B14F-4D97-AF65-F5344CB8AC3E}">
        <p14:creationId xmlns:p14="http://schemas.microsoft.com/office/powerpoint/2010/main" val="2462468891"/>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177</TotalTime>
  <Words>3816</Words>
  <Application>Microsoft Macintosh PowerPoint</Application>
  <PresentationFormat>画面に合わせる (4:3)</PresentationFormat>
  <Paragraphs>499</Paragraphs>
  <Slides>46</Slides>
  <Notes>8</Notes>
  <HiddenSlides>0</HiddenSlides>
  <MMClips>0</MMClips>
  <ScaleCrop>false</ScaleCrop>
  <HeadingPairs>
    <vt:vector size="4" baseType="variant">
      <vt:variant>
        <vt:lpstr>テーマ</vt:lpstr>
      </vt:variant>
      <vt:variant>
        <vt:i4>1</vt:i4>
      </vt:variant>
      <vt:variant>
        <vt:lpstr>スライド タイトル</vt:lpstr>
      </vt:variant>
      <vt:variant>
        <vt:i4>46</vt:i4>
      </vt:variant>
    </vt:vector>
  </HeadingPairs>
  <TitlesOfParts>
    <vt:vector size="47" baseType="lpstr">
      <vt:lpstr>ホワイト</vt:lpstr>
      <vt:lpstr>プログラミング入門２</vt:lpstr>
      <vt:lpstr>講義情報</vt:lpstr>
      <vt:lpstr>本講義（演習）の目的</vt:lpstr>
      <vt:lpstr>講義情報</vt:lpstr>
      <vt:lpstr>教科書、参考書</vt:lpstr>
      <vt:lpstr>講義スケジュール（予定）</vt:lpstr>
      <vt:lpstr>今回の講義内容</vt:lpstr>
      <vt:lpstr>準備</vt:lpstr>
      <vt:lpstr>プログラムのコンパイル、実行の手順（例）</vt:lpstr>
      <vt:lpstr>例（打ち込んで実行）</vt:lpstr>
      <vt:lpstr>改行について</vt:lpstr>
      <vt:lpstr>代入式における暗黙の型変換</vt:lpstr>
      <vt:lpstr>四則演算における暗黙の型変換</vt:lpstr>
      <vt:lpstr>四則演算における暗黙の型変換</vt:lpstr>
      <vt:lpstr>キャスト演算子 --- 型を強制的に変換</vt:lpstr>
      <vt:lpstr>キャスト演算子の構文</vt:lpstr>
      <vt:lpstr>例（打ち込んで実行）</vt:lpstr>
      <vt:lpstr> if文による条件分岐</vt:lpstr>
      <vt:lpstr>  if文の構文(その１)</vt:lpstr>
      <vt:lpstr>例（打ち込んで確認）</vt:lpstr>
      <vt:lpstr>  if文の構文(その２)</vt:lpstr>
      <vt:lpstr>例（打ち込んで確認）</vt:lpstr>
      <vt:lpstr>式の評価</vt:lpstr>
      <vt:lpstr>四則演算式</vt:lpstr>
      <vt:lpstr>値の比較の式: 等価演算子(その１) ==</vt:lpstr>
      <vt:lpstr>値比較のプログラム(1)</vt:lpstr>
      <vt:lpstr>値の比較の式： 等価演算子(その２)  !=</vt:lpstr>
      <vt:lpstr>値比較のプログラム(2)</vt:lpstr>
      <vt:lpstr>３つ以上の条件分岐をするには？</vt:lpstr>
      <vt:lpstr>PowerPoint プレゼンテーション</vt:lpstr>
      <vt:lpstr>大小関係を比較する　～　関係演算子 &gt;</vt:lpstr>
      <vt:lpstr>大小関係を比較する　～　関係演算子</vt:lpstr>
      <vt:lpstr>基本課題１</vt:lpstr>
      <vt:lpstr>基本課題２</vt:lpstr>
      <vt:lpstr>発展課題１</vt:lpstr>
      <vt:lpstr>発展課題２</vt:lpstr>
      <vt:lpstr>参考課題１</vt:lpstr>
      <vt:lpstr>参考課題１ 解答例</vt:lpstr>
      <vt:lpstr>参考課題２</vt:lpstr>
      <vt:lpstr>参考課題２　解答例</vt:lpstr>
      <vt:lpstr>参考課題３</vt:lpstr>
      <vt:lpstr>参考課題３　解答例</vt:lpstr>
      <vt:lpstr>参考課題４</vt:lpstr>
      <vt:lpstr>参考課題４　解答例</vt:lpstr>
      <vt:lpstr>参考課題５</vt:lpstr>
      <vt:lpstr>参考課題５　解答例</vt:lpstr>
    </vt:vector>
  </TitlesOfParts>
  <Company>Shibaura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Sasano Isao</dc:creator>
  <cp:lastModifiedBy>Sasano Isao</cp:lastModifiedBy>
  <cp:revision>136</cp:revision>
  <dcterms:created xsi:type="dcterms:W3CDTF">2012-09-23T10:31:52Z</dcterms:created>
  <dcterms:modified xsi:type="dcterms:W3CDTF">2012-09-23T15:43:17Z</dcterms:modified>
</cp:coreProperties>
</file>