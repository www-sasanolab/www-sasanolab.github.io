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7" r:id="rId4"/>
    <p:sldId id="258" r:id="rId5"/>
    <p:sldId id="260" r:id="rId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86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02A8A-1359-4ECC-B713-69DA8037369C}" type="datetimeFigureOut">
              <a:rPr kumimoji="1" lang="ja-JP" altLang="en-US" smtClean="0"/>
              <a:pPr/>
              <a:t>2013/12/23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210E9-32C0-4038-8A44-8E520BD51458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5493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2013/12/23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2013/12/23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2013/12/23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2013/12/23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2013/12/23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2013/12/23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2013/12/23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2013/12/23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2013/12/23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2013/12/23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2013/12/23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2013/12/23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 smtClean="0"/>
              <a:t>プログラミング入門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483768" y="3717032"/>
            <a:ext cx="418255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中間試験結果について</a:t>
            </a:r>
            <a:endParaRPr kumimoji="1" lang="ja-JP" altLang="en-US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571736" y="5143512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得点分布</a:t>
            </a:r>
            <a:r>
              <a:rPr kumimoji="1" lang="en-US" altLang="ja-JP" dirty="0" smtClean="0"/>
              <a:t>(36</a:t>
            </a:r>
            <a:r>
              <a:rPr kumimoji="1" lang="ja-JP" altLang="en-US" dirty="0" smtClean="0"/>
              <a:t>点満点）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160148" y="1837116"/>
            <a:ext cx="679622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受験者</a:t>
            </a:r>
            <a:r>
              <a:rPr kumimoji="1" lang="en-US" altLang="ja-JP" sz="2800" dirty="0" smtClean="0"/>
              <a:t> </a:t>
            </a:r>
            <a:r>
              <a:rPr lang="en-US" altLang="ja-JP" sz="2800" dirty="0" smtClean="0"/>
              <a:t>119</a:t>
            </a:r>
            <a:r>
              <a:rPr lang="ja-JP" altLang="en-US" sz="2800" dirty="0" smtClean="0"/>
              <a:t>人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得点分布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0-10: 3</a:t>
            </a:r>
            <a:r>
              <a:rPr kumimoji="1" lang="ja-JP" altLang="en-US" sz="2800" dirty="0" smtClean="0"/>
              <a:t>人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11-20: 33</a:t>
            </a:r>
            <a:r>
              <a:rPr lang="ja-JP" altLang="en-US" sz="2800" dirty="0" smtClean="0"/>
              <a:t>人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21-22 11</a:t>
            </a:r>
            <a:r>
              <a:rPr kumimoji="1" lang="ja-JP" altLang="en-US" sz="2800" dirty="0" smtClean="0"/>
              <a:t>人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23-30: 52</a:t>
            </a:r>
            <a:r>
              <a:rPr lang="ja-JP" altLang="en-US" sz="2800" dirty="0" smtClean="0"/>
              <a:t>人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31-36: 20</a:t>
            </a:r>
            <a:r>
              <a:rPr lang="ja-JP" altLang="en-US" sz="2800" dirty="0" smtClean="0"/>
              <a:t>人</a:t>
            </a:r>
            <a:endParaRPr lang="en-US" altLang="ja-JP" sz="2800" dirty="0" smtClean="0"/>
          </a:p>
          <a:p>
            <a:endParaRPr kumimoji="1" lang="en-US" altLang="ja-JP" sz="2800" dirty="0"/>
          </a:p>
          <a:p>
            <a:r>
              <a:rPr lang="en-US" altLang="ja-JP" sz="2800" dirty="0" smtClean="0"/>
              <a:t>22</a:t>
            </a:r>
            <a:r>
              <a:rPr lang="ja-JP" altLang="en-US" sz="2800" dirty="0" smtClean="0"/>
              <a:t>点以下の人は要注意です。期末の準備を十分にしてください。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484653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多くの人が間違えていた点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95536" y="1340768"/>
            <a:ext cx="3245299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#include &lt;</a:t>
            </a:r>
            <a:r>
              <a:rPr lang="en-US" altLang="ja-JP" sz="2400" dirty="0" err="1"/>
              <a:t>stdio.h</a:t>
            </a:r>
            <a:r>
              <a:rPr lang="en-US" altLang="ja-JP" sz="2400" dirty="0"/>
              <a:t>&gt;</a:t>
            </a:r>
          </a:p>
          <a:p>
            <a:r>
              <a:rPr lang="en-US" altLang="ja-JP" sz="2400" dirty="0" err="1"/>
              <a:t>int</a:t>
            </a:r>
            <a:r>
              <a:rPr lang="en-US" altLang="ja-JP" sz="2400" dirty="0"/>
              <a:t> main (void) {</a:t>
            </a:r>
          </a:p>
          <a:p>
            <a:r>
              <a:rPr lang="hu-HU" altLang="ja-JP" sz="2400" dirty="0"/>
              <a:t>  int a;</a:t>
            </a:r>
          </a:p>
          <a:p>
            <a:r>
              <a:rPr lang="ja-JP" altLang="en-US" sz="2400" dirty="0"/>
              <a:t>  </a:t>
            </a:r>
            <a:r>
              <a:rPr lang="en-US" altLang="ja-JP" sz="2400" dirty="0" err="1"/>
              <a:t>printf</a:t>
            </a:r>
            <a:r>
              <a:rPr lang="en-US" altLang="ja-JP" sz="2400" dirty="0"/>
              <a:t> ("</a:t>
            </a:r>
            <a:r>
              <a:rPr lang="ja-JP" altLang="en-US" sz="2400" dirty="0"/>
              <a:t>整数を入力</a:t>
            </a:r>
            <a:r>
              <a:rPr lang="en-US" altLang="ja-JP" sz="2400" dirty="0"/>
              <a:t>: ");</a:t>
            </a:r>
          </a:p>
          <a:p>
            <a:r>
              <a:rPr lang="it-IT" altLang="ja-JP" sz="2400" dirty="0"/>
              <a:t>  </a:t>
            </a:r>
            <a:r>
              <a:rPr lang="it-IT" altLang="ja-JP" sz="2400" dirty="0" err="1"/>
              <a:t>scanf</a:t>
            </a:r>
            <a:r>
              <a:rPr lang="it-IT" altLang="ja-JP" sz="2400" dirty="0"/>
              <a:t> ("%d", &amp;a);</a:t>
            </a:r>
          </a:p>
          <a:p>
            <a:r>
              <a:rPr lang="en-US" altLang="ja-JP" sz="2400" dirty="0"/>
              <a:t>  while(1) {</a:t>
            </a:r>
          </a:p>
          <a:p>
            <a:r>
              <a:rPr lang="ro-RO" altLang="ja-JP" sz="2400" dirty="0"/>
              <a:t>    printf ("%d, ", a);</a:t>
            </a:r>
          </a:p>
          <a:p>
            <a:r>
              <a:rPr lang="ro-RO" altLang="ja-JP" sz="2400" dirty="0"/>
              <a:t>    a=a--;</a:t>
            </a:r>
          </a:p>
          <a:p>
            <a:r>
              <a:rPr lang="ro-RO" altLang="ja-JP" sz="2400" dirty="0"/>
              <a:t>  }</a:t>
            </a:r>
          </a:p>
          <a:p>
            <a:r>
              <a:rPr lang="ro-RO" altLang="ja-JP" sz="2400" dirty="0"/>
              <a:t>  printf ("0\n");</a:t>
            </a:r>
          </a:p>
          <a:p>
            <a:r>
              <a:rPr lang="is-IS" altLang="ja-JP" sz="2400" dirty="0"/>
              <a:t>  return 0;</a:t>
            </a:r>
          </a:p>
          <a:p>
            <a:r>
              <a:rPr lang="is-IS" altLang="ja-JP" sz="2400" dirty="0"/>
              <a:t>}</a:t>
            </a:r>
            <a:endParaRPr kumimoji="1" lang="en-US" altLang="ja-JP" sz="24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851920" y="1412776"/>
            <a:ext cx="4680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++</a:t>
            </a:r>
            <a:r>
              <a:rPr kumimoji="1" lang="ja-JP" altLang="en-US" sz="2400" dirty="0" smtClean="0"/>
              <a:t>や</a:t>
            </a:r>
            <a:r>
              <a:rPr lang="en-US" altLang="ja-JP" sz="2400" dirty="0" smtClean="0"/>
              <a:t>--</a:t>
            </a:r>
            <a:r>
              <a:rPr lang="ja-JP" altLang="en-US" sz="2400" dirty="0" smtClean="0"/>
              <a:t>を間違えて</a:t>
            </a:r>
            <a:r>
              <a:rPr kumimoji="1" lang="ja-JP" altLang="en-US" sz="2400" dirty="0" smtClean="0"/>
              <a:t>使っていた人が非常に多かった。</a:t>
            </a:r>
            <a:endParaRPr kumimoji="1" lang="en-US" altLang="ja-JP" sz="2400" dirty="0" smtClean="0"/>
          </a:p>
        </p:txBody>
      </p:sp>
      <p:sp>
        <p:nvSpPr>
          <p:cNvPr id="3" name="正方形/長方形 2"/>
          <p:cNvSpPr/>
          <p:nvPr/>
        </p:nvSpPr>
        <p:spPr>
          <a:xfrm>
            <a:off x="3851920" y="2420888"/>
            <a:ext cx="4824536" cy="4154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a</a:t>
            </a:r>
            <a:r>
              <a:rPr lang="en-US" altLang="ja-JP" sz="2400" dirty="0" smtClean="0"/>
              <a:t>=a--; </a:t>
            </a:r>
            <a:r>
              <a:rPr lang="ja-JP" altLang="en-US" sz="2400" dirty="0"/>
              <a:t>の実行に</a:t>
            </a:r>
            <a:r>
              <a:rPr lang="ja-JP" altLang="en-US" sz="2400" dirty="0" smtClean="0"/>
              <a:t>よって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に代入</a:t>
            </a:r>
            <a:r>
              <a:rPr lang="ja-JP" altLang="en-US" sz="2400" dirty="0"/>
              <a:t>されるのはこの文の実行前</a:t>
            </a:r>
            <a:r>
              <a:rPr lang="ja-JP" altLang="en-US" sz="2400" dirty="0" smtClean="0"/>
              <a:t>の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の値ですが、</a:t>
            </a:r>
            <a:r>
              <a:rPr lang="en-US" altLang="ja-JP" sz="2400" dirty="0" smtClean="0"/>
              <a:t>--</a:t>
            </a:r>
            <a:r>
              <a:rPr lang="ja-JP" altLang="en-US" sz="2400" dirty="0" smtClean="0"/>
              <a:t>によって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から</a:t>
            </a:r>
            <a:r>
              <a:rPr lang="en-US" altLang="ja-JP" sz="2400" dirty="0" smtClean="0"/>
              <a:t>1</a:t>
            </a:r>
            <a:r>
              <a:rPr lang="ja-JP" altLang="en-US" sz="2400" dirty="0" smtClean="0"/>
              <a:t>が引かれるタイミング</a:t>
            </a:r>
            <a:r>
              <a:rPr lang="ja-JP" altLang="en-US" sz="2400" dirty="0"/>
              <a:t>は</a:t>
            </a:r>
            <a:r>
              <a:rPr lang="en-US" altLang="ja-JP" sz="2400" dirty="0"/>
              <a:t>C99</a:t>
            </a:r>
            <a:r>
              <a:rPr lang="ja-JP" altLang="en-US" sz="2400" dirty="0"/>
              <a:t>（あるいは</a:t>
            </a:r>
            <a:r>
              <a:rPr lang="en-US" altLang="ja-JP" sz="2400" dirty="0"/>
              <a:t>C89</a:t>
            </a:r>
            <a:r>
              <a:rPr lang="ja-JP" altLang="en-US" sz="2400" dirty="0"/>
              <a:t>）の規格上、自由</a:t>
            </a:r>
            <a:r>
              <a:rPr lang="ja-JP" altLang="en-US" sz="2400" dirty="0" smtClean="0"/>
              <a:t>である。</a:t>
            </a:r>
            <a:r>
              <a:rPr lang="ja-JP" altLang="en-US" sz="2400" dirty="0"/>
              <a:t>（正確には、副作用完了点</a:t>
            </a:r>
            <a:r>
              <a:rPr lang="en-US" altLang="ja-JP" sz="2400" dirty="0"/>
              <a:t>(sequence point)</a:t>
            </a:r>
            <a:r>
              <a:rPr lang="ja-JP" altLang="en-US" sz="2400" dirty="0"/>
              <a:t>の前までに行われれば良い。この例では</a:t>
            </a:r>
            <a:r>
              <a:rPr lang="ja-JP" altLang="en-US" sz="2400" dirty="0" smtClean="0"/>
              <a:t>、</a:t>
            </a:r>
            <a:r>
              <a:rPr lang="en-US" altLang="ja-JP" sz="2400" dirty="0" smtClean="0"/>
              <a:t>a=a--;</a:t>
            </a:r>
            <a:r>
              <a:rPr lang="ja-JP" altLang="en-US" sz="2400" dirty="0" smtClean="0"/>
              <a:t>の</a:t>
            </a:r>
            <a:r>
              <a:rPr lang="ja-JP" altLang="en-US" sz="2400" dirty="0"/>
              <a:t>実行中、どの時点でも良い。</a:t>
            </a:r>
            <a:r>
              <a:rPr lang="ja-JP" altLang="en-US" sz="2400" dirty="0" smtClean="0"/>
              <a:t>）つまり、</a:t>
            </a:r>
            <a:r>
              <a:rPr lang="en-US" altLang="ja-JP" sz="2400" dirty="0" smtClean="0"/>
              <a:t>a=a--;</a:t>
            </a:r>
            <a:r>
              <a:rPr lang="ja-JP" altLang="en-US" sz="2400" dirty="0" smtClean="0"/>
              <a:t>によって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の値が変わらない可能性があり、その場合無限ループになる。</a:t>
            </a:r>
            <a:endParaRPr lang="en-US" altLang="ja-JP" sz="2400" dirty="0" smtClean="0"/>
          </a:p>
        </p:txBody>
      </p:sp>
    </p:spTree>
    <p:extLst>
      <p:ext uri="{BB962C8B-B14F-4D97-AF65-F5344CB8AC3E}">
        <p14:creationId xmlns:p14="http://schemas.microsoft.com/office/powerpoint/2010/main" val="1978958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多くの人が間違えていた点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827584" y="1484784"/>
            <a:ext cx="5832648" cy="37856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/>
              <a:t>#include &lt;</a:t>
            </a:r>
            <a:r>
              <a:rPr lang="en-US" altLang="ja-JP" sz="2000" dirty="0" err="1"/>
              <a:t>stdio.h</a:t>
            </a:r>
            <a:r>
              <a:rPr lang="en-US" altLang="ja-JP" sz="2000" dirty="0"/>
              <a:t>&gt;</a:t>
            </a:r>
          </a:p>
          <a:p>
            <a:r>
              <a:rPr lang="en-US" altLang="ja-JP" sz="2000" dirty="0" err="1"/>
              <a:t>int</a:t>
            </a:r>
            <a:r>
              <a:rPr lang="en-US" altLang="ja-JP" sz="2000" dirty="0"/>
              <a:t> main (void) {</a:t>
            </a:r>
          </a:p>
          <a:p>
            <a:r>
              <a:rPr lang="fr-FR" altLang="ja-JP" sz="2000" dirty="0"/>
              <a:t>  </a:t>
            </a:r>
            <a:r>
              <a:rPr lang="fr-FR" altLang="ja-JP" sz="2000" dirty="0" err="1"/>
              <a:t>int</a:t>
            </a:r>
            <a:r>
              <a:rPr lang="fr-FR" altLang="ja-JP" sz="2000" dirty="0"/>
              <a:t> </a:t>
            </a:r>
            <a:r>
              <a:rPr lang="fr-FR" altLang="ja-JP" sz="2000" dirty="0" err="1"/>
              <a:t>i,n</a:t>
            </a:r>
            <a:r>
              <a:rPr lang="fr-FR" altLang="ja-JP" sz="2000" dirty="0"/>
              <a:t>;</a:t>
            </a:r>
          </a:p>
          <a:p>
            <a:r>
              <a:rPr lang="ja-JP" altLang="en-US" sz="2000" dirty="0"/>
              <a:t>  </a:t>
            </a:r>
            <a:r>
              <a:rPr lang="en-US" altLang="ja-JP" sz="2000" dirty="0" err="1"/>
              <a:t>printf</a:t>
            </a:r>
            <a:r>
              <a:rPr lang="en-US" altLang="ja-JP" sz="2000" dirty="0"/>
              <a:t> ("</a:t>
            </a:r>
            <a:r>
              <a:rPr lang="ja-JP" altLang="en-US" sz="2000" dirty="0"/>
              <a:t>正の整数を入力してください</a:t>
            </a:r>
            <a:r>
              <a:rPr lang="en-US" altLang="ja-JP" sz="2000" dirty="0"/>
              <a:t>: ");</a:t>
            </a:r>
          </a:p>
          <a:p>
            <a:r>
              <a:rPr lang="it-IT" altLang="ja-JP" sz="2000" dirty="0"/>
              <a:t>  </a:t>
            </a:r>
            <a:r>
              <a:rPr lang="it-IT" altLang="ja-JP" sz="2000" dirty="0" err="1"/>
              <a:t>scanf</a:t>
            </a:r>
            <a:r>
              <a:rPr lang="it-IT" altLang="ja-JP" sz="2000" dirty="0"/>
              <a:t>("%d", &amp;</a:t>
            </a:r>
            <a:r>
              <a:rPr lang="it-IT" altLang="ja-JP" sz="2000" dirty="0" err="1"/>
              <a:t>n</a:t>
            </a:r>
            <a:r>
              <a:rPr lang="it-IT" altLang="ja-JP" sz="2000" dirty="0"/>
              <a:t>);</a:t>
            </a:r>
          </a:p>
          <a:p>
            <a:r>
              <a:rPr lang="ja-JP" altLang="en-US" sz="2000" dirty="0"/>
              <a:t>  </a:t>
            </a:r>
            <a:r>
              <a:rPr lang="en-US" altLang="ja-JP" sz="2000" dirty="0" err="1"/>
              <a:t>printf</a:t>
            </a:r>
            <a:r>
              <a:rPr lang="en-US" altLang="ja-JP" sz="2000" dirty="0"/>
              <a:t> ("%d</a:t>
            </a:r>
            <a:r>
              <a:rPr lang="ja-JP" altLang="en-US" sz="2000" dirty="0"/>
              <a:t>の約数を小さい順に列挙すると、</a:t>
            </a:r>
            <a:r>
              <a:rPr lang="en-US" altLang="ja-JP" sz="2000" dirty="0"/>
              <a:t>\n", n);</a:t>
            </a:r>
          </a:p>
          <a:p>
            <a:r>
              <a:rPr lang="da-DK" altLang="ja-JP" sz="2000" dirty="0"/>
              <a:t>  for (</a:t>
            </a:r>
            <a:r>
              <a:rPr lang="da-DK" altLang="ja-JP" sz="2000" dirty="0">
                <a:solidFill>
                  <a:srgbClr val="FF0000"/>
                </a:solidFill>
              </a:rPr>
              <a:t>i=0</a:t>
            </a:r>
            <a:r>
              <a:rPr lang="da-DK" altLang="ja-JP" sz="2000" dirty="0"/>
              <a:t>; i&lt;n; i=i+1)</a:t>
            </a:r>
          </a:p>
          <a:p>
            <a:r>
              <a:rPr lang="en-US" altLang="ja-JP" sz="2000" dirty="0"/>
              <a:t>    if (</a:t>
            </a:r>
            <a:r>
              <a:rPr lang="en-US" altLang="ja-JP" sz="2000" dirty="0" err="1"/>
              <a:t>n%i</a:t>
            </a:r>
            <a:r>
              <a:rPr lang="en-US" altLang="ja-JP" sz="2000" dirty="0"/>
              <a:t>==0)</a:t>
            </a:r>
          </a:p>
          <a:p>
            <a:r>
              <a:rPr lang="ro-RO" altLang="ja-JP" sz="2000" dirty="0"/>
              <a:t>      printf ("%d, ", i);</a:t>
            </a:r>
          </a:p>
          <a:p>
            <a:r>
              <a:rPr lang="ja-JP" altLang="en-US" sz="2000" dirty="0"/>
              <a:t>  </a:t>
            </a:r>
            <a:r>
              <a:rPr lang="en-US" altLang="ja-JP" sz="2000" dirty="0" err="1"/>
              <a:t>printf</a:t>
            </a:r>
            <a:r>
              <a:rPr lang="en-US" altLang="ja-JP" sz="2000" dirty="0"/>
              <a:t> ("%d </a:t>
            </a:r>
            <a:r>
              <a:rPr lang="ja-JP" altLang="en-US" sz="2000" dirty="0"/>
              <a:t>である。</a:t>
            </a:r>
            <a:r>
              <a:rPr lang="en-US" altLang="ja-JP" sz="2000" dirty="0"/>
              <a:t>\n", n);</a:t>
            </a:r>
          </a:p>
          <a:p>
            <a:r>
              <a:rPr lang="is-IS" altLang="ja-JP" sz="2000" dirty="0"/>
              <a:t>  return 0;</a:t>
            </a:r>
          </a:p>
          <a:p>
            <a:r>
              <a:rPr lang="is-IS" altLang="ja-JP" sz="2000" dirty="0"/>
              <a:t>}</a:t>
            </a:r>
            <a:endParaRPr lang="ja-JP" altLang="en-US" sz="2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11560" y="5517232"/>
            <a:ext cx="80479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 smtClean="0"/>
              <a:t>i</a:t>
            </a:r>
            <a:r>
              <a:rPr lang="ja-JP" altLang="en-US" sz="2400" dirty="0" smtClean="0"/>
              <a:t>が</a:t>
            </a:r>
            <a:r>
              <a:rPr kumimoji="1" lang="en-US" altLang="ja-JP" sz="2400" dirty="0" smtClean="0"/>
              <a:t>0</a:t>
            </a:r>
            <a:r>
              <a:rPr kumimoji="1" lang="ja-JP" altLang="en-US" sz="2400" dirty="0" smtClean="0"/>
              <a:t>の状態で</a:t>
            </a:r>
            <a:r>
              <a:rPr lang="en-US" altLang="en-US" sz="2400" dirty="0" err="1" smtClean="0"/>
              <a:t>n%i</a:t>
            </a:r>
            <a:r>
              <a:rPr lang="ja-JP" altLang="en-US" sz="2400" dirty="0" smtClean="0"/>
              <a:t>を実行すると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での割り算でエラーになる。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（赤字の</a:t>
            </a:r>
            <a:r>
              <a:rPr kumimoji="1" lang="en-US" altLang="ja-JP" sz="2400" dirty="0" err="1" smtClean="0"/>
              <a:t>i</a:t>
            </a:r>
            <a:r>
              <a:rPr kumimoji="1" lang="en-US" altLang="ja-JP" sz="2400" dirty="0" smtClean="0"/>
              <a:t>=0</a:t>
            </a:r>
            <a:r>
              <a:rPr kumimoji="1" lang="ja-JP" altLang="en-US" sz="2400" dirty="0" smtClean="0"/>
              <a:t>のところは</a:t>
            </a:r>
            <a:r>
              <a:rPr kumimoji="1" lang="en-US" altLang="ja-JP" sz="2400" dirty="0" err="1" smtClean="0"/>
              <a:t>i</a:t>
            </a:r>
            <a:r>
              <a:rPr kumimoji="1" lang="en-US" altLang="ja-JP" sz="2400" dirty="0" smtClean="0"/>
              <a:t>=1</a:t>
            </a:r>
            <a:r>
              <a:rPr kumimoji="1" lang="ja-JP" altLang="en-US" sz="2400" dirty="0" smtClean="0"/>
              <a:t>とするべき）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95925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多くの人が間違えていた点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827584" y="1484784"/>
            <a:ext cx="5832648" cy="19389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 err="1"/>
              <a:t>int</a:t>
            </a:r>
            <a:r>
              <a:rPr lang="en-US" altLang="ja-JP" sz="2000" dirty="0"/>
              <a:t> </a:t>
            </a:r>
            <a:r>
              <a:rPr lang="en-US" altLang="ja-JP" sz="2000" dirty="0" err="1"/>
              <a:t>countSpaces</a:t>
            </a:r>
            <a:r>
              <a:rPr lang="en-US" altLang="ja-JP" sz="2000" dirty="0"/>
              <a:t> (char *</a:t>
            </a:r>
            <a:r>
              <a:rPr lang="en-US" altLang="ja-JP" sz="2000" dirty="0" err="1"/>
              <a:t>str</a:t>
            </a:r>
            <a:r>
              <a:rPr lang="en-US" altLang="ja-JP" sz="2000" dirty="0"/>
              <a:t>) {</a:t>
            </a:r>
          </a:p>
          <a:p>
            <a:r>
              <a:rPr lang="en-US" altLang="ja-JP" sz="2000" dirty="0"/>
              <a:t>  </a:t>
            </a:r>
            <a:r>
              <a:rPr lang="en-US" altLang="ja-JP" sz="2000" dirty="0" err="1"/>
              <a:t>int</a:t>
            </a:r>
            <a:r>
              <a:rPr lang="en-US" altLang="ja-JP" sz="2000" dirty="0"/>
              <a:t> count=0, </a:t>
            </a:r>
            <a:r>
              <a:rPr lang="en-US" altLang="ja-JP" sz="2000" dirty="0" err="1"/>
              <a:t>i</a:t>
            </a:r>
            <a:r>
              <a:rPr lang="en-US" altLang="ja-JP" sz="2000" dirty="0"/>
              <a:t>;</a:t>
            </a:r>
          </a:p>
          <a:p>
            <a:r>
              <a:rPr lang="en-US" altLang="ja-JP" sz="2000" dirty="0"/>
              <a:t>  for(</a:t>
            </a:r>
            <a:r>
              <a:rPr lang="en-US" altLang="ja-JP" sz="2000" dirty="0" err="1"/>
              <a:t>i</a:t>
            </a:r>
            <a:r>
              <a:rPr lang="en-US" altLang="ja-JP" sz="2000" dirty="0"/>
              <a:t>=0; </a:t>
            </a:r>
            <a:r>
              <a:rPr lang="en-US" altLang="ja-JP" sz="2000" dirty="0" err="1"/>
              <a:t>str</a:t>
            </a:r>
            <a:r>
              <a:rPr lang="en-US" altLang="ja-JP" sz="2000" dirty="0"/>
              <a:t>[</a:t>
            </a:r>
            <a:r>
              <a:rPr lang="en-US" altLang="ja-JP" sz="2000" dirty="0" err="1"/>
              <a:t>i</a:t>
            </a:r>
            <a:r>
              <a:rPr lang="en-US" altLang="ja-JP" sz="2000" dirty="0"/>
              <a:t>]!='\0'; </a:t>
            </a:r>
            <a:r>
              <a:rPr lang="en-US" altLang="ja-JP" sz="2000" dirty="0" err="1"/>
              <a:t>i</a:t>
            </a:r>
            <a:r>
              <a:rPr lang="en-US" altLang="ja-JP" sz="2000" dirty="0"/>
              <a:t>=i+1)</a:t>
            </a:r>
          </a:p>
          <a:p>
            <a:r>
              <a:rPr lang="en-US" altLang="ja-JP" sz="2000" dirty="0"/>
              <a:t>    if(</a:t>
            </a:r>
            <a:r>
              <a:rPr lang="en-US" altLang="ja-JP" sz="2000" dirty="0" err="1"/>
              <a:t>str</a:t>
            </a:r>
            <a:r>
              <a:rPr lang="en-US" altLang="ja-JP" sz="2000" dirty="0"/>
              <a:t>[</a:t>
            </a:r>
            <a:r>
              <a:rPr lang="en-US" altLang="ja-JP" sz="2000" dirty="0" err="1"/>
              <a:t>i</a:t>
            </a:r>
            <a:r>
              <a:rPr lang="en-US" altLang="ja-JP" sz="2000" dirty="0"/>
              <a:t>]==' ') count=count+1;</a:t>
            </a:r>
          </a:p>
          <a:p>
            <a:r>
              <a:rPr lang="en-US" altLang="ja-JP" sz="2000" dirty="0"/>
              <a:t>  return count;</a:t>
            </a:r>
          </a:p>
          <a:p>
            <a:r>
              <a:rPr lang="en-US" altLang="ja-JP" sz="2000" dirty="0"/>
              <a:t>}</a:t>
            </a:r>
            <a:endParaRPr lang="ja-JP" altLang="en-US" sz="20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67544" y="3861048"/>
            <a:ext cx="749240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文字列の中の空白を数える問題で、</a:t>
            </a:r>
            <a:endParaRPr lang="en-US" altLang="ja-JP" sz="2400" dirty="0" smtClean="0"/>
          </a:p>
          <a:p>
            <a:r>
              <a:rPr lang="en-US" altLang="ja-JP" sz="2400" dirty="0" err="1"/>
              <a:t>str</a:t>
            </a:r>
            <a:r>
              <a:rPr lang="en-US" altLang="ja-JP" sz="2400" dirty="0"/>
              <a:t>[</a:t>
            </a:r>
            <a:r>
              <a:rPr lang="en-US" altLang="ja-JP" sz="2400" dirty="0" err="1"/>
              <a:t>i</a:t>
            </a:r>
            <a:r>
              <a:rPr lang="en-US" altLang="ja-JP" sz="2400" dirty="0"/>
              <a:t>]!</a:t>
            </a:r>
            <a:r>
              <a:rPr lang="en-US" altLang="ja-JP" sz="2400" dirty="0" smtClean="0"/>
              <a:t>=</a:t>
            </a:r>
            <a:r>
              <a:rPr lang="tr-TR" altLang="ja-JP" sz="2400" dirty="0"/>
              <a:t>'\0'</a:t>
            </a:r>
            <a:endParaRPr lang="en-US" altLang="ja-JP" sz="2400" dirty="0" smtClean="0"/>
          </a:p>
          <a:p>
            <a:r>
              <a:rPr lang="ja-JP" altLang="en-US" sz="2400" dirty="0" smtClean="0"/>
              <a:t>の部分を</a:t>
            </a:r>
            <a:endParaRPr lang="en-US" altLang="ja-JP" sz="2400" dirty="0" smtClean="0"/>
          </a:p>
          <a:p>
            <a:r>
              <a:rPr lang="en-US" altLang="ja-JP" sz="2400" dirty="0" err="1"/>
              <a:t>str</a:t>
            </a:r>
            <a:r>
              <a:rPr lang="en-US" altLang="ja-JP" sz="2400" dirty="0"/>
              <a:t>[</a:t>
            </a:r>
            <a:r>
              <a:rPr lang="en-US" altLang="ja-JP" sz="2400" dirty="0" err="1"/>
              <a:t>i</a:t>
            </a:r>
            <a:r>
              <a:rPr lang="en-US" altLang="ja-JP" sz="2400" dirty="0"/>
              <a:t>]!</a:t>
            </a:r>
            <a:r>
              <a:rPr lang="en-US" altLang="ja-JP" sz="2400" dirty="0" smtClean="0"/>
              <a:t>=</a:t>
            </a:r>
            <a:r>
              <a:rPr lang="tr-TR" altLang="ja-JP" sz="2400" dirty="0" smtClean="0"/>
              <a:t>’\n'</a:t>
            </a:r>
            <a:endParaRPr lang="en-US" altLang="ja-JP" sz="2400" dirty="0" smtClean="0"/>
          </a:p>
          <a:p>
            <a:r>
              <a:rPr lang="ja-JP" altLang="en-US" sz="2400" dirty="0" smtClean="0"/>
              <a:t>にしていた人が非常に多かった。</a:t>
            </a:r>
            <a:endParaRPr lang="en-US" altLang="ja-JP" sz="2400" dirty="0" smtClean="0"/>
          </a:p>
          <a:p>
            <a:r>
              <a:rPr lang="ja-JP" altLang="en-US" sz="2400" dirty="0" smtClean="0"/>
              <a:t>文字列の終端はヌル文字</a:t>
            </a:r>
            <a:r>
              <a:rPr lang="tr-TR" altLang="ja-JP" sz="2400" dirty="0" smtClean="0"/>
              <a:t>‘\0’</a:t>
            </a:r>
            <a:r>
              <a:rPr lang="ja-JP" altLang="en-US" sz="2400" dirty="0" smtClean="0"/>
              <a:t>ということを覚えてください。</a:t>
            </a:r>
            <a:endParaRPr lang="en-US" altLang="ja-JP" sz="2400" dirty="0" smtClean="0"/>
          </a:p>
        </p:txBody>
      </p:sp>
    </p:spTree>
    <p:extLst>
      <p:ext uri="{BB962C8B-B14F-4D97-AF65-F5344CB8AC3E}">
        <p14:creationId xmlns:p14="http://schemas.microsoft.com/office/powerpoint/2010/main" val="3861699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</TotalTime>
  <Words>584</Words>
  <Application>Microsoft Macintosh PowerPoint</Application>
  <PresentationFormat>画面に合わせる (4:3)</PresentationFormat>
  <Paragraphs>56</Paragraphs>
  <Slides>5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6" baseType="lpstr">
      <vt:lpstr>Office テーマ</vt:lpstr>
      <vt:lpstr>プログラミング入門</vt:lpstr>
      <vt:lpstr>得点分布(36点満点）</vt:lpstr>
      <vt:lpstr>多くの人が間違えていた点</vt:lpstr>
      <vt:lpstr>多くの人が間違えていた点</vt:lpstr>
      <vt:lpstr>多くの人が間違えていた点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プログラミング入門</dc:title>
  <dc:creator>sasano</dc:creator>
  <cp:lastModifiedBy>Sasano Isao</cp:lastModifiedBy>
  <cp:revision>597</cp:revision>
  <dcterms:created xsi:type="dcterms:W3CDTF">2009-12-12T09:36:31Z</dcterms:created>
  <dcterms:modified xsi:type="dcterms:W3CDTF">2013-12-23T04:05:48Z</dcterms:modified>
</cp:coreProperties>
</file>