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80" r:id="rId9"/>
    <p:sldId id="281" r:id="rId10"/>
    <p:sldId id="263" r:id="rId11"/>
    <p:sldId id="264" r:id="rId12"/>
    <p:sldId id="265" r:id="rId13"/>
    <p:sldId id="266" r:id="rId14"/>
    <p:sldId id="267" r:id="rId15"/>
    <p:sldId id="268" r:id="rId16"/>
    <p:sldId id="276" r:id="rId17"/>
    <p:sldId id="278" r:id="rId18"/>
    <p:sldId id="275" r:id="rId19"/>
    <p:sldId id="279" r:id="rId20"/>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38" autoAdjust="0"/>
    <p:restoredTop sz="94660"/>
  </p:normalViewPr>
  <p:slideViewPr>
    <p:cSldViewPr>
      <p:cViewPr varScale="1">
        <p:scale>
          <a:sx n="70" d="100"/>
          <a:sy n="70" d="100"/>
        </p:scale>
        <p:origin x="-55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2009/12/7</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2009/12/7</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2009/12/7</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2009/12/7</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2009/12/7</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2009/12/7</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2009/12/7</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2009/12/7</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155699"/>
          </a:xfrm>
        </p:spPr>
        <p:txBody>
          <a:bodyPr/>
          <a:lstStyle/>
          <a:p>
            <a:r>
              <a:rPr lang="ja-JP" altLang="en-US" dirty="0" smtClean="0"/>
              <a:t>プログラミング入門２</a:t>
            </a:r>
            <a:endParaRPr kumimoji="1" lang="ja-JP" altLang="en-US" dirty="0"/>
          </a:p>
        </p:txBody>
      </p:sp>
      <p:sp>
        <p:nvSpPr>
          <p:cNvPr id="4" name="テキスト ボックス 3"/>
          <p:cNvSpPr txBox="1"/>
          <p:nvPr/>
        </p:nvSpPr>
        <p:spPr>
          <a:xfrm>
            <a:off x="3643306" y="3857628"/>
            <a:ext cx="1566454" cy="584775"/>
          </a:xfrm>
          <a:prstGeom prst="rect">
            <a:avLst/>
          </a:prstGeom>
          <a:noFill/>
        </p:spPr>
        <p:txBody>
          <a:bodyPr wrap="none" rtlCol="0">
            <a:spAutoFit/>
          </a:bodyPr>
          <a:lstStyle/>
          <a:p>
            <a:r>
              <a:rPr kumimoji="1" lang="ja-JP" altLang="en-US" sz="3200" dirty="0" smtClean="0"/>
              <a:t>第１１回</a:t>
            </a:r>
            <a:endParaRPr kumimoji="1" lang="ja-JP" altLang="en-US" sz="3200" dirty="0"/>
          </a:p>
        </p:txBody>
      </p:sp>
      <p:sp>
        <p:nvSpPr>
          <p:cNvPr id="5" name="テキスト ボックス 4"/>
          <p:cNvSpPr txBox="1"/>
          <p:nvPr/>
        </p:nvSpPr>
        <p:spPr>
          <a:xfrm>
            <a:off x="2857488" y="4929198"/>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今日の内容</a:t>
            </a:r>
            <a:endParaRPr kumimoji="1" lang="ja-JP" altLang="en-US" dirty="0"/>
          </a:p>
        </p:txBody>
      </p:sp>
      <p:sp>
        <p:nvSpPr>
          <p:cNvPr id="3" name="コンテンツ プレースホルダ 2"/>
          <p:cNvSpPr>
            <a:spLocks noGrp="1"/>
          </p:cNvSpPr>
          <p:nvPr>
            <p:ph idx="1"/>
          </p:nvPr>
        </p:nvSpPr>
        <p:spPr/>
        <p:txBody>
          <a:bodyPr/>
          <a:lstStyle/>
          <a:p>
            <a:r>
              <a:rPr lang="en-US" altLang="ja-JP" dirty="0" err="1" smtClean="0"/>
              <a:t>m</a:t>
            </a:r>
            <a:r>
              <a:rPr kumimoji="1" lang="en-US" altLang="ja-JP" dirty="0" err="1" smtClean="0"/>
              <a:t>alloc</a:t>
            </a:r>
            <a:r>
              <a:rPr kumimoji="1" lang="en-US" altLang="ja-JP" dirty="0" smtClean="0"/>
              <a:t>, </a:t>
            </a:r>
            <a:r>
              <a:rPr kumimoji="1" lang="en-US" altLang="ja-JP" dirty="0" err="1" smtClean="0"/>
              <a:t>calloc</a:t>
            </a:r>
            <a:r>
              <a:rPr kumimoji="1" lang="ja-JP" altLang="en-US" dirty="0" smtClean="0"/>
              <a:t>による動的な領域確保について</a:t>
            </a:r>
            <a:endParaRPr kumimoji="1"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a:xfrm>
            <a:off x="571472" y="357166"/>
            <a:ext cx="7620000" cy="685800"/>
          </a:xfrm>
        </p:spPr>
        <p:txBody>
          <a:bodyPr>
            <a:noAutofit/>
          </a:bodyPr>
          <a:lstStyle/>
          <a:p>
            <a:pPr eaLnBrk="1" hangingPunct="1">
              <a:defRPr/>
            </a:pPr>
            <a:r>
              <a:rPr lang="ja-JP" altLang="en-US" sz="4000" dirty="0" smtClean="0">
                <a:ea typeface="ＭＳ Ｐゴシック" pitchFamily="-64" charset="-128"/>
              </a:rPr>
              <a:t>動的な記憶域確保</a:t>
            </a:r>
          </a:p>
        </p:txBody>
      </p:sp>
      <p:sp>
        <p:nvSpPr>
          <p:cNvPr id="17413" name="Rectangle 3"/>
          <p:cNvSpPr>
            <a:spLocks noGrp="1" noChangeArrowheads="1"/>
          </p:cNvSpPr>
          <p:nvPr>
            <p:ph type="body" idx="1"/>
          </p:nvPr>
        </p:nvSpPr>
        <p:spPr>
          <a:xfrm>
            <a:off x="642910" y="1285860"/>
            <a:ext cx="8072494" cy="4357718"/>
          </a:xfrm>
        </p:spPr>
        <p:txBody>
          <a:bodyPr>
            <a:noAutofit/>
          </a:bodyPr>
          <a:lstStyle/>
          <a:p>
            <a:pPr eaLnBrk="1" hangingPunct="1">
              <a:lnSpc>
                <a:spcPct val="90000"/>
              </a:lnSpc>
            </a:pPr>
            <a:r>
              <a:rPr lang="ja-JP" altLang="en-US" sz="2800" dirty="0" smtClean="0">
                <a:ea typeface="ＭＳ Ｐゴシック" pitchFamily="-64" charset="-128"/>
              </a:rPr>
              <a:t>これまでの方法</a:t>
            </a:r>
            <a:endParaRPr lang="en-US" altLang="ja-JP" sz="2800" dirty="0" smtClean="0">
              <a:ea typeface="ＭＳ Ｐゴシック" pitchFamily="-64" charset="-128"/>
            </a:endParaRPr>
          </a:p>
          <a:p>
            <a:pPr lvl="1" eaLnBrk="1" hangingPunct="1">
              <a:lnSpc>
                <a:spcPct val="90000"/>
              </a:lnSpc>
            </a:pPr>
            <a:r>
              <a:rPr lang="ja-JP" altLang="en-US" dirty="0" smtClean="0">
                <a:ea typeface="ＭＳ Ｐゴシック" pitchFamily="-64" charset="-128"/>
              </a:rPr>
              <a:t>配列の要素数は固定。</a:t>
            </a:r>
            <a:endParaRPr lang="en-US" altLang="ja-JP" dirty="0" smtClean="0">
              <a:ea typeface="ＭＳ Ｐゴシック" pitchFamily="-64" charset="-128"/>
            </a:endParaRPr>
          </a:p>
          <a:p>
            <a:pPr lvl="1" eaLnBrk="1" hangingPunct="1">
              <a:lnSpc>
                <a:spcPct val="90000"/>
              </a:lnSpc>
            </a:pPr>
            <a:r>
              <a:rPr lang="ja-JP" altLang="en-US" dirty="0" smtClean="0">
                <a:ea typeface="ＭＳ Ｐゴシック" pitchFamily="-64" charset="-128"/>
              </a:rPr>
              <a:t>あらかじめ大きめの配列を確保しておく必要があった。</a:t>
            </a:r>
            <a:endParaRPr lang="en-US" altLang="ja-JP" dirty="0" smtClean="0">
              <a:ea typeface="ＭＳ Ｐゴシック" pitchFamily="-64" charset="-128"/>
            </a:endParaRPr>
          </a:p>
          <a:p>
            <a:pPr eaLnBrk="1" hangingPunct="1">
              <a:lnSpc>
                <a:spcPct val="90000"/>
              </a:lnSpc>
            </a:pPr>
            <a:r>
              <a:rPr lang="ja-JP" altLang="en-US" sz="2800" dirty="0" smtClean="0">
                <a:ea typeface="ＭＳ Ｐゴシック" pitchFamily="-64" charset="-128"/>
              </a:rPr>
              <a:t>今回紹介する方法</a:t>
            </a:r>
            <a:endParaRPr lang="en-US" altLang="ja-JP" sz="2800" dirty="0" smtClean="0">
              <a:ea typeface="ＭＳ Ｐゴシック" pitchFamily="-64" charset="-128"/>
            </a:endParaRPr>
          </a:p>
          <a:p>
            <a:pPr lvl="1">
              <a:lnSpc>
                <a:spcPct val="90000"/>
              </a:lnSpc>
            </a:pPr>
            <a:r>
              <a:rPr lang="ja-JP" altLang="en-US" dirty="0" smtClean="0">
                <a:ea typeface="ＭＳ Ｐゴシック" pitchFamily="-64" charset="-128"/>
              </a:rPr>
              <a:t>問題に応じて、適切なサイズの配列（記憶域）を確保するには、プログラムの実行時に確保を行う必要がある。</a:t>
            </a:r>
            <a:endParaRPr lang="en-US" altLang="ja-JP" dirty="0" smtClean="0">
              <a:ea typeface="ＭＳ Ｐゴシック" pitchFamily="-64" charset="-128"/>
            </a:endParaRPr>
          </a:p>
          <a:p>
            <a:pPr lvl="1" eaLnBrk="1" hangingPunct="1">
              <a:lnSpc>
                <a:spcPct val="90000"/>
              </a:lnSpc>
            </a:pPr>
            <a:r>
              <a:rPr lang="ja-JP" altLang="en-US" dirty="0" smtClean="0">
                <a:ea typeface="ＭＳ Ｐゴシック" pitchFamily="-64" charset="-128"/>
              </a:rPr>
              <a:t>余分なメモリの使用を避けることができる。</a:t>
            </a:r>
            <a:endParaRPr lang="en-US" altLang="ja-JP" dirty="0" smtClean="0">
              <a:ea typeface="ＭＳ Ｐゴシック" pitchFamily="-64" charset="-128"/>
            </a:endParaRPr>
          </a:p>
        </p:txBody>
      </p:sp>
      <p:sp>
        <p:nvSpPr>
          <p:cNvPr id="7" name="テキスト ボックス 6"/>
          <p:cNvSpPr txBox="1"/>
          <p:nvPr/>
        </p:nvSpPr>
        <p:spPr>
          <a:xfrm>
            <a:off x="4035458" y="1285860"/>
            <a:ext cx="3465500" cy="461665"/>
          </a:xfrm>
          <a:prstGeom prst="rect">
            <a:avLst/>
          </a:prstGeom>
          <a:solidFill>
            <a:srgbClr val="FFFF00"/>
          </a:solidFill>
          <a:ln>
            <a:solidFill>
              <a:schemeClr val="tx1"/>
            </a:solidFill>
          </a:ln>
        </p:spPr>
        <p:txBody>
          <a:bodyPr wrap="none" rtlCol="0">
            <a:spAutoFit/>
          </a:bodyPr>
          <a:lstStyle/>
          <a:p>
            <a:r>
              <a:rPr lang="ja-JP" altLang="en-US" sz="2400" dirty="0" smtClean="0"/>
              <a:t>静的</a:t>
            </a:r>
            <a:r>
              <a:rPr lang="en-US" altLang="ja-JP" sz="2400" dirty="0" smtClean="0"/>
              <a:t>(static)</a:t>
            </a:r>
            <a:r>
              <a:rPr lang="ja-JP" altLang="en-US" sz="2400" dirty="0" smtClean="0"/>
              <a:t>な記憶域確保</a:t>
            </a:r>
            <a:endParaRPr kumimoji="1" lang="ja-JP" altLang="en-US" sz="2400" dirty="0"/>
          </a:p>
        </p:txBody>
      </p:sp>
      <p:sp>
        <p:nvSpPr>
          <p:cNvPr id="8" name="テキスト ボックス 7"/>
          <p:cNvSpPr txBox="1"/>
          <p:nvPr/>
        </p:nvSpPr>
        <p:spPr>
          <a:xfrm>
            <a:off x="4071934" y="3071810"/>
            <a:ext cx="3858749" cy="461665"/>
          </a:xfrm>
          <a:prstGeom prst="rect">
            <a:avLst/>
          </a:prstGeom>
          <a:solidFill>
            <a:srgbClr val="FFFF00"/>
          </a:solidFill>
          <a:ln>
            <a:solidFill>
              <a:schemeClr val="tx1"/>
            </a:solidFill>
          </a:ln>
        </p:spPr>
        <p:txBody>
          <a:bodyPr wrap="none" rtlCol="0">
            <a:spAutoFit/>
          </a:bodyPr>
          <a:lstStyle/>
          <a:p>
            <a:r>
              <a:rPr lang="ja-JP" altLang="en-US" sz="2400" dirty="0" smtClean="0"/>
              <a:t>動的</a:t>
            </a:r>
            <a:r>
              <a:rPr lang="en-US" altLang="ja-JP" sz="2400" dirty="0" smtClean="0"/>
              <a:t>(dynamic)</a:t>
            </a:r>
            <a:r>
              <a:rPr lang="ja-JP" altLang="en-US" sz="2400" dirty="0" smtClean="0"/>
              <a:t>な記憶域確保</a:t>
            </a:r>
            <a:endParaRPr kumimoji="1" lang="ja-JP" altLang="en-US" sz="2400" dirty="0"/>
          </a:p>
        </p:txBody>
      </p:sp>
      <p:sp>
        <p:nvSpPr>
          <p:cNvPr id="9" name="テキスト ボックス 8"/>
          <p:cNvSpPr txBox="1"/>
          <p:nvPr/>
        </p:nvSpPr>
        <p:spPr>
          <a:xfrm>
            <a:off x="1357290" y="5643578"/>
            <a:ext cx="6326860" cy="954107"/>
          </a:xfrm>
          <a:prstGeom prst="rect">
            <a:avLst/>
          </a:prstGeom>
          <a:noFill/>
          <a:ln>
            <a:solidFill>
              <a:schemeClr val="tx1"/>
            </a:solidFill>
          </a:ln>
        </p:spPr>
        <p:txBody>
          <a:bodyPr wrap="none" rtlCol="0">
            <a:spAutoFit/>
          </a:bodyPr>
          <a:lstStyle/>
          <a:p>
            <a:r>
              <a:rPr kumimoji="1" lang="ja-JP" altLang="en-US" sz="2800" dirty="0" smtClean="0"/>
              <a:t>静的</a:t>
            </a:r>
            <a:r>
              <a:rPr kumimoji="1" lang="en-US" altLang="ja-JP" sz="2800" dirty="0" smtClean="0"/>
              <a:t>(static)</a:t>
            </a:r>
            <a:r>
              <a:rPr kumimoji="1" lang="ja-JP" altLang="en-US" sz="2800" dirty="0" smtClean="0"/>
              <a:t> </a:t>
            </a:r>
            <a:r>
              <a:rPr kumimoji="1" lang="en-US" altLang="ja-JP" sz="2800" dirty="0" smtClean="0"/>
              <a:t>--- </a:t>
            </a:r>
            <a:r>
              <a:rPr kumimoji="1" lang="ja-JP" altLang="en-US" sz="2800" dirty="0" smtClean="0"/>
              <a:t>プログラムのコンパイル時</a:t>
            </a:r>
            <a:endParaRPr kumimoji="1" lang="en-US" altLang="ja-JP" sz="2800" dirty="0" smtClean="0"/>
          </a:p>
          <a:p>
            <a:r>
              <a:rPr kumimoji="1" lang="ja-JP" altLang="en-US" sz="2800" dirty="0" smtClean="0"/>
              <a:t>動的</a:t>
            </a:r>
            <a:r>
              <a:rPr kumimoji="1" lang="en-US" altLang="ja-JP" sz="2800" dirty="0" smtClean="0"/>
              <a:t>(dynamic)</a:t>
            </a:r>
            <a:r>
              <a:rPr kumimoji="1" lang="ja-JP" altLang="en-US" sz="2800" dirty="0" smtClean="0"/>
              <a:t> </a:t>
            </a:r>
            <a:r>
              <a:rPr kumimoji="1" lang="en-US" altLang="ja-JP" sz="2800" dirty="0" smtClean="0"/>
              <a:t>--- </a:t>
            </a:r>
            <a:r>
              <a:rPr kumimoji="1" lang="ja-JP" altLang="en-US" sz="2800" dirty="0" smtClean="0"/>
              <a:t>プログラムの実行時</a:t>
            </a:r>
            <a:endParaRPr kumimoji="1" lang="ja-JP" altLang="en-US" sz="2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ヒープ領域</a:t>
            </a:r>
            <a:r>
              <a:rPr lang="en-US" altLang="ja-JP" dirty="0" smtClean="0"/>
              <a:t>(heap)</a:t>
            </a:r>
            <a:endParaRPr kumimoji="1" lang="ja-JP" altLang="en-US" dirty="0"/>
          </a:p>
        </p:txBody>
      </p:sp>
      <p:sp>
        <p:nvSpPr>
          <p:cNvPr id="3" name="コンテンツ プレースホルダ 2"/>
          <p:cNvSpPr>
            <a:spLocks noGrp="1"/>
          </p:cNvSpPr>
          <p:nvPr>
            <p:ph idx="1"/>
          </p:nvPr>
        </p:nvSpPr>
        <p:spPr>
          <a:xfrm>
            <a:off x="500034" y="1385886"/>
            <a:ext cx="8229600" cy="3328998"/>
          </a:xfrm>
        </p:spPr>
        <p:txBody>
          <a:bodyPr>
            <a:normAutofit/>
          </a:bodyPr>
          <a:lstStyle/>
          <a:p>
            <a:r>
              <a:rPr kumimoji="1" lang="ja-JP" altLang="en-US" sz="2800" dirty="0" smtClean="0"/>
              <a:t>プログラムからはヒープ領域</a:t>
            </a:r>
            <a:r>
              <a:rPr kumimoji="1" lang="en-US" altLang="ja-JP" sz="2800" dirty="0" smtClean="0"/>
              <a:t>(heap)</a:t>
            </a:r>
            <a:r>
              <a:rPr kumimoji="1" lang="ja-JP" altLang="en-US" sz="2800" dirty="0" smtClean="0"/>
              <a:t>を用いることができる。</a:t>
            </a:r>
            <a:endParaRPr kumimoji="1" lang="en-US" altLang="ja-JP" sz="2800" dirty="0" smtClean="0"/>
          </a:p>
          <a:p>
            <a:r>
              <a:rPr lang="ja-JP" altLang="en-US" sz="2800" dirty="0" smtClean="0"/>
              <a:t>ヒープ領域を使うには、</a:t>
            </a:r>
            <a:r>
              <a:rPr lang="en-US" altLang="ja-JP" sz="2800" dirty="0" err="1" smtClean="0"/>
              <a:t>malloc</a:t>
            </a:r>
            <a:r>
              <a:rPr lang="ja-JP" altLang="en-US" sz="2800" dirty="0" smtClean="0"/>
              <a:t>あるいは</a:t>
            </a:r>
            <a:r>
              <a:rPr lang="en-US" altLang="ja-JP" sz="2800" dirty="0" err="1" smtClean="0"/>
              <a:t>calloc</a:t>
            </a:r>
            <a:r>
              <a:rPr lang="ja-JP" altLang="en-US" sz="2800" dirty="0" smtClean="0"/>
              <a:t>というライブラリ関数で領域を確保する。使い終わったら、</a:t>
            </a:r>
            <a:r>
              <a:rPr lang="en-US" altLang="ja-JP" sz="2800" dirty="0" smtClean="0"/>
              <a:t>free</a:t>
            </a:r>
            <a:r>
              <a:rPr lang="ja-JP" altLang="en-US" sz="2800" dirty="0" smtClean="0"/>
              <a:t>というライブラリ関数で解放する。解放することにより、それ以降の</a:t>
            </a:r>
            <a:r>
              <a:rPr lang="en-US" altLang="ja-JP" sz="2800" dirty="0" err="1" smtClean="0"/>
              <a:t>malloc</a:t>
            </a:r>
            <a:r>
              <a:rPr lang="ja-JP" altLang="en-US" sz="2800" dirty="0" smtClean="0"/>
              <a:t>あるいは</a:t>
            </a:r>
            <a:r>
              <a:rPr lang="en-US" altLang="ja-JP" sz="2800" dirty="0" err="1" smtClean="0"/>
              <a:t>calloc</a:t>
            </a:r>
            <a:r>
              <a:rPr lang="ja-JP" altLang="en-US" sz="2800" dirty="0" smtClean="0"/>
              <a:t>で再利用可能になる。</a:t>
            </a:r>
            <a:endParaRPr lang="en-US" altLang="ja-JP" sz="2800" dirty="0" smtClean="0"/>
          </a:p>
        </p:txBody>
      </p:sp>
      <p:sp>
        <p:nvSpPr>
          <p:cNvPr id="4" name="正方形/長方形 3"/>
          <p:cNvSpPr/>
          <p:nvPr/>
        </p:nvSpPr>
        <p:spPr>
          <a:xfrm>
            <a:off x="928662" y="5214950"/>
            <a:ext cx="7358114" cy="954107"/>
          </a:xfrm>
          <a:prstGeom prst="rect">
            <a:avLst/>
          </a:prstGeom>
          <a:ln>
            <a:solidFill>
              <a:schemeClr val="tx1"/>
            </a:solidFill>
          </a:ln>
        </p:spPr>
        <p:txBody>
          <a:bodyPr wrap="square">
            <a:spAutoFit/>
          </a:bodyPr>
          <a:lstStyle/>
          <a:p>
            <a:r>
              <a:rPr lang="ja-JP" altLang="en-US" sz="2800" dirty="0" smtClean="0"/>
              <a:t>（注意）ここでいうヒープ領域は、データ構造の授業で習う木構造のヒープとは関係がない。</a:t>
            </a:r>
            <a:endParaRPr lang="ja-JP" altLang="en-US"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a:xfrm>
            <a:off x="642910" y="214290"/>
            <a:ext cx="7620000" cy="685800"/>
          </a:xfrm>
        </p:spPr>
        <p:txBody>
          <a:bodyPr>
            <a:normAutofit/>
          </a:bodyPr>
          <a:lstStyle/>
          <a:p>
            <a:pPr eaLnBrk="1" hangingPunct="1">
              <a:defRPr/>
            </a:pPr>
            <a:r>
              <a:rPr lang="en-US" altLang="ja-JP" sz="3400" dirty="0" err="1" smtClean="0"/>
              <a:t>calloc</a:t>
            </a:r>
            <a:r>
              <a:rPr lang="ja-JP" altLang="en-US" sz="3400" dirty="0" smtClean="0"/>
              <a:t>関数</a:t>
            </a:r>
            <a:endParaRPr lang="en-US" altLang="ja-JP" sz="3400" dirty="0" smtClean="0"/>
          </a:p>
        </p:txBody>
      </p:sp>
      <p:sp>
        <p:nvSpPr>
          <p:cNvPr id="18437" name="Rectangle 3"/>
          <p:cNvSpPr>
            <a:spLocks noGrp="1" noChangeArrowheads="1"/>
          </p:cNvSpPr>
          <p:nvPr>
            <p:ph type="body" idx="1"/>
          </p:nvPr>
        </p:nvSpPr>
        <p:spPr>
          <a:xfrm>
            <a:off x="642910" y="1000108"/>
            <a:ext cx="7529538" cy="3429024"/>
          </a:xfrm>
        </p:spPr>
        <p:txBody>
          <a:bodyPr>
            <a:noAutofit/>
          </a:bodyPr>
          <a:lstStyle/>
          <a:p>
            <a:pPr eaLnBrk="1" hangingPunct="1"/>
            <a:r>
              <a:rPr lang="ja-JP" altLang="en-US" sz="2400" dirty="0" smtClean="0"/>
              <a:t>ヒープ領域から実行時に記憶域を確保する。</a:t>
            </a:r>
            <a:endParaRPr lang="en-US" altLang="ja-JP" sz="2400" dirty="0" smtClean="0"/>
          </a:p>
          <a:p>
            <a:pPr eaLnBrk="1" hangingPunct="1"/>
            <a:r>
              <a:rPr lang="en-US" altLang="ja-JP" sz="2400" dirty="0" err="1" smtClean="0"/>
              <a:t>calloc</a:t>
            </a:r>
            <a:r>
              <a:rPr lang="ja-JP" altLang="en-US" sz="2400" dirty="0" smtClean="0"/>
              <a:t>関数を使うためには</a:t>
            </a:r>
            <a:r>
              <a:rPr lang="en-US" altLang="ja-JP" sz="2400" dirty="0" err="1" smtClean="0"/>
              <a:t>stdlib.h</a:t>
            </a:r>
            <a:r>
              <a:rPr lang="ja-JP" altLang="en-US" sz="2400" dirty="0" smtClean="0"/>
              <a:t>をインクルードする必要がある。</a:t>
            </a:r>
            <a:endParaRPr lang="en-US" altLang="ja-JP" sz="2400" dirty="0" smtClean="0"/>
          </a:p>
          <a:p>
            <a:pPr eaLnBrk="1" hangingPunct="1"/>
            <a:r>
              <a:rPr lang="ja-JP" altLang="en-US" sz="2400" dirty="0" smtClean="0"/>
              <a:t>返り値は</a:t>
            </a:r>
            <a:r>
              <a:rPr lang="en-US" altLang="ja-JP" sz="2400" dirty="0" smtClean="0"/>
              <a:t>void</a:t>
            </a:r>
            <a:r>
              <a:rPr lang="ja-JP" altLang="en-US" sz="2400" dirty="0" err="1" smtClean="0"/>
              <a:t>への</a:t>
            </a:r>
            <a:r>
              <a:rPr lang="ja-JP" altLang="en-US" sz="2400" dirty="0" smtClean="0"/>
              <a:t>ポインタ型（実際に使う型にキャストして使用する）</a:t>
            </a:r>
            <a:endParaRPr lang="en-US" altLang="ja-JP" sz="2400" dirty="0" smtClean="0"/>
          </a:p>
          <a:p>
            <a:pPr eaLnBrk="1" hangingPunct="1"/>
            <a:r>
              <a:rPr lang="ja-JP" altLang="en-US" sz="2400" dirty="0" smtClean="0"/>
              <a:t>引数は、データ型のサイズ（第２引数）と、その個数（第１引数）。</a:t>
            </a:r>
            <a:endParaRPr lang="en-US" altLang="ja-JP" sz="2400" dirty="0" smtClean="0"/>
          </a:p>
          <a:p>
            <a:pPr eaLnBrk="1" hangingPunct="1"/>
            <a:r>
              <a:rPr lang="ja-JP" altLang="en-US" sz="2400" dirty="0" smtClean="0"/>
              <a:t>データ型のサイズは、</a:t>
            </a:r>
            <a:r>
              <a:rPr lang="en-US" altLang="ja-JP" sz="2400" dirty="0" err="1" smtClean="0"/>
              <a:t>sizeof</a:t>
            </a:r>
            <a:r>
              <a:rPr lang="en-US" altLang="ja-JP" sz="2400" dirty="0" smtClean="0"/>
              <a:t> (</a:t>
            </a:r>
            <a:r>
              <a:rPr lang="ja-JP" altLang="en-US" sz="2400" dirty="0" smtClean="0"/>
              <a:t>型式</a:t>
            </a:r>
            <a:r>
              <a:rPr lang="en-US" altLang="ja-JP" sz="2400" dirty="0" smtClean="0"/>
              <a:t>) </a:t>
            </a:r>
            <a:r>
              <a:rPr lang="ja-JP" altLang="en-US" sz="2400" dirty="0" smtClean="0"/>
              <a:t>で取得できる。</a:t>
            </a:r>
            <a:endParaRPr lang="en-US" altLang="ja-JP" sz="2400" dirty="0" smtClean="0"/>
          </a:p>
        </p:txBody>
      </p:sp>
      <p:graphicFrame>
        <p:nvGraphicFramePr>
          <p:cNvPr id="405542" name="Group 38"/>
          <p:cNvGraphicFramePr>
            <a:graphicFrameLocks noGrp="1"/>
          </p:cNvGraphicFramePr>
          <p:nvPr/>
        </p:nvGraphicFramePr>
        <p:xfrm>
          <a:off x="1142976" y="4500570"/>
          <a:ext cx="6858000" cy="1785311"/>
        </p:xfrm>
        <a:graphic>
          <a:graphicData uri="http://schemas.openxmlformats.org/drawingml/2006/table">
            <a:tbl>
              <a:tblPr/>
              <a:tblGrid>
                <a:gridCol w="1143000"/>
                <a:gridCol w="5715000"/>
              </a:tblGrid>
              <a:tr h="363537">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64" charset="2"/>
                        <a:buNone/>
                        <a:tabLst/>
                      </a:pPr>
                      <a:r>
                        <a:rPr kumimoji="0" lang="ja-JP" altLang="en-US" sz="1800" b="0" i="0" u="none" strike="noStrike" cap="none" normalizeH="0" baseline="0" dirty="0" smtClean="0">
                          <a:ln>
                            <a:noFill/>
                          </a:ln>
                          <a:solidFill>
                            <a:schemeClr val="tx1"/>
                          </a:solidFill>
                          <a:effectLst/>
                          <a:latin typeface="News Gothic" pitchFamily="34" charset="0"/>
                          <a:ea typeface="ヒラギノ角ゴ Pro W3" pitchFamily="-64" charset="-128"/>
                        </a:rPr>
                        <a:t>ヘッダ</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64" charset="2"/>
                        <a:buNone/>
                        <a:tabLst/>
                      </a:pPr>
                      <a:r>
                        <a:rPr kumimoji="0" lang="en-US" altLang="ja-JP" sz="2000" b="0" i="0" u="none" strike="noStrike" cap="none" normalizeH="0" baseline="0" dirty="0" smtClean="0">
                          <a:ln>
                            <a:noFill/>
                          </a:ln>
                          <a:solidFill>
                            <a:schemeClr val="tx1"/>
                          </a:solidFill>
                          <a:effectLst/>
                          <a:latin typeface="News Gothic" pitchFamily="34" charset="0"/>
                          <a:ea typeface="ヒラギノ角ゴ Pro W3" pitchFamily="-64" charset="-128"/>
                        </a:rPr>
                        <a:t>#include &lt;</a:t>
                      </a:r>
                      <a:r>
                        <a:rPr kumimoji="0" lang="en-US" altLang="ja-JP" sz="2000" b="0" i="0" u="none" strike="noStrike" cap="none" normalizeH="0" baseline="0" dirty="0" err="1" smtClean="0">
                          <a:ln>
                            <a:noFill/>
                          </a:ln>
                          <a:solidFill>
                            <a:schemeClr val="tx1"/>
                          </a:solidFill>
                          <a:effectLst/>
                          <a:latin typeface="News Gothic" pitchFamily="34" charset="0"/>
                          <a:ea typeface="ヒラギノ角ゴ Pro W3" pitchFamily="-64" charset="-128"/>
                        </a:rPr>
                        <a:t>stdlib.h</a:t>
                      </a:r>
                      <a:r>
                        <a:rPr kumimoji="0" lang="en-US" altLang="ja-JP" sz="2000" b="0" i="0" u="none" strike="noStrike" cap="none" normalizeH="0" baseline="0" dirty="0" smtClean="0">
                          <a:ln>
                            <a:noFill/>
                          </a:ln>
                          <a:solidFill>
                            <a:schemeClr val="tx1"/>
                          </a:solidFill>
                          <a:effectLst/>
                          <a:latin typeface="News Gothic" pitchFamily="34" charset="0"/>
                          <a:ea typeface="ヒラギノ角ゴ Pro W3" pitchFamily="-64" charset="-128"/>
                        </a:rPr>
                        <a:t>&gt;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10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64" charset="2"/>
                        <a:buNone/>
                        <a:tabLst/>
                      </a:pPr>
                      <a:r>
                        <a:rPr kumimoji="0" lang="ja-JP" altLang="en-US" sz="1800" b="0" i="0" u="none" strike="noStrike" cap="none" normalizeH="0" baseline="0" dirty="0" smtClean="0">
                          <a:ln>
                            <a:noFill/>
                          </a:ln>
                          <a:solidFill>
                            <a:schemeClr val="tx1"/>
                          </a:solidFill>
                          <a:effectLst/>
                          <a:latin typeface="News Gothic" pitchFamily="34" charset="0"/>
                          <a:ea typeface="ヒラギノ角ゴ Pro W3" pitchFamily="-64" charset="-128"/>
                        </a:rPr>
                        <a:t>形式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64" charset="2"/>
                        <a:buNone/>
                        <a:tabLst/>
                      </a:pPr>
                      <a:r>
                        <a:rPr kumimoji="0" lang="en-US" altLang="ja-JP" sz="2000" b="0" i="0" u="none" strike="noStrike" cap="none" normalizeH="0" baseline="0" dirty="0" smtClean="0">
                          <a:ln>
                            <a:noFill/>
                          </a:ln>
                          <a:solidFill>
                            <a:schemeClr val="tx1"/>
                          </a:solidFill>
                          <a:effectLst/>
                          <a:latin typeface="News Gothic" pitchFamily="34" charset="0"/>
                          <a:ea typeface="ヒラギノ角ゴ Pro W3" pitchFamily="-64" charset="-128"/>
                        </a:rPr>
                        <a:t>void  *</a:t>
                      </a:r>
                      <a:r>
                        <a:rPr kumimoji="0" lang="ja-JP" altLang="en-US" sz="2000" b="0" i="0" u="none" strike="noStrike" cap="none" normalizeH="0" baseline="0" dirty="0" smtClean="0">
                          <a:ln>
                            <a:noFill/>
                          </a:ln>
                          <a:solidFill>
                            <a:schemeClr val="tx1"/>
                          </a:solidFill>
                          <a:effectLst/>
                          <a:latin typeface="News Gothic" pitchFamily="34" charset="0"/>
                          <a:ea typeface="ヒラギノ角ゴ Pro W3" pitchFamily="-64" charset="-128"/>
                        </a:rPr>
                        <a:t> </a:t>
                      </a:r>
                      <a:r>
                        <a:rPr kumimoji="0" lang="en-US" altLang="ja-JP" sz="2000" b="0" i="0" u="none" strike="noStrike" cap="none" normalizeH="0" baseline="0" dirty="0" err="1" smtClean="0">
                          <a:ln>
                            <a:noFill/>
                          </a:ln>
                          <a:solidFill>
                            <a:schemeClr val="tx1"/>
                          </a:solidFill>
                          <a:effectLst/>
                          <a:latin typeface="News Gothic" pitchFamily="34" charset="0"/>
                          <a:ea typeface="ヒラギノ角ゴ Pro W3" pitchFamily="-64" charset="-128"/>
                        </a:rPr>
                        <a:t>calloc</a:t>
                      </a:r>
                      <a:r>
                        <a:rPr kumimoji="0" lang="ja-JP" altLang="en-US" sz="2000" b="0" i="0" u="none" strike="noStrike" cap="none" normalizeH="0" baseline="0" dirty="0" smtClean="0">
                          <a:ln>
                            <a:noFill/>
                          </a:ln>
                          <a:solidFill>
                            <a:schemeClr val="tx1"/>
                          </a:solidFill>
                          <a:effectLst/>
                          <a:latin typeface="News Gothic" pitchFamily="34" charset="0"/>
                          <a:ea typeface="ヒラギノ角ゴ Pro W3" pitchFamily="-64" charset="-128"/>
                        </a:rPr>
                        <a:t> </a:t>
                      </a:r>
                      <a:r>
                        <a:rPr kumimoji="0" lang="en-US" altLang="ja-JP" sz="2000" b="0" i="0" u="none" strike="noStrike" cap="none" normalizeH="0" baseline="0" dirty="0" smtClean="0">
                          <a:ln>
                            <a:noFill/>
                          </a:ln>
                          <a:solidFill>
                            <a:schemeClr val="tx1"/>
                          </a:solidFill>
                          <a:effectLst/>
                          <a:latin typeface="News Gothic" pitchFamily="34" charset="0"/>
                          <a:ea typeface="ヒラギノ角ゴ Pro W3" pitchFamily="-64" charset="-128"/>
                        </a:rPr>
                        <a:t>(</a:t>
                      </a:r>
                      <a:r>
                        <a:rPr kumimoji="0" lang="en-US" altLang="ja-JP" sz="2000" b="0" i="0" u="none" strike="noStrike" cap="none" normalizeH="0" baseline="0" dirty="0" err="1" smtClean="0">
                          <a:ln>
                            <a:noFill/>
                          </a:ln>
                          <a:solidFill>
                            <a:schemeClr val="tx1"/>
                          </a:solidFill>
                          <a:effectLst/>
                          <a:latin typeface="News Gothic" pitchFamily="34" charset="0"/>
                          <a:ea typeface="ヒラギノ角ゴ Pro W3" pitchFamily="-64" charset="-128"/>
                        </a:rPr>
                        <a:t>size_t</a:t>
                      </a:r>
                      <a:r>
                        <a:rPr kumimoji="0" lang="en-US" altLang="ja-JP" sz="2000" b="0" i="0" u="none" strike="noStrike" cap="none" normalizeH="0" baseline="0" dirty="0" smtClean="0">
                          <a:ln>
                            <a:noFill/>
                          </a:ln>
                          <a:solidFill>
                            <a:schemeClr val="tx1"/>
                          </a:solidFill>
                          <a:effectLst/>
                          <a:latin typeface="News Gothic" pitchFamily="34" charset="0"/>
                          <a:ea typeface="ヒラギノ角ゴ Pro W3" pitchFamily="-64" charset="-128"/>
                        </a:rPr>
                        <a:t>  n,  </a:t>
                      </a:r>
                      <a:r>
                        <a:rPr kumimoji="0" lang="en-US" altLang="ja-JP" sz="2000" b="0" i="0" u="none" strike="noStrike" cap="none" normalizeH="0" baseline="0" dirty="0" err="1" smtClean="0">
                          <a:ln>
                            <a:noFill/>
                          </a:ln>
                          <a:solidFill>
                            <a:schemeClr val="tx1"/>
                          </a:solidFill>
                          <a:effectLst/>
                          <a:latin typeface="News Gothic" pitchFamily="34" charset="0"/>
                          <a:ea typeface="ヒラギノ角ゴ Pro W3" pitchFamily="-64" charset="-128"/>
                        </a:rPr>
                        <a:t>size_t</a:t>
                      </a:r>
                      <a:r>
                        <a:rPr kumimoji="0" lang="en-US" altLang="ja-JP" sz="2000" b="0" i="0" u="none" strike="noStrike" cap="none" normalizeH="0" baseline="0" dirty="0" smtClean="0">
                          <a:ln>
                            <a:noFill/>
                          </a:ln>
                          <a:solidFill>
                            <a:schemeClr val="tx1"/>
                          </a:solidFill>
                          <a:effectLst/>
                          <a:latin typeface="News Gothic" pitchFamily="34" charset="0"/>
                          <a:ea typeface="ヒラギノ角ゴ Pro W3" pitchFamily="-64" charset="-128"/>
                        </a:rPr>
                        <a:t>  size);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3231">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64" charset="2"/>
                        <a:buNone/>
                        <a:tabLst/>
                      </a:pPr>
                      <a:r>
                        <a:rPr kumimoji="0" lang="ja-JP" altLang="en-US" sz="1800" b="0" i="0" u="none" strike="noStrike" cap="none" normalizeH="0" baseline="0" smtClean="0">
                          <a:ln>
                            <a:noFill/>
                          </a:ln>
                          <a:solidFill>
                            <a:schemeClr val="tx1"/>
                          </a:solidFill>
                          <a:effectLst/>
                          <a:latin typeface="News Gothic" pitchFamily="34" charset="0"/>
                          <a:ea typeface="ヒラギノ角ゴ Pro W3" pitchFamily="-64" charset="-128"/>
                        </a:rPr>
                        <a:t>解説</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64" charset="2"/>
                        <a:buNone/>
                        <a:tabLst/>
                      </a:pPr>
                      <a:r>
                        <a:rPr kumimoji="0" lang="ja-JP" altLang="en-US" sz="1600" b="0" i="0" u="none" strike="noStrike" cap="none" normalizeH="0" baseline="0" dirty="0" smtClean="0">
                          <a:ln>
                            <a:noFill/>
                          </a:ln>
                          <a:solidFill>
                            <a:schemeClr val="tx1"/>
                          </a:solidFill>
                          <a:effectLst/>
                          <a:latin typeface="News Gothic" pitchFamily="34" charset="0"/>
                          <a:ea typeface="ヒラギノ角ゴ Pro W3" pitchFamily="-64" charset="-128"/>
                        </a:rPr>
                        <a:t>大きさが</a:t>
                      </a:r>
                      <a:r>
                        <a:rPr kumimoji="0" lang="en-US" altLang="ja-JP" sz="1600" b="0" i="0" u="none" strike="noStrike" cap="none" normalizeH="0" baseline="0" dirty="0" smtClean="0">
                          <a:ln>
                            <a:noFill/>
                          </a:ln>
                          <a:solidFill>
                            <a:schemeClr val="tx1"/>
                          </a:solidFill>
                          <a:effectLst/>
                          <a:latin typeface="News Gothic" pitchFamily="34" charset="0"/>
                          <a:ea typeface="ヒラギノ角ゴ Pro W3" pitchFamily="-64" charset="-128"/>
                        </a:rPr>
                        <a:t>size</a:t>
                      </a:r>
                      <a:r>
                        <a:rPr kumimoji="0" lang="ja-JP" altLang="en-US" sz="1600" b="0" i="0" u="none" strike="noStrike" cap="none" normalizeH="0" baseline="0" dirty="0" smtClean="0">
                          <a:ln>
                            <a:noFill/>
                          </a:ln>
                          <a:solidFill>
                            <a:schemeClr val="tx1"/>
                          </a:solidFill>
                          <a:effectLst/>
                          <a:latin typeface="News Gothic" pitchFamily="34" charset="0"/>
                          <a:ea typeface="ヒラギノ角ゴ Pro W3" pitchFamily="-64" charset="-128"/>
                        </a:rPr>
                        <a:t>である</a:t>
                      </a:r>
                      <a:r>
                        <a:rPr kumimoji="0" lang="en-US" altLang="ja-JP" sz="1600" b="0" i="0" u="none" strike="noStrike" cap="none" normalizeH="0" baseline="0" dirty="0" smtClean="0">
                          <a:ln>
                            <a:noFill/>
                          </a:ln>
                          <a:solidFill>
                            <a:schemeClr val="tx1"/>
                          </a:solidFill>
                          <a:effectLst/>
                          <a:latin typeface="News Gothic" pitchFamily="34" charset="0"/>
                          <a:ea typeface="ヒラギノ角ゴ Pro W3" pitchFamily="-64" charset="-128"/>
                        </a:rPr>
                        <a:t>n</a:t>
                      </a:r>
                      <a:r>
                        <a:rPr kumimoji="0" lang="ja-JP" altLang="en-US" sz="1600" b="0" i="0" u="none" strike="noStrike" cap="none" normalizeH="0" baseline="0" dirty="0" smtClean="0">
                          <a:ln>
                            <a:noFill/>
                          </a:ln>
                          <a:solidFill>
                            <a:schemeClr val="tx1"/>
                          </a:solidFill>
                          <a:effectLst/>
                          <a:latin typeface="News Gothic" pitchFamily="34" charset="0"/>
                          <a:ea typeface="ヒラギノ角ゴ Pro W3" pitchFamily="-64" charset="-128"/>
                        </a:rPr>
                        <a:t>個のオブジェクトの領域を確保する。</a:t>
                      </a:r>
                      <a:endParaRPr kumimoji="0" lang="en-US" altLang="ja-JP" sz="1600" b="0" i="0" u="none" strike="noStrike" cap="none" normalizeH="0" baseline="0" dirty="0" smtClean="0">
                        <a:ln>
                          <a:noFill/>
                        </a:ln>
                        <a:solidFill>
                          <a:schemeClr val="tx1"/>
                        </a:solidFill>
                        <a:effectLst/>
                        <a:latin typeface="News Gothic" pitchFamily="34" charset="0"/>
                        <a:ea typeface="ヒラギノ角ゴ Pro W3" pitchFamily="-6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9600">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64" charset="2"/>
                        <a:buNone/>
                        <a:tabLst/>
                      </a:pPr>
                      <a:r>
                        <a:rPr kumimoji="0" lang="ja-JP" altLang="en-US" sz="1800" b="0" i="0" u="none" strike="noStrike" cap="none" normalizeH="0" baseline="0" dirty="0" smtClean="0">
                          <a:ln>
                            <a:noFill/>
                          </a:ln>
                          <a:solidFill>
                            <a:schemeClr val="tx1"/>
                          </a:solidFill>
                          <a:effectLst/>
                          <a:latin typeface="News Gothic" pitchFamily="34" charset="0"/>
                          <a:ea typeface="ヒラギノ角ゴ Pro W3" pitchFamily="-64" charset="-128"/>
                        </a:rPr>
                        <a:t>返り値</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64" charset="2"/>
                        <a:buNone/>
                        <a:tabLst/>
                      </a:pPr>
                      <a:r>
                        <a:rPr kumimoji="0" lang="ja-JP" altLang="en-US" sz="1600" b="0" i="0" u="none" strike="noStrike" cap="none" normalizeH="0" baseline="0" dirty="0" smtClean="0">
                          <a:ln>
                            <a:noFill/>
                          </a:ln>
                          <a:solidFill>
                            <a:schemeClr val="tx1"/>
                          </a:solidFill>
                          <a:effectLst/>
                          <a:latin typeface="News Gothic" pitchFamily="34" charset="0"/>
                          <a:ea typeface="ヒラギノ角ゴ Pro W3" pitchFamily="-64" charset="-128"/>
                        </a:rPr>
                        <a:t>領域確保に成功した場合は、その領域の先頭へのポインタを返し、失敗した場合は、空ポインタ（</a:t>
                      </a:r>
                      <a:r>
                        <a:rPr kumimoji="0" lang="en-US" altLang="ja-JP" sz="1600" b="0" i="0" u="none" strike="noStrike" cap="none" normalizeH="0" baseline="0" dirty="0" smtClean="0">
                          <a:ln>
                            <a:noFill/>
                          </a:ln>
                          <a:solidFill>
                            <a:schemeClr val="tx1"/>
                          </a:solidFill>
                          <a:effectLst/>
                          <a:latin typeface="News Gothic" pitchFamily="34" charset="0"/>
                          <a:ea typeface="ヒラギノ角ゴ Pro W3" pitchFamily="-64" charset="-128"/>
                        </a:rPr>
                        <a:t>NULL</a:t>
                      </a:r>
                      <a:r>
                        <a:rPr kumimoji="0" lang="ja-JP" altLang="en-US" sz="1600" b="0" i="0" u="none" strike="noStrike" cap="none" normalizeH="0" baseline="0" dirty="0" smtClean="0">
                          <a:ln>
                            <a:noFill/>
                          </a:ln>
                          <a:solidFill>
                            <a:schemeClr val="tx1"/>
                          </a:solidFill>
                          <a:effectLst/>
                          <a:latin typeface="News Gothic" pitchFamily="34" charset="0"/>
                          <a:ea typeface="ヒラギノ角ゴ Pro W3" pitchFamily="-64" charset="-128"/>
                        </a:rPr>
                        <a:t>）を返す。</a:t>
                      </a:r>
                      <a:endParaRPr kumimoji="0" lang="en-US" altLang="ja-JP" sz="1600" b="0" i="0" u="none" strike="noStrike" cap="none" normalizeH="0" baseline="0" dirty="0" smtClean="0">
                        <a:ln>
                          <a:noFill/>
                        </a:ln>
                        <a:solidFill>
                          <a:schemeClr val="tx1"/>
                        </a:solidFill>
                        <a:effectLst/>
                        <a:latin typeface="News Gothic" pitchFamily="34" charset="0"/>
                        <a:ea typeface="ヒラギノ角ゴ Pro W3" pitchFamily="-6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1026"/>
          <p:cNvSpPr>
            <a:spLocks noGrp="1" noChangeArrowheads="1"/>
          </p:cNvSpPr>
          <p:nvPr>
            <p:ph type="title"/>
          </p:nvPr>
        </p:nvSpPr>
        <p:spPr>
          <a:xfrm>
            <a:off x="228600" y="228600"/>
            <a:ext cx="8343928" cy="685800"/>
          </a:xfrm>
        </p:spPr>
        <p:txBody>
          <a:bodyPr>
            <a:normAutofit fontScale="90000"/>
          </a:bodyPr>
          <a:lstStyle/>
          <a:p>
            <a:pPr eaLnBrk="1" hangingPunct="1">
              <a:defRPr/>
            </a:pPr>
            <a:r>
              <a:rPr lang="ja-JP" altLang="en-US" dirty="0" smtClean="0"/>
              <a:t>例（打ち込んで確認）</a:t>
            </a:r>
            <a:endParaRPr lang="en-US" altLang="ja-JP" dirty="0" smtClean="0"/>
          </a:p>
        </p:txBody>
      </p:sp>
      <p:sp>
        <p:nvSpPr>
          <p:cNvPr id="19461" name="Rectangle 1028"/>
          <p:cNvSpPr>
            <a:spLocks noChangeArrowheads="1"/>
          </p:cNvSpPr>
          <p:nvPr/>
        </p:nvSpPr>
        <p:spPr bwMode="auto">
          <a:xfrm>
            <a:off x="468313" y="1125538"/>
            <a:ext cx="7175521" cy="517512"/>
          </a:xfrm>
          <a:prstGeom prst="rect">
            <a:avLst/>
          </a:prstGeom>
          <a:noFill/>
          <a:ln w="9525">
            <a:noFill/>
            <a:miter lim="800000"/>
            <a:headEnd/>
            <a:tailEnd/>
          </a:ln>
        </p:spPr>
        <p:txBody>
          <a:bodyPr/>
          <a:lstStyle/>
          <a:p>
            <a:pPr marL="342900" indent="-342900" eaLnBrk="1" hangingPunct="1">
              <a:spcBef>
                <a:spcPct val="20000"/>
              </a:spcBef>
              <a:buClr>
                <a:schemeClr val="accent2"/>
              </a:buClr>
              <a:buSzPct val="85000"/>
              <a:buFont typeface="Wingdings" pitchFamily="-64" charset="2"/>
              <a:buChar char="n"/>
            </a:pPr>
            <a:endParaRPr lang="ja-JP" altLang="en-US" sz="2200" b="0" dirty="0">
              <a:latin typeface="News Gothic" pitchFamily="34" charset="0"/>
            </a:endParaRPr>
          </a:p>
        </p:txBody>
      </p:sp>
      <p:sp>
        <p:nvSpPr>
          <p:cNvPr id="10" name="正方形/長方形 9"/>
          <p:cNvSpPr/>
          <p:nvPr/>
        </p:nvSpPr>
        <p:spPr>
          <a:xfrm>
            <a:off x="642910" y="1071546"/>
            <a:ext cx="6572296" cy="5262979"/>
          </a:xfrm>
          <a:prstGeom prst="rect">
            <a:avLst/>
          </a:prstGeom>
          <a:ln>
            <a:solidFill>
              <a:schemeClr val="tx1"/>
            </a:solidFill>
          </a:ln>
        </p:spPr>
        <p:txBody>
          <a:bodyPr wrap="square">
            <a:spAutoFit/>
          </a:bodyPr>
          <a:lstStyle/>
          <a:p>
            <a:pPr>
              <a:defRPr/>
            </a:pPr>
            <a:r>
              <a:rPr lang="en-US" altLang="ja-JP" sz="2400" dirty="0" smtClean="0"/>
              <a:t>#include &lt;</a:t>
            </a:r>
            <a:r>
              <a:rPr lang="en-US" altLang="ja-JP" sz="2400" dirty="0" err="1" smtClean="0"/>
              <a:t>stdio.h</a:t>
            </a:r>
            <a:r>
              <a:rPr lang="en-US" altLang="ja-JP" sz="2400" dirty="0" smtClean="0"/>
              <a:t>&gt;</a:t>
            </a:r>
          </a:p>
          <a:p>
            <a:pPr>
              <a:defRPr/>
            </a:pPr>
            <a:r>
              <a:rPr lang="en-US" altLang="ja-JP" sz="2400" dirty="0" smtClean="0">
                <a:solidFill>
                  <a:srgbClr val="FF3300"/>
                </a:solidFill>
              </a:rPr>
              <a:t>#include &lt;</a:t>
            </a:r>
            <a:r>
              <a:rPr lang="en-US" altLang="ja-JP" sz="2400" dirty="0" err="1" smtClean="0">
                <a:solidFill>
                  <a:srgbClr val="FF3300"/>
                </a:solidFill>
              </a:rPr>
              <a:t>stdlib.h</a:t>
            </a:r>
            <a:r>
              <a:rPr lang="en-US" altLang="ja-JP" sz="2400" dirty="0" smtClean="0">
                <a:solidFill>
                  <a:srgbClr val="FF3300"/>
                </a:solidFill>
              </a:rPr>
              <a:t>&gt;</a:t>
            </a:r>
          </a:p>
          <a:p>
            <a:pPr>
              <a:defRPr/>
            </a:pPr>
            <a:r>
              <a:rPr lang="en-US" altLang="ja-JP" sz="2400" dirty="0" err="1" smtClean="0"/>
              <a:t>int</a:t>
            </a:r>
            <a:r>
              <a:rPr lang="en-US" altLang="ja-JP" sz="2400" dirty="0" smtClean="0"/>
              <a:t> main(void)</a:t>
            </a:r>
          </a:p>
          <a:p>
            <a:pPr>
              <a:defRPr/>
            </a:pPr>
            <a:r>
              <a:rPr lang="en-US" altLang="ja-JP" sz="2400" dirty="0" smtClean="0"/>
              <a:t>{</a:t>
            </a:r>
          </a:p>
          <a:p>
            <a:pPr>
              <a:defRPr/>
            </a:pPr>
            <a:r>
              <a:rPr lang="en-US" altLang="ja-JP" sz="2400" dirty="0" smtClean="0"/>
              <a:t>    </a:t>
            </a:r>
            <a:r>
              <a:rPr lang="en-US" altLang="ja-JP" sz="2400" dirty="0" err="1" smtClean="0"/>
              <a:t>int</a:t>
            </a:r>
            <a:r>
              <a:rPr lang="en-US" altLang="ja-JP" sz="2400" dirty="0" smtClean="0"/>
              <a:t> *p;</a:t>
            </a:r>
          </a:p>
          <a:p>
            <a:pPr>
              <a:defRPr/>
            </a:pPr>
            <a:r>
              <a:rPr lang="en-US" altLang="ja-JP" sz="2400" dirty="0" smtClean="0"/>
              <a:t>    p = </a:t>
            </a:r>
            <a:r>
              <a:rPr lang="en-US" altLang="ja-JP" sz="2400" dirty="0" smtClean="0">
                <a:solidFill>
                  <a:srgbClr val="FF0000"/>
                </a:solidFill>
              </a:rPr>
              <a:t>(</a:t>
            </a:r>
            <a:r>
              <a:rPr lang="en-US" altLang="ja-JP" sz="2400" dirty="0" err="1" smtClean="0">
                <a:solidFill>
                  <a:srgbClr val="FF0000"/>
                </a:solidFill>
              </a:rPr>
              <a:t>int</a:t>
            </a:r>
            <a:r>
              <a:rPr lang="en-US" altLang="ja-JP" sz="2400" dirty="0" smtClean="0">
                <a:solidFill>
                  <a:srgbClr val="FF0000"/>
                </a:solidFill>
              </a:rPr>
              <a:t> *)</a:t>
            </a:r>
            <a:r>
              <a:rPr lang="ja-JP" altLang="en-US" sz="2400" dirty="0" smtClean="0">
                <a:solidFill>
                  <a:srgbClr val="FF0000"/>
                </a:solidFill>
              </a:rPr>
              <a:t> </a:t>
            </a:r>
            <a:r>
              <a:rPr lang="en-US" altLang="ja-JP" sz="2400" dirty="0" err="1" smtClean="0">
                <a:solidFill>
                  <a:srgbClr val="FF0000"/>
                </a:solidFill>
              </a:rPr>
              <a:t>calloc</a:t>
            </a:r>
            <a:r>
              <a:rPr lang="en-US" altLang="ja-JP" sz="2400" dirty="0" smtClean="0">
                <a:solidFill>
                  <a:srgbClr val="FF0000"/>
                </a:solidFill>
              </a:rPr>
              <a:t> (1, </a:t>
            </a:r>
            <a:r>
              <a:rPr lang="en-US" altLang="ja-JP" sz="2400" dirty="0" err="1" smtClean="0">
                <a:solidFill>
                  <a:srgbClr val="FF0000"/>
                </a:solidFill>
              </a:rPr>
              <a:t>sizeof</a:t>
            </a:r>
            <a:r>
              <a:rPr lang="en-US" altLang="ja-JP" sz="2400" dirty="0" smtClean="0">
                <a:solidFill>
                  <a:srgbClr val="FF0000"/>
                </a:solidFill>
              </a:rPr>
              <a:t> (</a:t>
            </a:r>
            <a:r>
              <a:rPr lang="en-US" altLang="ja-JP" sz="2400" dirty="0" err="1" smtClean="0">
                <a:solidFill>
                  <a:srgbClr val="FF0000"/>
                </a:solidFill>
              </a:rPr>
              <a:t>int</a:t>
            </a:r>
            <a:r>
              <a:rPr lang="en-US" altLang="ja-JP" sz="2400" dirty="0" smtClean="0">
                <a:solidFill>
                  <a:srgbClr val="FF0000"/>
                </a:solidFill>
              </a:rPr>
              <a:t>))</a:t>
            </a:r>
            <a:r>
              <a:rPr lang="en-US" altLang="ja-JP" sz="2400" dirty="0" smtClean="0"/>
              <a:t>;  </a:t>
            </a:r>
          </a:p>
          <a:p>
            <a:pPr>
              <a:defRPr/>
            </a:pPr>
            <a:r>
              <a:rPr lang="en-US" altLang="ja-JP" sz="2400" dirty="0" smtClean="0"/>
              <a:t>    if( p == NULL )</a:t>
            </a:r>
          </a:p>
          <a:p>
            <a:pPr>
              <a:defRPr/>
            </a:pPr>
            <a:r>
              <a:rPr lang="en-US" altLang="ja-JP" sz="2400" dirty="0" smtClean="0"/>
              <a:t>        </a:t>
            </a:r>
            <a:r>
              <a:rPr lang="en-US" altLang="ja-JP" sz="2400" dirty="0" err="1" smtClean="0"/>
              <a:t>printf</a:t>
            </a:r>
            <a:r>
              <a:rPr lang="ja-JP" altLang="en-US" sz="2400" dirty="0" smtClean="0"/>
              <a:t>　</a:t>
            </a:r>
            <a:r>
              <a:rPr lang="en-US" altLang="ja-JP" sz="2400" dirty="0" smtClean="0"/>
              <a:t>(“</a:t>
            </a:r>
            <a:r>
              <a:rPr lang="ja-JP" altLang="en-US" sz="2400" dirty="0" smtClean="0"/>
              <a:t>記憶域の確保に失敗しました。</a:t>
            </a:r>
            <a:r>
              <a:rPr lang="en-US" altLang="ja-JP" sz="2400" dirty="0" smtClean="0"/>
              <a:t>\n");</a:t>
            </a:r>
          </a:p>
          <a:p>
            <a:pPr>
              <a:defRPr/>
            </a:pPr>
            <a:r>
              <a:rPr lang="en-US" altLang="ja-JP" sz="2400" dirty="0" smtClean="0"/>
              <a:t>    else {</a:t>
            </a:r>
          </a:p>
          <a:p>
            <a:pPr>
              <a:defRPr/>
            </a:pPr>
            <a:r>
              <a:rPr lang="en-US" altLang="ja-JP" sz="2400" dirty="0" smtClean="0"/>
              <a:t>        *p = 15;</a:t>
            </a:r>
          </a:p>
          <a:p>
            <a:pPr>
              <a:defRPr/>
            </a:pPr>
            <a:r>
              <a:rPr lang="en-US" altLang="ja-JP" sz="2400" dirty="0" smtClean="0"/>
              <a:t>        </a:t>
            </a:r>
            <a:r>
              <a:rPr lang="en-US" altLang="ja-JP" sz="2400" dirty="0" err="1" smtClean="0"/>
              <a:t>printf</a:t>
            </a:r>
            <a:r>
              <a:rPr lang="ja-JP" altLang="en-US" sz="2400" dirty="0" smtClean="0"/>
              <a:t>　</a:t>
            </a:r>
            <a:r>
              <a:rPr lang="en-US" altLang="ja-JP" sz="2400" dirty="0" smtClean="0"/>
              <a:t>("*p = %d\n", *p );</a:t>
            </a:r>
          </a:p>
          <a:p>
            <a:pPr>
              <a:defRPr/>
            </a:pPr>
            <a:r>
              <a:rPr lang="en-US" altLang="ja-JP" sz="2400" dirty="0" smtClean="0"/>
              <a:t>    }</a:t>
            </a:r>
          </a:p>
          <a:p>
            <a:pPr>
              <a:defRPr/>
            </a:pPr>
            <a:r>
              <a:rPr lang="en-US" altLang="ja-JP" sz="2400" dirty="0" smtClean="0"/>
              <a:t>    return 0;		</a:t>
            </a:r>
          </a:p>
          <a:p>
            <a:pPr>
              <a:defRPr/>
            </a:pPr>
            <a:r>
              <a:rPr lang="en-US" altLang="ja-JP" sz="2400" dirty="0" smtClean="0"/>
              <a:t>}</a:t>
            </a:r>
            <a:endParaRPr lang="ja-JP" altLang="en-US" sz="2400" dirty="0"/>
          </a:p>
        </p:txBody>
      </p:sp>
      <p:sp>
        <p:nvSpPr>
          <p:cNvPr id="11" name="正方形/長方形 10"/>
          <p:cNvSpPr/>
          <p:nvPr/>
        </p:nvSpPr>
        <p:spPr>
          <a:xfrm>
            <a:off x="5286380" y="2786058"/>
            <a:ext cx="3071834" cy="646331"/>
          </a:xfrm>
          <a:prstGeom prst="rect">
            <a:avLst/>
          </a:prstGeom>
          <a:solidFill>
            <a:schemeClr val="bg1"/>
          </a:solidFill>
          <a:ln>
            <a:solidFill>
              <a:schemeClr val="tx1"/>
            </a:solidFill>
          </a:ln>
        </p:spPr>
        <p:txBody>
          <a:bodyPr wrap="square">
            <a:spAutoFit/>
          </a:bodyPr>
          <a:lstStyle/>
          <a:p>
            <a:r>
              <a:rPr lang="en-US" altLang="ja-JP" dirty="0" err="1" smtClean="0">
                <a:latin typeface="News Gothic" pitchFamily="34" charset="0"/>
              </a:rPr>
              <a:t>int</a:t>
            </a:r>
            <a:r>
              <a:rPr lang="ja-JP" altLang="en-US" dirty="0" smtClean="0">
                <a:latin typeface="News Gothic" pitchFamily="34" charset="0"/>
              </a:rPr>
              <a:t>型１個分の記憶域をヒープ領域から割り当てる</a:t>
            </a:r>
            <a:endParaRPr lang="ja-JP"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a:xfrm>
            <a:off x="304800" y="152400"/>
            <a:ext cx="7620000" cy="685800"/>
          </a:xfrm>
        </p:spPr>
        <p:txBody>
          <a:bodyPr>
            <a:normAutofit fontScale="90000"/>
          </a:bodyPr>
          <a:lstStyle/>
          <a:p>
            <a:pPr eaLnBrk="1" hangingPunct="1">
              <a:defRPr/>
            </a:pPr>
            <a:r>
              <a:rPr lang="ja-JP" altLang="en-US" dirty="0" smtClean="0"/>
              <a:t>解説</a:t>
            </a:r>
            <a:endParaRPr lang="en-US" altLang="ja-JP" dirty="0" smtClean="0"/>
          </a:p>
        </p:txBody>
      </p:sp>
      <p:sp>
        <p:nvSpPr>
          <p:cNvPr id="20485" name="Rectangle 3"/>
          <p:cNvSpPr>
            <a:spLocks noGrp="1" noChangeArrowheads="1"/>
          </p:cNvSpPr>
          <p:nvPr>
            <p:ph type="body" idx="1"/>
          </p:nvPr>
        </p:nvSpPr>
        <p:spPr>
          <a:xfrm>
            <a:off x="381000" y="1219200"/>
            <a:ext cx="7620000" cy="4724400"/>
          </a:xfrm>
        </p:spPr>
        <p:txBody>
          <a:bodyPr/>
          <a:lstStyle/>
          <a:p>
            <a:pPr eaLnBrk="1" hangingPunct="1"/>
            <a:r>
              <a:rPr lang="en-US" altLang="ja-JP" dirty="0" err="1" smtClean="0"/>
              <a:t>calloc</a:t>
            </a:r>
            <a:r>
              <a:rPr lang="ja-JP" altLang="en-US" dirty="0" smtClean="0"/>
              <a:t>関数による記憶域の動的な確保</a:t>
            </a:r>
            <a:endParaRPr lang="en-US" altLang="ja-JP" dirty="0" smtClean="0"/>
          </a:p>
        </p:txBody>
      </p:sp>
      <p:sp>
        <p:nvSpPr>
          <p:cNvPr id="20486" name="Rectangle 4"/>
          <p:cNvSpPr>
            <a:spLocks noChangeArrowheads="1"/>
          </p:cNvSpPr>
          <p:nvPr/>
        </p:nvSpPr>
        <p:spPr bwMode="auto">
          <a:xfrm>
            <a:off x="785787" y="3000372"/>
            <a:ext cx="7572428" cy="3429024"/>
          </a:xfrm>
          <a:prstGeom prst="rect">
            <a:avLst/>
          </a:prstGeom>
          <a:solidFill>
            <a:srgbClr val="EAEAEA"/>
          </a:solidFill>
          <a:ln w="9525" algn="ctr">
            <a:solidFill>
              <a:schemeClr val="tx1"/>
            </a:solidFill>
            <a:miter lim="800000"/>
            <a:headEnd/>
            <a:tailEnd/>
          </a:ln>
        </p:spPr>
        <p:txBody>
          <a:bodyPr wrap="none" anchor="ctr"/>
          <a:lstStyle/>
          <a:p>
            <a:pPr algn="ctr"/>
            <a:endParaRPr lang="ja-JP" altLang="en-US" sz="1600" b="0"/>
          </a:p>
        </p:txBody>
      </p:sp>
      <p:sp>
        <p:nvSpPr>
          <p:cNvPr id="20487" name="AutoShape 6"/>
          <p:cNvSpPr>
            <a:spLocks noChangeArrowheads="1"/>
          </p:cNvSpPr>
          <p:nvPr/>
        </p:nvSpPr>
        <p:spPr bwMode="auto">
          <a:xfrm>
            <a:off x="1457327" y="5572140"/>
            <a:ext cx="1357322" cy="592149"/>
          </a:xfrm>
          <a:prstGeom prst="cube">
            <a:avLst>
              <a:gd name="adj" fmla="val 30555"/>
            </a:avLst>
          </a:prstGeom>
          <a:solidFill>
            <a:srgbClr val="FFFF99"/>
          </a:solidFill>
          <a:ln w="9525">
            <a:solidFill>
              <a:schemeClr val="tx1"/>
            </a:solidFill>
            <a:miter lim="800000"/>
            <a:headEnd/>
            <a:tailEnd/>
          </a:ln>
        </p:spPr>
        <p:txBody>
          <a:bodyPr wrap="none" anchor="ctr"/>
          <a:lstStyle/>
          <a:p>
            <a:pPr algn="ctr"/>
            <a:endParaRPr lang="en-US" altLang="ja-JP" b="0"/>
          </a:p>
        </p:txBody>
      </p:sp>
      <p:sp>
        <p:nvSpPr>
          <p:cNvPr id="20488" name="AutoShape 8"/>
          <p:cNvSpPr>
            <a:spLocks noChangeArrowheads="1"/>
          </p:cNvSpPr>
          <p:nvPr/>
        </p:nvSpPr>
        <p:spPr bwMode="auto">
          <a:xfrm>
            <a:off x="1462113" y="4286256"/>
            <a:ext cx="1352536" cy="1479552"/>
          </a:xfrm>
          <a:prstGeom prst="cube">
            <a:avLst>
              <a:gd name="adj" fmla="val 14199"/>
            </a:avLst>
          </a:prstGeom>
          <a:solidFill>
            <a:schemeClr val="bg1"/>
          </a:solidFill>
          <a:ln w="9525">
            <a:solidFill>
              <a:schemeClr val="tx1"/>
            </a:solidFill>
            <a:miter lim="800000"/>
            <a:headEnd/>
            <a:tailEnd/>
          </a:ln>
        </p:spPr>
        <p:txBody>
          <a:bodyPr wrap="none" anchor="ctr"/>
          <a:lstStyle/>
          <a:p>
            <a:pPr algn="ctr"/>
            <a:endParaRPr lang="en-US" altLang="ja-JP" b="0"/>
          </a:p>
        </p:txBody>
      </p:sp>
      <p:sp>
        <p:nvSpPr>
          <p:cNvPr id="20490" name="Text Box 12"/>
          <p:cNvSpPr txBox="1">
            <a:spLocks noChangeArrowheads="1"/>
          </p:cNvSpPr>
          <p:nvPr/>
        </p:nvSpPr>
        <p:spPr bwMode="auto">
          <a:xfrm>
            <a:off x="1917708" y="5715016"/>
            <a:ext cx="325437" cy="396875"/>
          </a:xfrm>
          <a:prstGeom prst="rect">
            <a:avLst/>
          </a:prstGeom>
          <a:noFill/>
          <a:ln w="9525" algn="ctr">
            <a:noFill/>
            <a:miter lim="800000"/>
            <a:headEnd/>
            <a:tailEnd/>
          </a:ln>
        </p:spPr>
        <p:txBody>
          <a:bodyPr wrap="none">
            <a:spAutoFit/>
          </a:bodyPr>
          <a:lstStyle/>
          <a:p>
            <a:r>
              <a:rPr lang="en-US" altLang="ja-JP" sz="2000" b="0" dirty="0"/>
              <a:t>p</a:t>
            </a:r>
          </a:p>
        </p:txBody>
      </p:sp>
      <p:sp>
        <p:nvSpPr>
          <p:cNvPr id="416782" name="AutoShape 14"/>
          <p:cNvSpPr>
            <a:spLocks noChangeArrowheads="1"/>
          </p:cNvSpPr>
          <p:nvPr/>
        </p:nvSpPr>
        <p:spPr bwMode="auto">
          <a:xfrm>
            <a:off x="1000100" y="3296481"/>
            <a:ext cx="2620754" cy="715089"/>
          </a:xfrm>
          <a:prstGeom prst="roundRect">
            <a:avLst>
              <a:gd name="adj" fmla="val 16667"/>
            </a:avLst>
          </a:prstGeom>
          <a:solidFill>
            <a:srgbClr val="CCECFF"/>
          </a:solidFill>
          <a:ln w="9525" algn="ctr">
            <a:solidFill>
              <a:schemeClr val="tx1"/>
            </a:solidFill>
            <a:round/>
            <a:headEnd/>
            <a:tailEnd/>
          </a:ln>
          <a:effectLst>
            <a:outerShdw dist="53882" dir="2700000" algn="ctr" rotWithShape="0">
              <a:schemeClr val="bg2"/>
            </a:outerShdw>
          </a:effectLst>
        </p:spPr>
        <p:txBody>
          <a:bodyPr wrap="none" anchor="ctr">
            <a:spAutoFit/>
          </a:bodyPr>
          <a:lstStyle/>
          <a:p>
            <a:pPr algn="ctr">
              <a:defRPr/>
            </a:pPr>
            <a:r>
              <a:rPr lang="en-US" altLang="ja-JP" b="0" dirty="0" err="1"/>
              <a:t>int</a:t>
            </a:r>
            <a:r>
              <a:rPr lang="ja-JP" altLang="en-US" b="0" dirty="0"/>
              <a:t>型ポインタ変数</a:t>
            </a:r>
            <a:r>
              <a:rPr lang="ja-JP" altLang="en-US" b="0" dirty="0" smtClean="0"/>
              <a:t>を</a:t>
            </a:r>
            <a:r>
              <a:rPr lang="ja-JP" altLang="en-US" dirty="0" smtClean="0"/>
              <a:t>宣言</a:t>
            </a:r>
            <a:endParaRPr lang="en-US" altLang="ja-JP" dirty="0" smtClean="0"/>
          </a:p>
          <a:p>
            <a:pPr algn="ctr">
              <a:defRPr/>
            </a:pPr>
            <a:r>
              <a:rPr lang="en-US" altLang="ja-JP" dirty="0" err="1" smtClean="0"/>
              <a:t>int</a:t>
            </a:r>
            <a:r>
              <a:rPr lang="en-US" altLang="ja-JP" dirty="0" smtClean="0"/>
              <a:t> * p;</a:t>
            </a:r>
          </a:p>
        </p:txBody>
      </p:sp>
      <p:sp>
        <p:nvSpPr>
          <p:cNvPr id="20492" name="AutoShape 15"/>
          <p:cNvSpPr>
            <a:spLocks noChangeArrowheads="1"/>
          </p:cNvSpPr>
          <p:nvPr/>
        </p:nvSpPr>
        <p:spPr bwMode="auto">
          <a:xfrm>
            <a:off x="5210200" y="5511806"/>
            <a:ext cx="1176349" cy="546111"/>
          </a:xfrm>
          <a:prstGeom prst="cube">
            <a:avLst>
              <a:gd name="adj" fmla="val 21725"/>
            </a:avLst>
          </a:prstGeom>
          <a:solidFill>
            <a:srgbClr val="FFFF99"/>
          </a:solidFill>
          <a:ln w="9525">
            <a:solidFill>
              <a:schemeClr val="tx1"/>
            </a:solidFill>
            <a:miter lim="800000"/>
            <a:headEnd/>
            <a:tailEnd/>
          </a:ln>
        </p:spPr>
        <p:txBody>
          <a:bodyPr wrap="none" anchor="ctr"/>
          <a:lstStyle/>
          <a:p>
            <a:pPr algn="ctr"/>
            <a:endParaRPr lang="en-US" altLang="ja-JP" b="0"/>
          </a:p>
        </p:txBody>
      </p:sp>
      <p:sp>
        <p:nvSpPr>
          <p:cNvPr id="20493" name="AutoShape 16"/>
          <p:cNvSpPr>
            <a:spLocks noChangeArrowheads="1"/>
          </p:cNvSpPr>
          <p:nvPr/>
        </p:nvSpPr>
        <p:spPr bwMode="auto">
          <a:xfrm>
            <a:off x="5210199" y="5078418"/>
            <a:ext cx="1204913" cy="576263"/>
          </a:xfrm>
          <a:prstGeom prst="cube">
            <a:avLst>
              <a:gd name="adj" fmla="val 25000"/>
            </a:avLst>
          </a:prstGeom>
          <a:solidFill>
            <a:schemeClr val="bg1"/>
          </a:solidFill>
          <a:ln w="9525">
            <a:solidFill>
              <a:schemeClr val="tx1"/>
            </a:solidFill>
            <a:miter lim="800000"/>
            <a:headEnd/>
            <a:tailEnd/>
          </a:ln>
        </p:spPr>
        <p:txBody>
          <a:bodyPr wrap="none" anchor="ctr"/>
          <a:lstStyle/>
          <a:p>
            <a:pPr algn="ctr"/>
            <a:endParaRPr lang="en-US" altLang="ja-JP" b="0"/>
          </a:p>
        </p:txBody>
      </p:sp>
      <p:sp>
        <p:nvSpPr>
          <p:cNvPr id="20494" name="AutoShape 17"/>
          <p:cNvSpPr>
            <a:spLocks noChangeArrowheads="1"/>
          </p:cNvSpPr>
          <p:nvPr/>
        </p:nvSpPr>
        <p:spPr bwMode="auto">
          <a:xfrm>
            <a:off x="5210199" y="4646618"/>
            <a:ext cx="1204913" cy="576263"/>
          </a:xfrm>
          <a:prstGeom prst="cube">
            <a:avLst>
              <a:gd name="adj" fmla="val 25000"/>
            </a:avLst>
          </a:prstGeom>
          <a:solidFill>
            <a:schemeClr val="accent1"/>
          </a:solidFill>
          <a:ln w="9525">
            <a:solidFill>
              <a:schemeClr val="tx1"/>
            </a:solidFill>
            <a:miter lim="800000"/>
            <a:headEnd/>
            <a:tailEnd/>
          </a:ln>
        </p:spPr>
        <p:txBody>
          <a:bodyPr wrap="none" anchor="ctr"/>
          <a:lstStyle/>
          <a:p>
            <a:pPr algn="ctr"/>
            <a:endParaRPr lang="en-US" altLang="ja-JP" b="0"/>
          </a:p>
        </p:txBody>
      </p:sp>
      <p:sp>
        <p:nvSpPr>
          <p:cNvPr id="20495" name="AutoShape 18"/>
          <p:cNvSpPr>
            <a:spLocks noChangeArrowheads="1"/>
          </p:cNvSpPr>
          <p:nvPr/>
        </p:nvSpPr>
        <p:spPr bwMode="auto">
          <a:xfrm>
            <a:off x="5210199" y="4214818"/>
            <a:ext cx="1204913" cy="576263"/>
          </a:xfrm>
          <a:prstGeom prst="cube">
            <a:avLst>
              <a:gd name="adj" fmla="val 25000"/>
            </a:avLst>
          </a:prstGeom>
          <a:solidFill>
            <a:schemeClr val="bg1"/>
          </a:solidFill>
          <a:ln w="9525">
            <a:solidFill>
              <a:schemeClr val="tx1"/>
            </a:solidFill>
            <a:miter lim="800000"/>
            <a:headEnd/>
            <a:tailEnd/>
          </a:ln>
        </p:spPr>
        <p:txBody>
          <a:bodyPr wrap="none" anchor="ctr"/>
          <a:lstStyle/>
          <a:p>
            <a:pPr algn="ctr"/>
            <a:endParaRPr lang="en-US" altLang="ja-JP" b="0"/>
          </a:p>
        </p:txBody>
      </p:sp>
      <p:sp>
        <p:nvSpPr>
          <p:cNvPr id="20496" name="Text Box 19"/>
          <p:cNvSpPr txBox="1">
            <a:spLocks noChangeArrowheads="1"/>
          </p:cNvSpPr>
          <p:nvPr/>
        </p:nvSpPr>
        <p:spPr bwMode="auto">
          <a:xfrm>
            <a:off x="5615012" y="5629289"/>
            <a:ext cx="325437" cy="396875"/>
          </a:xfrm>
          <a:prstGeom prst="rect">
            <a:avLst/>
          </a:prstGeom>
          <a:noFill/>
          <a:ln w="9525" algn="ctr">
            <a:noFill/>
            <a:miter lim="800000"/>
            <a:headEnd/>
            <a:tailEnd/>
          </a:ln>
        </p:spPr>
        <p:txBody>
          <a:bodyPr wrap="none">
            <a:spAutoFit/>
          </a:bodyPr>
          <a:lstStyle/>
          <a:p>
            <a:r>
              <a:rPr lang="en-US" altLang="ja-JP" sz="2000" b="0" dirty="0"/>
              <a:t>p</a:t>
            </a:r>
          </a:p>
        </p:txBody>
      </p:sp>
      <p:cxnSp>
        <p:nvCxnSpPr>
          <p:cNvPr id="20497" name="AutoShape 20"/>
          <p:cNvCxnSpPr>
            <a:cxnSpLocks noChangeShapeType="1"/>
            <a:stCxn id="20492" idx="2"/>
            <a:endCxn id="20494" idx="2"/>
          </p:cNvCxnSpPr>
          <p:nvPr/>
        </p:nvCxnSpPr>
        <p:spPr bwMode="auto">
          <a:xfrm rot="10800000">
            <a:off x="5210200" y="5006783"/>
            <a:ext cx="1" cy="837401"/>
          </a:xfrm>
          <a:prstGeom prst="bentConnector3">
            <a:avLst>
              <a:gd name="adj1" fmla="val 22860100000"/>
            </a:avLst>
          </a:prstGeom>
          <a:noFill/>
          <a:ln w="28575">
            <a:solidFill>
              <a:schemeClr val="tx1"/>
            </a:solidFill>
            <a:miter lim="800000"/>
            <a:headEnd/>
            <a:tailEnd type="triangle" w="med" len="med"/>
          </a:ln>
        </p:spPr>
      </p:cxnSp>
      <p:sp>
        <p:nvSpPr>
          <p:cNvPr id="20498" name="Text Box 25"/>
          <p:cNvSpPr txBox="1">
            <a:spLocks noChangeArrowheads="1"/>
          </p:cNvSpPr>
          <p:nvPr/>
        </p:nvSpPr>
        <p:spPr bwMode="auto">
          <a:xfrm>
            <a:off x="1411458" y="1928802"/>
            <a:ext cx="4303550" cy="830997"/>
          </a:xfrm>
          <a:prstGeom prst="rect">
            <a:avLst/>
          </a:prstGeom>
          <a:solidFill>
            <a:srgbClr val="FFFF99"/>
          </a:solidFill>
          <a:ln w="9525">
            <a:noFill/>
            <a:miter lim="800000"/>
            <a:headEnd/>
            <a:tailEnd/>
          </a:ln>
        </p:spPr>
        <p:txBody>
          <a:bodyPr wrap="none">
            <a:spAutoFit/>
          </a:bodyPr>
          <a:lstStyle/>
          <a:p>
            <a:r>
              <a:rPr lang="en-US" altLang="ja-JP" sz="2400" dirty="0" smtClean="0"/>
              <a:t> </a:t>
            </a:r>
            <a:r>
              <a:rPr lang="en-US" altLang="ja-JP" sz="2400" dirty="0" err="1" smtClean="0"/>
              <a:t>i</a:t>
            </a:r>
            <a:r>
              <a:rPr lang="en-US" altLang="ja-JP" sz="2400" b="0" dirty="0" err="1" smtClean="0"/>
              <a:t>nt</a:t>
            </a:r>
            <a:r>
              <a:rPr lang="en-US" altLang="ja-JP" sz="2400" b="0" dirty="0" smtClean="0"/>
              <a:t> * p; </a:t>
            </a:r>
          </a:p>
          <a:p>
            <a:r>
              <a:rPr lang="en-US" altLang="ja-JP" sz="2400" b="0" dirty="0" smtClean="0"/>
              <a:t> p </a:t>
            </a:r>
            <a:r>
              <a:rPr lang="en-US" altLang="ja-JP" sz="2400" b="0" dirty="0"/>
              <a:t>= (</a:t>
            </a:r>
            <a:r>
              <a:rPr lang="en-US" altLang="ja-JP" sz="2400" b="0" dirty="0" err="1"/>
              <a:t>int</a:t>
            </a:r>
            <a:r>
              <a:rPr lang="en-US" altLang="ja-JP" sz="2400" b="0" dirty="0"/>
              <a:t> </a:t>
            </a:r>
            <a:r>
              <a:rPr lang="en-US" altLang="ja-JP" sz="2400" b="0" dirty="0" smtClean="0"/>
              <a:t>*)</a:t>
            </a:r>
            <a:r>
              <a:rPr lang="ja-JP" altLang="en-US" sz="2400" dirty="0" smtClean="0"/>
              <a:t> </a:t>
            </a:r>
            <a:r>
              <a:rPr lang="en-US" altLang="ja-JP" sz="2400" b="0" dirty="0" err="1" smtClean="0"/>
              <a:t>calloc</a:t>
            </a:r>
            <a:r>
              <a:rPr lang="en-US" altLang="ja-JP" sz="2400" b="0" dirty="0" smtClean="0"/>
              <a:t> (1</a:t>
            </a:r>
            <a:r>
              <a:rPr lang="en-US" altLang="ja-JP" sz="2400" b="0" dirty="0"/>
              <a:t>, </a:t>
            </a:r>
            <a:r>
              <a:rPr lang="en-US" altLang="ja-JP" sz="2400" b="0" dirty="0" err="1" smtClean="0"/>
              <a:t>sizeof</a:t>
            </a:r>
            <a:r>
              <a:rPr lang="en-US" altLang="ja-JP" sz="2400" b="0" dirty="0" smtClean="0"/>
              <a:t> (</a:t>
            </a:r>
            <a:r>
              <a:rPr lang="en-US" altLang="ja-JP" sz="2400" b="0" dirty="0" err="1"/>
              <a:t>int</a:t>
            </a:r>
            <a:r>
              <a:rPr lang="en-US" altLang="ja-JP" sz="2400" b="0" dirty="0"/>
              <a:t>) ); </a:t>
            </a:r>
            <a:endParaRPr lang="ja-JP" altLang="en-US" sz="2400" b="0" dirty="0"/>
          </a:p>
        </p:txBody>
      </p:sp>
      <p:sp>
        <p:nvSpPr>
          <p:cNvPr id="20500" name="Oval 26"/>
          <p:cNvSpPr>
            <a:spLocks noChangeArrowheads="1"/>
          </p:cNvSpPr>
          <p:nvPr/>
        </p:nvSpPr>
        <p:spPr bwMode="auto">
          <a:xfrm>
            <a:off x="4524399" y="4643443"/>
            <a:ext cx="685800" cy="304800"/>
          </a:xfrm>
          <a:prstGeom prst="ellipse">
            <a:avLst/>
          </a:prstGeom>
          <a:solidFill>
            <a:schemeClr val="accent1"/>
          </a:solidFill>
          <a:ln w="9525">
            <a:solidFill>
              <a:schemeClr val="tx1"/>
            </a:solidFill>
            <a:round/>
            <a:headEnd/>
            <a:tailEnd/>
          </a:ln>
        </p:spPr>
        <p:txBody>
          <a:bodyPr anchor="ctr">
            <a:spAutoFit/>
          </a:bodyPr>
          <a:lstStyle/>
          <a:p>
            <a:endParaRPr lang="ja-JP" altLang="en-US"/>
          </a:p>
        </p:txBody>
      </p:sp>
      <p:sp>
        <p:nvSpPr>
          <p:cNvPr id="20502" name="Text Box 27"/>
          <p:cNvSpPr txBox="1">
            <a:spLocks noChangeArrowheads="1"/>
          </p:cNvSpPr>
          <p:nvPr/>
        </p:nvSpPr>
        <p:spPr bwMode="auto">
          <a:xfrm>
            <a:off x="4524399" y="4643443"/>
            <a:ext cx="742950" cy="274638"/>
          </a:xfrm>
          <a:prstGeom prst="rect">
            <a:avLst/>
          </a:prstGeom>
          <a:noFill/>
          <a:ln w="9525">
            <a:noFill/>
            <a:miter lim="800000"/>
            <a:headEnd/>
            <a:tailEnd/>
          </a:ln>
        </p:spPr>
        <p:txBody>
          <a:bodyPr wrap="none">
            <a:spAutoFit/>
          </a:bodyPr>
          <a:lstStyle/>
          <a:p>
            <a:pPr>
              <a:spcBef>
                <a:spcPct val="50000"/>
              </a:spcBef>
            </a:pPr>
            <a:r>
              <a:rPr lang="en-US" altLang="ja-JP" sz="1200"/>
              <a:t>500</a:t>
            </a:r>
            <a:r>
              <a:rPr lang="ja-JP" altLang="en-US" sz="1200"/>
              <a:t>番地</a:t>
            </a:r>
            <a:endParaRPr lang="en-US" altLang="ja-JP" sz="1200"/>
          </a:p>
        </p:txBody>
      </p:sp>
      <p:sp>
        <p:nvSpPr>
          <p:cNvPr id="34" name="AutoShape 14"/>
          <p:cNvSpPr>
            <a:spLocks noChangeArrowheads="1"/>
          </p:cNvSpPr>
          <p:nvPr/>
        </p:nvSpPr>
        <p:spPr bwMode="auto">
          <a:xfrm>
            <a:off x="3918819" y="3132182"/>
            <a:ext cx="4288751" cy="1021556"/>
          </a:xfrm>
          <a:prstGeom prst="roundRect">
            <a:avLst>
              <a:gd name="adj" fmla="val 16667"/>
            </a:avLst>
          </a:prstGeom>
          <a:solidFill>
            <a:srgbClr val="CCECFF"/>
          </a:solidFill>
          <a:ln w="9525" algn="ctr">
            <a:solidFill>
              <a:schemeClr val="tx1"/>
            </a:solidFill>
            <a:round/>
            <a:headEnd/>
            <a:tailEnd/>
          </a:ln>
          <a:effectLst>
            <a:outerShdw dist="53882" dir="2700000" algn="ctr" rotWithShape="0">
              <a:schemeClr val="bg2"/>
            </a:outerShdw>
          </a:effectLst>
        </p:spPr>
        <p:txBody>
          <a:bodyPr wrap="none" anchor="ctr">
            <a:spAutoFit/>
          </a:bodyPr>
          <a:lstStyle/>
          <a:p>
            <a:pPr algn="ctr">
              <a:defRPr/>
            </a:pPr>
            <a:r>
              <a:rPr lang="en-US" altLang="ja-JP" dirty="0" err="1" smtClean="0"/>
              <a:t>calloc</a:t>
            </a:r>
            <a:r>
              <a:rPr lang="ja-JP" altLang="en-US" dirty="0" smtClean="0"/>
              <a:t>関数呼び出し時に領域が確保され、</a:t>
            </a:r>
            <a:endParaRPr lang="en-US" altLang="ja-JP" dirty="0" smtClean="0"/>
          </a:p>
          <a:p>
            <a:pPr algn="ctr">
              <a:defRPr/>
            </a:pPr>
            <a:r>
              <a:rPr lang="ja-JP" altLang="en-US" dirty="0" smtClean="0"/>
              <a:t>その先頭へのポインタが</a:t>
            </a:r>
            <a:r>
              <a:rPr lang="en-US" altLang="ja-JP" dirty="0" smtClean="0"/>
              <a:t>p</a:t>
            </a:r>
            <a:r>
              <a:rPr lang="ja-JP" altLang="en-US" dirty="0" smtClean="0"/>
              <a:t>に代入される。</a:t>
            </a:r>
            <a:endParaRPr lang="en-US" altLang="ja-JP" dirty="0" smtClean="0"/>
          </a:p>
          <a:p>
            <a:r>
              <a:rPr lang="en-US" altLang="ja-JP" dirty="0" smtClean="0"/>
              <a:t>p = (</a:t>
            </a:r>
            <a:r>
              <a:rPr lang="en-US" altLang="ja-JP" dirty="0" err="1" smtClean="0"/>
              <a:t>int</a:t>
            </a:r>
            <a:r>
              <a:rPr lang="en-US" altLang="ja-JP" dirty="0" smtClean="0"/>
              <a:t> *)</a:t>
            </a:r>
            <a:r>
              <a:rPr lang="ja-JP" altLang="en-US" dirty="0" smtClean="0"/>
              <a:t> </a:t>
            </a:r>
            <a:r>
              <a:rPr lang="en-US" altLang="ja-JP" dirty="0" err="1" smtClean="0"/>
              <a:t>calloc</a:t>
            </a:r>
            <a:r>
              <a:rPr lang="en-US" altLang="ja-JP" dirty="0" smtClean="0"/>
              <a:t> (1, </a:t>
            </a:r>
            <a:r>
              <a:rPr lang="en-US" altLang="ja-JP" dirty="0" err="1" smtClean="0"/>
              <a:t>sizeof</a:t>
            </a:r>
            <a:r>
              <a:rPr lang="en-US" altLang="ja-JP" dirty="0" smtClean="0"/>
              <a:t> (</a:t>
            </a:r>
            <a:r>
              <a:rPr lang="en-US" altLang="ja-JP" dirty="0" err="1" smtClean="0"/>
              <a:t>int</a:t>
            </a:r>
            <a:r>
              <a:rPr lang="en-US" altLang="ja-JP" dirty="0" smtClean="0"/>
              <a:t>) ); </a:t>
            </a:r>
            <a:endParaRPr lang="ja-JP"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smtClean="0"/>
              <a:t>s</a:t>
            </a:r>
            <a:r>
              <a:rPr kumimoji="1" lang="en-US" altLang="ja-JP" dirty="0" err="1" smtClean="0"/>
              <a:t>izeof</a:t>
            </a:r>
            <a:r>
              <a:rPr kumimoji="1" lang="ja-JP" altLang="en-US" dirty="0" smtClean="0"/>
              <a:t>演算子</a:t>
            </a:r>
            <a:endParaRPr kumimoji="1" lang="ja-JP" altLang="en-US" dirty="0"/>
          </a:p>
        </p:txBody>
      </p:sp>
      <p:sp>
        <p:nvSpPr>
          <p:cNvPr id="4" name="テキスト ボックス 3"/>
          <p:cNvSpPr txBox="1"/>
          <p:nvPr/>
        </p:nvSpPr>
        <p:spPr>
          <a:xfrm>
            <a:off x="1000100" y="1428736"/>
            <a:ext cx="7500990" cy="830997"/>
          </a:xfrm>
          <a:prstGeom prst="rect">
            <a:avLst/>
          </a:prstGeom>
          <a:noFill/>
        </p:spPr>
        <p:txBody>
          <a:bodyPr wrap="square" rtlCol="0">
            <a:spAutoFit/>
          </a:bodyPr>
          <a:lstStyle/>
          <a:p>
            <a:r>
              <a:rPr lang="en-US" altLang="ja-JP" sz="2400" dirty="0" err="1" smtClean="0"/>
              <a:t>s</a:t>
            </a:r>
            <a:r>
              <a:rPr kumimoji="1" lang="en-US" altLang="ja-JP" sz="2400" dirty="0" err="1" smtClean="0"/>
              <a:t>izeof</a:t>
            </a:r>
            <a:r>
              <a:rPr kumimoji="1" lang="ja-JP" altLang="en-US" sz="2400" dirty="0" smtClean="0"/>
              <a:t>演算子は、型式を引数にとる。評価結果は、その型のサイズである。</a:t>
            </a:r>
            <a:endParaRPr kumimoji="1" lang="ja-JP" altLang="en-US" sz="2400" dirty="0"/>
          </a:p>
        </p:txBody>
      </p:sp>
      <p:sp>
        <p:nvSpPr>
          <p:cNvPr id="5" name="テキスト ボックス 4"/>
          <p:cNvSpPr txBox="1"/>
          <p:nvPr/>
        </p:nvSpPr>
        <p:spPr>
          <a:xfrm>
            <a:off x="1428727" y="2428868"/>
            <a:ext cx="800219" cy="461665"/>
          </a:xfrm>
          <a:prstGeom prst="rect">
            <a:avLst/>
          </a:prstGeom>
          <a:noFill/>
        </p:spPr>
        <p:txBody>
          <a:bodyPr wrap="none" rtlCol="0">
            <a:spAutoFit/>
          </a:bodyPr>
          <a:lstStyle/>
          <a:p>
            <a:r>
              <a:rPr kumimoji="1" lang="ja-JP" altLang="en-US" sz="2400" dirty="0" smtClean="0"/>
              <a:t>構文</a:t>
            </a:r>
            <a:endParaRPr kumimoji="1" lang="ja-JP" altLang="en-US" sz="2400" dirty="0"/>
          </a:p>
        </p:txBody>
      </p:sp>
      <p:sp>
        <p:nvSpPr>
          <p:cNvPr id="6" name="テキスト ボックス 5"/>
          <p:cNvSpPr txBox="1"/>
          <p:nvPr/>
        </p:nvSpPr>
        <p:spPr>
          <a:xfrm>
            <a:off x="2214545" y="2928934"/>
            <a:ext cx="1771126" cy="461665"/>
          </a:xfrm>
          <a:prstGeom prst="rect">
            <a:avLst/>
          </a:prstGeom>
          <a:solidFill>
            <a:srgbClr val="FFFF00"/>
          </a:solidFill>
          <a:ln>
            <a:solidFill>
              <a:schemeClr val="tx1"/>
            </a:solidFill>
          </a:ln>
        </p:spPr>
        <p:txBody>
          <a:bodyPr wrap="none" rtlCol="0">
            <a:spAutoFit/>
          </a:bodyPr>
          <a:lstStyle/>
          <a:p>
            <a:r>
              <a:rPr lang="en-US" altLang="ja-JP" sz="2400" dirty="0" err="1" smtClean="0"/>
              <a:t>s</a:t>
            </a:r>
            <a:r>
              <a:rPr kumimoji="1" lang="en-US" altLang="ja-JP" sz="2400" dirty="0" err="1" smtClean="0"/>
              <a:t>izeof</a:t>
            </a:r>
            <a:r>
              <a:rPr kumimoji="1" lang="en-US" altLang="ja-JP" sz="2400" dirty="0" smtClean="0"/>
              <a:t> (</a:t>
            </a:r>
            <a:r>
              <a:rPr kumimoji="1" lang="ja-JP" altLang="en-US" sz="2400" dirty="0" smtClean="0"/>
              <a:t>型式</a:t>
            </a:r>
            <a:r>
              <a:rPr kumimoji="1" lang="en-US" altLang="ja-JP" sz="2400" dirty="0" smtClean="0"/>
              <a:t>)</a:t>
            </a:r>
            <a:endParaRPr kumimoji="1" lang="ja-JP" altLang="en-US" sz="2400" dirty="0"/>
          </a:p>
        </p:txBody>
      </p:sp>
      <p:sp>
        <p:nvSpPr>
          <p:cNvPr id="7" name="テキスト ボックス 6"/>
          <p:cNvSpPr txBox="1"/>
          <p:nvPr/>
        </p:nvSpPr>
        <p:spPr>
          <a:xfrm>
            <a:off x="1428727" y="3500438"/>
            <a:ext cx="800219" cy="461665"/>
          </a:xfrm>
          <a:prstGeom prst="rect">
            <a:avLst/>
          </a:prstGeom>
          <a:noFill/>
        </p:spPr>
        <p:txBody>
          <a:bodyPr wrap="none" rtlCol="0">
            <a:spAutoFit/>
          </a:bodyPr>
          <a:lstStyle/>
          <a:p>
            <a:r>
              <a:rPr lang="ja-JP" altLang="en-US" sz="2400" dirty="0" smtClean="0"/>
              <a:t>意味</a:t>
            </a:r>
            <a:endParaRPr kumimoji="1" lang="en-US" altLang="ja-JP" sz="2400" dirty="0" smtClean="0"/>
          </a:p>
        </p:txBody>
      </p:sp>
      <p:sp>
        <p:nvSpPr>
          <p:cNvPr id="8" name="テキスト ボックス 7"/>
          <p:cNvSpPr txBox="1"/>
          <p:nvPr/>
        </p:nvSpPr>
        <p:spPr>
          <a:xfrm>
            <a:off x="2214546" y="4000504"/>
            <a:ext cx="5286412" cy="461665"/>
          </a:xfrm>
          <a:prstGeom prst="rect">
            <a:avLst/>
          </a:prstGeom>
          <a:solidFill>
            <a:srgbClr val="92D050"/>
          </a:solidFill>
          <a:ln>
            <a:solidFill>
              <a:schemeClr val="tx1"/>
            </a:solidFill>
          </a:ln>
        </p:spPr>
        <p:txBody>
          <a:bodyPr wrap="square" rtlCol="0">
            <a:spAutoFit/>
          </a:bodyPr>
          <a:lstStyle/>
          <a:p>
            <a:r>
              <a:rPr lang="en-US" altLang="ja-JP" sz="2400" dirty="0" err="1" smtClean="0"/>
              <a:t>s</a:t>
            </a:r>
            <a:r>
              <a:rPr kumimoji="1" lang="en-US" altLang="ja-JP" sz="2400" dirty="0" err="1" smtClean="0"/>
              <a:t>izeof</a:t>
            </a:r>
            <a:r>
              <a:rPr kumimoji="1" lang="en-US" altLang="ja-JP" sz="2400" dirty="0" smtClean="0"/>
              <a:t> (t)</a:t>
            </a:r>
            <a:r>
              <a:rPr lang="ja-JP" altLang="en-US" sz="2400" dirty="0" smtClean="0"/>
              <a:t> の評価結果は</a:t>
            </a:r>
            <a:r>
              <a:rPr lang="en-US" altLang="ja-JP" sz="2400" dirty="0" smtClean="0"/>
              <a:t>t</a:t>
            </a:r>
            <a:r>
              <a:rPr lang="ja-JP" altLang="en-US" sz="2400" dirty="0" smtClean="0"/>
              <a:t>のサイズである</a:t>
            </a:r>
            <a:endParaRPr kumimoji="1" lang="ja-JP" altLang="en-US" sz="2400" dirty="0"/>
          </a:p>
        </p:txBody>
      </p:sp>
      <p:sp>
        <p:nvSpPr>
          <p:cNvPr id="9" name="テキスト ボックス 8"/>
          <p:cNvSpPr txBox="1"/>
          <p:nvPr/>
        </p:nvSpPr>
        <p:spPr>
          <a:xfrm>
            <a:off x="1214414" y="4857760"/>
            <a:ext cx="6572296" cy="1569660"/>
          </a:xfrm>
          <a:prstGeom prst="rect">
            <a:avLst/>
          </a:prstGeom>
          <a:noFill/>
        </p:spPr>
        <p:txBody>
          <a:bodyPr wrap="square" rtlCol="0">
            <a:spAutoFit/>
          </a:bodyPr>
          <a:lstStyle/>
          <a:p>
            <a:r>
              <a:rPr lang="ja-JP" altLang="en-US" sz="2400" dirty="0" smtClean="0"/>
              <a:t>型式は、</a:t>
            </a:r>
            <a:r>
              <a:rPr lang="en-US" altLang="ja-JP" sz="2400" dirty="0" err="1" smtClean="0"/>
              <a:t>int</a:t>
            </a:r>
            <a:r>
              <a:rPr lang="en-US" altLang="ja-JP" sz="2400" dirty="0" smtClean="0"/>
              <a:t>, double, char</a:t>
            </a:r>
            <a:r>
              <a:rPr lang="ja-JP" altLang="en-US" sz="2400" dirty="0" smtClean="0"/>
              <a:t>等の基本型、</a:t>
            </a:r>
            <a:r>
              <a:rPr lang="en-US" altLang="ja-JP" sz="2400" dirty="0" err="1" smtClean="0"/>
              <a:t>int</a:t>
            </a:r>
            <a:r>
              <a:rPr lang="en-US" altLang="ja-JP" sz="2400" dirty="0" smtClean="0"/>
              <a:t> [3]</a:t>
            </a:r>
            <a:r>
              <a:rPr lang="ja-JP" altLang="en-US" sz="2400" dirty="0" smtClean="0"/>
              <a:t>等の配列型、</a:t>
            </a:r>
            <a:r>
              <a:rPr lang="en-US" altLang="ja-JP" sz="2400" dirty="0" err="1" smtClean="0"/>
              <a:t>struct</a:t>
            </a:r>
            <a:r>
              <a:rPr lang="en-US" altLang="ja-JP" sz="2400" dirty="0" smtClean="0"/>
              <a:t> {</a:t>
            </a:r>
            <a:r>
              <a:rPr lang="en-US" altLang="ja-JP" sz="2400" dirty="0" err="1" smtClean="0"/>
              <a:t>int</a:t>
            </a:r>
            <a:r>
              <a:rPr lang="en-US" altLang="ja-JP" sz="2400" dirty="0" smtClean="0"/>
              <a:t> </a:t>
            </a:r>
            <a:r>
              <a:rPr lang="en-US" altLang="ja-JP" sz="2400" dirty="0" err="1" smtClean="0"/>
              <a:t>px</a:t>
            </a:r>
            <a:r>
              <a:rPr lang="en-US" altLang="ja-JP" sz="2400" dirty="0" smtClean="0"/>
              <a:t>; </a:t>
            </a:r>
            <a:r>
              <a:rPr lang="en-US" altLang="ja-JP" sz="2400" dirty="0" err="1" smtClean="0"/>
              <a:t>int</a:t>
            </a:r>
            <a:r>
              <a:rPr lang="en-US" altLang="ja-JP" sz="2400" dirty="0" smtClean="0"/>
              <a:t> </a:t>
            </a:r>
            <a:r>
              <a:rPr lang="en-US" altLang="ja-JP" sz="2400" dirty="0" err="1" smtClean="0"/>
              <a:t>py</a:t>
            </a:r>
            <a:r>
              <a:rPr lang="en-US" altLang="ja-JP" sz="2400" dirty="0" smtClean="0"/>
              <a:t>} </a:t>
            </a:r>
            <a:r>
              <a:rPr lang="ja-JP" altLang="en-US" sz="2400" dirty="0" smtClean="0"/>
              <a:t>等の構造体型、</a:t>
            </a:r>
            <a:r>
              <a:rPr lang="en-US" altLang="ja-JP" sz="2400" dirty="0" err="1" smtClean="0"/>
              <a:t>int</a:t>
            </a:r>
            <a:r>
              <a:rPr lang="en-US" altLang="ja-JP" sz="2400" dirty="0" smtClean="0"/>
              <a:t> *</a:t>
            </a:r>
            <a:r>
              <a:rPr lang="ja-JP" altLang="en-US" sz="2400" dirty="0" smtClean="0"/>
              <a:t>等のポインタ型、</a:t>
            </a:r>
            <a:r>
              <a:rPr lang="en-US" altLang="ja-JP" sz="2400" dirty="0" smtClean="0"/>
              <a:t> </a:t>
            </a:r>
            <a:r>
              <a:rPr lang="en-US" altLang="ja-JP" sz="2400" dirty="0" err="1" smtClean="0"/>
              <a:t>typedef</a:t>
            </a:r>
            <a:r>
              <a:rPr lang="ja-JP" altLang="en-US" sz="2400" dirty="0" smtClean="0"/>
              <a:t>で定義した型名などである。詳しくは教科書あるいは規格書を参照。</a:t>
            </a:r>
            <a:endParaRPr kumimoji="1" lang="ja-JP" alt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例（打ち込んで確認）</a:t>
            </a:r>
            <a:endParaRPr kumimoji="1" lang="ja-JP" altLang="en-US" dirty="0"/>
          </a:p>
        </p:txBody>
      </p:sp>
      <p:sp>
        <p:nvSpPr>
          <p:cNvPr id="4" name="正方形/長方形 3"/>
          <p:cNvSpPr/>
          <p:nvPr/>
        </p:nvSpPr>
        <p:spPr>
          <a:xfrm>
            <a:off x="1428728" y="1285860"/>
            <a:ext cx="5929354" cy="5262979"/>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typedef</a:t>
            </a:r>
            <a:r>
              <a:rPr lang="en-US" altLang="ja-JP" sz="2400" dirty="0" smtClean="0"/>
              <a:t> </a:t>
            </a:r>
            <a:r>
              <a:rPr lang="en-US" altLang="ja-JP" sz="2400" dirty="0" err="1" smtClean="0"/>
              <a:t>struct</a:t>
            </a:r>
            <a:r>
              <a:rPr lang="en-US" altLang="ja-JP" sz="2400" dirty="0" smtClean="0"/>
              <a:t> {</a:t>
            </a:r>
          </a:p>
          <a:p>
            <a:r>
              <a:rPr lang="en-US" altLang="ja-JP" sz="2400" dirty="0" smtClean="0"/>
              <a:t>  </a:t>
            </a:r>
            <a:r>
              <a:rPr lang="en-US" altLang="ja-JP" sz="2400" dirty="0" err="1" smtClean="0"/>
              <a:t>int</a:t>
            </a:r>
            <a:r>
              <a:rPr lang="en-US" altLang="ja-JP" sz="2400" dirty="0" smtClean="0"/>
              <a:t> x;</a:t>
            </a:r>
          </a:p>
          <a:p>
            <a:r>
              <a:rPr lang="en-US" altLang="ja-JP" sz="2400" dirty="0" smtClean="0"/>
              <a:t>  </a:t>
            </a:r>
            <a:r>
              <a:rPr lang="en-US" altLang="ja-JP" sz="2400" dirty="0" err="1" smtClean="0"/>
              <a:t>int</a:t>
            </a:r>
            <a:r>
              <a:rPr lang="en-US" altLang="ja-JP" sz="2400" dirty="0" smtClean="0"/>
              <a:t> y;</a:t>
            </a:r>
          </a:p>
          <a:p>
            <a:r>
              <a:rPr lang="en-US" altLang="ja-JP" sz="2400" dirty="0" smtClean="0"/>
              <a:t>} point;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printf</a:t>
            </a:r>
            <a:r>
              <a:rPr lang="en-US" altLang="ja-JP" sz="2400" dirty="0" smtClean="0"/>
              <a:t> ("</a:t>
            </a:r>
            <a:r>
              <a:rPr lang="en-US" altLang="ja-JP" sz="2400" dirty="0" err="1" smtClean="0"/>
              <a:t>int</a:t>
            </a:r>
            <a:r>
              <a:rPr lang="en-US" altLang="ja-JP" sz="2400" dirty="0" smtClean="0"/>
              <a:t>: %d\n", </a:t>
            </a:r>
            <a:r>
              <a:rPr lang="en-US" altLang="ja-JP" sz="2400" dirty="0" err="1" smtClean="0"/>
              <a:t>sizeof</a:t>
            </a:r>
            <a:r>
              <a:rPr lang="en-US" altLang="ja-JP" sz="2400" dirty="0" smtClean="0"/>
              <a:t>(</a:t>
            </a:r>
            <a:r>
              <a:rPr lang="en-US" altLang="ja-JP" sz="2400" dirty="0" err="1" smtClean="0"/>
              <a:t>int</a:t>
            </a:r>
            <a:r>
              <a:rPr lang="en-US" altLang="ja-JP" sz="2400" dirty="0" smtClean="0"/>
              <a:t>));</a:t>
            </a:r>
          </a:p>
          <a:p>
            <a:r>
              <a:rPr lang="en-US" altLang="ja-JP" sz="2400" dirty="0" smtClean="0"/>
              <a:t>  </a:t>
            </a:r>
            <a:r>
              <a:rPr lang="en-US" altLang="ja-JP" sz="2400" dirty="0" err="1" smtClean="0"/>
              <a:t>printf</a:t>
            </a:r>
            <a:r>
              <a:rPr lang="en-US" altLang="ja-JP" sz="2400" dirty="0" smtClean="0"/>
              <a:t> ("</a:t>
            </a:r>
            <a:r>
              <a:rPr lang="en-US" altLang="ja-JP" sz="2400" dirty="0" err="1" smtClean="0"/>
              <a:t>int</a:t>
            </a:r>
            <a:r>
              <a:rPr lang="en-US" altLang="ja-JP" sz="2400" dirty="0" smtClean="0"/>
              <a:t>[3] : %d\n", </a:t>
            </a:r>
            <a:r>
              <a:rPr lang="en-US" altLang="ja-JP" sz="2400" dirty="0" err="1" smtClean="0"/>
              <a:t>sizeof</a:t>
            </a:r>
            <a:r>
              <a:rPr lang="en-US" altLang="ja-JP" sz="2400" dirty="0" smtClean="0"/>
              <a:t>(</a:t>
            </a:r>
            <a:r>
              <a:rPr lang="en-US" altLang="ja-JP" sz="2400" dirty="0" err="1" smtClean="0"/>
              <a:t>int</a:t>
            </a:r>
            <a:r>
              <a:rPr lang="en-US" altLang="ja-JP" sz="2400" dirty="0" smtClean="0"/>
              <a:t>[3]));</a:t>
            </a:r>
          </a:p>
          <a:p>
            <a:r>
              <a:rPr lang="en-US" altLang="ja-JP" sz="2400" dirty="0" smtClean="0"/>
              <a:t>  </a:t>
            </a:r>
            <a:r>
              <a:rPr lang="en-US" altLang="ja-JP" sz="2400" dirty="0" err="1" smtClean="0"/>
              <a:t>printf</a:t>
            </a:r>
            <a:r>
              <a:rPr lang="en-US" altLang="ja-JP" sz="2400" dirty="0" smtClean="0"/>
              <a:t> ("</a:t>
            </a:r>
            <a:r>
              <a:rPr lang="en-US" altLang="ja-JP" sz="2400" dirty="0" err="1" smtClean="0"/>
              <a:t>struct</a:t>
            </a:r>
            <a:r>
              <a:rPr lang="en-US" altLang="ja-JP" sz="2400" dirty="0" smtClean="0"/>
              <a:t> {</a:t>
            </a:r>
            <a:r>
              <a:rPr lang="en-US" altLang="ja-JP" sz="2400" dirty="0" err="1" smtClean="0"/>
              <a:t>int</a:t>
            </a:r>
            <a:r>
              <a:rPr lang="en-US" altLang="ja-JP" sz="2400" dirty="0" smtClean="0"/>
              <a:t> x; </a:t>
            </a:r>
            <a:r>
              <a:rPr lang="en-US" altLang="ja-JP" sz="2400" dirty="0" err="1" smtClean="0"/>
              <a:t>int</a:t>
            </a:r>
            <a:r>
              <a:rPr lang="en-US" altLang="ja-JP" sz="2400" dirty="0" smtClean="0"/>
              <a:t> y;} : %d\n",</a:t>
            </a:r>
          </a:p>
          <a:p>
            <a:r>
              <a:rPr lang="en-US" altLang="ja-JP" sz="2400" dirty="0" smtClean="0"/>
              <a:t>         </a:t>
            </a:r>
            <a:r>
              <a:rPr lang="ja-JP" altLang="en-US" sz="2400" dirty="0" smtClean="0"/>
              <a:t>     </a:t>
            </a:r>
            <a:r>
              <a:rPr lang="en-US" altLang="ja-JP" sz="2400" dirty="0" smtClean="0"/>
              <a:t> </a:t>
            </a:r>
            <a:r>
              <a:rPr lang="en-US" altLang="ja-JP" sz="2400" dirty="0" err="1" smtClean="0"/>
              <a:t>sizeof</a:t>
            </a:r>
            <a:r>
              <a:rPr lang="en-US" altLang="ja-JP" sz="2400" dirty="0" smtClean="0"/>
              <a:t>(</a:t>
            </a:r>
            <a:r>
              <a:rPr lang="en-US" altLang="ja-JP" sz="2400" dirty="0" err="1" smtClean="0"/>
              <a:t>struct</a:t>
            </a:r>
            <a:r>
              <a:rPr lang="en-US" altLang="ja-JP" sz="2400" dirty="0" smtClean="0"/>
              <a:t> {</a:t>
            </a:r>
            <a:r>
              <a:rPr lang="en-US" altLang="ja-JP" sz="2400" dirty="0" err="1" smtClean="0"/>
              <a:t>int</a:t>
            </a:r>
            <a:r>
              <a:rPr lang="en-US" altLang="ja-JP" sz="2400" dirty="0" smtClean="0"/>
              <a:t> x; </a:t>
            </a:r>
            <a:r>
              <a:rPr lang="en-US" altLang="ja-JP" sz="2400" dirty="0" err="1" smtClean="0"/>
              <a:t>int</a:t>
            </a:r>
            <a:r>
              <a:rPr lang="en-US" altLang="ja-JP" sz="2400" dirty="0" smtClean="0"/>
              <a:t> y;}));</a:t>
            </a:r>
          </a:p>
          <a:p>
            <a:r>
              <a:rPr lang="en-US" altLang="ja-JP" sz="2400" dirty="0" smtClean="0"/>
              <a:t>  </a:t>
            </a:r>
            <a:r>
              <a:rPr lang="en-US" altLang="ja-JP" sz="2400" dirty="0" err="1" smtClean="0"/>
              <a:t>printf</a:t>
            </a:r>
            <a:r>
              <a:rPr lang="en-US" altLang="ja-JP" sz="2400" dirty="0" smtClean="0"/>
              <a:t> ("point: %d\n", </a:t>
            </a:r>
            <a:r>
              <a:rPr lang="en-US" altLang="ja-JP" sz="2400" dirty="0" err="1" smtClean="0"/>
              <a:t>sizeof</a:t>
            </a:r>
            <a:r>
              <a:rPr lang="en-US" altLang="ja-JP" sz="2400" dirty="0" smtClean="0"/>
              <a:t>(point));</a:t>
            </a:r>
          </a:p>
          <a:p>
            <a:r>
              <a:rPr lang="en-US" altLang="ja-JP" sz="2400" dirty="0" smtClean="0"/>
              <a:t>  </a:t>
            </a:r>
            <a:r>
              <a:rPr lang="en-US" altLang="ja-JP" sz="2400" dirty="0" err="1" smtClean="0"/>
              <a:t>printf</a:t>
            </a:r>
            <a:r>
              <a:rPr lang="en-US" altLang="ja-JP" sz="2400" dirty="0" smtClean="0"/>
              <a:t> ("point *: %d\n", </a:t>
            </a:r>
            <a:r>
              <a:rPr lang="en-US" altLang="ja-JP" sz="2400" dirty="0" err="1" smtClean="0"/>
              <a:t>sizeof</a:t>
            </a:r>
            <a:r>
              <a:rPr lang="en-US" altLang="ja-JP" sz="2400" dirty="0" smtClean="0"/>
              <a:t>(point *));</a:t>
            </a:r>
          </a:p>
          <a:p>
            <a:r>
              <a:rPr lang="en-US" altLang="ja-JP" sz="2400" dirty="0" smtClean="0"/>
              <a:t>  return 0;</a:t>
            </a:r>
          </a:p>
          <a:p>
            <a:r>
              <a:rPr lang="en-US" altLang="ja-JP" sz="2400" dirty="0" smtClean="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a:xfrm>
            <a:off x="642910" y="171432"/>
            <a:ext cx="7620000" cy="685800"/>
          </a:xfrm>
        </p:spPr>
        <p:txBody>
          <a:bodyPr/>
          <a:lstStyle/>
          <a:p>
            <a:pPr eaLnBrk="1" hangingPunct="1">
              <a:defRPr/>
            </a:pPr>
            <a:r>
              <a:rPr lang="en-US" altLang="ja-JP" sz="3400" dirty="0" smtClean="0"/>
              <a:t>void </a:t>
            </a:r>
            <a:r>
              <a:rPr lang="ja-JP" altLang="en-US" sz="3400" dirty="0" err="1" smtClean="0"/>
              <a:t>への</a:t>
            </a:r>
            <a:r>
              <a:rPr lang="ja-JP" altLang="en-US" sz="3400" dirty="0" smtClean="0"/>
              <a:t>ポインタ</a:t>
            </a:r>
            <a:endParaRPr lang="en-US" altLang="ja-JP" sz="3400" dirty="0" smtClean="0"/>
          </a:p>
        </p:txBody>
      </p:sp>
      <p:sp>
        <p:nvSpPr>
          <p:cNvPr id="21509" name="Text Box 6"/>
          <p:cNvSpPr txBox="1">
            <a:spLocks noChangeArrowheads="1"/>
          </p:cNvSpPr>
          <p:nvPr/>
        </p:nvSpPr>
        <p:spPr bwMode="auto">
          <a:xfrm>
            <a:off x="796206" y="2252955"/>
            <a:ext cx="4303550" cy="461665"/>
          </a:xfrm>
          <a:prstGeom prst="rect">
            <a:avLst/>
          </a:prstGeom>
          <a:solidFill>
            <a:srgbClr val="FFFF99"/>
          </a:solidFill>
          <a:ln w="9525">
            <a:noFill/>
            <a:miter lim="800000"/>
            <a:headEnd/>
            <a:tailEnd/>
          </a:ln>
        </p:spPr>
        <p:txBody>
          <a:bodyPr wrap="none">
            <a:spAutoFit/>
          </a:bodyPr>
          <a:lstStyle/>
          <a:p>
            <a:r>
              <a:rPr lang="en-US" altLang="ja-JP" sz="2400" b="0" dirty="0"/>
              <a:t> p = (</a:t>
            </a:r>
            <a:r>
              <a:rPr lang="en-US" altLang="ja-JP" sz="2400" b="0" dirty="0" err="1"/>
              <a:t>int</a:t>
            </a:r>
            <a:r>
              <a:rPr lang="en-US" altLang="ja-JP" sz="2400" b="0" dirty="0"/>
              <a:t> </a:t>
            </a:r>
            <a:r>
              <a:rPr lang="en-US" altLang="ja-JP" sz="2400" b="0" dirty="0" smtClean="0"/>
              <a:t>*) </a:t>
            </a:r>
            <a:r>
              <a:rPr lang="en-US" altLang="ja-JP" sz="2400" b="0" dirty="0" err="1" smtClean="0"/>
              <a:t>calloc</a:t>
            </a:r>
            <a:r>
              <a:rPr lang="en-US" altLang="ja-JP" sz="2400" b="0" dirty="0" smtClean="0"/>
              <a:t> (1</a:t>
            </a:r>
            <a:r>
              <a:rPr lang="en-US" altLang="ja-JP" sz="2400" b="0" dirty="0"/>
              <a:t>, </a:t>
            </a:r>
            <a:r>
              <a:rPr lang="en-US" altLang="ja-JP" sz="2400" b="0" dirty="0" err="1" smtClean="0"/>
              <a:t>sizeof</a:t>
            </a:r>
            <a:r>
              <a:rPr lang="en-US" altLang="ja-JP" sz="2400" b="0" dirty="0" smtClean="0"/>
              <a:t> (</a:t>
            </a:r>
            <a:r>
              <a:rPr lang="en-US" altLang="ja-JP" sz="2400" b="0" dirty="0" err="1"/>
              <a:t>int</a:t>
            </a:r>
            <a:r>
              <a:rPr lang="en-US" altLang="ja-JP" sz="2400" b="0" dirty="0"/>
              <a:t>) ); </a:t>
            </a:r>
            <a:endParaRPr lang="ja-JP" altLang="en-US" sz="2400" b="0" dirty="0"/>
          </a:p>
        </p:txBody>
      </p:sp>
      <p:sp>
        <p:nvSpPr>
          <p:cNvPr id="21510" name="Text Box 7"/>
          <p:cNvSpPr txBox="1">
            <a:spLocks noChangeArrowheads="1"/>
          </p:cNvSpPr>
          <p:nvPr/>
        </p:nvSpPr>
        <p:spPr bwMode="auto">
          <a:xfrm>
            <a:off x="714348" y="1214422"/>
            <a:ext cx="5745484" cy="461665"/>
          </a:xfrm>
          <a:prstGeom prst="rect">
            <a:avLst/>
          </a:prstGeom>
          <a:noFill/>
          <a:ln w="9525">
            <a:noFill/>
            <a:miter lim="800000"/>
            <a:headEnd/>
            <a:tailEnd/>
          </a:ln>
        </p:spPr>
        <p:txBody>
          <a:bodyPr wrap="none">
            <a:spAutoFit/>
          </a:bodyPr>
          <a:lstStyle/>
          <a:p>
            <a:r>
              <a:rPr lang="en-US" altLang="ja-JP" sz="2400" b="0" dirty="0" err="1" smtClean="0">
                <a:latin typeface="News Gothic" pitchFamily="34" charset="0"/>
                <a:ea typeface="ヒラギノ角ゴ Pro W3" pitchFamily="-64" charset="-128"/>
              </a:rPr>
              <a:t>calloc</a:t>
            </a:r>
            <a:r>
              <a:rPr lang="ja-JP" altLang="en-US" sz="2400" b="0" dirty="0" smtClean="0">
                <a:latin typeface="News Gothic" pitchFamily="34" charset="0"/>
                <a:ea typeface="ヒラギノ角ゴ Pro W3" pitchFamily="-64" charset="-128"/>
              </a:rPr>
              <a:t>関数の返り値の型は</a:t>
            </a:r>
            <a:r>
              <a:rPr lang="en-US" altLang="ja-JP" sz="2400" b="0" dirty="0" smtClean="0">
                <a:latin typeface="News Gothic" pitchFamily="34" charset="0"/>
                <a:ea typeface="ヒラギノ角ゴ Pro W3" pitchFamily="-64" charset="-128"/>
              </a:rPr>
              <a:t>void *</a:t>
            </a:r>
            <a:r>
              <a:rPr lang="ja-JP" altLang="en-US" sz="2400" b="0" dirty="0" smtClean="0">
                <a:latin typeface="News Gothic" pitchFamily="34" charset="0"/>
                <a:ea typeface="ヒラギノ角ゴ Pro W3" pitchFamily="-64" charset="-128"/>
              </a:rPr>
              <a:t>である。</a:t>
            </a:r>
            <a:endParaRPr lang="ja-JP" altLang="en-US" sz="2400" b="0" dirty="0">
              <a:latin typeface="News Gothic" pitchFamily="34" charset="0"/>
              <a:ea typeface="ヒラギノ角ゴ Pro W3" pitchFamily="-64" charset="-128"/>
            </a:endParaRPr>
          </a:p>
        </p:txBody>
      </p:sp>
      <p:sp>
        <p:nvSpPr>
          <p:cNvPr id="21511" name="Text Box 8"/>
          <p:cNvSpPr txBox="1">
            <a:spLocks noChangeArrowheads="1"/>
          </p:cNvSpPr>
          <p:nvPr/>
        </p:nvSpPr>
        <p:spPr bwMode="auto">
          <a:xfrm>
            <a:off x="785786" y="2857496"/>
            <a:ext cx="7429552" cy="461665"/>
          </a:xfrm>
          <a:prstGeom prst="rect">
            <a:avLst/>
          </a:prstGeom>
          <a:noFill/>
          <a:ln w="9525">
            <a:noFill/>
            <a:miter lim="800000"/>
            <a:headEnd/>
            <a:tailEnd/>
          </a:ln>
        </p:spPr>
        <p:txBody>
          <a:bodyPr wrap="square">
            <a:spAutoFit/>
          </a:bodyPr>
          <a:lstStyle/>
          <a:p>
            <a:r>
              <a:rPr lang="en-US" altLang="ja-JP" sz="2400" dirty="0" err="1"/>
              <a:t>c</a:t>
            </a:r>
            <a:r>
              <a:rPr lang="en-US" altLang="ja-JP" sz="2400" dirty="0" err="1" smtClean="0"/>
              <a:t>alloc</a:t>
            </a:r>
            <a:r>
              <a:rPr lang="ja-JP" altLang="en-US" sz="2400" dirty="0"/>
              <a:t>関数の</a:t>
            </a:r>
            <a:r>
              <a:rPr lang="ja-JP" altLang="en-US" sz="2400" dirty="0" smtClean="0"/>
              <a:t>返り値</a:t>
            </a:r>
            <a:r>
              <a:rPr lang="ja-JP" altLang="en-US" sz="2400" dirty="0"/>
              <a:t>　</a:t>
            </a:r>
            <a:r>
              <a:rPr lang="en-US" altLang="ja-JP" sz="2400" dirty="0"/>
              <a:t>→</a:t>
            </a:r>
            <a:r>
              <a:rPr lang="ja-JP" altLang="en-US" sz="2400" dirty="0"/>
              <a:t>　</a:t>
            </a:r>
            <a:r>
              <a:rPr lang="en-US" altLang="ja-JP" sz="2400" dirty="0"/>
              <a:t>void * </a:t>
            </a:r>
            <a:r>
              <a:rPr lang="ja-JP" altLang="en-US" sz="2400" dirty="0"/>
              <a:t>型　（</a:t>
            </a:r>
            <a:r>
              <a:rPr lang="en-US" altLang="ja-JP" sz="2400" dirty="0"/>
              <a:t>void</a:t>
            </a:r>
            <a:r>
              <a:rPr lang="ja-JP" altLang="en-US" sz="2400" dirty="0" err="1"/>
              <a:t>への</a:t>
            </a:r>
            <a:r>
              <a:rPr lang="ja-JP" altLang="en-US" sz="2400" dirty="0"/>
              <a:t>ポインタ型）</a:t>
            </a:r>
            <a:endParaRPr lang="en-US" altLang="ja-JP" sz="2400" dirty="0"/>
          </a:p>
        </p:txBody>
      </p:sp>
      <p:sp>
        <p:nvSpPr>
          <p:cNvPr id="21512" name="Text Box 9"/>
          <p:cNvSpPr txBox="1">
            <a:spLocks noChangeArrowheads="1"/>
          </p:cNvSpPr>
          <p:nvPr/>
        </p:nvSpPr>
        <p:spPr bwMode="auto">
          <a:xfrm>
            <a:off x="974725" y="3617913"/>
            <a:ext cx="7454927" cy="2308324"/>
          </a:xfrm>
          <a:prstGeom prst="rect">
            <a:avLst/>
          </a:prstGeom>
          <a:noFill/>
          <a:ln w="9525">
            <a:noFill/>
            <a:miter lim="800000"/>
            <a:headEnd/>
            <a:tailEnd/>
          </a:ln>
        </p:spPr>
        <p:txBody>
          <a:bodyPr wrap="square">
            <a:spAutoFit/>
          </a:bodyPr>
          <a:lstStyle/>
          <a:p>
            <a:r>
              <a:rPr lang="en-US" altLang="ja-JP" sz="2400" dirty="0" err="1" smtClean="0"/>
              <a:t>int</a:t>
            </a:r>
            <a:r>
              <a:rPr lang="en-US" altLang="ja-JP" sz="2400" dirty="0"/>
              <a:t>, char, double, </a:t>
            </a:r>
            <a:r>
              <a:rPr lang="ja-JP" altLang="en-US" sz="2400" dirty="0"/>
              <a:t>構造体</a:t>
            </a:r>
            <a:r>
              <a:rPr lang="en-US" altLang="ja-JP" sz="2400" dirty="0"/>
              <a:t> </a:t>
            </a:r>
            <a:r>
              <a:rPr lang="ja-JP" altLang="en-US" sz="2400" dirty="0"/>
              <a:t>など</a:t>
            </a:r>
            <a:r>
              <a:rPr lang="ja-JP" altLang="en-US" sz="2400" dirty="0" smtClean="0"/>
              <a:t>、さまざまな型のための領域を確保する際に</a:t>
            </a:r>
            <a:r>
              <a:rPr lang="en-US" altLang="ja-JP" sz="2400" dirty="0" err="1" smtClean="0"/>
              <a:t>calloc</a:t>
            </a:r>
            <a:r>
              <a:rPr lang="ja-JP" altLang="en-US" sz="2400" dirty="0" smtClean="0"/>
              <a:t>関数が用いられるので、</a:t>
            </a:r>
            <a:r>
              <a:rPr lang="en-US" altLang="ja-JP" sz="2400" dirty="0" smtClean="0"/>
              <a:t>void *</a:t>
            </a:r>
            <a:r>
              <a:rPr lang="ja-JP" altLang="en-US" sz="2400" dirty="0" smtClean="0"/>
              <a:t>型で返している。</a:t>
            </a:r>
            <a:endParaRPr lang="en-US" altLang="ja-JP" sz="2400" dirty="0" smtClean="0"/>
          </a:p>
          <a:p>
            <a:r>
              <a:rPr lang="ja-JP" altLang="en-US" sz="2400" dirty="0" smtClean="0"/>
              <a:t>使うときには、</a:t>
            </a:r>
            <a:r>
              <a:rPr lang="en-US" altLang="ja-JP" sz="2400" dirty="0" err="1" smtClean="0"/>
              <a:t>calloc</a:t>
            </a:r>
            <a:r>
              <a:rPr lang="ja-JP" altLang="en-US" sz="2400" dirty="0" smtClean="0"/>
              <a:t>関数の返り値を実際に使うポインタ型にキャストしてから使用する。</a:t>
            </a:r>
            <a:endParaRPr lang="en-US" altLang="ja-JP" sz="2400" dirty="0"/>
          </a:p>
          <a:p>
            <a:r>
              <a:rPr lang="ja-JP" altLang="en-US" sz="2400" dirty="0" smtClean="0"/>
              <a:t>上</a:t>
            </a:r>
            <a:r>
              <a:rPr lang="ja-JP" altLang="en-US" sz="2400" dirty="0"/>
              <a:t>の例では、</a:t>
            </a:r>
            <a:r>
              <a:rPr lang="en-US" altLang="ja-JP" sz="2400" dirty="0" err="1"/>
              <a:t>int</a:t>
            </a:r>
            <a:r>
              <a:rPr lang="en-US" altLang="ja-JP" sz="2400" dirty="0"/>
              <a:t> * </a:t>
            </a:r>
            <a:r>
              <a:rPr lang="ja-JP" altLang="en-US" sz="2400" dirty="0" smtClean="0"/>
              <a:t>型にキャストしている。</a:t>
            </a:r>
            <a:endParaRPr lang="en-US" altLang="ja-JP" sz="2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p:cNvSpPr>
            <a:spLocks noGrp="1" noChangeArrowheads="1"/>
          </p:cNvSpPr>
          <p:nvPr>
            <p:ph type="title"/>
          </p:nvPr>
        </p:nvSpPr>
        <p:spPr>
          <a:xfrm>
            <a:off x="523900" y="214290"/>
            <a:ext cx="7620000" cy="685800"/>
          </a:xfrm>
        </p:spPr>
        <p:txBody>
          <a:bodyPr>
            <a:normAutofit/>
          </a:bodyPr>
          <a:lstStyle/>
          <a:p>
            <a:pPr eaLnBrk="1" hangingPunct="1">
              <a:defRPr/>
            </a:pPr>
            <a:r>
              <a:rPr lang="en-US" altLang="ja-JP" sz="3600" dirty="0" smtClean="0"/>
              <a:t>free</a:t>
            </a:r>
            <a:r>
              <a:rPr lang="ja-JP" altLang="en-US" sz="3600" dirty="0" smtClean="0"/>
              <a:t>関数</a:t>
            </a:r>
            <a:r>
              <a:rPr lang="en-US" altLang="ja-JP" sz="3600" dirty="0" smtClean="0"/>
              <a:t> :  </a:t>
            </a:r>
            <a:r>
              <a:rPr lang="ja-JP" altLang="en-US" sz="3600" dirty="0" smtClean="0"/>
              <a:t>記憶域の解放</a:t>
            </a:r>
            <a:endParaRPr lang="en-US" altLang="ja-JP" sz="3600" dirty="0" smtClean="0"/>
          </a:p>
        </p:txBody>
      </p:sp>
      <p:sp>
        <p:nvSpPr>
          <p:cNvPr id="22533" name="Rectangle 3"/>
          <p:cNvSpPr>
            <a:spLocks noGrp="1" noChangeArrowheads="1"/>
          </p:cNvSpPr>
          <p:nvPr>
            <p:ph type="body" idx="1"/>
          </p:nvPr>
        </p:nvSpPr>
        <p:spPr>
          <a:xfrm>
            <a:off x="533400" y="1143000"/>
            <a:ext cx="8253442" cy="2071686"/>
          </a:xfrm>
        </p:spPr>
        <p:txBody>
          <a:bodyPr/>
          <a:lstStyle/>
          <a:p>
            <a:pPr eaLnBrk="1" hangingPunct="1"/>
            <a:r>
              <a:rPr lang="ja-JP" altLang="en-US" dirty="0" smtClean="0"/>
              <a:t>動的に確保した記憶域は、不要になった時点で</a:t>
            </a:r>
            <a:r>
              <a:rPr lang="en-US" altLang="ja-JP" dirty="0" smtClean="0"/>
              <a:t>free</a:t>
            </a:r>
            <a:r>
              <a:rPr lang="ja-JP" altLang="en-US" dirty="0" smtClean="0"/>
              <a:t>関数を呼び出して解放する。それによって、それ以降の</a:t>
            </a:r>
            <a:r>
              <a:rPr lang="en-US" altLang="ja-JP" dirty="0" err="1" smtClean="0"/>
              <a:t>calloc</a:t>
            </a:r>
            <a:r>
              <a:rPr lang="ja-JP" altLang="en-US" dirty="0" smtClean="0"/>
              <a:t>や</a:t>
            </a:r>
            <a:r>
              <a:rPr lang="en-US" altLang="ja-JP" dirty="0" err="1" smtClean="0"/>
              <a:t>malloc</a:t>
            </a:r>
            <a:r>
              <a:rPr lang="ja-JP" altLang="en-US" dirty="0" smtClean="0"/>
              <a:t>の呼び出しで再利用可能な状態になる。</a:t>
            </a:r>
            <a:endParaRPr lang="en-US" altLang="ja-JP" dirty="0" smtClean="0"/>
          </a:p>
        </p:txBody>
      </p:sp>
      <p:graphicFrame>
        <p:nvGraphicFramePr>
          <p:cNvPr id="407578" name="Group 26"/>
          <p:cNvGraphicFramePr>
            <a:graphicFrameLocks noGrp="1"/>
          </p:cNvGraphicFramePr>
          <p:nvPr/>
        </p:nvGraphicFramePr>
        <p:xfrm>
          <a:off x="1066800" y="3578554"/>
          <a:ext cx="6858000" cy="1493520"/>
        </p:xfrm>
        <a:graphic>
          <a:graphicData uri="http://schemas.openxmlformats.org/drawingml/2006/table">
            <a:tbl>
              <a:tblPr/>
              <a:tblGrid>
                <a:gridCol w="1004870"/>
                <a:gridCol w="5853130"/>
              </a:tblGrid>
              <a:tr h="364107">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64" charset="2"/>
                        <a:buNone/>
                        <a:tabLst/>
                      </a:pPr>
                      <a:r>
                        <a:rPr kumimoji="0" lang="ja-JP" altLang="en-US" sz="2000" b="0" i="0" u="none" strike="noStrike" cap="none" normalizeH="0" baseline="0" dirty="0" smtClean="0">
                          <a:ln>
                            <a:noFill/>
                          </a:ln>
                          <a:solidFill>
                            <a:schemeClr val="tx1"/>
                          </a:solidFill>
                          <a:effectLst/>
                          <a:latin typeface="News Gothic" pitchFamily="34" charset="0"/>
                          <a:ea typeface="ヒラギノ角ゴ Pro W3" pitchFamily="-64" charset="-128"/>
                        </a:rPr>
                        <a:t>ヘッダ</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64" charset="2"/>
                        <a:buNone/>
                        <a:tabLst/>
                      </a:pPr>
                      <a:r>
                        <a:rPr kumimoji="0" lang="en-US" altLang="ja-JP" sz="2000" b="0" i="0" u="none" strike="noStrike" cap="none" normalizeH="0" baseline="0" dirty="0" smtClean="0">
                          <a:ln>
                            <a:noFill/>
                          </a:ln>
                          <a:solidFill>
                            <a:schemeClr val="tx1"/>
                          </a:solidFill>
                          <a:effectLst/>
                          <a:latin typeface="News Gothic" pitchFamily="34" charset="0"/>
                          <a:ea typeface="ヒラギノ角ゴ Pro W3" pitchFamily="-64" charset="-128"/>
                        </a:rPr>
                        <a:t>#include &lt;</a:t>
                      </a:r>
                      <a:r>
                        <a:rPr kumimoji="0" lang="en-US" altLang="ja-JP" sz="2000" b="0" i="0" u="none" strike="noStrike" cap="none" normalizeH="0" baseline="0" dirty="0" err="1" smtClean="0">
                          <a:ln>
                            <a:noFill/>
                          </a:ln>
                          <a:solidFill>
                            <a:schemeClr val="tx1"/>
                          </a:solidFill>
                          <a:effectLst/>
                          <a:latin typeface="News Gothic" pitchFamily="34" charset="0"/>
                          <a:ea typeface="ヒラギノ角ゴ Pro W3" pitchFamily="-64" charset="-128"/>
                        </a:rPr>
                        <a:t>stdlib.h</a:t>
                      </a:r>
                      <a:r>
                        <a:rPr kumimoji="0" lang="en-US" altLang="ja-JP" sz="2000" b="0" i="0" u="none" strike="noStrike" cap="none" normalizeH="0" baseline="0" dirty="0" smtClean="0">
                          <a:ln>
                            <a:noFill/>
                          </a:ln>
                          <a:solidFill>
                            <a:schemeClr val="tx1"/>
                          </a:solidFill>
                          <a:effectLst/>
                          <a:latin typeface="News Gothic" pitchFamily="34" charset="0"/>
                          <a:ea typeface="ヒラギノ角ゴ Pro W3" pitchFamily="-64" charset="-128"/>
                        </a:rPr>
                        <a:t>&gt;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4107">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64" charset="2"/>
                        <a:buNone/>
                        <a:tabLst/>
                      </a:pPr>
                      <a:r>
                        <a:rPr kumimoji="0" lang="ja-JP" altLang="en-US" sz="2000" b="0" i="0" u="none" strike="noStrike" cap="none" normalizeH="0" baseline="0" smtClean="0">
                          <a:ln>
                            <a:noFill/>
                          </a:ln>
                          <a:solidFill>
                            <a:schemeClr val="tx1"/>
                          </a:solidFill>
                          <a:effectLst/>
                          <a:latin typeface="News Gothic" pitchFamily="34" charset="0"/>
                          <a:ea typeface="ヒラギノ角ゴ Pro W3" pitchFamily="-64" charset="-128"/>
                        </a:rPr>
                        <a:t>形式</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64" charset="2"/>
                        <a:buNone/>
                        <a:tabLst/>
                      </a:pPr>
                      <a:r>
                        <a:rPr kumimoji="0" lang="en-US" altLang="ja-JP" sz="2000" b="0" i="0" u="none" strike="noStrike" cap="none" normalizeH="0" baseline="0" dirty="0" smtClean="0">
                          <a:ln>
                            <a:noFill/>
                          </a:ln>
                          <a:solidFill>
                            <a:schemeClr val="tx1"/>
                          </a:solidFill>
                          <a:effectLst/>
                          <a:latin typeface="News Gothic" pitchFamily="34" charset="0"/>
                          <a:ea typeface="ヒラギノ角ゴ Pro W3" pitchFamily="-64" charset="-128"/>
                        </a:rPr>
                        <a:t>void free( void *p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054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64" charset="2"/>
                        <a:buNone/>
                        <a:tabLst/>
                      </a:pPr>
                      <a:r>
                        <a:rPr kumimoji="0" lang="ja-JP" altLang="en-US" sz="2000" b="0" i="0" u="none" strike="noStrike" cap="none" normalizeH="0" baseline="0" smtClean="0">
                          <a:ln>
                            <a:noFill/>
                          </a:ln>
                          <a:solidFill>
                            <a:schemeClr val="tx1"/>
                          </a:solidFill>
                          <a:effectLst/>
                          <a:latin typeface="News Gothic" pitchFamily="34" charset="0"/>
                          <a:ea typeface="ヒラギノ角ゴ Pro W3" pitchFamily="-64" charset="-128"/>
                        </a:rPr>
                        <a:t>解説</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5000"/>
                        <a:buFont typeface="Wingdings" pitchFamily="-64" charset="2"/>
                        <a:buNone/>
                        <a:tabLst/>
                      </a:pPr>
                      <a:r>
                        <a:rPr kumimoji="0" lang="en-US" altLang="ja-JP" sz="2000" b="0" i="0" u="none" strike="noStrike" cap="none" normalizeH="0" baseline="0" dirty="0" smtClean="0">
                          <a:ln>
                            <a:noFill/>
                          </a:ln>
                          <a:solidFill>
                            <a:schemeClr val="tx1"/>
                          </a:solidFill>
                          <a:effectLst/>
                          <a:latin typeface="News Gothic" pitchFamily="34" charset="0"/>
                          <a:ea typeface="ヒラギノ角ゴ Pro W3" pitchFamily="-64" charset="-128"/>
                        </a:rPr>
                        <a:t>p</a:t>
                      </a:r>
                      <a:r>
                        <a:rPr kumimoji="0" lang="ja-JP" altLang="en-US" sz="2000" b="0" i="0" u="none" strike="noStrike" cap="none" normalizeH="0" baseline="0" dirty="0" smtClean="0">
                          <a:ln>
                            <a:noFill/>
                          </a:ln>
                          <a:solidFill>
                            <a:schemeClr val="tx1"/>
                          </a:solidFill>
                          <a:effectLst/>
                          <a:latin typeface="News Gothic" pitchFamily="34" charset="0"/>
                          <a:ea typeface="ヒラギノ角ゴ Pro W3" pitchFamily="-64" charset="-128"/>
                        </a:rPr>
                        <a:t>が指す領域を開放する。但し</a:t>
                      </a:r>
                      <a:r>
                        <a:rPr kumimoji="0" lang="en-US" altLang="ja-JP" sz="2000" b="0" i="0" u="none" strike="noStrike" cap="none" normalizeH="0" baseline="0" dirty="0" smtClean="0">
                          <a:ln>
                            <a:noFill/>
                          </a:ln>
                          <a:solidFill>
                            <a:schemeClr val="tx1"/>
                          </a:solidFill>
                          <a:effectLst/>
                          <a:latin typeface="News Gothic" pitchFamily="34" charset="0"/>
                          <a:ea typeface="ヒラギノ角ゴ Pro W3" pitchFamily="-64" charset="-128"/>
                        </a:rPr>
                        <a:t>p</a:t>
                      </a:r>
                      <a:r>
                        <a:rPr kumimoji="0" lang="ja-JP" altLang="en-US" sz="2000" b="0" i="0" u="none" strike="noStrike" cap="none" normalizeH="0" baseline="0" dirty="0" smtClean="0">
                          <a:ln>
                            <a:noFill/>
                          </a:ln>
                          <a:solidFill>
                            <a:schemeClr val="tx1"/>
                          </a:solidFill>
                          <a:effectLst/>
                          <a:latin typeface="News Gothic" pitchFamily="34" charset="0"/>
                          <a:ea typeface="ヒラギノ角ゴ Pro W3" pitchFamily="-64" charset="-128"/>
                        </a:rPr>
                        <a:t>が</a:t>
                      </a:r>
                      <a:r>
                        <a:rPr kumimoji="0" lang="en-US" altLang="ja-JP" sz="2000" b="0" i="0" u="none" strike="noStrike" cap="none" normalizeH="0" baseline="0" dirty="0" smtClean="0">
                          <a:ln>
                            <a:noFill/>
                          </a:ln>
                          <a:solidFill>
                            <a:schemeClr val="tx1"/>
                          </a:solidFill>
                          <a:effectLst/>
                          <a:latin typeface="News Gothic" pitchFamily="34" charset="0"/>
                          <a:ea typeface="ヒラギノ角ゴ Pro W3" pitchFamily="-64" charset="-128"/>
                        </a:rPr>
                        <a:t>NULL</a:t>
                      </a:r>
                      <a:r>
                        <a:rPr kumimoji="0" lang="ja-JP" altLang="en-US" sz="2000" b="0" i="0" u="none" strike="noStrike" cap="none" normalizeH="0" baseline="0" dirty="0" smtClean="0">
                          <a:ln>
                            <a:noFill/>
                          </a:ln>
                          <a:solidFill>
                            <a:schemeClr val="tx1"/>
                          </a:solidFill>
                          <a:effectLst/>
                          <a:latin typeface="News Gothic" pitchFamily="34" charset="0"/>
                          <a:ea typeface="ヒラギノ角ゴ Pro W3" pitchFamily="-64" charset="-128"/>
                        </a:rPr>
                        <a:t>であれば何も行わない。</a:t>
                      </a:r>
                      <a:endParaRPr kumimoji="0" lang="en-US" altLang="ja-JP" sz="2000" b="0" i="0" u="none" strike="noStrike" cap="none" normalizeH="0" baseline="0" dirty="0" smtClean="0">
                        <a:ln>
                          <a:noFill/>
                        </a:ln>
                        <a:solidFill>
                          <a:schemeClr val="tx1"/>
                        </a:solidFill>
                        <a:effectLst/>
                        <a:latin typeface="News Gothic" pitchFamily="34" charset="0"/>
                        <a:ea typeface="ヒラギノ角ゴ Pro W3" pitchFamily="-64" charset="-128"/>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AutoShape 11"/>
          <p:cNvSpPr>
            <a:spLocks noChangeArrowheads="1"/>
          </p:cNvSpPr>
          <p:nvPr/>
        </p:nvSpPr>
        <p:spPr bwMode="auto">
          <a:xfrm>
            <a:off x="6934208" y="3581400"/>
            <a:ext cx="914400" cy="457200"/>
          </a:xfrm>
          <a:prstGeom prst="cube">
            <a:avLst>
              <a:gd name="adj" fmla="val 50000"/>
            </a:avLst>
          </a:prstGeom>
          <a:solidFill>
            <a:srgbClr val="CCCCFF"/>
          </a:solidFill>
          <a:ln w="9525">
            <a:solidFill>
              <a:schemeClr val="tx1"/>
            </a:solidFill>
            <a:miter lim="800000"/>
            <a:headEnd/>
            <a:tailEnd/>
          </a:ln>
        </p:spPr>
        <p:txBody>
          <a:bodyPr anchor="ctr">
            <a:spAutoFit/>
          </a:bodyPr>
          <a:lstStyle/>
          <a:p>
            <a:endParaRPr lang="ja-JP" altLang="en-US"/>
          </a:p>
        </p:txBody>
      </p:sp>
      <p:sp>
        <p:nvSpPr>
          <p:cNvPr id="417794" name="Rectangle 2"/>
          <p:cNvSpPr>
            <a:spLocks noGrp="1" noChangeArrowheads="1"/>
          </p:cNvSpPr>
          <p:nvPr>
            <p:ph type="title"/>
          </p:nvPr>
        </p:nvSpPr>
        <p:spPr>
          <a:xfrm>
            <a:off x="666776" y="228600"/>
            <a:ext cx="7620000" cy="685800"/>
          </a:xfrm>
        </p:spPr>
        <p:txBody>
          <a:bodyPr>
            <a:normAutofit fontScale="90000"/>
          </a:bodyPr>
          <a:lstStyle/>
          <a:p>
            <a:pPr eaLnBrk="1" hangingPunct="1">
              <a:defRPr/>
            </a:pPr>
            <a:r>
              <a:rPr lang="ja-JP" altLang="en-US" dirty="0" smtClean="0"/>
              <a:t>例（打ち込んで確認）</a:t>
            </a:r>
          </a:p>
        </p:txBody>
      </p:sp>
      <p:sp>
        <p:nvSpPr>
          <p:cNvPr id="23560" name="AutoShape 8"/>
          <p:cNvSpPr>
            <a:spLocks noChangeArrowheads="1"/>
          </p:cNvSpPr>
          <p:nvPr/>
        </p:nvSpPr>
        <p:spPr bwMode="auto">
          <a:xfrm>
            <a:off x="8153408" y="2971800"/>
            <a:ext cx="914400" cy="1828800"/>
          </a:xfrm>
          <a:prstGeom prst="cube">
            <a:avLst>
              <a:gd name="adj" fmla="val 25000"/>
            </a:avLst>
          </a:prstGeom>
          <a:noFill/>
          <a:ln w="9525">
            <a:solidFill>
              <a:schemeClr val="tx1"/>
            </a:solidFill>
            <a:miter lim="800000"/>
            <a:headEnd/>
            <a:tailEnd/>
          </a:ln>
        </p:spPr>
        <p:txBody>
          <a:bodyPr wrap="none" anchor="ctr">
            <a:spAutoFit/>
          </a:bodyPr>
          <a:lstStyle/>
          <a:p>
            <a:endParaRPr lang="ja-JP" altLang="en-US"/>
          </a:p>
        </p:txBody>
      </p:sp>
      <p:sp>
        <p:nvSpPr>
          <p:cNvPr id="23561" name="AutoShape 9"/>
          <p:cNvSpPr>
            <a:spLocks noChangeArrowheads="1"/>
          </p:cNvSpPr>
          <p:nvPr/>
        </p:nvSpPr>
        <p:spPr bwMode="auto">
          <a:xfrm>
            <a:off x="5715008" y="2971800"/>
            <a:ext cx="914400" cy="1828800"/>
          </a:xfrm>
          <a:prstGeom prst="cube">
            <a:avLst>
              <a:gd name="adj" fmla="val 25000"/>
            </a:avLst>
          </a:prstGeom>
          <a:noFill/>
          <a:ln w="9525">
            <a:solidFill>
              <a:schemeClr val="tx1"/>
            </a:solidFill>
            <a:miter lim="800000"/>
            <a:headEnd/>
            <a:tailEnd/>
          </a:ln>
        </p:spPr>
        <p:txBody>
          <a:bodyPr wrap="none" anchor="ctr">
            <a:spAutoFit/>
          </a:bodyPr>
          <a:lstStyle/>
          <a:p>
            <a:endParaRPr lang="ja-JP" altLang="en-US"/>
          </a:p>
        </p:txBody>
      </p:sp>
      <p:sp>
        <p:nvSpPr>
          <p:cNvPr id="23562" name="AutoShape 10"/>
          <p:cNvSpPr>
            <a:spLocks noChangeArrowheads="1"/>
          </p:cNvSpPr>
          <p:nvPr/>
        </p:nvSpPr>
        <p:spPr bwMode="auto">
          <a:xfrm>
            <a:off x="6934208" y="2971800"/>
            <a:ext cx="914400" cy="1828800"/>
          </a:xfrm>
          <a:prstGeom prst="cube">
            <a:avLst>
              <a:gd name="adj" fmla="val 25000"/>
            </a:avLst>
          </a:prstGeom>
          <a:noFill/>
          <a:ln w="9525">
            <a:solidFill>
              <a:schemeClr val="tx1"/>
            </a:solidFill>
            <a:miter lim="800000"/>
            <a:headEnd/>
            <a:tailEnd/>
          </a:ln>
        </p:spPr>
        <p:txBody>
          <a:bodyPr wrap="none" anchor="ctr">
            <a:spAutoFit/>
          </a:bodyPr>
          <a:lstStyle/>
          <a:p>
            <a:endParaRPr lang="ja-JP" altLang="en-US"/>
          </a:p>
        </p:txBody>
      </p:sp>
      <p:sp>
        <p:nvSpPr>
          <p:cNvPr id="23563" name="Line 12"/>
          <p:cNvSpPr>
            <a:spLocks noChangeShapeType="1"/>
          </p:cNvSpPr>
          <p:nvPr/>
        </p:nvSpPr>
        <p:spPr bwMode="auto">
          <a:xfrm>
            <a:off x="7162808" y="2971800"/>
            <a:ext cx="0" cy="1600200"/>
          </a:xfrm>
          <a:prstGeom prst="line">
            <a:avLst/>
          </a:prstGeom>
          <a:noFill/>
          <a:ln w="9525" cap="rnd">
            <a:solidFill>
              <a:schemeClr val="tx1"/>
            </a:solidFill>
            <a:prstDash val="sysDot"/>
            <a:round/>
            <a:headEnd/>
            <a:tailEnd/>
          </a:ln>
        </p:spPr>
        <p:txBody>
          <a:bodyPr wrap="none" anchor="ctr">
            <a:spAutoFit/>
          </a:bodyPr>
          <a:lstStyle/>
          <a:p>
            <a:endParaRPr lang="ja-JP" altLang="en-US"/>
          </a:p>
        </p:txBody>
      </p:sp>
      <p:sp>
        <p:nvSpPr>
          <p:cNvPr id="23564" name="Line 13"/>
          <p:cNvSpPr>
            <a:spLocks noChangeShapeType="1"/>
          </p:cNvSpPr>
          <p:nvPr/>
        </p:nvSpPr>
        <p:spPr bwMode="auto">
          <a:xfrm>
            <a:off x="7620008" y="3200400"/>
            <a:ext cx="0" cy="1600200"/>
          </a:xfrm>
          <a:prstGeom prst="line">
            <a:avLst/>
          </a:prstGeom>
          <a:noFill/>
          <a:ln w="9525">
            <a:noFill/>
            <a:round/>
            <a:headEnd/>
            <a:tailEnd/>
          </a:ln>
        </p:spPr>
        <p:txBody>
          <a:bodyPr wrap="none" anchor="ctr">
            <a:spAutoFit/>
          </a:bodyPr>
          <a:lstStyle/>
          <a:p>
            <a:endParaRPr lang="ja-JP" altLang="en-US"/>
          </a:p>
        </p:txBody>
      </p:sp>
      <p:sp>
        <p:nvSpPr>
          <p:cNvPr id="23565" name="Text Box 14"/>
          <p:cNvSpPr txBox="1">
            <a:spLocks noChangeArrowheads="1"/>
          </p:cNvSpPr>
          <p:nvPr/>
        </p:nvSpPr>
        <p:spPr bwMode="auto">
          <a:xfrm>
            <a:off x="5938854" y="5143512"/>
            <a:ext cx="2254250" cy="274638"/>
          </a:xfrm>
          <a:prstGeom prst="rect">
            <a:avLst/>
          </a:prstGeom>
          <a:noFill/>
          <a:ln w="9525">
            <a:noFill/>
            <a:miter lim="800000"/>
            <a:headEnd/>
            <a:tailEnd/>
          </a:ln>
        </p:spPr>
        <p:txBody>
          <a:bodyPr wrap="none">
            <a:spAutoFit/>
          </a:bodyPr>
          <a:lstStyle/>
          <a:p>
            <a:pPr>
              <a:spcBef>
                <a:spcPct val="50000"/>
              </a:spcBef>
            </a:pPr>
            <a:r>
              <a:rPr lang="en-US" altLang="ja-JP" sz="1200" b="0" dirty="0"/>
              <a:t>p = (</a:t>
            </a:r>
            <a:r>
              <a:rPr lang="en-US" altLang="ja-JP" sz="1200" b="0" dirty="0" err="1"/>
              <a:t>int</a:t>
            </a:r>
            <a:r>
              <a:rPr lang="en-US" altLang="ja-JP" sz="1200" b="0" dirty="0"/>
              <a:t> *)</a:t>
            </a:r>
            <a:r>
              <a:rPr lang="en-US" altLang="ja-JP" sz="1200" b="0" dirty="0" err="1"/>
              <a:t>calloc</a:t>
            </a:r>
            <a:r>
              <a:rPr lang="en-US" altLang="ja-JP" sz="1200" b="0" dirty="0"/>
              <a:t>( 1, </a:t>
            </a:r>
            <a:r>
              <a:rPr lang="en-US" altLang="ja-JP" sz="1200" b="0" dirty="0" err="1"/>
              <a:t>sizeof</a:t>
            </a:r>
            <a:r>
              <a:rPr lang="en-US" altLang="ja-JP" sz="1200" b="0" dirty="0"/>
              <a:t>(</a:t>
            </a:r>
            <a:r>
              <a:rPr lang="en-US" altLang="ja-JP" sz="1200" b="0" dirty="0" err="1"/>
              <a:t>int</a:t>
            </a:r>
            <a:r>
              <a:rPr lang="en-US" altLang="ja-JP" sz="1200" b="0" dirty="0"/>
              <a:t>) );</a:t>
            </a:r>
            <a:endParaRPr lang="ja-JP" altLang="en-US" sz="1200" b="0" dirty="0"/>
          </a:p>
        </p:txBody>
      </p:sp>
      <p:sp>
        <p:nvSpPr>
          <p:cNvPr id="23566" name="Text Box 15"/>
          <p:cNvSpPr txBox="1">
            <a:spLocks noChangeArrowheads="1"/>
          </p:cNvSpPr>
          <p:nvPr/>
        </p:nvSpPr>
        <p:spPr bwMode="auto">
          <a:xfrm>
            <a:off x="7543808" y="2209800"/>
            <a:ext cx="971550" cy="366713"/>
          </a:xfrm>
          <a:prstGeom prst="rect">
            <a:avLst/>
          </a:prstGeom>
          <a:noFill/>
          <a:ln w="9525">
            <a:noFill/>
            <a:miter lim="800000"/>
            <a:headEnd/>
            <a:tailEnd/>
          </a:ln>
        </p:spPr>
        <p:txBody>
          <a:bodyPr wrap="none">
            <a:spAutoFit/>
          </a:bodyPr>
          <a:lstStyle/>
          <a:p>
            <a:r>
              <a:rPr lang="en-US" altLang="ja-JP"/>
              <a:t>free(p);</a:t>
            </a:r>
          </a:p>
        </p:txBody>
      </p:sp>
      <p:sp>
        <p:nvSpPr>
          <p:cNvPr id="23567" name="AutoShape 16"/>
          <p:cNvSpPr>
            <a:spLocks noChangeArrowheads="1"/>
          </p:cNvSpPr>
          <p:nvPr/>
        </p:nvSpPr>
        <p:spPr bwMode="auto">
          <a:xfrm>
            <a:off x="6477008" y="3733800"/>
            <a:ext cx="381000" cy="381000"/>
          </a:xfrm>
          <a:prstGeom prst="rightArrow">
            <a:avLst>
              <a:gd name="adj1" fmla="val 50000"/>
              <a:gd name="adj2" fmla="val 25000"/>
            </a:avLst>
          </a:prstGeom>
          <a:solidFill>
            <a:srgbClr val="FF0000"/>
          </a:solidFill>
          <a:ln w="9525">
            <a:noFill/>
            <a:miter lim="800000"/>
            <a:headEnd/>
            <a:tailEnd/>
          </a:ln>
        </p:spPr>
        <p:txBody>
          <a:bodyPr wrap="none" anchor="ctr">
            <a:spAutoFit/>
          </a:bodyPr>
          <a:lstStyle/>
          <a:p>
            <a:endParaRPr lang="ja-JP" altLang="en-US"/>
          </a:p>
        </p:txBody>
      </p:sp>
      <p:sp>
        <p:nvSpPr>
          <p:cNvPr id="23568" name="AutoShape 17"/>
          <p:cNvSpPr>
            <a:spLocks noChangeArrowheads="1"/>
          </p:cNvSpPr>
          <p:nvPr/>
        </p:nvSpPr>
        <p:spPr bwMode="auto">
          <a:xfrm>
            <a:off x="7772408" y="3733800"/>
            <a:ext cx="381000" cy="381000"/>
          </a:xfrm>
          <a:prstGeom prst="rightArrow">
            <a:avLst>
              <a:gd name="adj1" fmla="val 50000"/>
              <a:gd name="adj2" fmla="val 25000"/>
            </a:avLst>
          </a:prstGeom>
          <a:solidFill>
            <a:srgbClr val="FF0000"/>
          </a:solidFill>
          <a:ln w="9525">
            <a:noFill/>
            <a:miter lim="800000"/>
            <a:headEnd/>
            <a:tailEnd/>
          </a:ln>
        </p:spPr>
        <p:txBody>
          <a:bodyPr wrap="none" anchor="ctr">
            <a:spAutoFit/>
          </a:bodyPr>
          <a:lstStyle/>
          <a:p>
            <a:endParaRPr lang="ja-JP" altLang="en-US"/>
          </a:p>
        </p:txBody>
      </p:sp>
      <p:sp>
        <p:nvSpPr>
          <p:cNvPr id="23569" name="Line 18"/>
          <p:cNvSpPr>
            <a:spLocks noChangeShapeType="1"/>
          </p:cNvSpPr>
          <p:nvPr/>
        </p:nvSpPr>
        <p:spPr bwMode="auto">
          <a:xfrm flipV="1">
            <a:off x="6705608" y="4191000"/>
            <a:ext cx="0" cy="838200"/>
          </a:xfrm>
          <a:prstGeom prst="line">
            <a:avLst/>
          </a:prstGeom>
          <a:noFill/>
          <a:ln w="9525">
            <a:solidFill>
              <a:schemeClr val="tx1"/>
            </a:solidFill>
            <a:round/>
            <a:headEnd/>
            <a:tailEnd type="triangle" w="med" len="med"/>
          </a:ln>
        </p:spPr>
        <p:txBody>
          <a:bodyPr wrap="none" anchor="ctr">
            <a:spAutoFit/>
          </a:bodyPr>
          <a:lstStyle/>
          <a:p>
            <a:endParaRPr lang="ja-JP" altLang="en-US"/>
          </a:p>
        </p:txBody>
      </p:sp>
      <p:sp>
        <p:nvSpPr>
          <p:cNvPr id="23570" name="Line 19"/>
          <p:cNvSpPr>
            <a:spLocks noChangeShapeType="1"/>
          </p:cNvSpPr>
          <p:nvPr/>
        </p:nvSpPr>
        <p:spPr bwMode="auto">
          <a:xfrm>
            <a:off x="8001008" y="2667000"/>
            <a:ext cx="0" cy="1066800"/>
          </a:xfrm>
          <a:prstGeom prst="line">
            <a:avLst/>
          </a:prstGeom>
          <a:noFill/>
          <a:ln w="9525">
            <a:solidFill>
              <a:schemeClr val="tx1"/>
            </a:solidFill>
            <a:round/>
            <a:headEnd/>
            <a:tailEnd type="triangle" w="med" len="med"/>
          </a:ln>
        </p:spPr>
        <p:txBody>
          <a:bodyPr wrap="none" anchor="ctr">
            <a:spAutoFit/>
          </a:bodyPr>
          <a:lstStyle/>
          <a:p>
            <a:endParaRPr lang="ja-JP" altLang="en-US"/>
          </a:p>
        </p:txBody>
      </p:sp>
      <p:sp>
        <p:nvSpPr>
          <p:cNvPr id="23571" name="Text Box 20"/>
          <p:cNvSpPr txBox="1">
            <a:spLocks noChangeArrowheads="1"/>
          </p:cNvSpPr>
          <p:nvPr/>
        </p:nvSpPr>
        <p:spPr bwMode="auto">
          <a:xfrm>
            <a:off x="6224606" y="5429264"/>
            <a:ext cx="1073150" cy="304800"/>
          </a:xfrm>
          <a:prstGeom prst="rect">
            <a:avLst/>
          </a:prstGeom>
          <a:solidFill>
            <a:srgbClr val="FFFF99"/>
          </a:solidFill>
          <a:ln w="9525">
            <a:noFill/>
            <a:miter lim="800000"/>
            <a:headEnd/>
            <a:tailEnd/>
          </a:ln>
        </p:spPr>
        <p:txBody>
          <a:bodyPr wrap="none">
            <a:spAutoFit/>
          </a:bodyPr>
          <a:lstStyle/>
          <a:p>
            <a:r>
              <a:rPr lang="ja-JP" altLang="en-US" sz="1400" dirty="0"/>
              <a:t>記憶域確保</a:t>
            </a:r>
            <a:endParaRPr lang="en-US" altLang="ja-JP" sz="1400" dirty="0"/>
          </a:p>
        </p:txBody>
      </p:sp>
      <p:sp>
        <p:nvSpPr>
          <p:cNvPr id="23572" name="Text Box 21"/>
          <p:cNvSpPr txBox="1">
            <a:spLocks noChangeArrowheads="1"/>
          </p:cNvSpPr>
          <p:nvPr/>
        </p:nvSpPr>
        <p:spPr bwMode="auto">
          <a:xfrm>
            <a:off x="7467608" y="1905000"/>
            <a:ext cx="1073150" cy="304800"/>
          </a:xfrm>
          <a:prstGeom prst="rect">
            <a:avLst/>
          </a:prstGeom>
          <a:solidFill>
            <a:srgbClr val="FFFF99"/>
          </a:solidFill>
          <a:ln w="9525">
            <a:noFill/>
            <a:miter lim="800000"/>
            <a:headEnd/>
            <a:tailEnd/>
          </a:ln>
        </p:spPr>
        <p:txBody>
          <a:bodyPr wrap="none">
            <a:spAutoFit/>
          </a:bodyPr>
          <a:lstStyle/>
          <a:p>
            <a:r>
              <a:rPr lang="ja-JP" altLang="en-US" sz="1400"/>
              <a:t>記憶域解放</a:t>
            </a:r>
            <a:endParaRPr lang="en-US" altLang="ja-JP" sz="1400"/>
          </a:p>
        </p:txBody>
      </p:sp>
      <p:sp>
        <p:nvSpPr>
          <p:cNvPr id="21" name="正方形/長方形 20"/>
          <p:cNvSpPr/>
          <p:nvPr/>
        </p:nvSpPr>
        <p:spPr>
          <a:xfrm>
            <a:off x="214282" y="1214422"/>
            <a:ext cx="5357850" cy="4708981"/>
          </a:xfrm>
          <a:prstGeom prst="rect">
            <a:avLst/>
          </a:prstGeom>
          <a:ln>
            <a:solidFill>
              <a:schemeClr val="tx1"/>
            </a:solidFill>
          </a:ln>
        </p:spPr>
        <p:txBody>
          <a:bodyPr wrap="square">
            <a:spAutoFit/>
          </a:bodyPr>
          <a:lstStyle/>
          <a:p>
            <a:pPr>
              <a:defRPr/>
            </a:pPr>
            <a:r>
              <a:rPr lang="en-US" altLang="ja-JP" sz="2000" dirty="0" smtClean="0"/>
              <a:t>#include &lt;</a:t>
            </a:r>
            <a:r>
              <a:rPr lang="en-US" altLang="ja-JP" sz="2000" dirty="0" err="1" smtClean="0"/>
              <a:t>stdio.h</a:t>
            </a:r>
            <a:r>
              <a:rPr lang="en-US" altLang="ja-JP" sz="2000" dirty="0" smtClean="0"/>
              <a:t>&gt;</a:t>
            </a:r>
          </a:p>
          <a:p>
            <a:pPr>
              <a:defRPr/>
            </a:pPr>
            <a:r>
              <a:rPr lang="en-US" altLang="ja-JP" sz="2000" dirty="0" smtClean="0"/>
              <a:t>#include &lt;</a:t>
            </a:r>
            <a:r>
              <a:rPr lang="en-US" altLang="ja-JP" sz="2000" dirty="0" err="1" smtClean="0"/>
              <a:t>stdlib.h</a:t>
            </a:r>
            <a:r>
              <a:rPr lang="en-US" altLang="ja-JP" sz="2000" dirty="0" smtClean="0"/>
              <a:t>&gt;</a:t>
            </a:r>
          </a:p>
          <a:p>
            <a:pPr>
              <a:defRPr/>
            </a:pPr>
            <a:r>
              <a:rPr lang="en-US" altLang="ja-JP" sz="2000" dirty="0" err="1" smtClean="0"/>
              <a:t>int</a:t>
            </a:r>
            <a:r>
              <a:rPr lang="en-US" altLang="ja-JP" sz="2000" dirty="0" smtClean="0"/>
              <a:t> main(void)</a:t>
            </a:r>
          </a:p>
          <a:p>
            <a:pPr>
              <a:defRPr/>
            </a:pPr>
            <a:r>
              <a:rPr lang="en-US" altLang="ja-JP" sz="2000" dirty="0" smtClean="0"/>
              <a:t>{</a:t>
            </a:r>
          </a:p>
          <a:p>
            <a:pPr>
              <a:defRPr/>
            </a:pPr>
            <a:r>
              <a:rPr lang="en-US" altLang="ja-JP" sz="2000" dirty="0" smtClean="0"/>
              <a:t>  </a:t>
            </a:r>
            <a:r>
              <a:rPr lang="en-US" altLang="ja-JP" sz="2000" dirty="0" err="1" smtClean="0"/>
              <a:t>int</a:t>
            </a:r>
            <a:r>
              <a:rPr lang="en-US" altLang="ja-JP" sz="2000" dirty="0" smtClean="0"/>
              <a:t> *p;</a:t>
            </a:r>
          </a:p>
          <a:p>
            <a:pPr>
              <a:defRPr/>
            </a:pPr>
            <a:r>
              <a:rPr lang="en-US" altLang="ja-JP" sz="2000" dirty="0" smtClean="0"/>
              <a:t>  p = (</a:t>
            </a:r>
            <a:r>
              <a:rPr lang="en-US" altLang="ja-JP" sz="2000" dirty="0" err="1" smtClean="0"/>
              <a:t>int</a:t>
            </a:r>
            <a:r>
              <a:rPr lang="en-US" altLang="ja-JP" sz="2000" dirty="0" smtClean="0"/>
              <a:t> *)</a:t>
            </a:r>
            <a:r>
              <a:rPr lang="en-US" altLang="ja-JP" sz="2000" dirty="0" err="1" smtClean="0"/>
              <a:t>calloc</a:t>
            </a:r>
            <a:r>
              <a:rPr lang="en-US" altLang="ja-JP" sz="2000" dirty="0" smtClean="0"/>
              <a:t>( 1, </a:t>
            </a:r>
            <a:r>
              <a:rPr lang="en-US" altLang="ja-JP" sz="2000" dirty="0" err="1" smtClean="0"/>
              <a:t>sizeof</a:t>
            </a:r>
            <a:r>
              <a:rPr lang="en-US" altLang="ja-JP" sz="2000" dirty="0" smtClean="0"/>
              <a:t>(</a:t>
            </a:r>
            <a:r>
              <a:rPr lang="en-US" altLang="ja-JP" sz="2000" dirty="0" err="1" smtClean="0"/>
              <a:t>int</a:t>
            </a:r>
            <a:r>
              <a:rPr lang="en-US" altLang="ja-JP" sz="2000" dirty="0" smtClean="0"/>
              <a:t>) );</a:t>
            </a:r>
          </a:p>
          <a:p>
            <a:pPr>
              <a:defRPr/>
            </a:pPr>
            <a:r>
              <a:rPr lang="en-US" altLang="ja-JP" sz="2000" dirty="0" smtClean="0"/>
              <a:t>  if (p == NULL)</a:t>
            </a:r>
          </a:p>
          <a:p>
            <a:pPr>
              <a:defRPr/>
            </a:pPr>
            <a:r>
              <a:rPr lang="en-US" altLang="ja-JP" sz="2000" dirty="0" smtClean="0"/>
              <a:t>    </a:t>
            </a:r>
            <a:r>
              <a:rPr lang="en-US" altLang="ja-JP" sz="2000" dirty="0" err="1" smtClean="0"/>
              <a:t>printf</a:t>
            </a:r>
            <a:r>
              <a:rPr lang="en-US" altLang="ja-JP" sz="2000" dirty="0" smtClean="0"/>
              <a:t> ("</a:t>
            </a:r>
            <a:r>
              <a:rPr lang="ja-JP" altLang="en-US" sz="2000" dirty="0" smtClean="0"/>
              <a:t>記憶域の確保に失敗しました。</a:t>
            </a:r>
            <a:r>
              <a:rPr lang="en-US" altLang="ja-JP" sz="2000" dirty="0" smtClean="0"/>
              <a:t>\n");</a:t>
            </a:r>
          </a:p>
          <a:p>
            <a:pPr>
              <a:defRPr/>
            </a:pPr>
            <a:r>
              <a:rPr lang="en-US" altLang="ja-JP" sz="2000" dirty="0" smtClean="0"/>
              <a:t>  else {</a:t>
            </a:r>
          </a:p>
          <a:p>
            <a:pPr>
              <a:defRPr/>
            </a:pPr>
            <a:r>
              <a:rPr lang="en-US" altLang="ja-JP" sz="2000" dirty="0" smtClean="0"/>
              <a:t>    *p = 15;</a:t>
            </a:r>
          </a:p>
          <a:p>
            <a:pPr>
              <a:defRPr/>
            </a:pPr>
            <a:r>
              <a:rPr lang="en-US" altLang="ja-JP" sz="2000" dirty="0" smtClean="0"/>
              <a:t>    </a:t>
            </a:r>
            <a:r>
              <a:rPr lang="en-US" altLang="ja-JP" sz="2000" dirty="0" err="1" smtClean="0"/>
              <a:t>printf</a:t>
            </a:r>
            <a:r>
              <a:rPr lang="en-US" altLang="ja-JP" sz="2000" dirty="0" smtClean="0"/>
              <a:t>("*p = %d\n", *p );</a:t>
            </a:r>
          </a:p>
          <a:p>
            <a:pPr>
              <a:defRPr/>
            </a:pPr>
            <a:r>
              <a:rPr lang="en-US" altLang="ja-JP" sz="2000" dirty="0" smtClean="0"/>
              <a:t>    </a:t>
            </a:r>
            <a:r>
              <a:rPr lang="en-US" altLang="ja-JP" sz="2000" dirty="0" smtClean="0">
                <a:solidFill>
                  <a:srgbClr val="FF0000"/>
                </a:solidFill>
              </a:rPr>
              <a:t>free(p)</a:t>
            </a:r>
            <a:r>
              <a:rPr lang="en-US" altLang="ja-JP" sz="2000" dirty="0" smtClean="0"/>
              <a:t>;</a:t>
            </a:r>
          </a:p>
          <a:p>
            <a:pPr>
              <a:defRPr/>
            </a:pPr>
            <a:r>
              <a:rPr lang="en-US" altLang="ja-JP" sz="2000" dirty="0" smtClean="0"/>
              <a:t>  }</a:t>
            </a:r>
          </a:p>
          <a:p>
            <a:pPr>
              <a:defRPr/>
            </a:pPr>
            <a:r>
              <a:rPr lang="en-US" altLang="ja-JP" sz="2000" dirty="0" smtClean="0"/>
              <a:t>  return 0;</a:t>
            </a:r>
          </a:p>
          <a:p>
            <a:pPr>
              <a:defRPr/>
            </a:pPr>
            <a:r>
              <a:rPr lang="en-US" altLang="ja-JP" sz="2000" dirty="0" smtClean="0"/>
              <a:t>}</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a:xfrm>
            <a:off x="442914" y="242870"/>
            <a:ext cx="8129614" cy="685800"/>
          </a:xfrm>
        </p:spPr>
        <p:txBody>
          <a:bodyPr>
            <a:normAutofit fontScale="90000"/>
          </a:bodyPr>
          <a:lstStyle/>
          <a:p>
            <a:pPr eaLnBrk="1" hangingPunct="1">
              <a:defRPr/>
            </a:pPr>
            <a:r>
              <a:rPr lang="ja-JP" altLang="en-US" sz="3000" dirty="0" smtClean="0"/>
              <a:t>確保した領域</a:t>
            </a:r>
            <a:r>
              <a:rPr lang="ja-JP" altLang="en-US" sz="3000" dirty="0" smtClean="0"/>
              <a:t>へ値</a:t>
            </a:r>
            <a:r>
              <a:rPr lang="ja-JP" altLang="en-US" sz="3000" dirty="0" smtClean="0"/>
              <a:t>を</a:t>
            </a:r>
            <a:r>
              <a:rPr lang="ja-JP" altLang="en-US" sz="3000" dirty="0" smtClean="0"/>
              <a:t>書き込む</a:t>
            </a:r>
            <a:r>
              <a:rPr lang="ja-JP" altLang="en-US" sz="3000" dirty="0" smtClean="0"/>
              <a:t>例（打ち込んで確認）</a:t>
            </a:r>
          </a:p>
        </p:txBody>
      </p:sp>
      <p:sp>
        <p:nvSpPr>
          <p:cNvPr id="7" name="正方形/長方形 6"/>
          <p:cNvSpPr/>
          <p:nvPr/>
        </p:nvSpPr>
        <p:spPr>
          <a:xfrm>
            <a:off x="1500166" y="1285860"/>
            <a:ext cx="5357850" cy="4708981"/>
          </a:xfrm>
          <a:prstGeom prst="rect">
            <a:avLst/>
          </a:prstGeom>
          <a:ln>
            <a:solidFill>
              <a:schemeClr val="tx1"/>
            </a:solidFill>
          </a:ln>
        </p:spPr>
        <p:txBody>
          <a:bodyPr wrap="square">
            <a:spAutoFit/>
          </a:bodyPr>
          <a:lstStyle/>
          <a:p>
            <a:pPr>
              <a:defRPr/>
            </a:pPr>
            <a:r>
              <a:rPr lang="en-US" altLang="ja-JP" sz="2000" dirty="0" smtClean="0"/>
              <a:t>#include &lt;</a:t>
            </a:r>
            <a:r>
              <a:rPr lang="en-US" altLang="ja-JP" sz="2000" dirty="0" err="1" smtClean="0"/>
              <a:t>stdio.h</a:t>
            </a:r>
            <a:r>
              <a:rPr lang="en-US" altLang="ja-JP" sz="2000" dirty="0" smtClean="0"/>
              <a:t>&gt;</a:t>
            </a:r>
          </a:p>
          <a:p>
            <a:pPr>
              <a:defRPr/>
            </a:pPr>
            <a:r>
              <a:rPr lang="en-US" altLang="ja-JP" sz="2000" dirty="0" smtClean="0"/>
              <a:t>#include &lt;</a:t>
            </a:r>
            <a:r>
              <a:rPr lang="en-US" altLang="ja-JP" sz="2000" dirty="0" err="1" smtClean="0"/>
              <a:t>stdlib.h</a:t>
            </a:r>
            <a:r>
              <a:rPr lang="en-US" altLang="ja-JP" sz="2000" dirty="0" smtClean="0"/>
              <a:t>&gt;</a:t>
            </a:r>
          </a:p>
          <a:p>
            <a:pPr>
              <a:defRPr/>
            </a:pPr>
            <a:r>
              <a:rPr lang="en-US" altLang="ja-JP" sz="2000" dirty="0" err="1" smtClean="0"/>
              <a:t>int</a:t>
            </a:r>
            <a:r>
              <a:rPr lang="en-US" altLang="ja-JP" sz="2000" dirty="0" smtClean="0"/>
              <a:t> main(void)</a:t>
            </a:r>
          </a:p>
          <a:p>
            <a:pPr>
              <a:defRPr/>
            </a:pPr>
            <a:r>
              <a:rPr lang="en-US" altLang="ja-JP" sz="2000" dirty="0" smtClean="0"/>
              <a:t>{</a:t>
            </a:r>
          </a:p>
          <a:p>
            <a:pPr>
              <a:defRPr/>
            </a:pPr>
            <a:r>
              <a:rPr lang="en-US" altLang="ja-JP" sz="2000" dirty="0" smtClean="0"/>
              <a:t>  </a:t>
            </a:r>
            <a:r>
              <a:rPr lang="en-US" altLang="ja-JP" sz="2000" dirty="0" err="1" smtClean="0"/>
              <a:t>int</a:t>
            </a:r>
            <a:r>
              <a:rPr lang="en-US" altLang="ja-JP" sz="2000" dirty="0" smtClean="0"/>
              <a:t> * p;</a:t>
            </a:r>
          </a:p>
          <a:p>
            <a:pPr>
              <a:defRPr/>
            </a:pPr>
            <a:r>
              <a:rPr lang="en-US" altLang="ja-JP" sz="2000" dirty="0" smtClean="0"/>
              <a:t>  p = (</a:t>
            </a:r>
            <a:r>
              <a:rPr lang="en-US" altLang="ja-JP" sz="2000" dirty="0" err="1" smtClean="0"/>
              <a:t>int</a:t>
            </a:r>
            <a:r>
              <a:rPr lang="en-US" altLang="ja-JP" sz="2000" dirty="0" smtClean="0"/>
              <a:t> *) </a:t>
            </a:r>
            <a:r>
              <a:rPr lang="en-US" altLang="ja-JP" sz="2000" dirty="0" err="1" smtClean="0"/>
              <a:t>calloc</a:t>
            </a:r>
            <a:r>
              <a:rPr lang="en-US" altLang="ja-JP" sz="2000" dirty="0" smtClean="0"/>
              <a:t> (1, </a:t>
            </a:r>
            <a:r>
              <a:rPr lang="en-US" altLang="ja-JP" sz="2000" dirty="0" err="1" smtClean="0"/>
              <a:t>sizeof</a:t>
            </a:r>
            <a:r>
              <a:rPr lang="en-US" altLang="ja-JP" sz="2000" dirty="0" smtClean="0"/>
              <a:t>(</a:t>
            </a:r>
            <a:r>
              <a:rPr lang="en-US" altLang="ja-JP" sz="2000" dirty="0" err="1" smtClean="0"/>
              <a:t>int</a:t>
            </a:r>
            <a:r>
              <a:rPr lang="en-US" altLang="ja-JP" sz="2000" dirty="0" smtClean="0"/>
              <a:t>));</a:t>
            </a:r>
          </a:p>
          <a:p>
            <a:pPr>
              <a:defRPr/>
            </a:pPr>
            <a:r>
              <a:rPr lang="en-US" altLang="ja-JP" sz="2000" dirty="0" smtClean="0"/>
              <a:t>  if(p == NULL)</a:t>
            </a:r>
          </a:p>
          <a:p>
            <a:pPr>
              <a:defRPr/>
            </a:pPr>
            <a:r>
              <a:rPr lang="en-US" altLang="ja-JP" sz="2000" dirty="0" smtClean="0"/>
              <a:t>    </a:t>
            </a:r>
            <a:r>
              <a:rPr lang="en-US" altLang="ja-JP" sz="2000" dirty="0" err="1" smtClean="0"/>
              <a:t>printf</a:t>
            </a:r>
            <a:r>
              <a:rPr lang="en-US" altLang="ja-JP" sz="2000" dirty="0" smtClean="0"/>
              <a:t> ("</a:t>
            </a:r>
            <a:r>
              <a:rPr lang="ja-JP" altLang="en-US" sz="2000" dirty="0" smtClean="0"/>
              <a:t>記憶域の確保に失敗しました。</a:t>
            </a:r>
            <a:r>
              <a:rPr lang="en-US" altLang="ja-JP" sz="2000" dirty="0" smtClean="0"/>
              <a:t>\n");</a:t>
            </a:r>
          </a:p>
          <a:p>
            <a:pPr>
              <a:defRPr/>
            </a:pPr>
            <a:r>
              <a:rPr lang="en-US" altLang="ja-JP" sz="2000" dirty="0" smtClean="0"/>
              <a:t>  else {</a:t>
            </a:r>
          </a:p>
          <a:p>
            <a:pPr>
              <a:defRPr/>
            </a:pPr>
            <a:r>
              <a:rPr lang="en-US" altLang="ja-JP" sz="2000" dirty="0" smtClean="0"/>
              <a:t>    </a:t>
            </a:r>
            <a:r>
              <a:rPr lang="en-US" altLang="ja-JP" sz="2000" dirty="0" err="1" smtClean="0"/>
              <a:t>printf</a:t>
            </a:r>
            <a:r>
              <a:rPr lang="en-US" altLang="ja-JP" sz="2000" dirty="0" smtClean="0"/>
              <a:t> ("</a:t>
            </a:r>
            <a:r>
              <a:rPr lang="ja-JP" altLang="en-US" sz="2000" dirty="0" smtClean="0"/>
              <a:t>整数を入力して下さい：</a:t>
            </a:r>
            <a:r>
              <a:rPr lang="en-US" altLang="ja-JP" sz="2000" dirty="0" smtClean="0"/>
              <a:t>");</a:t>
            </a:r>
          </a:p>
          <a:p>
            <a:pPr>
              <a:defRPr/>
            </a:pPr>
            <a:r>
              <a:rPr lang="en-US" altLang="ja-JP" sz="2000" dirty="0" smtClean="0"/>
              <a:t>    </a:t>
            </a:r>
            <a:r>
              <a:rPr lang="en-US" altLang="ja-JP" sz="2000" dirty="0" err="1" smtClean="0"/>
              <a:t>scanf</a:t>
            </a:r>
            <a:r>
              <a:rPr lang="en-US" altLang="ja-JP" sz="2000" dirty="0" smtClean="0"/>
              <a:t> ("%d", p);</a:t>
            </a:r>
          </a:p>
          <a:p>
            <a:pPr>
              <a:defRPr/>
            </a:pPr>
            <a:r>
              <a:rPr lang="en-US" altLang="ja-JP" sz="2000" dirty="0" smtClean="0"/>
              <a:t>    </a:t>
            </a:r>
            <a:r>
              <a:rPr lang="en-US" altLang="ja-JP" sz="2000" dirty="0" err="1" smtClean="0"/>
              <a:t>printf</a:t>
            </a:r>
            <a:r>
              <a:rPr lang="en-US" altLang="ja-JP" sz="2000" dirty="0" smtClean="0"/>
              <a:t> ("*p = %d\n", *p);</a:t>
            </a:r>
          </a:p>
          <a:p>
            <a:pPr>
              <a:defRPr/>
            </a:pPr>
            <a:r>
              <a:rPr lang="en-US" altLang="ja-JP" sz="2000" dirty="0" smtClean="0"/>
              <a:t>  }</a:t>
            </a:r>
          </a:p>
          <a:p>
            <a:pPr>
              <a:defRPr/>
            </a:pPr>
            <a:r>
              <a:rPr lang="en-US" altLang="ja-JP" sz="2000" dirty="0" smtClean="0"/>
              <a:t>  return 0;</a:t>
            </a:r>
          </a:p>
          <a:p>
            <a:pPr>
              <a:defRPr/>
            </a:pPr>
            <a:r>
              <a:rPr lang="en-US" altLang="ja-JP" sz="2000" dirty="0" smtClean="0"/>
              <a:t>}</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a:xfrm>
            <a:off x="714348" y="214290"/>
            <a:ext cx="7620000" cy="685800"/>
          </a:xfrm>
        </p:spPr>
        <p:txBody>
          <a:bodyPr/>
          <a:lstStyle/>
          <a:p>
            <a:pPr eaLnBrk="1" hangingPunct="1">
              <a:defRPr/>
            </a:pPr>
            <a:r>
              <a:rPr lang="ja-JP" altLang="en-US" sz="3400" dirty="0" smtClean="0"/>
              <a:t>１次元配列の動的確保</a:t>
            </a:r>
          </a:p>
        </p:txBody>
      </p:sp>
      <p:sp>
        <p:nvSpPr>
          <p:cNvPr id="25605" name="Rectangle 3"/>
          <p:cNvSpPr>
            <a:spLocks noGrp="1" noChangeArrowheads="1"/>
          </p:cNvSpPr>
          <p:nvPr>
            <p:ph type="body" idx="1"/>
          </p:nvPr>
        </p:nvSpPr>
        <p:spPr>
          <a:xfrm>
            <a:off x="457200" y="1600201"/>
            <a:ext cx="8229600" cy="971544"/>
          </a:xfrm>
        </p:spPr>
        <p:txBody>
          <a:bodyPr>
            <a:normAutofit fontScale="92500" lnSpcReduction="10000"/>
          </a:bodyPr>
          <a:lstStyle/>
          <a:p>
            <a:pPr eaLnBrk="1" hangingPunct="1"/>
            <a:r>
              <a:rPr lang="ja-JP" altLang="en-US" dirty="0" smtClean="0"/>
              <a:t>配列宣言の例</a:t>
            </a:r>
            <a:endParaRPr lang="en-US" altLang="ja-JP" dirty="0" smtClean="0"/>
          </a:p>
          <a:p>
            <a:pPr lvl="1" eaLnBrk="1" hangingPunct="1">
              <a:buFont typeface="Wingdings" pitchFamily="-64" charset="2"/>
              <a:buNone/>
            </a:pPr>
            <a:r>
              <a:rPr lang="en-US" altLang="ja-JP" dirty="0" err="1" smtClean="0"/>
              <a:t>int</a:t>
            </a:r>
            <a:r>
              <a:rPr lang="en-US" altLang="ja-JP" dirty="0" smtClean="0"/>
              <a:t>  x[10];</a:t>
            </a:r>
          </a:p>
        </p:txBody>
      </p:sp>
      <p:sp>
        <p:nvSpPr>
          <p:cNvPr id="25608" name="Text Box 6"/>
          <p:cNvSpPr txBox="1">
            <a:spLocks noChangeArrowheads="1"/>
          </p:cNvSpPr>
          <p:nvPr/>
        </p:nvSpPr>
        <p:spPr bwMode="auto">
          <a:xfrm>
            <a:off x="3714744" y="1428736"/>
            <a:ext cx="5000660" cy="1323439"/>
          </a:xfrm>
          <a:prstGeom prst="rect">
            <a:avLst/>
          </a:prstGeom>
          <a:noFill/>
          <a:ln w="9525">
            <a:noFill/>
            <a:miter lim="800000"/>
            <a:headEnd/>
            <a:tailEnd/>
          </a:ln>
        </p:spPr>
        <p:txBody>
          <a:bodyPr wrap="square">
            <a:spAutoFit/>
          </a:bodyPr>
          <a:lstStyle/>
          <a:p>
            <a:r>
              <a:rPr lang="ja-JP" altLang="en-US" sz="2000" b="0" dirty="0"/>
              <a:t>配列の要素数は定数式でなければ</a:t>
            </a:r>
            <a:r>
              <a:rPr lang="ja-JP" altLang="en-US" sz="2000" b="0" dirty="0" smtClean="0"/>
              <a:t>ならない。</a:t>
            </a:r>
            <a:endParaRPr lang="en-US" altLang="ja-JP" sz="2000" b="0" dirty="0"/>
          </a:p>
          <a:p>
            <a:r>
              <a:rPr lang="ja-JP" altLang="en-US" sz="2000" b="0" dirty="0" smtClean="0"/>
              <a:t>要素数</a:t>
            </a:r>
            <a:r>
              <a:rPr lang="ja-JP" altLang="en-US" sz="2000" b="0" dirty="0"/>
              <a:t>を変数とすること</a:t>
            </a:r>
            <a:r>
              <a:rPr lang="ja-JP" altLang="en-US" sz="2000" b="0" dirty="0" smtClean="0"/>
              <a:t>は</a:t>
            </a:r>
            <a:r>
              <a:rPr lang="en-US" altLang="ja-JP" sz="2000" b="0" dirty="0" smtClean="0"/>
              <a:t>1990</a:t>
            </a:r>
            <a:r>
              <a:rPr lang="ja-JP" altLang="en-US" sz="2000" b="0" dirty="0" smtClean="0"/>
              <a:t>年の</a:t>
            </a:r>
            <a:r>
              <a:rPr lang="en-US" altLang="ja-JP" sz="2000" b="0" dirty="0" smtClean="0"/>
              <a:t>ISO</a:t>
            </a:r>
            <a:r>
              <a:rPr lang="ja-JP" altLang="en-US" sz="2000" b="0" dirty="0" smtClean="0"/>
              <a:t>規格では許されていない。</a:t>
            </a:r>
            <a:endParaRPr lang="en-US" altLang="ja-JP" sz="2000" b="0" dirty="0" smtClean="0"/>
          </a:p>
          <a:p>
            <a:r>
              <a:rPr lang="ja-JP" altLang="en-US" sz="2000" dirty="0" smtClean="0"/>
              <a:t>（注）</a:t>
            </a:r>
            <a:r>
              <a:rPr lang="en-US" altLang="ja-JP" sz="2000" dirty="0" smtClean="0"/>
              <a:t>1999</a:t>
            </a:r>
            <a:r>
              <a:rPr lang="ja-JP" altLang="en-US" sz="2000" dirty="0" smtClean="0"/>
              <a:t>年の</a:t>
            </a:r>
            <a:r>
              <a:rPr lang="en-US" altLang="ja-JP" sz="2000" dirty="0" smtClean="0"/>
              <a:t>ISO</a:t>
            </a:r>
            <a:r>
              <a:rPr lang="ja-JP" altLang="en-US" sz="2000" dirty="0" smtClean="0"/>
              <a:t>規格</a:t>
            </a:r>
            <a:r>
              <a:rPr lang="en-US" altLang="ja-JP" sz="2000" dirty="0" smtClean="0"/>
              <a:t>(C99)</a:t>
            </a:r>
            <a:r>
              <a:rPr lang="ja-JP" altLang="en-US" sz="2000" dirty="0" smtClean="0"/>
              <a:t>では許されている。</a:t>
            </a:r>
            <a:endParaRPr lang="en-US" altLang="ja-JP" sz="2000" b="0" dirty="0"/>
          </a:p>
        </p:txBody>
      </p:sp>
      <p:sp>
        <p:nvSpPr>
          <p:cNvPr id="25612" name="AutoShape 10"/>
          <p:cNvSpPr>
            <a:spLocks noChangeArrowheads="1"/>
          </p:cNvSpPr>
          <p:nvPr/>
        </p:nvSpPr>
        <p:spPr bwMode="auto">
          <a:xfrm>
            <a:off x="3643306" y="3143248"/>
            <a:ext cx="838200" cy="609600"/>
          </a:xfrm>
          <a:prstGeom prst="downArrow">
            <a:avLst>
              <a:gd name="adj1" fmla="val 50000"/>
              <a:gd name="adj2" fmla="val 25000"/>
            </a:avLst>
          </a:prstGeom>
          <a:solidFill>
            <a:srgbClr val="FF0000"/>
          </a:solidFill>
          <a:ln w="9525">
            <a:noFill/>
            <a:miter lim="800000"/>
            <a:headEnd/>
            <a:tailEnd/>
          </a:ln>
        </p:spPr>
        <p:txBody>
          <a:bodyPr wrap="none" anchor="ctr">
            <a:spAutoFit/>
          </a:bodyPr>
          <a:lstStyle/>
          <a:p>
            <a:endParaRPr lang="ja-JP" altLang="en-US"/>
          </a:p>
        </p:txBody>
      </p:sp>
      <p:sp>
        <p:nvSpPr>
          <p:cNvPr id="13" name="正方形/長方形 12"/>
          <p:cNvSpPr/>
          <p:nvPr/>
        </p:nvSpPr>
        <p:spPr>
          <a:xfrm>
            <a:off x="928662" y="4214818"/>
            <a:ext cx="7143800" cy="954107"/>
          </a:xfrm>
          <a:prstGeom prst="rect">
            <a:avLst/>
          </a:prstGeom>
        </p:spPr>
        <p:txBody>
          <a:bodyPr wrap="square">
            <a:spAutoFit/>
          </a:bodyPr>
          <a:lstStyle/>
          <a:p>
            <a:r>
              <a:rPr lang="ja-JP" altLang="en-US" sz="2800" dirty="0" smtClean="0"/>
              <a:t>実行時に領域を確保することにより、適切な長さの配列を用いることができる。</a:t>
            </a:r>
            <a:endParaRPr lang="en-US" altLang="ja-JP" sz="2800"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title"/>
          </p:nvPr>
        </p:nvSpPr>
        <p:spPr>
          <a:xfrm>
            <a:off x="523900" y="28556"/>
            <a:ext cx="7620000" cy="685800"/>
          </a:xfrm>
        </p:spPr>
        <p:txBody>
          <a:bodyPr>
            <a:normAutofit/>
          </a:bodyPr>
          <a:lstStyle/>
          <a:p>
            <a:pPr eaLnBrk="1" hangingPunct="1">
              <a:defRPr/>
            </a:pPr>
            <a:r>
              <a:rPr lang="ja-JP" altLang="en-US" sz="3000" dirty="0" smtClean="0"/>
              <a:t>例（打ち込んで確認）</a:t>
            </a:r>
          </a:p>
        </p:txBody>
      </p:sp>
      <p:sp>
        <p:nvSpPr>
          <p:cNvPr id="26631" name="AutoShape 5"/>
          <p:cNvSpPr>
            <a:spLocks noChangeArrowheads="1"/>
          </p:cNvSpPr>
          <p:nvPr/>
        </p:nvSpPr>
        <p:spPr bwMode="auto">
          <a:xfrm>
            <a:off x="7489855" y="5108581"/>
            <a:ext cx="1398616" cy="606435"/>
          </a:xfrm>
          <a:prstGeom prst="cube">
            <a:avLst>
              <a:gd name="adj" fmla="val 15440"/>
            </a:avLst>
          </a:prstGeom>
          <a:solidFill>
            <a:srgbClr val="FFCCFF"/>
          </a:solidFill>
          <a:ln w="9525">
            <a:solidFill>
              <a:schemeClr val="tx1"/>
            </a:solidFill>
            <a:miter lim="800000"/>
            <a:headEnd/>
            <a:tailEnd/>
          </a:ln>
        </p:spPr>
        <p:txBody>
          <a:bodyPr wrap="none" anchor="ctr"/>
          <a:lstStyle/>
          <a:p>
            <a:pPr algn="ctr"/>
            <a:r>
              <a:rPr lang="en-US" altLang="ja-JP" sz="2000"/>
              <a:t>p</a:t>
            </a:r>
          </a:p>
        </p:txBody>
      </p:sp>
      <p:sp>
        <p:nvSpPr>
          <p:cNvPr id="26632" name="AutoShape 6"/>
          <p:cNvSpPr>
            <a:spLocks noChangeArrowheads="1"/>
          </p:cNvSpPr>
          <p:nvPr/>
        </p:nvSpPr>
        <p:spPr bwMode="auto">
          <a:xfrm>
            <a:off x="7489855" y="4821244"/>
            <a:ext cx="1439863" cy="504825"/>
          </a:xfrm>
          <a:prstGeom prst="cube">
            <a:avLst>
              <a:gd name="adj" fmla="val 25000"/>
            </a:avLst>
          </a:prstGeom>
          <a:solidFill>
            <a:schemeClr val="bg1"/>
          </a:solidFill>
          <a:ln w="9525">
            <a:solidFill>
              <a:schemeClr val="tx1"/>
            </a:solidFill>
            <a:miter lim="800000"/>
            <a:headEnd/>
            <a:tailEnd/>
          </a:ln>
        </p:spPr>
        <p:txBody>
          <a:bodyPr wrap="none" anchor="ctr"/>
          <a:lstStyle/>
          <a:p>
            <a:endParaRPr lang="ja-JP" altLang="en-US"/>
          </a:p>
        </p:txBody>
      </p:sp>
      <p:grpSp>
        <p:nvGrpSpPr>
          <p:cNvPr id="2" name="Group 7"/>
          <p:cNvGrpSpPr>
            <a:grpSpLocks/>
          </p:cNvGrpSpPr>
          <p:nvPr/>
        </p:nvGrpSpPr>
        <p:grpSpPr bwMode="auto">
          <a:xfrm>
            <a:off x="7489855" y="4459294"/>
            <a:ext cx="1439863" cy="504825"/>
            <a:chOff x="2789" y="2614"/>
            <a:chExt cx="907" cy="318"/>
          </a:xfrm>
        </p:grpSpPr>
        <p:sp>
          <p:nvSpPr>
            <p:cNvPr id="26654" name="AutoShape 8"/>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55" name="Text Box 9"/>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p[4]</a:t>
              </a:r>
            </a:p>
          </p:txBody>
        </p:sp>
      </p:grpSp>
      <p:grpSp>
        <p:nvGrpSpPr>
          <p:cNvPr id="3" name="Group 10"/>
          <p:cNvGrpSpPr>
            <a:grpSpLocks/>
          </p:cNvGrpSpPr>
          <p:nvPr/>
        </p:nvGrpSpPr>
        <p:grpSpPr bwMode="auto">
          <a:xfrm>
            <a:off x="7489855" y="4081469"/>
            <a:ext cx="1439863" cy="504825"/>
            <a:chOff x="2789" y="2614"/>
            <a:chExt cx="907" cy="318"/>
          </a:xfrm>
        </p:grpSpPr>
        <p:sp>
          <p:nvSpPr>
            <p:cNvPr id="26652" name="AutoShape 11"/>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53" name="Text Box 12"/>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p[3]</a:t>
              </a:r>
            </a:p>
          </p:txBody>
        </p:sp>
      </p:grpSp>
      <p:grpSp>
        <p:nvGrpSpPr>
          <p:cNvPr id="4" name="Group 13"/>
          <p:cNvGrpSpPr>
            <a:grpSpLocks/>
          </p:cNvGrpSpPr>
          <p:nvPr/>
        </p:nvGrpSpPr>
        <p:grpSpPr bwMode="auto">
          <a:xfrm>
            <a:off x="7489855" y="3697294"/>
            <a:ext cx="1439863" cy="504825"/>
            <a:chOff x="2789" y="2614"/>
            <a:chExt cx="907" cy="318"/>
          </a:xfrm>
        </p:grpSpPr>
        <p:sp>
          <p:nvSpPr>
            <p:cNvPr id="26650" name="AutoShape 14"/>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51" name="Text Box 15"/>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p[2]</a:t>
              </a:r>
            </a:p>
          </p:txBody>
        </p:sp>
      </p:grpSp>
      <p:grpSp>
        <p:nvGrpSpPr>
          <p:cNvPr id="5" name="Group 16"/>
          <p:cNvGrpSpPr>
            <a:grpSpLocks/>
          </p:cNvGrpSpPr>
          <p:nvPr/>
        </p:nvGrpSpPr>
        <p:grpSpPr bwMode="auto">
          <a:xfrm>
            <a:off x="7489855" y="3332169"/>
            <a:ext cx="1439863" cy="504825"/>
            <a:chOff x="2789" y="2614"/>
            <a:chExt cx="907" cy="318"/>
          </a:xfrm>
        </p:grpSpPr>
        <p:sp>
          <p:nvSpPr>
            <p:cNvPr id="26648" name="AutoShape 17"/>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49" name="Text Box 18"/>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p[1]</a:t>
              </a:r>
            </a:p>
          </p:txBody>
        </p:sp>
      </p:grpSp>
      <p:grpSp>
        <p:nvGrpSpPr>
          <p:cNvPr id="6" name="Group 19"/>
          <p:cNvGrpSpPr>
            <a:grpSpLocks/>
          </p:cNvGrpSpPr>
          <p:nvPr/>
        </p:nvGrpSpPr>
        <p:grpSpPr bwMode="auto">
          <a:xfrm>
            <a:off x="7489855" y="2947994"/>
            <a:ext cx="1439863" cy="504825"/>
            <a:chOff x="2789" y="2614"/>
            <a:chExt cx="907" cy="318"/>
          </a:xfrm>
        </p:grpSpPr>
        <p:sp>
          <p:nvSpPr>
            <p:cNvPr id="26646" name="AutoShape 20"/>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47" name="Text Box 21"/>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p[0]</a:t>
              </a:r>
            </a:p>
          </p:txBody>
        </p:sp>
      </p:grpSp>
      <p:sp>
        <p:nvSpPr>
          <p:cNvPr id="26638" name="AutoShape 22"/>
          <p:cNvSpPr>
            <a:spLocks noChangeArrowheads="1"/>
          </p:cNvSpPr>
          <p:nvPr/>
        </p:nvSpPr>
        <p:spPr bwMode="auto">
          <a:xfrm>
            <a:off x="7489855" y="2589219"/>
            <a:ext cx="1439863" cy="504825"/>
          </a:xfrm>
          <a:prstGeom prst="cube">
            <a:avLst>
              <a:gd name="adj" fmla="val 25000"/>
            </a:avLst>
          </a:prstGeom>
          <a:solidFill>
            <a:schemeClr val="bg1"/>
          </a:solidFill>
          <a:ln w="9525">
            <a:solidFill>
              <a:schemeClr val="tx1"/>
            </a:solidFill>
            <a:miter lim="800000"/>
            <a:headEnd/>
            <a:tailEnd/>
          </a:ln>
        </p:spPr>
        <p:txBody>
          <a:bodyPr wrap="none" anchor="ctr"/>
          <a:lstStyle/>
          <a:p>
            <a:endParaRPr lang="ja-JP" altLang="en-US"/>
          </a:p>
        </p:txBody>
      </p:sp>
      <p:sp>
        <p:nvSpPr>
          <p:cNvPr id="26639" name="AutoShape 23"/>
          <p:cNvSpPr>
            <a:spLocks noChangeArrowheads="1"/>
          </p:cNvSpPr>
          <p:nvPr/>
        </p:nvSpPr>
        <p:spPr bwMode="auto">
          <a:xfrm>
            <a:off x="7489855" y="2228856"/>
            <a:ext cx="1439863" cy="504825"/>
          </a:xfrm>
          <a:prstGeom prst="cube">
            <a:avLst>
              <a:gd name="adj" fmla="val 25000"/>
            </a:avLst>
          </a:prstGeom>
          <a:solidFill>
            <a:schemeClr val="bg1"/>
          </a:solidFill>
          <a:ln w="9525">
            <a:solidFill>
              <a:schemeClr val="tx1"/>
            </a:solidFill>
            <a:miter lim="800000"/>
            <a:headEnd/>
            <a:tailEnd/>
          </a:ln>
        </p:spPr>
        <p:txBody>
          <a:bodyPr wrap="none" anchor="ctr"/>
          <a:lstStyle/>
          <a:p>
            <a:endParaRPr lang="ja-JP" altLang="en-US"/>
          </a:p>
        </p:txBody>
      </p:sp>
      <p:cxnSp>
        <p:nvCxnSpPr>
          <p:cNvPr id="26640" name="AutoShape 24"/>
          <p:cNvCxnSpPr>
            <a:cxnSpLocks noChangeShapeType="1"/>
            <a:stCxn id="26631" idx="2"/>
          </p:cNvCxnSpPr>
          <p:nvPr/>
        </p:nvCxnSpPr>
        <p:spPr bwMode="auto">
          <a:xfrm rot="10800000">
            <a:off x="7489855" y="3263509"/>
            <a:ext cx="1588" cy="2195106"/>
          </a:xfrm>
          <a:prstGeom prst="bentConnector3">
            <a:avLst>
              <a:gd name="adj1" fmla="val 14395466"/>
            </a:avLst>
          </a:prstGeom>
          <a:noFill/>
          <a:ln w="9525">
            <a:solidFill>
              <a:schemeClr val="tx1"/>
            </a:solidFill>
            <a:miter lim="800000"/>
            <a:headEnd/>
            <a:tailEnd type="triangle" w="med" len="med"/>
          </a:ln>
        </p:spPr>
      </p:cxnSp>
      <p:sp>
        <p:nvSpPr>
          <p:cNvPr id="26641" name="Text Box 25"/>
          <p:cNvSpPr txBox="1">
            <a:spLocks noChangeArrowheads="1"/>
          </p:cNvSpPr>
          <p:nvPr/>
        </p:nvSpPr>
        <p:spPr bwMode="auto">
          <a:xfrm>
            <a:off x="5710285" y="3857628"/>
            <a:ext cx="1606550" cy="366713"/>
          </a:xfrm>
          <a:prstGeom prst="rect">
            <a:avLst/>
          </a:prstGeom>
          <a:noFill/>
          <a:ln w="9525">
            <a:noFill/>
            <a:miter lim="800000"/>
            <a:headEnd/>
            <a:tailEnd/>
          </a:ln>
        </p:spPr>
        <p:txBody>
          <a:bodyPr wrap="none">
            <a:spAutoFit/>
          </a:bodyPr>
          <a:lstStyle/>
          <a:p>
            <a:r>
              <a:rPr lang="en-US" altLang="ja-JP"/>
              <a:t>sizeof(int) * 5</a:t>
            </a:r>
          </a:p>
        </p:txBody>
      </p:sp>
      <p:sp>
        <p:nvSpPr>
          <p:cNvPr id="26642" name="Line 26"/>
          <p:cNvSpPr>
            <a:spLocks noChangeShapeType="1"/>
          </p:cNvSpPr>
          <p:nvPr/>
        </p:nvSpPr>
        <p:spPr bwMode="auto">
          <a:xfrm>
            <a:off x="6175405" y="3071810"/>
            <a:ext cx="1371600" cy="0"/>
          </a:xfrm>
          <a:prstGeom prst="line">
            <a:avLst/>
          </a:prstGeom>
          <a:noFill/>
          <a:ln w="9525">
            <a:solidFill>
              <a:srgbClr val="0080FF"/>
            </a:solidFill>
            <a:round/>
            <a:headEnd/>
            <a:tailEnd/>
          </a:ln>
        </p:spPr>
        <p:txBody>
          <a:bodyPr wrap="none" anchor="ctr">
            <a:spAutoFit/>
          </a:bodyPr>
          <a:lstStyle/>
          <a:p>
            <a:endParaRPr lang="ja-JP" altLang="en-US"/>
          </a:p>
        </p:txBody>
      </p:sp>
      <p:sp>
        <p:nvSpPr>
          <p:cNvPr id="26643" name="Line 27"/>
          <p:cNvSpPr>
            <a:spLocks noChangeShapeType="1"/>
          </p:cNvSpPr>
          <p:nvPr/>
        </p:nvSpPr>
        <p:spPr bwMode="auto">
          <a:xfrm>
            <a:off x="6188105" y="4972056"/>
            <a:ext cx="1371600" cy="0"/>
          </a:xfrm>
          <a:prstGeom prst="line">
            <a:avLst/>
          </a:prstGeom>
          <a:noFill/>
          <a:ln w="9525">
            <a:solidFill>
              <a:srgbClr val="0080FF"/>
            </a:solidFill>
            <a:round/>
            <a:headEnd/>
            <a:tailEnd/>
          </a:ln>
        </p:spPr>
        <p:txBody>
          <a:bodyPr wrap="none" anchor="ctr">
            <a:spAutoFit/>
          </a:bodyPr>
          <a:lstStyle/>
          <a:p>
            <a:endParaRPr lang="ja-JP" altLang="en-US"/>
          </a:p>
        </p:txBody>
      </p:sp>
      <p:sp>
        <p:nvSpPr>
          <p:cNvPr id="26644" name="Line 28"/>
          <p:cNvSpPr>
            <a:spLocks noChangeShapeType="1"/>
          </p:cNvSpPr>
          <p:nvPr/>
        </p:nvSpPr>
        <p:spPr bwMode="auto">
          <a:xfrm>
            <a:off x="6721505" y="3067056"/>
            <a:ext cx="0" cy="1905000"/>
          </a:xfrm>
          <a:prstGeom prst="line">
            <a:avLst/>
          </a:prstGeom>
          <a:noFill/>
          <a:ln w="9525">
            <a:solidFill>
              <a:srgbClr val="0080FF"/>
            </a:solidFill>
            <a:round/>
            <a:headEnd type="triangle" w="med" len="med"/>
            <a:tailEnd type="triangle" w="med" len="med"/>
          </a:ln>
        </p:spPr>
        <p:txBody>
          <a:bodyPr wrap="none" anchor="ctr">
            <a:spAutoFit/>
          </a:bodyPr>
          <a:lstStyle/>
          <a:p>
            <a:endParaRPr lang="ja-JP" altLang="en-US"/>
          </a:p>
        </p:txBody>
      </p:sp>
      <p:sp>
        <p:nvSpPr>
          <p:cNvPr id="26645" name="Text Box 29"/>
          <p:cNvSpPr txBox="1">
            <a:spLocks noChangeArrowheads="1"/>
          </p:cNvSpPr>
          <p:nvPr/>
        </p:nvSpPr>
        <p:spPr bwMode="auto">
          <a:xfrm>
            <a:off x="6182130" y="5786454"/>
            <a:ext cx="2390398" cy="954107"/>
          </a:xfrm>
          <a:prstGeom prst="rect">
            <a:avLst/>
          </a:prstGeom>
          <a:solidFill>
            <a:srgbClr val="FFFF99"/>
          </a:solidFill>
          <a:ln w="9525">
            <a:noFill/>
            <a:miter lim="800000"/>
            <a:headEnd/>
            <a:tailEnd/>
          </a:ln>
        </p:spPr>
        <p:txBody>
          <a:bodyPr wrap="none">
            <a:spAutoFit/>
          </a:bodyPr>
          <a:lstStyle/>
          <a:p>
            <a:r>
              <a:rPr lang="ja-JP" altLang="en-US" sz="1400" dirty="0"/>
              <a:t>あたかも</a:t>
            </a:r>
            <a:endParaRPr lang="en-US" altLang="ja-JP" sz="1400" dirty="0"/>
          </a:p>
          <a:p>
            <a:r>
              <a:rPr lang="en-US" altLang="ja-JP" sz="1400" dirty="0"/>
              <a:t>	</a:t>
            </a:r>
            <a:r>
              <a:rPr lang="en-US" altLang="ja-JP" sz="1400" dirty="0" err="1"/>
              <a:t>int</a:t>
            </a:r>
            <a:r>
              <a:rPr lang="en-US" altLang="ja-JP" sz="1400" dirty="0"/>
              <a:t> p[5];</a:t>
            </a:r>
          </a:p>
          <a:p>
            <a:r>
              <a:rPr lang="ja-JP" altLang="en-US" sz="1400" dirty="0"/>
              <a:t>と宣言された配列が存在する</a:t>
            </a:r>
            <a:endParaRPr lang="en-US" altLang="ja-JP" sz="1400" dirty="0"/>
          </a:p>
          <a:p>
            <a:r>
              <a:rPr lang="ja-JP" altLang="en-US" sz="1400" dirty="0"/>
              <a:t>かの</a:t>
            </a:r>
            <a:r>
              <a:rPr lang="ja-JP" altLang="en-US" sz="1400" dirty="0" smtClean="0"/>
              <a:t>ようになる。</a:t>
            </a:r>
            <a:endParaRPr lang="en-US" altLang="ja-JP" sz="1400" dirty="0"/>
          </a:p>
        </p:txBody>
      </p:sp>
      <p:sp>
        <p:nvSpPr>
          <p:cNvPr id="32" name="正方形/長方形 31"/>
          <p:cNvSpPr/>
          <p:nvPr/>
        </p:nvSpPr>
        <p:spPr>
          <a:xfrm>
            <a:off x="214282" y="846498"/>
            <a:ext cx="5357850" cy="5940088"/>
          </a:xfrm>
          <a:prstGeom prst="rect">
            <a:avLst/>
          </a:prstGeom>
          <a:ln>
            <a:solidFill>
              <a:schemeClr val="tx1"/>
            </a:solidFill>
          </a:ln>
        </p:spPr>
        <p:txBody>
          <a:bodyPr wrap="square">
            <a:spAutoFit/>
          </a:bodyPr>
          <a:lstStyle/>
          <a:p>
            <a:pPr>
              <a:defRPr/>
            </a:pPr>
            <a:r>
              <a:rPr lang="en-US" altLang="ja-JP" sz="2000" dirty="0" smtClean="0"/>
              <a:t>#include &lt;</a:t>
            </a:r>
            <a:r>
              <a:rPr lang="en-US" altLang="ja-JP" sz="2000" dirty="0" err="1" smtClean="0"/>
              <a:t>stdio.h</a:t>
            </a:r>
            <a:r>
              <a:rPr lang="en-US" altLang="ja-JP" sz="2000" dirty="0" smtClean="0"/>
              <a:t>&gt;</a:t>
            </a:r>
          </a:p>
          <a:p>
            <a:pPr>
              <a:defRPr/>
            </a:pPr>
            <a:r>
              <a:rPr lang="en-US" altLang="ja-JP" sz="2000" dirty="0" smtClean="0"/>
              <a:t>#include &lt;</a:t>
            </a:r>
            <a:r>
              <a:rPr lang="en-US" altLang="ja-JP" sz="2000" dirty="0" err="1" smtClean="0"/>
              <a:t>stdlib.h</a:t>
            </a:r>
            <a:r>
              <a:rPr lang="en-US" altLang="ja-JP" sz="2000" dirty="0" smtClean="0"/>
              <a:t>&gt;</a:t>
            </a:r>
          </a:p>
          <a:p>
            <a:pPr>
              <a:defRPr/>
            </a:pPr>
            <a:r>
              <a:rPr lang="en-US" altLang="ja-JP" sz="2000" dirty="0" err="1" smtClean="0"/>
              <a:t>int</a:t>
            </a:r>
            <a:r>
              <a:rPr lang="en-US" altLang="ja-JP" sz="2000" dirty="0" smtClean="0"/>
              <a:t> main (void) {</a:t>
            </a:r>
          </a:p>
          <a:p>
            <a:pPr>
              <a:defRPr/>
            </a:pPr>
            <a:r>
              <a:rPr lang="en-US" altLang="ja-JP" sz="2000" dirty="0" smtClean="0"/>
              <a:t>  </a:t>
            </a:r>
            <a:r>
              <a:rPr lang="en-US" altLang="ja-JP" sz="2000" dirty="0" err="1" smtClean="0"/>
              <a:t>int</a:t>
            </a:r>
            <a:r>
              <a:rPr lang="en-US" altLang="ja-JP" sz="2000" dirty="0" smtClean="0"/>
              <a:t>  no, </a:t>
            </a:r>
            <a:r>
              <a:rPr lang="en-US" altLang="ja-JP" sz="2000" dirty="0" err="1" smtClean="0"/>
              <a:t>i</a:t>
            </a:r>
            <a:r>
              <a:rPr lang="en-US" altLang="ja-JP" sz="2000" dirty="0" smtClean="0"/>
              <a:t>=0;</a:t>
            </a:r>
          </a:p>
          <a:p>
            <a:pPr>
              <a:defRPr/>
            </a:pPr>
            <a:r>
              <a:rPr lang="en-US" altLang="ja-JP" sz="2000" dirty="0" smtClean="0"/>
              <a:t>  </a:t>
            </a:r>
            <a:r>
              <a:rPr lang="en-US" altLang="ja-JP" sz="2000" dirty="0" err="1" smtClean="0"/>
              <a:t>int</a:t>
            </a:r>
            <a:r>
              <a:rPr lang="en-US" altLang="ja-JP" sz="2000" dirty="0" smtClean="0"/>
              <a:t> * p;</a:t>
            </a:r>
          </a:p>
          <a:p>
            <a:pPr>
              <a:defRPr/>
            </a:pPr>
            <a:r>
              <a:rPr lang="en-US" altLang="ja-JP" sz="2000" dirty="0" smtClean="0"/>
              <a:t>  </a:t>
            </a:r>
            <a:r>
              <a:rPr lang="en-US" altLang="ja-JP" sz="2000" dirty="0" err="1" smtClean="0"/>
              <a:t>printf</a:t>
            </a:r>
            <a:r>
              <a:rPr lang="en-US" altLang="ja-JP" sz="2000" dirty="0" smtClean="0"/>
              <a:t>("</a:t>
            </a:r>
            <a:r>
              <a:rPr lang="ja-JP" altLang="en-US" sz="2000" dirty="0" smtClean="0"/>
              <a:t>確保する配列の要素数：</a:t>
            </a:r>
            <a:r>
              <a:rPr lang="en-US" altLang="ja-JP" sz="2000" dirty="0" smtClean="0"/>
              <a:t>");</a:t>
            </a:r>
          </a:p>
          <a:p>
            <a:pPr>
              <a:defRPr/>
            </a:pPr>
            <a:r>
              <a:rPr lang="en-US" altLang="ja-JP" sz="2000" dirty="0" smtClean="0"/>
              <a:t>  </a:t>
            </a:r>
            <a:r>
              <a:rPr lang="en-US" altLang="ja-JP" sz="2000" dirty="0" err="1" smtClean="0"/>
              <a:t>scanf</a:t>
            </a:r>
            <a:r>
              <a:rPr lang="en-US" altLang="ja-JP" sz="2000" dirty="0" smtClean="0"/>
              <a:t>("%d", &amp;no);</a:t>
            </a:r>
          </a:p>
          <a:p>
            <a:pPr>
              <a:defRPr/>
            </a:pPr>
            <a:r>
              <a:rPr lang="en-US" altLang="ja-JP" sz="2000" dirty="0" smtClean="0"/>
              <a:t>  p = (</a:t>
            </a:r>
            <a:r>
              <a:rPr lang="en-US" altLang="ja-JP" sz="2000" dirty="0" err="1" smtClean="0"/>
              <a:t>int</a:t>
            </a:r>
            <a:r>
              <a:rPr lang="en-US" altLang="ja-JP" sz="2000" dirty="0" smtClean="0"/>
              <a:t> *) </a:t>
            </a:r>
            <a:r>
              <a:rPr lang="en-US" altLang="ja-JP" sz="2000" dirty="0" err="1" smtClean="0"/>
              <a:t>calloc</a:t>
            </a:r>
            <a:r>
              <a:rPr lang="en-US" altLang="ja-JP" sz="2000" dirty="0" smtClean="0"/>
              <a:t> (no, </a:t>
            </a:r>
            <a:r>
              <a:rPr lang="en-US" altLang="ja-JP" sz="2000" dirty="0" err="1" smtClean="0"/>
              <a:t>sizeof</a:t>
            </a:r>
            <a:r>
              <a:rPr lang="en-US" altLang="ja-JP" sz="2000" dirty="0" smtClean="0"/>
              <a:t> (</a:t>
            </a:r>
            <a:r>
              <a:rPr lang="en-US" altLang="ja-JP" sz="2000" dirty="0" err="1" smtClean="0"/>
              <a:t>int</a:t>
            </a:r>
            <a:r>
              <a:rPr lang="en-US" altLang="ja-JP" sz="2000" dirty="0" smtClean="0"/>
              <a:t>));</a:t>
            </a:r>
          </a:p>
          <a:p>
            <a:pPr>
              <a:defRPr/>
            </a:pPr>
            <a:r>
              <a:rPr lang="en-US" altLang="ja-JP" sz="2000" dirty="0" smtClean="0"/>
              <a:t>  if (p == NULL)</a:t>
            </a:r>
          </a:p>
          <a:p>
            <a:pPr>
              <a:defRPr/>
            </a:pPr>
            <a:r>
              <a:rPr lang="en-US" altLang="ja-JP" sz="2000" dirty="0" smtClean="0"/>
              <a:t>    </a:t>
            </a:r>
            <a:r>
              <a:rPr lang="en-US" altLang="ja-JP" sz="2000" dirty="0" err="1" smtClean="0"/>
              <a:t>printf</a:t>
            </a:r>
            <a:r>
              <a:rPr lang="en-US" altLang="ja-JP" sz="2000" dirty="0" smtClean="0"/>
              <a:t> ("</a:t>
            </a:r>
            <a:r>
              <a:rPr lang="ja-JP" altLang="en-US" sz="2000" dirty="0" smtClean="0"/>
              <a:t>記憶域の確保に失敗しました。</a:t>
            </a:r>
            <a:r>
              <a:rPr lang="en-US" altLang="ja-JP" sz="2000" dirty="0" smtClean="0"/>
              <a:t>\n");</a:t>
            </a:r>
          </a:p>
          <a:p>
            <a:pPr>
              <a:defRPr/>
            </a:pPr>
            <a:r>
              <a:rPr lang="en-US" altLang="ja-JP" sz="2000" dirty="0" smtClean="0"/>
              <a:t>  else {</a:t>
            </a:r>
          </a:p>
          <a:p>
            <a:pPr>
              <a:defRPr/>
            </a:pPr>
            <a:r>
              <a:rPr lang="en-US" altLang="ja-JP" sz="2000" dirty="0" smtClean="0"/>
              <a:t>    while (</a:t>
            </a:r>
            <a:r>
              <a:rPr lang="en-US" altLang="ja-JP" sz="2000" dirty="0" err="1" smtClean="0"/>
              <a:t>i</a:t>
            </a:r>
            <a:r>
              <a:rPr lang="en-US" altLang="ja-JP" sz="2000" dirty="0" smtClean="0"/>
              <a:t> &lt; no) {</a:t>
            </a:r>
          </a:p>
          <a:p>
            <a:pPr>
              <a:defRPr/>
            </a:pPr>
            <a:r>
              <a:rPr lang="en-US" altLang="ja-JP" sz="2000" dirty="0" smtClean="0"/>
              <a:t>      p[</a:t>
            </a:r>
            <a:r>
              <a:rPr lang="en-US" altLang="ja-JP" sz="2000" dirty="0" err="1" smtClean="0"/>
              <a:t>i</a:t>
            </a:r>
            <a:r>
              <a:rPr lang="en-US" altLang="ja-JP" sz="2000" dirty="0" smtClean="0"/>
              <a:t>]  = </a:t>
            </a:r>
            <a:r>
              <a:rPr lang="en-US" altLang="ja-JP" sz="2000" dirty="0" err="1" smtClean="0"/>
              <a:t>i</a:t>
            </a:r>
            <a:r>
              <a:rPr lang="en-US" altLang="ja-JP" sz="2000" dirty="0" smtClean="0"/>
              <a:t>;  </a:t>
            </a:r>
            <a:r>
              <a:rPr lang="en-US" altLang="ja-JP" sz="2000" dirty="0" err="1" smtClean="0"/>
              <a:t>i</a:t>
            </a:r>
            <a:r>
              <a:rPr lang="en-US" altLang="ja-JP" sz="2000" dirty="0" smtClean="0"/>
              <a:t>=i+1;</a:t>
            </a:r>
          </a:p>
          <a:p>
            <a:pPr>
              <a:defRPr/>
            </a:pPr>
            <a:r>
              <a:rPr lang="en-US" altLang="ja-JP" sz="2000" dirty="0" smtClean="0"/>
              <a:t>    }</a:t>
            </a:r>
          </a:p>
          <a:p>
            <a:pPr>
              <a:defRPr/>
            </a:pPr>
            <a:r>
              <a:rPr lang="en-US" altLang="ja-JP" sz="2000" dirty="0" smtClean="0"/>
              <a:t>    </a:t>
            </a:r>
            <a:r>
              <a:rPr lang="en-US" altLang="ja-JP" sz="2000" dirty="0" err="1" smtClean="0"/>
              <a:t>i</a:t>
            </a:r>
            <a:r>
              <a:rPr lang="en-US" altLang="ja-JP" sz="2000" dirty="0" smtClean="0"/>
              <a:t> = 0;</a:t>
            </a:r>
          </a:p>
          <a:p>
            <a:pPr>
              <a:defRPr/>
            </a:pPr>
            <a:r>
              <a:rPr lang="en-US" altLang="ja-JP" sz="2000" dirty="0" smtClean="0"/>
              <a:t>    while ( </a:t>
            </a:r>
            <a:r>
              <a:rPr lang="en-US" altLang="ja-JP" sz="2000" dirty="0" err="1" smtClean="0"/>
              <a:t>i</a:t>
            </a:r>
            <a:r>
              <a:rPr lang="en-US" altLang="ja-JP" sz="2000" dirty="0" smtClean="0"/>
              <a:t> &lt; no ) {</a:t>
            </a:r>
          </a:p>
          <a:p>
            <a:pPr>
              <a:defRPr/>
            </a:pPr>
            <a:r>
              <a:rPr lang="en-US" altLang="ja-JP" sz="2000" dirty="0" smtClean="0"/>
              <a:t>      </a:t>
            </a:r>
            <a:r>
              <a:rPr lang="en-US" altLang="ja-JP" sz="2000" dirty="0" err="1" smtClean="0"/>
              <a:t>printf</a:t>
            </a:r>
            <a:r>
              <a:rPr lang="en-US" altLang="ja-JP" sz="2000" dirty="0" smtClean="0"/>
              <a:t>("p[%d] = %d\n", </a:t>
            </a:r>
            <a:r>
              <a:rPr lang="en-US" altLang="ja-JP" sz="2000" dirty="0" err="1" smtClean="0"/>
              <a:t>i</a:t>
            </a:r>
            <a:r>
              <a:rPr lang="en-US" altLang="ja-JP" sz="2000" dirty="0" smtClean="0"/>
              <a:t>, p[</a:t>
            </a:r>
            <a:r>
              <a:rPr lang="en-US" altLang="ja-JP" sz="2000" dirty="0" err="1" smtClean="0"/>
              <a:t>i</a:t>
            </a:r>
            <a:r>
              <a:rPr lang="en-US" altLang="ja-JP" sz="2000" dirty="0" smtClean="0"/>
              <a:t>] );</a:t>
            </a:r>
          </a:p>
          <a:p>
            <a:pPr>
              <a:defRPr/>
            </a:pPr>
            <a:r>
              <a:rPr lang="en-US" altLang="ja-JP" sz="2000" dirty="0" smtClean="0"/>
              <a:t>      </a:t>
            </a:r>
            <a:r>
              <a:rPr lang="en-US" altLang="ja-JP" sz="2000" dirty="0" err="1" smtClean="0"/>
              <a:t>i</a:t>
            </a:r>
            <a:r>
              <a:rPr lang="en-US" altLang="ja-JP" sz="2000" dirty="0" smtClean="0"/>
              <a:t> = </a:t>
            </a:r>
            <a:r>
              <a:rPr lang="en-US" altLang="ja-JP" sz="2000" dirty="0" err="1" smtClean="0"/>
              <a:t>i</a:t>
            </a:r>
            <a:r>
              <a:rPr lang="en-US" altLang="ja-JP" sz="2000" dirty="0" smtClean="0"/>
              <a:t> + 1;</a:t>
            </a:r>
          </a:p>
          <a:p>
            <a:pPr>
              <a:defRPr/>
            </a:pPr>
            <a:r>
              <a:rPr lang="en-US" altLang="ja-JP" sz="2000" dirty="0" smtClean="0"/>
              <a:t>    }</a:t>
            </a:r>
          </a:p>
        </p:txBody>
      </p:sp>
      <p:sp>
        <p:nvSpPr>
          <p:cNvPr id="35" name="正方形/長方形 34"/>
          <p:cNvSpPr/>
          <p:nvPr/>
        </p:nvSpPr>
        <p:spPr>
          <a:xfrm>
            <a:off x="5786446" y="869090"/>
            <a:ext cx="1571636" cy="1631216"/>
          </a:xfrm>
          <a:prstGeom prst="rect">
            <a:avLst/>
          </a:prstGeom>
          <a:ln>
            <a:solidFill>
              <a:schemeClr val="tx1"/>
            </a:solidFill>
          </a:ln>
        </p:spPr>
        <p:txBody>
          <a:bodyPr wrap="square">
            <a:spAutoFit/>
          </a:bodyPr>
          <a:lstStyle/>
          <a:p>
            <a:pPr>
              <a:defRPr/>
            </a:pPr>
            <a:r>
              <a:rPr lang="en-US" altLang="ja-JP" sz="2000" dirty="0" smtClean="0"/>
              <a:t>/* </a:t>
            </a:r>
            <a:r>
              <a:rPr lang="ja-JP" altLang="en-US" sz="2000" dirty="0" smtClean="0"/>
              <a:t>続き </a:t>
            </a:r>
            <a:r>
              <a:rPr lang="en-US" altLang="ja-JP" sz="2000" dirty="0" smtClean="0"/>
              <a:t>*/</a:t>
            </a:r>
          </a:p>
          <a:p>
            <a:pPr>
              <a:defRPr/>
            </a:pPr>
            <a:r>
              <a:rPr lang="en-US" altLang="ja-JP" sz="2000" dirty="0" smtClean="0"/>
              <a:t> </a:t>
            </a:r>
            <a:r>
              <a:rPr lang="ja-JP" altLang="en-US" sz="2000" dirty="0" smtClean="0"/>
              <a:t> </a:t>
            </a:r>
            <a:r>
              <a:rPr lang="en-US" altLang="ja-JP" sz="2000" dirty="0" smtClean="0"/>
              <a:t>free (p);</a:t>
            </a:r>
          </a:p>
          <a:p>
            <a:pPr>
              <a:defRPr/>
            </a:pPr>
            <a:r>
              <a:rPr lang="en-US" altLang="ja-JP" sz="2000" dirty="0" smtClean="0"/>
              <a:t>  }</a:t>
            </a:r>
          </a:p>
          <a:p>
            <a:pPr>
              <a:defRPr/>
            </a:pPr>
            <a:r>
              <a:rPr lang="en-US" altLang="ja-JP" sz="2000" dirty="0" smtClean="0"/>
              <a:t>  return 0;</a:t>
            </a:r>
          </a:p>
          <a:p>
            <a:pPr>
              <a:defRPr/>
            </a:pPr>
            <a:r>
              <a:rPr lang="en-US" altLang="ja-JP" sz="2000" dirty="0" smtClean="0"/>
              <a:t>}</a:t>
            </a:r>
            <a:endParaRPr lang="ja-JP" altLang="en-US" sz="20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a:xfrm>
            <a:off x="738214" y="357166"/>
            <a:ext cx="7620000" cy="685800"/>
          </a:xfrm>
        </p:spPr>
        <p:txBody>
          <a:bodyPr>
            <a:normAutofit fontScale="90000"/>
          </a:bodyPr>
          <a:lstStyle/>
          <a:p>
            <a:pPr eaLnBrk="1" hangingPunct="1">
              <a:defRPr/>
            </a:pPr>
            <a:r>
              <a:rPr lang="ja-JP" altLang="en-US" dirty="0" smtClean="0"/>
              <a:t>今日の課題１</a:t>
            </a:r>
          </a:p>
        </p:txBody>
      </p:sp>
      <p:sp>
        <p:nvSpPr>
          <p:cNvPr id="34821" name="Rectangle 3"/>
          <p:cNvSpPr>
            <a:spLocks noGrp="1" noChangeArrowheads="1"/>
          </p:cNvSpPr>
          <p:nvPr>
            <p:ph type="body" idx="1"/>
          </p:nvPr>
        </p:nvSpPr>
        <p:spPr>
          <a:xfrm>
            <a:off x="285720" y="1357298"/>
            <a:ext cx="8280400" cy="3887787"/>
          </a:xfrm>
        </p:spPr>
        <p:txBody>
          <a:bodyPr>
            <a:normAutofit/>
          </a:bodyPr>
          <a:lstStyle/>
          <a:p>
            <a:pPr eaLnBrk="1" hangingPunct="1"/>
            <a:r>
              <a:rPr lang="ja-JP" altLang="en-US" dirty="0" smtClean="0"/>
              <a:t>キーボードから数を入力として受け取り、その個数分の</a:t>
            </a:r>
            <a:r>
              <a:rPr lang="en-US" altLang="ja-JP" dirty="0" err="1" smtClean="0"/>
              <a:t>int</a:t>
            </a:r>
            <a:r>
              <a:rPr lang="ja-JP" altLang="en-US" dirty="0" smtClean="0"/>
              <a:t>型データをキーボードから受け取り、それらの最大値を画面に出力するプログラムを</a:t>
            </a:r>
            <a:r>
              <a:rPr lang="en-US" altLang="ja-JP" dirty="0" err="1" smtClean="0"/>
              <a:t>calloc</a:t>
            </a:r>
            <a:r>
              <a:rPr lang="ja-JP" altLang="en-US" dirty="0" smtClean="0"/>
              <a:t>を用いて書け。</a:t>
            </a:r>
            <a:endParaRPr lang="en-US" altLang="ja-JP"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kumimoji="1" lang="ja-JP" altLang="en-US" dirty="0" smtClean="0"/>
              <a:t>今日の課題２</a:t>
            </a:r>
            <a:endParaRPr kumimoji="1" lang="ja-JP" altLang="en-US" dirty="0"/>
          </a:p>
        </p:txBody>
      </p:sp>
      <p:sp>
        <p:nvSpPr>
          <p:cNvPr id="5" name="正方形/長方形 4"/>
          <p:cNvSpPr/>
          <p:nvPr/>
        </p:nvSpPr>
        <p:spPr>
          <a:xfrm>
            <a:off x="571472" y="928670"/>
            <a:ext cx="7715304" cy="2677656"/>
          </a:xfrm>
          <a:prstGeom prst="rect">
            <a:avLst/>
          </a:prstGeom>
        </p:spPr>
        <p:txBody>
          <a:bodyPr wrap="square">
            <a:spAutoFit/>
          </a:bodyPr>
          <a:lstStyle/>
          <a:p>
            <a:r>
              <a:rPr kumimoji="0" lang="ja-JP" altLang="en-US" sz="2400" dirty="0" smtClean="0">
                <a:ea typeface="ＭＳ Ｐゴシック" charset="-128"/>
              </a:rPr>
              <a:t>受験者</a:t>
            </a:r>
            <a:r>
              <a:rPr kumimoji="0" lang="en-US" altLang="ja-JP" sz="2400" dirty="0" smtClean="0">
                <a:ea typeface="ＭＳ Ｐゴシック" charset="-128"/>
              </a:rPr>
              <a:t>N</a:t>
            </a:r>
            <a:r>
              <a:rPr kumimoji="0" lang="ja-JP" altLang="en-US" sz="2400" dirty="0" smtClean="0">
                <a:ea typeface="ＭＳ Ｐゴシック" charset="-128"/>
              </a:rPr>
              <a:t>人（</a:t>
            </a:r>
            <a:r>
              <a:rPr kumimoji="0" lang="en-US" altLang="ja-JP" sz="2400" dirty="0" smtClean="0">
                <a:ea typeface="ＭＳ Ｐゴシック" charset="-128"/>
              </a:rPr>
              <a:t>N</a:t>
            </a:r>
            <a:r>
              <a:rPr kumimoji="0" lang="ja-JP" altLang="en-US" sz="2400" dirty="0" smtClean="0">
                <a:ea typeface="ＭＳ Ｐゴシック" charset="-128"/>
              </a:rPr>
              <a:t>は実行時にキーボードから入力）の氏名および数学、英語の</a:t>
            </a:r>
            <a:r>
              <a:rPr kumimoji="0" lang="en-US" altLang="ja-JP" sz="2400" dirty="0" smtClean="0">
                <a:ea typeface="ＭＳ Ｐゴシック" charset="-128"/>
              </a:rPr>
              <a:t>2</a:t>
            </a:r>
            <a:r>
              <a:rPr kumimoji="0" lang="ja-JP" altLang="en-US" sz="2400" dirty="0" smtClean="0">
                <a:ea typeface="ＭＳ Ｐゴシック" charset="-128"/>
              </a:rPr>
              <a:t>科目の試験の点数をキーボードから入力し、氏名、各科目の点数、合計点を一覧表にして表示したい。これを行うプログラムを、</a:t>
            </a:r>
            <a:r>
              <a:rPr kumimoji="0" lang="en-US" altLang="ja-JP" sz="2400" dirty="0" err="1" smtClean="0">
                <a:ea typeface="ＭＳ Ｐゴシック" charset="-128"/>
              </a:rPr>
              <a:t>calloc</a:t>
            </a:r>
            <a:r>
              <a:rPr kumimoji="0" lang="ja-JP" altLang="en-US" sz="2400" dirty="0" smtClean="0">
                <a:ea typeface="ＭＳ Ｐゴシック" charset="-128"/>
              </a:rPr>
              <a:t>を用いて書け。</a:t>
            </a:r>
            <a:endParaRPr kumimoji="0" lang="en-US" altLang="ja-JP" sz="2400" dirty="0" smtClean="0">
              <a:ea typeface="ＭＳ Ｐゴシック" charset="-128"/>
            </a:endParaRPr>
          </a:p>
          <a:p>
            <a:r>
              <a:rPr kumimoji="0" lang="ja-JP" altLang="en-US" sz="2400" dirty="0" smtClean="0">
                <a:ea typeface="ＭＳ Ｐゴシック" charset="-128"/>
              </a:rPr>
              <a:t>各受験者の氏名と点数を入力する部分、合計点を計算する部分、一覧表示をする部分は、別々の関数として定義し、それらを</a:t>
            </a:r>
            <a:r>
              <a:rPr kumimoji="0" lang="en-US" altLang="ja-JP" sz="2400" dirty="0" smtClean="0">
                <a:ea typeface="ＭＳ Ｐゴシック" charset="-128"/>
              </a:rPr>
              <a:t>main</a:t>
            </a:r>
            <a:r>
              <a:rPr kumimoji="0" lang="ja-JP" altLang="en-US" sz="2400" dirty="0" smtClean="0">
                <a:ea typeface="ＭＳ Ｐゴシック" charset="-128"/>
              </a:rPr>
              <a:t>関数から呼び出す形でプログラムを記述せよ。</a:t>
            </a:r>
            <a:endParaRPr kumimoji="0" lang="en-US" altLang="ja-JP" sz="2400" dirty="0" smtClean="0">
              <a:ea typeface="ＭＳ Ｐゴシック" charset="-128"/>
            </a:endParaRPr>
          </a:p>
        </p:txBody>
      </p:sp>
      <p:sp>
        <p:nvSpPr>
          <p:cNvPr id="10" name="テキスト ボックス 9"/>
          <p:cNvSpPr txBox="1"/>
          <p:nvPr/>
        </p:nvSpPr>
        <p:spPr>
          <a:xfrm>
            <a:off x="1285852" y="4143380"/>
            <a:ext cx="1107996" cy="369332"/>
          </a:xfrm>
          <a:prstGeom prst="rect">
            <a:avLst/>
          </a:prstGeom>
          <a:noFill/>
        </p:spPr>
        <p:txBody>
          <a:bodyPr wrap="none" rtlCol="0">
            <a:spAutoFit/>
          </a:bodyPr>
          <a:lstStyle/>
          <a:p>
            <a:r>
              <a:rPr kumimoji="1" lang="ja-JP" altLang="en-US" dirty="0" smtClean="0"/>
              <a:t>（実行例）</a:t>
            </a:r>
            <a:endParaRPr kumimoji="1" lang="ja-JP" altLang="en-US" dirty="0"/>
          </a:p>
        </p:txBody>
      </p:sp>
      <p:sp>
        <p:nvSpPr>
          <p:cNvPr id="11" name="正方形/長方形 10"/>
          <p:cNvSpPr/>
          <p:nvPr/>
        </p:nvSpPr>
        <p:spPr>
          <a:xfrm>
            <a:off x="2500298" y="3643314"/>
            <a:ext cx="4572000" cy="3139321"/>
          </a:xfrm>
          <a:prstGeom prst="rect">
            <a:avLst/>
          </a:prstGeom>
          <a:ln>
            <a:solidFill>
              <a:schemeClr val="tx1"/>
            </a:solidFill>
          </a:ln>
        </p:spPr>
        <p:txBody>
          <a:bodyPr>
            <a:spAutoFit/>
          </a:bodyPr>
          <a:lstStyle/>
          <a:p>
            <a:r>
              <a:rPr lang="en-US" altLang="ja-JP" dirty="0" smtClean="0">
                <a:latin typeface="HGｺﾞｼｯｸM" pitchFamily="49" charset="-128"/>
                <a:ea typeface="HGｺﾞｼｯｸM" pitchFamily="49" charset="-128"/>
              </a:rPr>
              <a:t>[sasano@oli001 11kai]$ ./</a:t>
            </a:r>
            <a:r>
              <a:rPr lang="en-US" altLang="ja-JP" dirty="0" err="1" smtClean="0">
                <a:latin typeface="HGｺﾞｼｯｸM" pitchFamily="49" charset="-128"/>
                <a:ea typeface="HGｺﾞｼｯｸM" pitchFamily="49" charset="-128"/>
              </a:rPr>
              <a:t>a.out</a:t>
            </a:r>
            <a:endParaRPr lang="en-US" altLang="ja-JP" dirty="0" smtClean="0">
              <a:latin typeface="HGｺﾞｼｯｸM" pitchFamily="49" charset="-128"/>
              <a:ea typeface="HGｺﾞｼｯｸM" pitchFamily="49" charset="-128"/>
            </a:endParaRPr>
          </a:p>
          <a:p>
            <a:r>
              <a:rPr lang="ja-JP" altLang="en-US" dirty="0" smtClean="0">
                <a:latin typeface="HGｺﾞｼｯｸM" pitchFamily="49" charset="-128"/>
                <a:ea typeface="HGｺﾞｼｯｸM" pitchFamily="49" charset="-128"/>
              </a:rPr>
              <a:t>人数を入力してください</a:t>
            </a:r>
            <a:r>
              <a:rPr lang="en-US" altLang="ja-JP" dirty="0" smtClean="0">
                <a:latin typeface="HGｺﾞｼｯｸM" pitchFamily="49" charset="-128"/>
                <a:ea typeface="HGｺﾞｼｯｸM" pitchFamily="49" charset="-128"/>
              </a:rPr>
              <a:t>: 2</a:t>
            </a:r>
          </a:p>
          <a:p>
            <a:r>
              <a:rPr lang="ja-JP" altLang="en-US" dirty="0" smtClean="0">
                <a:latin typeface="HGｺﾞｼｯｸM" pitchFamily="49" charset="-128"/>
                <a:ea typeface="HGｺﾞｼｯｸM" pitchFamily="49" charset="-128"/>
              </a:rPr>
              <a:t>氏名</a:t>
            </a:r>
            <a:r>
              <a:rPr lang="en-US" altLang="ja-JP" dirty="0" smtClean="0">
                <a:latin typeface="HGｺﾞｼｯｸM" pitchFamily="49" charset="-128"/>
                <a:ea typeface="HGｺﾞｼｯｸM" pitchFamily="49" charset="-128"/>
              </a:rPr>
              <a:t>: </a:t>
            </a:r>
            <a:r>
              <a:rPr lang="ja-JP" altLang="en-US" dirty="0" smtClean="0">
                <a:latin typeface="HGｺﾞｼｯｸM" pitchFamily="49" charset="-128"/>
                <a:ea typeface="HGｺﾞｼｯｸM" pitchFamily="49" charset="-128"/>
              </a:rPr>
              <a:t>芝浦太郎</a:t>
            </a:r>
          </a:p>
          <a:p>
            <a:r>
              <a:rPr lang="ja-JP" altLang="en-US" dirty="0" smtClean="0">
                <a:latin typeface="HGｺﾞｼｯｸM" pitchFamily="49" charset="-128"/>
                <a:ea typeface="HGｺﾞｼｯｸM" pitchFamily="49" charset="-128"/>
              </a:rPr>
              <a:t>数学</a:t>
            </a:r>
            <a:r>
              <a:rPr lang="en-US" altLang="ja-JP" dirty="0" smtClean="0">
                <a:latin typeface="HGｺﾞｼｯｸM" pitchFamily="49" charset="-128"/>
                <a:ea typeface="HGｺﾞｼｯｸM" pitchFamily="49" charset="-128"/>
              </a:rPr>
              <a:t>: 90</a:t>
            </a:r>
          </a:p>
          <a:p>
            <a:r>
              <a:rPr lang="ja-JP" altLang="en-US" dirty="0" smtClean="0">
                <a:latin typeface="HGｺﾞｼｯｸM" pitchFamily="49" charset="-128"/>
                <a:ea typeface="HGｺﾞｼｯｸM" pitchFamily="49" charset="-128"/>
              </a:rPr>
              <a:t>英語</a:t>
            </a:r>
            <a:r>
              <a:rPr lang="en-US" altLang="ja-JP" dirty="0" smtClean="0">
                <a:latin typeface="HGｺﾞｼｯｸM" pitchFamily="49" charset="-128"/>
                <a:ea typeface="HGｺﾞｼｯｸM" pitchFamily="49" charset="-128"/>
              </a:rPr>
              <a:t>: 90</a:t>
            </a:r>
          </a:p>
          <a:p>
            <a:r>
              <a:rPr lang="ja-JP" altLang="en-US" dirty="0" smtClean="0">
                <a:latin typeface="HGｺﾞｼｯｸM" pitchFamily="49" charset="-128"/>
                <a:ea typeface="HGｺﾞｼｯｸM" pitchFamily="49" charset="-128"/>
              </a:rPr>
              <a:t>氏名</a:t>
            </a:r>
            <a:r>
              <a:rPr lang="en-US" altLang="ja-JP" dirty="0" smtClean="0">
                <a:latin typeface="HGｺﾞｼｯｸM" pitchFamily="49" charset="-128"/>
                <a:ea typeface="HGｺﾞｼｯｸM" pitchFamily="49" charset="-128"/>
              </a:rPr>
              <a:t>: </a:t>
            </a:r>
            <a:r>
              <a:rPr lang="ja-JP" altLang="en-US" dirty="0" smtClean="0">
                <a:latin typeface="HGｺﾞｼｯｸM" pitchFamily="49" charset="-128"/>
                <a:ea typeface="HGｺﾞｼｯｸM" pitchFamily="49" charset="-128"/>
              </a:rPr>
              <a:t>芝浦次郎</a:t>
            </a:r>
          </a:p>
          <a:p>
            <a:r>
              <a:rPr lang="ja-JP" altLang="en-US" dirty="0" smtClean="0">
                <a:latin typeface="HGｺﾞｼｯｸM" pitchFamily="49" charset="-128"/>
                <a:ea typeface="HGｺﾞｼｯｸM" pitchFamily="49" charset="-128"/>
              </a:rPr>
              <a:t>数学</a:t>
            </a:r>
            <a:r>
              <a:rPr lang="en-US" altLang="ja-JP" dirty="0" smtClean="0">
                <a:latin typeface="HGｺﾞｼｯｸM" pitchFamily="49" charset="-128"/>
                <a:ea typeface="HGｺﾞｼｯｸM" pitchFamily="49" charset="-128"/>
              </a:rPr>
              <a:t>: 100</a:t>
            </a:r>
          </a:p>
          <a:p>
            <a:r>
              <a:rPr lang="ja-JP" altLang="en-US" dirty="0" smtClean="0">
                <a:latin typeface="HGｺﾞｼｯｸM" pitchFamily="49" charset="-128"/>
                <a:ea typeface="HGｺﾞｼｯｸM" pitchFamily="49" charset="-128"/>
              </a:rPr>
              <a:t>英語</a:t>
            </a:r>
            <a:r>
              <a:rPr lang="en-US" altLang="ja-JP" dirty="0" smtClean="0">
                <a:latin typeface="HGｺﾞｼｯｸM" pitchFamily="49" charset="-128"/>
                <a:ea typeface="HGｺﾞｼｯｸM" pitchFamily="49" charset="-128"/>
              </a:rPr>
              <a:t>: 100</a:t>
            </a:r>
          </a:p>
          <a:p>
            <a:r>
              <a:rPr lang="ja-JP" altLang="en-US" dirty="0" smtClean="0">
                <a:latin typeface="HGｺﾞｼｯｸM" pitchFamily="49" charset="-128"/>
                <a:ea typeface="HGｺﾞｼｯｸM" pitchFamily="49" charset="-128"/>
              </a:rPr>
              <a:t>氏名      数学  英語  合計</a:t>
            </a:r>
          </a:p>
          <a:p>
            <a:r>
              <a:rPr lang="ja-JP" altLang="en-US" dirty="0" smtClean="0">
                <a:latin typeface="HGｺﾞｼｯｸM" pitchFamily="49" charset="-128"/>
                <a:ea typeface="HGｺﾞｼｯｸM" pitchFamily="49" charset="-128"/>
              </a:rPr>
              <a:t>芝浦太郎    </a:t>
            </a:r>
            <a:r>
              <a:rPr lang="en-US" altLang="ja-JP" dirty="0" smtClean="0">
                <a:latin typeface="HGｺﾞｼｯｸM" pitchFamily="49" charset="-128"/>
                <a:ea typeface="HGｺﾞｼｯｸM" pitchFamily="49" charset="-128"/>
              </a:rPr>
              <a:t>90    90   180</a:t>
            </a:r>
          </a:p>
          <a:p>
            <a:r>
              <a:rPr lang="ja-JP" altLang="en-US" dirty="0" smtClean="0">
                <a:latin typeface="HGｺﾞｼｯｸM" pitchFamily="49" charset="-128"/>
                <a:ea typeface="HGｺﾞｼｯｸM" pitchFamily="49" charset="-128"/>
              </a:rPr>
              <a:t>芝浦次郎   </a:t>
            </a:r>
            <a:r>
              <a:rPr lang="en-US" altLang="ja-JP" dirty="0" smtClean="0">
                <a:latin typeface="HGｺﾞｼｯｸM" pitchFamily="49" charset="-128"/>
                <a:ea typeface="HGｺﾞｼｯｸM" pitchFamily="49" charset="-128"/>
              </a:rPr>
              <a:t>100   100   200</a:t>
            </a:r>
            <a:endParaRPr lang="en-US" altLang="ja-JP" dirty="0">
              <a:latin typeface="HGｺﾞｼｯｸM" pitchFamily="49" charset="-128"/>
              <a:ea typeface="HGｺﾞｼｯｸM" pitchFamily="49"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a:xfrm>
            <a:off x="152400" y="152400"/>
            <a:ext cx="8420128" cy="685800"/>
          </a:xfrm>
        </p:spPr>
        <p:txBody>
          <a:bodyPr>
            <a:normAutofit fontScale="90000"/>
          </a:bodyPr>
          <a:lstStyle/>
          <a:p>
            <a:pPr eaLnBrk="1" hangingPunct="1">
              <a:defRPr/>
            </a:pPr>
            <a:r>
              <a:rPr lang="ja-JP" altLang="en-US" dirty="0" smtClean="0"/>
              <a:t>構造体配列の動的確保（</a:t>
            </a:r>
            <a:r>
              <a:rPr lang="en-US" altLang="ja-JP" dirty="0" smtClean="0"/>
              <a:t>point</a:t>
            </a:r>
            <a:r>
              <a:rPr lang="ja-JP" altLang="en-US" dirty="0" err="1" smtClean="0"/>
              <a:t>での</a:t>
            </a:r>
            <a:r>
              <a:rPr lang="ja-JP" altLang="en-US" dirty="0" smtClean="0"/>
              <a:t>例）</a:t>
            </a:r>
          </a:p>
        </p:txBody>
      </p:sp>
      <p:sp>
        <p:nvSpPr>
          <p:cNvPr id="30725" name="Rectangle 3"/>
          <p:cNvSpPr>
            <a:spLocks noGrp="1" noChangeArrowheads="1"/>
          </p:cNvSpPr>
          <p:nvPr>
            <p:ph type="body" idx="1"/>
          </p:nvPr>
        </p:nvSpPr>
        <p:spPr>
          <a:xfrm>
            <a:off x="323850" y="1000125"/>
            <a:ext cx="8280400" cy="4303713"/>
          </a:xfrm>
          <a:ln>
            <a:solidFill>
              <a:schemeClr val="tx1"/>
            </a:solidFill>
          </a:ln>
        </p:spPr>
        <p:txBody>
          <a:bodyPr/>
          <a:lstStyle/>
          <a:p>
            <a:pPr eaLnBrk="1" hangingPunct="1">
              <a:buFont typeface="Wingdings" pitchFamily="-64" charset="2"/>
              <a:buNone/>
              <a:defRPr/>
            </a:pPr>
            <a:r>
              <a:rPr lang="en-US" altLang="ja-JP" sz="2000" dirty="0" smtClean="0"/>
              <a:t>(0) point</a:t>
            </a:r>
            <a:r>
              <a:rPr lang="ja-JP" altLang="en-US" sz="2000" dirty="0" smtClean="0"/>
              <a:t>構造体を定義</a:t>
            </a:r>
            <a:endParaRPr lang="en-US" altLang="ja-JP" sz="2000" dirty="0" smtClean="0"/>
          </a:p>
          <a:p>
            <a:pPr marL="457200" indent="-457200" eaLnBrk="1" hangingPunct="1">
              <a:buFont typeface="Wingdings" pitchFamily="-64" charset="2"/>
              <a:buNone/>
              <a:defRPr/>
            </a:pPr>
            <a:r>
              <a:rPr lang="en-US" altLang="ja-JP" sz="2000" dirty="0" smtClean="0"/>
              <a:t>(1) point</a:t>
            </a:r>
            <a:r>
              <a:rPr lang="ja-JP" altLang="en-US" sz="2000" dirty="0" smtClean="0"/>
              <a:t>構造体へのポインタ型の変数</a:t>
            </a:r>
            <a:r>
              <a:rPr lang="en-US" altLang="ja-JP" sz="2000" dirty="0" smtClean="0"/>
              <a:t>p</a:t>
            </a:r>
            <a:r>
              <a:rPr lang="ja-JP" altLang="en-US" sz="2000" dirty="0" smtClean="0"/>
              <a:t>を宣言しておく。</a:t>
            </a:r>
            <a:endParaRPr lang="en-US" altLang="ja-JP" sz="2000" dirty="0" smtClean="0"/>
          </a:p>
          <a:p>
            <a:pPr marL="457200" indent="-457200" eaLnBrk="1" hangingPunct="1">
              <a:buFont typeface="Wingdings" pitchFamily="-64" charset="2"/>
              <a:buNone/>
              <a:defRPr/>
            </a:pPr>
            <a:r>
              <a:rPr lang="en-US" altLang="ja-JP" sz="2000" dirty="0" smtClean="0"/>
              <a:t>       point *p;</a:t>
            </a:r>
          </a:p>
          <a:p>
            <a:pPr eaLnBrk="1" hangingPunct="1">
              <a:buFont typeface="Wingdings" pitchFamily="-64" charset="2"/>
              <a:buNone/>
              <a:defRPr/>
            </a:pPr>
            <a:r>
              <a:rPr lang="en-US" altLang="ja-JP" sz="2000" dirty="0" smtClean="0"/>
              <a:t>(2)</a:t>
            </a:r>
            <a:r>
              <a:rPr lang="ja-JP" altLang="en-US" sz="2000" dirty="0" smtClean="0"/>
              <a:t> </a:t>
            </a:r>
            <a:r>
              <a:rPr lang="en-US" altLang="ja-JP" sz="2000" dirty="0" smtClean="0"/>
              <a:t>N</a:t>
            </a:r>
            <a:r>
              <a:rPr lang="ja-JP" altLang="en-US" sz="2000" dirty="0" smtClean="0"/>
              <a:t>に</a:t>
            </a:r>
            <a:r>
              <a:rPr lang="en-US" altLang="ja-JP" sz="2000" dirty="0" err="1" smtClean="0"/>
              <a:t>scanf</a:t>
            </a:r>
            <a:r>
              <a:rPr lang="ja-JP" altLang="en-US" sz="2000" dirty="0" smtClean="0"/>
              <a:t>で配列の要素数を入れる。</a:t>
            </a:r>
            <a:endParaRPr lang="en-US" altLang="ja-JP" sz="2000" dirty="0" smtClean="0"/>
          </a:p>
          <a:p>
            <a:pPr eaLnBrk="1" hangingPunct="1">
              <a:buFont typeface="Wingdings" pitchFamily="-64" charset="2"/>
              <a:buNone/>
              <a:defRPr/>
            </a:pPr>
            <a:r>
              <a:rPr lang="en-US" altLang="ja-JP" sz="2000" dirty="0" smtClean="0"/>
              <a:t>(3) p = (point *) </a:t>
            </a:r>
            <a:r>
              <a:rPr lang="en-US" altLang="ja-JP" sz="2000" dirty="0" err="1" smtClean="0"/>
              <a:t>calloc</a:t>
            </a:r>
            <a:r>
              <a:rPr lang="en-US" altLang="ja-JP" sz="2000" dirty="0" smtClean="0"/>
              <a:t> (N, </a:t>
            </a:r>
            <a:r>
              <a:rPr lang="en-US" altLang="ja-JP" sz="2000" dirty="0" err="1" smtClean="0"/>
              <a:t>sizeof</a:t>
            </a:r>
            <a:r>
              <a:rPr lang="en-US" altLang="ja-JP" sz="2000" dirty="0" smtClean="0"/>
              <a:t> (point)); </a:t>
            </a:r>
            <a:r>
              <a:rPr lang="ja-JP" altLang="en-US" sz="2000" dirty="0" smtClean="0"/>
              <a:t>で必要な領域を確保し、その先頭アドレスを</a:t>
            </a:r>
            <a:r>
              <a:rPr lang="en-US" altLang="ja-JP" sz="2000" dirty="0" smtClean="0"/>
              <a:t>p</a:t>
            </a:r>
            <a:r>
              <a:rPr lang="ja-JP" altLang="en-US" sz="2000" dirty="0" smtClean="0"/>
              <a:t>に代入</a:t>
            </a:r>
            <a:endParaRPr lang="en-US" altLang="ja-JP" sz="2000" dirty="0" smtClean="0"/>
          </a:p>
          <a:p>
            <a:pPr eaLnBrk="1" hangingPunct="1">
              <a:buFont typeface="Wingdings" pitchFamily="-64" charset="2"/>
              <a:buNone/>
              <a:defRPr/>
            </a:pPr>
            <a:r>
              <a:rPr lang="en-US" altLang="ja-JP" sz="2000" dirty="0" smtClean="0"/>
              <a:t>(4) p</a:t>
            </a:r>
            <a:r>
              <a:rPr lang="ja-JP" altLang="en-US" sz="2000" dirty="0" smtClean="0"/>
              <a:t>を使って、確保した領域内の各要素にアクセス。</a:t>
            </a:r>
            <a:endParaRPr lang="en-US" altLang="ja-JP" sz="2000" dirty="0" smtClean="0"/>
          </a:p>
          <a:p>
            <a:pPr eaLnBrk="1" hangingPunct="1">
              <a:buFont typeface="Wingdings" pitchFamily="-64" charset="2"/>
              <a:buNone/>
              <a:defRPr/>
            </a:pPr>
            <a:r>
              <a:rPr lang="en-US" altLang="ja-JP" sz="2000" dirty="0" smtClean="0"/>
              <a:t>      p[0], p[1] </a:t>
            </a:r>
            <a:r>
              <a:rPr lang="ja-JP" altLang="en-US" sz="2000" dirty="0" smtClean="0"/>
              <a:t>などが領域内の各構造体を表す。（</a:t>
            </a:r>
            <a:r>
              <a:rPr lang="en-US" altLang="ja-JP" sz="2000" dirty="0" smtClean="0"/>
              <a:t>*p, *(p + 1), </a:t>
            </a:r>
            <a:r>
              <a:rPr lang="ja-JP" altLang="en-US" sz="2000" dirty="0" smtClean="0"/>
              <a:t>等でもよい）</a:t>
            </a:r>
            <a:endParaRPr lang="en-US" altLang="ja-JP" sz="2000" dirty="0" smtClean="0"/>
          </a:p>
          <a:p>
            <a:pPr eaLnBrk="1" hangingPunct="1">
              <a:buFont typeface="Wingdings" pitchFamily="-64" charset="2"/>
              <a:buNone/>
              <a:defRPr/>
            </a:pPr>
            <a:r>
              <a:rPr lang="en-US" altLang="ja-JP" sz="2000" dirty="0" smtClean="0"/>
              <a:t>      p[0].x, p[0].y, p[1].x, …</a:t>
            </a:r>
            <a:r>
              <a:rPr lang="ja-JP" altLang="en-US" sz="2000" dirty="0" smtClean="0"/>
              <a:t>などが、領域の中に確保された各構造体のメンバーを表すことになる。</a:t>
            </a:r>
            <a:endParaRPr lang="en-US" altLang="ja-JP" sz="2000" dirty="0" smtClean="0"/>
          </a:p>
          <a:p>
            <a:pPr eaLnBrk="1" hangingPunct="1">
              <a:buFont typeface="Wingdings" pitchFamily="-64" charset="2"/>
              <a:buNone/>
              <a:defRPr/>
            </a:pPr>
            <a:r>
              <a:rPr lang="en-US" altLang="ja-JP" sz="2000" dirty="0" smtClean="0"/>
              <a:t>      p -&gt; x, p -&gt; y, (p+1)-&gt; x </a:t>
            </a:r>
            <a:r>
              <a:rPr lang="ja-JP" altLang="en-US" sz="2000" dirty="0" smtClean="0"/>
              <a:t>等、アローを使った表記でもよい。</a:t>
            </a:r>
            <a:endParaRPr lang="en-US" altLang="ja-JP" sz="2000" dirty="0" smtClean="0"/>
          </a:p>
        </p:txBody>
      </p:sp>
      <p:sp>
        <p:nvSpPr>
          <p:cNvPr id="33798" name="Text Box 4"/>
          <p:cNvSpPr txBox="1">
            <a:spLocks noChangeArrowheads="1"/>
          </p:cNvSpPr>
          <p:nvPr/>
        </p:nvSpPr>
        <p:spPr bwMode="auto">
          <a:xfrm>
            <a:off x="1000125" y="5357813"/>
            <a:ext cx="1704975" cy="1200150"/>
          </a:xfrm>
          <a:prstGeom prst="rect">
            <a:avLst/>
          </a:prstGeom>
          <a:solidFill>
            <a:srgbClr val="CCECFF"/>
          </a:solidFill>
          <a:ln w="9525" algn="ctr">
            <a:solidFill>
              <a:schemeClr val="tx1"/>
            </a:solidFill>
            <a:miter lim="800000"/>
            <a:headEnd/>
            <a:tailEnd/>
          </a:ln>
        </p:spPr>
        <p:txBody>
          <a:bodyPr wrap="none">
            <a:spAutoFit/>
          </a:bodyPr>
          <a:lstStyle/>
          <a:p>
            <a:r>
              <a:rPr lang="en-US" altLang="ja-JP" b="0"/>
              <a:t>typedef struct {</a:t>
            </a:r>
          </a:p>
          <a:p>
            <a:r>
              <a:rPr lang="en-US" altLang="ja-JP" b="0"/>
              <a:t>   double  x;</a:t>
            </a:r>
          </a:p>
          <a:p>
            <a:r>
              <a:rPr lang="en-US" altLang="ja-JP" b="0"/>
              <a:t>   double  y;</a:t>
            </a:r>
          </a:p>
          <a:p>
            <a:r>
              <a:rPr lang="en-US" altLang="ja-JP" b="0"/>
              <a:t>} point;</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チャレンジ課題</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課題２の表示を、合計点の高い順に行えるようにせよ。</a:t>
            </a:r>
            <a:endParaRPr kumimoji="1" lang="ja-JP" altLang="en-US"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361</TotalTime>
  <Words>1733</Words>
  <Application>Microsoft Office PowerPoint</Application>
  <PresentationFormat>画面に合わせる (4:3)</PresentationFormat>
  <Paragraphs>211</Paragraphs>
  <Slides>19</Slides>
  <Notes>0</Notes>
  <HiddenSlides>0</HiddenSlides>
  <MMClips>0</MMClips>
  <ScaleCrop>false</ScaleCrop>
  <HeadingPairs>
    <vt:vector size="4" baseType="variant">
      <vt:variant>
        <vt:lpstr>テーマ</vt:lpstr>
      </vt:variant>
      <vt:variant>
        <vt:i4>1</vt:i4>
      </vt:variant>
      <vt:variant>
        <vt:lpstr>スライド タイトル</vt:lpstr>
      </vt:variant>
      <vt:variant>
        <vt:i4>19</vt:i4>
      </vt:variant>
    </vt:vector>
  </HeadingPairs>
  <TitlesOfParts>
    <vt:vector size="20" baseType="lpstr">
      <vt:lpstr>Office テーマ</vt:lpstr>
      <vt:lpstr>プログラミング入門２</vt:lpstr>
      <vt:lpstr>今日の内容</vt:lpstr>
      <vt:lpstr>動的な記憶域確保</vt:lpstr>
      <vt:lpstr>ヒープ領域(heap)</vt:lpstr>
      <vt:lpstr>calloc関数</vt:lpstr>
      <vt:lpstr>例（打ち込んで確認）</vt:lpstr>
      <vt:lpstr>解説</vt:lpstr>
      <vt:lpstr>sizeof演算子</vt:lpstr>
      <vt:lpstr>例（打ち込んで確認）</vt:lpstr>
      <vt:lpstr>void へのポインタ</vt:lpstr>
      <vt:lpstr>free関数 :  記憶域の解放</vt:lpstr>
      <vt:lpstr>例（打ち込んで確認）</vt:lpstr>
      <vt:lpstr>確保した領域へ値を書き込む例（打ち込んで確認）</vt:lpstr>
      <vt:lpstr>１次元配列の動的確保</vt:lpstr>
      <vt:lpstr>例（打ち込んで確認）</vt:lpstr>
      <vt:lpstr>今日の課題１</vt:lpstr>
      <vt:lpstr>今日の課題２</vt:lpstr>
      <vt:lpstr>構造体配列の動的確保（pointでの例）</vt:lpstr>
      <vt:lpstr>チャレンジ課題</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dc:title>
  <dc:creator>sasano</dc:creator>
  <cp:lastModifiedBy>sasano</cp:lastModifiedBy>
  <cp:revision>248</cp:revision>
  <dcterms:created xsi:type="dcterms:W3CDTF">2009-12-04T09:18:28Z</dcterms:created>
  <dcterms:modified xsi:type="dcterms:W3CDTF">2009-12-07T04:57:08Z</dcterms:modified>
</cp:coreProperties>
</file>