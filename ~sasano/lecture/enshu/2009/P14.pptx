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80"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2010/1/14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プログラミング入門２</a:t>
            </a:r>
            <a:r>
              <a:rPr lang="en-US" altLang="ja-JP" dirty="0" smtClean="0"/>
              <a:t/>
            </a:r>
            <a:br>
              <a:rPr lang="en-US" altLang="ja-JP" dirty="0" smtClean="0"/>
            </a:br>
            <a:r>
              <a:rPr lang="ja-JP" altLang="en-US" dirty="0" smtClean="0"/>
              <a:t>第１４回</a:t>
            </a:r>
            <a:endParaRPr kumimoji="1" lang="ja-JP" altLang="en-US" dirty="0"/>
          </a:p>
        </p:txBody>
      </p:sp>
      <p:sp>
        <p:nvSpPr>
          <p:cNvPr id="4" name="テキスト ボックス 3"/>
          <p:cNvSpPr txBox="1"/>
          <p:nvPr/>
        </p:nvSpPr>
        <p:spPr>
          <a:xfrm>
            <a:off x="2357422" y="4714884"/>
            <a:ext cx="4012637"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前回出題した総合演習課題の続き</a:t>
            </a:r>
            <a:endParaRPr kumimoji="1" lang="en-US" altLang="ja-JP" dirty="0" smtClean="0"/>
          </a:p>
          <a:p>
            <a:pPr marL="971550" lvl="1" indent="-514350"/>
            <a:r>
              <a:rPr lang="ja-JP" altLang="en-US" dirty="0" smtClean="0"/>
              <a:t>今日の</a:t>
            </a:r>
            <a:r>
              <a:rPr lang="en-US" altLang="ja-JP" dirty="0" smtClean="0"/>
              <a:t>16:10</a:t>
            </a:r>
            <a:r>
              <a:rPr lang="ja-JP" altLang="en-US" dirty="0" err="1" smtClean="0"/>
              <a:t>までに</a:t>
            </a:r>
            <a:r>
              <a:rPr lang="ja-JP" altLang="en-US" dirty="0" smtClean="0"/>
              <a:t>総合演習課題を終了してください。これまでの各回の課題も今日の</a:t>
            </a:r>
            <a:r>
              <a:rPr lang="en-US" altLang="ja-JP" dirty="0" smtClean="0"/>
              <a:t>16:10</a:t>
            </a:r>
            <a:r>
              <a:rPr lang="ja-JP" altLang="en-US" dirty="0" err="1" smtClean="0"/>
              <a:t>まで</a:t>
            </a:r>
            <a:r>
              <a:rPr lang="ja-JP" altLang="en-US" dirty="0" smtClean="0"/>
              <a:t>とします。</a:t>
            </a:r>
            <a:endParaRPr kumimoji="1" lang="en-US" altLang="ja-JP" dirty="0" smtClean="0"/>
          </a:p>
          <a:p>
            <a:r>
              <a:rPr lang="ja-JP" altLang="en-US" dirty="0" smtClean="0"/>
              <a:t>中間試験について</a:t>
            </a:r>
            <a:endParaRPr lang="en-US" altLang="ja-JP" dirty="0" smtClean="0"/>
          </a:p>
          <a:p>
            <a:r>
              <a:rPr kumimoji="1" lang="ja-JP" altLang="en-US" dirty="0" smtClean="0"/>
              <a:t>期末試験</a:t>
            </a:r>
            <a:r>
              <a:rPr lang="ja-JP" altLang="en-US" dirty="0" smtClean="0"/>
              <a:t>について</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中間試験について</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大多数の学生は６割以上できていましたが、６割以下が</a:t>
            </a:r>
            <a:r>
              <a:rPr lang="en-US" altLang="ja-JP" dirty="0" smtClean="0"/>
              <a:t>12</a:t>
            </a:r>
            <a:r>
              <a:rPr lang="ja-JP" altLang="en-US" dirty="0" smtClean="0"/>
              <a:t>名います</a:t>
            </a:r>
            <a:r>
              <a:rPr lang="ja-JP" altLang="en-US" dirty="0" smtClean="0"/>
              <a:t>。（</a:t>
            </a:r>
            <a:r>
              <a:rPr lang="en-US" altLang="ja-JP" dirty="0" smtClean="0"/>
              <a:t>36</a:t>
            </a:r>
            <a:r>
              <a:rPr lang="ja-JP" altLang="en-US" dirty="0" smtClean="0"/>
              <a:t>点満点、</a:t>
            </a:r>
            <a:r>
              <a:rPr lang="en-US" altLang="ja-JP" dirty="0" smtClean="0"/>
              <a:t>22</a:t>
            </a:r>
            <a:r>
              <a:rPr lang="ja-JP" altLang="en-US" dirty="0" smtClean="0"/>
              <a:t>点以下だった人は期末までに十分に準備してください。）</a:t>
            </a:r>
            <a:endParaRPr lang="en-US" altLang="ja-JP" dirty="0" smtClean="0"/>
          </a:p>
          <a:p>
            <a:r>
              <a:rPr kumimoji="1" lang="ja-JP" altLang="en-US" dirty="0" smtClean="0"/>
              <a:t>注意事項２点（次ページ以下）</a:t>
            </a:r>
            <a:endParaRPr kumimoji="1" lang="en-US" altLang="ja-JP" dirty="0" smtClean="0"/>
          </a:p>
          <a:p>
            <a:pPr lvl="1"/>
            <a:r>
              <a:rPr lang="ja-JP" altLang="en-US" dirty="0" smtClean="0"/>
              <a:t>関数定義のネストについて</a:t>
            </a:r>
            <a:endParaRPr lang="en-US" altLang="ja-JP" dirty="0" smtClean="0"/>
          </a:p>
          <a:p>
            <a:pPr lvl="1"/>
            <a:r>
              <a:rPr kumimoji="1" lang="ja-JP" altLang="en-US" dirty="0" smtClean="0"/>
              <a:t>グローバル変数について</a:t>
            </a:r>
            <a:endParaRPr kumimoji="1" lang="ja-JP"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関数定義のネストについて</a:t>
            </a:r>
            <a:endParaRPr kumimoji="1" lang="ja-JP" altLang="en-US" dirty="0"/>
          </a:p>
        </p:txBody>
      </p:sp>
      <p:sp>
        <p:nvSpPr>
          <p:cNvPr id="3" name="コンテンツ プレースホルダ 2"/>
          <p:cNvSpPr>
            <a:spLocks noGrp="1"/>
          </p:cNvSpPr>
          <p:nvPr>
            <p:ph idx="1"/>
          </p:nvPr>
        </p:nvSpPr>
        <p:spPr>
          <a:xfrm>
            <a:off x="457200" y="1571612"/>
            <a:ext cx="8229600" cy="4525963"/>
          </a:xfrm>
        </p:spPr>
        <p:txBody>
          <a:bodyPr>
            <a:normAutofit fontScale="92500" lnSpcReduction="20000"/>
          </a:bodyPr>
          <a:lstStyle/>
          <a:p>
            <a:r>
              <a:rPr kumimoji="1" lang="ja-JP" altLang="en-US" dirty="0" smtClean="0"/>
              <a:t>関数定義の中に関数定義を書いた</a:t>
            </a:r>
            <a:r>
              <a:rPr lang="ja-JP" altLang="en-US" dirty="0" smtClean="0"/>
              <a:t>人が１名いました。これは、</a:t>
            </a:r>
            <a:r>
              <a:rPr lang="en-US" altLang="ja-JP" dirty="0" smtClean="0"/>
              <a:t>ISO</a:t>
            </a:r>
            <a:r>
              <a:rPr lang="ja-JP" altLang="en-US" dirty="0" smtClean="0"/>
              <a:t>規格では許されていません。ただし、</a:t>
            </a:r>
            <a:r>
              <a:rPr lang="en-US" altLang="ja-JP" dirty="0" smtClean="0"/>
              <a:t>GNU</a:t>
            </a:r>
            <a:r>
              <a:rPr lang="ja-JP" altLang="en-US" dirty="0" smtClean="0"/>
              <a:t>の言語拡張では許されています。演習室の</a:t>
            </a:r>
            <a:r>
              <a:rPr lang="en-US" altLang="ja-JP" dirty="0" smtClean="0"/>
              <a:t>C</a:t>
            </a:r>
            <a:r>
              <a:rPr lang="ja-JP" altLang="en-US" dirty="0" smtClean="0"/>
              <a:t>コンパイラは</a:t>
            </a:r>
            <a:r>
              <a:rPr lang="en-US" altLang="ja-JP" dirty="0" smtClean="0"/>
              <a:t>GNU</a:t>
            </a:r>
            <a:r>
              <a:rPr lang="ja-JP" altLang="en-US" dirty="0" smtClean="0"/>
              <a:t>のコンパイラであり、関数定義内に関数定義を記述可能です。</a:t>
            </a:r>
            <a:endParaRPr lang="en-US" altLang="ja-JP" dirty="0" smtClean="0"/>
          </a:p>
          <a:p>
            <a:r>
              <a:rPr lang="ja-JP" altLang="en-US" dirty="0" smtClean="0"/>
              <a:t>関数定義のネストは他の多くの言語では許されており、自然ですが、</a:t>
            </a:r>
            <a:r>
              <a:rPr lang="en-US" altLang="ja-JP" dirty="0" smtClean="0"/>
              <a:t>ISO</a:t>
            </a:r>
            <a:r>
              <a:rPr lang="ja-JP" altLang="en-US" dirty="0" smtClean="0"/>
              <a:t>規格では許されていないということを知っておいてください。（規格に取り入れてもよさそうに思いますが、今は入っていません。）</a:t>
            </a:r>
            <a:endParaRPr lang="en-US" altLang="ja-JP" dirty="0" smtClean="0"/>
          </a:p>
          <a:p>
            <a:r>
              <a:rPr lang="ja-JP" altLang="en-US" dirty="0" smtClean="0"/>
              <a:t>減点対象とはしません。</a:t>
            </a:r>
            <a:endParaRPr kumimoji="1" lang="ja-JP"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関数定義のネストの</a:t>
            </a:r>
            <a:r>
              <a:rPr kumimoji="1" lang="ja-JP" altLang="en-US" dirty="0" smtClean="0"/>
              <a:t>例</a:t>
            </a:r>
            <a:endParaRPr kumimoji="1" lang="ja-JP" altLang="en-US" dirty="0"/>
          </a:p>
        </p:txBody>
      </p:sp>
      <p:sp>
        <p:nvSpPr>
          <p:cNvPr id="5" name="正方形/長方形 4"/>
          <p:cNvSpPr/>
          <p:nvPr/>
        </p:nvSpPr>
        <p:spPr>
          <a:xfrm>
            <a:off x="571472" y="1500174"/>
            <a:ext cx="4000528"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 sum (</a:t>
            </a:r>
            <a:r>
              <a:rPr lang="en-US" altLang="ja-JP" sz="2400" dirty="0" err="1" smtClean="0">
                <a:solidFill>
                  <a:srgbClr val="FF0000"/>
                </a:solidFill>
              </a:rPr>
              <a:t>int</a:t>
            </a:r>
            <a:r>
              <a:rPr lang="en-US" altLang="ja-JP" sz="2400" dirty="0" smtClean="0">
                <a:solidFill>
                  <a:srgbClr val="FF0000"/>
                </a:solidFill>
              </a:rPr>
              <a:t> n){</a:t>
            </a:r>
          </a:p>
          <a:p>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 </a:t>
            </a:r>
            <a:r>
              <a:rPr lang="en-US" altLang="ja-JP" sz="2400" dirty="0" err="1" smtClean="0">
                <a:solidFill>
                  <a:srgbClr val="FF0000"/>
                </a:solidFill>
              </a:rPr>
              <a:t>i</a:t>
            </a:r>
            <a:r>
              <a:rPr lang="en-US" altLang="ja-JP" sz="2400" dirty="0" smtClean="0">
                <a:solidFill>
                  <a:srgbClr val="FF0000"/>
                </a:solidFill>
              </a:rPr>
              <a:t>, sum=0;</a:t>
            </a:r>
          </a:p>
          <a:p>
            <a:r>
              <a:rPr lang="en-US" altLang="ja-JP" sz="2400" dirty="0" smtClean="0">
                <a:solidFill>
                  <a:srgbClr val="FF0000"/>
                </a:solidFill>
              </a:rPr>
              <a:t>    for (</a:t>
            </a:r>
            <a:r>
              <a:rPr lang="en-US" altLang="ja-JP" sz="2400" dirty="0" err="1" smtClean="0">
                <a:solidFill>
                  <a:srgbClr val="FF0000"/>
                </a:solidFill>
              </a:rPr>
              <a:t>i</a:t>
            </a:r>
            <a:r>
              <a:rPr lang="en-US" altLang="ja-JP" sz="2400" dirty="0" smtClean="0">
                <a:solidFill>
                  <a:srgbClr val="FF0000"/>
                </a:solidFill>
              </a:rPr>
              <a:t>=1; </a:t>
            </a:r>
            <a:r>
              <a:rPr lang="en-US" altLang="ja-JP" sz="2400" dirty="0" err="1" smtClean="0">
                <a:solidFill>
                  <a:srgbClr val="FF0000"/>
                </a:solidFill>
              </a:rPr>
              <a:t>i</a:t>
            </a:r>
            <a:r>
              <a:rPr lang="en-US" altLang="ja-JP" sz="2400" dirty="0" smtClean="0">
                <a:solidFill>
                  <a:srgbClr val="FF0000"/>
                </a:solidFill>
              </a:rPr>
              <a:t>&lt;=n; </a:t>
            </a:r>
            <a:r>
              <a:rPr lang="en-US" altLang="ja-JP" sz="2400" dirty="0" err="1" smtClean="0">
                <a:solidFill>
                  <a:srgbClr val="FF0000"/>
                </a:solidFill>
              </a:rPr>
              <a:t>i</a:t>
            </a:r>
            <a:r>
              <a:rPr lang="en-US" altLang="ja-JP" sz="2400" dirty="0" smtClean="0">
                <a:solidFill>
                  <a:srgbClr val="FF0000"/>
                </a:solidFill>
              </a:rPr>
              <a:t>++)</a:t>
            </a:r>
          </a:p>
          <a:p>
            <a:r>
              <a:rPr lang="en-US" altLang="ja-JP" sz="2400" dirty="0" smtClean="0">
                <a:solidFill>
                  <a:srgbClr val="FF0000"/>
                </a:solidFill>
              </a:rPr>
              <a:t>      sum=</a:t>
            </a:r>
            <a:r>
              <a:rPr lang="en-US" altLang="ja-JP" sz="2400" dirty="0" err="1" smtClean="0">
                <a:solidFill>
                  <a:srgbClr val="FF0000"/>
                </a:solidFill>
              </a:rPr>
              <a:t>sum+i</a:t>
            </a:r>
            <a:r>
              <a:rPr lang="en-US" altLang="ja-JP" sz="2400" dirty="0" smtClean="0">
                <a:solidFill>
                  <a:srgbClr val="FF0000"/>
                </a:solidFill>
              </a:rPr>
              <a:t>;</a:t>
            </a:r>
          </a:p>
          <a:p>
            <a:r>
              <a:rPr lang="en-US" altLang="ja-JP" sz="2400" dirty="0" smtClean="0">
                <a:solidFill>
                  <a:srgbClr val="FF0000"/>
                </a:solidFill>
              </a:rPr>
              <a:t>    return sum;</a:t>
            </a:r>
          </a:p>
          <a:p>
            <a:r>
              <a:rPr lang="en-US" altLang="ja-JP" sz="2400" dirty="0" smtClean="0">
                <a:solidFill>
                  <a:srgbClr val="FF0000"/>
                </a:solidFill>
              </a:rPr>
              <a:t>  }</a:t>
            </a:r>
          </a:p>
          <a:p>
            <a:r>
              <a:rPr lang="en-US" altLang="ja-JP" sz="2400" dirty="0" smtClean="0"/>
              <a:t>  </a:t>
            </a:r>
            <a:r>
              <a:rPr lang="en-US" altLang="ja-JP" sz="2400" dirty="0" err="1" smtClean="0"/>
              <a:t>printf</a:t>
            </a:r>
            <a:r>
              <a:rPr lang="en-US" altLang="ja-JP" sz="2400" dirty="0" smtClean="0"/>
              <a:t> ("sum(10)=%d\n",</a:t>
            </a:r>
          </a:p>
          <a:p>
            <a:r>
              <a:rPr lang="en-US" altLang="ja-JP" sz="2400" dirty="0" smtClean="0"/>
              <a:t>              sum(10));</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4786314" y="3071810"/>
            <a:ext cx="3929090" cy="3046988"/>
          </a:xfrm>
          <a:prstGeom prst="rect">
            <a:avLst/>
          </a:prstGeom>
          <a:noFill/>
        </p:spPr>
        <p:txBody>
          <a:bodyPr wrap="square" rtlCol="0">
            <a:spAutoFit/>
          </a:bodyPr>
          <a:lstStyle/>
          <a:p>
            <a:r>
              <a:rPr lang="ja-JP" altLang="en-US" sz="2400" dirty="0" smtClean="0"/>
              <a:t>こ</a:t>
            </a:r>
            <a:r>
              <a:rPr kumimoji="1" lang="ja-JP" altLang="en-US" sz="2400" dirty="0" smtClean="0"/>
              <a:t>のプログラムは演習室の環境ではコンパイルが通るが、</a:t>
            </a:r>
            <a:r>
              <a:rPr kumimoji="1" lang="en-US" altLang="ja-JP" sz="2400" dirty="0" smtClean="0"/>
              <a:t>ISO</a:t>
            </a:r>
            <a:r>
              <a:rPr lang="ja-JP" altLang="en-US" sz="2400" dirty="0" smtClean="0"/>
              <a:t>規格では許されていない。</a:t>
            </a:r>
            <a:endParaRPr lang="en-US" altLang="ja-JP" sz="2400" dirty="0" smtClean="0"/>
          </a:p>
          <a:p>
            <a:endParaRPr kumimoji="1" lang="en-US" altLang="ja-JP" sz="2400" dirty="0" smtClean="0"/>
          </a:p>
          <a:p>
            <a:r>
              <a:rPr lang="en-US" altLang="ja-JP" sz="2400" dirty="0" smtClean="0"/>
              <a:t>$ </a:t>
            </a:r>
            <a:r>
              <a:rPr lang="en-US" altLang="ja-JP" sz="2400" dirty="0" err="1" smtClean="0"/>
              <a:t>gcc</a:t>
            </a:r>
            <a:r>
              <a:rPr lang="en-US" altLang="ja-JP" sz="2400" dirty="0" smtClean="0"/>
              <a:t> –pedantic </a:t>
            </a:r>
            <a:r>
              <a:rPr lang="en-US" altLang="ja-JP" sz="2400" dirty="0" err="1" smtClean="0"/>
              <a:t>test.c</a:t>
            </a:r>
            <a:endParaRPr lang="en-US" altLang="ja-JP" sz="2400" dirty="0" smtClean="0"/>
          </a:p>
          <a:p>
            <a:r>
              <a:rPr kumimoji="1" lang="ja-JP" altLang="en-US" sz="2400" dirty="0" err="1" smtClean="0"/>
              <a:t>のように</a:t>
            </a:r>
            <a:r>
              <a:rPr kumimoji="1" lang="en-US" altLang="ja-JP" sz="2400" dirty="0" smtClean="0"/>
              <a:t>-pedantic</a:t>
            </a:r>
            <a:r>
              <a:rPr kumimoji="1" lang="ja-JP" altLang="en-US" sz="2400" dirty="0" smtClean="0"/>
              <a:t>をオプションに指定することによって、警告が出るようになる。</a:t>
            </a:r>
            <a:endParaRPr kumimoji="1" lang="ja-JP" altLang="en-US" sz="2400" dirty="0"/>
          </a:p>
        </p:txBody>
      </p:sp>
      <p:sp>
        <p:nvSpPr>
          <p:cNvPr id="7" name="テキスト ボックス 6"/>
          <p:cNvSpPr txBox="1"/>
          <p:nvPr/>
        </p:nvSpPr>
        <p:spPr>
          <a:xfrm>
            <a:off x="3357554" y="2000240"/>
            <a:ext cx="3214710" cy="830997"/>
          </a:xfrm>
          <a:prstGeom prst="rect">
            <a:avLst/>
          </a:prstGeom>
          <a:solidFill>
            <a:schemeClr val="bg1"/>
          </a:solidFill>
          <a:ln>
            <a:solidFill>
              <a:schemeClr val="tx1"/>
            </a:solidFill>
          </a:ln>
        </p:spPr>
        <p:txBody>
          <a:bodyPr wrap="square" rtlCol="0">
            <a:spAutoFit/>
          </a:bodyPr>
          <a:lstStyle/>
          <a:p>
            <a:r>
              <a:rPr lang="ja-JP" altLang="en-US" sz="2400" dirty="0" smtClean="0"/>
              <a:t>赤字部分が、関数定義内に記述した</a:t>
            </a:r>
            <a:r>
              <a:rPr kumimoji="1" lang="ja-JP" altLang="en-US" sz="2400" dirty="0" smtClean="0"/>
              <a:t>関数定義</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グローバル変数について</a:t>
            </a:r>
            <a:endParaRPr kumimoji="1" lang="ja-JP" altLang="en-US" dirty="0"/>
          </a:p>
        </p:txBody>
      </p:sp>
      <p:sp>
        <p:nvSpPr>
          <p:cNvPr id="3" name="コンテンツ プレースホルダ 2"/>
          <p:cNvSpPr>
            <a:spLocks noGrp="1"/>
          </p:cNvSpPr>
          <p:nvPr>
            <p:ph idx="1"/>
          </p:nvPr>
        </p:nvSpPr>
        <p:spPr>
          <a:xfrm>
            <a:off x="457200" y="1600200"/>
            <a:ext cx="8229600" cy="4829196"/>
          </a:xfrm>
        </p:spPr>
        <p:txBody>
          <a:bodyPr>
            <a:normAutofit fontScale="92500" lnSpcReduction="20000"/>
          </a:bodyPr>
          <a:lstStyle/>
          <a:p>
            <a:r>
              <a:rPr kumimoji="1" lang="ja-JP" altLang="en-US" dirty="0" smtClean="0"/>
              <a:t>関数定義の外に変数宣言を書いた人がいました。関数定義の外で宣言すると、グローバル変数となり、関数呼び出しとは関係なく、プログラム実行の最初から最後まで存在します。関数定義の内部に書いた変数は、その関数の呼び出し毎に別の変数として扱われます。</a:t>
            </a:r>
            <a:endParaRPr kumimoji="1" lang="en-US" altLang="ja-JP" dirty="0" smtClean="0"/>
          </a:p>
          <a:p>
            <a:r>
              <a:rPr lang="ja-JP" altLang="en-US" dirty="0" smtClean="0"/>
              <a:t>グローバル変数を使って挙動のおかしいプログラムを書いた場合は減点対象とします。</a:t>
            </a:r>
            <a:endParaRPr lang="en-US" altLang="ja-JP" dirty="0" smtClean="0"/>
          </a:p>
          <a:p>
            <a:r>
              <a:rPr kumimoji="1" lang="ja-JP" altLang="en-US" dirty="0" smtClean="0"/>
              <a:t>グローバル変数は講義では説明していません。</a:t>
            </a:r>
            <a:endParaRPr kumimoji="1" lang="en-US" altLang="ja-JP" dirty="0" smtClean="0"/>
          </a:p>
          <a:p>
            <a:r>
              <a:rPr kumimoji="1" lang="ja-JP" altLang="en-US" dirty="0" smtClean="0"/>
              <a:t>期末試験ではグローバル変数は使わないようにしてください。</a:t>
            </a:r>
            <a:endParaRPr kumimoji="1" lang="ja-JP"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endParaRPr kumimoji="1" lang="ja-JP" altLang="en-US" dirty="0"/>
          </a:p>
        </p:txBody>
      </p:sp>
      <p:sp>
        <p:nvSpPr>
          <p:cNvPr id="4" name="正方形/長方形 3"/>
          <p:cNvSpPr/>
          <p:nvPr/>
        </p:nvSpPr>
        <p:spPr>
          <a:xfrm>
            <a:off x="428596" y="1500174"/>
            <a:ext cx="4214842"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solidFill>
                  <a:srgbClr val="FF0000"/>
                </a:solidFill>
              </a:rPr>
              <a:t>int</a:t>
            </a:r>
            <a:r>
              <a:rPr lang="en-US" altLang="ja-JP" sz="2400" dirty="0" smtClean="0">
                <a:solidFill>
                  <a:srgbClr val="FF0000"/>
                </a:solidFill>
              </a:rPr>
              <a:t> s=0;</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=1; </a:t>
            </a:r>
            <a:r>
              <a:rPr lang="en-US" altLang="ja-JP" sz="2400" dirty="0" err="1" smtClean="0"/>
              <a:t>i</a:t>
            </a:r>
            <a:r>
              <a:rPr lang="en-US" altLang="ja-JP" sz="2400" dirty="0" smtClean="0"/>
              <a:t>&lt;=n; </a:t>
            </a:r>
            <a:r>
              <a:rPr lang="en-US" altLang="ja-JP" sz="2400" dirty="0" err="1" smtClean="0"/>
              <a:t>i</a:t>
            </a:r>
            <a:r>
              <a:rPr lang="en-US" altLang="ja-JP" sz="2400" dirty="0" smtClean="0"/>
              <a:t>++)</a:t>
            </a:r>
          </a:p>
          <a:p>
            <a:r>
              <a:rPr lang="en-US" altLang="ja-JP" sz="2400" dirty="0" smtClean="0"/>
              <a:t>    s=</a:t>
            </a:r>
            <a:r>
              <a:rPr lang="en-US" altLang="ja-JP" sz="2400" dirty="0" err="1" smtClean="0"/>
              <a:t>s+i</a:t>
            </a:r>
            <a:r>
              <a:rPr lang="en-US" altLang="ja-JP" sz="2400" dirty="0" smtClean="0"/>
              <a:t>;</a:t>
            </a:r>
          </a:p>
          <a:p>
            <a:r>
              <a:rPr lang="en-US" altLang="ja-JP" sz="2400" dirty="0" smtClean="0"/>
              <a:t>  return s;</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("sum=%d\n", sum(10));</a:t>
            </a:r>
          </a:p>
          <a:p>
            <a:r>
              <a:rPr lang="en-US" altLang="ja-JP" sz="2400" dirty="0" smtClean="0"/>
              <a:t>  </a:t>
            </a:r>
            <a:r>
              <a:rPr lang="en-US" altLang="ja-JP" sz="2400" dirty="0" err="1" smtClean="0"/>
              <a:t>printf</a:t>
            </a:r>
            <a:r>
              <a:rPr lang="en-US" altLang="ja-JP" sz="2400" dirty="0" smtClean="0"/>
              <a:t> ("sum=%d\n", sum(10));</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4857752" y="1500174"/>
            <a:ext cx="3929090" cy="3416320"/>
          </a:xfrm>
          <a:prstGeom prst="rect">
            <a:avLst/>
          </a:prstGeom>
          <a:noFill/>
        </p:spPr>
        <p:txBody>
          <a:bodyPr wrap="square" rtlCol="0">
            <a:spAutoFit/>
          </a:bodyPr>
          <a:lstStyle/>
          <a:p>
            <a:r>
              <a:rPr kumimoji="1" lang="ja-JP" altLang="en-US" sz="2400" dirty="0" smtClean="0"/>
              <a:t>このプログラムでは</a:t>
            </a:r>
            <a:r>
              <a:rPr kumimoji="1" lang="en-US" altLang="ja-JP" sz="2400" dirty="0" smtClean="0"/>
              <a:t>s</a:t>
            </a:r>
            <a:r>
              <a:rPr kumimoji="1" lang="ja-JP" altLang="en-US" sz="2400" dirty="0" smtClean="0"/>
              <a:t>をグローバル変数として宣言している。</a:t>
            </a:r>
            <a:endParaRPr kumimoji="1" lang="en-US" altLang="ja-JP" sz="2400" dirty="0" smtClean="0"/>
          </a:p>
          <a:p>
            <a:endParaRPr lang="en-US" altLang="ja-JP" sz="2400" dirty="0" smtClean="0"/>
          </a:p>
          <a:p>
            <a:r>
              <a:rPr lang="en-US" altLang="ja-JP" sz="2400" dirty="0" smtClean="0"/>
              <a:t>m</a:t>
            </a:r>
            <a:r>
              <a:rPr kumimoji="1" lang="en-US" altLang="ja-JP" sz="2400" dirty="0" smtClean="0"/>
              <a:t>ain</a:t>
            </a:r>
            <a:r>
              <a:rPr kumimoji="1" lang="ja-JP" altLang="en-US" sz="2400" dirty="0" smtClean="0"/>
              <a:t>関数内で２回</a:t>
            </a:r>
            <a:r>
              <a:rPr kumimoji="1" lang="en-US" altLang="ja-JP" sz="2400" dirty="0" smtClean="0"/>
              <a:t>sum</a:t>
            </a:r>
            <a:r>
              <a:rPr kumimoji="1" lang="ja-JP" altLang="en-US" sz="2400" dirty="0" smtClean="0"/>
              <a:t>を呼び出している</a:t>
            </a:r>
            <a:r>
              <a:rPr lang="ja-JP" altLang="en-US" sz="2400" dirty="0" smtClean="0"/>
              <a:t>。１回目は</a:t>
            </a:r>
            <a:r>
              <a:rPr lang="en-US" altLang="ja-JP" sz="2400" dirty="0" smtClean="0"/>
              <a:t>s</a:t>
            </a:r>
            <a:r>
              <a:rPr lang="ja-JP" altLang="en-US" sz="2400" dirty="0" smtClean="0"/>
              <a:t>の値が</a:t>
            </a:r>
            <a:r>
              <a:rPr lang="en-US" altLang="ja-JP" sz="2400" dirty="0" smtClean="0"/>
              <a:t>55</a:t>
            </a:r>
            <a:r>
              <a:rPr lang="ja-JP" altLang="en-US" sz="2400" dirty="0" smtClean="0"/>
              <a:t>になり、</a:t>
            </a:r>
            <a:r>
              <a:rPr kumimoji="1" lang="ja-JP" altLang="en-US" sz="2400" dirty="0" smtClean="0"/>
              <a:t>返り値が</a:t>
            </a:r>
            <a:r>
              <a:rPr kumimoji="1" lang="en-US" altLang="ja-JP" sz="2400" dirty="0" smtClean="0"/>
              <a:t>55</a:t>
            </a:r>
            <a:r>
              <a:rPr kumimoji="1" lang="ja-JP" altLang="en-US" sz="2400" dirty="0" smtClean="0"/>
              <a:t>となるが、２回目は</a:t>
            </a:r>
            <a:r>
              <a:rPr kumimoji="1" lang="en-US" altLang="ja-JP" sz="2400" dirty="0" smtClean="0"/>
              <a:t>s</a:t>
            </a:r>
            <a:r>
              <a:rPr kumimoji="1" lang="ja-JP" altLang="en-US" sz="2400" dirty="0" smtClean="0"/>
              <a:t>の値が</a:t>
            </a:r>
            <a:r>
              <a:rPr kumimoji="1" lang="en-US" altLang="ja-JP" sz="2400" dirty="0" smtClean="0"/>
              <a:t>55</a:t>
            </a:r>
            <a:r>
              <a:rPr kumimoji="1" lang="ja-JP" altLang="en-US" sz="2400" dirty="0" smtClean="0"/>
              <a:t>の状態から計算が始まり、返り値が</a:t>
            </a:r>
            <a:r>
              <a:rPr kumimoji="1" lang="en-US" altLang="ja-JP" sz="2400" dirty="0" smtClean="0"/>
              <a:t>110</a:t>
            </a:r>
            <a:r>
              <a:rPr kumimoji="1" lang="ja-JP" altLang="en-US" sz="2400" dirty="0" smtClean="0"/>
              <a:t>となる。</a:t>
            </a:r>
            <a:endParaRPr kumimoji="1" lang="en-US" altLang="ja-JP" sz="24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細かい注意事項</a:t>
            </a:r>
            <a:endParaRPr kumimoji="1" lang="ja-JP" altLang="en-US" dirty="0"/>
          </a:p>
        </p:txBody>
      </p:sp>
      <p:sp>
        <p:nvSpPr>
          <p:cNvPr id="4" name="正方形/長方形 3"/>
          <p:cNvSpPr/>
          <p:nvPr/>
        </p:nvSpPr>
        <p:spPr>
          <a:xfrm>
            <a:off x="928662" y="1571612"/>
            <a:ext cx="7358114" cy="4524315"/>
          </a:xfrm>
          <a:prstGeom prst="rect">
            <a:avLst/>
          </a:prstGeom>
        </p:spPr>
        <p:txBody>
          <a:bodyPr wrap="square">
            <a:spAutoFit/>
          </a:bodyPr>
          <a:lstStyle/>
          <a:p>
            <a:r>
              <a:rPr lang="en-US" altLang="ja-JP" sz="3200" dirty="0" err="1" smtClean="0"/>
              <a:t>scanf</a:t>
            </a:r>
            <a:r>
              <a:rPr lang="ja-JP" altLang="en-US" sz="3200" dirty="0" smtClean="0"/>
              <a:t>関数で</a:t>
            </a:r>
            <a:r>
              <a:rPr lang="en-US" altLang="ja-JP" sz="3200" dirty="0" err="1" smtClean="0"/>
              <a:t>int</a:t>
            </a:r>
            <a:r>
              <a:rPr lang="ja-JP" altLang="en-US" sz="3200" dirty="0" smtClean="0"/>
              <a:t>型の数をキーボードから受け取る場合、</a:t>
            </a:r>
            <a:endParaRPr lang="en-US" altLang="ja-JP" sz="3200" dirty="0" smtClean="0"/>
          </a:p>
          <a:p>
            <a:pPr>
              <a:buNone/>
            </a:pPr>
            <a:r>
              <a:rPr lang="en-US" altLang="ja-JP" sz="3200" dirty="0" smtClean="0"/>
              <a:t>    </a:t>
            </a:r>
            <a:r>
              <a:rPr lang="en-US" altLang="ja-JP" sz="3200" dirty="0" err="1" smtClean="0"/>
              <a:t>scanf</a:t>
            </a:r>
            <a:r>
              <a:rPr lang="en-US" altLang="ja-JP" sz="3200" dirty="0" smtClean="0"/>
              <a:t> (“%d”, &amp;x);</a:t>
            </a:r>
          </a:p>
          <a:p>
            <a:pPr>
              <a:buNone/>
            </a:pPr>
            <a:r>
              <a:rPr lang="ja-JP" altLang="en-US" sz="3200" dirty="0" err="1" smtClean="0"/>
              <a:t>のように</a:t>
            </a:r>
            <a:r>
              <a:rPr lang="ja-JP" altLang="en-US" sz="3200" dirty="0" smtClean="0"/>
              <a:t>記述してください</a:t>
            </a:r>
            <a:r>
              <a:rPr lang="en-US" altLang="ja-JP" sz="3200" dirty="0" smtClean="0"/>
              <a:t>(\n</a:t>
            </a:r>
            <a:r>
              <a:rPr lang="ja-JP" altLang="en-US" sz="3200" dirty="0" smtClean="0"/>
              <a:t>を入れないようにしてください</a:t>
            </a:r>
            <a:r>
              <a:rPr lang="en-US" altLang="ja-JP" sz="3200" dirty="0" smtClean="0"/>
              <a:t>)</a:t>
            </a:r>
            <a:r>
              <a:rPr lang="ja-JP" altLang="en-US" sz="3200" dirty="0" err="1" smtClean="0"/>
              <a:t>。</a:t>
            </a:r>
            <a:endParaRPr lang="en-US" altLang="ja-JP" sz="3200" dirty="0" smtClean="0"/>
          </a:p>
          <a:p>
            <a:pPr>
              <a:buNone/>
            </a:pPr>
            <a:endParaRPr lang="en-US" altLang="ja-JP" sz="3200" dirty="0" smtClean="0"/>
          </a:p>
          <a:p>
            <a:pPr>
              <a:buNone/>
            </a:pPr>
            <a:r>
              <a:rPr lang="ja-JP" altLang="en-US" sz="3200" dirty="0" smtClean="0"/>
              <a:t>変数宣言のし忘れ、中括弧の閉じ忘れ、ダブルクォートの閉じ忘れ等にも注意してください。</a:t>
            </a:r>
            <a:endParaRPr lang="en-US" altLang="ja-JP" sz="32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期末試験について</a:t>
            </a:r>
            <a:endParaRPr kumimoji="1" lang="ja-JP" altLang="en-US" dirty="0"/>
          </a:p>
        </p:txBody>
      </p:sp>
      <p:sp>
        <p:nvSpPr>
          <p:cNvPr id="3" name="コンテンツ プレースホルダ 2"/>
          <p:cNvSpPr>
            <a:spLocks noGrp="1"/>
          </p:cNvSpPr>
          <p:nvPr>
            <p:ph idx="1"/>
          </p:nvPr>
        </p:nvSpPr>
        <p:spPr/>
        <p:txBody>
          <a:bodyPr>
            <a:normAutofit fontScale="92500" lnSpcReduction="10000"/>
          </a:bodyPr>
          <a:lstStyle/>
          <a:p>
            <a:r>
              <a:rPr kumimoji="1" lang="ja-JP" altLang="en-US" dirty="0" smtClean="0"/>
              <a:t>各回（第１回から第１２回まで）の２問の課題のプログラムが書けるようにしておいてください。</a:t>
            </a:r>
            <a:endParaRPr kumimoji="1" lang="en-US" altLang="ja-JP" dirty="0" smtClean="0"/>
          </a:p>
          <a:p>
            <a:r>
              <a:rPr lang="ja-JP" altLang="en-US" dirty="0" smtClean="0"/>
              <a:t>中間試験で出題した問題が解けるようにしておいてください。</a:t>
            </a:r>
            <a:endParaRPr lang="en-US" altLang="ja-JP" dirty="0" smtClean="0"/>
          </a:p>
          <a:p>
            <a:r>
              <a:rPr kumimoji="1" lang="ja-JP" altLang="en-US" dirty="0" smtClean="0"/>
              <a:t>細かい書き間違い</a:t>
            </a:r>
            <a:r>
              <a:rPr kumimoji="1" lang="en-US" altLang="ja-JP" dirty="0" smtClean="0"/>
              <a:t>(</a:t>
            </a:r>
            <a:r>
              <a:rPr kumimoji="1" lang="ja-JP" altLang="en-US" dirty="0" smtClean="0"/>
              <a:t>セミコロンの付け忘れ等</a:t>
            </a:r>
            <a:r>
              <a:rPr kumimoji="1" lang="en-US" altLang="ja-JP" dirty="0" smtClean="0"/>
              <a:t>)</a:t>
            </a:r>
            <a:r>
              <a:rPr kumimoji="1" lang="ja-JP" altLang="en-US" dirty="0" smtClean="0"/>
              <a:t>に注意してください。減点対象とします。</a:t>
            </a:r>
            <a:endParaRPr kumimoji="1" lang="en-US" altLang="ja-JP" dirty="0" smtClean="0"/>
          </a:p>
          <a:p>
            <a:r>
              <a:rPr lang="ja-JP" altLang="en-US" dirty="0" smtClean="0"/>
              <a:t>なるべく読みやすく書いてください。一部の人は（字の判別に苦労するほど）読みにくく、採点に非常に時間がかかります。（減点対象ではありませんが）</a:t>
            </a:r>
            <a:endParaRPr kumimoji="1" lang="en-US" altLang="ja-JP"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737</Words>
  <Application>Microsoft Office PowerPoint</Application>
  <PresentationFormat>画面に合わせる (4:3)</PresentationFormat>
  <Paragraphs>67</Paragraphs>
  <Slides>9</Slides>
  <Notes>0</Notes>
  <HiddenSlides>0</HiddenSlides>
  <MMClips>0</MMClips>
  <ScaleCrop>false</ScaleCrop>
  <HeadingPairs>
    <vt:vector size="4" baseType="variant">
      <vt:variant>
        <vt:lpstr>テーマ</vt:lpstr>
      </vt:variant>
      <vt:variant>
        <vt:i4>1</vt:i4>
      </vt:variant>
      <vt:variant>
        <vt:lpstr>スライド タイトル</vt:lpstr>
      </vt:variant>
      <vt:variant>
        <vt:i4>9</vt:i4>
      </vt:variant>
    </vt:vector>
  </HeadingPairs>
  <TitlesOfParts>
    <vt:vector size="10" baseType="lpstr">
      <vt:lpstr>Office テーマ</vt:lpstr>
      <vt:lpstr>プログラミング入門２ 第１４回</vt:lpstr>
      <vt:lpstr>今日の内容</vt:lpstr>
      <vt:lpstr>中間試験について</vt:lpstr>
      <vt:lpstr>関数定義のネストについて</vt:lpstr>
      <vt:lpstr>関数定義のネストの例</vt:lpstr>
      <vt:lpstr>グローバル変数について</vt:lpstr>
      <vt:lpstr>例</vt:lpstr>
      <vt:lpstr>細かい注意事項</vt:lpstr>
      <vt:lpstr>期末試験について</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 第１４回</dc:title>
  <dc:creator>sasano</dc:creator>
  <cp:lastModifiedBy>sasano</cp:lastModifiedBy>
  <cp:revision>71</cp:revision>
  <dcterms:created xsi:type="dcterms:W3CDTF">2010-01-11T09:25:49Z</dcterms:created>
  <dcterms:modified xsi:type="dcterms:W3CDTF">2010-01-14T04:58:19Z</dcterms:modified>
</cp:coreProperties>
</file>