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3" r:id="rId5"/>
    <p:sldId id="264" r:id="rId6"/>
    <p:sldId id="266" r:id="rId7"/>
    <p:sldId id="267" r:id="rId8"/>
    <p:sldId id="265" r:id="rId9"/>
    <p:sldId id="268" r:id="rId10"/>
    <p:sldId id="270" r:id="rId11"/>
    <p:sldId id="274" r:id="rId12"/>
    <p:sldId id="272" r:id="rId13"/>
    <p:sldId id="275" r:id="rId14"/>
    <p:sldId id="276" r:id="rId15"/>
    <p:sldId id="269" r:id="rId16"/>
    <p:sldId id="259" r:id="rId17"/>
    <p:sldId id="261" r:id="rId18"/>
    <p:sldId id="262" r:id="rId19"/>
    <p:sldId id="277" r:id="rId20"/>
    <p:sldId id="271" r:id="rId21"/>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99FF"/>
    <a:srgbClr val="FF00FF"/>
    <a:srgbClr val="CCFFFF"/>
    <a:srgbClr val="99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95" autoAdjust="0"/>
  </p:normalViewPr>
  <p:slideViewPr>
    <p:cSldViewPr snapToGrid="0" snapToObjects="1">
      <p:cViewPr varScale="1">
        <p:scale>
          <a:sx n="102" d="100"/>
          <a:sy n="102" d="100"/>
        </p:scale>
        <p:origin x="-24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 サブタイトルの書式設定</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 テキストの書式設定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8" name="フッター プレースホルダ 7"/>
          <p:cNvSpPr>
            <a:spLocks noGrp="1"/>
          </p:cNvSpPr>
          <p:nvPr>
            <p:ph type="ftr" sz="quarter" idx="11"/>
          </p:nvPr>
        </p:nvSpPr>
        <p:spPr/>
        <p:txBody>
          <a:bodyPr/>
          <a:lstStyle/>
          <a:p>
            <a:endParaRPr lang="ja-JP" altLang="en-US"/>
          </a:p>
        </p:txBody>
      </p:sp>
      <p:sp>
        <p:nvSpPr>
          <p:cNvPr id="9" name="スライド番号プレースホルダ 8"/>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日付プレースホルダ 2"/>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4" name="フッター プレースホルダ 3"/>
          <p:cNvSpPr>
            <a:spLocks noGrp="1"/>
          </p:cNvSpPr>
          <p:nvPr>
            <p:ph type="ftr" sz="quarter" idx="11"/>
          </p:nvPr>
        </p:nvSpPr>
        <p:spPr/>
        <p:txBody>
          <a:bodyPr/>
          <a:lstStyle/>
          <a:p>
            <a:endParaRPr lang="ja-JP" altLang="en-US"/>
          </a:p>
        </p:txBody>
      </p:sp>
      <p:sp>
        <p:nvSpPr>
          <p:cNvPr id="5" name="スライド番号プレースホルダ 4"/>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3" name="フッター プレースホルダ 2"/>
          <p:cNvSpPr>
            <a:spLocks noGrp="1"/>
          </p:cNvSpPr>
          <p:nvPr>
            <p:ph type="ftr" sz="quarter" idx="11"/>
          </p:nvPr>
        </p:nvSpPr>
        <p:spPr/>
        <p:txBody>
          <a:bodyPr/>
          <a:lstStyle/>
          <a:p>
            <a:endParaRPr lang="ja-JP" altLang="en-US"/>
          </a:p>
        </p:txBody>
      </p:sp>
      <p:sp>
        <p:nvSpPr>
          <p:cNvPr id="4" name="スライド番号プレースホルダ 3"/>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と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2009/10/26</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69B15-461F-3C49-A7CB-81B18F8080C2}" type="datetimeFigureOut">
              <a:rPr lang="ja-JP" altLang="en-US" smtClean="0"/>
              <a:pPr/>
              <a:t>2009/10/26</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99C1-627E-FC42-8FFB-5D7F940B813F}" type="slidenum">
              <a:rPr lang="ja-JP" altLang="en-US" smtClean="0"/>
              <a:pPr/>
              <a:t>&lt;#&gt;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29188"/>
            <a:ext cx="7772400" cy="2040591"/>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第６回</a:t>
            </a:r>
            <a:r>
              <a:rPr lang="en-US" altLang="ja-JP" dirty="0" smtClean="0"/>
              <a:t/>
            </a:r>
            <a:br>
              <a:rPr lang="en-US" altLang="ja-JP" dirty="0" smtClean="0"/>
            </a:br>
            <a:r>
              <a:rPr lang="ja-JP" altLang="en-US" dirty="0" smtClean="0"/>
              <a:t>関数</a:t>
            </a:r>
            <a:endParaRPr lang="ja-JP" altLang="en-US" dirty="0"/>
          </a:p>
        </p:txBody>
      </p:sp>
      <p:sp>
        <p:nvSpPr>
          <p:cNvPr id="4" name="テキスト ボックス 3"/>
          <p:cNvSpPr txBox="1"/>
          <p:nvPr/>
        </p:nvSpPr>
        <p:spPr>
          <a:xfrm>
            <a:off x="2400336" y="5359405"/>
            <a:ext cx="3865161" cy="584776"/>
          </a:xfrm>
          <a:prstGeom prst="rect">
            <a:avLst/>
          </a:prstGeom>
          <a:noFill/>
        </p:spPr>
        <p:txBody>
          <a:bodyPr wrap="none" rtlCol="0">
            <a:spAutoFit/>
          </a:bodyPr>
          <a:lstStyle/>
          <a:p>
            <a:r>
              <a:rPr kumimoji="1" lang="ja-JP" altLang="en-US" sz="3200" dirty="0" smtClean="0"/>
              <a:t>情報工学科</a:t>
            </a:r>
            <a:r>
              <a:rPr lang="ja-JP" altLang="en-US" sz="3200" dirty="0"/>
              <a:t>　</a:t>
            </a:r>
            <a:r>
              <a:rPr lang="ja-JP" altLang="en-US" sz="3200" dirty="0" smtClean="0"/>
              <a:t>篠埜</a:t>
            </a:r>
            <a:r>
              <a:rPr lang="en-US" altLang="ja-JP" sz="3200" dirty="0" smtClean="0"/>
              <a:t> </a:t>
            </a:r>
            <a:r>
              <a:rPr lang="ja-JP" altLang="en-US" sz="3200" dirty="0" smtClean="0"/>
              <a:t>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 </a:t>
            </a:r>
            <a:r>
              <a:rPr lang="en-US" altLang="ja-JP" dirty="0" smtClean="0"/>
              <a:t>--- </a:t>
            </a:r>
            <a:r>
              <a:rPr lang="ja-JP" altLang="en-US" dirty="0" smtClean="0"/>
              <a:t>関数</a:t>
            </a:r>
            <a:endParaRPr lang="ja-JP" altLang="en-US" dirty="0"/>
          </a:p>
        </p:txBody>
      </p:sp>
      <p:sp>
        <p:nvSpPr>
          <p:cNvPr id="5" name="コンテンツ プレースホルダ 2"/>
          <p:cNvSpPr>
            <a:spLocks noGrp="1"/>
          </p:cNvSpPr>
          <p:nvPr>
            <p:ph idx="1"/>
          </p:nvPr>
        </p:nvSpPr>
        <p:spPr>
          <a:xfrm>
            <a:off x="457200" y="1600200"/>
            <a:ext cx="8229600" cy="4525963"/>
          </a:xfrm>
        </p:spPr>
        <p:txBody>
          <a:bodyPr>
            <a:normAutofit/>
          </a:bodyPr>
          <a:lstStyle/>
          <a:p>
            <a:r>
              <a:rPr lang="ja-JP" altLang="en-US" dirty="0" smtClean="0"/>
              <a:t>関数</a:t>
            </a:r>
            <a:r>
              <a:rPr lang="en-US" altLang="ja-JP" dirty="0" smtClean="0"/>
              <a:t>(function)</a:t>
            </a:r>
            <a:r>
              <a:rPr lang="ja-JP" altLang="en-US" dirty="0" smtClean="0"/>
              <a:t>とは、プログラムの一部に名前をつけるための構成要素（</a:t>
            </a:r>
            <a:r>
              <a:rPr lang="en-US" altLang="ja-JP" dirty="0" smtClean="0"/>
              <a:t>construct</a:t>
            </a:r>
            <a:r>
              <a:rPr lang="ja-JP" altLang="en-US" dirty="0" smtClean="0"/>
              <a:t>）である。</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sz="3600" dirty="0" smtClean="0"/>
              <a:t>例１</a:t>
            </a:r>
            <a:r>
              <a:rPr lang="en-US" altLang="ja-JP" sz="3600" dirty="0" smtClean="0"/>
              <a:t/>
            </a:r>
            <a:br>
              <a:rPr lang="en-US" altLang="ja-JP" sz="3600" dirty="0" smtClean="0"/>
            </a:br>
            <a:r>
              <a:rPr lang="ja-JP" altLang="en-US" sz="3600" dirty="0" smtClean="0"/>
              <a:t>（右側のプログラムを打ち込んで確認）</a:t>
            </a:r>
            <a:endParaRPr lang="ja-JP" altLang="en-US" sz="3600" dirty="0"/>
          </a:p>
        </p:txBody>
      </p:sp>
      <p:sp>
        <p:nvSpPr>
          <p:cNvPr id="4" name="テキスト ボックス 3"/>
          <p:cNvSpPr txBox="1"/>
          <p:nvPr/>
        </p:nvSpPr>
        <p:spPr>
          <a:xfrm>
            <a:off x="4377038" y="1499526"/>
            <a:ext cx="4031806" cy="3785652"/>
          </a:xfrm>
          <a:prstGeom prst="rect">
            <a:avLst/>
          </a:prstGeom>
          <a:noFill/>
          <a:ln>
            <a:solidFill>
              <a:schemeClr val="tx1"/>
            </a:solidFill>
          </a:ln>
        </p:spPr>
        <p:txBody>
          <a:bodyPr wrap="square" rtlCol="0">
            <a:spAutoFit/>
          </a:bodyPr>
          <a:lstStyle/>
          <a:p>
            <a:r>
              <a:rPr lang="en-US" altLang="ja-JP" sz="2400" dirty="0" err="1" smtClean="0"/>
              <a:t>int</a:t>
            </a:r>
            <a:r>
              <a:rPr lang="en-US" altLang="ja-JP" sz="2400" dirty="0" smtClean="0"/>
              <a:t> </a:t>
            </a:r>
            <a:r>
              <a:rPr lang="en-US" altLang="ja-JP" sz="2400" dirty="0" err="1" smtClean="0"/>
              <a:t>addTwice</a:t>
            </a:r>
            <a:r>
              <a:rPr lang="en-US" altLang="ja-JP" sz="2400" dirty="0" smtClean="0"/>
              <a:t> (int x, int y) {</a:t>
            </a:r>
          </a:p>
          <a:p>
            <a:r>
              <a:rPr lang="en-US" altLang="ja-JP" sz="2400" dirty="0" smtClean="0"/>
              <a:t>    return (</a:t>
            </a:r>
            <a:r>
              <a:rPr lang="en-US" altLang="ja-JP" sz="2400" dirty="0" err="1" smtClean="0"/>
              <a:t>x</a:t>
            </a:r>
            <a:r>
              <a:rPr lang="en-US" altLang="ja-JP" sz="2400" dirty="0" smtClean="0"/>
              <a:t> + </a:t>
            </a:r>
            <a:r>
              <a:rPr lang="en-US" altLang="ja-JP" sz="2400" dirty="0" err="1" smtClean="0"/>
              <a:t>y</a:t>
            </a:r>
            <a:r>
              <a:rPr lang="en-US" altLang="ja-JP" sz="2400" dirty="0" smtClean="0"/>
              <a:t>) * 2;</a:t>
            </a:r>
          </a:p>
          <a:p>
            <a:r>
              <a:rPr lang="en-US" altLang="ja-JP" sz="2400" dirty="0" smtClean="0"/>
              <a:t>}</a:t>
            </a:r>
          </a:p>
          <a:p>
            <a:r>
              <a:rPr lang="en-US" altLang="ja-JP" sz="2400" dirty="0" smtClean="0"/>
              <a:t>int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x = </a:t>
            </a:r>
            <a:r>
              <a:rPr lang="en-US" altLang="ja-JP" sz="2400" dirty="0" err="1" smtClean="0"/>
              <a:t>addTwice</a:t>
            </a:r>
            <a:r>
              <a:rPr lang="en-US" altLang="ja-JP" sz="2400" dirty="0" smtClean="0"/>
              <a:t> (10, 20);</a:t>
            </a:r>
          </a:p>
          <a:p>
            <a:r>
              <a:rPr lang="en-US" altLang="ja-JP" sz="2400" dirty="0" smtClean="0"/>
              <a:t>    y = </a:t>
            </a:r>
            <a:r>
              <a:rPr lang="en-US" altLang="ja-JP" sz="2400" dirty="0" err="1" smtClean="0"/>
              <a:t>addTwice</a:t>
            </a:r>
            <a:r>
              <a:rPr lang="en-US" altLang="ja-JP" sz="2400" dirty="0" smtClean="0"/>
              <a:t> (15, 25);</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
        <p:nvSpPr>
          <p:cNvPr id="5" name="正方形/長方形 4"/>
          <p:cNvSpPr/>
          <p:nvPr/>
        </p:nvSpPr>
        <p:spPr>
          <a:xfrm>
            <a:off x="457200" y="5439773"/>
            <a:ext cx="8229600" cy="1200329"/>
          </a:xfrm>
          <a:prstGeom prst="rect">
            <a:avLst/>
          </a:prstGeom>
          <a:ln>
            <a:solidFill>
              <a:schemeClr val="tx1"/>
            </a:solidFill>
          </a:ln>
        </p:spPr>
        <p:txBody>
          <a:bodyPr wrap="square">
            <a:spAutoFit/>
          </a:bodyPr>
          <a:lstStyle/>
          <a:p>
            <a:r>
              <a:rPr lang="ja-JP" altLang="en-US" sz="2400" dirty="0" smtClean="0"/>
              <a:t>赤字の部分の</a:t>
            </a:r>
            <a:r>
              <a:rPr lang="en-US" altLang="ja-JP" sz="2400" dirty="0" smtClean="0"/>
              <a:t>2</a:t>
            </a:r>
            <a:r>
              <a:rPr lang="ja-JP" altLang="en-US" sz="2400" dirty="0" smtClean="0"/>
              <a:t>つの式は、２つの数を足して２倍するという部分が共通している。これに</a:t>
            </a:r>
            <a:r>
              <a:rPr lang="en-US" altLang="ja-JP" sz="2400" dirty="0" err="1" smtClean="0"/>
              <a:t>addTwice</a:t>
            </a:r>
            <a:r>
              <a:rPr lang="ja-JP" altLang="en-US" sz="2400" dirty="0" smtClean="0"/>
              <a:t>という名前をつけてそれを使うようにしたのが右のプログラムである。</a:t>
            </a:r>
            <a:endParaRPr lang="ja-JP" altLang="en-US" sz="2400" dirty="0"/>
          </a:p>
        </p:txBody>
      </p:sp>
      <p:sp>
        <p:nvSpPr>
          <p:cNvPr id="6" name="正方形/長方形 5"/>
          <p:cNvSpPr/>
          <p:nvPr/>
        </p:nvSpPr>
        <p:spPr>
          <a:xfrm>
            <a:off x="193961" y="1676426"/>
            <a:ext cx="4113802" cy="3046988"/>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smtClean="0"/>
              <a:t>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a:t>
            </a:r>
            <a:r>
              <a:rPr lang="en-US" altLang="ja-JP" sz="2400" dirty="0" err="1" smtClean="0"/>
              <a:t>x</a:t>
            </a:r>
            <a:r>
              <a:rPr lang="en-US" altLang="ja-JP" sz="2400" dirty="0" smtClean="0"/>
              <a:t> = </a:t>
            </a:r>
            <a:r>
              <a:rPr lang="en-US" altLang="ja-JP" sz="2400" dirty="0" smtClean="0">
                <a:solidFill>
                  <a:srgbClr val="FF0000"/>
                </a:solidFill>
              </a:rPr>
              <a:t>(10 + 20) * 2</a:t>
            </a:r>
            <a:r>
              <a:rPr lang="en-US" altLang="ja-JP" sz="2400" dirty="0" smtClean="0"/>
              <a:t>;</a:t>
            </a:r>
          </a:p>
          <a:p>
            <a:r>
              <a:rPr lang="en-US" altLang="ja-JP" sz="2400" dirty="0" smtClean="0"/>
              <a:t>    y = </a:t>
            </a:r>
            <a:r>
              <a:rPr lang="en-US" altLang="ja-JP" sz="2400" dirty="0" smtClean="0">
                <a:solidFill>
                  <a:srgbClr val="FF0000"/>
                </a:solidFill>
              </a:rPr>
              <a:t>(15 + 25) * 2</a:t>
            </a:r>
            <a:r>
              <a:rPr lang="en-US" altLang="ja-JP" sz="2400" dirty="0" smtClean="0"/>
              <a:t>;</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関数定義の構文</a:t>
            </a:r>
            <a:endParaRPr kumimoji="1" lang="ja-JP" altLang="en-US" dirty="0"/>
          </a:p>
        </p:txBody>
      </p:sp>
      <p:sp>
        <p:nvSpPr>
          <p:cNvPr id="4" name="テキスト ボックス 3"/>
          <p:cNvSpPr txBox="1"/>
          <p:nvPr/>
        </p:nvSpPr>
        <p:spPr>
          <a:xfrm>
            <a:off x="771105" y="1378420"/>
            <a:ext cx="7621983" cy="1200329"/>
          </a:xfrm>
          <a:prstGeom prst="rect">
            <a:avLst/>
          </a:prstGeom>
          <a:noFill/>
        </p:spPr>
        <p:txBody>
          <a:bodyPr wrap="square" rtlCol="0">
            <a:spAutoFit/>
          </a:bodyPr>
          <a:lstStyle/>
          <a:p>
            <a:r>
              <a:rPr kumimoji="1" lang="ja-JP" altLang="en-US" sz="2400" dirty="0" smtClean="0"/>
              <a:t>関数は、基本型</a:t>
            </a:r>
            <a:r>
              <a:rPr kumimoji="1" lang="en-US" altLang="ja-JP" sz="2400" dirty="0" smtClean="0"/>
              <a:t>(</a:t>
            </a:r>
            <a:r>
              <a:rPr kumimoji="1" lang="ja-JP" altLang="en-US" sz="2400" dirty="0" smtClean="0"/>
              <a:t>これまでに紹介したものでは</a:t>
            </a:r>
            <a:r>
              <a:rPr kumimoji="1" lang="en-US" altLang="ja-JP" sz="2400" dirty="0" err="1" smtClean="0"/>
              <a:t>int</a:t>
            </a:r>
            <a:r>
              <a:rPr kumimoji="1" lang="en-US" altLang="ja-JP" sz="2400" dirty="0" smtClean="0"/>
              <a:t>, double)</a:t>
            </a:r>
            <a:r>
              <a:rPr kumimoji="1" lang="ja-JP" altLang="en-US" sz="2400" dirty="0" smtClean="0"/>
              <a:t>を引数とし、基本型を返り値とする場合、以下の形で定義される。</a:t>
            </a:r>
            <a:endParaRPr lang="en-US" altLang="ja-JP" sz="2400" dirty="0" smtClean="0"/>
          </a:p>
        </p:txBody>
      </p:sp>
      <p:sp>
        <p:nvSpPr>
          <p:cNvPr id="5" name="正方形/長方形 4"/>
          <p:cNvSpPr/>
          <p:nvPr/>
        </p:nvSpPr>
        <p:spPr>
          <a:xfrm>
            <a:off x="1366890" y="2675468"/>
            <a:ext cx="7265130" cy="523220"/>
          </a:xfrm>
          <a:prstGeom prst="rect">
            <a:avLst/>
          </a:prstGeom>
          <a:solidFill>
            <a:srgbClr val="FFFF00"/>
          </a:solidFill>
          <a:ln>
            <a:solidFill>
              <a:schemeClr val="tx1"/>
            </a:solidFill>
          </a:ln>
        </p:spPr>
        <p:txBody>
          <a:bodyPr wrap="none">
            <a:spAutoFit/>
          </a:bodyPr>
          <a:lstStyle/>
          <a:p>
            <a:r>
              <a:rPr lang="ja-JP" altLang="en-US" sz="2800" dirty="0" smtClean="0"/>
              <a:t>返り値の型名  関数名  </a:t>
            </a:r>
            <a:r>
              <a:rPr lang="en-US" altLang="ja-JP" sz="2800" dirty="0" smtClean="0"/>
              <a:t>(</a:t>
            </a:r>
            <a:r>
              <a:rPr lang="ja-JP" altLang="en-US" sz="2800" dirty="0" smtClean="0"/>
              <a:t>仮引数宣言列</a:t>
            </a:r>
            <a:r>
              <a:rPr lang="en-US" altLang="ja-JP" sz="2800" dirty="0" smtClean="0"/>
              <a:t>)  </a:t>
            </a:r>
            <a:r>
              <a:rPr lang="ja-JP" altLang="en-US" sz="2800" dirty="0" smtClean="0"/>
              <a:t>複合文</a:t>
            </a:r>
            <a:endParaRPr lang="en-US" altLang="ja-JP" sz="2800" dirty="0" smtClean="0"/>
          </a:p>
        </p:txBody>
      </p:sp>
      <p:sp>
        <p:nvSpPr>
          <p:cNvPr id="6" name="テキスト ボックス 5"/>
          <p:cNvSpPr txBox="1"/>
          <p:nvPr/>
        </p:nvSpPr>
        <p:spPr>
          <a:xfrm>
            <a:off x="791569" y="3333594"/>
            <a:ext cx="7481380" cy="1569660"/>
          </a:xfrm>
          <a:prstGeom prst="rect">
            <a:avLst/>
          </a:prstGeom>
          <a:noFill/>
          <a:ln>
            <a:noFill/>
          </a:ln>
        </p:spPr>
        <p:txBody>
          <a:bodyPr wrap="square" rtlCol="0">
            <a:spAutoFit/>
          </a:bodyPr>
          <a:lstStyle/>
          <a:p>
            <a:r>
              <a:rPr lang="ja-JP" altLang="en-US" sz="2400" dirty="0" smtClean="0"/>
              <a:t>複合文の部分が、関数の本体である。</a:t>
            </a:r>
            <a:endParaRPr kumimoji="1" lang="en-US" altLang="ja-JP" sz="2400" dirty="0" smtClean="0"/>
          </a:p>
          <a:p>
            <a:r>
              <a:rPr kumimoji="1" lang="ja-JP" altLang="en-US" sz="2400" dirty="0" smtClean="0"/>
              <a:t>仮引数</a:t>
            </a:r>
            <a:r>
              <a:rPr lang="ja-JP" altLang="en-US" sz="2400" dirty="0" smtClean="0"/>
              <a:t>宣言</a:t>
            </a:r>
            <a:r>
              <a:rPr kumimoji="1" lang="ja-JP" altLang="en-US" sz="2400" dirty="0" smtClean="0"/>
              <a:t>列は、仮引数宣言１つか、あるいは仮引数宣言がコンマで区切られて並んだものである。</a:t>
            </a:r>
            <a:endParaRPr kumimoji="1" lang="en-US" altLang="ja-JP" sz="2400" dirty="0" smtClean="0"/>
          </a:p>
          <a:p>
            <a:r>
              <a:rPr lang="ja-JP" altLang="en-US" sz="2400" dirty="0" smtClean="0"/>
              <a:t>仮引数宣言は、以下の形のものである。</a:t>
            </a:r>
            <a:endParaRPr lang="en-US" altLang="ja-JP" sz="2400" dirty="0" smtClean="0"/>
          </a:p>
        </p:txBody>
      </p:sp>
      <p:sp>
        <p:nvSpPr>
          <p:cNvPr id="7" name="テキスト ボックス 6"/>
          <p:cNvSpPr txBox="1"/>
          <p:nvPr/>
        </p:nvSpPr>
        <p:spPr>
          <a:xfrm>
            <a:off x="807322" y="5671408"/>
            <a:ext cx="7350410" cy="830997"/>
          </a:xfrm>
          <a:prstGeom prst="rect">
            <a:avLst/>
          </a:prstGeom>
          <a:noFill/>
        </p:spPr>
        <p:txBody>
          <a:bodyPr wrap="none" rtlCol="0">
            <a:spAutoFit/>
          </a:bodyPr>
          <a:lstStyle/>
          <a:p>
            <a:r>
              <a:rPr lang="ja-JP" altLang="en-US" sz="2400" dirty="0" smtClean="0"/>
              <a:t>返り値がない場合は返り値の型名の部分に</a:t>
            </a:r>
            <a:r>
              <a:rPr lang="en-US" altLang="ja-JP" sz="2400" dirty="0" smtClean="0"/>
              <a:t>void</a:t>
            </a:r>
            <a:r>
              <a:rPr lang="ja-JP" altLang="en-US" sz="2400" dirty="0" smtClean="0"/>
              <a:t>と書く。</a:t>
            </a:r>
            <a:endParaRPr lang="en-US" altLang="ja-JP" sz="2400" dirty="0" smtClean="0"/>
          </a:p>
          <a:p>
            <a:r>
              <a:rPr kumimoji="1" lang="ja-JP" altLang="en-US" sz="2400" dirty="0" smtClean="0"/>
              <a:t>引数がない場合は仮引数宣言列の部分に</a:t>
            </a:r>
            <a:r>
              <a:rPr kumimoji="1" lang="en-US" altLang="ja-JP" sz="2400" dirty="0" smtClean="0"/>
              <a:t>void</a:t>
            </a:r>
            <a:r>
              <a:rPr kumimoji="1" lang="ja-JP" altLang="en-US" sz="2400" dirty="0" smtClean="0"/>
              <a:t>と書く。</a:t>
            </a:r>
            <a:endParaRPr kumimoji="1" lang="ja-JP" altLang="en-US" sz="2400" dirty="0"/>
          </a:p>
        </p:txBody>
      </p:sp>
      <p:sp>
        <p:nvSpPr>
          <p:cNvPr id="8" name="テキスト ボックス 7"/>
          <p:cNvSpPr txBox="1"/>
          <p:nvPr/>
        </p:nvSpPr>
        <p:spPr>
          <a:xfrm>
            <a:off x="1405716" y="4998790"/>
            <a:ext cx="2143536" cy="523220"/>
          </a:xfrm>
          <a:prstGeom prst="rect">
            <a:avLst/>
          </a:prstGeom>
          <a:solidFill>
            <a:srgbClr val="FFFF00"/>
          </a:solidFill>
          <a:ln>
            <a:solidFill>
              <a:schemeClr val="tx1"/>
            </a:solidFill>
          </a:ln>
        </p:spPr>
        <p:txBody>
          <a:bodyPr wrap="none" rtlCol="0">
            <a:spAutoFit/>
          </a:bodyPr>
          <a:lstStyle/>
          <a:p>
            <a:r>
              <a:rPr kumimoji="1" lang="ja-JP" altLang="en-US" sz="2800" dirty="0" smtClean="0"/>
              <a:t>型名  変数名</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関数の例２</a:t>
            </a:r>
            <a:r>
              <a:rPr lang="ja-JP" altLang="en-US" dirty="0" smtClean="0"/>
              <a:t>（打ち込んで確認）</a:t>
            </a:r>
            <a:endParaRPr kumimoji="1" lang="ja-JP" altLang="en-US" dirty="0"/>
          </a:p>
        </p:txBody>
      </p:sp>
      <p:sp>
        <p:nvSpPr>
          <p:cNvPr id="5" name="正方形/長方形 4"/>
          <p:cNvSpPr/>
          <p:nvPr/>
        </p:nvSpPr>
        <p:spPr>
          <a:xfrm>
            <a:off x="943164" y="1417638"/>
            <a:ext cx="4107138" cy="4832092"/>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endParaRPr lang="en-US" altLang="ja-JP" sz="2800" dirty="0" smtClean="0"/>
          </a:p>
          <a:p>
            <a:r>
              <a:rPr lang="en-US" altLang="ja-JP" sz="2800" dirty="0" err="1" smtClean="0"/>
              <a:t>int</a:t>
            </a:r>
            <a:r>
              <a:rPr lang="en-US" altLang="ja-JP" sz="2800" dirty="0" smtClean="0"/>
              <a:t> add (</a:t>
            </a:r>
            <a:r>
              <a:rPr lang="en-US" altLang="ja-JP" sz="2800" dirty="0" err="1" smtClean="0"/>
              <a:t>int</a:t>
            </a:r>
            <a:r>
              <a:rPr lang="en-US" altLang="ja-JP" sz="2800" dirty="0" smtClean="0"/>
              <a:t> x, </a:t>
            </a:r>
            <a:r>
              <a:rPr lang="en-US" altLang="ja-JP" sz="2800" dirty="0" err="1" smtClean="0"/>
              <a:t>int</a:t>
            </a:r>
            <a:r>
              <a:rPr lang="en-US" altLang="ja-JP" sz="2800" dirty="0" smtClean="0"/>
              <a:t> y, </a:t>
            </a:r>
            <a:r>
              <a:rPr lang="en-US" altLang="ja-JP" sz="2800" dirty="0" err="1" smtClean="0"/>
              <a:t>int</a:t>
            </a:r>
            <a:r>
              <a:rPr lang="en-US" altLang="ja-JP" sz="2800" dirty="0" smtClean="0"/>
              <a:t> z) {</a:t>
            </a:r>
          </a:p>
          <a:p>
            <a:r>
              <a:rPr lang="en-US" altLang="ja-JP" sz="2800" dirty="0" smtClean="0"/>
              <a:t>  </a:t>
            </a:r>
            <a:r>
              <a:rPr lang="en-US" altLang="ja-JP" sz="2800" dirty="0" smtClean="0">
                <a:solidFill>
                  <a:srgbClr val="FF0000"/>
                </a:solidFill>
              </a:rPr>
              <a:t>return x + y + z;</a:t>
            </a:r>
          </a:p>
          <a:p>
            <a:r>
              <a:rPr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a:t>
            </a:r>
          </a:p>
          <a:p>
            <a:r>
              <a:rPr lang="en-US" altLang="ja-JP" sz="2800" dirty="0" smtClean="0"/>
              <a:t>  a = add (2,3,4);</a:t>
            </a:r>
          </a:p>
          <a:p>
            <a:r>
              <a:rPr lang="en-US" altLang="ja-JP" sz="2800" dirty="0" smtClean="0"/>
              <a:t>  </a:t>
            </a:r>
            <a:r>
              <a:rPr lang="en-US" altLang="ja-JP" sz="2800" dirty="0" err="1" smtClean="0"/>
              <a:t>printf</a:t>
            </a:r>
            <a:r>
              <a:rPr lang="en-US" altLang="ja-JP" sz="2800" dirty="0" smtClean="0"/>
              <a:t> (“a=%d\n",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290081" y="1856935"/>
            <a:ext cx="3628836" cy="1569660"/>
          </a:xfrm>
          <a:prstGeom prst="rect">
            <a:avLst/>
          </a:prstGeom>
          <a:noFill/>
        </p:spPr>
        <p:txBody>
          <a:bodyPr wrap="square" rtlCol="0">
            <a:spAutoFit/>
          </a:bodyPr>
          <a:lstStyle/>
          <a:p>
            <a:r>
              <a:rPr lang="ja-JP" altLang="en-US" sz="2400" dirty="0" smtClean="0"/>
              <a:t>赤字の部分は</a:t>
            </a:r>
            <a:r>
              <a:rPr lang="en-US" altLang="ja-JP" sz="2400" dirty="0" smtClean="0"/>
              <a:t>return</a:t>
            </a:r>
            <a:r>
              <a:rPr lang="ja-JP" altLang="en-US" sz="2400" dirty="0" smtClean="0"/>
              <a:t>文であり、関数の終了および何を返り値として返すかを表す。</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lang="ja-JP" altLang="en-US" dirty="0" smtClean="0"/>
              <a:t>文の構文１</a:t>
            </a:r>
            <a:endParaRPr kumimoji="1" lang="ja-JP" altLang="en-US" dirty="0"/>
          </a:p>
        </p:txBody>
      </p:sp>
      <p:sp>
        <p:nvSpPr>
          <p:cNvPr id="4" name="テキスト ボックス 3"/>
          <p:cNvSpPr txBox="1"/>
          <p:nvPr/>
        </p:nvSpPr>
        <p:spPr>
          <a:xfrm>
            <a:off x="1078173" y="1461489"/>
            <a:ext cx="2723566"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a:t>
            </a:r>
            <a:r>
              <a:rPr kumimoji="1" lang="en-US" altLang="ja-JP" sz="2800" dirty="0" smtClean="0"/>
              <a:t>1</a:t>
            </a:r>
            <a:endParaRPr kumimoji="1" lang="ja-JP" altLang="en-US" sz="2800" dirty="0"/>
          </a:p>
        </p:txBody>
      </p:sp>
      <p:sp>
        <p:nvSpPr>
          <p:cNvPr id="5" name="テキスト ボックス 4"/>
          <p:cNvSpPr txBox="1"/>
          <p:nvPr/>
        </p:nvSpPr>
        <p:spPr>
          <a:xfrm>
            <a:off x="1815152" y="2085805"/>
            <a:ext cx="1805046"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r>
              <a:rPr lang="ja-JP" altLang="en-US" sz="2800" dirty="0" smtClean="0"/>
              <a:t>式 </a:t>
            </a:r>
            <a:r>
              <a:rPr lang="en-US" altLang="ja-JP" sz="2800" dirty="0" smtClean="0"/>
              <a:t>;</a:t>
            </a:r>
            <a:endParaRPr kumimoji="1" lang="ja-JP" altLang="en-US" sz="2800" dirty="0"/>
          </a:p>
        </p:txBody>
      </p:sp>
      <p:sp>
        <p:nvSpPr>
          <p:cNvPr id="6" name="テキスト ボックス 5"/>
          <p:cNvSpPr txBox="1"/>
          <p:nvPr/>
        </p:nvSpPr>
        <p:spPr>
          <a:xfrm>
            <a:off x="1094093" y="2814913"/>
            <a:ext cx="4143570"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 e; </a:t>
            </a:r>
            <a:r>
              <a:rPr kumimoji="1" lang="en-US" altLang="ja-JP" sz="2800" dirty="0" smtClean="0"/>
              <a:t> </a:t>
            </a:r>
            <a:r>
              <a:rPr kumimoji="1" lang="ja-JP" altLang="en-US" sz="2800" dirty="0" smtClean="0"/>
              <a:t>の意味</a:t>
            </a:r>
            <a:endParaRPr kumimoji="1" lang="ja-JP" altLang="en-US" sz="2800" dirty="0"/>
          </a:p>
        </p:txBody>
      </p:sp>
      <p:sp>
        <p:nvSpPr>
          <p:cNvPr id="7" name="テキスト ボックス 6"/>
          <p:cNvSpPr txBox="1"/>
          <p:nvPr/>
        </p:nvSpPr>
        <p:spPr>
          <a:xfrm>
            <a:off x="1831073" y="3439229"/>
            <a:ext cx="6521358" cy="1815882"/>
          </a:xfrm>
          <a:prstGeom prst="rect">
            <a:avLst/>
          </a:prstGeom>
          <a:solidFill>
            <a:srgbClr val="CCFFFF"/>
          </a:solidFill>
          <a:ln>
            <a:solidFill>
              <a:schemeClr val="tx1"/>
            </a:solidFill>
          </a:ln>
        </p:spPr>
        <p:txBody>
          <a:bodyPr wrap="square" rtlCol="0">
            <a:spAutoFit/>
          </a:bodyPr>
          <a:lstStyle/>
          <a:p>
            <a:r>
              <a:rPr lang="ja-JP" altLang="en-US" sz="2800" dirty="0" smtClean="0"/>
              <a:t>関数の実行を終了し、その関数を呼び出した部分（関数呼び出し式という）に戻る。その際、式</a:t>
            </a:r>
            <a:r>
              <a:rPr lang="en-US" altLang="ja-JP" sz="2800" dirty="0" smtClean="0"/>
              <a:t>e</a:t>
            </a:r>
            <a:r>
              <a:rPr lang="ja-JP" altLang="en-US" sz="2800" dirty="0" smtClean="0"/>
              <a:t>の評価結果が関数呼び出し式の値となる。</a:t>
            </a:r>
            <a:endParaRPr kumimoji="1" lang="ja-JP" altLang="en-US" sz="2800" dirty="0"/>
          </a:p>
        </p:txBody>
      </p:sp>
      <p:sp>
        <p:nvSpPr>
          <p:cNvPr id="8" name="テキスト ボックス 7"/>
          <p:cNvSpPr txBox="1"/>
          <p:nvPr/>
        </p:nvSpPr>
        <p:spPr>
          <a:xfrm>
            <a:off x="1051890" y="5523559"/>
            <a:ext cx="7258338" cy="1200329"/>
          </a:xfrm>
          <a:prstGeom prst="rect">
            <a:avLst/>
          </a:prstGeom>
          <a:noFill/>
        </p:spPr>
        <p:txBody>
          <a:bodyPr wrap="square" rtlCol="0">
            <a:spAutoFit/>
          </a:bodyPr>
          <a:lstStyle/>
          <a:p>
            <a:r>
              <a:rPr lang="ja-JP" altLang="en-US" sz="2400" dirty="0" smtClean="0"/>
              <a:t>関数の本体の中で</a:t>
            </a:r>
            <a:r>
              <a:rPr lang="en-US" altLang="ja-JP" sz="2400" dirty="0" smtClean="0"/>
              <a:t>return</a:t>
            </a:r>
            <a:r>
              <a:rPr lang="ja-JP" altLang="en-US" sz="2400" dirty="0" smtClean="0"/>
              <a:t>文は複数個所にあってもよい。</a:t>
            </a:r>
            <a:endParaRPr lang="en-US" altLang="ja-JP" sz="2400" dirty="0" smtClean="0"/>
          </a:p>
          <a:p>
            <a:r>
              <a:rPr kumimoji="1" lang="ja-JP" altLang="en-US" sz="2400" dirty="0" smtClean="0"/>
              <a:t>また、返り値の型名が</a:t>
            </a:r>
            <a:r>
              <a:rPr kumimoji="1" lang="en-US" altLang="ja-JP" sz="2400" dirty="0" smtClean="0"/>
              <a:t>void</a:t>
            </a:r>
            <a:r>
              <a:rPr kumimoji="1" lang="ja-JP" altLang="en-US" sz="2400" dirty="0" smtClean="0"/>
              <a:t>（つまり返り値無し）の関数の中に現れてはならない。</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kumimoji="1" lang="ja-JP" altLang="en-US" dirty="0" smtClean="0"/>
              <a:t>文の構文２</a:t>
            </a:r>
            <a:endParaRPr kumimoji="1" lang="ja-JP" altLang="en-US" dirty="0"/>
          </a:p>
        </p:txBody>
      </p:sp>
      <p:sp>
        <p:nvSpPr>
          <p:cNvPr id="4" name="テキスト ボックス 3"/>
          <p:cNvSpPr txBox="1"/>
          <p:nvPr/>
        </p:nvSpPr>
        <p:spPr>
          <a:xfrm>
            <a:off x="1078173" y="1461489"/>
            <a:ext cx="2786084"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文の構文２</a:t>
            </a:r>
            <a:endParaRPr kumimoji="1" lang="ja-JP" altLang="en-US" sz="2800" dirty="0"/>
          </a:p>
        </p:txBody>
      </p:sp>
      <p:sp>
        <p:nvSpPr>
          <p:cNvPr id="5" name="テキスト ボックス 4"/>
          <p:cNvSpPr txBox="1"/>
          <p:nvPr/>
        </p:nvSpPr>
        <p:spPr>
          <a:xfrm>
            <a:off x="1815152" y="2085805"/>
            <a:ext cx="1364220"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endParaRPr kumimoji="1" lang="ja-JP" altLang="en-US" sz="2800" dirty="0"/>
          </a:p>
        </p:txBody>
      </p:sp>
      <p:sp>
        <p:nvSpPr>
          <p:cNvPr id="6" name="テキスト ボックス 5"/>
          <p:cNvSpPr txBox="1"/>
          <p:nvPr/>
        </p:nvSpPr>
        <p:spPr>
          <a:xfrm>
            <a:off x="1094093" y="2814913"/>
            <a:ext cx="3965637"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 ;</a:t>
            </a:r>
            <a:r>
              <a:rPr kumimoji="1" lang="en-US" altLang="ja-JP" sz="2800" dirty="0" smtClean="0"/>
              <a:t>  </a:t>
            </a:r>
            <a:r>
              <a:rPr kumimoji="1" lang="ja-JP" altLang="en-US" sz="2800" dirty="0" smtClean="0"/>
              <a:t>の意味</a:t>
            </a:r>
            <a:endParaRPr kumimoji="1" lang="ja-JP" altLang="en-US" sz="2800" dirty="0"/>
          </a:p>
        </p:txBody>
      </p:sp>
      <p:sp>
        <p:nvSpPr>
          <p:cNvPr id="8" name="テキスト ボックス 7"/>
          <p:cNvSpPr txBox="1"/>
          <p:nvPr/>
        </p:nvSpPr>
        <p:spPr>
          <a:xfrm>
            <a:off x="848432" y="4735774"/>
            <a:ext cx="7463055" cy="1569660"/>
          </a:xfrm>
          <a:prstGeom prst="rect">
            <a:avLst/>
          </a:prstGeom>
          <a:noFill/>
        </p:spPr>
        <p:txBody>
          <a:bodyPr wrap="square" rtlCol="0">
            <a:spAutoFit/>
          </a:bodyPr>
          <a:lstStyle/>
          <a:p>
            <a:r>
              <a:rPr kumimoji="1" lang="ja-JP" altLang="en-US" sz="2400" dirty="0" smtClean="0"/>
              <a:t>返り値なしの</a:t>
            </a:r>
            <a:r>
              <a:rPr kumimoji="1" lang="en-US" altLang="ja-JP" sz="2400" dirty="0" smtClean="0"/>
              <a:t>return</a:t>
            </a:r>
            <a:r>
              <a:rPr kumimoji="1" lang="ja-JP" altLang="en-US" sz="2400" dirty="0" smtClean="0"/>
              <a:t>文</a:t>
            </a:r>
            <a:r>
              <a:rPr lang="ja-JP" altLang="en-US" sz="2400" dirty="0" smtClean="0"/>
              <a:t>は、返り値の型名が</a:t>
            </a:r>
            <a:r>
              <a:rPr lang="en-US" altLang="ja-JP" sz="2400" dirty="0" smtClean="0"/>
              <a:t>void</a:t>
            </a:r>
            <a:r>
              <a:rPr lang="ja-JP" altLang="en-US" sz="2400" dirty="0" smtClean="0"/>
              <a:t>（つまり返り値無し）の関数の中でのみ用いることができる。</a:t>
            </a:r>
            <a:endParaRPr lang="en-US" altLang="ja-JP" sz="2400" dirty="0" smtClean="0"/>
          </a:p>
          <a:p>
            <a:r>
              <a:rPr kumimoji="1" lang="ja-JP" altLang="en-US" sz="2400" dirty="0" smtClean="0"/>
              <a:t>返り値無しの関数においては</a:t>
            </a:r>
            <a:r>
              <a:rPr kumimoji="1" lang="en-US" altLang="ja-JP" sz="2400" dirty="0" smtClean="0"/>
              <a:t>return</a:t>
            </a:r>
            <a:r>
              <a:rPr kumimoji="1" lang="ja-JP" altLang="en-US" sz="2400" dirty="0" smtClean="0"/>
              <a:t>文はなくてもよい。（関数本体の複合文が終了すればその関数は終了。）</a:t>
            </a:r>
            <a:endParaRPr kumimoji="1" lang="ja-JP" altLang="en-US" sz="2400" dirty="0"/>
          </a:p>
        </p:txBody>
      </p:sp>
      <p:sp>
        <p:nvSpPr>
          <p:cNvPr id="9" name="テキスト ボックス 8"/>
          <p:cNvSpPr txBox="1"/>
          <p:nvPr/>
        </p:nvSpPr>
        <p:spPr>
          <a:xfrm>
            <a:off x="1831073" y="3439229"/>
            <a:ext cx="6521358" cy="954107"/>
          </a:xfrm>
          <a:prstGeom prst="rect">
            <a:avLst/>
          </a:prstGeom>
          <a:solidFill>
            <a:srgbClr val="CCFFFF"/>
          </a:solidFill>
          <a:ln>
            <a:solidFill>
              <a:schemeClr val="tx1"/>
            </a:solidFill>
          </a:ln>
        </p:spPr>
        <p:txBody>
          <a:bodyPr wrap="square" rtlCol="0">
            <a:spAutoFit/>
          </a:bodyPr>
          <a:lstStyle/>
          <a:p>
            <a:r>
              <a:rPr lang="ja-JP" altLang="en-US" sz="2800" dirty="0" smtClean="0"/>
              <a:t>関数の実行を終了し、その関数を呼び出した部分（関数呼び出し式という）に戻る。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関数の例３（打ち込んで確認）</a:t>
            </a:r>
            <a:endParaRPr kumimoji="1" lang="ja-JP" altLang="en-US" dirty="0"/>
          </a:p>
        </p:txBody>
      </p:sp>
      <p:sp>
        <p:nvSpPr>
          <p:cNvPr id="5" name="正方形/長方形 4"/>
          <p:cNvSpPr/>
          <p:nvPr/>
        </p:nvSpPr>
        <p:spPr>
          <a:xfrm>
            <a:off x="1112293" y="1417638"/>
            <a:ext cx="3500650"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endParaRPr lang="en-US" altLang="ja-JP" sz="2800" dirty="0" smtClean="0"/>
          </a:p>
          <a:p>
            <a:r>
              <a:rPr lang="en-US" altLang="ja-JP" sz="2800" dirty="0" smtClean="0"/>
              <a:t>void hello (void)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a:t>
            </a:r>
          </a:p>
          <a:p>
            <a:r>
              <a:rPr lang="en-US" altLang="ja-JP" sz="2800" dirty="0" smtClean="0"/>
              <a: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hello ()</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063320" y="1719618"/>
            <a:ext cx="3350525" cy="1569660"/>
          </a:xfrm>
          <a:prstGeom prst="rect">
            <a:avLst/>
          </a:prstGeom>
          <a:noFill/>
        </p:spPr>
        <p:txBody>
          <a:bodyPr wrap="square" rtlCol="0">
            <a:spAutoFit/>
          </a:bodyPr>
          <a:lstStyle/>
          <a:p>
            <a:r>
              <a:rPr lang="en-US" altLang="ja-JP" sz="2400" dirty="0" smtClean="0"/>
              <a:t>hello</a:t>
            </a:r>
            <a:r>
              <a:rPr lang="ja-JP" altLang="en-US" sz="2400" dirty="0" smtClean="0"/>
              <a:t>は、引数無し、返り値なしの関数であり、</a:t>
            </a:r>
            <a:r>
              <a:rPr lang="en-US" altLang="ja-JP" sz="2400" dirty="0" smtClean="0"/>
              <a:t>hello</a:t>
            </a:r>
            <a:r>
              <a:rPr lang="ja-JP" altLang="en-US" sz="2400" dirty="0" smtClean="0"/>
              <a:t>と表示するだけの関数である。</a:t>
            </a:r>
            <a:endParaRPr lang="en-US" altLang="ja-JP" sz="2400" dirty="0" smtClean="0"/>
          </a:p>
        </p:txBody>
      </p:sp>
      <p:sp>
        <p:nvSpPr>
          <p:cNvPr id="7" name="テキスト ボックス 6"/>
          <p:cNvSpPr txBox="1"/>
          <p:nvPr/>
        </p:nvSpPr>
        <p:spPr>
          <a:xfrm>
            <a:off x="5063320" y="3643952"/>
            <a:ext cx="3623480" cy="2308324"/>
          </a:xfrm>
          <a:prstGeom prst="rect">
            <a:avLst/>
          </a:prstGeom>
          <a:noFill/>
        </p:spPr>
        <p:txBody>
          <a:bodyPr wrap="square" rtlCol="0">
            <a:spAutoFit/>
          </a:bodyPr>
          <a:lstStyle/>
          <a:p>
            <a:r>
              <a:rPr kumimoji="1" lang="ja-JP" altLang="en-US" sz="2400" dirty="0" smtClean="0"/>
              <a:t>赤字の部分の関数呼び出し式</a:t>
            </a:r>
            <a:r>
              <a:rPr kumimoji="1" lang="en-US" altLang="ja-JP" sz="2400" dirty="0" smtClean="0"/>
              <a:t>hello () </a:t>
            </a:r>
            <a:r>
              <a:rPr kumimoji="1" lang="ja-JP" altLang="en-US" sz="2400" dirty="0" smtClean="0"/>
              <a:t>は値を持たないので、</a:t>
            </a:r>
            <a:r>
              <a:rPr lang="ja-JP" altLang="en-US" sz="2400" dirty="0" smtClean="0"/>
              <a:t>代入式の右辺などに書いてはならない。</a:t>
            </a:r>
            <a:endParaRPr lang="en-US" altLang="ja-JP" sz="2400" dirty="0" smtClean="0"/>
          </a:p>
          <a:p>
            <a:r>
              <a:rPr kumimoji="1" lang="ja-JP" altLang="en-US" sz="2400" dirty="0" smtClean="0"/>
              <a:t>（書いた場合の動作は未定義）</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関数呼び出し式</a:t>
            </a:r>
            <a:endParaRPr kumimoji="1" lang="ja-JP" altLang="en-US" dirty="0"/>
          </a:p>
        </p:txBody>
      </p:sp>
      <p:sp>
        <p:nvSpPr>
          <p:cNvPr id="4" name="テキスト ボックス 3"/>
          <p:cNvSpPr txBox="1"/>
          <p:nvPr/>
        </p:nvSpPr>
        <p:spPr>
          <a:xfrm>
            <a:off x="1687903" y="2158651"/>
            <a:ext cx="2638864" cy="523220"/>
          </a:xfrm>
          <a:prstGeom prst="rect">
            <a:avLst/>
          </a:prstGeom>
          <a:solidFill>
            <a:srgbClr val="FFFF00"/>
          </a:solidFill>
          <a:ln>
            <a:solidFill>
              <a:schemeClr val="tx1"/>
            </a:solidFill>
          </a:ln>
        </p:spPr>
        <p:txBody>
          <a:bodyPr wrap="none" rtlCol="0">
            <a:spAutoFit/>
          </a:bodyPr>
          <a:lstStyle/>
          <a:p>
            <a:r>
              <a:rPr lang="ja-JP" altLang="en-US" sz="2800" dirty="0" smtClean="0"/>
              <a:t>関数</a:t>
            </a:r>
            <a:r>
              <a:rPr kumimoji="1" lang="ja-JP" altLang="en-US" sz="2800" dirty="0" smtClean="0"/>
              <a:t>名 </a:t>
            </a:r>
            <a:r>
              <a:rPr kumimoji="1" lang="en-US" altLang="ja-JP" sz="2800" dirty="0" smtClean="0"/>
              <a:t>(</a:t>
            </a:r>
            <a:r>
              <a:rPr kumimoji="1" lang="ja-JP" altLang="en-US" sz="2800" dirty="0" smtClean="0"/>
              <a:t>引数列</a:t>
            </a:r>
            <a:r>
              <a:rPr kumimoji="1" lang="en-US" altLang="ja-JP" sz="2800" dirty="0" smtClean="0"/>
              <a:t>)</a:t>
            </a:r>
            <a:endParaRPr kumimoji="1" lang="ja-JP" altLang="en-US" sz="2800" dirty="0"/>
          </a:p>
        </p:txBody>
      </p:sp>
      <p:sp>
        <p:nvSpPr>
          <p:cNvPr id="5" name="テキスト ボックス 4"/>
          <p:cNvSpPr txBox="1"/>
          <p:nvPr/>
        </p:nvSpPr>
        <p:spPr>
          <a:xfrm>
            <a:off x="928044" y="1473116"/>
            <a:ext cx="3677610" cy="523220"/>
          </a:xfrm>
          <a:prstGeom prst="rect">
            <a:avLst/>
          </a:prstGeom>
          <a:noFill/>
        </p:spPr>
        <p:txBody>
          <a:bodyPr wrap="none" rtlCol="0">
            <a:spAutoFit/>
          </a:bodyPr>
          <a:lstStyle/>
          <a:p>
            <a:r>
              <a:rPr kumimoji="1" lang="ja-JP" altLang="en-US" sz="2800" dirty="0" smtClean="0"/>
              <a:t>関数呼び出し式の構文</a:t>
            </a:r>
            <a:endParaRPr kumimoji="1" lang="ja-JP" altLang="en-US" sz="2800" dirty="0"/>
          </a:p>
        </p:txBody>
      </p:sp>
      <p:sp>
        <p:nvSpPr>
          <p:cNvPr id="6" name="テキスト ボックス 5"/>
          <p:cNvSpPr txBox="1"/>
          <p:nvPr/>
        </p:nvSpPr>
        <p:spPr>
          <a:xfrm>
            <a:off x="866114" y="2847945"/>
            <a:ext cx="7820686" cy="830997"/>
          </a:xfrm>
          <a:prstGeom prst="rect">
            <a:avLst/>
          </a:prstGeom>
          <a:noFill/>
        </p:spPr>
        <p:txBody>
          <a:bodyPr wrap="square" rtlCol="0">
            <a:spAutoFit/>
          </a:bodyPr>
          <a:lstStyle/>
          <a:p>
            <a:r>
              <a:rPr kumimoji="1" lang="ja-JP" altLang="en-US" sz="2400" dirty="0" smtClean="0"/>
              <a:t>引数列は、式が</a:t>
            </a:r>
            <a:r>
              <a:rPr kumimoji="1" lang="en-US" altLang="ja-JP" sz="2400" dirty="0" smtClean="0"/>
              <a:t>0</a:t>
            </a:r>
            <a:r>
              <a:rPr kumimoji="1" lang="ja-JP" altLang="en-US" sz="2400" dirty="0" smtClean="0"/>
              <a:t>個以上並んだものである。</a:t>
            </a:r>
            <a:r>
              <a:rPr kumimoji="1" lang="en-US" altLang="ja-JP" sz="2400" dirty="0" smtClean="0"/>
              <a:t>2</a:t>
            </a:r>
            <a:r>
              <a:rPr kumimoji="1" lang="ja-JP" altLang="en-US" sz="2400" dirty="0" smtClean="0"/>
              <a:t>個以上の場合はコンマで区切る。</a:t>
            </a:r>
            <a:endParaRPr kumimoji="1" lang="ja-JP" altLang="en-US" sz="2400" dirty="0"/>
          </a:p>
        </p:txBody>
      </p:sp>
      <p:sp>
        <p:nvSpPr>
          <p:cNvPr id="7" name="テキスト ボックス 6"/>
          <p:cNvSpPr txBox="1"/>
          <p:nvPr/>
        </p:nvSpPr>
        <p:spPr>
          <a:xfrm>
            <a:off x="1625974" y="4430914"/>
            <a:ext cx="5866648" cy="2246769"/>
          </a:xfrm>
          <a:prstGeom prst="rect">
            <a:avLst/>
          </a:prstGeom>
          <a:solidFill>
            <a:srgbClr val="CCFFFF"/>
          </a:solidFill>
          <a:ln>
            <a:solidFill>
              <a:schemeClr val="tx1"/>
            </a:solidFill>
          </a:ln>
        </p:spPr>
        <p:txBody>
          <a:bodyPr wrap="square" rtlCol="0">
            <a:spAutoFit/>
          </a:bodyPr>
          <a:lstStyle/>
          <a:p>
            <a:r>
              <a:rPr lang="en-US" altLang="ja-JP" sz="2800" dirty="0" smtClean="0"/>
              <a:t> e1, e2, …, en</a:t>
            </a:r>
            <a:r>
              <a:rPr lang="ja-JP" altLang="en-US" sz="2800" dirty="0" err="1" smtClean="0"/>
              <a:t>を評</a:t>
            </a:r>
            <a:r>
              <a:rPr lang="ja-JP" altLang="en-US" sz="2800" dirty="0" smtClean="0"/>
              <a:t>価し、それぞれの評価結果を関数</a:t>
            </a:r>
            <a:r>
              <a:rPr lang="en-US" altLang="ja-JP" sz="2800" dirty="0" smtClean="0"/>
              <a:t>f</a:t>
            </a:r>
            <a:r>
              <a:rPr lang="ja-JP" altLang="en-US" sz="2800" dirty="0" smtClean="0"/>
              <a:t>の仮引数に代入し、関数</a:t>
            </a:r>
            <a:r>
              <a:rPr lang="en-US" altLang="ja-JP" sz="2800" dirty="0" smtClean="0"/>
              <a:t>f</a:t>
            </a:r>
            <a:r>
              <a:rPr lang="ja-JP" altLang="en-US" sz="2800" dirty="0" smtClean="0"/>
              <a:t>の本体の複合文を実行する。返り値のある関数の場合、返り値が関数呼び出し式の値となる。</a:t>
            </a:r>
            <a:endParaRPr kumimoji="1" lang="ja-JP" altLang="en-US" sz="2800" dirty="0"/>
          </a:p>
        </p:txBody>
      </p:sp>
      <p:sp>
        <p:nvSpPr>
          <p:cNvPr id="8" name="テキスト ボックス 7"/>
          <p:cNvSpPr txBox="1"/>
          <p:nvPr/>
        </p:nvSpPr>
        <p:spPr>
          <a:xfrm>
            <a:off x="920706" y="3799971"/>
            <a:ext cx="6019597" cy="523220"/>
          </a:xfrm>
          <a:prstGeom prst="rect">
            <a:avLst/>
          </a:prstGeom>
          <a:noFill/>
        </p:spPr>
        <p:txBody>
          <a:bodyPr wrap="none" rtlCol="0">
            <a:spAutoFit/>
          </a:bodyPr>
          <a:lstStyle/>
          <a:p>
            <a:r>
              <a:rPr kumimoji="1" lang="ja-JP" altLang="en-US" sz="2800" dirty="0" smtClean="0"/>
              <a:t>関数呼び出し式 </a:t>
            </a:r>
            <a:r>
              <a:rPr kumimoji="1" lang="en-US" altLang="ja-JP" sz="2800" dirty="0" smtClean="0">
                <a:solidFill>
                  <a:srgbClr val="FF0000"/>
                </a:solidFill>
              </a:rPr>
              <a:t>f (e1, e2, …, en)</a:t>
            </a:r>
            <a:r>
              <a:rPr kumimoji="1" lang="ja-JP" altLang="en-US" sz="2800" dirty="0" smtClean="0"/>
              <a:t>の意味</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関数の例４</a:t>
            </a:r>
            <a:r>
              <a:rPr lang="ja-JP" altLang="en-US" dirty="0" smtClean="0"/>
              <a:t>（打ち込んで確認）</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endParaRPr lang="en-US" altLang="ja-JP" sz="2400" dirty="0" smtClean="0"/>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p>
          <a:p>
            <a:r>
              <a:rPr lang="en-US" altLang="ja-JP" sz="2400" dirty="0" smtClean="0"/>
              <a:t>    return x+2;</a:t>
            </a:r>
          </a:p>
          <a:p>
            <a:r>
              <a:rPr kumimoji="1"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solidFill>
                  <a:srgbClr val="FF0000"/>
                </a:solidFill>
              </a:rPr>
              <a:t>addTwo</a:t>
            </a:r>
            <a:r>
              <a:rPr kumimoji="1" lang="en-US" altLang="ja-JP" sz="2400" dirty="0" smtClean="0">
                <a:solidFill>
                  <a:srgbClr val="FF0000"/>
                </a:solidFill>
              </a:rPr>
              <a:t> (3)</a:t>
            </a:r>
            <a:r>
              <a:rPr kumimoji="1" lang="en-US" altLang="ja-JP" sz="2400" dirty="0" smtClean="0"/>
              <a:t>;</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6" name="テキスト ボックス 5"/>
          <p:cNvSpPr txBox="1"/>
          <p:nvPr/>
        </p:nvSpPr>
        <p:spPr>
          <a:xfrm>
            <a:off x="3746312" y="1417638"/>
            <a:ext cx="5022376" cy="3785652"/>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(3)</a:t>
            </a:r>
            <a:r>
              <a:rPr kumimoji="1" lang="ja-JP" altLang="en-US" sz="2400" dirty="0" smtClean="0"/>
              <a:t>の評価は、</a:t>
            </a:r>
            <a:r>
              <a:rPr lang="ja-JP" altLang="en-US" sz="2400" dirty="0" smtClean="0"/>
              <a:t>まず引数の</a:t>
            </a:r>
            <a:r>
              <a:rPr lang="en-US" altLang="ja-JP" sz="2400" dirty="0" smtClean="0"/>
              <a:t>3</a:t>
            </a:r>
            <a:r>
              <a:rPr lang="ja-JP" altLang="en-US" sz="2400" dirty="0" err="1" smtClean="0"/>
              <a:t>を評</a:t>
            </a:r>
            <a:r>
              <a:rPr lang="ja-JP" altLang="en-US" sz="2400" dirty="0" smtClean="0"/>
              <a:t>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t>x</a:t>
            </a:r>
            <a:r>
              <a:rPr lang="ja-JP" altLang="en-US" sz="2400" dirty="0" smtClean="0"/>
              <a:t>に代入し、関数本体の複合文を実行するという順で行われる。関数本体の中で</a:t>
            </a:r>
            <a:r>
              <a:rPr lang="en-US" altLang="ja-JP" sz="2400" dirty="0" smtClean="0"/>
              <a:t>return</a:t>
            </a:r>
            <a:r>
              <a:rPr lang="ja-JP" altLang="en-US" sz="2400" dirty="0" smtClean="0"/>
              <a:t>文があり、</a:t>
            </a:r>
            <a:r>
              <a:rPr lang="en-US" altLang="ja-JP" sz="2400" dirty="0" smtClean="0"/>
              <a:t>x+2</a:t>
            </a:r>
            <a:r>
              <a:rPr lang="ja-JP" altLang="en-US" sz="2400" dirty="0" smtClean="0"/>
              <a:t>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(3)</a:t>
            </a:r>
            <a:r>
              <a:rPr lang="ja-JP" altLang="en-US" sz="2400" dirty="0" smtClean="0"/>
              <a:t>の値となり、それが</a:t>
            </a:r>
            <a:r>
              <a:rPr lang="en-US" altLang="ja-JP" sz="2400" dirty="0" smtClean="0"/>
              <a:t>a</a:t>
            </a:r>
            <a:r>
              <a:rPr lang="ja-JP" altLang="en-US" sz="2400" dirty="0" smtClean="0"/>
              <a:t>に代入され、</a:t>
            </a:r>
            <a:r>
              <a:rPr lang="en-US" altLang="ja-JP" sz="2400" dirty="0" smtClean="0"/>
              <a:t>a=5</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仮引数の有効範囲</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r>
              <a:rPr kumimoji="1" lang="en-US" altLang="ja-JP" sz="2400" dirty="0" smtClean="0">
                <a:solidFill>
                  <a:srgbClr val="FF0000"/>
                </a:solidFill>
              </a:rPr>
              <a:t>{</a:t>
            </a:r>
          </a:p>
          <a:p>
            <a:r>
              <a:rPr lang="en-US" altLang="ja-JP" sz="2400" dirty="0" smtClean="0">
                <a:solidFill>
                  <a:srgbClr val="FF0000"/>
                </a:solidFill>
              </a:rPr>
              <a:t>    return x+2;</a:t>
            </a:r>
          </a:p>
          <a:p>
            <a:r>
              <a:rPr kumimoji="1" lang="en-US" altLang="ja-JP" sz="2400" dirty="0" smtClean="0">
                <a:solidFill>
                  <a:srgbClr val="FF0000"/>
                </a:solidFill>
              </a:rPr>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t>addTwo</a:t>
            </a:r>
            <a:r>
              <a:rPr kumimoji="1" lang="en-US" altLang="ja-JP" sz="2400" dirty="0" smtClean="0"/>
              <a:t> (3);</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5" name="テキスト ボックス 4"/>
          <p:cNvSpPr txBox="1"/>
          <p:nvPr/>
        </p:nvSpPr>
        <p:spPr>
          <a:xfrm>
            <a:off x="4053386" y="1688785"/>
            <a:ext cx="4264925" cy="2677656"/>
          </a:xfrm>
          <a:prstGeom prst="rect">
            <a:avLst/>
          </a:prstGeom>
          <a:noFill/>
        </p:spPr>
        <p:txBody>
          <a:bodyPr wrap="square" rtlCol="0">
            <a:spAutoFit/>
          </a:bodyPr>
          <a:lstStyle/>
          <a:p>
            <a:r>
              <a:rPr kumimoji="1" lang="ja-JP" altLang="en-US" sz="2400" dirty="0" smtClean="0"/>
              <a:t>関数</a:t>
            </a:r>
            <a:r>
              <a:rPr kumimoji="1" lang="en-US" altLang="ja-JP" sz="2400" dirty="0" err="1" smtClean="0"/>
              <a:t>addTwo</a:t>
            </a:r>
            <a:r>
              <a:rPr kumimoji="1" lang="ja-JP" altLang="en-US" sz="2400" dirty="0" smtClean="0"/>
              <a:t>の仮引数</a:t>
            </a:r>
            <a:r>
              <a:rPr kumimoji="1" lang="en-US" altLang="ja-JP" sz="2400" dirty="0" smtClean="0"/>
              <a:t>x</a:t>
            </a:r>
            <a:r>
              <a:rPr kumimoji="1" lang="ja-JP" altLang="en-US" sz="2400" dirty="0" smtClean="0"/>
              <a:t>の有効範囲は、</a:t>
            </a:r>
            <a:r>
              <a:rPr kumimoji="1" lang="en-US" altLang="ja-JP" sz="2400" dirty="0" err="1" smtClean="0"/>
              <a:t>addTwo</a:t>
            </a:r>
            <a:r>
              <a:rPr kumimoji="1" lang="ja-JP" altLang="en-US" sz="2400" dirty="0" smtClean="0"/>
              <a:t>の本体の複合文（赤字部分）である。（ただし</a:t>
            </a:r>
            <a:r>
              <a:rPr kumimoji="1" lang="en-US" altLang="ja-JP" sz="2400" dirty="0" err="1" smtClean="0"/>
              <a:t>addTwo</a:t>
            </a:r>
            <a:r>
              <a:rPr kumimoji="1" lang="ja-JP" altLang="en-US" sz="2400" dirty="0" smtClean="0"/>
              <a:t>の本体の複合文の中にさらに複合文を書いてその中で</a:t>
            </a:r>
            <a:r>
              <a:rPr kumimoji="1" lang="en-US" altLang="ja-JP" sz="2400" dirty="0" smtClean="0"/>
              <a:t>x</a:t>
            </a:r>
            <a:r>
              <a:rPr kumimoji="1" lang="ja-JP" altLang="en-US" sz="2400" dirty="0" smtClean="0"/>
              <a:t>を宣言した場合は、その</a:t>
            </a:r>
            <a:r>
              <a:rPr kumimoji="1" lang="en-US" altLang="ja-JP" sz="2400" dirty="0" smtClean="0"/>
              <a:t>x</a:t>
            </a:r>
            <a:r>
              <a:rPr kumimoji="1" lang="ja-JP" altLang="en-US" sz="2400" dirty="0" smtClean="0"/>
              <a:t>の有効範囲は除く。）</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57877"/>
          </a:xfrm>
        </p:spPr>
        <p:txBody>
          <a:bodyPr>
            <a:normAutofit fontScale="90000"/>
          </a:bodyPr>
          <a:lstStyle/>
          <a:p>
            <a:r>
              <a:rPr lang="ja-JP" altLang="en-US" dirty="0" smtClean="0"/>
              <a:t>関数の例５（打ち込んで確認）</a:t>
            </a:r>
            <a:endParaRPr kumimoji="1" lang="ja-JP" altLang="en-US" dirty="0"/>
          </a:p>
        </p:txBody>
      </p:sp>
      <p:sp>
        <p:nvSpPr>
          <p:cNvPr id="4" name="テキスト ボックス 3"/>
          <p:cNvSpPr txBox="1"/>
          <p:nvPr/>
        </p:nvSpPr>
        <p:spPr>
          <a:xfrm>
            <a:off x="334371" y="1109494"/>
            <a:ext cx="3488134" cy="5262979"/>
          </a:xfrm>
          <a:prstGeom prst="rect">
            <a:avLst/>
          </a:prstGeom>
          <a:noFill/>
          <a:ln>
            <a:solidFill>
              <a:schemeClr val="tx1"/>
            </a:solidFill>
          </a:ln>
        </p:spPr>
        <p:txBody>
          <a:bodyPr wrap="none" rtlCol="0">
            <a:spAutoFit/>
          </a:bodyPr>
          <a:lstStyle/>
          <a:p>
            <a:r>
              <a:rPr kumimoji="1" lang="en-US" altLang="ja-JP" sz="2800" dirty="0" smtClean="0"/>
              <a:t>#include&lt;</a:t>
            </a:r>
            <a:r>
              <a:rPr kumimoji="1" lang="en-US" altLang="ja-JP" sz="2800" dirty="0" err="1" smtClean="0"/>
              <a:t>stdio.h</a:t>
            </a:r>
            <a:r>
              <a:rPr kumimoji="1" lang="en-US" altLang="ja-JP" sz="2800" dirty="0" smtClean="0"/>
              <a:t>&gt;</a:t>
            </a:r>
          </a:p>
          <a:p>
            <a:r>
              <a:rPr kumimoji="1" lang="en-US" altLang="ja-JP" sz="2800" dirty="0" err="1" smtClean="0"/>
              <a:t>int</a:t>
            </a:r>
            <a:r>
              <a:rPr kumimoji="1" lang="en-US" altLang="ja-JP" sz="2800" dirty="0" smtClean="0"/>
              <a:t> </a:t>
            </a:r>
            <a:r>
              <a:rPr kumimoji="1" lang="en-US" altLang="ja-JP" sz="2800" dirty="0" err="1" smtClean="0"/>
              <a:t>addTwo</a:t>
            </a:r>
            <a:r>
              <a:rPr kumimoji="1" lang="en-US" altLang="ja-JP" sz="2800" dirty="0" smtClean="0"/>
              <a:t> (</a:t>
            </a:r>
            <a:r>
              <a:rPr kumimoji="1" lang="en-US" altLang="ja-JP" sz="2800" dirty="0" err="1" smtClean="0"/>
              <a:t>int</a:t>
            </a:r>
            <a:r>
              <a:rPr kumimoji="1" lang="en-US" altLang="ja-JP" sz="2800" dirty="0" smtClean="0"/>
              <a:t> </a:t>
            </a:r>
            <a:r>
              <a:rPr kumimoji="1" lang="en-US" altLang="ja-JP" sz="2800" dirty="0" smtClean="0">
                <a:solidFill>
                  <a:srgbClr val="00B050"/>
                </a:solidFill>
              </a:rPr>
              <a:t>x</a:t>
            </a:r>
            <a:r>
              <a:rPr kumimoji="1" lang="en-US" altLang="ja-JP" sz="2800" dirty="0" smtClean="0"/>
              <a:t>) {</a:t>
            </a:r>
          </a:p>
          <a:p>
            <a:r>
              <a:rPr lang="en-US" altLang="ja-JP" sz="2800" dirty="0" smtClean="0"/>
              <a:t>    </a:t>
            </a:r>
            <a:r>
              <a:rPr lang="en-US" altLang="ja-JP" sz="2800" dirty="0" smtClean="0">
                <a:solidFill>
                  <a:srgbClr val="00B050"/>
                </a:solidFill>
              </a:rPr>
              <a:t>x</a:t>
            </a:r>
            <a:r>
              <a:rPr lang="en-US" altLang="ja-JP" sz="2800" dirty="0" smtClean="0"/>
              <a:t> = </a:t>
            </a:r>
            <a:r>
              <a:rPr lang="en-US" altLang="ja-JP" sz="2800" dirty="0" smtClean="0">
                <a:solidFill>
                  <a:srgbClr val="00B050"/>
                </a:solidFill>
              </a:rPr>
              <a:t>x</a:t>
            </a:r>
            <a:r>
              <a:rPr lang="en-US" altLang="ja-JP" sz="2800" dirty="0" smtClean="0"/>
              <a:t> + 2;</a:t>
            </a:r>
            <a:endParaRPr kumimoji="1" lang="en-US" altLang="ja-JP" sz="2800" dirty="0" smtClean="0"/>
          </a:p>
          <a:p>
            <a:r>
              <a:rPr lang="en-US" altLang="ja-JP" sz="2800" dirty="0" smtClean="0"/>
              <a:t>    return </a:t>
            </a:r>
            <a:r>
              <a:rPr lang="en-US" altLang="ja-JP" sz="2800" dirty="0" smtClean="0">
                <a:solidFill>
                  <a:srgbClr val="00B050"/>
                </a:solidFill>
              </a:rPr>
              <a:t>x</a:t>
            </a:r>
            <a:r>
              <a:rPr lang="en-US" altLang="ja-JP" sz="2800" dirty="0" smtClean="0"/>
              <a:t>;</a:t>
            </a:r>
          </a:p>
          <a:p>
            <a:r>
              <a:rPr kumimoji="1"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smtClean="0">
                <a:solidFill>
                  <a:srgbClr val="FF0000"/>
                </a:solidFill>
              </a:rPr>
              <a:t>x</a:t>
            </a:r>
            <a:r>
              <a:rPr lang="en-US" altLang="ja-JP" sz="2800" dirty="0" smtClean="0"/>
              <a:t> = 3;</a:t>
            </a:r>
          </a:p>
          <a:p>
            <a:r>
              <a:rPr kumimoji="1" lang="en-US" altLang="ja-JP" sz="2800" dirty="0" smtClean="0"/>
              <a:t>    a = </a:t>
            </a:r>
            <a:r>
              <a:rPr kumimoji="1" lang="en-US" altLang="ja-JP" sz="2800" dirty="0" err="1" smtClean="0"/>
              <a:t>addTwo</a:t>
            </a:r>
            <a:r>
              <a:rPr kumimoji="1" lang="en-US" altLang="ja-JP" sz="2800" dirty="0" smtClean="0"/>
              <a:t> (</a:t>
            </a:r>
            <a:r>
              <a:rPr kumimoji="1" lang="en-US" altLang="ja-JP" sz="2800" dirty="0" smtClean="0">
                <a:solidFill>
                  <a:srgbClr val="FF0000"/>
                </a:solidFill>
              </a:rPr>
              <a:t>x</a:t>
            </a:r>
            <a:r>
              <a:rPr kumimoji="1" lang="en-US" altLang="ja-JP" sz="2800" dirty="0" smtClean="0"/>
              <a:t>);</a:t>
            </a:r>
          </a:p>
          <a:p>
            <a:r>
              <a:rPr lang="en-US" altLang="ja-JP" sz="2800" dirty="0" smtClean="0"/>
              <a:t>    </a:t>
            </a:r>
            <a:r>
              <a:rPr lang="en-US" altLang="ja-JP" sz="2800" dirty="0" err="1" smtClean="0"/>
              <a:t>printf</a:t>
            </a:r>
            <a:r>
              <a:rPr lang="en-US" altLang="ja-JP" sz="2800" dirty="0" smtClean="0"/>
              <a:t> (“x=%d\n”, </a:t>
            </a:r>
            <a:r>
              <a:rPr lang="en-US" altLang="ja-JP" sz="2800" dirty="0" smtClean="0">
                <a:solidFill>
                  <a:srgbClr val="FF0000"/>
                </a:solidFill>
              </a:rPr>
              <a:t>x</a:t>
            </a:r>
            <a:r>
              <a:rPr lang="en-US" altLang="ja-JP" sz="2800" dirty="0" smtClean="0"/>
              <a:t>);</a:t>
            </a:r>
          </a:p>
          <a:p>
            <a:r>
              <a:rPr lang="en-US" altLang="ja-JP" sz="2800" dirty="0" smtClean="0"/>
              <a:t>    </a:t>
            </a:r>
            <a:r>
              <a:rPr lang="en-US" altLang="ja-JP" sz="2800" dirty="0" err="1" smtClean="0"/>
              <a:t>printf</a:t>
            </a:r>
            <a:r>
              <a:rPr lang="en-US" altLang="ja-JP" sz="2800" dirty="0" smtClean="0"/>
              <a:t> (“a=%d\n”, a);</a:t>
            </a:r>
            <a:endParaRPr kumimoji="1" lang="en-US" altLang="ja-JP" sz="2800" dirty="0" smtClean="0"/>
          </a:p>
          <a:p>
            <a:r>
              <a:rPr kumimoji="1" lang="en-US" altLang="ja-JP" sz="2800" dirty="0" smtClean="0"/>
              <a:t>    retur</a:t>
            </a:r>
            <a:r>
              <a:rPr lang="en-US" altLang="ja-JP" sz="2800" dirty="0" smtClean="0"/>
              <a:t>n 0;</a:t>
            </a:r>
            <a:endParaRPr kumimoji="1" lang="en-US" altLang="ja-JP" sz="2800" dirty="0" smtClean="0"/>
          </a:p>
          <a:p>
            <a:r>
              <a:rPr lang="en-US" altLang="ja-JP" sz="2800" dirty="0" smtClean="0"/>
              <a:t>}</a:t>
            </a:r>
            <a:endParaRPr kumimoji="1" lang="ja-JP" altLang="en-US" sz="2800" dirty="0"/>
          </a:p>
        </p:txBody>
      </p:sp>
      <p:sp>
        <p:nvSpPr>
          <p:cNvPr id="5" name="テキスト ボックス 4"/>
          <p:cNvSpPr txBox="1"/>
          <p:nvPr/>
        </p:nvSpPr>
        <p:spPr>
          <a:xfrm>
            <a:off x="4005624" y="1131030"/>
            <a:ext cx="5022376" cy="4524315"/>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(x)</a:t>
            </a:r>
            <a:r>
              <a:rPr kumimoji="1" lang="ja-JP" altLang="en-US" sz="2400" dirty="0" smtClean="0"/>
              <a:t>の評価は、</a:t>
            </a:r>
            <a:r>
              <a:rPr lang="ja-JP" altLang="en-US" sz="2400" dirty="0" smtClean="0"/>
              <a:t>まず引数の</a:t>
            </a:r>
            <a:r>
              <a:rPr lang="en-US" altLang="ja-JP" sz="2400" dirty="0" smtClean="0"/>
              <a:t>x</a:t>
            </a:r>
            <a:r>
              <a:rPr lang="ja-JP" altLang="en-US" sz="2400" dirty="0" smtClean="0"/>
              <a:t>（赤色）を評価し、その結果である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t>x</a:t>
            </a:r>
            <a:r>
              <a:rPr lang="ja-JP" altLang="en-US" sz="2400" dirty="0" smtClean="0"/>
              <a:t>（緑色）に代入し、関数本体の複合文を実行するという順で行われる。関数本体の中の代入式</a:t>
            </a:r>
            <a:r>
              <a:rPr lang="en-US" altLang="ja-JP" sz="2400" dirty="0" smtClean="0"/>
              <a:t>x=x+2</a:t>
            </a:r>
            <a:r>
              <a:rPr lang="ja-JP" altLang="en-US" sz="2400" dirty="0" smtClean="0"/>
              <a:t>の部分で</a:t>
            </a:r>
            <a:r>
              <a:rPr lang="en-US" altLang="ja-JP" sz="2400" dirty="0" smtClean="0"/>
              <a:t>x</a:t>
            </a:r>
            <a:r>
              <a:rPr lang="ja-JP" altLang="en-US" sz="2400" dirty="0" smtClean="0"/>
              <a:t>（緑色）に</a:t>
            </a:r>
            <a:r>
              <a:rPr lang="en-US" altLang="ja-JP" sz="2400" dirty="0" smtClean="0"/>
              <a:t>5</a:t>
            </a:r>
            <a:r>
              <a:rPr lang="ja-JP" altLang="en-US" sz="2400" dirty="0" smtClean="0"/>
              <a:t>が代入され、</a:t>
            </a:r>
            <a:r>
              <a:rPr lang="en-US" altLang="ja-JP" sz="2400" dirty="0" smtClean="0"/>
              <a:t>return</a:t>
            </a:r>
            <a:r>
              <a:rPr lang="ja-JP" altLang="en-US" sz="2400" dirty="0" smtClean="0"/>
              <a:t>文 </a:t>
            </a:r>
            <a:r>
              <a:rPr lang="en-US" altLang="ja-JP" sz="2400" dirty="0" smtClean="0"/>
              <a:t>return x;</a:t>
            </a:r>
            <a:r>
              <a:rPr lang="ja-JP" altLang="en-US" sz="2400" dirty="0" smtClean="0"/>
              <a:t>で</a:t>
            </a:r>
            <a:r>
              <a:rPr lang="en-US" altLang="ja-JP" sz="2400" dirty="0" smtClean="0"/>
              <a:t>x</a:t>
            </a:r>
            <a:r>
              <a:rPr lang="ja-JP" altLang="en-US" sz="2400" dirty="0" smtClean="0"/>
              <a:t>（緑色）の評価結果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(x)</a:t>
            </a:r>
            <a:r>
              <a:rPr lang="ja-JP" altLang="en-US" sz="2400" dirty="0" smtClean="0"/>
              <a:t>の値となり、それが</a:t>
            </a:r>
            <a:r>
              <a:rPr lang="en-US" altLang="ja-JP" sz="2400" dirty="0" smtClean="0"/>
              <a:t>a</a:t>
            </a:r>
            <a:r>
              <a:rPr lang="ja-JP" altLang="en-US" sz="2400" dirty="0" smtClean="0"/>
              <a:t>に代入される。そして、</a:t>
            </a:r>
            <a:r>
              <a:rPr lang="en-US" altLang="ja-JP" sz="2400" dirty="0" smtClean="0"/>
              <a:t>x=3, a=5</a:t>
            </a:r>
            <a:r>
              <a:rPr lang="ja-JP" altLang="en-US" sz="2400" dirty="0" smtClean="0"/>
              <a:t>が表示される。</a:t>
            </a:r>
            <a:endParaRPr lang="en-US" altLang="ja-JP" sz="2400" dirty="0" smtClean="0"/>
          </a:p>
        </p:txBody>
      </p:sp>
      <p:sp>
        <p:nvSpPr>
          <p:cNvPr id="6" name="正方形/長方形 5"/>
          <p:cNvSpPr/>
          <p:nvPr/>
        </p:nvSpPr>
        <p:spPr>
          <a:xfrm>
            <a:off x="4005625" y="5771230"/>
            <a:ext cx="5022376" cy="830997"/>
          </a:xfrm>
          <a:prstGeom prst="rect">
            <a:avLst/>
          </a:prstGeom>
          <a:noFill/>
          <a:ln>
            <a:solidFill>
              <a:schemeClr val="tx1"/>
            </a:solidFill>
          </a:ln>
        </p:spPr>
        <p:txBody>
          <a:bodyPr wrap="square">
            <a:spAutoFit/>
          </a:bodyPr>
          <a:lstStyle/>
          <a:p>
            <a:r>
              <a:rPr lang="en-US" altLang="ja-JP" sz="2400" dirty="0" err="1" smtClean="0"/>
              <a:t>addTwo</a:t>
            </a:r>
            <a:r>
              <a:rPr lang="ja-JP" altLang="en-US" sz="2400" dirty="0" smtClean="0"/>
              <a:t>の引数</a:t>
            </a:r>
            <a:r>
              <a:rPr lang="en-US" altLang="ja-JP" sz="2400" dirty="0" smtClean="0"/>
              <a:t>x</a:t>
            </a:r>
            <a:r>
              <a:rPr lang="ja-JP" altLang="en-US" sz="2400" dirty="0" smtClean="0"/>
              <a:t>（緑色の</a:t>
            </a:r>
            <a:r>
              <a:rPr lang="en-US" altLang="ja-JP" sz="2400" dirty="0" smtClean="0"/>
              <a:t>x</a:t>
            </a:r>
            <a:r>
              <a:rPr lang="ja-JP" altLang="en-US" sz="2400" dirty="0" smtClean="0"/>
              <a:t>）と</a:t>
            </a:r>
            <a:r>
              <a:rPr lang="en-US" altLang="ja-JP" sz="2400" dirty="0" smtClean="0"/>
              <a:t>main</a:t>
            </a:r>
            <a:r>
              <a:rPr lang="ja-JP" altLang="en-US" sz="2400" dirty="0" smtClean="0"/>
              <a:t>関数中の</a:t>
            </a:r>
            <a:r>
              <a:rPr lang="en-US" altLang="ja-JP" sz="2400" dirty="0" smtClean="0"/>
              <a:t>x</a:t>
            </a:r>
            <a:r>
              <a:rPr lang="ja-JP" altLang="en-US" sz="2400" dirty="0" smtClean="0"/>
              <a:t>（赤色の</a:t>
            </a:r>
            <a:r>
              <a:rPr lang="en-US" altLang="ja-JP" sz="2400" dirty="0" smtClean="0"/>
              <a:t>x</a:t>
            </a:r>
            <a:r>
              <a:rPr lang="ja-JP" altLang="en-US" sz="2400" dirty="0" smtClean="0"/>
              <a:t>）は別の変数である。</a:t>
            </a:r>
            <a:endParaRPr lang="en-US" altLang="ja-JP"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例６（打ち込んで確認）</a:t>
            </a:r>
            <a:endParaRPr kumimoji="1" lang="ja-JP" altLang="en-US" dirty="0"/>
          </a:p>
        </p:txBody>
      </p:sp>
      <p:sp>
        <p:nvSpPr>
          <p:cNvPr id="7" name="正方形/長方形 6"/>
          <p:cNvSpPr/>
          <p:nvPr/>
        </p:nvSpPr>
        <p:spPr>
          <a:xfrm>
            <a:off x="341189" y="1185622"/>
            <a:ext cx="2702262" cy="4154984"/>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=1, sum=0;</a:t>
            </a:r>
          </a:p>
          <a:p>
            <a:r>
              <a:rPr lang="en-US" altLang="ja-JP" sz="2400" dirty="0" smtClean="0"/>
              <a:t>    while (</a:t>
            </a:r>
            <a:r>
              <a:rPr lang="en-US" altLang="ja-JP" sz="2400" dirty="0" err="1" smtClean="0"/>
              <a:t>i</a:t>
            </a:r>
            <a:r>
              <a:rPr lang="en-US" altLang="ja-JP" sz="2400" dirty="0" smtClean="0"/>
              <a:t>&lt;=n) {</a:t>
            </a:r>
          </a:p>
          <a:p>
            <a:r>
              <a:rPr lang="en-US" altLang="ja-JP" sz="2400" dirty="0" smtClean="0"/>
              <a:t>        sum = sum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endParaRPr lang="en-US" altLang="ja-JP" sz="2400" dirty="0"/>
          </a:p>
        </p:txBody>
      </p:sp>
      <p:sp>
        <p:nvSpPr>
          <p:cNvPr id="8" name="正方形/長方形 7"/>
          <p:cNvSpPr/>
          <p:nvPr/>
        </p:nvSpPr>
        <p:spPr>
          <a:xfrm>
            <a:off x="3207227" y="1226566"/>
            <a:ext cx="5759355"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9" name="テキスト ボックス 8"/>
          <p:cNvSpPr txBox="1"/>
          <p:nvPr/>
        </p:nvSpPr>
        <p:spPr>
          <a:xfrm>
            <a:off x="491317" y="5527336"/>
            <a:ext cx="8072657" cy="1200329"/>
          </a:xfrm>
          <a:prstGeom prst="rect">
            <a:avLst/>
          </a:prstGeom>
          <a:noFill/>
        </p:spPr>
        <p:txBody>
          <a:bodyPr wrap="square" rtlCol="0">
            <a:spAutoFit/>
          </a:bodyPr>
          <a:lstStyle/>
          <a:p>
            <a:r>
              <a:rPr kumimoji="1" lang="ja-JP" altLang="en-US" sz="2400" dirty="0" smtClean="0"/>
              <a:t>関数定義の本体は複合文であり、これまで</a:t>
            </a:r>
            <a:r>
              <a:rPr kumimoji="1" lang="en-US" altLang="ja-JP" sz="2400" dirty="0" smtClean="0"/>
              <a:t>main</a:t>
            </a:r>
            <a:r>
              <a:rPr kumimoji="1" lang="ja-JP" altLang="en-US" sz="2400" dirty="0" smtClean="0"/>
              <a:t>関数の本体で書いていたように</a:t>
            </a:r>
            <a:r>
              <a:rPr lang="ja-JP" altLang="en-US" sz="2400" dirty="0" smtClean="0"/>
              <a:t>変数を宣言したり</a:t>
            </a:r>
            <a:r>
              <a:rPr lang="en-US" altLang="ja-JP" sz="2400" dirty="0" smtClean="0"/>
              <a:t>while</a:t>
            </a:r>
            <a:r>
              <a:rPr lang="ja-JP" altLang="en-US" sz="2400" dirty="0" smtClean="0"/>
              <a:t>文を使ったりして、自由にプログラムを書くことができる。</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例７（打ち込んで確認）</a:t>
            </a:r>
            <a:endParaRPr kumimoji="1" lang="ja-JP" altLang="en-US" dirty="0"/>
          </a:p>
        </p:txBody>
      </p:sp>
      <p:sp>
        <p:nvSpPr>
          <p:cNvPr id="4" name="正方形/長方形 3"/>
          <p:cNvSpPr/>
          <p:nvPr/>
        </p:nvSpPr>
        <p:spPr>
          <a:xfrm>
            <a:off x="126954" y="1403783"/>
            <a:ext cx="3283738" cy="3416320"/>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if (n&lt;=0)</a:t>
            </a:r>
          </a:p>
          <a:p>
            <a:r>
              <a:rPr lang="en-US" altLang="ja-JP" sz="2400" dirty="0" smtClean="0"/>
              <a:t>        return 0;</a:t>
            </a:r>
          </a:p>
          <a:p>
            <a:r>
              <a:rPr lang="en-US" altLang="ja-JP" sz="2400" dirty="0" smtClean="0"/>
              <a:t>   else</a:t>
            </a:r>
          </a:p>
          <a:p>
            <a:r>
              <a:rPr lang="en-US" altLang="ja-JP" sz="2400" dirty="0" smtClean="0"/>
              <a:t>      return  n + </a:t>
            </a:r>
            <a:r>
              <a:rPr lang="en-US" altLang="ja-JP" sz="2400" dirty="0" smtClean="0">
                <a:solidFill>
                  <a:srgbClr val="FF0000"/>
                </a:solidFill>
              </a:rPr>
              <a:t>sum (n-1)</a:t>
            </a:r>
            <a:r>
              <a:rPr lang="en-US" altLang="ja-JP" sz="2400" dirty="0" smtClean="0"/>
              <a:t>;</a:t>
            </a:r>
          </a:p>
          <a:p>
            <a:r>
              <a:rPr lang="en-US" altLang="ja-JP" sz="2400" dirty="0" smtClean="0"/>
              <a:t>}</a:t>
            </a:r>
            <a:endParaRPr lang="en-US" altLang="ja-JP" sz="2400" dirty="0"/>
          </a:p>
        </p:txBody>
      </p:sp>
      <p:sp>
        <p:nvSpPr>
          <p:cNvPr id="5" name="正方形/長方形 4"/>
          <p:cNvSpPr/>
          <p:nvPr/>
        </p:nvSpPr>
        <p:spPr>
          <a:xfrm>
            <a:off x="3438402" y="1403783"/>
            <a:ext cx="5650178"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609594" y="5126176"/>
            <a:ext cx="7772403" cy="1569660"/>
          </a:xfrm>
          <a:prstGeom prst="rect">
            <a:avLst/>
          </a:prstGeom>
          <a:noFill/>
        </p:spPr>
        <p:txBody>
          <a:bodyPr wrap="square" rtlCol="0">
            <a:spAutoFit/>
          </a:bodyPr>
          <a:lstStyle/>
          <a:p>
            <a:r>
              <a:rPr lang="ja-JP" altLang="en-US" sz="2400" dirty="0" smtClean="0"/>
              <a:t>関数</a:t>
            </a:r>
            <a:r>
              <a:rPr lang="en-US" altLang="ja-JP" sz="2400" dirty="0" smtClean="0"/>
              <a:t>sum</a:t>
            </a:r>
            <a:r>
              <a:rPr lang="ja-JP" altLang="en-US" sz="2400" dirty="0" smtClean="0"/>
              <a:t>の中で、関数</a:t>
            </a:r>
            <a:r>
              <a:rPr lang="en-US" altLang="ja-JP" sz="2400" dirty="0" smtClean="0"/>
              <a:t>sum</a:t>
            </a:r>
            <a:r>
              <a:rPr lang="ja-JP" altLang="en-US" sz="2400" dirty="0" smtClean="0"/>
              <a:t>を呼び出している。このような関数を再帰関数という。関数呼び出しには仮引数への代入等に時間が少しかかるので、</a:t>
            </a:r>
            <a:r>
              <a:rPr kumimoji="1" lang="ja-JP" altLang="en-US" sz="2400" dirty="0" smtClean="0"/>
              <a:t>例６のように</a:t>
            </a:r>
            <a:r>
              <a:rPr lang="ja-JP" altLang="en-US" sz="2400" dirty="0" smtClean="0"/>
              <a:t>ループで回した方が一般に実行速度は速い。</a:t>
            </a:r>
            <a:endParaRPr kumimoji="1" lang="ja-JP" alt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注意事項</a:t>
            </a:r>
            <a:endParaRPr kumimoji="1" lang="ja-JP" altLang="en-US" dirty="0"/>
          </a:p>
        </p:txBody>
      </p:sp>
      <p:sp>
        <p:nvSpPr>
          <p:cNvPr id="4" name="テキスト ボックス 3"/>
          <p:cNvSpPr txBox="1"/>
          <p:nvPr/>
        </p:nvSpPr>
        <p:spPr>
          <a:xfrm>
            <a:off x="1016241" y="1526822"/>
            <a:ext cx="7213360" cy="2246769"/>
          </a:xfrm>
          <a:prstGeom prst="rect">
            <a:avLst/>
          </a:prstGeom>
          <a:noFill/>
        </p:spPr>
        <p:txBody>
          <a:bodyPr wrap="square" rtlCol="0">
            <a:spAutoFit/>
          </a:bodyPr>
          <a:lstStyle/>
          <a:p>
            <a:r>
              <a:rPr kumimoji="1" lang="ja-JP" altLang="en-US" sz="2800" dirty="0" smtClean="0"/>
              <a:t>関数呼び出し式 </a:t>
            </a:r>
            <a:r>
              <a:rPr kumimoji="1" lang="en-US" altLang="ja-JP" sz="2800" dirty="0" smtClean="0">
                <a:solidFill>
                  <a:srgbClr val="FF0000"/>
                </a:solidFill>
              </a:rPr>
              <a:t>f (e1, e2, …, en)</a:t>
            </a:r>
            <a:r>
              <a:rPr lang="ja-JP" altLang="en-US" sz="2800" dirty="0" smtClean="0"/>
              <a:t>の評価においては式</a:t>
            </a:r>
            <a:r>
              <a:rPr lang="en-US" altLang="ja-JP" sz="2800" dirty="0" smtClean="0"/>
              <a:t>e1, e2, …, en</a:t>
            </a:r>
            <a:r>
              <a:rPr lang="ja-JP" altLang="en-US" sz="2800" dirty="0" smtClean="0"/>
              <a:t>の評価がまず行われるが、これらの式の評価順序は未規定である。よって、関数の引数の式には副作用のある式は書かない方がよい。</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補足１</a:t>
            </a:r>
            <a:endParaRPr lang="ja-JP" altLang="en-US" dirty="0"/>
          </a:p>
        </p:txBody>
      </p:sp>
      <p:sp>
        <p:nvSpPr>
          <p:cNvPr id="3" name="コンテンツ プレースホルダ 2"/>
          <p:cNvSpPr>
            <a:spLocks noGrp="1"/>
          </p:cNvSpPr>
          <p:nvPr>
            <p:ph idx="1"/>
          </p:nvPr>
        </p:nvSpPr>
        <p:spPr/>
        <p:txBody>
          <a:bodyPr/>
          <a:lstStyle/>
          <a:p>
            <a:r>
              <a:rPr lang="ja-JP" altLang="en-US" dirty="0" smtClean="0"/>
              <a:t>関数は、他の言語では手続き</a:t>
            </a:r>
            <a:r>
              <a:rPr lang="en-US" altLang="ja-JP" dirty="0" smtClean="0"/>
              <a:t>(procedure)</a:t>
            </a:r>
            <a:r>
              <a:rPr lang="ja-JP" altLang="en-US" dirty="0" smtClean="0"/>
              <a:t>と言うこともある。</a:t>
            </a:r>
          </a:p>
          <a:p>
            <a:r>
              <a:rPr lang="ja-JP" altLang="en-US" dirty="0" smtClean="0"/>
              <a:t>値を返さない場合は手続き、値を返す場合は関数と呼ぶのが普通だと思われるが、区別しないで使う場合もある。</a:t>
            </a:r>
            <a:r>
              <a:rPr lang="en-US" altLang="ja-JP" dirty="0" smtClean="0"/>
              <a:t>C</a:t>
            </a:r>
            <a:r>
              <a:rPr lang="ja-JP" altLang="en-US" dirty="0" smtClean="0"/>
              <a:t>では値を返さない関数も定義できる（返り値の型の部分を</a:t>
            </a:r>
            <a:r>
              <a:rPr lang="en-US" altLang="ja-JP" dirty="0" smtClean="0"/>
              <a:t>void</a:t>
            </a:r>
            <a:r>
              <a:rPr lang="ja-JP" altLang="en-US" dirty="0" smtClean="0"/>
              <a:t>と記述すればよい）。</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5422"/>
          </a:xfrm>
        </p:spPr>
        <p:txBody>
          <a:bodyPr/>
          <a:lstStyle/>
          <a:p>
            <a:r>
              <a:rPr lang="ja-JP" altLang="en-US" dirty="0" smtClean="0"/>
              <a:t>補足２</a:t>
            </a:r>
            <a:endParaRPr lang="ja-JP" altLang="en-US" dirty="0"/>
          </a:p>
        </p:txBody>
      </p:sp>
      <p:sp>
        <p:nvSpPr>
          <p:cNvPr id="3" name="コンテンツ プレースホルダ 2"/>
          <p:cNvSpPr>
            <a:spLocks noGrp="1"/>
          </p:cNvSpPr>
          <p:nvPr>
            <p:ph idx="1"/>
          </p:nvPr>
        </p:nvSpPr>
        <p:spPr>
          <a:xfrm>
            <a:off x="457200" y="1171974"/>
            <a:ext cx="8229600" cy="943429"/>
          </a:xfrm>
        </p:spPr>
        <p:txBody>
          <a:bodyPr>
            <a:normAutofit/>
          </a:bodyPr>
          <a:lstStyle/>
          <a:p>
            <a:r>
              <a:rPr lang="ja-JP" altLang="en-US" sz="2400" dirty="0" smtClean="0"/>
              <a:t>関数定義が、関数呼び出し場所より後にある場合はプロトタイプ宣言を関数呼び出しより前で行わなければならない。</a:t>
            </a:r>
            <a:endParaRPr lang="en-US" altLang="ja-JP" sz="2400" dirty="0" smtClean="0"/>
          </a:p>
        </p:txBody>
      </p:sp>
      <p:sp>
        <p:nvSpPr>
          <p:cNvPr id="4" name="テキスト ボックス 3"/>
          <p:cNvSpPr txBox="1"/>
          <p:nvPr/>
        </p:nvSpPr>
        <p:spPr>
          <a:xfrm>
            <a:off x="635485" y="2361057"/>
            <a:ext cx="5205754" cy="4154984"/>
          </a:xfrm>
          <a:prstGeom prst="rect">
            <a:avLst/>
          </a:prstGeom>
          <a:noFill/>
          <a:ln>
            <a:solidFill>
              <a:schemeClr val="tx1"/>
            </a:solidFill>
          </a:ln>
        </p:spPr>
        <p:txBody>
          <a:bodyPr wrap="square" rtlCol="0">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4557027" y="2738409"/>
            <a:ext cx="4129773" cy="2308324"/>
          </a:xfrm>
          <a:prstGeom prst="rect">
            <a:avLst/>
          </a:prstGeom>
          <a:solidFill>
            <a:schemeClr val="bg1"/>
          </a:solidFill>
          <a:ln>
            <a:solidFill>
              <a:schemeClr val="tx1"/>
            </a:solidFill>
          </a:ln>
        </p:spPr>
        <p:txBody>
          <a:bodyPr wrap="square" rtlCol="0">
            <a:spAutoFit/>
          </a:bodyPr>
          <a:lstStyle/>
          <a:p>
            <a:r>
              <a:rPr lang="ja-JP" altLang="en-US" sz="2400" dirty="0" smtClean="0"/>
              <a:t>この例では</a:t>
            </a:r>
            <a:r>
              <a:rPr lang="en-US" altLang="ja-JP" sz="2400" dirty="0" err="1" smtClean="0"/>
              <a:t>addTwice</a:t>
            </a:r>
            <a:r>
              <a:rPr lang="ja-JP" altLang="en-US" sz="2400" dirty="0" smtClean="0"/>
              <a:t>の関数定義が使用箇所より後ろにある。このような場合、関数の返り値は</a:t>
            </a:r>
            <a:r>
              <a:rPr lang="en-US" altLang="ja-JP" sz="2400" dirty="0" err="1" smtClean="0"/>
              <a:t>int</a:t>
            </a:r>
            <a:r>
              <a:rPr lang="ja-JP" altLang="en-US" sz="2400" dirty="0" smtClean="0"/>
              <a:t>型として処理される（ので型が合わなくなる）。プロトタイプ宣言が必要。</a:t>
            </a:r>
            <a:endParaRPr lang="en-US" altLang="ja-JP"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例８</a:t>
            </a:r>
            <a:r>
              <a:rPr kumimoji="1" lang="ja-JP" altLang="en-US" dirty="0" smtClean="0"/>
              <a:t>（打ち込んで確認）</a:t>
            </a:r>
            <a:endParaRPr kumimoji="1" lang="ja-JP" altLang="en-US" dirty="0"/>
          </a:p>
        </p:txBody>
      </p:sp>
      <p:sp>
        <p:nvSpPr>
          <p:cNvPr id="4" name="正方形/長方形 3"/>
          <p:cNvSpPr/>
          <p:nvPr/>
        </p:nvSpPr>
        <p:spPr>
          <a:xfrm>
            <a:off x="689211" y="1417638"/>
            <a:ext cx="5274860" cy="4893647"/>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smtClean="0">
                <a:solidFill>
                  <a:srgbClr val="FF0000"/>
                </a:solidFill>
              </a:rPr>
              <a:t>double </a:t>
            </a:r>
            <a:r>
              <a:rPr lang="en-US" altLang="ja-JP" sz="2400" dirty="0" err="1" smtClean="0">
                <a:solidFill>
                  <a:srgbClr val="FF0000"/>
                </a:solidFill>
              </a:rPr>
              <a:t>addTwice</a:t>
            </a:r>
            <a:r>
              <a:rPr lang="en-US" altLang="ja-JP" sz="2400" dirty="0" smtClean="0">
                <a:solidFill>
                  <a:srgbClr val="FF0000"/>
                </a:solidFill>
              </a:rPr>
              <a:t> (double, double);</a:t>
            </a:r>
          </a:p>
          <a:p>
            <a:endParaRPr lang="en-US" altLang="ja-JP" sz="2400" dirty="0" smtClean="0"/>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5533373" y="1958033"/>
            <a:ext cx="3357409" cy="1569660"/>
          </a:xfrm>
          <a:prstGeom prst="rect">
            <a:avLst/>
          </a:prstGeom>
          <a:solidFill>
            <a:schemeClr val="bg1"/>
          </a:solidFill>
          <a:ln>
            <a:solidFill>
              <a:schemeClr val="tx1"/>
            </a:solidFill>
          </a:ln>
        </p:spPr>
        <p:txBody>
          <a:bodyPr wrap="square" rtlCol="0">
            <a:spAutoFit/>
          </a:bodyPr>
          <a:lstStyle/>
          <a:p>
            <a:r>
              <a:rPr lang="ja-JP" altLang="en-US" sz="2400" dirty="0" smtClean="0"/>
              <a:t>赤字の部分がプロトタイプ宣言。</a:t>
            </a:r>
            <a:r>
              <a:rPr kumimoji="1" lang="ja-JP" altLang="en-US" sz="2400" dirty="0" smtClean="0"/>
              <a:t>関数の返り値の型および引数の型を記述する。</a:t>
            </a:r>
            <a:endParaRPr kumimoji="1"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プログラムの実行について</a:t>
            </a:r>
            <a:endParaRPr kumimoji="1" lang="ja-JP" altLang="en-US" dirty="0"/>
          </a:p>
        </p:txBody>
      </p:sp>
      <p:sp>
        <p:nvSpPr>
          <p:cNvPr id="3" name="コンテンツ プレースホルダ 2"/>
          <p:cNvSpPr>
            <a:spLocks noGrp="1"/>
          </p:cNvSpPr>
          <p:nvPr>
            <p:ph idx="1"/>
          </p:nvPr>
        </p:nvSpPr>
        <p:spPr>
          <a:xfrm>
            <a:off x="457200" y="1600200"/>
            <a:ext cx="8229600" cy="1217645"/>
          </a:xfrm>
        </p:spPr>
        <p:txBody>
          <a:bodyPr/>
          <a:lstStyle/>
          <a:p>
            <a:r>
              <a:rPr kumimoji="1" lang="ja-JP" altLang="en-US" dirty="0" smtClean="0"/>
              <a:t>複数の関数が定義されている</a:t>
            </a:r>
            <a:r>
              <a:rPr kumimoji="1" lang="en-US" altLang="ja-JP" dirty="0" smtClean="0"/>
              <a:t>C</a:t>
            </a:r>
            <a:r>
              <a:rPr kumimoji="1" lang="ja-JP" altLang="en-US" dirty="0" smtClean="0"/>
              <a:t>プログラムにおいては、</a:t>
            </a:r>
            <a:r>
              <a:rPr kumimoji="1" lang="en-US" altLang="ja-JP" dirty="0" smtClean="0"/>
              <a:t>main</a:t>
            </a:r>
            <a:r>
              <a:rPr kumimoji="1" lang="ja-JP" altLang="en-US" dirty="0" smtClean="0"/>
              <a:t>関数から実行が開始される。</a:t>
            </a:r>
            <a:endParaRPr kumimoji="1" lang="ja-JP"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79102"/>
            <a:ext cx="8229600" cy="708002"/>
          </a:xfrm>
        </p:spPr>
        <p:txBody>
          <a:bodyPr>
            <a:normAutofit fontScale="90000"/>
          </a:bodyPr>
          <a:lstStyle/>
          <a:p>
            <a:r>
              <a:rPr kumimoji="1" lang="ja-JP" altLang="en-US" dirty="0" smtClean="0"/>
              <a:t>今日の課題</a:t>
            </a:r>
            <a:endParaRPr kumimoji="1" lang="ja-JP" altLang="en-US" dirty="0"/>
          </a:p>
        </p:txBody>
      </p:sp>
      <p:sp>
        <p:nvSpPr>
          <p:cNvPr id="4" name="テキスト ボックス 3"/>
          <p:cNvSpPr txBox="1"/>
          <p:nvPr/>
        </p:nvSpPr>
        <p:spPr>
          <a:xfrm>
            <a:off x="332504" y="791568"/>
            <a:ext cx="8686801" cy="5632311"/>
          </a:xfrm>
          <a:prstGeom prst="rect">
            <a:avLst/>
          </a:prstGeom>
          <a:noFill/>
        </p:spPr>
        <p:txBody>
          <a:bodyPr wrap="square" rtlCol="0">
            <a:spAutoFit/>
          </a:bodyPr>
          <a:lstStyle/>
          <a:p>
            <a:r>
              <a:rPr kumimoji="1" lang="ja-JP" altLang="en-US" sz="2400" dirty="0" smtClean="0"/>
              <a:t>１．キーボードから正の整数を受け取り、１からその数までの</a:t>
            </a:r>
            <a:r>
              <a:rPr kumimoji="1" lang="en-US" altLang="ja-JP" sz="2400" dirty="0" smtClean="0"/>
              <a:t>2</a:t>
            </a:r>
            <a:r>
              <a:rPr kumimoji="1" lang="ja-JP" altLang="en-US" sz="2400" dirty="0" smtClean="0"/>
              <a:t>乗の和</a:t>
            </a:r>
            <a:r>
              <a:rPr kumimoji="1" lang="en-US" altLang="ja-JP" sz="2400" dirty="0" smtClean="0"/>
              <a:t>(</a:t>
            </a:r>
            <a:r>
              <a:rPr lang="en-US" altLang="ja-JP" sz="2400" dirty="0" smtClean="0">
                <a:sym typeface="Symbol"/>
              </a:rPr>
              <a:t>1</a:t>
            </a:r>
            <a:r>
              <a:rPr lang="en-US" altLang="ja-JP" sz="2400" baseline="30000" dirty="0" smtClean="0">
                <a:sym typeface="Symbol"/>
              </a:rPr>
              <a:t>2</a:t>
            </a:r>
            <a:r>
              <a:rPr lang="en-US" altLang="ja-JP" sz="2400" dirty="0" smtClean="0">
                <a:sym typeface="Symbol"/>
              </a:rPr>
              <a:t> + 2</a:t>
            </a:r>
            <a:r>
              <a:rPr lang="en-US" altLang="ja-JP" sz="2400" baseline="30000" dirty="0" smtClean="0">
                <a:sym typeface="Symbol"/>
              </a:rPr>
              <a:t>2</a:t>
            </a:r>
            <a:r>
              <a:rPr lang="en-US" altLang="ja-JP" sz="2400" dirty="0" smtClean="0">
                <a:sym typeface="Symbol"/>
              </a:rPr>
              <a:t> + 3</a:t>
            </a:r>
            <a:r>
              <a:rPr lang="en-US" altLang="ja-JP" sz="2400" baseline="30000" dirty="0" smtClean="0">
                <a:sym typeface="Symbol"/>
              </a:rPr>
              <a:t>2</a:t>
            </a:r>
            <a:r>
              <a:rPr lang="en-US" altLang="ja-JP" sz="2400" dirty="0" smtClean="0">
                <a:sym typeface="Symbol"/>
              </a:rPr>
              <a:t>…</a:t>
            </a:r>
            <a:r>
              <a:rPr kumimoji="1" lang="en-US" altLang="ja-JP" sz="2400" dirty="0" smtClean="0"/>
              <a:t>)</a:t>
            </a:r>
            <a:r>
              <a:rPr kumimoji="1" lang="ja-JP" altLang="en-US" sz="2400" dirty="0" smtClean="0"/>
              <a:t>を表示するプログラムを作成せよ。ただし、</a:t>
            </a:r>
            <a:r>
              <a:rPr lang="en-US" altLang="ja-JP" sz="2400" dirty="0" smtClean="0"/>
              <a:t>n</a:t>
            </a:r>
            <a:r>
              <a:rPr lang="ja-JP" altLang="en-US" sz="2400" dirty="0" smtClean="0"/>
              <a:t>を引数にとり、</a:t>
            </a:r>
            <a:r>
              <a:rPr lang="en-US" altLang="ja-JP" sz="2400" dirty="0" smtClean="0"/>
              <a:t>1</a:t>
            </a:r>
            <a:r>
              <a:rPr lang="ja-JP" altLang="en-US" sz="2400" dirty="0" smtClean="0"/>
              <a:t>から</a:t>
            </a:r>
            <a:r>
              <a:rPr lang="en-US" altLang="ja-JP" sz="2400" dirty="0" smtClean="0"/>
              <a:t>n</a:t>
            </a:r>
            <a:r>
              <a:rPr lang="ja-JP" altLang="en-US" sz="2400" dirty="0" err="1" smtClean="0"/>
              <a:t>までの</a:t>
            </a:r>
            <a:r>
              <a:rPr lang="en-US" altLang="ja-JP" sz="2400" dirty="0" smtClean="0"/>
              <a:t>2</a:t>
            </a:r>
            <a:r>
              <a:rPr lang="ja-JP" altLang="en-US" sz="2400" dirty="0" smtClean="0"/>
              <a:t>乗和を結果として返す関数</a:t>
            </a:r>
            <a:r>
              <a:rPr lang="en-US" altLang="ja-JP" sz="2400" dirty="0" err="1" smtClean="0"/>
              <a:t>squareSum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 … }</a:t>
            </a:r>
          </a:p>
          <a:p>
            <a:r>
              <a:rPr lang="ja-JP" altLang="en-US" sz="2400" dirty="0" smtClean="0"/>
              <a:t>２．キーボードから正の整数を受け取り、その数が素数かどうかを表示するプログラムを作成せよ。ただし、</a:t>
            </a:r>
            <a:r>
              <a:rPr lang="en-US" altLang="ja-JP" sz="2400" dirty="0" smtClean="0"/>
              <a:t>n</a:t>
            </a:r>
            <a:r>
              <a:rPr lang="ja-JP" altLang="en-US" sz="2400" dirty="0" smtClean="0"/>
              <a:t>を引数にとり、</a:t>
            </a:r>
            <a:r>
              <a:rPr lang="en-US" altLang="ja-JP" sz="2400" dirty="0" smtClean="0"/>
              <a:t>n</a:t>
            </a:r>
            <a:r>
              <a:rPr lang="ja-JP" altLang="en-US" sz="2400" dirty="0" smtClean="0"/>
              <a:t>が素数の場合</a:t>
            </a:r>
            <a:r>
              <a:rPr lang="en-US" altLang="ja-JP" sz="2400" dirty="0" smtClean="0"/>
              <a:t>1, </a:t>
            </a:r>
            <a:r>
              <a:rPr lang="ja-JP" altLang="en-US" sz="2400" dirty="0" smtClean="0"/>
              <a:t>そうでない場合</a:t>
            </a:r>
            <a:r>
              <a:rPr lang="en-US" altLang="ja-JP" sz="2400" dirty="0" smtClean="0"/>
              <a:t>0</a:t>
            </a:r>
            <a:r>
              <a:rPr lang="ja-JP" altLang="en-US" sz="2400" dirty="0" smtClean="0"/>
              <a:t>を返す関数</a:t>
            </a:r>
            <a:r>
              <a:rPr lang="en-US" altLang="ja-JP" sz="2400" dirty="0" err="1" smtClean="0"/>
              <a:t>isPrime</a:t>
            </a:r>
            <a:r>
              <a:rPr lang="ja-JP" altLang="en-US" sz="2400" dirty="0" smtClean="0"/>
              <a:t>を以下ように定義し、それを用いた</a:t>
            </a:r>
            <a:r>
              <a:rPr lang="ja-JP" altLang="en-US" sz="2400" dirty="0" smtClean="0"/>
              <a:t>プログラム</a:t>
            </a:r>
            <a:r>
              <a:rPr lang="ja-JP" altLang="en-US" sz="2400" dirty="0" smtClean="0"/>
              <a:t>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isPrime</a:t>
            </a:r>
            <a:r>
              <a:rPr lang="en-US" altLang="ja-JP" sz="2400" dirty="0" smtClean="0"/>
              <a:t> (</a:t>
            </a:r>
            <a:r>
              <a:rPr lang="en-US" altLang="ja-JP" sz="2400" dirty="0" err="1" smtClean="0"/>
              <a:t>int</a:t>
            </a:r>
            <a:r>
              <a:rPr lang="en-US" altLang="ja-JP" sz="2400" dirty="0" smtClean="0"/>
              <a:t>  n) { …  }</a:t>
            </a:r>
          </a:p>
          <a:p>
            <a:r>
              <a:rPr lang="ja-JP" altLang="en-US" sz="2400" dirty="0" smtClean="0"/>
              <a:t>（チャレンジ課題：１も２もできた人用） キーボードから正の整数を２つ受け取り、それらの最小公倍数を表示するプログラムを作成せよ。ただし、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の最小公倍数を結果として返す関数</a:t>
            </a:r>
            <a:r>
              <a:rPr lang="en-US" altLang="ja-JP" sz="2400" dirty="0" smtClean="0"/>
              <a:t>lcm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lcm (</a:t>
            </a:r>
            <a:r>
              <a:rPr lang="en-US" altLang="ja-JP" sz="2400" dirty="0" err="1" smtClean="0"/>
              <a:t>int</a:t>
            </a:r>
            <a:r>
              <a:rPr lang="en-US" altLang="ja-JP" sz="2400" dirty="0" smtClean="0"/>
              <a:t>  n, </a:t>
            </a:r>
            <a:r>
              <a:rPr lang="en-US" altLang="ja-JP" sz="2400" dirty="0" err="1" smtClean="0"/>
              <a:t>int</a:t>
            </a:r>
            <a:r>
              <a:rPr lang="en-US" altLang="ja-JP" sz="2400" dirty="0" smtClean="0"/>
              <a:t>  m) { …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640</TotalTime>
  <Words>2290</Words>
  <Application>Microsoft Office PowerPoint</Application>
  <PresentationFormat>画面に合わせる (4:3)</PresentationFormat>
  <Paragraphs>203</Paragraphs>
  <Slides>20</Slides>
  <Notes>0</Notes>
  <HiddenSlides>0</HiddenSlides>
  <MMClips>0</MMClips>
  <ScaleCrop>false</ScaleCrop>
  <HeadingPairs>
    <vt:vector size="4" baseType="variant">
      <vt:variant>
        <vt:lpstr>テーマ</vt:lpstr>
      </vt:variant>
      <vt:variant>
        <vt:i4>1</vt:i4>
      </vt:variant>
      <vt:variant>
        <vt:lpstr>スライド タイトル</vt:lpstr>
      </vt:variant>
      <vt:variant>
        <vt:i4>20</vt:i4>
      </vt:variant>
    </vt:vector>
  </HeadingPairs>
  <TitlesOfParts>
    <vt:vector size="21" baseType="lpstr">
      <vt:lpstr>Office テーマ</vt:lpstr>
      <vt:lpstr>プログラミング入門２ 第６回 関数</vt:lpstr>
      <vt:lpstr>今日の内容 --- 関数</vt:lpstr>
      <vt:lpstr>例１ （右側のプログラムを打ち込んで確認）</vt:lpstr>
      <vt:lpstr>関数定義の構文</vt:lpstr>
      <vt:lpstr>関数の例２（打ち込んで確認）</vt:lpstr>
      <vt:lpstr>return文の構文１</vt:lpstr>
      <vt:lpstr>return文の構文２</vt:lpstr>
      <vt:lpstr>関数の例３（打ち込んで確認）</vt:lpstr>
      <vt:lpstr>関数呼び出し式</vt:lpstr>
      <vt:lpstr>関数の例４（打ち込んで確認）</vt:lpstr>
      <vt:lpstr>仮引数の有効範囲</vt:lpstr>
      <vt:lpstr>関数の例５（打ち込んで確認）</vt:lpstr>
      <vt:lpstr>例６（打ち込んで確認）</vt:lpstr>
      <vt:lpstr>例７（打ち込んで確認）</vt:lpstr>
      <vt:lpstr>注意事項</vt:lpstr>
      <vt:lpstr>補足１</vt:lpstr>
      <vt:lpstr>補足２</vt:lpstr>
      <vt:lpstr>例８（打ち込んで確認）</vt:lpstr>
      <vt:lpstr>Cプログラムの実行について</vt:lpstr>
      <vt:lpstr>今日の課題</vt:lpstr>
    </vt:vector>
  </TitlesOfParts>
  <Company>Shibaura Institute of Technology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Isao Sasano</dc:creator>
  <cp:keywords/>
  <cp:lastModifiedBy>sasano</cp:lastModifiedBy>
  <cp:revision>248</cp:revision>
  <dcterms:created xsi:type="dcterms:W3CDTF">2009-10-24T06:52:12Z</dcterms:created>
  <dcterms:modified xsi:type="dcterms:W3CDTF">2009-10-26T05:47:10Z</dcterms:modified>
</cp:coreProperties>
</file>