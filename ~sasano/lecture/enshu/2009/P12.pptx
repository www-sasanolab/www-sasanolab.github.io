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8" r:id="rId12"/>
    <p:sldId id="273" r:id="rId13"/>
    <p:sldId id="269" r:id="rId14"/>
    <p:sldId id="275" r:id="rId15"/>
    <p:sldId id="277" r:id="rId16"/>
    <p:sldId id="276" r:id="rId17"/>
    <p:sldId id="278" r:id="rId18"/>
    <p:sldId id="267" r:id="rId19"/>
    <p:sldId id="279" r:id="rId20"/>
    <p:sldId id="280" r:id="rId21"/>
    <p:sldId id="281" r:id="rId22"/>
    <p:sldId id="283" r:id="rId23"/>
    <p:sldId id="282" r:id="rId24"/>
    <p:sldId id="284" r:id="rId25"/>
    <p:sldId id="285" r:id="rId26"/>
    <p:sldId id="286" r:id="rId27"/>
    <p:sldId id="270" r:id="rId28"/>
    <p:sldId id="271" r:id="rId29"/>
    <p:sldId id="287" r:id="rId30"/>
    <p:sldId id="266" r:id="rId31"/>
    <p:sldId id="272" r:id="rId3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8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402A8A-1359-4ECC-B713-69DA8037369C}" type="datetimeFigureOut">
              <a:rPr kumimoji="1" lang="ja-JP" altLang="en-US" smtClean="0"/>
              <a:pPr/>
              <a:t>2009/12/14</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0210E9-32C0-4038-8A44-8E520BD51458}"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90210E9-32C0-4038-8A44-8E520BD51458}" type="slidenum">
              <a:rPr kumimoji="1" lang="ja-JP" altLang="en-US" smtClean="0"/>
              <a:pPr/>
              <a:t>9</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2009/12/14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プログラミング入門</a:t>
            </a:r>
            <a:endParaRPr kumimoji="1" lang="ja-JP" altLang="en-US" dirty="0"/>
          </a:p>
        </p:txBody>
      </p:sp>
      <p:sp>
        <p:nvSpPr>
          <p:cNvPr id="4" name="テキスト ボックス 3"/>
          <p:cNvSpPr txBox="1"/>
          <p:nvPr/>
        </p:nvSpPr>
        <p:spPr>
          <a:xfrm>
            <a:off x="3500430" y="3786190"/>
            <a:ext cx="1566454" cy="584775"/>
          </a:xfrm>
          <a:prstGeom prst="rect">
            <a:avLst/>
          </a:prstGeom>
          <a:noFill/>
        </p:spPr>
        <p:txBody>
          <a:bodyPr wrap="none" rtlCol="0">
            <a:spAutoFit/>
          </a:bodyPr>
          <a:lstStyle/>
          <a:p>
            <a:r>
              <a:rPr kumimoji="1" lang="ja-JP" altLang="en-US" sz="3200" dirty="0" smtClean="0"/>
              <a:t>第１２回</a:t>
            </a:r>
            <a:endParaRPr kumimoji="1" lang="ja-JP" altLang="en-US" sz="3200" dirty="0"/>
          </a:p>
        </p:txBody>
      </p:sp>
      <p:sp>
        <p:nvSpPr>
          <p:cNvPr id="5" name="テキスト ボックス 4"/>
          <p:cNvSpPr txBox="1"/>
          <p:nvPr/>
        </p:nvSpPr>
        <p:spPr>
          <a:xfrm>
            <a:off x="2571736" y="514351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a:xfrm>
            <a:off x="457200" y="1600201"/>
            <a:ext cx="8229600" cy="3971940"/>
          </a:xfrm>
        </p:spPr>
        <p:txBody>
          <a:bodyPr>
            <a:normAutofit/>
          </a:bodyPr>
          <a:lstStyle/>
          <a:p>
            <a:r>
              <a:rPr kumimoji="1" lang="ja-JP" altLang="en-US" dirty="0" smtClean="0"/>
              <a:t>便利な構文を紹介</a:t>
            </a:r>
            <a:endParaRPr kumimoji="1" lang="en-US" altLang="ja-JP" dirty="0" smtClean="0"/>
          </a:p>
          <a:p>
            <a:pPr lvl="1"/>
            <a:r>
              <a:rPr lang="en-US" altLang="ja-JP" dirty="0" smtClean="0"/>
              <a:t>for</a:t>
            </a:r>
            <a:r>
              <a:rPr lang="ja-JP" altLang="en-US" dirty="0" smtClean="0"/>
              <a:t>文</a:t>
            </a:r>
            <a:endParaRPr kumimoji="1" lang="en-US" altLang="ja-JP" dirty="0" smtClean="0"/>
          </a:p>
          <a:p>
            <a:pPr lvl="1"/>
            <a:r>
              <a:rPr lang="ja-JP" altLang="en-US" dirty="0" smtClean="0"/>
              <a:t>コンマ演算子</a:t>
            </a:r>
            <a:endParaRPr lang="en-US" altLang="ja-JP" dirty="0" smtClean="0"/>
          </a:p>
          <a:p>
            <a:pPr lvl="1"/>
            <a:r>
              <a:rPr lang="ja-JP" altLang="en-US" dirty="0" smtClean="0"/>
              <a:t>増分演算子</a:t>
            </a:r>
            <a:r>
              <a:rPr lang="en-US" altLang="ja-JP" dirty="0" smtClean="0"/>
              <a:t>++</a:t>
            </a:r>
            <a:r>
              <a:rPr lang="ja-JP" altLang="en-US" dirty="0" err="1" smtClean="0"/>
              <a:t>、</a:t>
            </a:r>
            <a:r>
              <a:rPr lang="ja-JP" altLang="en-US" dirty="0" smtClean="0"/>
              <a:t>減分演算子</a:t>
            </a:r>
            <a:r>
              <a:rPr lang="en-US" altLang="ja-JP" dirty="0" smtClean="0"/>
              <a:t>--</a:t>
            </a:r>
            <a:r>
              <a:rPr lang="ja-JP" altLang="en-US" dirty="0" smtClean="0"/>
              <a:t>（それぞれ前置と後置がある）</a:t>
            </a:r>
            <a:endParaRPr lang="en-US" altLang="ja-JP" dirty="0" smtClean="0"/>
          </a:p>
          <a:p>
            <a:r>
              <a:rPr lang="ja-JP" altLang="en-US" dirty="0" smtClean="0"/>
              <a:t>ファイル処理</a:t>
            </a:r>
            <a:endParaRPr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857256"/>
          </a:xfrm>
        </p:spPr>
        <p:txBody>
          <a:bodyPr/>
          <a:lstStyle/>
          <a:p>
            <a:r>
              <a:rPr kumimoji="1" lang="en-US" altLang="ja-JP" dirty="0" smtClean="0"/>
              <a:t>for</a:t>
            </a:r>
            <a:r>
              <a:rPr kumimoji="1" lang="ja-JP" altLang="en-US" dirty="0" smtClean="0"/>
              <a:t>文</a:t>
            </a:r>
            <a:endParaRPr kumimoji="1" lang="ja-JP" altLang="en-US" dirty="0"/>
          </a:p>
        </p:txBody>
      </p:sp>
      <p:sp>
        <p:nvSpPr>
          <p:cNvPr id="4" name="テキスト ボックス 3"/>
          <p:cNvSpPr txBox="1"/>
          <p:nvPr/>
        </p:nvSpPr>
        <p:spPr>
          <a:xfrm>
            <a:off x="571472" y="1214422"/>
            <a:ext cx="8143900" cy="1384995"/>
          </a:xfrm>
          <a:prstGeom prst="rect">
            <a:avLst/>
          </a:prstGeom>
          <a:noFill/>
        </p:spPr>
        <p:txBody>
          <a:bodyPr wrap="square" rtlCol="0">
            <a:spAutoFit/>
          </a:bodyPr>
          <a:lstStyle/>
          <a:p>
            <a:r>
              <a:rPr kumimoji="1" lang="ja-JP" altLang="en-US" sz="2800" dirty="0" smtClean="0"/>
              <a:t>これまでは繰り返しのための構文としては</a:t>
            </a:r>
            <a:r>
              <a:rPr kumimoji="1" lang="en-US" altLang="ja-JP" sz="2800" dirty="0" smtClean="0"/>
              <a:t>while</a:t>
            </a:r>
            <a:r>
              <a:rPr kumimoji="1" lang="ja-JP" altLang="en-US" sz="2800" dirty="0" smtClean="0"/>
              <a:t>文のみを紹介していた。繰り返し構文は配列を扱う場合によく使われる。</a:t>
            </a:r>
            <a:endParaRPr kumimoji="1" lang="en-US" altLang="ja-JP" sz="2800" dirty="0" smtClean="0"/>
          </a:p>
        </p:txBody>
      </p:sp>
      <p:sp>
        <p:nvSpPr>
          <p:cNvPr id="5" name="正方形/長方形 4"/>
          <p:cNvSpPr/>
          <p:nvPr/>
        </p:nvSpPr>
        <p:spPr>
          <a:xfrm>
            <a:off x="1714480" y="3325371"/>
            <a:ext cx="4572000" cy="2246769"/>
          </a:xfrm>
          <a:prstGeom prst="rect">
            <a:avLst/>
          </a:prstGeom>
          <a:ln>
            <a:solidFill>
              <a:schemeClr val="tx1"/>
            </a:solidFill>
          </a:ln>
        </p:spPr>
        <p:txBody>
          <a:bodyPr>
            <a:spAutoFit/>
          </a:bodyPr>
          <a:lstStyle/>
          <a:p>
            <a:r>
              <a:rPr lang="en-US" altLang="ja-JP" sz="2800" dirty="0" smtClean="0"/>
              <a:t> </a:t>
            </a:r>
            <a:r>
              <a:rPr lang="en-US" altLang="ja-JP" sz="2800" dirty="0" err="1" smtClean="0"/>
              <a:t>i</a:t>
            </a:r>
            <a:r>
              <a:rPr lang="en-US" altLang="ja-JP" sz="2800" dirty="0" smtClean="0"/>
              <a:t> = 0;</a:t>
            </a:r>
          </a:p>
          <a:p>
            <a:r>
              <a:rPr lang="en-US" altLang="ja-JP" sz="2800" dirty="0" smtClean="0"/>
              <a:t>    while (</a:t>
            </a:r>
            <a:r>
              <a:rPr lang="ja-JP" altLang="en-US" sz="2800" dirty="0" smtClean="0"/>
              <a:t>条件式</a:t>
            </a:r>
            <a:r>
              <a:rPr lang="en-US" altLang="ja-JP" sz="2800" dirty="0" smtClean="0"/>
              <a:t>) {</a:t>
            </a:r>
          </a:p>
          <a:p>
            <a:r>
              <a:rPr lang="en-US" altLang="ja-JP" sz="2800" dirty="0" smtClean="0"/>
              <a:t>        … </a:t>
            </a:r>
            <a:r>
              <a:rPr lang="ja-JP" altLang="en-US" sz="2800" dirty="0" smtClean="0"/>
              <a:t>配列の処理 </a:t>
            </a:r>
            <a:r>
              <a:rPr lang="en-US" altLang="ja-JP" sz="2800" dirty="0" smtClean="0"/>
              <a:t>…</a:t>
            </a:r>
          </a:p>
          <a:p>
            <a:r>
              <a:rPr lang="en-US" altLang="ja-JP" sz="2800" dirty="0" smtClean="0"/>
              <a:t>        </a:t>
            </a:r>
            <a:r>
              <a:rPr lang="en-US" altLang="ja-JP" sz="2800" dirty="0" err="1" smtClean="0"/>
              <a:t>i</a:t>
            </a:r>
            <a:r>
              <a:rPr lang="en-US" altLang="ja-JP" sz="2800" dirty="0" smtClean="0"/>
              <a:t> = </a:t>
            </a:r>
            <a:r>
              <a:rPr lang="en-US" altLang="ja-JP" sz="2800" dirty="0" err="1" smtClean="0"/>
              <a:t>i</a:t>
            </a:r>
            <a:r>
              <a:rPr lang="en-US" altLang="ja-JP" sz="2800" dirty="0" smtClean="0"/>
              <a:t> + 1;</a:t>
            </a:r>
          </a:p>
          <a:p>
            <a:r>
              <a:rPr lang="en-US" altLang="ja-JP" sz="2800" dirty="0" smtClean="0"/>
              <a:t>    }</a:t>
            </a:r>
            <a:endParaRPr lang="ja-JP" altLang="en-US" sz="2800" dirty="0"/>
          </a:p>
        </p:txBody>
      </p:sp>
      <p:sp>
        <p:nvSpPr>
          <p:cNvPr id="6" name="正方形/長方形 5"/>
          <p:cNvSpPr/>
          <p:nvPr/>
        </p:nvSpPr>
        <p:spPr>
          <a:xfrm>
            <a:off x="928662" y="2714620"/>
            <a:ext cx="6160661" cy="523220"/>
          </a:xfrm>
          <a:prstGeom prst="rect">
            <a:avLst/>
          </a:prstGeom>
        </p:spPr>
        <p:txBody>
          <a:bodyPr wrap="none">
            <a:spAutoFit/>
          </a:bodyPr>
          <a:lstStyle/>
          <a:p>
            <a:r>
              <a:rPr lang="ja-JP" altLang="en-US" sz="2800" dirty="0" smtClean="0"/>
              <a:t>配列の処理の典型的なプログラムの形</a:t>
            </a:r>
            <a:r>
              <a:rPr lang="en-US" altLang="ja-JP" sz="2800" dirty="0" smtClean="0"/>
              <a:t>:</a:t>
            </a:r>
          </a:p>
        </p:txBody>
      </p:sp>
      <p:sp>
        <p:nvSpPr>
          <p:cNvPr id="7" name="テキスト ボックス 6"/>
          <p:cNvSpPr txBox="1"/>
          <p:nvPr/>
        </p:nvSpPr>
        <p:spPr>
          <a:xfrm>
            <a:off x="428596" y="5761041"/>
            <a:ext cx="8358246" cy="954107"/>
          </a:xfrm>
          <a:prstGeom prst="rect">
            <a:avLst/>
          </a:prstGeom>
          <a:noFill/>
        </p:spPr>
        <p:txBody>
          <a:bodyPr wrap="square" rtlCol="0">
            <a:spAutoFit/>
          </a:bodyPr>
          <a:lstStyle/>
          <a:p>
            <a:r>
              <a:rPr lang="ja-JP" altLang="en-US" sz="2800" dirty="0" smtClean="0"/>
              <a:t>このような形のプログラムを見やすく書くための構文として</a:t>
            </a:r>
            <a:r>
              <a:rPr lang="en-US" altLang="ja-JP" sz="2800" dirty="0" smtClean="0"/>
              <a:t>for</a:t>
            </a:r>
            <a:r>
              <a:rPr lang="ja-JP" altLang="en-US" sz="2800" dirty="0" smtClean="0"/>
              <a:t>文がある。</a:t>
            </a:r>
            <a:endParaRPr kumimoji="1"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for</a:t>
            </a:r>
            <a:r>
              <a:rPr lang="ja-JP" altLang="en-US" dirty="0" smtClean="0"/>
              <a:t>文</a:t>
            </a:r>
            <a:r>
              <a:rPr kumimoji="1" lang="ja-JP" altLang="en-US" dirty="0" smtClean="0"/>
              <a:t>の例（打ち込んで確認）</a:t>
            </a:r>
            <a:endParaRPr kumimoji="1" lang="ja-JP" altLang="en-US" dirty="0"/>
          </a:p>
        </p:txBody>
      </p:sp>
      <p:sp>
        <p:nvSpPr>
          <p:cNvPr id="5" name="正方形/長方形 4"/>
          <p:cNvSpPr/>
          <p:nvPr/>
        </p:nvSpPr>
        <p:spPr>
          <a:xfrm>
            <a:off x="285720" y="1822914"/>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solidFill>
                  <a:srgbClr val="FF0000"/>
                </a:solidFill>
              </a:rPr>
              <a:t>i</a:t>
            </a:r>
            <a:r>
              <a:rPr lang="en-US" altLang="ja-JP" sz="2400" dirty="0" smtClean="0">
                <a:solidFill>
                  <a:srgbClr val="FF0000"/>
                </a:solidFill>
              </a:rPr>
              <a:t>=0</a:t>
            </a:r>
            <a:r>
              <a:rPr lang="en-US" altLang="ja-JP" sz="2400" dirty="0" smtClean="0"/>
              <a:t>; </a:t>
            </a:r>
            <a:r>
              <a:rPr lang="en-US" altLang="ja-JP" sz="2400" dirty="0" err="1" smtClean="0">
                <a:solidFill>
                  <a:srgbClr val="00B050"/>
                </a:solidFill>
              </a:rPr>
              <a:t>i</a:t>
            </a:r>
            <a:r>
              <a:rPr lang="en-US" altLang="ja-JP" sz="2400" dirty="0" smtClean="0">
                <a:solidFill>
                  <a:srgbClr val="00B050"/>
                </a:solidFill>
              </a:rPr>
              <a:t>&lt;5</a:t>
            </a:r>
            <a:r>
              <a:rPr lang="en-US" altLang="ja-JP" sz="2400" dirty="0" smtClean="0"/>
              <a:t>; </a:t>
            </a:r>
            <a:r>
              <a:rPr lang="en-US" altLang="ja-JP" sz="2400" dirty="0" err="1" smtClean="0">
                <a:solidFill>
                  <a:schemeClr val="accent2">
                    <a:lumMod val="75000"/>
                  </a:schemeClr>
                </a:solidFill>
              </a:rPr>
              <a:t>i</a:t>
            </a:r>
            <a:r>
              <a:rPr lang="en-US" altLang="ja-JP" sz="2400" dirty="0" smtClean="0">
                <a:solidFill>
                  <a:schemeClr val="accent2">
                    <a:lumMod val="75000"/>
                  </a:schemeClr>
                </a:solidFill>
              </a:rPr>
              <a:t>=i+1</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6" name="正方形/長方形 5"/>
          <p:cNvSpPr/>
          <p:nvPr/>
        </p:nvSpPr>
        <p:spPr>
          <a:xfrm>
            <a:off x="4714876" y="1785926"/>
            <a:ext cx="4143404" cy="3785652"/>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a:t>
            </a:r>
            <a:r>
              <a:rPr lang="en-US" altLang="ja-JP" sz="2400" dirty="0" err="1" smtClean="0">
                <a:solidFill>
                  <a:srgbClr val="FF0000"/>
                </a:solidFill>
              </a:rPr>
              <a:t>i</a:t>
            </a:r>
            <a:r>
              <a:rPr lang="en-US" altLang="ja-JP" sz="2400" dirty="0" smtClean="0">
                <a:solidFill>
                  <a:srgbClr val="FF0000"/>
                </a:solidFill>
              </a:rPr>
              <a:t>=0</a:t>
            </a:r>
            <a:r>
              <a:rPr lang="en-US" altLang="ja-JP" sz="2400" dirty="0" smtClean="0"/>
              <a:t>;</a:t>
            </a:r>
          </a:p>
          <a:p>
            <a:r>
              <a:rPr lang="en-US" altLang="ja-JP" sz="2400" dirty="0" smtClean="0"/>
              <a:t>  while (</a:t>
            </a:r>
            <a:r>
              <a:rPr lang="en-US" altLang="ja-JP" sz="2400" dirty="0" err="1" smtClean="0">
                <a:solidFill>
                  <a:srgbClr val="00B050"/>
                </a:solidFill>
              </a:rPr>
              <a:t>i</a:t>
            </a:r>
            <a:r>
              <a:rPr lang="en-US" altLang="ja-JP" sz="2400" dirty="0" smtClean="0">
                <a:solidFill>
                  <a:srgbClr val="00B050"/>
                </a:solidFill>
              </a:rPr>
              <a:t>&lt;5</a:t>
            </a:r>
            <a:r>
              <a:rPr lang="en-US" altLang="ja-JP" sz="2400" dirty="0" smtClean="0"/>
              <a:t>) {</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a:t>
            </a:r>
            <a:r>
              <a:rPr lang="en-US" altLang="ja-JP" sz="2400" dirty="0" err="1" smtClean="0">
                <a:solidFill>
                  <a:schemeClr val="accent2">
                    <a:lumMod val="75000"/>
                  </a:schemeClr>
                </a:solidFill>
              </a:rPr>
              <a:t>i</a:t>
            </a:r>
            <a:r>
              <a:rPr lang="en-US" altLang="ja-JP" sz="2400" dirty="0" smtClean="0">
                <a:solidFill>
                  <a:schemeClr val="accent2">
                    <a:lumMod val="75000"/>
                  </a:schemeClr>
                </a:solidFill>
              </a:rPr>
              <a:t>=i+1</a:t>
            </a:r>
            <a:r>
              <a:rPr lang="en-US" altLang="ja-JP" sz="2400" dirty="0" smtClean="0"/>
              <a:t>;</a:t>
            </a:r>
          </a:p>
          <a:p>
            <a:r>
              <a:rPr lang="en-US" altLang="ja-JP" sz="2400" dirty="0" smtClean="0"/>
              <a:t>  }</a:t>
            </a:r>
          </a:p>
          <a:p>
            <a:r>
              <a:rPr lang="en-US" altLang="ja-JP" sz="2400" dirty="0" smtClean="0"/>
              <a:t>  return 0;</a:t>
            </a:r>
          </a:p>
          <a:p>
            <a:r>
              <a:rPr lang="en-US" altLang="ja-JP" sz="2400" dirty="0" smtClean="0"/>
              <a:t>}</a:t>
            </a:r>
            <a:endParaRPr lang="en-US" altLang="ja-JP" sz="2400" dirty="0"/>
          </a:p>
        </p:txBody>
      </p:sp>
      <p:sp>
        <p:nvSpPr>
          <p:cNvPr id="7" name="テキスト ボックス 6"/>
          <p:cNvSpPr txBox="1"/>
          <p:nvPr/>
        </p:nvSpPr>
        <p:spPr>
          <a:xfrm>
            <a:off x="1785918" y="6000768"/>
            <a:ext cx="6066084" cy="523220"/>
          </a:xfrm>
          <a:prstGeom prst="rect">
            <a:avLst/>
          </a:prstGeom>
          <a:noFill/>
        </p:spPr>
        <p:txBody>
          <a:bodyPr wrap="none" rtlCol="0">
            <a:spAutoFit/>
          </a:bodyPr>
          <a:lstStyle/>
          <a:p>
            <a:r>
              <a:rPr kumimoji="1" lang="ja-JP" altLang="en-US" sz="2800" dirty="0" smtClean="0"/>
              <a:t>左と右のプログラムは同じ意味である。</a:t>
            </a:r>
            <a:endParaRPr kumimoji="1"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f</a:t>
            </a:r>
            <a:r>
              <a:rPr kumimoji="1" lang="en-US" altLang="ja-JP" dirty="0" smtClean="0"/>
              <a:t>or</a:t>
            </a:r>
            <a:r>
              <a:rPr lang="ja-JP" altLang="en-US" dirty="0" smtClean="0"/>
              <a:t>文</a:t>
            </a:r>
            <a:r>
              <a:rPr kumimoji="1" lang="ja-JP" altLang="en-US" dirty="0" smtClean="0"/>
              <a:t>の構文（基本形）</a:t>
            </a:r>
            <a:endParaRPr kumimoji="1" lang="ja-JP" altLang="en-US" dirty="0"/>
          </a:p>
        </p:txBody>
      </p:sp>
      <p:sp>
        <p:nvSpPr>
          <p:cNvPr id="4" name="テキスト ボックス 3"/>
          <p:cNvSpPr txBox="1"/>
          <p:nvPr/>
        </p:nvSpPr>
        <p:spPr>
          <a:xfrm>
            <a:off x="714348" y="1357298"/>
            <a:ext cx="2036583" cy="523220"/>
          </a:xfrm>
          <a:prstGeom prst="rect">
            <a:avLst/>
          </a:prstGeom>
          <a:noFill/>
        </p:spPr>
        <p:txBody>
          <a:bodyPr wrap="none" rtlCol="0">
            <a:spAutoFit/>
          </a:bodyPr>
          <a:lstStyle/>
          <a:p>
            <a:r>
              <a:rPr lang="en-US" altLang="ja-JP" sz="2800" dirty="0" smtClean="0"/>
              <a:t>f</a:t>
            </a:r>
            <a:r>
              <a:rPr kumimoji="1" lang="en-US" altLang="ja-JP" sz="2800" dirty="0" smtClean="0"/>
              <a:t>or</a:t>
            </a:r>
            <a:r>
              <a:rPr kumimoji="1" lang="ja-JP" altLang="en-US" sz="2800" dirty="0" smtClean="0"/>
              <a:t>文の構文</a:t>
            </a:r>
            <a:endParaRPr kumimoji="1" lang="ja-JP" altLang="en-US" sz="2800" dirty="0"/>
          </a:p>
        </p:txBody>
      </p:sp>
      <p:sp>
        <p:nvSpPr>
          <p:cNvPr id="5" name="Text Box 5"/>
          <p:cNvSpPr txBox="1">
            <a:spLocks noChangeArrowheads="1"/>
          </p:cNvSpPr>
          <p:nvPr/>
        </p:nvSpPr>
        <p:spPr bwMode="auto">
          <a:xfrm>
            <a:off x="1643042" y="2143116"/>
            <a:ext cx="2996782"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en-US" altLang="ja-JP" sz="2800" dirty="0" smtClean="0">
                <a:ea typeface="ＭＳ Ｐゴシック" charset="-128"/>
              </a:rPr>
              <a:t>for</a:t>
            </a:r>
            <a:r>
              <a:rPr lang="ja-JP" altLang="en-US" sz="2800" dirty="0" smtClean="0">
                <a:ea typeface="ＭＳ Ｐゴシック" charset="-128"/>
              </a:rPr>
              <a:t> </a:t>
            </a:r>
            <a:r>
              <a:rPr lang="ja-JP" altLang="en-US" sz="2800" dirty="0">
                <a:ea typeface="ＭＳ Ｐゴシック" charset="-128"/>
              </a:rPr>
              <a:t>（</a:t>
            </a:r>
            <a:r>
              <a:rPr lang="ja-JP" altLang="en-US" sz="2800" dirty="0" smtClean="0">
                <a:ea typeface="ＭＳ Ｐゴシック" charset="-128"/>
              </a:rPr>
              <a:t>式</a:t>
            </a:r>
            <a:r>
              <a:rPr lang="en-US" altLang="ja-JP" sz="2800" dirty="0" smtClean="0">
                <a:ea typeface="ＭＳ Ｐゴシック" charset="-128"/>
              </a:rPr>
              <a:t>; </a:t>
            </a:r>
            <a:r>
              <a:rPr lang="ja-JP" altLang="en-US" sz="2800" dirty="0" smtClean="0">
                <a:ea typeface="ＭＳ Ｐゴシック" charset="-128"/>
              </a:rPr>
              <a:t>式</a:t>
            </a:r>
            <a:r>
              <a:rPr lang="en-US" altLang="ja-JP" sz="2800" dirty="0" smtClean="0">
                <a:ea typeface="ＭＳ Ｐゴシック" charset="-128"/>
              </a:rPr>
              <a:t>; </a:t>
            </a:r>
            <a:r>
              <a:rPr lang="ja-JP" altLang="en-US" sz="2800" dirty="0" smtClean="0">
                <a:ea typeface="ＭＳ Ｐゴシック" charset="-128"/>
              </a:rPr>
              <a:t>式） </a:t>
            </a:r>
            <a:r>
              <a:rPr lang="ja-JP" altLang="en-US" sz="2800" dirty="0">
                <a:ea typeface="ＭＳ Ｐゴシック" charset="-128"/>
              </a:rPr>
              <a:t>文</a:t>
            </a:r>
          </a:p>
        </p:txBody>
      </p:sp>
      <p:sp>
        <p:nvSpPr>
          <p:cNvPr id="6" name="テキスト ボックス 11"/>
          <p:cNvSpPr txBox="1">
            <a:spLocks noChangeArrowheads="1"/>
          </p:cNvSpPr>
          <p:nvPr/>
        </p:nvSpPr>
        <p:spPr bwMode="auto">
          <a:xfrm>
            <a:off x="642910" y="2928934"/>
            <a:ext cx="4821448" cy="523220"/>
          </a:xfrm>
          <a:prstGeom prst="rect">
            <a:avLst/>
          </a:prstGeom>
          <a:noFill/>
          <a:ln w="9525">
            <a:noFill/>
            <a:miter lim="800000"/>
            <a:headEnd/>
            <a:tailEnd/>
          </a:ln>
        </p:spPr>
        <p:txBody>
          <a:bodyPr wrap="none">
            <a:spAutoFit/>
          </a:bodyPr>
          <a:lstStyle/>
          <a:p>
            <a:r>
              <a:rPr lang="en-US" altLang="ja-JP" sz="2800" dirty="0" smtClean="0"/>
              <a:t> for</a:t>
            </a:r>
            <a:r>
              <a:rPr kumimoji="1" lang="ja-JP" altLang="en-US" sz="2800" dirty="0" smtClean="0"/>
              <a:t>文  </a:t>
            </a:r>
            <a:r>
              <a:rPr kumimoji="1" lang="en-US" altLang="ja-JP" sz="2800" dirty="0" smtClean="0">
                <a:solidFill>
                  <a:srgbClr val="FF0000"/>
                </a:solidFill>
              </a:rPr>
              <a:t>for </a:t>
            </a:r>
            <a:r>
              <a:rPr kumimoji="1" lang="en-US" altLang="ja-JP" sz="2800" dirty="0">
                <a:solidFill>
                  <a:srgbClr val="FF0000"/>
                </a:solidFill>
              </a:rPr>
              <a:t>(</a:t>
            </a:r>
            <a:r>
              <a:rPr kumimoji="1" lang="en-US" altLang="ja-JP" sz="2800" dirty="0" smtClean="0">
                <a:solidFill>
                  <a:srgbClr val="FF0000"/>
                </a:solidFill>
              </a:rPr>
              <a:t>e1; e2; e3) </a:t>
            </a:r>
            <a:r>
              <a:rPr kumimoji="1" lang="en-US" altLang="ja-JP" sz="2800" dirty="0">
                <a:solidFill>
                  <a:srgbClr val="FF0000"/>
                </a:solidFill>
              </a:rPr>
              <a:t>s  </a:t>
            </a:r>
            <a:r>
              <a:rPr kumimoji="1" lang="ja-JP" altLang="en-US" sz="2800" dirty="0"/>
              <a:t>の意味</a:t>
            </a:r>
            <a:endParaRPr kumimoji="1" lang="en-US" altLang="ja-JP" sz="2800" dirty="0"/>
          </a:p>
        </p:txBody>
      </p:sp>
      <p:sp>
        <p:nvSpPr>
          <p:cNvPr id="7" name="テキスト ボックス 6"/>
          <p:cNvSpPr txBox="1"/>
          <p:nvPr/>
        </p:nvSpPr>
        <p:spPr>
          <a:xfrm>
            <a:off x="1643042" y="3571876"/>
            <a:ext cx="3071834" cy="2677656"/>
          </a:xfrm>
          <a:prstGeom prst="rect">
            <a:avLst/>
          </a:prstGeom>
          <a:solidFill>
            <a:srgbClr val="92D050"/>
          </a:solidFill>
          <a:ln>
            <a:solidFill>
              <a:schemeClr val="tx1"/>
            </a:solidFill>
          </a:ln>
        </p:spPr>
        <p:txBody>
          <a:bodyPr wrap="square" rtlCol="0">
            <a:spAutoFit/>
          </a:bodyPr>
          <a:lstStyle/>
          <a:p>
            <a:r>
              <a:rPr lang="en-US" altLang="ja-JP" sz="2800" dirty="0" smtClean="0"/>
              <a:t>e1;</a:t>
            </a:r>
          </a:p>
          <a:p>
            <a:r>
              <a:rPr lang="en-US" altLang="ja-JP" sz="2800" dirty="0" smtClean="0"/>
              <a:t>while (e2) { </a:t>
            </a:r>
          </a:p>
          <a:p>
            <a:r>
              <a:rPr lang="en-US" altLang="ja-JP" sz="2800" dirty="0" smtClean="0"/>
              <a:t>    s</a:t>
            </a:r>
          </a:p>
          <a:p>
            <a:r>
              <a:rPr lang="en-US" altLang="ja-JP" sz="2800" dirty="0" smtClean="0"/>
              <a:t>    e3;</a:t>
            </a:r>
          </a:p>
          <a:p>
            <a:r>
              <a:rPr lang="en-US" altLang="ja-JP" sz="2800" dirty="0" smtClean="0"/>
              <a:t>}</a:t>
            </a:r>
          </a:p>
          <a:p>
            <a:r>
              <a:rPr lang="ja-JP" altLang="en-US" sz="2800" dirty="0" smtClean="0"/>
              <a:t>と同じ意味である。</a:t>
            </a:r>
            <a:endParaRPr lang="en-US" altLang="ja-JP" sz="2800" dirty="0" smtClean="0"/>
          </a:p>
        </p:txBody>
      </p:sp>
      <p:sp>
        <p:nvSpPr>
          <p:cNvPr id="8" name="テキスト ボックス 7"/>
          <p:cNvSpPr txBox="1"/>
          <p:nvPr/>
        </p:nvSpPr>
        <p:spPr>
          <a:xfrm>
            <a:off x="5572132" y="3714752"/>
            <a:ext cx="3214678" cy="2554545"/>
          </a:xfrm>
          <a:prstGeom prst="rect">
            <a:avLst/>
          </a:prstGeom>
          <a:noFill/>
        </p:spPr>
        <p:txBody>
          <a:bodyPr wrap="square" rtlCol="0">
            <a:spAutoFit/>
          </a:bodyPr>
          <a:lstStyle/>
          <a:p>
            <a:r>
              <a:rPr lang="ja-JP" altLang="en-US" sz="2000" dirty="0" smtClean="0"/>
              <a:t>（注意）</a:t>
            </a:r>
            <a:r>
              <a:rPr lang="en-US" altLang="ja-JP" sz="2000" dirty="0" smtClean="0"/>
              <a:t>1999</a:t>
            </a:r>
            <a:r>
              <a:rPr lang="ja-JP" altLang="en-US" sz="2000" dirty="0" smtClean="0"/>
              <a:t>年の</a:t>
            </a:r>
            <a:r>
              <a:rPr lang="en-US" altLang="ja-JP" sz="2000" dirty="0" smtClean="0"/>
              <a:t>ISO</a:t>
            </a:r>
            <a:r>
              <a:rPr lang="ja-JP" altLang="en-US" sz="2000" dirty="0" smtClean="0"/>
              <a:t>規格</a:t>
            </a:r>
            <a:r>
              <a:rPr lang="en-US" altLang="ja-JP" sz="2000" dirty="0" smtClean="0"/>
              <a:t>(C99)</a:t>
            </a:r>
            <a:r>
              <a:rPr lang="ja-JP" altLang="en-US" sz="2000" dirty="0" smtClean="0"/>
              <a:t>においては</a:t>
            </a:r>
            <a:r>
              <a:rPr lang="en-US" altLang="ja-JP" sz="2000" dirty="0" smtClean="0"/>
              <a:t>e1</a:t>
            </a:r>
            <a:r>
              <a:rPr lang="ja-JP" altLang="en-US" sz="2000" dirty="0" smtClean="0"/>
              <a:t>のところに変数</a:t>
            </a:r>
            <a:r>
              <a:rPr kumimoji="1" lang="ja-JP" altLang="en-US" sz="2000" dirty="0" smtClean="0"/>
              <a:t>宣言（</a:t>
            </a:r>
            <a:r>
              <a:rPr kumimoji="1" lang="en-US" altLang="ja-JP" sz="2000" dirty="0" smtClean="0"/>
              <a:t>for</a:t>
            </a:r>
            <a:r>
              <a:rPr kumimoji="1" lang="ja-JP" altLang="en-US" sz="2000" dirty="0" smtClean="0"/>
              <a:t>文内部でのみ有効）が書ける</a:t>
            </a:r>
            <a:r>
              <a:rPr lang="ja-JP" altLang="en-US" sz="2000" dirty="0" smtClean="0"/>
              <a:t>ように</a:t>
            </a:r>
            <a:r>
              <a:rPr lang="en-US" altLang="ja-JP" sz="2000" dirty="0" smtClean="0"/>
              <a:t>for</a:t>
            </a:r>
            <a:r>
              <a:rPr lang="ja-JP" altLang="en-US" sz="2000" dirty="0" smtClean="0"/>
              <a:t>文の定義が拡張されている</a:t>
            </a:r>
            <a:r>
              <a:rPr kumimoji="1" lang="ja-JP" altLang="en-US" sz="2000" dirty="0" smtClean="0"/>
              <a:t>。</a:t>
            </a:r>
            <a:endParaRPr lang="en-US" altLang="ja-JP" sz="2000" dirty="0" smtClean="0"/>
          </a:p>
          <a:p>
            <a:r>
              <a:rPr lang="en-US" altLang="ja-JP" sz="2000" dirty="0" smtClean="0"/>
              <a:t>e1</a:t>
            </a:r>
            <a:r>
              <a:rPr lang="ja-JP" altLang="en-US" sz="2000" dirty="0" smtClean="0"/>
              <a:t>のところが変数宣言の場合は、左の置き換えはできない。</a:t>
            </a:r>
            <a:endParaRPr kumimoji="1" lang="ja-JP" alt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例（打ち込んで確認）</a:t>
            </a:r>
            <a:endParaRPr kumimoji="1" lang="ja-JP" altLang="en-US" dirty="0"/>
          </a:p>
        </p:txBody>
      </p:sp>
      <p:sp>
        <p:nvSpPr>
          <p:cNvPr id="6" name="正方形/長方形 5"/>
          <p:cNvSpPr/>
          <p:nvPr/>
        </p:nvSpPr>
        <p:spPr>
          <a:xfrm>
            <a:off x="500034" y="1571612"/>
            <a:ext cx="5357850" cy="4401205"/>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 sum=0, a[5]={1,2,3,4,5};</a:t>
            </a:r>
          </a:p>
          <a:p>
            <a:r>
              <a:rPr lang="en-US" altLang="ja-JP" sz="2800" dirty="0" smtClean="0"/>
              <a:t>  for (</a:t>
            </a:r>
            <a:r>
              <a:rPr lang="en-US" altLang="ja-JP" sz="2800" dirty="0" err="1" smtClean="0"/>
              <a:t>i</a:t>
            </a:r>
            <a:r>
              <a:rPr lang="en-US" altLang="ja-JP" sz="2800" dirty="0" smtClean="0"/>
              <a:t>=0; </a:t>
            </a:r>
            <a:r>
              <a:rPr lang="en-US" altLang="ja-JP" sz="2800" dirty="0" err="1" smtClean="0"/>
              <a:t>i</a:t>
            </a:r>
            <a:r>
              <a:rPr lang="en-US" altLang="ja-JP" sz="2800" dirty="0" smtClean="0"/>
              <a:t>&lt;5; </a:t>
            </a:r>
            <a:r>
              <a:rPr lang="en-US" altLang="ja-JP" sz="2800" dirty="0" err="1" smtClean="0"/>
              <a:t>i</a:t>
            </a:r>
            <a:r>
              <a:rPr lang="en-US" altLang="ja-JP" sz="2800" dirty="0" smtClean="0"/>
              <a:t>=i+1) </a:t>
            </a:r>
            <a:r>
              <a:rPr lang="en-US" altLang="ja-JP" sz="2800" dirty="0" smtClean="0">
                <a:solidFill>
                  <a:srgbClr val="FF0000"/>
                </a:solidFill>
              </a:rPr>
              <a:t>{</a:t>
            </a:r>
          </a:p>
          <a:p>
            <a:r>
              <a:rPr lang="en-US" altLang="ja-JP" sz="2800" dirty="0" smtClean="0">
                <a:solidFill>
                  <a:srgbClr val="FF0000"/>
                </a:solidFill>
              </a:rPr>
              <a:t>    </a:t>
            </a:r>
            <a:r>
              <a:rPr lang="en-US" altLang="ja-JP" sz="2800" dirty="0" err="1" smtClean="0">
                <a:solidFill>
                  <a:srgbClr val="FF0000"/>
                </a:solidFill>
              </a:rPr>
              <a:t>printf</a:t>
            </a:r>
            <a:r>
              <a:rPr lang="en-US" altLang="ja-JP" sz="2800" dirty="0" smtClean="0">
                <a:solidFill>
                  <a:srgbClr val="FF0000"/>
                </a:solidFill>
              </a:rPr>
              <a:t> ("a[%d]=%d\n", </a:t>
            </a:r>
            <a:r>
              <a:rPr lang="en-US" altLang="ja-JP" sz="2800" dirty="0" err="1" smtClean="0">
                <a:solidFill>
                  <a:srgbClr val="FF0000"/>
                </a:solidFill>
              </a:rPr>
              <a:t>i</a:t>
            </a:r>
            <a:r>
              <a:rPr lang="en-US" altLang="ja-JP" sz="2800" dirty="0" smtClean="0">
                <a:solidFill>
                  <a:srgbClr val="FF0000"/>
                </a:solidFill>
              </a:rPr>
              <a:t>, a[</a:t>
            </a:r>
            <a:r>
              <a:rPr lang="en-US" altLang="ja-JP" sz="2800" dirty="0" err="1" smtClean="0">
                <a:solidFill>
                  <a:srgbClr val="FF0000"/>
                </a:solidFill>
              </a:rPr>
              <a:t>i</a:t>
            </a:r>
            <a:r>
              <a:rPr lang="en-US" altLang="ja-JP" sz="2800" dirty="0" smtClean="0">
                <a:solidFill>
                  <a:srgbClr val="FF0000"/>
                </a:solidFill>
              </a:rPr>
              <a:t>]);</a:t>
            </a:r>
          </a:p>
          <a:p>
            <a:r>
              <a:rPr lang="en-US" altLang="ja-JP" sz="2800" dirty="0" smtClean="0">
                <a:solidFill>
                  <a:srgbClr val="FF0000"/>
                </a:solidFill>
              </a:rPr>
              <a:t>    sum = sum + a[</a:t>
            </a:r>
            <a:r>
              <a:rPr lang="en-US" altLang="ja-JP" sz="2800" dirty="0" err="1" smtClean="0">
                <a:solidFill>
                  <a:srgbClr val="FF0000"/>
                </a:solidFill>
              </a:rPr>
              <a:t>i</a:t>
            </a:r>
            <a:r>
              <a:rPr lang="en-US" altLang="ja-JP" sz="2800" dirty="0" smtClean="0">
                <a:solidFill>
                  <a:srgbClr val="FF0000"/>
                </a:solidFill>
              </a:rPr>
              <a:t>];</a:t>
            </a:r>
          </a:p>
          <a:p>
            <a:r>
              <a:rPr lang="en-US" altLang="ja-JP" sz="2800" dirty="0" smtClean="0">
                <a:solidFill>
                  <a:srgbClr val="FF0000"/>
                </a:solidFill>
              </a:rPr>
              <a:t>  }</a:t>
            </a:r>
          </a:p>
          <a:p>
            <a:r>
              <a:rPr lang="en-US" altLang="ja-JP" sz="2800" dirty="0" smtClean="0"/>
              <a:t>  </a:t>
            </a:r>
            <a:r>
              <a:rPr lang="en-US" altLang="ja-JP" sz="2800" dirty="0" err="1" smtClean="0"/>
              <a:t>printf</a:t>
            </a:r>
            <a:r>
              <a:rPr lang="en-US" altLang="ja-JP" sz="2800" dirty="0" smtClean="0"/>
              <a:t> ("sum=%d\n", sum);</a:t>
            </a:r>
          </a:p>
          <a:p>
            <a:r>
              <a:rPr lang="en-US" altLang="ja-JP" sz="2800" dirty="0" smtClean="0"/>
              <a:t>  return 0;</a:t>
            </a:r>
          </a:p>
          <a:p>
            <a:r>
              <a:rPr lang="en-US" altLang="ja-JP" sz="2800" dirty="0" smtClean="0"/>
              <a:t>}</a:t>
            </a:r>
            <a:endParaRPr lang="en-US" altLang="ja-JP" sz="2800" dirty="0"/>
          </a:p>
        </p:txBody>
      </p:sp>
      <p:sp>
        <p:nvSpPr>
          <p:cNvPr id="7" name="テキスト ボックス 6"/>
          <p:cNvSpPr txBox="1"/>
          <p:nvPr/>
        </p:nvSpPr>
        <p:spPr>
          <a:xfrm>
            <a:off x="6072198" y="1571612"/>
            <a:ext cx="2357454" cy="1200329"/>
          </a:xfrm>
          <a:prstGeom prst="rect">
            <a:avLst/>
          </a:prstGeom>
          <a:noFill/>
          <a:ln>
            <a:noFill/>
          </a:ln>
        </p:spPr>
        <p:txBody>
          <a:bodyPr wrap="square" rtlCol="0">
            <a:spAutoFit/>
          </a:bodyPr>
          <a:lstStyle/>
          <a:p>
            <a:r>
              <a:rPr lang="ja-JP" altLang="en-US" sz="2400" dirty="0" smtClean="0"/>
              <a:t>配列</a:t>
            </a:r>
            <a:r>
              <a:rPr lang="en-US" altLang="ja-JP" sz="2400" dirty="0" smtClean="0"/>
              <a:t>a</a:t>
            </a:r>
            <a:r>
              <a:rPr lang="ja-JP" altLang="en-US" sz="2400" dirty="0" smtClean="0"/>
              <a:t>の要素の和を表示するプログラムである。</a:t>
            </a:r>
            <a:endParaRPr kumimoji="1" lang="ja-JP" altLang="en-US" sz="2400" dirty="0"/>
          </a:p>
        </p:txBody>
      </p:sp>
      <p:sp>
        <p:nvSpPr>
          <p:cNvPr id="8" name="テキスト ボックス 7"/>
          <p:cNvSpPr txBox="1"/>
          <p:nvPr/>
        </p:nvSpPr>
        <p:spPr>
          <a:xfrm>
            <a:off x="6000760" y="3143248"/>
            <a:ext cx="2571768" cy="1200329"/>
          </a:xfrm>
          <a:prstGeom prst="rect">
            <a:avLst/>
          </a:prstGeom>
          <a:noFill/>
          <a:ln>
            <a:solidFill>
              <a:schemeClr val="tx1"/>
            </a:solidFill>
          </a:ln>
        </p:spPr>
        <p:txBody>
          <a:bodyPr wrap="square" rtlCol="0">
            <a:spAutoFit/>
          </a:bodyPr>
          <a:lstStyle/>
          <a:p>
            <a:r>
              <a:rPr kumimoji="1" lang="ja-JP" altLang="en-US" sz="2400" dirty="0" smtClean="0"/>
              <a:t>この例では、</a:t>
            </a:r>
            <a:r>
              <a:rPr kumimoji="1" lang="en-US" altLang="ja-JP" sz="2400" dirty="0" smtClean="0"/>
              <a:t>for</a:t>
            </a:r>
            <a:r>
              <a:rPr lang="ja-JP" altLang="en-US" sz="2400" dirty="0" smtClean="0"/>
              <a:t>文の本体</a:t>
            </a:r>
            <a:r>
              <a:rPr lang="en-US" altLang="ja-JP" sz="2400" dirty="0" smtClean="0"/>
              <a:t>(</a:t>
            </a:r>
            <a:r>
              <a:rPr lang="ja-JP" altLang="en-US" sz="2400" dirty="0" smtClean="0"/>
              <a:t>赤字部分</a:t>
            </a:r>
            <a:r>
              <a:rPr lang="en-US" altLang="ja-JP" sz="2400" dirty="0" smtClean="0"/>
              <a:t>)</a:t>
            </a:r>
            <a:r>
              <a:rPr lang="ja-JP" altLang="en-US" sz="2400" dirty="0" smtClean="0"/>
              <a:t>が複合文である。</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while</a:t>
            </a:r>
            <a:r>
              <a:rPr lang="ja-JP" altLang="en-US" dirty="0" smtClean="0"/>
              <a:t>文を使った場合</a:t>
            </a:r>
            <a:endParaRPr kumimoji="1" lang="ja-JP" altLang="en-US" dirty="0"/>
          </a:p>
        </p:txBody>
      </p:sp>
      <p:sp>
        <p:nvSpPr>
          <p:cNvPr id="4" name="正方形/長方形 3"/>
          <p:cNvSpPr/>
          <p:nvPr/>
        </p:nvSpPr>
        <p:spPr>
          <a:xfrm>
            <a:off x="571472" y="1452169"/>
            <a:ext cx="4714908"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sum=0, a[5]={1,2,3,4,5};</a:t>
            </a:r>
          </a:p>
          <a:p>
            <a:r>
              <a:rPr lang="en-US" altLang="ja-JP" sz="2400" dirty="0" smtClean="0"/>
              <a:t>  </a:t>
            </a:r>
            <a:r>
              <a:rPr lang="en-US" altLang="ja-JP" sz="2400" dirty="0" err="1" smtClean="0"/>
              <a:t>i</a:t>
            </a:r>
            <a:r>
              <a:rPr lang="en-US" altLang="ja-JP" sz="2400" dirty="0" smtClean="0"/>
              <a:t>=0;  </a:t>
            </a:r>
          </a:p>
          <a:p>
            <a:r>
              <a:rPr lang="en-US" altLang="ja-JP" sz="2400" dirty="0" smtClean="0"/>
              <a:t>  while (</a:t>
            </a:r>
            <a:r>
              <a:rPr lang="en-US" altLang="ja-JP" sz="2400" dirty="0" err="1" smtClean="0"/>
              <a:t>i</a:t>
            </a:r>
            <a:r>
              <a:rPr lang="en-US" altLang="ja-JP" sz="2400" dirty="0" smtClean="0"/>
              <a:t>&lt;5) {</a:t>
            </a:r>
          </a:p>
          <a:p>
            <a:r>
              <a:rPr lang="en-US" altLang="ja-JP" sz="2400" dirty="0" smtClean="0">
                <a:solidFill>
                  <a:srgbClr val="FF0000"/>
                </a:solidFill>
              </a:rPr>
              <a:t>    {</a:t>
            </a:r>
          </a:p>
          <a:p>
            <a:r>
              <a:rPr lang="en-US" altLang="ja-JP" sz="2400" dirty="0" smtClean="0">
                <a:solidFill>
                  <a:srgbClr val="FF0000"/>
                </a:solidFill>
              </a:rPr>
              <a:t>        </a:t>
            </a:r>
            <a:r>
              <a:rPr lang="en-US" altLang="ja-JP" sz="2400" dirty="0" err="1" smtClean="0">
                <a:solidFill>
                  <a:srgbClr val="FF0000"/>
                </a:solidFill>
              </a:rPr>
              <a:t>printf</a:t>
            </a:r>
            <a:r>
              <a:rPr lang="en-US" altLang="ja-JP" sz="2400" dirty="0" smtClean="0">
                <a:solidFill>
                  <a:srgbClr val="FF0000"/>
                </a:solidFill>
              </a:rPr>
              <a:t> ("a[%d]=%d\n", </a:t>
            </a:r>
            <a:r>
              <a:rPr lang="en-US" altLang="ja-JP" sz="2400" dirty="0" err="1" smtClean="0">
                <a:solidFill>
                  <a:srgbClr val="FF0000"/>
                </a:solidFill>
              </a:rPr>
              <a:t>i</a:t>
            </a:r>
            <a:r>
              <a:rPr lang="en-US" altLang="ja-JP" sz="2400" dirty="0" smtClean="0">
                <a:solidFill>
                  <a:srgbClr val="FF0000"/>
                </a:solidFill>
              </a:rPr>
              <a:t>, a[</a:t>
            </a:r>
            <a:r>
              <a:rPr lang="en-US" altLang="ja-JP" sz="2400" dirty="0" err="1" smtClean="0">
                <a:solidFill>
                  <a:srgbClr val="FF0000"/>
                </a:solidFill>
              </a:rPr>
              <a:t>i</a:t>
            </a:r>
            <a:r>
              <a:rPr lang="en-US" altLang="ja-JP" sz="2400" dirty="0" smtClean="0">
                <a:solidFill>
                  <a:srgbClr val="FF0000"/>
                </a:solidFill>
              </a:rPr>
              <a:t>]);</a:t>
            </a:r>
          </a:p>
          <a:p>
            <a:r>
              <a:rPr lang="en-US" altLang="ja-JP" sz="2400" dirty="0" smtClean="0">
                <a:solidFill>
                  <a:srgbClr val="FF0000"/>
                </a:solidFill>
              </a:rPr>
              <a:t>        sum = sum + a[</a:t>
            </a:r>
            <a:r>
              <a:rPr lang="en-US" altLang="ja-JP" sz="2400" dirty="0" err="1" smtClean="0">
                <a:solidFill>
                  <a:srgbClr val="FF0000"/>
                </a:solidFill>
              </a:rPr>
              <a:t>i</a:t>
            </a:r>
            <a:r>
              <a:rPr lang="en-US" altLang="ja-JP" sz="2400" dirty="0" smtClean="0">
                <a:solidFill>
                  <a:srgbClr val="FF0000"/>
                </a:solidFill>
              </a:rPr>
              <a:t>];</a:t>
            </a:r>
          </a:p>
          <a:p>
            <a:r>
              <a:rPr lang="en-US" altLang="ja-JP" sz="2400" dirty="0" smtClean="0">
                <a:solidFill>
                  <a:srgbClr val="FF0000"/>
                </a:solidFill>
              </a:rPr>
              <a:t>    }</a:t>
            </a:r>
          </a:p>
          <a:p>
            <a:r>
              <a:rPr lang="en-US" altLang="ja-JP" sz="2400" dirty="0" smtClean="0">
                <a:solidFill>
                  <a:srgbClr val="FF0000"/>
                </a:solidFill>
              </a:rPr>
              <a:t>    </a:t>
            </a:r>
            <a:r>
              <a:rPr lang="en-US" altLang="ja-JP" sz="2400" dirty="0" err="1" smtClean="0"/>
              <a:t>i</a:t>
            </a:r>
            <a:r>
              <a:rPr lang="en-US" altLang="ja-JP" sz="2400" dirty="0" smtClean="0"/>
              <a:t>=i+1;</a:t>
            </a:r>
          </a:p>
          <a:p>
            <a:r>
              <a:rPr lang="en-US" altLang="ja-JP" sz="2400" dirty="0" smtClean="0"/>
              <a:t>  }</a:t>
            </a:r>
          </a:p>
          <a:p>
            <a:r>
              <a:rPr lang="en-US" altLang="ja-JP" sz="2400" dirty="0" smtClean="0"/>
              <a:t>  </a:t>
            </a:r>
            <a:r>
              <a:rPr lang="en-US" altLang="ja-JP" sz="2400" dirty="0" err="1" smtClean="0"/>
              <a:t>printf</a:t>
            </a:r>
            <a:r>
              <a:rPr lang="en-US" altLang="ja-JP" sz="2400" dirty="0" smtClean="0"/>
              <a:t> ("sum=%d\n", sum);</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5572132" y="1571612"/>
            <a:ext cx="2928958" cy="1938992"/>
          </a:xfrm>
          <a:prstGeom prst="rect">
            <a:avLst/>
          </a:prstGeom>
          <a:noFill/>
        </p:spPr>
        <p:txBody>
          <a:bodyPr wrap="square" rtlCol="0">
            <a:spAutoFit/>
          </a:bodyPr>
          <a:lstStyle/>
          <a:p>
            <a:r>
              <a:rPr lang="ja-JP" altLang="en-US" sz="2400" dirty="0" smtClean="0"/>
              <a:t>前ページの</a:t>
            </a:r>
            <a:r>
              <a:rPr kumimoji="1" lang="ja-JP" altLang="en-US" sz="2400" dirty="0" smtClean="0"/>
              <a:t>プログラムをさきほどの説明の通り</a:t>
            </a:r>
            <a:r>
              <a:rPr kumimoji="1" lang="en-US" altLang="ja-JP" sz="2400" dirty="0" smtClean="0"/>
              <a:t>while</a:t>
            </a:r>
            <a:r>
              <a:rPr lang="ja-JP" altLang="en-US" sz="2400" dirty="0" smtClean="0"/>
              <a:t>文で置き換えると左のプログラムになる。</a:t>
            </a:r>
            <a:endParaRPr lang="en-US" altLang="ja-JP" sz="2400" dirty="0" smtClean="0"/>
          </a:p>
        </p:txBody>
      </p:sp>
      <p:sp>
        <p:nvSpPr>
          <p:cNvPr id="6" name="テキスト ボックス 5"/>
          <p:cNvSpPr txBox="1"/>
          <p:nvPr/>
        </p:nvSpPr>
        <p:spPr>
          <a:xfrm>
            <a:off x="5500694" y="4002480"/>
            <a:ext cx="3214710" cy="1569660"/>
          </a:xfrm>
          <a:prstGeom prst="rect">
            <a:avLst/>
          </a:prstGeom>
          <a:noFill/>
          <a:ln>
            <a:solidFill>
              <a:schemeClr val="tx1"/>
            </a:solidFill>
          </a:ln>
        </p:spPr>
        <p:txBody>
          <a:bodyPr wrap="square" rtlCol="0">
            <a:spAutoFit/>
          </a:bodyPr>
          <a:lstStyle/>
          <a:p>
            <a:r>
              <a:rPr kumimoji="1" lang="ja-JP" altLang="en-US" sz="2400" dirty="0" smtClean="0"/>
              <a:t>（注）赤字の複合文の中括弧 </a:t>
            </a:r>
            <a:r>
              <a:rPr kumimoji="1" lang="en-US" altLang="ja-JP" sz="2400" dirty="0" smtClean="0"/>
              <a:t>{ } </a:t>
            </a:r>
            <a:r>
              <a:rPr kumimoji="1" lang="ja-JP" altLang="en-US" sz="2400" dirty="0" smtClean="0"/>
              <a:t>を取り除いてフラットにしても同じ意味である。</a:t>
            </a:r>
            <a:endParaRPr kumimoji="1" lang="ja-JP" alt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f</a:t>
            </a:r>
            <a:r>
              <a:rPr kumimoji="1" lang="en-US" altLang="ja-JP" dirty="0" smtClean="0"/>
              <a:t>or</a:t>
            </a:r>
            <a:r>
              <a:rPr kumimoji="1" lang="ja-JP" altLang="en-US" dirty="0" smtClean="0"/>
              <a:t>文の構文</a:t>
            </a:r>
            <a:endParaRPr kumimoji="1" lang="ja-JP" altLang="en-US" dirty="0"/>
          </a:p>
        </p:txBody>
      </p:sp>
      <p:sp>
        <p:nvSpPr>
          <p:cNvPr id="4" name="Text Box 5"/>
          <p:cNvSpPr txBox="1">
            <a:spLocks noChangeArrowheads="1"/>
          </p:cNvSpPr>
          <p:nvPr/>
        </p:nvSpPr>
        <p:spPr bwMode="auto">
          <a:xfrm>
            <a:off x="2000232" y="2714620"/>
            <a:ext cx="3398110" cy="584775"/>
          </a:xfrm>
          <a:prstGeom prst="rect">
            <a:avLst/>
          </a:prstGeom>
          <a:solidFill>
            <a:srgbClr val="FFFF00"/>
          </a:solidFill>
          <a:ln w="9525">
            <a:solidFill>
              <a:schemeClr val="tx1"/>
            </a:solidFill>
            <a:miter lim="800000"/>
            <a:headEnd/>
            <a:tailEnd/>
          </a:ln>
        </p:spPr>
        <p:txBody>
          <a:bodyPr wrap="none">
            <a:spAutoFit/>
          </a:bodyPr>
          <a:lstStyle/>
          <a:p>
            <a:r>
              <a:rPr lang="en-US" altLang="ja-JP" sz="3200" dirty="0">
                <a:ea typeface="ＭＳ Ｐゴシック" charset="-128"/>
              </a:rPr>
              <a:t> </a:t>
            </a:r>
            <a:r>
              <a:rPr lang="en-US" altLang="ja-JP" sz="3200" dirty="0" smtClean="0">
                <a:ea typeface="ＭＳ Ｐゴシック" charset="-128"/>
              </a:rPr>
              <a:t>for</a:t>
            </a:r>
            <a:r>
              <a:rPr lang="ja-JP" altLang="en-US" sz="3200" dirty="0" smtClean="0">
                <a:ea typeface="ＭＳ Ｐゴシック" charset="-128"/>
              </a:rPr>
              <a:t> </a:t>
            </a:r>
            <a:r>
              <a:rPr lang="ja-JP" altLang="en-US" sz="3200" dirty="0">
                <a:ea typeface="ＭＳ Ｐゴシック" charset="-128"/>
              </a:rPr>
              <a:t>（</a:t>
            </a:r>
            <a:r>
              <a:rPr lang="ja-JP" altLang="en-US" sz="3200" dirty="0" smtClean="0">
                <a:ea typeface="ＭＳ Ｐゴシック" charset="-128"/>
              </a:rPr>
              <a:t>式</a:t>
            </a:r>
            <a:r>
              <a:rPr lang="en-US" altLang="ja-JP" sz="3200" dirty="0" smtClean="0">
                <a:ea typeface="ＭＳ Ｐゴシック" charset="-128"/>
              </a:rPr>
              <a:t>; </a:t>
            </a:r>
            <a:r>
              <a:rPr lang="ja-JP" altLang="en-US" sz="3200" dirty="0" smtClean="0">
                <a:ea typeface="ＭＳ Ｐゴシック" charset="-128"/>
              </a:rPr>
              <a:t>式</a:t>
            </a:r>
            <a:r>
              <a:rPr lang="en-US" altLang="ja-JP" sz="3200" dirty="0" smtClean="0">
                <a:ea typeface="ＭＳ Ｐゴシック" charset="-128"/>
              </a:rPr>
              <a:t>; </a:t>
            </a:r>
            <a:r>
              <a:rPr lang="ja-JP" altLang="en-US" sz="3200" dirty="0" smtClean="0">
                <a:ea typeface="ＭＳ Ｐゴシック" charset="-128"/>
              </a:rPr>
              <a:t>式） </a:t>
            </a:r>
            <a:r>
              <a:rPr lang="ja-JP" altLang="en-US" sz="3200" dirty="0">
                <a:ea typeface="ＭＳ Ｐゴシック" charset="-128"/>
              </a:rPr>
              <a:t>文</a:t>
            </a:r>
          </a:p>
        </p:txBody>
      </p:sp>
      <p:sp>
        <p:nvSpPr>
          <p:cNvPr id="5" name="テキスト ボックス 4"/>
          <p:cNvSpPr txBox="1"/>
          <p:nvPr/>
        </p:nvSpPr>
        <p:spPr>
          <a:xfrm>
            <a:off x="928662" y="1643050"/>
            <a:ext cx="7501221" cy="954107"/>
          </a:xfrm>
          <a:prstGeom prst="rect">
            <a:avLst/>
          </a:prstGeom>
          <a:noFill/>
        </p:spPr>
        <p:txBody>
          <a:bodyPr wrap="none" rtlCol="0">
            <a:spAutoFit/>
          </a:bodyPr>
          <a:lstStyle/>
          <a:p>
            <a:r>
              <a:rPr lang="ja-JP" altLang="en-US" sz="2800" dirty="0" smtClean="0"/>
              <a:t>さきほど</a:t>
            </a:r>
            <a:r>
              <a:rPr lang="en-US" altLang="ja-JP" sz="2800" dirty="0" smtClean="0"/>
              <a:t>for</a:t>
            </a:r>
            <a:r>
              <a:rPr lang="ja-JP" altLang="en-US" sz="2800" dirty="0" smtClean="0"/>
              <a:t>文の構文を以下のように定義したが、</a:t>
            </a:r>
            <a:endParaRPr lang="en-US" altLang="ja-JP" sz="2800" dirty="0" smtClean="0"/>
          </a:p>
          <a:p>
            <a:r>
              <a:rPr kumimoji="1" lang="ja-JP" altLang="en-US" sz="2800" dirty="0" smtClean="0"/>
              <a:t>括弧内の３つの式はそれぞれ省略可能である。</a:t>
            </a:r>
            <a:endParaRPr kumimoji="1" lang="ja-JP" altLang="en-US" sz="2800" dirty="0"/>
          </a:p>
        </p:txBody>
      </p:sp>
      <p:sp>
        <p:nvSpPr>
          <p:cNvPr id="7" name="テキスト ボックス 6"/>
          <p:cNvSpPr txBox="1"/>
          <p:nvPr/>
        </p:nvSpPr>
        <p:spPr>
          <a:xfrm>
            <a:off x="642910" y="3714752"/>
            <a:ext cx="7858180" cy="2677656"/>
          </a:xfrm>
          <a:prstGeom prst="rect">
            <a:avLst/>
          </a:prstGeom>
          <a:noFill/>
        </p:spPr>
        <p:txBody>
          <a:bodyPr wrap="square" rtlCol="0">
            <a:spAutoFit/>
          </a:bodyPr>
          <a:lstStyle/>
          <a:p>
            <a:r>
              <a:rPr lang="ja-JP" altLang="en-US" sz="2800" dirty="0" smtClean="0"/>
              <a:t>１番目の式がない場合は、繰り返しの実行前に何もしないということである。</a:t>
            </a:r>
            <a:endParaRPr lang="en-US" altLang="ja-JP" sz="2800" dirty="0" smtClean="0"/>
          </a:p>
          <a:p>
            <a:r>
              <a:rPr lang="ja-JP" altLang="en-US" sz="2800" dirty="0" smtClean="0"/>
              <a:t>３番目の式がない場合は、各繰り返しにおいて、</a:t>
            </a:r>
            <a:r>
              <a:rPr lang="en-US" altLang="ja-JP" sz="2800" dirty="0" smtClean="0"/>
              <a:t>for</a:t>
            </a:r>
            <a:r>
              <a:rPr lang="ja-JP" altLang="en-US" sz="2800" dirty="0" smtClean="0"/>
              <a:t>文の本体の実行後、何もしないということである。</a:t>
            </a:r>
            <a:endParaRPr lang="en-US" altLang="ja-JP" sz="2800" dirty="0" smtClean="0"/>
          </a:p>
          <a:p>
            <a:r>
              <a:rPr kumimoji="1" lang="ja-JP" altLang="en-US" sz="2800" dirty="0" smtClean="0"/>
              <a:t>２番目の式がない場合は、繰り返しの条件が真という意味である。</a:t>
            </a:r>
            <a:endParaRPr kumimoji="1"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714348" y="1643050"/>
            <a:ext cx="3429024" cy="2677656"/>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for (;;)</a:t>
            </a:r>
          </a:p>
          <a:p>
            <a:r>
              <a:rPr lang="en-US" altLang="ja-JP" sz="2800" dirty="0" smtClean="0"/>
              <a:t>    </a:t>
            </a:r>
            <a:r>
              <a:rPr lang="en-US" altLang="ja-JP" sz="2800" dirty="0" err="1" smtClean="0"/>
              <a:t>printf</a:t>
            </a:r>
            <a:r>
              <a:rPr lang="en-US" altLang="ja-JP" sz="2800" dirty="0" smtClean="0"/>
              <a:t> ("hello\n");</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714349" y="4572008"/>
            <a:ext cx="7858180" cy="1815882"/>
          </a:xfrm>
          <a:prstGeom prst="rect">
            <a:avLst/>
          </a:prstGeom>
          <a:noFill/>
        </p:spPr>
        <p:txBody>
          <a:bodyPr wrap="square" rtlCol="0">
            <a:spAutoFit/>
          </a:bodyPr>
          <a:lstStyle/>
          <a:p>
            <a:r>
              <a:rPr kumimoji="1" lang="ja-JP" altLang="en-US" sz="2800" dirty="0" smtClean="0"/>
              <a:t>式を３つとも省略すると、</a:t>
            </a:r>
            <a:r>
              <a:rPr lang="en-US" altLang="ja-JP" sz="2800" dirty="0" smtClean="0"/>
              <a:t>w</a:t>
            </a:r>
            <a:r>
              <a:rPr kumimoji="1" lang="en-US" altLang="ja-JP" sz="2800" dirty="0" smtClean="0"/>
              <a:t>hile(1)</a:t>
            </a:r>
            <a:r>
              <a:rPr kumimoji="1" lang="ja-JP" altLang="en-US" sz="2800" dirty="0" smtClean="0"/>
              <a:t>で置き換えたプログラムと同じ意味である。</a:t>
            </a:r>
            <a:endParaRPr kumimoji="1" lang="en-US" altLang="ja-JP" sz="2800" dirty="0" smtClean="0"/>
          </a:p>
          <a:p>
            <a:r>
              <a:rPr lang="ja-JP" altLang="en-US" sz="2800" dirty="0" smtClean="0"/>
              <a:t>（無限に</a:t>
            </a:r>
            <a:r>
              <a:rPr lang="en-US" altLang="ja-JP" sz="2800" dirty="0" smtClean="0"/>
              <a:t>hello</a:t>
            </a:r>
            <a:r>
              <a:rPr lang="ja-JP" altLang="en-US" sz="2800" dirty="0" smtClean="0"/>
              <a:t>と出力し続けるので、</a:t>
            </a:r>
            <a:r>
              <a:rPr lang="en-US" altLang="ja-JP" sz="2800" dirty="0" smtClean="0"/>
              <a:t>Ctrl-C</a:t>
            </a:r>
            <a:r>
              <a:rPr lang="ja-JP" altLang="en-US" sz="2800" dirty="0" smtClean="0"/>
              <a:t>で終了させる。）</a:t>
            </a:r>
            <a:endParaRPr kumimoji="1" lang="ja-JP" altLang="en-US" sz="2800" dirty="0"/>
          </a:p>
        </p:txBody>
      </p:sp>
      <p:sp>
        <p:nvSpPr>
          <p:cNvPr id="6" name="正方形/長方形 5"/>
          <p:cNvSpPr/>
          <p:nvPr/>
        </p:nvSpPr>
        <p:spPr>
          <a:xfrm>
            <a:off x="4500562" y="1643050"/>
            <a:ext cx="4143372" cy="2677656"/>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while (1)</a:t>
            </a:r>
          </a:p>
          <a:p>
            <a:r>
              <a:rPr lang="en-US" altLang="ja-JP" sz="2800" dirty="0" smtClean="0"/>
              <a:t>    </a:t>
            </a:r>
            <a:r>
              <a:rPr lang="en-US" altLang="ja-JP" sz="2800" dirty="0" err="1" smtClean="0"/>
              <a:t>printf</a:t>
            </a:r>
            <a:r>
              <a:rPr lang="en-US" altLang="ja-JP" sz="2800" dirty="0" smtClean="0"/>
              <a:t> ("hello\n");</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コンマ演算子</a:t>
            </a:r>
            <a:endParaRPr kumimoji="1" lang="ja-JP" altLang="en-US" dirty="0"/>
          </a:p>
        </p:txBody>
      </p:sp>
      <p:sp>
        <p:nvSpPr>
          <p:cNvPr id="4" name="テキスト ボックス 3"/>
          <p:cNvSpPr txBox="1"/>
          <p:nvPr/>
        </p:nvSpPr>
        <p:spPr>
          <a:xfrm>
            <a:off x="1071538" y="1643050"/>
            <a:ext cx="7143800" cy="1384995"/>
          </a:xfrm>
          <a:prstGeom prst="rect">
            <a:avLst/>
          </a:prstGeom>
          <a:noFill/>
        </p:spPr>
        <p:txBody>
          <a:bodyPr wrap="square" rtlCol="0">
            <a:spAutoFit/>
          </a:bodyPr>
          <a:lstStyle/>
          <a:p>
            <a:r>
              <a:rPr lang="en-US" altLang="ja-JP" sz="2800" dirty="0" smtClean="0"/>
              <a:t>f</a:t>
            </a:r>
            <a:r>
              <a:rPr kumimoji="1" lang="en-US" altLang="ja-JP" sz="2800" dirty="0" smtClean="0"/>
              <a:t>or</a:t>
            </a:r>
            <a:r>
              <a:rPr kumimoji="1" lang="ja-JP" altLang="en-US" sz="2800" dirty="0" smtClean="0"/>
              <a:t>文の括弧内など、式が１つしか書けないところに２つ以上の式を書きたい場合に、コンマ演算子を用いて１つの式にする。</a:t>
            </a:r>
            <a:endParaRPr kumimoji="1"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lang="ja-JP" altLang="en-US" dirty="0" smtClean="0"/>
              <a:t>コンマ演算子</a:t>
            </a:r>
            <a:endParaRPr kumimoji="1" lang="ja-JP" altLang="en-US" dirty="0"/>
          </a:p>
        </p:txBody>
      </p:sp>
      <p:sp>
        <p:nvSpPr>
          <p:cNvPr id="4" name="テキスト ボックス 3"/>
          <p:cNvSpPr txBox="1"/>
          <p:nvPr/>
        </p:nvSpPr>
        <p:spPr>
          <a:xfrm>
            <a:off x="714348" y="1287836"/>
            <a:ext cx="4905510" cy="523220"/>
          </a:xfrm>
          <a:prstGeom prst="rect">
            <a:avLst/>
          </a:prstGeom>
          <a:noFill/>
        </p:spPr>
        <p:txBody>
          <a:bodyPr wrap="none" rtlCol="0">
            <a:spAutoFit/>
          </a:bodyPr>
          <a:lstStyle/>
          <a:p>
            <a:r>
              <a:rPr lang="ja-JP" altLang="en-US" sz="2800" dirty="0" smtClean="0"/>
              <a:t>コンマ演算子を使った式の構文</a:t>
            </a:r>
            <a:endParaRPr kumimoji="1" lang="ja-JP" altLang="en-US" sz="2800" dirty="0"/>
          </a:p>
        </p:txBody>
      </p:sp>
      <p:sp>
        <p:nvSpPr>
          <p:cNvPr id="5" name="Text Box 5"/>
          <p:cNvSpPr txBox="1">
            <a:spLocks noChangeArrowheads="1"/>
          </p:cNvSpPr>
          <p:nvPr/>
        </p:nvSpPr>
        <p:spPr bwMode="auto">
          <a:xfrm>
            <a:off x="1428728" y="1859340"/>
            <a:ext cx="1156086"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smtClean="0">
                <a:ea typeface="ＭＳ Ｐゴシック" charset="-128"/>
              </a:rPr>
              <a:t>式</a:t>
            </a:r>
            <a:r>
              <a:rPr lang="en-US" altLang="ja-JP" sz="2800" dirty="0" smtClean="0">
                <a:ea typeface="ＭＳ Ｐゴシック" charset="-128"/>
              </a:rPr>
              <a:t>, </a:t>
            </a:r>
            <a:r>
              <a:rPr lang="ja-JP" altLang="en-US" sz="2800" dirty="0" smtClean="0">
                <a:ea typeface="ＭＳ Ｐゴシック" charset="-128"/>
              </a:rPr>
              <a:t>式</a:t>
            </a:r>
            <a:endParaRPr lang="ja-JP" altLang="en-US" sz="2800" dirty="0">
              <a:ea typeface="ＭＳ Ｐゴシック" charset="-128"/>
            </a:endParaRPr>
          </a:p>
        </p:txBody>
      </p:sp>
      <p:sp>
        <p:nvSpPr>
          <p:cNvPr id="6" name="テキスト ボックス 11"/>
          <p:cNvSpPr txBox="1">
            <a:spLocks noChangeArrowheads="1"/>
          </p:cNvSpPr>
          <p:nvPr/>
        </p:nvSpPr>
        <p:spPr bwMode="auto">
          <a:xfrm>
            <a:off x="642909" y="3000372"/>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a:t>の意味</a:t>
            </a:r>
            <a:endParaRPr kumimoji="1" lang="en-US" altLang="ja-JP" sz="2800" dirty="0"/>
          </a:p>
        </p:txBody>
      </p:sp>
      <p:sp>
        <p:nvSpPr>
          <p:cNvPr id="7" name="テキスト ボックス 6"/>
          <p:cNvSpPr txBox="1"/>
          <p:nvPr/>
        </p:nvSpPr>
        <p:spPr>
          <a:xfrm>
            <a:off x="1428728" y="3643314"/>
            <a:ext cx="6643734" cy="954107"/>
          </a:xfrm>
          <a:prstGeom prst="rect">
            <a:avLst/>
          </a:prstGeom>
          <a:solidFill>
            <a:srgbClr val="92D050"/>
          </a:solidFill>
          <a:ln>
            <a:solidFill>
              <a:schemeClr val="tx1"/>
            </a:solidFill>
          </a:ln>
        </p:spPr>
        <p:txBody>
          <a:bodyPr wrap="square" rtlCol="0">
            <a:spAutoFit/>
          </a:bodyPr>
          <a:lstStyle/>
          <a:p>
            <a:r>
              <a:rPr lang="ja-JP" altLang="en-US" sz="2800" dirty="0" smtClean="0"/>
              <a:t>まず式</a:t>
            </a:r>
            <a:r>
              <a:rPr lang="en-US" altLang="ja-JP" sz="2800" dirty="0" smtClean="0"/>
              <a:t>e</a:t>
            </a:r>
            <a:r>
              <a:rPr lang="en-US" altLang="ja-JP" sz="2800" baseline="-25000" dirty="0" smtClean="0"/>
              <a:t>1</a:t>
            </a:r>
            <a:r>
              <a:rPr lang="ja-JP" altLang="en-US" sz="2800" dirty="0" err="1" smtClean="0"/>
              <a:t>を評</a:t>
            </a:r>
            <a:r>
              <a:rPr lang="ja-JP" altLang="en-US" sz="2800" dirty="0" smtClean="0"/>
              <a:t>価し、次に</a:t>
            </a:r>
            <a:r>
              <a:rPr lang="en-US" altLang="ja-JP" sz="2800" dirty="0" smtClean="0"/>
              <a:t>e</a:t>
            </a:r>
            <a:r>
              <a:rPr lang="en-US" altLang="ja-JP" sz="2800" baseline="-25000" dirty="0" smtClean="0"/>
              <a:t>2</a:t>
            </a:r>
            <a:r>
              <a:rPr lang="ja-JP" altLang="en-US" sz="2800" dirty="0" err="1" smtClean="0"/>
              <a:t>を評</a:t>
            </a:r>
            <a:r>
              <a:rPr lang="ja-JP" altLang="en-US" sz="2800" dirty="0" smtClean="0"/>
              <a:t>価する。式</a:t>
            </a:r>
            <a:r>
              <a:rPr lang="en-US" altLang="ja-JP" sz="2800" dirty="0" smtClean="0"/>
              <a:t>e</a:t>
            </a:r>
            <a:r>
              <a:rPr lang="en-US" altLang="ja-JP" sz="2800" baseline="-25000" dirty="0" smtClean="0"/>
              <a:t>1</a:t>
            </a:r>
            <a:r>
              <a:rPr lang="en-US" altLang="ja-JP" sz="2800" dirty="0" smtClean="0"/>
              <a:t>,e</a:t>
            </a:r>
            <a:r>
              <a:rPr lang="en-US" altLang="ja-JP" sz="2800" baseline="-25000" dirty="0" smtClean="0"/>
              <a:t>2</a:t>
            </a:r>
            <a:r>
              <a:rPr lang="ja-JP" altLang="en-US" sz="2800" dirty="0" smtClean="0"/>
              <a:t>の値は、式</a:t>
            </a:r>
            <a:r>
              <a:rPr lang="en-US" altLang="ja-JP" sz="2800" dirty="0" smtClean="0"/>
              <a:t>e</a:t>
            </a:r>
            <a:r>
              <a:rPr lang="en-US" altLang="ja-JP" sz="2800" baseline="-25000" dirty="0" smtClean="0"/>
              <a:t>2</a:t>
            </a:r>
            <a:r>
              <a:rPr lang="ja-JP" altLang="en-US" sz="2800" dirty="0" smtClean="0"/>
              <a:t>の評価結果である。</a:t>
            </a:r>
            <a:endParaRPr lang="en-US" altLang="ja-JP" sz="2800" dirty="0" smtClean="0"/>
          </a:p>
        </p:txBody>
      </p:sp>
      <p:sp>
        <p:nvSpPr>
          <p:cNvPr id="10" name="テキスト ボックス 9"/>
          <p:cNvSpPr txBox="1"/>
          <p:nvPr/>
        </p:nvSpPr>
        <p:spPr>
          <a:xfrm>
            <a:off x="2857488" y="1787902"/>
            <a:ext cx="6072230" cy="1200329"/>
          </a:xfrm>
          <a:prstGeom prst="rect">
            <a:avLst/>
          </a:prstGeom>
          <a:noFill/>
        </p:spPr>
        <p:txBody>
          <a:bodyPr wrap="square" rtlCol="0">
            <a:spAutoFit/>
          </a:bodyPr>
          <a:lstStyle/>
          <a:p>
            <a:r>
              <a:rPr lang="ja-JP" altLang="en-US" sz="2400" dirty="0" smtClean="0"/>
              <a:t>式をコンマで繋いで得られたものも式である。よって式を３つ以上コンマで区切ったものも式である。（コンマ演算子は左結合）</a:t>
            </a:r>
            <a:endParaRPr kumimoji="1" lang="en-US" altLang="ja-JP" sz="2400" dirty="0" smtClean="0"/>
          </a:p>
        </p:txBody>
      </p:sp>
      <p:sp>
        <p:nvSpPr>
          <p:cNvPr id="12" name="テキスト ボックス 11"/>
          <p:cNvSpPr txBox="1">
            <a:spLocks noChangeArrowheads="1"/>
          </p:cNvSpPr>
          <p:nvPr/>
        </p:nvSpPr>
        <p:spPr bwMode="auto">
          <a:xfrm>
            <a:off x="642911" y="5406110"/>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smtClean="0"/>
              <a:t>の型</a:t>
            </a:r>
            <a:endParaRPr kumimoji="1" lang="en-US" altLang="ja-JP" sz="2800" dirty="0"/>
          </a:p>
        </p:txBody>
      </p:sp>
      <p:sp>
        <p:nvSpPr>
          <p:cNvPr id="13" name="テキスト ボックス 12"/>
          <p:cNvSpPr txBox="1">
            <a:spLocks noChangeArrowheads="1"/>
          </p:cNvSpPr>
          <p:nvPr/>
        </p:nvSpPr>
        <p:spPr bwMode="auto">
          <a:xfrm>
            <a:off x="1571604" y="5906176"/>
            <a:ext cx="614366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smtClean="0"/>
              <a:t>の型は式</a:t>
            </a:r>
            <a:r>
              <a:rPr kumimoji="1" lang="en-US" altLang="ja-JP" sz="2800" dirty="0" smtClean="0"/>
              <a:t>e</a:t>
            </a:r>
            <a:r>
              <a:rPr kumimoji="1" lang="en-US" altLang="ja-JP" sz="2800" baseline="-25000" dirty="0" smtClean="0"/>
              <a:t>2</a:t>
            </a:r>
            <a:r>
              <a:rPr kumimoji="1" lang="ja-JP" altLang="en-US" sz="2800" dirty="0" smtClean="0"/>
              <a:t>の型である。</a:t>
            </a:r>
            <a:endParaRPr kumimoji="1" lang="en-US" altLang="ja-JP" sz="2800" dirty="0"/>
          </a:p>
        </p:txBody>
      </p:sp>
      <p:sp>
        <p:nvSpPr>
          <p:cNvPr id="15" name="テキスト ボックス 14"/>
          <p:cNvSpPr txBox="1"/>
          <p:nvPr/>
        </p:nvSpPr>
        <p:spPr>
          <a:xfrm>
            <a:off x="1643042" y="4714884"/>
            <a:ext cx="6500858" cy="646331"/>
          </a:xfrm>
          <a:prstGeom prst="rect">
            <a:avLst/>
          </a:prstGeom>
          <a:noFill/>
        </p:spPr>
        <p:txBody>
          <a:bodyPr wrap="square" rtlCol="0">
            <a:spAutoFit/>
          </a:bodyPr>
          <a:lstStyle/>
          <a:p>
            <a:r>
              <a:rPr lang="ja-JP" altLang="en-US" dirty="0" smtClean="0"/>
              <a:t>（補足）つまり、</a:t>
            </a:r>
            <a:r>
              <a:rPr lang="en-US" altLang="ja-JP" dirty="0" smtClean="0"/>
              <a:t>e1</a:t>
            </a:r>
            <a:r>
              <a:rPr lang="ja-JP" altLang="en-US" dirty="0" smtClean="0"/>
              <a:t>の値は捨てられるので、</a:t>
            </a:r>
            <a:r>
              <a:rPr lang="en-US" altLang="ja-JP" dirty="0" smtClean="0"/>
              <a:t>e1</a:t>
            </a:r>
            <a:r>
              <a:rPr lang="ja-JP" altLang="en-US" dirty="0" smtClean="0"/>
              <a:t>に副作用（代入など）がないと無意味である。</a:t>
            </a:r>
            <a:endParaRPr kumimoji="1" lang="ja-JP"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785786" y="1571612"/>
            <a:ext cx="5857916" cy="3108543"/>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a:t>
            </a:r>
            <a:r>
              <a:rPr lang="en-US" altLang="ja-JP" sz="2800" dirty="0" err="1" smtClean="0"/>
              <a:t>i</a:t>
            </a:r>
            <a:r>
              <a:rPr lang="en-US" altLang="ja-JP" sz="2800" dirty="0" smtClean="0"/>
              <a:t>, j;</a:t>
            </a:r>
          </a:p>
          <a:p>
            <a:r>
              <a:rPr lang="en-US" altLang="ja-JP" sz="2800" dirty="0" smtClean="0"/>
              <a:t>  a = (</a:t>
            </a:r>
            <a:r>
              <a:rPr lang="en-US" altLang="ja-JP" sz="2800" dirty="0" err="1" smtClean="0">
                <a:solidFill>
                  <a:srgbClr val="FF0000"/>
                </a:solidFill>
              </a:rPr>
              <a:t>i</a:t>
            </a:r>
            <a:r>
              <a:rPr lang="en-US" altLang="ja-JP" sz="2800" dirty="0" smtClean="0">
                <a:solidFill>
                  <a:srgbClr val="FF0000"/>
                </a:solidFill>
              </a:rPr>
              <a:t>=3, j=4</a:t>
            </a:r>
            <a:r>
              <a:rPr lang="en-US" altLang="ja-JP" sz="2800" dirty="0" smtClean="0"/>
              <a:t>);</a:t>
            </a:r>
          </a:p>
          <a:p>
            <a:r>
              <a:rPr lang="en-US" altLang="ja-JP" sz="2800" dirty="0" smtClean="0"/>
              <a:t>  </a:t>
            </a:r>
            <a:r>
              <a:rPr lang="en-US" altLang="ja-JP" sz="2800" dirty="0" err="1" smtClean="0"/>
              <a:t>printf</a:t>
            </a:r>
            <a:r>
              <a:rPr lang="en-US" altLang="ja-JP" sz="2800" dirty="0" smtClean="0"/>
              <a:t> ("a=%d, </a:t>
            </a:r>
            <a:r>
              <a:rPr lang="en-US" altLang="ja-JP" sz="2800" dirty="0" err="1" smtClean="0"/>
              <a:t>i</a:t>
            </a:r>
            <a:r>
              <a:rPr lang="en-US" altLang="ja-JP" sz="2800" dirty="0" smtClean="0"/>
              <a:t>=%d, j=%d, \n", a, </a:t>
            </a:r>
            <a:r>
              <a:rPr lang="en-US" altLang="ja-JP" sz="2800" dirty="0" err="1" smtClean="0"/>
              <a:t>i</a:t>
            </a:r>
            <a:r>
              <a:rPr lang="en-US" altLang="ja-JP" sz="2800" dirty="0" smtClean="0"/>
              <a:t>, j);</a:t>
            </a:r>
          </a:p>
          <a:p>
            <a:r>
              <a:rPr lang="en-US" altLang="ja-JP" sz="2800" dirty="0" smtClean="0"/>
              <a:t>  return 0;</a:t>
            </a:r>
          </a:p>
          <a:p>
            <a:r>
              <a:rPr lang="en-US" altLang="ja-JP" sz="2800" dirty="0" smtClean="0"/>
              <a:t>}</a:t>
            </a:r>
          </a:p>
        </p:txBody>
      </p:sp>
      <p:sp>
        <p:nvSpPr>
          <p:cNvPr id="5" name="テキスト ボックス 4"/>
          <p:cNvSpPr txBox="1"/>
          <p:nvPr/>
        </p:nvSpPr>
        <p:spPr>
          <a:xfrm>
            <a:off x="714348" y="4929198"/>
            <a:ext cx="6397905" cy="1200329"/>
          </a:xfrm>
          <a:prstGeom prst="rect">
            <a:avLst/>
          </a:prstGeom>
          <a:noFill/>
        </p:spPr>
        <p:txBody>
          <a:bodyPr wrap="none" rtlCol="0">
            <a:spAutoFit/>
          </a:bodyPr>
          <a:lstStyle/>
          <a:p>
            <a:r>
              <a:rPr kumimoji="1" lang="ja-JP" altLang="en-US" sz="2400" dirty="0" smtClean="0"/>
              <a:t>赤字の部分がコンマ演算子を使った式である。</a:t>
            </a:r>
            <a:endParaRPr kumimoji="1" lang="en-US" altLang="ja-JP" sz="2400" dirty="0" smtClean="0"/>
          </a:p>
          <a:p>
            <a:r>
              <a:rPr lang="ja-JP" altLang="en-US" sz="2400" dirty="0" smtClean="0"/>
              <a:t>赤字の式の値は、式</a:t>
            </a:r>
            <a:r>
              <a:rPr lang="en-US" altLang="ja-JP" sz="2400" dirty="0" smtClean="0"/>
              <a:t>j=4</a:t>
            </a:r>
            <a:r>
              <a:rPr lang="ja-JP" altLang="en-US" sz="2400" dirty="0" smtClean="0"/>
              <a:t>の値、すなわち</a:t>
            </a:r>
            <a:r>
              <a:rPr lang="en-US" altLang="ja-JP" sz="2400" dirty="0" smtClean="0"/>
              <a:t>4</a:t>
            </a:r>
            <a:r>
              <a:rPr lang="ja-JP" altLang="en-US" sz="2400" dirty="0" smtClean="0"/>
              <a:t>である。</a:t>
            </a:r>
            <a:endParaRPr lang="en-US" altLang="ja-JP" sz="2400" dirty="0" smtClean="0"/>
          </a:p>
          <a:p>
            <a:r>
              <a:rPr kumimoji="1" lang="ja-JP" altLang="en-US" sz="2400" dirty="0" smtClean="0"/>
              <a:t>これが</a:t>
            </a:r>
            <a:r>
              <a:rPr kumimoji="1" lang="en-US" altLang="ja-JP" sz="2400" dirty="0" smtClean="0"/>
              <a:t>a</a:t>
            </a:r>
            <a:r>
              <a:rPr kumimoji="1" lang="ja-JP" altLang="en-US" sz="2400" dirty="0" smtClean="0"/>
              <a:t>に代入されるので、</a:t>
            </a:r>
            <a:r>
              <a:rPr kumimoji="1" lang="en-US" altLang="ja-JP" sz="2400" dirty="0" smtClean="0"/>
              <a:t>a</a:t>
            </a:r>
            <a:r>
              <a:rPr kumimoji="1" lang="ja-JP" altLang="en-US" sz="2400" dirty="0" smtClean="0"/>
              <a:t>の値は</a:t>
            </a:r>
            <a:r>
              <a:rPr kumimoji="1" lang="en-US" altLang="ja-JP" sz="2400" dirty="0" smtClean="0"/>
              <a:t>4</a:t>
            </a:r>
            <a:r>
              <a:rPr kumimoji="1" lang="ja-JP" altLang="en-US" sz="2400" dirty="0" smtClean="0"/>
              <a:t>となる。</a:t>
            </a:r>
            <a:endParaRPr kumimoji="1" lang="ja-JP" alt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smtClean="0"/>
              <a:t>f</a:t>
            </a:r>
            <a:r>
              <a:rPr kumimoji="1" lang="en-US" altLang="ja-JP" dirty="0" smtClean="0"/>
              <a:t>or</a:t>
            </a:r>
            <a:r>
              <a:rPr kumimoji="1" lang="ja-JP" altLang="en-US" dirty="0" smtClean="0"/>
              <a:t>文に入れた例（打ち込んで確認）</a:t>
            </a:r>
            <a:endParaRPr kumimoji="1" lang="ja-JP" altLang="en-US" dirty="0"/>
          </a:p>
        </p:txBody>
      </p:sp>
      <p:sp>
        <p:nvSpPr>
          <p:cNvPr id="5" name="正方形/長方形 4"/>
          <p:cNvSpPr/>
          <p:nvPr/>
        </p:nvSpPr>
        <p:spPr>
          <a:xfrm>
            <a:off x="785786" y="1643050"/>
            <a:ext cx="4572000" cy="3108543"/>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 j;</a:t>
            </a:r>
          </a:p>
          <a:p>
            <a:r>
              <a:rPr lang="en-US" altLang="ja-JP" sz="2800" dirty="0" smtClean="0"/>
              <a:t>  for (</a:t>
            </a:r>
            <a:r>
              <a:rPr lang="en-US" altLang="ja-JP" sz="2800" dirty="0" err="1" smtClean="0">
                <a:solidFill>
                  <a:srgbClr val="FF0000"/>
                </a:solidFill>
              </a:rPr>
              <a:t>i</a:t>
            </a:r>
            <a:r>
              <a:rPr lang="en-US" altLang="ja-JP" sz="2800" dirty="0" smtClean="0">
                <a:solidFill>
                  <a:srgbClr val="FF0000"/>
                </a:solidFill>
              </a:rPr>
              <a:t>=0, j=0</a:t>
            </a:r>
            <a:r>
              <a:rPr lang="en-US" altLang="ja-JP" sz="2800" dirty="0" smtClean="0"/>
              <a:t>; </a:t>
            </a:r>
            <a:r>
              <a:rPr lang="en-US" altLang="ja-JP" sz="2800" dirty="0" err="1" smtClean="0"/>
              <a:t>i</a:t>
            </a:r>
            <a:r>
              <a:rPr lang="en-US" altLang="ja-JP" sz="2800" dirty="0" smtClean="0"/>
              <a:t>&lt;4; </a:t>
            </a:r>
            <a:r>
              <a:rPr lang="en-US" altLang="ja-JP" sz="2800" dirty="0" err="1" smtClean="0">
                <a:solidFill>
                  <a:srgbClr val="FF0000"/>
                </a:solidFill>
              </a:rPr>
              <a:t>i</a:t>
            </a:r>
            <a:r>
              <a:rPr lang="en-US" altLang="ja-JP" sz="2800" dirty="0" smtClean="0">
                <a:solidFill>
                  <a:srgbClr val="FF0000"/>
                </a:solidFill>
              </a:rPr>
              <a:t>=i+1, j=j+1</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en-US" altLang="ja-JP" sz="2800" dirty="0" err="1" smtClean="0"/>
              <a:t>i</a:t>
            </a:r>
            <a:r>
              <a:rPr lang="en-US" altLang="ja-JP" sz="2800" dirty="0" smtClean="0"/>
              <a:t>=%d, j=%d\n", </a:t>
            </a:r>
            <a:r>
              <a:rPr lang="en-US" altLang="ja-JP" sz="2800" dirty="0" err="1" smtClean="0"/>
              <a:t>i</a:t>
            </a:r>
            <a:r>
              <a:rPr lang="en-US" altLang="ja-JP" sz="2800" dirty="0" smtClean="0"/>
              <a:t>, j);</a:t>
            </a:r>
          </a:p>
          <a:p>
            <a:r>
              <a:rPr lang="en-US" altLang="ja-JP" sz="2800" dirty="0" smtClean="0"/>
              <a:t>  return 0;</a:t>
            </a:r>
          </a:p>
          <a:p>
            <a:r>
              <a:rPr lang="en-US" altLang="ja-JP" sz="2800" dirty="0" smtClean="0"/>
              <a:t>}</a:t>
            </a:r>
          </a:p>
        </p:txBody>
      </p:sp>
      <p:sp>
        <p:nvSpPr>
          <p:cNvPr id="6" name="テキスト ボックス 5"/>
          <p:cNvSpPr txBox="1"/>
          <p:nvPr/>
        </p:nvSpPr>
        <p:spPr>
          <a:xfrm>
            <a:off x="5572132" y="2000240"/>
            <a:ext cx="3071834" cy="1200329"/>
          </a:xfrm>
          <a:prstGeom prst="rect">
            <a:avLst/>
          </a:prstGeom>
          <a:noFill/>
        </p:spPr>
        <p:txBody>
          <a:bodyPr wrap="square" rtlCol="0">
            <a:spAutoFit/>
          </a:bodyPr>
          <a:lstStyle/>
          <a:p>
            <a:r>
              <a:rPr lang="ja-JP" altLang="en-US" sz="2400" dirty="0" smtClean="0"/>
              <a:t>赤字の部分が、コンマ演算子を使った式の例である。</a:t>
            </a:r>
            <a:endParaRPr lang="en-US" altLang="ja-JP" sz="24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増分演算</a:t>
            </a:r>
            <a:r>
              <a:rPr lang="ja-JP" altLang="en-US" dirty="0" smtClean="0"/>
              <a:t>子（前置）</a:t>
            </a:r>
            <a:endParaRPr kumimoji="1" lang="ja-JP" altLang="en-US" dirty="0"/>
          </a:p>
        </p:txBody>
      </p:sp>
      <p:sp>
        <p:nvSpPr>
          <p:cNvPr id="4" name="テキスト ボックス 3"/>
          <p:cNvSpPr txBox="1"/>
          <p:nvPr/>
        </p:nvSpPr>
        <p:spPr>
          <a:xfrm>
            <a:off x="785786" y="1334144"/>
            <a:ext cx="5601213" cy="523220"/>
          </a:xfrm>
          <a:prstGeom prst="rect">
            <a:avLst/>
          </a:prstGeom>
          <a:noFill/>
        </p:spPr>
        <p:txBody>
          <a:bodyPr wrap="none" rtlCol="0">
            <a:spAutoFit/>
          </a:bodyPr>
          <a:lstStyle/>
          <a:p>
            <a:r>
              <a:rPr lang="ja-JP" altLang="en-US" sz="2800" dirty="0" smtClean="0"/>
              <a:t>前置</a:t>
            </a:r>
            <a:r>
              <a:rPr kumimoji="1" lang="ja-JP" altLang="en-US" sz="2800" dirty="0" smtClean="0"/>
              <a:t>増分演算子を使った式の構文</a:t>
            </a:r>
            <a:endParaRPr kumimoji="1" lang="ja-JP" altLang="en-US" sz="2800" dirty="0"/>
          </a:p>
        </p:txBody>
      </p:sp>
      <p:sp>
        <p:nvSpPr>
          <p:cNvPr id="6" name="Text Box 5"/>
          <p:cNvSpPr txBox="1">
            <a:spLocks noChangeArrowheads="1"/>
          </p:cNvSpPr>
          <p:nvPr/>
        </p:nvSpPr>
        <p:spPr bwMode="auto">
          <a:xfrm>
            <a:off x="1428728" y="1977086"/>
            <a:ext cx="1068947"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en-US" altLang="ja-JP" sz="2800" dirty="0" smtClean="0">
                <a:ea typeface="ＭＳ Ｐゴシック" charset="-128"/>
              </a:rPr>
              <a:t>++ </a:t>
            </a:r>
            <a:r>
              <a:rPr lang="ja-JP" altLang="en-US" sz="2800" dirty="0" smtClean="0">
                <a:ea typeface="ＭＳ Ｐゴシック" charset="-128"/>
              </a:rPr>
              <a:t>式</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905780"/>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lang="en-US" altLang="ja-JP" sz="2800" dirty="0" smtClean="0">
                <a:solidFill>
                  <a:srgbClr val="FF0000"/>
                </a:solidFill>
              </a:rPr>
              <a:t>++e</a:t>
            </a:r>
            <a:r>
              <a:rPr kumimoji="1" lang="en-US" altLang="ja-JP" sz="2800" dirty="0" smtClean="0"/>
              <a:t> </a:t>
            </a:r>
            <a:r>
              <a:rPr kumimoji="1" lang="ja-JP" altLang="en-US" sz="2800" dirty="0"/>
              <a:t>の意味</a:t>
            </a:r>
            <a:endParaRPr kumimoji="1" lang="en-US" altLang="ja-JP" sz="2800" dirty="0"/>
          </a:p>
        </p:txBody>
      </p:sp>
      <p:sp>
        <p:nvSpPr>
          <p:cNvPr id="8" name="テキスト ボックス 7"/>
          <p:cNvSpPr txBox="1"/>
          <p:nvPr/>
        </p:nvSpPr>
        <p:spPr>
          <a:xfrm>
            <a:off x="1428728" y="3523309"/>
            <a:ext cx="7572428" cy="954107"/>
          </a:xfrm>
          <a:prstGeom prst="rect">
            <a:avLst/>
          </a:prstGeom>
          <a:solidFill>
            <a:srgbClr val="92D050"/>
          </a:solidFill>
          <a:ln>
            <a:solidFill>
              <a:schemeClr val="tx1"/>
            </a:solidFill>
          </a:ln>
        </p:spPr>
        <p:txBody>
          <a:bodyPr wrap="square" rtlCol="0">
            <a:spAutoFit/>
          </a:bodyPr>
          <a:lstStyle/>
          <a:p>
            <a:r>
              <a:rPr lang="ja-JP" altLang="en-US" sz="2800" dirty="0" smtClean="0"/>
              <a:t>代入式</a:t>
            </a:r>
            <a:r>
              <a:rPr lang="en-US" altLang="ja-JP" sz="2800" dirty="0" smtClean="0"/>
              <a:t>e=e+1</a:t>
            </a:r>
            <a:r>
              <a:rPr lang="ja-JP" altLang="en-US" sz="2800" dirty="0" smtClean="0"/>
              <a:t>と（</a:t>
            </a:r>
            <a:r>
              <a:rPr lang="en-US" altLang="ja-JP" sz="2800" dirty="0" smtClean="0"/>
              <a:t>e</a:t>
            </a:r>
            <a:r>
              <a:rPr lang="ja-JP" altLang="en-US" sz="2800" dirty="0" smtClean="0"/>
              <a:t>を一度だけ評価するという点を除いて）同じ意味である。</a:t>
            </a:r>
            <a:endParaRPr lang="en-US" altLang="ja-JP" sz="2800" dirty="0" smtClean="0"/>
          </a:p>
        </p:txBody>
      </p:sp>
      <p:sp>
        <p:nvSpPr>
          <p:cNvPr id="10" name="テキスト ボックス 9"/>
          <p:cNvSpPr txBox="1">
            <a:spLocks noChangeArrowheads="1"/>
          </p:cNvSpPr>
          <p:nvPr/>
        </p:nvSpPr>
        <p:spPr bwMode="auto">
          <a:xfrm>
            <a:off x="642910" y="4643446"/>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kumimoji="1" lang="en-US" altLang="ja-JP" sz="2800" dirty="0" smtClean="0">
                <a:solidFill>
                  <a:srgbClr val="FF0000"/>
                </a:solidFill>
              </a:rPr>
              <a:t>++e </a:t>
            </a:r>
            <a:r>
              <a:rPr kumimoji="1" lang="ja-JP" altLang="en-US" sz="2800" dirty="0" smtClean="0"/>
              <a:t>の型</a:t>
            </a:r>
            <a:endParaRPr kumimoji="1" lang="en-US" altLang="ja-JP" sz="2800" dirty="0"/>
          </a:p>
        </p:txBody>
      </p:sp>
      <p:sp>
        <p:nvSpPr>
          <p:cNvPr id="11" name="テキスト ボックス 10"/>
          <p:cNvSpPr txBox="1">
            <a:spLocks noChangeArrowheads="1"/>
          </p:cNvSpPr>
          <p:nvPr/>
        </p:nvSpPr>
        <p:spPr bwMode="auto">
          <a:xfrm>
            <a:off x="1428728" y="5286388"/>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 ++e</a:t>
            </a:r>
            <a:r>
              <a:rPr kumimoji="1" lang="ja-JP" altLang="en-US" sz="2800" dirty="0" smtClean="0"/>
              <a:t>の型は</a:t>
            </a:r>
            <a:r>
              <a:rPr lang="ja-JP" altLang="en-US" sz="2800" dirty="0" smtClean="0"/>
              <a:t>式</a:t>
            </a:r>
            <a:r>
              <a:rPr lang="en-US" altLang="ja-JP" sz="2800" dirty="0" smtClean="0"/>
              <a:t>e</a:t>
            </a:r>
            <a:r>
              <a:rPr kumimoji="1" lang="ja-JP" altLang="en-US" sz="2800" dirty="0" smtClean="0"/>
              <a:t>の型である。</a:t>
            </a:r>
            <a:endParaRPr kumimoji="1" lang="en-US" altLang="ja-JP" sz="2800" dirty="0"/>
          </a:p>
        </p:txBody>
      </p:sp>
      <p:sp>
        <p:nvSpPr>
          <p:cNvPr id="12" name="テキスト ボックス 11"/>
          <p:cNvSpPr txBox="1"/>
          <p:nvPr/>
        </p:nvSpPr>
        <p:spPr>
          <a:xfrm>
            <a:off x="3143240" y="1857364"/>
            <a:ext cx="5786446" cy="1015663"/>
          </a:xfrm>
          <a:prstGeom prst="rect">
            <a:avLst/>
          </a:prstGeom>
          <a:noFill/>
        </p:spPr>
        <p:txBody>
          <a:bodyPr wrap="square" rtlCol="0">
            <a:spAutoFit/>
          </a:bodyPr>
          <a:lstStyle/>
          <a:p>
            <a:r>
              <a:rPr kumimoji="1" lang="ja-JP" altLang="en-US" sz="2000" dirty="0" smtClean="0"/>
              <a:t>式は、アドレスを持ち、かつ値が変更可能（代入式の左辺に書ける式）でなければならない。あと</a:t>
            </a:r>
            <a:r>
              <a:rPr lang="ja-JP" altLang="en-US" sz="2000" dirty="0" smtClean="0"/>
              <a:t>、式の型は、</a:t>
            </a:r>
            <a:r>
              <a:rPr lang="en-US" altLang="ja-JP" sz="2000" dirty="0" smtClean="0"/>
              <a:t>1</a:t>
            </a:r>
            <a:r>
              <a:rPr lang="ja-JP" altLang="en-US" sz="2000" dirty="0" smtClean="0"/>
              <a:t>との足し算ができる型でなければならない。</a:t>
            </a:r>
            <a:endParaRPr lang="en-US" altLang="ja-JP" sz="2000" dirty="0" smtClean="0"/>
          </a:p>
        </p:txBody>
      </p:sp>
      <p:sp>
        <p:nvSpPr>
          <p:cNvPr id="14" name="テキスト ボックス 13"/>
          <p:cNvSpPr txBox="1"/>
          <p:nvPr/>
        </p:nvSpPr>
        <p:spPr>
          <a:xfrm>
            <a:off x="785786" y="6000768"/>
            <a:ext cx="5447325" cy="523220"/>
          </a:xfrm>
          <a:prstGeom prst="rect">
            <a:avLst/>
          </a:prstGeom>
          <a:noFill/>
        </p:spPr>
        <p:txBody>
          <a:bodyPr wrap="none" rtlCol="0">
            <a:spAutoFit/>
          </a:bodyPr>
          <a:lstStyle/>
          <a:p>
            <a:r>
              <a:rPr kumimoji="1" lang="ja-JP" altLang="en-US" sz="2800" dirty="0" smtClean="0"/>
              <a:t>減分演算子</a:t>
            </a:r>
            <a:r>
              <a:rPr kumimoji="1" lang="en-US" altLang="ja-JP" sz="2800" dirty="0" smtClean="0"/>
              <a:t>--</a:t>
            </a:r>
            <a:r>
              <a:rPr lang="ja-JP" altLang="en-US" sz="2800" dirty="0" smtClean="0"/>
              <a:t>も</a:t>
            </a:r>
            <a:r>
              <a:rPr kumimoji="1" lang="ja-JP" altLang="en-US" sz="2800" dirty="0" smtClean="0"/>
              <a:t>同様に定義され</a:t>
            </a:r>
            <a:r>
              <a:rPr lang="ja-JP" altLang="en-US" sz="2800" dirty="0" smtClean="0"/>
              <a:t>る。</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典型例</a:t>
            </a:r>
            <a:endParaRPr kumimoji="1" lang="ja-JP" altLang="en-US" dirty="0"/>
          </a:p>
        </p:txBody>
      </p:sp>
      <p:sp>
        <p:nvSpPr>
          <p:cNvPr id="4" name="正方形/長方形 3"/>
          <p:cNvSpPr/>
          <p:nvPr/>
        </p:nvSpPr>
        <p:spPr>
          <a:xfrm>
            <a:off x="357158" y="1571612"/>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solidFill>
                  <a:srgbClr val="FF0000"/>
                </a:solidFill>
              </a:rPr>
              <a:t>i</a:t>
            </a:r>
            <a:r>
              <a:rPr lang="en-US" altLang="ja-JP" sz="2400" dirty="0" smtClean="0">
                <a:solidFill>
                  <a:srgbClr val="FF0000"/>
                </a:solidFill>
              </a:rPr>
              <a:t>=i+1</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5" name="正方形/長方形 4"/>
          <p:cNvSpPr/>
          <p:nvPr/>
        </p:nvSpPr>
        <p:spPr>
          <a:xfrm>
            <a:off x="4714876" y="1571612"/>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smtClean="0">
                <a:solidFill>
                  <a:srgbClr val="FF0000"/>
                </a:solidFill>
              </a:rPr>
              <a:t>++</a:t>
            </a:r>
            <a:r>
              <a:rPr lang="en-US" altLang="ja-JP" sz="2400" dirty="0" err="1" smtClean="0">
                <a:solidFill>
                  <a:srgbClr val="FF0000"/>
                </a:solidFill>
              </a:rPr>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571472" y="4643446"/>
            <a:ext cx="8072493" cy="1569660"/>
          </a:xfrm>
          <a:prstGeom prst="rect">
            <a:avLst/>
          </a:prstGeom>
          <a:noFill/>
        </p:spPr>
        <p:txBody>
          <a:bodyPr wrap="square" rtlCol="0">
            <a:spAutoFit/>
          </a:bodyPr>
          <a:lstStyle/>
          <a:p>
            <a:r>
              <a:rPr lang="en-US" altLang="ja-JP" sz="2400" dirty="0" smtClean="0"/>
              <a:t>f</a:t>
            </a:r>
            <a:r>
              <a:rPr kumimoji="1" lang="en-US" altLang="ja-JP" sz="2400" dirty="0" smtClean="0"/>
              <a:t>or</a:t>
            </a:r>
            <a:r>
              <a:rPr lang="ja-JP" altLang="en-US" sz="2400" dirty="0" smtClean="0"/>
              <a:t>文</a:t>
            </a:r>
            <a:r>
              <a:rPr kumimoji="1" lang="ja-JP" altLang="en-US" sz="2400" dirty="0" smtClean="0"/>
              <a:t>においてよく使われる。</a:t>
            </a:r>
            <a:r>
              <a:rPr kumimoji="1" lang="en-US" altLang="ja-JP" sz="2400" dirty="0" err="1" smtClean="0"/>
              <a:t>i</a:t>
            </a:r>
            <a:r>
              <a:rPr kumimoji="1" lang="en-US" altLang="ja-JP" sz="2400" dirty="0" smtClean="0"/>
              <a:t>=i+1</a:t>
            </a:r>
            <a:r>
              <a:rPr kumimoji="1" lang="ja-JP" altLang="en-US" sz="2400" dirty="0" smtClean="0"/>
              <a:t>の代りに</a:t>
            </a:r>
            <a:r>
              <a:rPr kumimoji="1" lang="en-US" altLang="ja-JP" sz="2400" dirty="0" smtClean="0"/>
              <a:t>++</a:t>
            </a:r>
            <a:r>
              <a:rPr kumimoji="1" lang="en-US" altLang="ja-JP" sz="2400" dirty="0" err="1" smtClean="0"/>
              <a:t>i</a:t>
            </a:r>
            <a:r>
              <a:rPr kumimoji="1" lang="en-US" altLang="ja-JP" sz="2400" dirty="0" smtClean="0"/>
              <a:t> </a:t>
            </a:r>
            <a:r>
              <a:rPr lang="ja-JP" altLang="en-US" sz="2400" dirty="0" smtClean="0"/>
              <a:t>あるいは </a:t>
            </a:r>
            <a:r>
              <a:rPr kumimoji="1" lang="en-US" altLang="ja-JP" sz="2400" dirty="0" err="1" smtClean="0"/>
              <a:t>i</a:t>
            </a:r>
            <a:r>
              <a:rPr kumimoji="1" lang="en-US" altLang="ja-JP" sz="2400" dirty="0" smtClean="0"/>
              <a:t>++ </a:t>
            </a:r>
            <a:r>
              <a:rPr kumimoji="1" lang="ja-JP" altLang="en-US" sz="2400" dirty="0" smtClean="0"/>
              <a:t>（後述）</a:t>
            </a:r>
            <a:r>
              <a:rPr lang="ja-JP" altLang="en-US" sz="2400" dirty="0" smtClean="0"/>
              <a:t>と書くと、キーボードを打つ回数が若干減るので便利。（この例では式</a:t>
            </a:r>
            <a:r>
              <a:rPr lang="en-US" altLang="ja-JP" sz="2400" dirty="0" smtClean="0"/>
              <a:t>++</a:t>
            </a:r>
            <a:r>
              <a:rPr lang="en-US" altLang="ja-JP" sz="2400" dirty="0" err="1" smtClean="0"/>
              <a:t>i</a:t>
            </a:r>
            <a:r>
              <a:rPr lang="ja-JP" altLang="en-US" sz="2400" dirty="0" smtClean="0"/>
              <a:t>の値は使われないので、</a:t>
            </a:r>
            <a:r>
              <a:rPr lang="en-US" altLang="ja-JP" sz="2400" dirty="0" smtClean="0"/>
              <a:t>++</a:t>
            </a:r>
            <a:r>
              <a:rPr lang="en-US" altLang="ja-JP" sz="2400" dirty="0" err="1" smtClean="0"/>
              <a:t>i</a:t>
            </a:r>
            <a:r>
              <a:rPr lang="ja-JP" altLang="en-US" sz="2400" dirty="0" smtClean="0"/>
              <a:t>でも</a:t>
            </a:r>
            <a:r>
              <a:rPr lang="en-US" altLang="ja-JP" sz="2400" dirty="0" err="1" smtClean="0"/>
              <a:t>i</a:t>
            </a:r>
            <a:r>
              <a:rPr lang="en-US" altLang="ja-JP" sz="2400" dirty="0" smtClean="0"/>
              <a:t>++</a:t>
            </a:r>
            <a:r>
              <a:rPr lang="ja-JP" altLang="en-US" sz="2400" dirty="0" smtClean="0"/>
              <a:t>でも同じ。）</a:t>
            </a:r>
            <a:endParaRPr lang="en-US" altLang="ja-JP" sz="24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28694"/>
          </a:xfrm>
        </p:spPr>
        <p:txBody>
          <a:bodyPr>
            <a:normAutofit fontScale="90000"/>
          </a:bodyPr>
          <a:lstStyle/>
          <a:p>
            <a:r>
              <a:rPr lang="ja-JP" altLang="en-US" dirty="0" smtClean="0"/>
              <a:t>（参考） </a:t>
            </a:r>
            <a:r>
              <a:rPr lang="en-US" altLang="ja-JP" dirty="0" smtClean="0"/>
              <a:t>++e </a:t>
            </a:r>
            <a:r>
              <a:rPr lang="ja-JP" altLang="en-US" dirty="0" smtClean="0"/>
              <a:t>と </a:t>
            </a:r>
            <a:r>
              <a:rPr lang="en-US" altLang="ja-JP" dirty="0" smtClean="0"/>
              <a:t>e=e+1 </a:t>
            </a:r>
            <a:r>
              <a:rPr lang="ja-JP" altLang="en-US" dirty="0" smtClean="0"/>
              <a:t>の違いについて</a:t>
            </a:r>
            <a:endParaRPr kumimoji="1" lang="ja-JP" altLang="en-US" dirty="0"/>
          </a:p>
        </p:txBody>
      </p:sp>
      <p:sp>
        <p:nvSpPr>
          <p:cNvPr id="5" name="テキスト ボックス 4"/>
          <p:cNvSpPr txBox="1"/>
          <p:nvPr/>
        </p:nvSpPr>
        <p:spPr>
          <a:xfrm>
            <a:off x="428596" y="5699485"/>
            <a:ext cx="8358214" cy="1015663"/>
          </a:xfrm>
          <a:prstGeom prst="rect">
            <a:avLst/>
          </a:prstGeom>
          <a:noFill/>
        </p:spPr>
        <p:txBody>
          <a:bodyPr wrap="square" rtlCol="0">
            <a:spAutoFit/>
          </a:bodyPr>
          <a:lstStyle/>
          <a:p>
            <a:r>
              <a:rPr lang="ja-JP" altLang="en-US" sz="2000" dirty="0" smtClean="0"/>
              <a:t>（注意）代入式において、左辺と右辺のどちらを先に評価するかは未規定である。したがって、</a:t>
            </a:r>
            <a:r>
              <a:rPr lang="en-US" altLang="ja-JP" sz="2000" dirty="0" smtClean="0"/>
              <a:t>*(++p)=*(++p)+1</a:t>
            </a:r>
            <a:r>
              <a:rPr lang="ja-JP" altLang="en-US" sz="2000" dirty="0" smtClean="0"/>
              <a:t>のように、左辺、右辺に関連のある副作用のある式を書くのは避けるべき。</a:t>
            </a:r>
            <a:r>
              <a:rPr lang="en-US" altLang="ja-JP" sz="2000" dirty="0" smtClean="0"/>
              <a:t>++(*(++p)) </a:t>
            </a:r>
            <a:r>
              <a:rPr lang="ja-JP" altLang="en-US" sz="2000" dirty="0" smtClean="0"/>
              <a:t>については、意味は一意である。</a:t>
            </a:r>
            <a:endParaRPr lang="en-US" altLang="ja-JP" sz="2000" dirty="0" smtClean="0"/>
          </a:p>
        </p:txBody>
      </p:sp>
      <p:sp>
        <p:nvSpPr>
          <p:cNvPr id="7" name="正方形/長方形 6"/>
          <p:cNvSpPr/>
          <p:nvPr/>
        </p:nvSpPr>
        <p:spPr>
          <a:xfrm>
            <a:off x="4786314" y="1142984"/>
            <a:ext cx="4143404" cy="3785652"/>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a[5]={10,20,30,40,50};</a:t>
            </a:r>
          </a:p>
          <a:p>
            <a:r>
              <a:rPr lang="en-US" altLang="ja-JP" sz="2400" dirty="0" smtClean="0"/>
              <a:t>  </a:t>
            </a:r>
            <a:r>
              <a:rPr lang="en-US" altLang="ja-JP" sz="2400" dirty="0" err="1" smtClean="0"/>
              <a:t>int</a:t>
            </a:r>
            <a:r>
              <a:rPr lang="en-US" altLang="ja-JP" sz="2400" dirty="0" smtClean="0"/>
              <a:t> *p, </a:t>
            </a:r>
            <a:r>
              <a:rPr lang="en-US" altLang="ja-JP" sz="2400" dirty="0" err="1" smtClean="0"/>
              <a:t>i</a:t>
            </a:r>
            <a:r>
              <a:rPr lang="en-US" altLang="ja-JP" sz="2400" dirty="0" smtClean="0"/>
              <a:t>;</a:t>
            </a:r>
          </a:p>
          <a:p>
            <a:r>
              <a:rPr lang="en-US" altLang="ja-JP" sz="2400" dirty="0" smtClean="0"/>
              <a:t>  p=a;</a:t>
            </a:r>
          </a:p>
          <a:p>
            <a:r>
              <a:rPr lang="en-US" altLang="ja-JP" sz="2400" dirty="0" smtClean="0"/>
              <a:t>  </a:t>
            </a:r>
            <a:r>
              <a:rPr lang="en-US" altLang="ja-JP" sz="2400" dirty="0" smtClean="0">
                <a:solidFill>
                  <a:srgbClr val="FF0000"/>
                </a:solidFill>
              </a:rPr>
              <a:t>*(++p)</a:t>
            </a:r>
            <a:r>
              <a:rPr lang="en-US" altLang="ja-JP" sz="2400" dirty="0" smtClean="0"/>
              <a:t> = </a:t>
            </a:r>
            <a:r>
              <a:rPr lang="en-US" altLang="ja-JP" sz="2400" dirty="0" smtClean="0">
                <a:solidFill>
                  <a:srgbClr val="FF0000"/>
                </a:solidFill>
              </a:rPr>
              <a:t>*(++p)</a:t>
            </a:r>
            <a:r>
              <a:rPr lang="en-US" altLang="ja-JP" sz="2400" dirty="0" smtClean="0"/>
              <a:t> + 1;</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p>
        </p:txBody>
      </p:sp>
      <p:sp>
        <p:nvSpPr>
          <p:cNvPr id="8" name="正方形/長方形 7"/>
          <p:cNvSpPr/>
          <p:nvPr/>
        </p:nvSpPr>
        <p:spPr>
          <a:xfrm>
            <a:off x="214282" y="1142984"/>
            <a:ext cx="4357686" cy="3785652"/>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a[5]={10,20,30,40,50};</a:t>
            </a:r>
          </a:p>
          <a:p>
            <a:r>
              <a:rPr lang="en-US" altLang="ja-JP" sz="2400" dirty="0" smtClean="0"/>
              <a:t>  </a:t>
            </a:r>
            <a:r>
              <a:rPr lang="en-US" altLang="ja-JP" sz="2400" dirty="0" err="1" smtClean="0"/>
              <a:t>int</a:t>
            </a:r>
            <a:r>
              <a:rPr lang="en-US" altLang="ja-JP" sz="2400" dirty="0" smtClean="0"/>
              <a:t> *p, </a:t>
            </a:r>
            <a:r>
              <a:rPr lang="en-US" altLang="ja-JP" sz="2400" dirty="0" err="1" smtClean="0"/>
              <a:t>i</a:t>
            </a:r>
            <a:r>
              <a:rPr lang="en-US" altLang="ja-JP" sz="2400" dirty="0" smtClean="0"/>
              <a:t>;</a:t>
            </a:r>
          </a:p>
          <a:p>
            <a:r>
              <a:rPr lang="en-US" altLang="ja-JP" sz="2400" dirty="0" smtClean="0"/>
              <a:t>  p=a;</a:t>
            </a:r>
          </a:p>
          <a:p>
            <a:r>
              <a:rPr lang="en-US" altLang="ja-JP" sz="2400" dirty="0" smtClean="0"/>
              <a:t>  ++(</a:t>
            </a:r>
            <a:r>
              <a:rPr lang="en-US" altLang="ja-JP" sz="2400" dirty="0" smtClean="0">
                <a:solidFill>
                  <a:srgbClr val="FF0000"/>
                </a:solidFill>
              </a:rPr>
              <a:t>*(++p)</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p>
        </p:txBody>
      </p:sp>
      <p:sp>
        <p:nvSpPr>
          <p:cNvPr id="9" name="テキスト ボックス 8"/>
          <p:cNvSpPr txBox="1"/>
          <p:nvPr/>
        </p:nvSpPr>
        <p:spPr>
          <a:xfrm>
            <a:off x="2243910" y="2538707"/>
            <a:ext cx="2185214" cy="461665"/>
          </a:xfrm>
          <a:prstGeom prst="rect">
            <a:avLst/>
          </a:prstGeom>
          <a:noFill/>
          <a:ln>
            <a:solidFill>
              <a:schemeClr val="tx1"/>
            </a:solidFill>
          </a:ln>
        </p:spPr>
        <p:txBody>
          <a:bodyPr wrap="none" rtlCol="0">
            <a:spAutoFit/>
          </a:bodyPr>
          <a:lstStyle/>
          <a:p>
            <a:r>
              <a:rPr lang="ja-JP" altLang="en-US" sz="2400" dirty="0" smtClean="0"/>
              <a:t>赤字の部分が</a:t>
            </a:r>
            <a:r>
              <a:rPr lang="en-US" altLang="ja-JP" sz="2400" dirty="0" smtClean="0"/>
              <a:t>e</a:t>
            </a:r>
            <a:endParaRPr kumimoji="1" lang="ja-JP" altLang="en-US" sz="2400" dirty="0"/>
          </a:p>
        </p:txBody>
      </p:sp>
      <p:sp>
        <p:nvSpPr>
          <p:cNvPr id="10" name="テキスト ボックス 9"/>
          <p:cNvSpPr txBox="1"/>
          <p:nvPr/>
        </p:nvSpPr>
        <p:spPr>
          <a:xfrm>
            <a:off x="6530190" y="2538707"/>
            <a:ext cx="2185214" cy="461665"/>
          </a:xfrm>
          <a:prstGeom prst="rect">
            <a:avLst/>
          </a:prstGeom>
          <a:noFill/>
          <a:ln>
            <a:solidFill>
              <a:schemeClr val="tx1"/>
            </a:solidFill>
          </a:ln>
        </p:spPr>
        <p:txBody>
          <a:bodyPr wrap="none" rtlCol="0">
            <a:spAutoFit/>
          </a:bodyPr>
          <a:lstStyle/>
          <a:p>
            <a:r>
              <a:rPr lang="ja-JP" altLang="en-US" sz="2400" dirty="0" smtClean="0"/>
              <a:t>赤字の部分が</a:t>
            </a:r>
            <a:r>
              <a:rPr lang="en-US" altLang="ja-JP" sz="2400" dirty="0" smtClean="0"/>
              <a:t>e</a:t>
            </a:r>
            <a:endParaRPr kumimoji="1" lang="ja-JP" altLang="en-US" sz="2400" dirty="0"/>
          </a:p>
        </p:txBody>
      </p:sp>
      <p:sp>
        <p:nvSpPr>
          <p:cNvPr id="11" name="テキスト ボックス 10"/>
          <p:cNvSpPr txBox="1"/>
          <p:nvPr/>
        </p:nvSpPr>
        <p:spPr>
          <a:xfrm>
            <a:off x="428596" y="5078568"/>
            <a:ext cx="7929618" cy="707886"/>
          </a:xfrm>
          <a:prstGeom prst="rect">
            <a:avLst/>
          </a:prstGeom>
          <a:noFill/>
        </p:spPr>
        <p:txBody>
          <a:bodyPr wrap="square" rtlCol="0">
            <a:spAutoFit/>
          </a:bodyPr>
          <a:lstStyle/>
          <a:p>
            <a:r>
              <a:rPr lang="ja-JP" altLang="en-US" sz="2000" dirty="0" smtClean="0"/>
              <a:t>左のプログラムでは、ポインタ</a:t>
            </a:r>
            <a:r>
              <a:rPr lang="en-US" altLang="ja-JP" sz="2000" dirty="0" smtClean="0"/>
              <a:t>p</a:t>
            </a:r>
            <a:r>
              <a:rPr lang="ja-JP" altLang="en-US" sz="2000" dirty="0" smtClean="0"/>
              <a:t>の値は１回だけ</a:t>
            </a:r>
            <a:r>
              <a:rPr lang="en-US" altLang="ja-JP" sz="2000" dirty="0" smtClean="0"/>
              <a:t>1</a:t>
            </a:r>
            <a:r>
              <a:rPr lang="ja-JP" altLang="en-US" sz="2000" dirty="0" smtClean="0"/>
              <a:t>足されるが、右のプログラムでは２回、</a:t>
            </a:r>
            <a:r>
              <a:rPr lang="en-US" altLang="ja-JP" sz="2000" dirty="0" smtClean="0"/>
              <a:t>1</a:t>
            </a:r>
            <a:r>
              <a:rPr lang="ja-JP" altLang="en-US" sz="2000" dirty="0" smtClean="0"/>
              <a:t>足される。</a:t>
            </a:r>
            <a:endParaRPr kumimoji="1" lang="ja-JP" altLang="en-US"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増分演算</a:t>
            </a:r>
            <a:r>
              <a:rPr lang="ja-JP" altLang="en-US" dirty="0" smtClean="0"/>
              <a:t>子（後置）</a:t>
            </a:r>
            <a:endParaRPr kumimoji="1" lang="ja-JP" altLang="en-US" dirty="0"/>
          </a:p>
        </p:txBody>
      </p:sp>
      <p:sp>
        <p:nvSpPr>
          <p:cNvPr id="4" name="テキスト ボックス 3"/>
          <p:cNvSpPr txBox="1"/>
          <p:nvPr/>
        </p:nvSpPr>
        <p:spPr>
          <a:xfrm>
            <a:off x="785786" y="1334144"/>
            <a:ext cx="5601213" cy="523220"/>
          </a:xfrm>
          <a:prstGeom prst="rect">
            <a:avLst/>
          </a:prstGeom>
          <a:noFill/>
        </p:spPr>
        <p:txBody>
          <a:bodyPr wrap="none" rtlCol="0">
            <a:spAutoFit/>
          </a:bodyPr>
          <a:lstStyle/>
          <a:p>
            <a:r>
              <a:rPr lang="ja-JP" altLang="en-US" sz="2800" dirty="0" smtClean="0"/>
              <a:t>前置</a:t>
            </a:r>
            <a:r>
              <a:rPr kumimoji="1" lang="ja-JP" altLang="en-US" sz="2800" dirty="0" smtClean="0"/>
              <a:t>増分演算子を使った式の構文</a:t>
            </a:r>
            <a:endParaRPr kumimoji="1" lang="ja-JP" altLang="en-US" sz="2800" dirty="0"/>
          </a:p>
        </p:txBody>
      </p:sp>
      <p:sp>
        <p:nvSpPr>
          <p:cNvPr id="6" name="Text Box 5"/>
          <p:cNvSpPr txBox="1">
            <a:spLocks noChangeArrowheads="1"/>
          </p:cNvSpPr>
          <p:nvPr/>
        </p:nvSpPr>
        <p:spPr bwMode="auto">
          <a:xfrm>
            <a:off x="1428728" y="1977086"/>
            <a:ext cx="1068947"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smtClean="0">
                <a:ea typeface="ＭＳ Ｐゴシック" charset="-128"/>
              </a:rPr>
              <a:t>式 </a:t>
            </a:r>
            <a:r>
              <a:rPr lang="en-US" altLang="ja-JP" sz="2800" dirty="0" smtClean="0">
                <a:ea typeface="ＭＳ Ｐゴシック" charset="-128"/>
              </a:rPr>
              <a:t>++</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857496"/>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lang="en-US" altLang="ja-JP" sz="2800" dirty="0" smtClean="0">
                <a:solidFill>
                  <a:srgbClr val="FF0000"/>
                </a:solidFill>
              </a:rPr>
              <a:t>e++</a:t>
            </a:r>
            <a:r>
              <a:rPr kumimoji="1" lang="en-US" altLang="ja-JP" sz="2800" dirty="0" smtClean="0"/>
              <a:t> </a:t>
            </a:r>
            <a:r>
              <a:rPr kumimoji="1" lang="ja-JP" altLang="en-US" sz="2800" dirty="0"/>
              <a:t>の意味</a:t>
            </a:r>
            <a:endParaRPr kumimoji="1" lang="en-US" altLang="ja-JP" sz="2800" dirty="0"/>
          </a:p>
        </p:txBody>
      </p:sp>
      <p:sp>
        <p:nvSpPr>
          <p:cNvPr id="8" name="テキスト ボックス 7"/>
          <p:cNvSpPr txBox="1"/>
          <p:nvPr/>
        </p:nvSpPr>
        <p:spPr>
          <a:xfrm>
            <a:off x="1428728" y="3475025"/>
            <a:ext cx="7572428" cy="954107"/>
          </a:xfrm>
          <a:prstGeom prst="rect">
            <a:avLst/>
          </a:prstGeom>
          <a:solidFill>
            <a:srgbClr val="92D050"/>
          </a:solidFill>
          <a:ln>
            <a:solidFill>
              <a:schemeClr val="tx1"/>
            </a:solidFill>
          </a:ln>
        </p:spPr>
        <p:txBody>
          <a:bodyPr wrap="square" rtlCol="0">
            <a:spAutoFit/>
          </a:bodyPr>
          <a:lstStyle/>
          <a:p>
            <a:r>
              <a:rPr lang="en-US" altLang="ja-JP" sz="2800" dirty="0" smtClean="0"/>
              <a:t>e++</a:t>
            </a:r>
            <a:r>
              <a:rPr lang="ja-JP" altLang="en-US" sz="2800" dirty="0" smtClean="0"/>
              <a:t>式の値は</a:t>
            </a:r>
            <a:r>
              <a:rPr lang="en-US" altLang="ja-JP" sz="2800" dirty="0" smtClean="0"/>
              <a:t>1</a:t>
            </a:r>
            <a:r>
              <a:rPr lang="ja-JP" altLang="en-US" sz="2800" dirty="0" smtClean="0"/>
              <a:t>を足す前の</a:t>
            </a:r>
            <a:r>
              <a:rPr lang="en-US" altLang="ja-JP" sz="2800" dirty="0" smtClean="0"/>
              <a:t>e</a:t>
            </a:r>
            <a:r>
              <a:rPr lang="ja-JP" altLang="en-US" sz="2800" dirty="0" smtClean="0"/>
              <a:t>の値であるという点を除いて</a:t>
            </a:r>
            <a:r>
              <a:rPr lang="en-US" altLang="ja-JP" sz="2800" dirty="0" smtClean="0"/>
              <a:t>++e</a:t>
            </a:r>
            <a:r>
              <a:rPr lang="ja-JP" altLang="en-US" sz="2800" dirty="0" smtClean="0"/>
              <a:t>と同じ意味である。</a:t>
            </a:r>
            <a:endParaRPr lang="en-US" altLang="ja-JP" sz="2800" dirty="0" smtClean="0"/>
          </a:p>
        </p:txBody>
      </p:sp>
      <p:sp>
        <p:nvSpPr>
          <p:cNvPr id="10" name="テキスト ボックス 9"/>
          <p:cNvSpPr txBox="1">
            <a:spLocks noChangeArrowheads="1"/>
          </p:cNvSpPr>
          <p:nvPr/>
        </p:nvSpPr>
        <p:spPr bwMode="auto">
          <a:xfrm>
            <a:off x="642910" y="4620292"/>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kumimoji="1" lang="en-US" altLang="ja-JP" sz="2800" dirty="0" smtClean="0">
                <a:solidFill>
                  <a:srgbClr val="FF0000"/>
                </a:solidFill>
              </a:rPr>
              <a:t>e++ </a:t>
            </a:r>
            <a:r>
              <a:rPr kumimoji="1" lang="ja-JP" altLang="en-US" sz="2800" dirty="0" smtClean="0"/>
              <a:t>の型</a:t>
            </a:r>
            <a:endParaRPr kumimoji="1" lang="en-US" altLang="ja-JP" sz="2800" dirty="0"/>
          </a:p>
        </p:txBody>
      </p:sp>
      <p:sp>
        <p:nvSpPr>
          <p:cNvPr id="11" name="テキスト ボックス 10"/>
          <p:cNvSpPr txBox="1">
            <a:spLocks noChangeArrowheads="1"/>
          </p:cNvSpPr>
          <p:nvPr/>
        </p:nvSpPr>
        <p:spPr bwMode="auto">
          <a:xfrm>
            <a:off x="1428728" y="5263234"/>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 e++ </a:t>
            </a:r>
            <a:r>
              <a:rPr kumimoji="1" lang="ja-JP" altLang="en-US" sz="2800" dirty="0" smtClean="0"/>
              <a:t>の型は</a:t>
            </a:r>
            <a:r>
              <a:rPr lang="ja-JP" altLang="en-US" sz="2800" dirty="0" smtClean="0"/>
              <a:t>式</a:t>
            </a:r>
            <a:r>
              <a:rPr lang="en-US" altLang="ja-JP" sz="2800" dirty="0" smtClean="0"/>
              <a:t>e</a:t>
            </a:r>
            <a:r>
              <a:rPr kumimoji="1" lang="ja-JP" altLang="en-US" sz="2800" dirty="0" smtClean="0"/>
              <a:t>の型である。</a:t>
            </a:r>
            <a:endParaRPr kumimoji="1" lang="en-US" altLang="ja-JP" sz="2800" dirty="0"/>
          </a:p>
        </p:txBody>
      </p:sp>
      <p:sp>
        <p:nvSpPr>
          <p:cNvPr id="12" name="テキスト ボックス 11"/>
          <p:cNvSpPr txBox="1"/>
          <p:nvPr/>
        </p:nvSpPr>
        <p:spPr>
          <a:xfrm>
            <a:off x="3143240" y="1857364"/>
            <a:ext cx="5786446" cy="1015663"/>
          </a:xfrm>
          <a:prstGeom prst="rect">
            <a:avLst/>
          </a:prstGeom>
          <a:noFill/>
        </p:spPr>
        <p:txBody>
          <a:bodyPr wrap="square" rtlCol="0">
            <a:spAutoFit/>
          </a:bodyPr>
          <a:lstStyle/>
          <a:p>
            <a:r>
              <a:rPr kumimoji="1" lang="ja-JP" altLang="en-US" sz="2000" dirty="0" smtClean="0"/>
              <a:t>式は、アドレスを持ち、かつ値が変更可能（代入式の左辺に書ける式）でなければならない。あと</a:t>
            </a:r>
            <a:r>
              <a:rPr lang="ja-JP" altLang="en-US" sz="2000" dirty="0" smtClean="0"/>
              <a:t>、式の型は、</a:t>
            </a:r>
            <a:r>
              <a:rPr lang="en-US" altLang="ja-JP" sz="2000" dirty="0" smtClean="0"/>
              <a:t>1</a:t>
            </a:r>
            <a:r>
              <a:rPr lang="ja-JP" altLang="en-US" sz="2000" dirty="0" smtClean="0"/>
              <a:t>との足し算ができる型でなければならない。</a:t>
            </a:r>
            <a:endParaRPr lang="en-US" altLang="ja-JP" sz="2000" dirty="0" smtClean="0"/>
          </a:p>
        </p:txBody>
      </p:sp>
      <p:sp>
        <p:nvSpPr>
          <p:cNvPr id="13" name="テキスト ボックス 12"/>
          <p:cNvSpPr txBox="1"/>
          <p:nvPr/>
        </p:nvSpPr>
        <p:spPr>
          <a:xfrm>
            <a:off x="785786" y="6000768"/>
            <a:ext cx="5447325" cy="523220"/>
          </a:xfrm>
          <a:prstGeom prst="rect">
            <a:avLst/>
          </a:prstGeom>
          <a:noFill/>
        </p:spPr>
        <p:txBody>
          <a:bodyPr wrap="none" rtlCol="0">
            <a:spAutoFit/>
          </a:bodyPr>
          <a:lstStyle/>
          <a:p>
            <a:r>
              <a:rPr kumimoji="1" lang="ja-JP" altLang="en-US" sz="2800" dirty="0" smtClean="0"/>
              <a:t>減分演算子</a:t>
            </a:r>
            <a:r>
              <a:rPr kumimoji="1" lang="en-US" altLang="ja-JP" sz="2800" dirty="0" smtClean="0"/>
              <a:t>--</a:t>
            </a:r>
            <a:r>
              <a:rPr lang="ja-JP" altLang="en-US" sz="2800" dirty="0" smtClean="0"/>
              <a:t>も</a:t>
            </a:r>
            <a:r>
              <a:rPr kumimoji="1" lang="ja-JP" altLang="en-US" sz="2800" dirty="0" smtClean="0"/>
              <a:t>同様に定義され</a:t>
            </a:r>
            <a:r>
              <a:rPr lang="ja-JP" altLang="en-US" sz="2800" dirty="0" smtClean="0"/>
              <a:t>る。</a:t>
            </a:r>
            <a:endParaRPr kumimoji="1" lang="ja-JP" alt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ファイル処理</a:t>
            </a:r>
            <a:endParaRPr kumimoji="1" lang="ja-JP" altLang="en-US" dirty="0"/>
          </a:p>
        </p:txBody>
      </p:sp>
      <p:sp>
        <p:nvSpPr>
          <p:cNvPr id="4" name="テキスト ボックス 3"/>
          <p:cNvSpPr txBox="1"/>
          <p:nvPr/>
        </p:nvSpPr>
        <p:spPr>
          <a:xfrm>
            <a:off x="571472" y="1428736"/>
            <a:ext cx="8215338" cy="5632311"/>
          </a:xfrm>
          <a:prstGeom prst="rect">
            <a:avLst/>
          </a:prstGeom>
          <a:noFill/>
        </p:spPr>
        <p:txBody>
          <a:bodyPr wrap="square" rtlCol="0">
            <a:spAutoFit/>
          </a:bodyPr>
          <a:lstStyle/>
          <a:p>
            <a:r>
              <a:rPr kumimoji="1" lang="ja-JP" altLang="en-US" sz="2400" dirty="0" smtClean="0"/>
              <a:t>これまでファイルの</a:t>
            </a:r>
            <a:r>
              <a:rPr lang="ja-JP" altLang="en-US" sz="2400" dirty="0" smtClean="0"/>
              <a:t>操作は</a:t>
            </a:r>
            <a:r>
              <a:rPr lang="en-US" altLang="ja-JP" sz="2400" dirty="0" err="1" smtClean="0"/>
              <a:t>emacs</a:t>
            </a:r>
            <a:r>
              <a:rPr lang="ja-JP" altLang="en-US" sz="2400" dirty="0" smtClean="0"/>
              <a:t>あるいは</a:t>
            </a:r>
            <a:r>
              <a:rPr lang="en-US" altLang="ja-JP" sz="2400" dirty="0" smtClean="0"/>
              <a:t>cp, </a:t>
            </a:r>
            <a:r>
              <a:rPr lang="en-US" altLang="ja-JP" sz="2400" dirty="0" err="1" smtClean="0"/>
              <a:t>mv</a:t>
            </a:r>
            <a:r>
              <a:rPr lang="ja-JP" altLang="en-US" sz="2400" dirty="0" smtClean="0"/>
              <a:t>などのコマンドで行っていたが、</a:t>
            </a:r>
            <a:r>
              <a:rPr lang="en-US" altLang="ja-JP" sz="2400" dirty="0" smtClean="0"/>
              <a:t>C</a:t>
            </a:r>
            <a:r>
              <a:rPr lang="ja-JP" altLang="en-US" sz="2400" dirty="0" smtClean="0"/>
              <a:t>言語のプログラムでファイルを操作することができる。ファイルを操作するためのライブラリ関数が提供されている。</a:t>
            </a:r>
            <a:endParaRPr lang="en-US" altLang="ja-JP" sz="2400" dirty="0" smtClean="0"/>
          </a:p>
          <a:p>
            <a:r>
              <a:rPr lang="en-US" altLang="ja-JP" sz="2400" dirty="0" smtClean="0"/>
              <a:t>    </a:t>
            </a:r>
            <a:r>
              <a:rPr lang="en-US" altLang="ja-JP" sz="2400" dirty="0" err="1" smtClean="0"/>
              <a:t>fopen</a:t>
            </a:r>
            <a:r>
              <a:rPr lang="en-US" altLang="ja-JP" sz="2400" dirty="0" smtClean="0"/>
              <a:t> --- </a:t>
            </a:r>
            <a:r>
              <a:rPr lang="ja-JP" altLang="en-US" sz="2400" dirty="0" smtClean="0"/>
              <a:t>ファイルを開く（ファイルをプログラムから扱えるように準備する）</a:t>
            </a:r>
            <a:endParaRPr lang="en-US" altLang="ja-JP" sz="2400" dirty="0" smtClean="0"/>
          </a:p>
          <a:p>
            <a:r>
              <a:rPr lang="en-US" altLang="ja-JP" sz="2400" dirty="0" smtClean="0"/>
              <a:t>    </a:t>
            </a:r>
            <a:r>
              <a:rPr lang="en-US" altLang="ja-JP" sz="2400" dirty="0" err="1" smtClean="0"/>
              <a:t>fclose</a:t>
            </a:r>
            <a:r>
              <a:rPr lang="en-US" altLang="ja-JP" sz="2400" dirty="0" smtClean="0"/>
              <a:t> --- </a:t>
            </a:r>
            <a:r>
              <a:rPr lang="ja-JP" altLang="en-US" sz="2400" dirty="0" smtClean="0"/>
              <a:t>ファイルを閉じる（ファイルを扱える状態においては、プロセスにおけるファイル用の表のエントリを１つ分占めている。それが解放される。）</a:t>
            </a:r>
            <a:endParaRPr lang="en-US" altLang="ja-JP" sz="2400" dirty="0" smtClean="0"/>
          </a:p>
          <a:p>
            <a:r>
              <a:rPr lang="en-US" altLang="ja-JP" sz="2400" dirty="0" smtClean="0"/>
              <a:t>    </a:t>
            </a:r>
            <a:r>
              <a:rPr lang="en-US" altLang="ja-JP" sz="2400" dirty="0" err="1" smtClean="0"/>
              <a:t>fprintf</a:t>
            </a:r>
            <a:r>
              <a:rPr lang="en-US" altLang="ja-JP" sz="2400" dirty="0" smtClean="0"/>
              <a:t>  --- </a:t>
            </a:r>
            <a:r>
              <a:rPr lang="ja-JP" altLang="en-US" sz="2400" dirty="0" smtClean="0"/>
              <a:t>ファイルへの書き込み</a:t>
            </a:r>
            <a:endParaRPr lang="en-US" altLang="ja-JP" sz="2400" dirty="0" smtClean="0"/>
          </a:p>
          <a:p>
            <a:r>
              <a:rPr lang="en-US" altLang="ja-JP" sz="2400" dirty="0" smtClean="0"/>
              <a:t>    </a:t>
            </a:r>
            <a:r>
              <a:rPr lang="en-US" altLang="ja-JP" sz="2400" dirty="0" err="1" smtClean="0"/>
              <a:t>fscanf</a:t>
            </a:r>
            <a:r>
              <a:rPr lang="en-US" altLang="ja-JP" sz="2400" dirty="0" smtClean="0"/>
              <a:t> --- </a:t>
            </a:r>
            <a:r>
              <a:rPr lang="ja-JP" altLang="en-US" sz="2400" dirty="0" smtClean="0"/>
              <a:t>ファイルからの読み取り</a:t>
            </a:r>
            <a:endParaRPr lang="en-US" altLang="ja-JP" sz="2400" dirty="0" smtClean="0"/>
          </a:p>
          <a:p>
            <a:r>
              <a:rPr lang="ja-JP" altLang="en-US" sz="2400" dirty="0" smtClean="0"/>
              <a:t>などのライブラリがある。</a:t>
            </a:r>
            <a:endParaRPr lang="en-US" altLang="ja-JP" sz="2400" dirty="0" smtClean="0"/>
          </a:p>
          <a:p>
            <a:r>
              <a:rPr lang="ja-JP" altLang="en-US" sz="2400" dirty="0" smtClean="0"/>
              <a:t>これらのライブラリ関数を使う場合は、</a:t>
            </a:r>
            <a:r>
              <a:rPr lang="en-US" altLang="ja-JP" sz="2400" dirty="0" err="1" smtClean="0"/>
              <a:t>stdio.h</a:t>
            </a:r>
            <a:r>
              <a:rPr lang="ja-JP" altLang="en-US" sz="2400" dirty="0" smtClean="0"/>
              <a:t>をインクルードする。（</a:t>
            </a:r>
            <a:r>
              <a:rPr lang="en-US" altLang="ja-JP" sz="2400" dirty="0" err="1" smtClean="0"/>
              <a:t>printf</a:t>
            </a:r>
            <a:r>
              <a:rPr lang="ja-JP" altLang="en-US" sz="2400" dirty="0" smtClean="0"/>
              <a:t>を使う場合と同じ）</a:t>
            </a:r>
            <a:endParaRPr lang="en-US" altLang="ja-JP" sz="2400" dirty="0" smtClean="0"/>
          </a:p>
          <a:p>
            <a:r>
              <a:rPr lang="en-US" altLang="ja-JP" sz="2400" dirty="0" smtClean="0"/>
              <a:t>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例（入力して確認）</a:t>
            </a:r>
            <a:endParaRPr kumimoji="1" lang="ja-JP" altLang="en-US" dirty="0"/>
          </a:p>
        </p:txBody>
      </p:sp>
      <p:sp>
        <p:nvSpPr>
          <p:cNvPr id="4" name="正方形/長方形 3"/>
          <p:cNvSpPr/>
          <p:nvPr/>
        </p:nvSpPr>
        <p:spPr>
          <a:xfrm>
            <a:off x="285720" y="1500174"/>
            <a:ext cx="5429288"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FILE *</a:t>
            </a:r>
            <a:r>
              <a:rPr lang="en-US" altLang="ja-JP" sz="2400" dirty="0" err="1" smtClean="0"/>
              <a:t>fp</a:t>
            </a:r>
            <a:r>
              <a:rPr lang="en-US" altLang="ja-JP" sz="2400" dirty="0" smtClean="0"/>
              <a:t>;</a:t>
            </a:r>
          </a:p>
          <a:p>
            <a:r>
              <a:rPr lang="en-US" altLang="ja-JP" sz="2400" dirty="0" smtClean="0"/>
              <a:t>  </a:t>
            </a:r>
            <a:r>
              <a:rPr lang="en-US" altLang="ja-JP" sz="2400" dirty="0" err="1" smtClean="0"/>
              <a:t>fp</a:t>
            </a:r>
            <a:r>
              <a:rPr lang="en-US" altLang="ja-JP" sz="2400" dirty="0" smtClean="0"/>
              <a:t> = </a:t>
            </a:r>
            <a:r>
              <a:rPr lang="en-US" altLang="ja-JP" sz="2400" dirty="0" err="1" smtClean="0"/>
              <a:t>fopen</a:t>
            </a:r>
            <a:r>
              <a:rPr lang="en-US" altLang="ja-JP" sz="2400" dirty="0" smtClean="0"/>
              <a:t> ("test", "r");</a:t>
            </a:r>
          </a:p>
          <a:p>
            <a:r>
              <a:rPr lang="en-US" altLang="ja-JP" sz="2400" dirty="0" smtClean="0"/>
              <a:t>  if (</a:t>
            </a:r>
            <a:r>
              <a:rPr lang="en-US" altLang="ja-JP" sz="2400" dirty="0" err="1" smtClean="0"/>
              <a:t>fp</a:t>
            </a:r>
            <a:r>
              <a:rPr lang="en-US" altLang="ja-JP" sz="2400" dirty="0" smtClean="0"/>
              <a:t>==NULL) {</a:t>
            </a:r>
          </a:p>
          <a:p>
            <a:r>
              <a:rPr lang="en-US" altLang="ja-JP" sz="2400" dirty="0" smtClean="0"/>
              <a:t>    </a:t>
            </a:r>
            <a:r>
              <a:rPr lang="en-US" altLang="ja-JP" sz="2400" dirty="0" err="1" smtClean="0"/>
              <a:t>printf</a:t>
            </a:r>
            <a:r>
              <a:rPr lang="en-US" altLang="ja-JP" sz="2400" dirty="0" smtClean="0"/>
              <a:t> (“</a:t>
            </a:r>
            <a:r>
              <a:rPr lang="ja-JP" altLang="en-US" sz="2400" dirty="0" smtClean="0"/>
              <a:t>オープン失敗</a:t>
            </a:r>
            <a:r>
              <a:rPr lang="en-US" altLang="ja-JP" sz="2400" dirty="0" smtClean="0"/>
              <a:t>\n");</a:t>
            </a:r>
          </a:p>
          <a:p>
            <a:r>
              <a:rPr lang="en-US" altLang="ja-JP" sz="2400" dirty="0" smtClean="0"/>
              <a:t>    return 0;</a:t>
            </a: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ファイルをオープンしました</a:t>
            </a:r>
            <a:r>
              <a:rPr lang="en-US" altLang="ja-JP" sz="2400" dirty="0" smtClean="0"/>
              <a:t>\n");</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ファイルをクローズしました</a:t>
            </a:r>
            <a:r>
              <a:rPr lang="en-US" altLang="ja-JP" sz="2400" dirty="0" smtClean="0"/>
              <a:t>\n");</a:t>
            </a:r>
          </a:p>
          <a:p>
            <a:r>
              <a:rPr lang="en-US" altLang="ja-JP" sz="2400" dirty="0" smtClean="0"/>
              <a:t>  return 0;</a:t>
            </a:r>
          </a:p>
          <a:p>
            <a:r>
              <a:rPr lang="en-US" altLang="ja-JP" sz="2400" dirty="0" smtClean="0"/>
              <a:t>}</a:t>
            </a:r>
          </a:p>
        </p:txBody>
      </p:sp>
      <p:sp>
        <p:nvSpPr>
          <p:cNvPr id="5" name="テキスト ボックス 4"/>
          <p:cNvSpPr txBox="1"/>
          <p:nvPr/>
        </p:nvSpPr>
        <p:spPr>
          <a:xfrm>
            <a:off x="6072198" y="4643446"/>
            <a:ext cx="2428892" cy="1015663"/>
          </a:xfrm>
          <a:prstGeom prst="rect">
            <a:avLst/>
          </a:prstGeom>
          <a:noFill/>
        </p:spPr>
        <p:txBody>
          <a:bodyPr wrap="square" rtlCol="0">
            <a:spAutoFit/>
          </a:bodyPr>
          <a:lstStyle/>
          <a:p>
            <a:r>
              <a:rPr lang="en-US" altLang="ja-JP" sz="2000" dirty="0" smtClean="0"/>
              <a:t>t</a:t>
            </a:r>
            <a:r>
              <a:rPr kumimoji="1" lang="en-US" altLang="ja-JP" sz="2000" dirty="0" smtClean="0"/>
              <a:t>est</a:t>
            </a:r>
            <a:r>
              <a:rPr kumimoji="1" lang="ja-JP" altLang="en-US" sz="2000" dirty="0" smtClean="0"/>
              <a:t>という名前のファイルを自分で作って</a:t>
            </a:r>
            <a:r>
              <a:rPr lang="ja-JP" altLang="en-US" sz="2000" dirty="0" smtClean="0"/>
              <a:t>から実行してください。</a:t>
            </a:r>
            <a:endParaRPr kumimoji="1" lang="ja-JP" altLang="en-US" sz="2000" dirty="0"/>
          </a:p>
        </p:txBody>
      </p:sp>
      <p:sp>
        <p:nvSpPr>
          <p:cNvPr id="6" name="テキスト ボックス 5"/>
          <p:cNvSpPr txBox="1"/>
          <p:nvPr/>
        </p:nvSpPr>
        <p:spPr>
          <a:xfrm>
            <a:off x="5929322" y="1500174"/>
            <a:ext cx="2857520" cy="1015663"/>
          </a:xfrm>
          <a:prstGeom prst="rect">
            <a:avLst/>
          </a:prstGeom>
          <a:noFill/>
        </p:spPr>
        <p:txBody>
          <a:bodyPr wrap="square" rtlCol="0">
            <a:spAutoFit/>
          </a:bodyPr>
          <a:lstStyle/>
          <a:p>
            <a:r>
              <a:rPr lang="en-US" altLang="ja-JP" sz="2000" dirty="0" smtClean="0"/>
              <a:t>test</a:t>
            </a:r>
            <a:r>
              <a:rPr lang="ja-JP" altLang="en-US" sz="2000" dirty="0" smtClean="0"/>
              <a:t>という名前のファイルをオープンしてクローズするだけのプログラム。</a:t>
            </a:r>
            <a:endParaRPr lang="en-US" altLang="ja-JP" sz="2000" dirty="0" smtClean="0"/>
          </a:p>
        </p:txBody>
      </p:sp>
      <p:sp>
        <p:nvSpPr>
          <p:cNvPr id="7" name="正方形/長方形 6"/>
          <p:cNvSpPr/>
          <p:nvPr/>
        </p:nvSpPr>
        <p:spPr>
          <a:xfrm>
            <a:off x="6000760" y="2857496"/>
            <a:ext cx="2714644" cy="1323439"/>
          </a:xfrm>
          <a:prstGeom prst="rect">
            <a:avLst/>
          </a:prstGeom>
        </p:spPr>
        <p:txBody>
          <a:bodyPr wrap="square">
            <a:spAutoFit/>
          </a:bodyPr>
          <a:lstStyle/>
          <a:p>
            <a:pPr lvl="0"/>
            <a:r>
              <a:rPr lang="en-US" altLang="ja-JP" sz="2000" dirty="0" smtClean="0">
                <a:solidFill>
                  <a:prstClr val="black"/>
                </a:solidFill>
              </a:rPr>
              <a:t>test</a:t>
            </a:r>
            <a:r>
              <a:rPr lang="ja-JP" altLang="en-US" sz="2000" dirty="0" smtClean="0">
                <a:solidFill>
                  <a:prstClr val="black"/>
                </a:solidFill>
              </a:rPr>
              <a:t>という名前のファイルがない場合には「ファイルをオープンできません」と出力して終了。</a:t>
            </a:r>
            <a:endParaRPr lang="ja-JP" altLang="en-US" sz="2000" dirty="0">
              <a:solidFill>
                <a:prstClr val="black"/>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FILE</a:t>
            </a:r>
            <a:r>
              <a:rPr kumimoji="1" lang="ja-JP" altLang="en-US" dirty="0" smtClean="0"/>
              <a:t>型</a:t>
            </a:r>
            <a:endParaRPr kumimoji="1" lang="ja-JP" altLang="en-US" dirty="0"/>
          </a:p>
        </p:txBody>
      </p:sp>
      <p:sp>
        <p:nvSpPr>
          <p:cNvPr id="4" name="テキスト ボックス 3"/>
          <p:cNvSpPr txBox="1"/>
          <p:nvPr/>
        </p:nvSpPr>
        <p:spPr>
          <a:xfrm>
            <a:off x="714348" y="1428736"/>
            <a:ext cx="7643866" cy="2308324"/>
          </a:xfrm>
          <a:prstGeom prst="rect">
            <a:avLst/>
          </a:prstGeom>
          <a:noFill/>
        </p:spPr>
        <p:txBody>
          <a:bodyPr wrap="square" rtlCol="0">
            <a:spAutoFit/>
          </a:bodyPr>
          <a:lstStyle/>
          <a:p>
            <a:r>
              <a:rPr lang="ja-JP" altLang="en-US" sz="2400" dirty="0" smtClean="0"/>
              <a:t>ライブラリ関数</a:t>
            </a:r>
            <a:r>
              <a:rPr lang="en-US" altLang="ja-JP" sz="2400" dirty="0" err="1" smtClean="0"/>
              <a:t>f</a:t>
            </a:r>
            <a:r>
              <a:rPr kumimoji="1" lang="en-US" altLang="ja-JP" sz="2400" dirty="0" err="1" smtClean="0"/>
              <a:t>open</a:t>
            </a:r>
            <a:r>
              <a:rPr kumimoji="1" lang="en-US" altLang="ja-JP" sz="2400" dirty="0" smtClean="0"/>
              <a:t>, </a:t>
            </a:r>
            <a:r>
              <a:rPr kumimoji="1" lang="en-US" altLang="ja-JP" sz="2400" dirty="0" err="1" smtClean="0"/>
              <a:t>fprintf</a:t>
            </a:r>
            <a:r>
              <a:rPr kumimoji="1" lang="en-US" altLang="ja-JP" sz="2400" dirty="0" smtClean="0"/>
              <a:t>, </a:t>
            </a:r>
            <a:r>
              <a:rPr kumimoji="1" lang="en-US" altLang="ja-JP" sz="2400" dirty="0" err="1" smtClean="0"/>
              <a:t>fscanf</a:t>
            </a:r>
            <a:r>
              <a:rPr kumimoji="1" lang="en-US" altLang="ja-JP" sz="2400" dirty="0" smtClean="0"/>
              <a:t>, </a:t>
            </a:r>
            <a:r>
              <a:rPr kumimoji="1" lang="en-US" altLang="ja-JP" sz="2400" dirty="0" err="1" smtClean="0"/>
              <a:t>fclose</a:t>
            </a:r>
            <a:r>
              <a:rPr kumimoji="1" lang="ja-JP" altLang="en-US" sz="2400" dirty="0" smtClean="0"/>
              <a:t>においては、</a:t>
            </a:r>
            <a:r>
              <a:rPr kumimoji="1" lang="en-US" altLang="ja-JP" sz="2400" dirty="0" smtClean="0"/>
              <a:t>FILE</a:t>
            </a:r>
            <a:r>
              <a:rPr kumimoji="1" lang="ja-JP" altLang="en-US" sz="2400" dirty="0" smtClean="0"/>
              <a:t>型のオブジェクトを介してファイルへのアクセスを行う。</a:t>
            </a:r>
            <a:r>
              <a:rPr kumimoji="1" lang="en-US" altLang="ja-JP" sz="2400" dirty="0" smtClean="0"/>
              <a:t>FILE</a:t>
            </a:r>
            <a:r>
              <a:rPr kumimoji="1" lang="ja-JP" altLang="en-US" sz="2400" dirty="0" smtClean="0"/>
              <a:t>型のオブジェクトにファイルへのアクセスに必要な情報（現在ファイル中のどこを読んで（書いて）いるかなど）が格納されている。</a:t>
            </a:r>
            <a:r>
              <a:rPr kumimoji="1" lang="en-US" altLang="ja-JP" sz="2400" dirty="0" smtClean="0"/>
              <a:t>FILE</a:t>
            </a:r>
            <a:r>
              <a:rPr kumimoji="1" lang="ja-JP" altLang="en-US" sz="2400" dirty="0" smtClean="0"/>
              <a:t>型の具体的なデータ構造は処理系によって異なる。</a:t>
            </a:r>
            <a:endParaRPr kumimoji="1" lang="ja-JP"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fopen</a:t>
            </a:r>
            <a:endParaRPr kumimoji="1" lang="ja-JP" altLang="en-US" dirty="0"/>
          </a:p>
        </p:txBody>
      </p:sp>
      <p:sp>
        <p:nvSpPr>
          <p:cNvPr id="4" name="テキスト ボックス 3"/>
          <p:cNvSpPr txBox="1"/>
          <p:nvPr/>
        </p:nvSpPr>
        <p:spPr>
          <a:xfrm>
            <a:off x="857224" y="1500174"/>
            <a:ext cx="7518363" cy="3416320"/>
          </a:xfrm>
          <a:prstGeom prst="rect">
            <a:avLst/>
          </a:prstGeom>
          <a:noFill/>
        </p:spPr>
        <p:txBody>
          <a:bodyPr wrap="square" rtlCol="0">
            <a:spAutoFit/>
          </a:bodyPr>
          <a:lstStyle/>
          <a:p>
            <a:r>
              <a:rPr lang="en-US" altLang="ja-JP" sz="2400" dirty="0" err="1" smtClean="0"/>
              <a:t>f</a:t>
            </a:r>
            <a:r>
              <a:rPr kumimoji="1" lang="en-US" altLang="ja-JP" sz="2400" dirty="0" err="1" smtClean="0"/>
              <a:t>open</a:t>
            </a:r>
            <a:r>
              <a:rPr lang="ja-JP" altLang="en-US" sz="2400" dirty="0" smtClean="0"/>
              <a:t>は、ファイル名とモードを引数にとり、</a:t>
            </a:r>
            <a:r>
              <a:rPr lang="en-US" altLang="ja-JP" sz="2400" dirty="0" smtClean="0"/>
              <a:t>FILE</a:t>
            </a:r>
            <a:r>
              <a:rPr lang="ja-JP" altLang="en-US" sz="2400" dirty="0" smtClean="0"/>
              <a:t>型へのポインタを返り値として返す。オープンに失敗した場合は</a:t>
            </a:r>
            <a:r>
              <a:rPr lang="en-US" altLang="ja-JP" sz="2400" dirty="0" smtClean="0"/>
              <a:t>NULL</a:t>
            </a:r>
            <a:r>
              <a:rPr lang="ja-JP" altLang="en-US" sz="2400" dirty="0" smtClean="0"/>
              <a:t>ポインタを返す。</a:t>
            </a:r>
            <a:endParaRPr lang="en-US" altLang="ja-JP" sz="2400" dirty="0" smtClean="0"/>
          </a:p>
          <a:p>
            <a:endParaRPr lang="en-US" altLang="ja-JP" sz="2400" dirty="0" smtClean="0"/>
          </a:p>
          <a:p>
            <a:r>
              <a:rPr kumimoji="1" lang="en-US" altLang="ja-JP" sz="2400" dirty="0" smtClean="0"/>
              <a:t>[</a:t>
            </a:r>
            <a:r>
              <a:rPr kumimoji="1" lang="ja-JP" altLang="en-US" sz="2400" dirty="0" smtClean="0"/>
              <a:t>モード</a:t>
            </a:r>
            <a:r>
              <a:rPr kumimoji="1" lang="en-US" altLang="ja-JP" sz="2400" dirty="0" smtClean="0"/>
              <a:t>]</a:t>
            </a:r>
          </a:p>
          <a:p>
            <a:r>
              <a:rPr lang="en-US" altLang="ja-JP" sz="2400" dirty="0" smtClean="0"/>
              <a:t>   r --- </a:t>
            </a:r>
            <a:r>
              <a:rPr lang="ja-JP" altLang="en-US" sz="2400" dirty="0" smtClean="0"/>
              <a:t>読み取りモードでオープン</a:t>
            </a:r>
            <a:endParaRPr lang="en-US" altLang="ja-JP" sz="2400" dirty="0" smtClean="0"/>
          </a:p>
          <a:p>
            <a:r>
              <a:rPr kumimoji="1" lang="en-US" altLang="ja-JP" sz="2400" dirty="0" smtClean="0"/>
              <a:t>   w --- </a:t>
            </a:r>
            <a:r>
              <a:rPr kumimoji="1" lang="ja-JP" altLang="en-US" sz="2400" dirty="0" smtClean="0"/>
              <a:t>指定されたファイルがない場合は、書き込みモードでファイルを新たに生成してオープン。ある場合は、ファイルをオープンして、既存の内容を全部消す。</a:t>
            </a:r>
            <a:endParaRPr kumimoji="1" lang="en-US" altLang="ja-JP" sz="24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fclose</a:t>
            </a:r>
            <a:endParaRPr kumimoji="1" lang="ja-JP" altLang="en-US" dirty="0"/>
          </a:p>
        </p:txBody>
      </p:sp>
      <p:sp>
        <p:nvSpPr>
          <p:cNvPr id="4" name="テキスト ボックス 3"/>
          <p:cNvSpPr txBox="1"/>
          <p:nvPr/>
        </p:nvSpPr>
        <p:spPr>
          <a:xfrm>
            <a:off x="1000100" y="1526433"/>
            <a:ext cx="7000924" cy="830997"/>
          </a:xfrm>
          <a:prstGeom prst="rect">
            <a:avLst/>
          </a:prstGeom>
          <a:noFill/>
        </p:spPr>
        <p:txBody>
          <a:bodyPr wrap="square" rtlCol="0">
            <a:spAutoFit/>
          </a:bodyPr>
          <a:lstStyle/>
          <a:p>
            <a:r>
              <a:rPr lang="en-US" altLang="ja-JP" sz="2400" dirty="0" err="1" smtClean="0"/>
              <a:t>f</a:t>
            </a:r>
            <a:r>
              <a:rPr kumimoji="1" lang="en-US" altLang="ja-JP" sz="2400" dirty="0" err="1" smtClean="0"/>
              <a:t>open</a:t>
            </a:r>
            <a:r>
              <a:rPr lang="ja-JP" altLang="en-US" sz="2400" dirty="0" smtClean="0"/>
              <a:t>は、</a:t>
            </a:r>
            <a:r>
              <a:rPr lang="en-US" altLang="ja-JP" sz="2400" dirty="0" smtClean="0"/>
              <a:t>FILE</a:t>
            </a:r>
            <a:r>
              <a:rPr lang="ja-JP" altLang="en-US" sz="2400" dirty="0" smtClean="0"/>
              <a:t>型へのポインタを引数として受け取り、そのファイルを閉じる。</a:t>
            </a:r>
            <a:endParaRPr lang="en-US" altLang="ja-JP" sz="2400"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ライブラリ関数</a:t>
            </a:r>
            <a:r>
              <a:rPr lang="en-US" altLang="ja-JP" dirty="0" err="1" smtClean="0"/>
              <a:t>fprintf</a:t>
            </a:r>
            <a:endParaRPr kumimoji="1" lang="ja-JP" altLang="en-US" dirty="0"/>
          </a:p>
        </p:txBody>
      </p:sp>
      <p:sp>
        <p:nvSpPr>
          <p:cNvPr id="4" name="テキスト ボックス 3"/>
          <p:cNvSpPr txBox="1"/>
          <p:nvPr/>
        </p:nvSpPr>
        <p:spPr>
          <a:xfrm>
            <a:off x="1071538" y="1643050"/>
            <a:ext cx="7143800" cy="1938992"/>
          </a:xfrm>
          <a:prstGeom prst="rect">
            <a:avLst/>
          </a:prstGeom>
          <a:noFill/>
        </p:spPr>
        <p:txBody>
          <a:bodyPr wrap="square" rtlCol="0">
            <a:spAutoFit/>
          </a:bodyPr>
          <a:lstStyle/>
          <a:p>
            <a:r>
              <a:rPr lang="ja-JP" altLang="en-US" sz="2400" dirty="0" smtClean="0"/>
              <a:t>第１引数に</a:t>
            </a:r>
            <a:r>
              <a:rPr lang="en-US" altLang="ja-JP" sz="2400" dirty="0" smtClean="0"/>
              <a:t>FILE</a:t>
            </a:r>
            <a:r>
              <a:rPr lang="ja-JP" altLang="en-US" sz="2400" dirty="0" smtClean="0"/>
              <a:t>型へのポインタを受け取り、そこへ書き込む。第２引数以降は</a:t>
            </a:r>
            <a:r>
              <a:rPr lang="en-US" altLang="ja-JP" sz="2400" dirty="0" err="1" smtClean="0"/>
              <a:t>printf</a:t>
            </a:r>
            <a:r>
              <a:rPr lang="ja-JP" altLang="en-US" sz="2400" dirty="0" smtClean="0"/>
              <a:t>と同じ形式である。</a:t>
            </a:r>
            <a:endParaRPr lang="en-US" altLang="ja-JP" sz="2400" dirty="0" smtClean="0"/>
          </a:p>
          <a:p>
            <a:r>
              <a:rPr lang="en-US" altLang="ja-JP" sz="2400" dirty="0" err="1" smtClean="0"/>
              <a:t>printf</a:t>
            </a:r>
            <a:r>
              <a:rPr lang="ja-JP" altLang="en-US" sz="2400" dirty="0" smtClean="0"/>
              <a:t>関数は、</a:t>
            </a:r>
            <a:r>
              <a:rPr lang="en-US" altLang="ja-JP" sz="2400" dirty="0" err="1" smtClean="0"/>
              <a:t>fprintf</a:t>
            </a:r>
            <a:r>
              <a:rPr lang="ja-JP" altLang="en-US" sz="2400" dirty="0" smtClean="0"/>
              <a:t>関数の第一引数に</a:t>
            </a:r>
            <a:r>
              <a:rPr lang="en-US" altLang="ja-JP" sz="2400" dirty="0" err="1" smtClean="0"/>
              <a:t>stdout</a:t>
            </a:r>
            <a:r>
              <a:rPr lang="ja-JP" altLang="en-US" sz="2400" dirty="0" smtClean="0"/>
              <a:t>を指定した場合と同じ意味である。（</a:t>
            </a:r>
            <a:r>
              <a:rPr lang="en-US" altLang="ja-JP" sz="2400" dirty="0" err="1" smtClean="0"/>
              <a:t>stdout</a:t>
            </a:r>
            <a:r>
              <a:rPr lang="ja-JP" altLang="en-US" sz="2400" dirty="0" smtClean="0"/>
              <a:t>は標準出力を表す</a:t>
            </a:r>
            <a:r>
              <a:rPr lang="en-US" altLang="ja-JP" sz="2400" dirty="0" smtClean="0"/>
              <a:t>FILE</a:t>
            </a:r>
            <a:r>
              <a:rPr lang="ja-JP" altLang="en-US" sz="2400" dirty="0" smtClean="0"/>
              <a:t>型へのポインタ。）</a:t>
            </a:r>
            <a:endParaRPr lang="en-US" altLang="ja-JP" sz="2400" dirty="0" smtClean="0"/>
          </a:p>
        </p:txBody>
      </p:sp>
      <p:sp>
        <p:nvSpPr>
          <p:cNvPr id="5" name="テキスト ボックス 4"/>
          <p:cNvSpPr txBox="1"/>
          <p:nvPr/>
        </p:nvSpPr>
        <p:spPr>
          <a:xfrm>
            <a:off x="1214414" y="4572008"/>
            <a:ext cx="1994072" cy="461665"/>
          </a:xfrm>
          <a:prstGeom prst="rect">
            <a:avLst/>
          </a:prstGeom>
          <a:noFill/>
        </p:spPr>
        <p:txBody>
          <a:bodyPr wrap="none" rtlCol="0">
            <a:spAutoFit/>
          </a:bodyPr>
          <a:lstStyle/>
          <a:p>
            <a:r>
              <a:rPr kumimoji="1" lang="en-US" altLang="ja-JP" sz="2400" dirty="0" err="1" smtClean="0"/>
              <a:t>fscanf</a:t>
            </a:r>
            <a:r>
              <a:rPr kumimoji="1" lang="ja-JP" altLang="en-US" sz="2400" dirty="0" smtClean="0"/>
              <a:t>も同様。</a:t>
            </a:r>
            <a:endParaRPr kumimoji="1" lang="ja-JP" altLang="en-US" sz="2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例（打ち込んで確認）</a:t>
            </a:r>
            <a:endParaRPr kumimoji="1" lang="ja-JP" altLang="en-US" dirty="0"/>
          </a:p>
        </p:txBody>
      </p:sp>
      <p:sp>
        <p:nvSpPr>
          <p:cNvPr id="4" name="正方形/長方形 3"/>
          <p:cNvSpPr/>
          <p:nvPr/>
        </p:nvSpPr>
        <p:spPr>
          <a:xfrm>
            <a:off x="357158" y="1428736"/>
            <a:ext cx="5857916"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FILE *</a:t>
            </a:r>
            <a:r>
              <a:rPr lang="en-US" altLang="ja-JP" sz="2400" dirty="0" err="1" smtClean="0"/>
              <a:t>fp</a:t>
            </a:r>
            <a:r>
              <a:rPr lang="en-US" altLang="ja-JP" sz="2400" dirty="0" smtClean="0"/>
              <a:t>;</a:t>
            </a:r>
          </a:p>
          <a:p>
            <a:r>
              <a:rPr lang="en-US" altLang="ja-JP" sz="2400" dirty="0" smtClean="0"/>
              <a:t>  </a:t>
            </a:r>
            <a:r>
              <a:rPr lang="en-US" altLang="ja-JP" sz="2400" dirty="0" err="1" smtClean="0"/>
              <a:t>fp</a:t>
            </a:r>
            <a:r>
              <a:rPr lang="en-US" altLang="ja-JP" sz="2400" dirty="0" smtClean="0"/>
              <a:t> = </a:t>
            </a:r>
            <a:r>
              <a:rPr lang="en-US" altLang="ja-JP" sz="2400" dirty="0" err="1" smtClean="0"/>
              <a:t>fopen</a:t>
            </a:r>
            <a:r>
              <a:rPr lang="en-US" altLang="ja-JP" sz="2400" dirty="0" smtClean="0"/>
              <a:t> ("test", "w");</a:t>
            </a:r>
          </a:p>
          <a:p>
            <a:r>
              <a:rPr lang="en-US" altLang="ja-JP" sz="2400" dirty="0" smtClean="0"/>
              <a:t>  if (</a:t>
            </a:r>
            <a:r>
              <a:rPr lang="en-US" altLang="ja-JP" sz="2400" dirty="0" err="1" smtClean="0"/>
              <a:t>fp</a:t>
            </a:r>
            <a:r>
              <a:rPr lang="en-US" altLang="ja-JP" sz="2400" dirty="0" smtClean="0"/>
              <a:t>==NULL) {</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ファイルをオープンできません</a:t>
            </a:r>
            <a:r>
              <a:rPr lang="en-US" altLang="ja-JP" sz="2400" dirty="0" smtClean="0"/>
              <a:t>\n");</a:t>
            </a:r>
          </a:p>
          <a:p>
            <a:r>
              <a:rPr lang="en-US" altLang="ja-JP" sz="2400" dirty="0" smtClean="0"/>
              <a:t>    return 0;</a:t>
            </a:r>
          </a:p>
          <a:p>
            <a:r>
              <a:rPr lang="en-US" altLang="ja-JP" sz="2400" dirty="0" smtClean="0"/>
              <a:t>  }</a:t>
            </a:r>
          </a:p>
          <a:p>
            <a:r>
              <a:rPr lang="en-US" altLang="ja-JP" sz="2400" dirty="0" smtClean="0"/>
              <a:t>  </a:t>
            </a:r>
            <a:r>
              <a:rPr lang="en-US" altLang="ja-JP" sz="2400" dirty="0" err="1" smtClean="0"/>
              <a:t>fprintf</a:t>
            </a:r>
            <a:r>
              <a:rPr lang="en-US" altLang="ja-JP" sz="2400" dirty="0" smtClean="0"/>
              <a:t> (</a:t>
            </a:r>
            <a:r>
              <a:rPr lang="en-US" altLang="ja-JP" sz="2400" dirty="0" err="1" smtClean="0"/>
              <a:t>fp</a:t>
            </a:r>
            <a:r>
              <a:rPr lang="en-US" altLang="ja-JP" sz="2400" dirty="0" smtClean="0"/>
              <a:t>, "%d+%d=%d\n", 1, 1, 2);</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return 0;</a:t>
            </a:r>
          </a:p>
          <a:p>
            <a:r>
              <a:rPr lang="en-US" altLang="ja-JP" sz="2400" dirty="0" smtClean="0"/>
              <a:t>}</a:t>
            </a:r>
          </a:p>
        </p:txBody>
      </p:sp>
      <p:sp>
        <p:nvSpPr>
          <p:cNvPr id="5" name="テキスト ボックス 4"/>
          <p:cNvSpPr txBox="1"/>
          <p:nvPr/>
        </p:nvSpPr>
        <p:spPr>
          <a:xfrm flipH="1">
            <a:off x="6357950" y="1500174"/>
            <a:ext cx="2286016" cy="4708981"/>
          </a:xfrm>
          <a:prstGeom prst="rect">
            <a:avLst/>
          </a:prstGeom>
          <a:noFill/>
        </p:spPr>
        <p:txBody>
          <a:bodyPr wrap="square" rtlCol="0">
            <a:spAutoFit/>
          </a:bodyPr>
          <a:lstStyle/>
          <a:p>
            <a:r>
              <a:rPr lang="en-US" altLang="ja-JP" sz="2000" dirty="0" smtClean="0"/>
              <a:t>te</a:t>
            </a:r>
            <a:r>
              <a:rPr kumimoji="1" lang="en-US" altLang="ja-JP" sz="2000" dirty="0" smtClean="0"/>
              <a:t>st</a:t>
            </a:r>
            <a:r>
              <a:rPr kumimoji="1" lang="ja-JP" altLang="en-US" sz="2000" dirty="0" smtClean="0"/>
              <a:t>というファイル</a:t>
            </a:r>
            <a:r>
              <a:rPr lang="ja-JP" altLang="en-US" sz="2000" dirty="0" smtClean="0"/>
              <a:t>に</a:t>
            </a:r>
            <a:r>
              <a:rPr lang="en-US" altLang="ja-JP" sz="2000" dirty="0" smtClean="0"/>
              <a:t>1+1=2</a:t>
            </a:r>
            <a:r>
              <a:rPr lang="ja-JP" altLang="en-US" sz="2000" dirty="0" smtClean="0"/>
              <a:t>と書きこむプログラム。</a:t>
            </a:r>
            <a:endParaRPr lang="en-US" altLang="ja-JP" sz="2000" dirty="0" smtClean="0"/>
          </a:p>
          <a:p>
            <a:endParaRPr lang="en-US" altLang="ja-JP" sz="2000" dirty="0" smtClean="0"/>
          </a:p>
          <a:p>
            <a:r>
              <a:rPr lang="en-US" altLang="ja-JP" sz="2000" dirty="0" smtClean="0"/>
              <a:t>t</a:t>
            </a:r>
            <a:r>
              <a:rPr kumimoji="1" lang="en-US" altLang="ja-JP" sz="2000" dirty="0" smtClean="0"/>
              <a:t>est</a:t>
            </a:r>
            <a:r>
              <a:rPr kumimoji="1" lang="ja-JP" altLang="en-US" sz="2000" dirty="0" smtClean="0"/>
              <a:t>というファイルがあったら、その内容は消されてから</a:t>
            </a:r>
            <a:r>
              <a:rPr lang="en-US" altLang="ja-JP" sz="2000" dirty="0" smtClean="0"/>
              <a:t>1+1=2</a:t>
            </a:r>
            <a:r>
              <a:rPr kumimoji="1" lang="ja-JP" altLang="en-US" sz="2000" dirty="0" smtClean="0"/>
              <a:t>と書きこまれる。</a:t>
            </a:r>
            <a:endParaRPr kumimoji="1" lang="en-US" altLang="ja-JP" sz="2000" dirty="0" smtClean="0"/>
          </a:p>
          <a:p>
            <a:endParaRPr kumimoji="1" lang="en-US" altLang="ja-JP" sz="2000" dirty="0" smtClean="0"/>
          </a:p>
          <a:p>
            <a:r>
              <a:rPr lang="en-US" altLang="ja-JP" sz="2000" dirty="0" smtClean="0"/>
              <a:t>test</a:t>
            </a:r>
            <a:r>
              <a:rPr lang="ja-JP" altLang="en-US" sz="2000" dirty="0" smtClean="0"/>
              <a:t>というファイルがなければ、新たに作成されてから</a:t>
            </a:r>
            <a:r>
              <a:rPr lang="en-US" altLang="ja-JP" sz="2000" dirty="0" smtClean="0"/>
              <a:t>1+1=2</a:t>
            </a:r>
            <a:r>
              <a:rPr lang="ja-JP" altLang="en-US" sz="2000" dirty="0" smtClean="0"/>
              <a:t>と書きこまれる。</a:t>
            </a:r>
            <a:endParaRPr kumimoji="1" lang="en-US" altLang="ja-JP" sz="20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ライブラリ関数</a:t>
            </a:r>
            <a:r>
              <a:rPr lang="en-US" altLang="ja-JP" dirty="0" err="1" smtClean="0"/>
              <a:t>fscanf</a:t>
            </a:r>
            <a:endParaRPr kumimoji="1" lang="ja-JP" altLang="en-US" dirty="0"/>
          </a:p>
        </p:txBody>
      </p:sp>
      <p:sp>
        <p:nvSpPr>
          <p:cNvPr id="4" name="テキスト ボックス 3"/>
          <p:cNvSpPr txBox="1"/>
          <p:nvPr/>
        </p:nvSpPr>
        <p:spPr>
          <a:xfrm>
            <a:off x="928662" y="1571612"/>
            <a:ext cx="7143800" cy="4524315"/>
          </a:xfrm>
          <a:prstGeom prst="rect">
            <a:avLst/>
          </a:prstGeom>
          <a:noFill/>
        </p:spPr>
        <p:txBody>
          <a:bodyPr wrap="square" rtlCol="0">
            <a:spAutoFit/>
          </a:bodyPr>
          <a:lstStyle/>
          <a:p>
            <a:r>
              <a:rPr lang="ja-JP" altLang="en-US" sz="2400" dirty="0" smtClean="0"/>
              <a:t>第１引数に</a:t>
            </a:r>
            <a:r>
              <a:rPr lang="en-US" altLang="ja-JP" sz="2400" dirty="0" smtClean="0"/>
              <a:t>FILE</a:t>
            </a:r>
            <a:r>
              <a:rPr lang="ja-JP" altLang="en-US" sz="2400" dirty="0" smtClean="0"/>
              <a:t>型へのポインタを受け取り、そこから読み取る。第２引数以降は</a:t>
            </a:r>
            <a:r>
              <a:rPr lang="en-US" altLang="ja-JP" sz="2400" dirty="0" err="1" smtClean="0"/>
              <a:t>fscanf</a:t>
            </a:r>
            <a:r>
              <a:rPr lang="ja-JP" altLang="en-US" sz="2400" dirty="0" smtClean="0"/>
              <a:t>と同じ形式である。</a:t>
            </a:r>
            <a:endParaRPr lang="en-US" altLang="ja-JP" sz="2400" dirty="0" smtClean="0"/>
          </a:p>
          <a:p>
            <a:r>
              <a:rPr lang="en-US" altLang="ja-JP" sz="2400" dirty="0" err="1" smtClean="0"/>
              <a:t>scanf</a:t>
            </a:r>
            <a:r>
              <a:rPr lang="ja-JP" altLang="en-US" sz="2400" dirty="0" smtClean="0"/>
              <a:t>関数は、</a:t>
            </a:r>
            <a:r>
              <a:rPr lang="en-US" altLang="ja-JP" sz="2400" dirty="0" err="1" smtClean="0"/>
              <a:t>fscanf</a:t>
            </a:r>
            <a:r>
              <a:rPr lang="ja-JP" altLang="en-US" sz="2400" dirty="0" smtClean="0"/>
              <a:t>関数の第一引数に</a:t>
            </a:r>
            <a:r>
              <a:rPr lang="en-US" altLang="ja-JP" sz="2400" dirty="0" err="1" smtClean="0"/>
              <a:t>stdin</a:t>
            </a:r>
            <a:r>
              <a:rPr lang="ja-JP" altLang="en-US" sz="2400" dirty="0" smtClean="0"/>
              <a:t>を指定した場合と同じ意味である。（</a:t>
            </a:r>
            <a:r>
              <a:rPr lang="en-US" altLang="ja-JP" sz="2400" dirty="0" err="1" smtClean="0"/>
              <a:t>stdin</a:t>
            </a:r>
            <a:r>
              <a:rPr lang="ja-JP" altLang="en-US" sz="2400" dirty="0" smtClean="0"/>
              <a:t>は標準入力を表す</a:t>
            </a:r>
            <a:r>
              <a:rPr lang="en-US" altLang="ja-JP" sz="2400" dirty="0" smtClean="0"/>
              <a:t>FILE</a:t>
            </a:r>
            <a:r>
              <a:rPr lang="ja-JP" altLang="en-US" sz="2400" dirty="0" smtClean="0"/>
              <a:t>型へのポインタ。）</a:t>
            </a:r>
            <a:endParaRPr lang="en-US" altLang="ja-JP" sz="2400" dirty="0" smtClean="0"/>
          </a:p>
          <a:p>
            <a:endParaRPr lang="en-US" altLang="ja-JP" sz="2400" dirty="0" smtClean="0"/>
          </a:p>
          <a:p>
            <a:r>
              <a:rPr lang="en-US" altLang="ja-JP" sz="2400" dirty="0" err="1" smtClean="0"/>
              <a:t>fscanf</a:t>
            </a:r>
            <a:r>
              <a:rPr lang="ja-JP" altLang="en-US" sz="2400" dirty="0" smtClean="0"/>
              <a:t>は、第２引数によって指定されるフォーマットに従ってファイルから入力を読み取って変換し、第３引数以降に受け取ったポインタの指す先に（変換指定での照合が成功したら）代入する。変換指定と合わなかった部分は読み飛ばされ、</a:t>
            </a:r>
            <a:r>
              <a:rPr lang="en-US" altLang="ja-JP" sz="2400" dirty="0" err="1" smtClean="0"/>
              <a:t>fscanf</a:t>
            </a:r>
            <a:r>
              <a:rPr lang="ja-JP" altLang="en-US" sz="2400" dirty="0" smtClean="0"/>
              <a:t>関数の呼び出し元へ戻る。行われた代入の個数が返り値として返される。</a:t>
            </a:r>
            <a:endParaRPr lang="en-US" altLang="ja-JP" sz="24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kumimoji="1" lang="ja-JP" altLang="en-US" dirty="0" smtClean="0"/>
              <a:t>例（打ち込んで確認）</a:t>
            </a:r>
            <a:endParaRPr kumimoji="1" lang="ja-JP" altLang="en-US" dirty="0"/>
          </a:p>
        </p:txBody>
      </p:sp>
      <p:sp>
        <p:nvSpPr>
          <p:cNvPr id="4" name="正方形/長方形 3"/>
          <p:cNvSpPr/>
          <p:nvPr/>
        </p:nvSpPr>
        <p:spPr>
          <a:xfrm>
            <a:off x="142844" y="1214422"/>
            <a:ext cx="3429024" cy="3785652"/>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FILE * </a:t>
            </a:r>
            <a:r>
              <a:rPr lang="en-US" altLang="ja-JP" sz="2000" dirty="0" err="1" smtClean="0"/>
              <a:t>fp</a:t>
            </a:r>
            <a:r>
              <a:rPr lang="en-US" altLang="ja-JP" sz="2000" dirty="0" smtClean="0"/>
              <a:t>;</a:t>
            </a:r>
          </a:p>
          <a:p>
            <a:r>
              <a:rPr lang="en-US" altLang="ja-JP" sz="2000" dirty="0" smtClean="0"/>
              <a:t>  </a:t>
            </a:r>
            <a:r>
              <a:rPr lang="en-US" altLang="ja-JP" sz="2000" dirty="0" err="1" smtClean="0"/>
              <a:t>int</a:t>
            </a:r>
            <a:r>
              <a:rPr lang="en-US" altLang="ja-JP" sz="2000" dirty="0" smtClean="0"/>
              <a:t> num=0;</a:t>
            </a:r>
          </a:p>
          <a:p>
            <a:r>
              <a:rPr lang="en-US" altLang="ja-JP" sz="2000" dirty="0" smtClean="0"/>
              <a:t>  char name [100];</a:t>
            </a:r>
          </a:p>
          <a:p>
            <a:r>
              <a:rPr lang="en-US" altLang="ja-JP" sz="2000" dirty="0" smtClean="0"/>
              <a:t>  double height, weight;</a:t>
            </a:r>
          </a:p>
          <a:p>
            <a:r>
              <a:rPr lang="en-US" altLang="ja-JP" sz="2000" dirty="0" smtClean="0"/>
              <a:t>  double </a:t>
            </a:r>
            <a:r>
              <a:rPr lang="en-US" altLang="ja-JP" sz="2000" dirty="0" err="1" smtClean="0"/>
              <a:t>hsum</a:t>
            </a:r>
            <a:r>
              <a:rPr lang="en-US" altLang="ja-JP" sz="2000" dirty="0" smtClean="0"/>
              <a:t>=0.0, </a:t>
            </a:r>
            <a:r>
              <a:rPr lang="en-US" altLang="ja-JP" sz="2000" dirty="0" err="1" smtClean="0"/>
              <a:t>wsum</a:t>
            </a:r>
            <a:r>
              <a:rPr lang="en-US" altLang="ja-JP" sz="2000" dirty="0" smtClean="0"/>
              <a:t>=0.0;</a:t>
            </a:r>
          </a:p>
          <a:p>
            <a:r>
              <a:rPr lang="en-US" altLang="ja-JP" sz="2000" dirty="0" smtClean="0"/>
              <a:t>  </a:t>
            </a:r>
            <a:r>
              <a:rPr lang="en-US" altLang="ja-JP" sz="2000" dirty="0" err="1" smtClean="0"/>
              <a:t>fp</a:t>
            </a:r>
            <a:r>
              <a:rPr lang="en-US" altLang="ja-JP" sz="2000" dirty="0" smtClean="0"/>
              <a:t> = </a:t>
            </a:r>
            <a:r>
              <a:rPr lang="en-US" altLang="ja-JP" sz="2000" dirty="0" err="1" smtClean="0"/>
              <a:t>fopen</a:t>
            </a:r>
            <a:r>
              <a:rPr lang="en-US" altLang="ja-JP" sz="2000" dirty="0" smtClean="0"/>
              <a:t> ("data", "r");</a:t>
            </a:r>
          </a:p>
          <a:p>
            <a:r>
              <a:rPr lang="en-US" altLang="ja-JP" sz="2000" dirty="0" smtClean="0"/>
              <a:t>  if (</a:t>
            </a:r>
            <a:r>
              <a:rPr lang="en-US" altLang="ja-JP" sz="2000" dirty="0" err="1" smtClean="0"/>
              <a:t>fp</a:t>
            </a:r>
            <a:r>
              <a:rPr lang="en-US" altLang="ja-JP" sz="2000" dirty="0" smtClean="0"/>
              <a:t>==NULL) {</a:t>
            </a:r>
          </a:p>
          <a:p>
            <a:r>
              <a:rPr lang="en-US" altLang="ja-JP" sz="2000" dirty="0" smtClean="0"/>
              <a:t>    </a:t>
            </a:r>
            <a:r>
              <a:rPr lang="en-US" altLang="ja-JP" sz="2000" dirty="0" err="1" smtClean="0"/>
              <a:t>printf</a:t>
            </a:r>
            <a:r>
              <a:rPr lang="en-US" altLang="ja-JP" sz="2000" dirty="0" smtClean="0"/>
              <a:t> ("</a:t>
            </a:r>
            <a:r>
              <a:rPr lang="ja-JP" altLang="en-US" sz="2000" dirty="0" smtClean="0"/>
              <a:t>オープン失敗</a:t>
            </a:r>
            <a:r>
              <a:rPr lang="en-US" altLang="ja-JP" sz="2000" dirty="0" smtClean="0"/>
              <a:t>\n");</a:t>
            </a:r>
          </a:p>
          <a:p>
            <a:r>
              <a:rPr lang="en-US" altLang="ja-JP" sz="2000" dirty="0" smtClean="0"/>
              <a:t>    return 0;</a:t>
            </a:r>
          </a:p>
          <a:p>
            <a:r>
              <a:rPr lang="en-US" altLang="ja-JP" sz="2000" dirty="0" smtClean="0"/>
              <a:t>  }</a:t>
            </a:r>
          </a:p>
        </p:txBody>
      </p:sp>
      <p:sp>
        <p:nvSpPr>
          <p:cNvPr id="5" name="正方形/長方形 4"/>
          <p:cNvSpPr/>
          <p:nvPr/>
        </p:nvSpPr>
        <p:spPr>
          <a:xfrm>
            <a:off x="3714744" y="1214422"/>
            <a:ext cx="5214974" cy="3785652"/>
          </a:xfrm>
          <a:prstGeom prst="rect">
            <a:avLst/>
          </a:prstGeom>
          <a:ln>
            <a:solidFill>
              <a:schemeClr val="tx1"/>
            </a:solidFill>
          </a:ln>
        </p:spPr>
        <p:txBody>
          <a:bodyPr wrap="square">
            <a:spAutoFit/>
          </a:bodyPr>
          <a:lstStyle/>
          <a:p>
            <a:r>
              <a:rPr lang="en-US" altLang="ja-JP" sz="2000" dirty="0" smtClean="0"/>
              <a:t>/* </a:t>
            </a:r>
            <a:r>
              <a:rPr lang="ja-JP" altLang="en-US" sz="2000" dirty="0" smtClean="0"/>
              <a:t>続き</a:t>
            </a:r>
            <a:r>
              <a:rPr lang="en-US" altLang="ja-JP" sz="2000" dirty="0" smtClean="0"/>
              <a:t>*/</a:t>
            </a:r>
          </a:p>
          <a:p>
            <a:r>
              <a:rPr lang="en-US" altLang="ja-JP" sz="2000" dirty="0" smtClean="0"/>
              <a:t> while (</a:t>
            </a:r>
            <a:r>
              <a:rPr lang="en-US" altLang="ja-JP" sz="2000" dirty="0" err="1" smtClean="0"/>
              <a:t>fscanf</a:t>
            </a:r>
            <a:r>
              <a:rPr lang="en-US" altLang="ja-JP" sz="2000" dirty="0" smtClean="0"/>
              <a:t> (</a:t>
            </a:r>
            <a:r>
              <a:rPr lang="en-US" altLang="ja-JP" sz="2000" dirty="0" err="1" smtClean="0"/>
              <a:t>fp</a:t>
            </a:r>
            <a:r>
              <a:rPr lang="en-US" altLang="ja-JP" sz="2000" dirty="0" smtClean="0"/>
              <a:t>, "%</a:t>
            </a:r>
            <a:r>
              <a:rPr lang="en-US" altLang="ja-JP" sz="2000" dirty="0" err="1" smtClean="0"/>
              <a:t>s%lf%lf</a:t>
            </a:r>
            <a:r>
              <a:rPr lang="en-US" altLang="ja-JP" sz="2000" dirty="0" smtClean="0"/>
              <a:t>", name,</a:t>
            </a:r>
          </a:p>
          <a:p>
            <a:r>
              <a:rPr lang="en-US" altLang="ja-JP" sz="2000" dirty="0" smtClean="0"/>
              <a:t>                 &amp;height, &amp;weight) == 3) {</a:t>
            </a:r>
          </a:p>
          <a:p>
            <a:r>
              <a:rPr lang="en-US" altLang="ja-JP" sz="2000" dirty="0" smtClean="0"/>
              <a:t>    num++;</a:t>
            </a:r>
          </a:p>
          <a:p>
            <a:r>
              <a:rPr lang="en-US" altLang="ja-JP" sz="2000" dirty="0" smtClean="0"/>
              <a:t>    </a:t>
            </a:r>
            <a:r>
              <a:rPr lang="en-US" altLang="ja-JP" sz="2000" dirty="0" err="1" smtClean="0"/>
              <a:t>hsum</a:t>
            </a:r>
            <a:r>
              <a:rPr lang="en-US" altLang="ja-JP" sz="2000" dirty="0" smtClean="0"/>
              <a:t> = </a:t>
            </a:r>
            <a:r>
              <a:rPr lang="en-US" altLang="ja-JP" sz="2000" dirty="0" err="1" smtClean="0"/>
              <a:t>hsum</a:t>
            </a:r>
            <a:r>
              <a:rPr lang="en-US" altLang="ja-JP" sz="2000" dirty="0" smtClean="0"/>
              <a:t> + height;</a:t>
            </a:r>
          </a:p>
          <a:p>
            <a:r>
              <a:rPr lang="en-US" altLang="ja-JP" sz="2000" dirty="0" smtClean="0"/>
              <a:t>    </a:t>
            </a:r>
            <a:r>
              <a:rPr lang="en-US" altLang="ja-JP" sz="2000" dirty="0" err="1" smtClean="0"/>
              <a:t>wsum</a:t>
            </a:r>
            <a:r>
              <a:rPr lang="en-US" altLang="ja-JP" sz="2000" dirty="0" smtClean="0"/>
              <a:t> = </a:t>
            </a:r>
            <a:r>
              <a:rPr lang="en-US" altLang="ja-JP" sz="2000" dirty="0" err="1" smtClean="0"/>
              <a:t>wsum</a:t>
            </a:r>
            <a:r>
              <a:rPr lang="en-US" altLang="ja-JP" sz="2000" dirty="0" smtClean="0"/>
              <a:t> + weight;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平均身長</a:t>
            </a:r>
            <a:r>
              <a:rPr lang="en-US" altLang="ja-JP" sz="2000" dirty="0" smtClean="0"/>
              <a:t>: %5.1fcm\n", </a:t>
            </a:r>
            <a:r>
              <a:rPr lang="en-US" altLang="ja-JP" sz="2000" dirty="0" err="1" smtClean="0"/>
              <a:t>hsum</a:t>
            </a:r>
            <a:r>
              <a:rPr lang="en-US" altLang="ja-JP" sz="2000" dirty="0" smtClean="0"/>
              <a:t> / num);</a:t>
            </a:r>
          </a:p>
          <a:p>
            <a:r>
              <a:rPr lang="en-US" altLang="ja-JP" sz="2000" dirty="0" smtClean="0"/>
              <a:t>  </a:t>
            </a:r>
            <a:r>
              <a:rPr lang="en-US" altLang="ja-JP" sz="2000" dirty="0" err="1" smtClean="0"/>
              <a:t>printf</a:t>
            </a:r>
            <a:r>
              <a:rPr lang="en-US" altLang="ja-JP" sz="2000" dirty="0" smtClean="0"/>
              <a:t> ("</a:t>
            </a:r>
            <a:r>
              <a:rPr lang="ja-JP" altLang="en-US" sz="2000" dirty="0" smtClean="0"/>
              <a:t>平均体重</a:t>
            </a:r>
            <a:r>
              <a:rPr lang="en-US" altLang="ja-JP" sz="2000" dirty="0" smtClean="0"/>
              <a:t>: %5.1fkg\n", </a:t>
            </a:r>
            <a:r>
              <a:rPr lang="en-US" altLang="ja-JP" sz="2000" dirty="0" err="1" smtClean="0"/>
              <a:t>wsum</a:t>
            </a:r>
            <a:r>
              <a:rPr lang="en-US" altLang="ja-JP" sz="2000" dirty="0" smtClean="0"/>
              <a:t> / num);</a:t>
            </a:r>
          </a:p>
          <a:p>
            <a:r>
              <a:rPr lang="en-US" altLang="ja-JP" sz="2000" dirty="0" smtClean="0"/>
              <a:t>  </a:t>
            </a:r>
            <a:r>
              <a:rPr lang="en-US" altLang="ja-JP" sz="2000" dirty="0" err="1" smtClean="0"/>
              <a:t>fclose</a:t>
            </a:r>
            <a:r>
              <a:rPr lang="en-US" altLang="ja-JP" sz="2000" dirty="0" smtClean="0"/>
              <a:t> (</a:t>
            </a:r>
            <a:r>
              <a:rPr lang="en-US" altLang="ja-JP" sz="2000" dirty="0" err="1" smtClean="0"/>
              <a:t>fp</a:t>
            </a:r>
            <a:r>
              <a:rPr lang="en-US" altLang="ja-JP" sz="2000" dirty="0" smtClean="0"/>
              <a:t>);</a:t>
            </a:r>
          </a:p>
          <a:p>
            <a:r>
              <a:rPr lang="en-US" altLang="ja-JP" sz="2000" dirty="0" smtClean="0"/>
              <a:t>  return 0;</a:t>
            </a:r>
          </a:p>
          <a:p>
            <a:r>
              <a:rPr lang="en-US" altLang="ja-JP" sz="2000" dirty="0" smtClean="0"/>
              <a:t>}</a:t>
            </a:r>
            <a:endParaRPr lang="ja-JP" altLang="en-US" sz="2000" dirty="0"/>
          </a:p>
        </p:txBody>
      </p:sp>
      <p:sp>
        <p:nvSpPr>
          <p:cNvPr id="6" name="正方形/長方形 5"/>
          <p:cNvSpPr/>
          <p:nvPr/>
        </p:nvSpPr>
        <p:spPr>
          <a:xfrm>
            <a:off x="285720" y="5143512"/>
            <a:ext cx="3214710" cy="1569660"/>
          </a:xfrm>
          <a:prstGeom prst="rect">
            <a:avLst/>
          </a:prstGeom>
          <a:ln>
            <a:solidFill>
              <a:schemeClr val="tx1"/>
            </a:solidFill>
          </a:ln>
        </p:spPr>
        <p:txBody>
          <a:bodyPr wrap="square">
            <a:spAutoFit/>
          </a:bodyPr>
          <a:lstStyle/>
          <a:p>
            <a:r>
              <a:rPr lang="en-US" altLang="ja-JP" sz="2400" dirty="0" smtClean="0">
                <a:latin typeface="ＭＳ ゴシック" pitchFamily="49" charset="-128"/>
                <a:ea typeface="ＭＳ ゴシック" pitchFamily="49" charset="-128"/>
              </a:rPr>
              <a:t>Taro   160.0 59.3</a:t>
            </a:r>
          </a:p>
          <a:p>
            <a:r>
              <a:rPr lang="en-US" altLang="ja-JP" sz="2400" dirty="0" err="1" smtClean="0">
                <a:latin typeface="ＭＳ ゴシック" pitchFamily="49" charset="-128"/>
                <a:ea typeface="ＭＳ ゴシック" pitchFamily="49" charset="-128"/>
              </a:rPr>
              <a:t>Jiro</a:t>
            </a:r>
            <a:r>
              <a:rPr lang="en-US" altLang="ja-JP" sz="2400" dirty="0" smtClean="0">
                <a:latin typeface="ＭＳ ゴシック" pitchFamily="49" charset="-128"/>
                <a:ea typeface="ＭＳ ゴシック" pitchFamily="49" charset="-128"/>
              </a:rPr>
              <a:t>   162.0 51.6</a:t>
            </a:r>
          </a:p>
          <a:p>
            <a:r>
              <a:rPr lang="en-US" altLang="ja-JP" sz="2400" dirty="0" err="1" smtClean="0">
                <a:latin typeface="ＭＳ ゴシック" pitchFamily="49" charset="-128"/>
                <a:ea typeface="ＭＳ ゴシック" pitchFamily="49" charset="-128"/>
              </a:rPr>
              <a:t>Saburo</a:t>
            </a:r>
            <a:r>
              <a:rPr lang="en-US" altLang="ja-JP" sz="2400" dirty="0" smtClean="0">
                <a:latin typeface="ＭＳ ゴシック" pitchFamily="49" charset="-128"/>
                <a:ea typeface="ＭＳ ゴシック" pitchFamily="49" charset="-128"/>
              </a:rPr>
              <a:t> 182.0 76.5</a:t>
            </a:r>
          </a:p>
          <a:p>
            <a:r>
              <a:rPr lang="en-US" altLang="ja-JP" sz="2400" dirty="0" err="1" smtClean="0">
                <a:latin typeface="ＭＳ ゴシック" pitchFamily="49" charset="-128"/>
                <a:ea typeface="ＭＳ ゴシック" pitchFamily="49" charset="-128"/>
              </a:rPr>
              <a:t>Shiro</a:t>
            </a:r>
            <a:r>
              <a:rPr lang="en-US" altLang="ja-JP" sz="2400" dirty="0" smtClean="0">
                <a:latin typeface="ＭＳ ゴシック" pitchFamily="49" charset="-128"/>
                <a:ea typeface="ＭＳ ゴシック" pitchFamily="49" charset="-128"/>
              </a:rPr>
              <a:t>  170.0 60.7</a:t>
            </a:r>
          </a:p>
        </p:txBody>
      </p:sp>
      <p:sp>
        <p:nvSpPr>
          <p:cNvPr id="7" name="テキスト ボックス 6"/>
          <p:cNvSpPr txBox="1"/>
          <p:nvPr/>
        </p:nvSpPr>
        <p:spPr>
          <a:xfrm>
            <a:off x="3786182" y="5143512"/>
            <a:ext cx="4786346" cy="1569660"/>
          </a:xfrm>
          <a:prstGeom prst="rect">
            <a:avLst/>
          </a:prstGeom>
          <a:noFill/>
        </p:spPr>
        <p:txBody>
          <a:bodyPr wrap="square" rtlCol="0">
            <a:spAutoFit/>
          </a:bodyPr>
          <a:lstStyle/>
          <a:p>
            <a:r>
              <a:rPr lang="ja-JP" altLang="en-US" sz="2400" dirty="0" smtClean="0"/>
              <a:t>左のような内容のファイルを</a:t>
            </a:r>
            <a:r>
              <a:rPr lang="en-US" altLang="ja-JP" sz="2400" dirty="0" smtClean="0"/>
              <a:t>data</a:t>
            </a:r>
            <a:r>
              <a:rPr lang="ja-JP" altLang="en-US" sz="2400" dirty="0" smtClean="0"/>
              <a:t>という名前で作成し、上記プログラムを実行すると、平均身長、平均体重が表示される。</a:t>
            </a:r>
            <a:endParaRPr lang="en-US" altLang="ja-JP" sz="24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今日の課題１</a:t>
            </a:r>
            <a:endParaRPr kumimoji="1" lang="ja-JP" altLang="en-US" dirty="0"/>
          </a:p>
        </p:txBody>
      </p:sp>
      <p:sp>
        <p:nvSpPr>
          <p:cNvPr id="3" name="テキスト ボックス 2"/>
          <p:cNvSpPr txBox="1"/>
          <p:nvPr/>
        </p:nvSpPr>
        <p:spPr>
          <a:xfrm>
            <a:off x="857224" y="1643050"/>
            <a:ext cx="7143800" cy="1569660"/>
          </a:xfrm>
          <a:prstGeom prst="rect">
            <a:avLst/>
          </a:prstGeom>
          <a:noFill/>
        </p:spPr>
        <p:txBody>
          <a:bodyPr wrap="square" rtlCol="0">
            <a:spAutoFit/>
          </a:bodyPr>
          <a:lstStyle/>
          <a:p>
            <a:r>
              <a:rPr kumimoji="1" lang="ja-JP" altLang="en-US" sz="2400" dirty="0" smtClean="0"/>
              <a:t>さきほどのプログラムは、身長、体重データをファイルから読み取って平均値を表示するプログラムであった。</a:t>
            </a:r>
            <a:endParaRPr kumimoji="1" lang="en-US" altLang="ja-JP" sz="2400" dirty="0" smtClean="0"/>
          </a:p>
          <a:p>
            <a:r>
              <a:rPr kumimoji="1" lang="ja-JP" altLang="en-US" sz="2400" dirty="0" smtClean="0"/>
              <a:t>同じ形式のファイルからデータを読み取り、身長、体重の最大値を表示するプログラムを作成せよ。</a:t>
            </a:r>
            <a:endParaRPr kumimoji="1" lang="ja-JP" alt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今日の課題２</a:t>
            </a:r>
            <a:endParaRPr kumimoji="1" lang="ja-JP" altLang="en-US" dirty="0"/>
          </a:p>
        </p:txBody>
      </p:sp>
      <p:sp>
        <p:nvSpPr>
          <p:cNvPr id="3" name="テキスト ボックス 2"/>
          <p:cNvSpPr txBox="1"/>
          <p:nvPr/>
        </p:nvSpPr>
        <p:spPr>
          <a:xfrm>
            <a:off x="1000100" y="1357298"/>
            <a:ext cx="7072362" cy="1569660"/>
          </a:xfrm>
          <a:prstGeom prst="rect">
            <a:avLst/>
          </a:prstGeom>
          <a:noFill/>
        </p:spPr>
        <p:txBody>
          <a:bodyPr wrap="square" rtlCol="0">
            <a:spAutoFit/>
          </a:bodyPr>
          <a:lstStyle/>
          <a:p>
            <a:r>
              <a:rPr kumimoji="1" lang="ja-JP" altLang="en-US" sz="2400" dirty="0" smtClean="0"/>
              <a:t>掛け算の九九の表をファイルに書き込むプログラムを作成せよ</a:t>
            </a:r>
            <a:r>
              <a:rPr lang="ja-JP" altLang="en-US" sz="2400" dirty="0" smtClean="0"/>
              <a:t>。ファイル名は自由とする。形式は以下のようにせよ</a:t>
            </a:r>
            <a:r>
              <a:rPr lang="ja-JP" altLang="en-US" sz="2400" dirty="0" smtClean="0"/>
              <a:t>。</a:t>
            </a:r>
            <a:endParaRPr lang="en-US" altLang="ja-JP" sz="2400" dirty="0" smtClean="0"/>
          </a:p>
          <a:p>
            <a:r>
              <a:rPr lang="ja-JP" altLang="en-US" sz="2400" dirty="0" smtClean="0"/>
              <a:t>（ヒント）２重ループで書くと簡単です。</a:t>
            </a:r>
            <a:endParaRPr lang="en-US" altLang="ja-JP" sz="2400" dirty="0" smtClean="0"/>
          </a:p>
        </p:txBody>
      </p:sp>
      <p:sp>
        <p:nvSpPr>
          <p:cNvPr id="4" name="正方形/長方形 3"/>
          <p:cNvSpPr/>
          <p:nvPr/>
        </p:nvSpPr>
        <p:spPr>
          <a:xfrm>
            <a:off x="1714480" y="3084514"/>
            <a:ext cx="4286280" cy="3416320"/>
          </a:xfrm>
          <a:prstGeom prst="rect">
            <a:avLst/>
          </a:prstGeom>
          <a:ln>
            <a:solidFill>
              <a:schemeClr val="tx1"/>
            </a:solidFill>
          </a:ln>
        </p:spPr>
        <p:txBody>
          <a:bodyPr wrap="square">
            <a:spAutoFit/>
          </a:bodyPr>
          <a:lstStyle/>
          <a:p>
            <a:r>
              <a:rPr lang="ja-JP" altLang="en-US" sz="2400" dirty="0" smtClean="0">
                <a:latin typeface="ＭＳ ゴシック" pitchFamily="49" charset="-128"/>
                <a:ea typeface="ＭＳ ゴシック" pitchFamily="49" charset="-128"/>
              </a:rPr>
              <a:t> </a:t>
            </a:r>
            <a:r>
              <a:rPr lang="en-US" altLang="ja-JP" sz="2400" dirty="0" smtClean="0">
                <a:latin typeface="ＭＳ ゴシック" pitchFamily="49" charset="-128"/>
                <a:ea typeface="ＭＳ ゴシック" pitchFamily="49" charset="-128"/>
              </a:rPr>
              <a:t>1  2  3  4  5  6  7  8  9</a:t>
            </a:r>
          </a:p>
          <a:p>
            <a:r>
              <a:rPr lang="en-US" altLang="ja-JP" sz="2400" dirty="0" smtClean="0">
                <a:latin typeface="ＭＳ ゴシック" pitchFamily="49" charset="-128"/>
                <a:ea typeface="ＭＳ ゴシック" pitchFamily="49" charset="-128"/>
              </a:rPr>
              <a:t> 2  4  6  8 10 12 14 16 18</a:t>
            </a:r>
          </a:p>
          <a:p>
            <a:r>
              <a:rPr lang="en-US" altLang="ja-JP" sz="2400" dirty="0" smtClean="0">
                <a:latin typeface="ＭＳ ゴシック" pitchFamily="49" charset="-128"/>
                <a:ea typeface="ＭＳ ゴシック" pitchFamily="49" charset="-128"/>
              </a:rPr>
              <a:t> 3  6  9 12 15 18 21 24 27</a:t>
            </a:r>
          </a:p>
          <a:p>
            <a:r>
              <a:rPr lang="en-US" altLang="ja-JP" sz="2400" dirty="0" smtClean="0">
                <a:latin typeface="ＭＳ ゴシック" pitchFamily="49" charset="-128"/>
                <a:ea typeface="ＭＳ ゴシック" pitchFamily="49" charset="-128"/>
              </a:rPr>
              <a:t> 4  8 12 16 20 24 28 32 36</a:t>
            </a:r>
          </a:p>
          <a:p>
            <a:r>
              <a:rPr lang="en-US" altLang="ja-JP" sz="2400" dirty="0" smtClean="0">
                <a:latin typeface="ＭＳ ゴシック" pitchFamily="49" charset="-128"/>
                <a:ea typeface="ＭＳ ゴシック" pitchFamily="49" charset="-128"/>
              </a:rPr>
              <a:t> 5 10 15 20 25 30 35 40 45</a:t>
            </a:r>
          </a:p>
          <a:p>
            <a:r>
              <a:rPr lang="en-US" altLang="ja-JP" sz="2400" dirty="0" smtClean="0">
                <a:latin typeface="ＭＳ ゴシック" pitchFamily="49" charset="-128"/>
                <a:ea typeface="ＭＳ ゴシック" pitchFamily="49" charset="-128"/>
              </a:rPr>
              <a:t> 6 12 18 24 30 36 42 48 54</a:t>
            </a:r>
          </a:p>
          <a:p>
            <a:r>
              <a:rPr lang="en-US" altLang="ja-JP" sz="2400" dirty="0" smtClean="0">
                <a:latin typeface="ＭＳ ゴシック" pitchFamily="49" charset="-128"/>
                <a:ea typeface="ＭＳ ゴシック" pitchFamily="49" charset="-128"/>
              </a:rPr>
              <a:t> 7 14 21 28 35 42 49 56 63</a:t>
            </a:r>
          </a:p>
          <a:p>
            <a:r>
              <a:rPr lang="en-US" altLang="ja-JP" sz="2400" dirty="0" smtClean="0">
                <a:latin typeface="ＭＳ ゴシック" pitchFamily="49" charset="-128"/>
                <a:ea typeface="ＭＳ ゴシック" pitchFamily="49" charset="-128"/>
              </a:rPr>
              <a:t> 8 16 24 32 40 48 56 64 72</a:t>
            </a:r>
          </a:p>
          <a:p>
            <a:r>
              <a:rPr lang="en-US" altLang="ja-JP" sz="2400" dirty="0" smtClean="0">
                <a:latin typeface="ＭＳ ゴシック" pitchFamily="49" charset="-128"/>
                <a:ea typeface="ＭＳ ゴシック" pitchFamily="49" charset="-128"/>
              </a:rPr>
              <a:t> 9 18 27 36 45 54 63 72 81</a:t>
            </a:r>
            <a:endParaRPr lang="en-US" altLang="ja-JP" sz="2400" dirty="0">
              <a:latin typeface="ＭＳ ゴシック" pitchFamily="49" charset="-128"/>
              <a:ea typeface="ＭＳ ゴシック" pitchFamily="49" charset="-128"/>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チャレンジ課題</a:t>
            </a:r>
            <a:endParaRPr kumimoji="1" lang="ja-JP" altLang="en-US" dirty="0"/>
          </a:p>
        </p:txBody>
      </p:sp>
      <p:sp>
        <p:nvSpPr>
          <p:cNvPr id="5" name="テキスト ボックス 4"/>
          <p:cNvSpPr txBox="1"/>
          <p:nvPr/>
        </p:nvSpPr>
        <p:spPr>
          <a:xfrm>
            <a:off x="785786" y="1500174"/>
            <a:ext cx="7358114" cy="1938992"/>
          </a:xfrm>
          <a:prstGeom prst="rect">
            <a:avLst/>
          </a:prstGeom>
          <a:noFill/>
        </p:spPr>
        <p:txBody>
          <a:bodyPr wrap="square" rtlCol="0">
            <a:spAutoFit/>
          </a:bodyPr>
          <a:lstStyle/>
          <a:p>
            <a:r>
              <a:rPr kumimoji="1" lang="ja-JP" altLang="en-US" sz="2400" dirty="0" smtClean="0"/>
              <a:t>さきほどのファイル（名前、身長、体重のデータ）を、名前、体重、身長の順に並べ替えて新たなファイル（ファイル名自由）に書き出すプログラムを書け。</a:t>
            </a:r>
            <a:endParaRPr kumimoji="1" lang="en-US" altLang="ja-JP" sz="2400" dirty="0" smtClean="0"/>
          </a:p>
          <a:p>
            <a:r>
              <a:rPr kumimoji="1" lang="ja-JP" altLang="en-US" sz="2400" dirty="0" smtClean="0"/>
              <a:t>名前、身長、体重のデータ間の空白などについて、入力ファイルと同一でなくてよい。</a:t>
            </a:r>
            <a:endParaRPr kumimoji="1" lang="ja-JP" altLang="en-US" sz="2400" dirty="0"/>
          </a:p>
        </p:txBody>
      </p:sp>
      <p:sp>
        <p:nvSpPr>
          <p:cNvPr id="4" name="正方形/長方形 3"/>
          <p:cNvSpPr/>
          <p:nvPr/>
        </p:nvSpPr>
        <p:spPr>
          <a:xfrm>
            <a:off x="825697" y="3786190"/>
            <a:ext cx="7532517" cy="1569660"/>
          </a:xfrm>
          <a:prstGeom prst="rect">
            <a:avLst/>
          </a:prstGeom>
        </p:spPr>
        <p:txBody>
          <a:bodyPr wrap="square">
            <a:spAutoFit/>
          </a:bodyPr>
          <a:lstStyle/>
          <a:p>
            <a:r>
              <a:rPr lang="en-US" altLang="ja-JP" sz="2400" dirty="0" err="1" smtClean="0"/>
              <a:t>fprintf</a:t>
            </a:r>
            <a:r>
              <a:rPr lang="ja-JP" altLang="en-US" sz="2400" dirty="0" smtClean="0"/>
              <a:t>の出力形式の例（各行）：  </a:t>
            </a:r>
            <a:r>
              <a:rPr lang="en-US" altLang="ja-JP" sz="2400" dirty="0" smtClean="0"/>
              <a:t>"%-6s %3.1f %3.1f\n"</a:t>
            </a:r>
          </a:p>
          <a:p>
            <a:r>
              <a:rPr lang="en-US" altLang="ja-JP" sz="2400" dirty="0" smtClean="0"/>
              <a:t>%-6s</a:t>
            </a:r>
            <a:r>
              <a:rPr lang="ja-JP" altLang="en-US" sz="2400" dirty="0" smtClean="0"/>
              <a:t>におけるマイナスは左詰めを表す。</a:t>
            </a:r>
            <a:endParaRPr lang="en-US" altLang="ja-JP" sz="2400" dirty="0" smtClean="0"/>
          </a:p>
          <a:p>
            <a:r>
              <a:rPr lang="ja-JP" altLang="en-US" sz="2400" dirty="0" smtClean="0"/>
              <a:t>（名前の長さ等によって、最小フィールド幅の指定を変更すればよい。）</a:t>
            </a:r>
            <a:endParaRPr lang="en-US" altLang="ja-JP" sz="24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本演習で扱わなかった内容</a:t>
            </a:r>
            <a:endParaRPr kumimoji="1" lang="ja-JP" altLang="en-US" dirty="0"/>
          </a:p>
        </p:txBody>
      </p:sp>
      <p:sp>
        <p:nvSpPr>
          <p:cNvPr id="3" name="コンテンツ プレースホルダ 2"/>
          <p:cNvSpPr>
            <a:spLocks noGrp="1"/>
          </p:cNvSpPr>
          <p:nvPr>
            <p:ph idx="1"/>
          </p:nvPr>
        </p:nvSpPr>
        <p:spPr>
          <a:xfrm>
            <a:off x="571472" y="1000108"/>
            <a:ext cx="8229600" cy="4857784"/>
          </a:xfrm>
        </p:spPr>
        <p:txBody>
          <a:bodyPr>
            <a:noAutofit/>
          </a:bodyPr>
          <a:lstStyle/>
          <a:p>
            <a:r>
              <a:rPr kumimoji="1" lang="ja-JP" altLang="en-US" sz="2400" dirty="0" smtClean="0"/>
              <a:t>共用体（</a:t>
            </a:r>
            <a:r>
              <a:rPr lang="ja-JP" altLang="en-US" sz="2400" dirty="0" smtClean="0"/>
              <a:t>実践編 </a:t>
            </a:r>
            <a:r>
              <a:rPr lang="en-US" altLang="ja-JP" sz="2400" dirty="0" smtClean="0"/>
              <a:t>p.162-165</a:t>
            </a:r>
            <a:r>
              <a:rPr lang="ja-JP" altLang="en-US" sz="2400" dirty="0" smtClean="0"/>
              <a:t>）</a:t>
            </a:r>
            <a:endParaRPr lang="en-US" altLang="ja-JP" sz="2400" dirty="0" smtClean="0"/>
          </a:p>
          <a:p>
            <a:r>
              <a:rPr lang="ja-JP" altLang="en-US" sz="2400" dirty="0" smtClean="0"/>
              <a:t>列挙体（教科書 </a:t>
            </a:r>
            <a:r>
              <a:rPr lang="en-US" altLang="ja-JP" sz="2400" dirty="0" smtClean="0"/>
              <a:t>p.190-193</a:t>
            </a:r>
            <a:r>
              <a:rPr lang="ja-JP" altLang="en-US" sz="2400" dirty="0" smtClean="0"/>
              <a:t>）</a:t>
            </a:r>
            <a:endParaRPr kumimoji="1" lang="en-US" altLang="ja-JP" sz="2400" dirty="0" smtClean="0"/>
          </a:p>
          <a:p>
            <a:r>
              <a:rPr lang="ja-JP" altLang="en-US" sz="2400" dirty="0" smtClean="0"/>
              <a:t>ビット演算（教科書 </a:t>
            </a:r>
            <a:r>
              <a:rPr lang="en-US" altLang="ja-JP" sz="2400" dirty="0" smtClean="0"/>
              <a:t>p.164-171</a:t>
            </a:r>
            <a:r>
              <a:rPr lang="ja-JP" altLang="en-US" sz="2400" dirty="0" smtClean="0"/>
              <a:t>）</a:t>
            </a:r>
            <a:endParaRPr lang="en-US" altLang="ja-JP" sz="2400" dirty="0" smtClean="0"/>
          </a:p>
          <a:p>
            <a:r>
              <a:rPr lang="ja-JP" altLang="en-US" sz="2400" dirty="0" smtClean="0"/>
              <a:t>関数へのポインタ（ポインタの極意 第９章）</a:t>
            </a:r>
            <a:endParaRPr lang="en-US" altLang="ja-JP" sz="2400" dirty="0" smtClean="0"/>
          </a:p>
          <a:p>
            <a:r>
              <a:rPr lang="en-US" altLang="ja-JP" sz="2400" dirty="0" smtClean="0"/>
              <a:t>switch</a:t>
            </a:r>
            <a:r>
              <a:rPr lang="ja-JP" altLang="en-US" sz="2400" dirty="0" smtClean="0"/>
              <a:t>文（教科書 </a:t>
            </a:r>
            <a:r>
              <a:rPr lang="en-US" altLang="ja-JP" sz="2400" dirty="0" smtClean="0"/>
              <a:t>p.54-57</a:t>
            </a:r>
            <a:r>
              <a:rPr lang="ja-JP" altLang="en-US" sz="2400" dirty="0" smtClean="0"/>
              <a:t>）</a:t>
            </a:r>
            <a:endParaRPr lang="en-US" altLang="ja-JP" sz="2400" dirty="0" smtClean="0"/>
          </a:p>
          <a:p>
            <a:r>
              <a:rPr lang="en-US" altLang="ja-JP" sz="2400" dirty="0" smtClean="0"/>
              <a:t>do while</a:t>
            </a:r>
            <a:r>
              <a:rPr lang="ja-JP" altLang="en-US" sz="2400" dirty="0" smtClean="0"/>
              <a:t>文（教科書 </a:t>
            </a:r>
            <a:r>
              <a:rPr lang="en-US" altLang="ja-JP" sz="2400" dirty="0" smtClean="0"/>
              <a:t>p.60-67</a:t>
            </a:r>
            <a:r>
              <a:rPr lang="ja-JP" altLang="en-US" sz="2400" dirty="0" smtClean="0"/>
              <a:t>）</a:t>
            </a:r>
            <a:endParaRPr lang="en-US" altLang="ja-JP" sz="2400" dirty="0" smtClean="0"/>
          </a:p>
          <a:p>
            <a:r>
              <a:rPr lang="ja-JP" altLang="en-US" sz="2400" dirty="0" smtClean="0"/>
              <a:t>マクロ（教科書</a:t>
            </a:r>
            <a:r>
              <a:rPr lang="en-US" altLang="ja-JP" sz="2400" dirty="0" smtClean="0"/>
              <a:t> p.96-97</a:t>
            </a:r>
            <a:r>
              <a:rPr lang="ja-JP" altLang="en-US" sz="2400" dirty="0" smtClean="0"/>
              <a:t>）</a:t>
            </a:r>
            <a:endParaRPr lang="en-US" altLang="ja-JP" sz="2400" dirty="0" smtClean="0"/>
          </a:p>
          <a:p>
            <a:r>
              <a:rPr lang="ja-JP" altLang="en-US" sz="2400" dirty="0" smtClean="0"/>
              <a:t>不完全型（実践編 </a:t>
            </a:r>
            <a:r>
              <a:rPr lang="en-US" altLang="ja-JP" sz="2400" dirty="0" smtClean="0"/>
              <a:t>p.27</a:t>
            </a:r>
            <a:r>
              <a:rPr lang="ja-JP" altLang="en-US" sz="2400" dirty="0" smtClean="0"/>
              <a:t>）</a:t>
            </a:r>
            <a:endParaRPr lang="en-US" altLang="ja-JP" sz="2400" dirty="0" smtClean="0"/>
          </a:p>
          <a:p>
            <a:r>
              <a:rPr lang="ja-JP" altLang="en-US" sz="2400" dirty="0" smtClean="0"/>
              <a:t>変数の記憶域期間（教科書</a:t>
            </a:r>
            <a:r>
              <a:rPr lang="en-US" altLang="ja-JP" sz="2400" dirty="0" smtClean="0"/>
              <a:t> p.142-145</a:t>
            </a:r>
            <a:r>
              <a:rPr lang="ja-JP" altLang="en-US" sz="2400" dirty="0" smtClean="0"/>
              <a:t>）</a:t>
            </a:r>
            <a:endParaRPr lang="en-US" altLang="ja-JP" sz="2400" dirty="0" smtClean="0"/>
          </a:p>
          <a:p>
            <a:r>
              <a:rPr lang="en-US" altLang="ja-JP" sz="2400" dirty="0" smtClean="0"/>
              <a:t>const</a:t>
            </a:r>
            <a:r>
              <a:rPr lang="ja-JP" altLang="en-US" sz="2400" dirty="0" smtClean="0"/>
              <a:t>型修飾子</a:t>
            </a:r>
            <a:r>
              <a:rPr lang="en-US" altLang="ja-JP" sz="2400" dirty="0" smtClean="0"/>
              <a:t>(</a:t>
            </a:r>
            <a:r>
              <a:rPr lang="ja-JP" altLang="en-US" sz="2400" dirty="0" smtClean="0"/>
              <a:t>教科書 </a:t>
            </a:r>
            <a:r>
              <a:rPr lang="en-US" altLang="ja-JP" sz="2400" dirty="0" smtClean="0"/>
              <a:t>p.133)</a:t>
            </a:r>
          </a:p>
          <a:p>
            <a:r>
              <a:rPr lang="ja-JP" altLang="en-US" sz="2400" dirty="0" smtClean="0"/>
              <a:t>複合代入演算子（教科書 </a:t>
            </a:r>
            <a:r>
              <a:rPr lang="en-US" altLang="ja-JP" sz="2400" dirty="0" smtClean="0"/>
              <a:t>p. 66</a:t>
            </a:r>
            <a:r>
              <a:rPr lang="ja-JP" altLang="en-US" sz="2400" dirty="0" smtClean="0"/>
              <a:t>）</a:t>
            </a:r>
            <a:endParaRPr lang="en-US" altLang="ja-JP" sz="2400" dirty="0" smtClean="0"/>
          </a:p>
        </p:txBody>
      </p:sp>
      <p:sp>
        <p:nvSpPr>
          <p:cNvPr id="4" name="テキスト ボックス 3"/>
          <p:cNvSpPr txBox="1"/>
          <p:nvPr/>
        </p:nvSpPr>
        <p:spPr>
          <a:xfrm>
            <a:off x="642910" y="5812713"/>
            <a:ext cx="7858180" cy="830997"/>
          </a:xfrm>
          <a:prstGeom prst="rect">
            <a:avLst/>
          </a:prstGeom>
          <a:noFill/>
        </p:spPr>
        <p:txBody>
          <a:bodyPr wrap="square" rtlCol="0">
            <a:spAutoFit/>
          </a:bodyPr>
          <a:lstStyle/>
          <a:p>
            <a:r>
              <a:rPr kumimoji="1" lang="ja-JP" altLang="en-US" sz="2400" dirty="0" smtClean="0"/>
              <a:t>これらについては、各自上記の教科書、参考書を参照してください。最終的には規格書を参照することになります。</a:t>
            </a:r>
            <a:endParaRPr kumimoji="1" lang="en-US" altLang="ja-JP" sz="24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確認事項</a:t>
            </a:r>
            <a:endParaRPr kumimoji="1" lang="ja-JP" altLang="en-US" dirty="0"/>
          </a:p>
        </p:txBody>
      </p:sp>
      <p:sp>
        <p:nvSpPr>
          <p:cNvPr id="3" name="テキスト ボックス 2"/>
          <p:cNvSpPr txBox="1"/>
          <p:nvPr/>
        </p:nvSpPr>
        <p:spPr>
          <a:xfrm>
            <a:off x="785786" y="1571612"/>
            <a:ext cx="7500990" cy="1569660"/>
          </a:xfrm>
          <a:prstGeom prst="rect">
            <a:avLst/>
          </a:prstGeom>
          <a:noFill/>
        </p:spPr>
        <p:txBody>
          <a:bodyPr wrap="square" rtlCol="0">
            <a:spAutoFit/>
          </a:bodyPr>
          <a:lstStyle/>
          <a:p>
            <a:r>
              <a:rPr kumimoji="1" lang="ja-JP" altLang="en-US" sz="2400" dirty="0" smtClean="0"/>
              <a:t>演習の１回目にもアナウンスしましたが、これまでに解けていない課題（各回２問ずつ）がある人は</a:t>
            </a:r>
            <a:r>
              <a:rPr lang="ja-JP" altLang="en-US" sz="2400" dirty="0" smtClean="0"/>
              <a:t>１４回目の</a:t>
            </a:r>
            <a:r>
              <a:rPr lang="en-US" altLang="ja-JP" sz="2400" dirty="0" smtClean="0"/>
              <a:t>16:20</a:t>
            </a:r>
            <a:r>
              <a:rPr lang="ja-JP" altLang="en-US" sz="2400" dirty="0" err="1" smtClean="0"/>
              <a:t>までに</a:t>
            </a:r>
            <a:r>
              <a:rPr lang="en-US" altLang="ja-JP" sz="2400" dirty="0" smtClean="0"/>
              <a:t>TA</a:t>
            </a:r>
            <a:r>
              <a:rPr lang="ja-JP" altLang="en-US" sz="2400" dirty="0" smtClean="0"/>
              <a:t>に確認してもらってください。</a:t>
            </a:r>
            <a:r>
              <a:rPr kumimoji="1" lang="ja-JP" altLang="en-US" sz="2400" dirty="0" smtClean="0"/>
              <a:t>それ以降は受け付けま</a:t>
            </a:r>
            <a:r>
              <a:rPr lang="ja-JP" altLang="en-US" sz="2400" dirty="0" smtClean="0"/>
              <a:t>せん。</a:t>
            </a:r>
            <a:endParaRPr kumimoji="1" lang="ja-JP" alt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672</TotalTime>
  <Words>3143</Words>
  <Application>Microsoft Office PowerPoint</Application>
  <PresentationFormat>画面に合わせる (4:3)</PresentationFormat>
  <Paragraphs>321</Paragraphs>
  <Slides>31</Slides>
  <Notes>1</Notes>
  <HiddenSlides>0</HiddenSlides>
  <MMClips>0</MMClips>
  <ScaleCrop>false</ScaleCrop>
  <HeadingPairs>
    <vt:vector size="4" baseType="variant">
      <vt:variant>
        <vt:lpstr>テーマ</vt:lpstr>
      </vt:variant>
      <vt:variant>
        <vt:i4>1</vt:i4>
      </vt:variant>
      <vt:variant>
        <vt:lpstr>スライド タイトル</vt:lpstr>
      </vt:variant>
      <vt:variant>
        <vt:i4>31</vt:i4>
      </vt:variant>
    </vt:vector>
  </HeadingPairs>
  <TitlesOfParts>
    <vt:vector size="32" baseType="lpstr">
      <vt:lpstr>Office テーマ</vt:lpstr>
      <vt:lpstr>プログラミング入門</vt:lpstr>
      <vt:lpstr>今日の内容</vt:lpstr>
      <vt:lpstr>for文</vt:lpstr>
      <vt:lpstr>for文の例（打ち込んで確認）</vt:lpstr>
      <vt:lpstr>for文の構文（基本形）</vt:lpstr>
      <vt:lpstr>例（打ち込んで確認）</vt:lpstr>
      <vt:lpstr>while文を使った場合</vt:lpstr>
      <vt:lpstr>for文の構文</vt:lpstr>
      <vt:lpstr>例（打ち込んで確認）</vt:lpstr>
      <vt:lpstr>コンマ演算子</vt:lpstr>
      <vt:lpstr>コンマ演算子</vt:lpstr>
      <vt:lpstr>例（打ち込んで確認）</vt:lpstr>
      <vt:lpstr>for文に入れた例（打ち込んで確認）</vt:lpstr>
      <vt:lpstr>増分演算子（前置）</vt:lpstr>
      <vt:lpstr>典型例</vt:lpstr>
      <vt:lpstr>（参考） ++e と e=e+1 の違いについて</vt:lpstr>
      <vt:lpstr>増分演算子（後置）</vt:lpstr>
      <vt:lpstr>ファイル処理</vt:lpstr>
      <vt:lpstr>例（入力して確認）</vt:lpstr>
      <vt:lpstr>FILE型</vt:lpstr>
      <vt:lpstr>ライブラリ関数fopen</vt:lpstr>
      <vt:lpstr>ライブラリ関数fclose</vt:lpstr>
      <vt:lpstr>ライブラリ関数fprintf</vt:lpstr>
      <vt:lpstr>例（打ち込んで確認）</vt:lpstr>
      <vt:lpstr>ライブラリ関数fscanf</vt:lpstr>
      <vt:lpstr>例（打ち込んで確認）</vt:lpstr>
      <vt:lpstr>今日の課題１</vt:lpstr>
      <vt:lpstr>今日の課題２</vt:lpstr>
      <vt:lpstr>チャレンジ課題</vt:lpstr>
      <vt:lpstr>本演習で扱わなかった内容</vt:lpstr>
      <vt:lpstr>確認事項</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dc:title>
  <dc:creator>sasano</dc:creator>
  <cp:lastModifiedBy>sasano</cp:lastModifiedBy>
  <cp:revision>410</cp:revision>
  <dcterms:created xsi:type="dcterms:W3CDTF">2009-12-12T09:36:31Z</dcterms:created>
  <dcterms:modified xsi:type="dcterms:W3CDTF">2009-12-14T06:37:19Z</dcterms:modified>
</cp:coreProperties>
</file>