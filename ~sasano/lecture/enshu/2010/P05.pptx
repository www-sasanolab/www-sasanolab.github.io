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59" r:id="rId4"/>
    <p:sldId id="260" r:id="rId5"/>
    <p:sldId id="262" r:id="rId6"/>
    <p:sldId id="264" r:id="rId7"/>
    <p:sldId id="276" r:id="rId8"/>
    <p:sldId id="265" r:id="rId9"/>
    <p:sldId id="266" r:id="rId10"/>
    <p:sldId id="267" r:id="rId11"/>
    <p:sldId id="268" r:id="rId12"/>
    <p:sldId id="269" r:id="rId13"/>
    <p:sldId id="270" r:id="rId14"/>
    <p:sldId id="261" r:id="rId15"/>
    <p:sldId id="271" r:id="rId16"/>
    <p:sldId id="273" r:id="rId17"/>
    <p:sldId id="272" r:id="rId18"/>
    <p:sldId id="280" r:id="rId19"/>
    <p:sldId id="274" r:id="rId20"/>
    <p:sldId id="275" r:id="rId21"/>
    <p:sldId id="277" r:id="rId22"/>
    <p:sldId id="283" r:id="rId23"/>
    <p:sldId id="278" r:id="rId24"/>
    <p:sldId id="279" r:id="rId25"/>
    <p:sldId id="281" r:id="rId26"/>
    <p:sldId id="282" r:id="rId27"/>
    <p:sldId id="284" r:id="rId28"/>
    <p:sldId id="285" r:id="rId29"/>
    <p:sldId id="286" r:id="rId30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72D61F-AA85-411F-B823-1B19AE9269A4}" type="datetimeFigureOut">
              <a:rPr kumimoji="1" lang="ja-JP" altLang="en-US" smtClean="0"/>
              <a:pPr/>
              <a:t>2010/10/16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67D714-A019-4AFD-8B32-1CA20942078A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7D714-A019-4AFD-8B32-1CA20942078A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2010/10/16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2010/10/16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2010/10/16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2010/10/16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2010/10/16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2010/10/16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2010/10/16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2010/10/16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2010/10/16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2010/10/16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2010/10/16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2010/10/16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85786" y="928670"/>
            <a:ext cx="7772400" cy="2571768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プログラミング入門２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第５回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配列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変数宣言、初期化について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571736" y="5214950"/>
            <a:ext cx="35413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   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今日の内容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85791"/>
          </a:xfrm>
        </p:spPr>
        <p:txBody>
          <a:bodyPr>
            <a:normAutofit/>
          </a:bodyPr>
          <a:lstStyle/>
          <a:p>
            <a:r>
              <a:rPr kumimoji="1" lang="ja-JP" altLang="en-US" dirty="0" smtClean="0"/>
              <a:t>配列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57224" y="2714620"/>
            <a:ext cx="72866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配列とは、同じ型のデータを格納する</a:t>
            </a:r>
            <a:r>
              <a:rPr lang="ja-JP" altLang="en-US" sz="2400" dirty="0" smtClean="0"/>
              <a:t>箱（領域）</a:t>
            </a:r>
            <a:r>
              <a:rPr kumimoji="1" lang="ja-JP" altLang="en-US" sz="2400" dirty="0" smtClean="0"/>
              <a:t>を一列に並</a:t>
            </a:r>
            <a:r>
              <a:rPr lang="ja-JP" altLang="en-US" sz="2400" dirty="0" smtClean="0"/>
              <a:t>べて添え字でアクセスできるようにしたもの。</a:t>
            </a:r>
            <a:endParaRPr kumimoji="1"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配列の必要性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28596" y="1928802"/>
            <a:ext cx="8143932" cy="4893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m09001;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m09002;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m09003;</a:t>
            </a:r>
          </a:p>
          <a:p>
            <a:r>
              <a:rPr lang="en-US" altLang="ja-JP" sz="2400" dirty="0" smtClean="0"/>
              <a:t>    double average;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&amp;m09001);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&amp;m09002);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&amp;m09003);</a:t>
            </a:r>
          </a:p>
          <a:p>
            <a:r>
              <a:rPr lang="en-US" altLang="ja-JP" sz="2400" dirty="0" smtClean="0"/>
              <a:t>   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average = (double) (m09001 + m09002 + m09003) / 3;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</a:t>
            </a:r>
            <a:r>
              <a:rPr lang="ja-JP" altLang="en-US" sz="2400" dirty="0" smtClean="0"/>
              <a:t>平均点は</a:t>
            </a:r>
            <a:r>
              <a:rPr lang="en-US" altLang="ja-JP" sz="2400" dirty="0" smtClean="0"/>
              <a:t>%f</a:t>
            </a:r>
            <a:r>
              <a:rPr lang="ja-JP" altLang="en-US" sz="2400" dirty="0" smtClean="0"/>
              <a:t>点です。</a:t>
            </a:r>
            <a:r>
              <a:rPr lang="en-US" altLang="ja-JP" sz="2400" dirty="0" smtClean="0"/>
              <a:t>\n”, average);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428596" y="714356"/>
            <a:ext cx="82868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M</a:t>
            </a:r>
            <a:r>
              <a:rPr lang="ja-JP" altLang="en-US" sz="2400" dirty="0" smtClean="0"/>
              <a:t>学科に、３人の学生（学籍番号</a:t>
            </a:r>
            <a:r>
              <a:rPr lang="en-US" altLang="ja-JP" sz="2400" dirty="0" smtClean="0"/>
              <a:t>M09001, M09002, M09003</a:t>
            </a:r>
            <a:r>
              <a:rPr lang="ja-JP" altLang="en-US" sz="2400" dirty="0" smtClean="0"/>
              <a:t>）がいたとする。</a:t>
            </a:r>
            <a:r>
              <a:rPr lang="en-US" altLang="ja-JP" sz="2400" dirty="0" smtClean="0"/>
              <a:t>M</a:t>
            </a:r>
            <a:r>
              <a:rPr lang="ja-JP" altLang="en-US" sz="2400" dirty="0" smtClean="0"/>
              <a:t>学科のある科目の成績を入力し、平均点を計算したいとする。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配列の必要性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357298"/>
            <a:ext cx="75724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学生が</a:t>
            </a:r>
            <a:r>
              <a:rPr kumimoji="1" lang="en-US" altLang="ja-JP" sz="2400" dirty="0" smtClean="0"/>
              <a:t>100</a:t>
            </a:r>
            <a:r>
              <a:rPr kumimoji="1" lang="ja-JP" altLang="en-US" sz="2400" dirty="0" smtClean="0"/>
              <a:t>人いた場合、これまでに講義で説明した範囲だと、</a:t>
            </a:r>
            <a:r>
              <a:rPr kumimoji="1" lang="en-US" altLang="ja-JP" sz="2400" dirty="0" smtClean="0"/>
              <a:t>100</a:t>
            </a:r>
            <a:r>
              <a:rPr lang="ja-JP" altLang="en-US" sz="2400" dirty="0" smtClean="0"/>
              <a:t>個の変数を宣言しなければならない。</a:t>
            </a:r>
            <a:endParaRPr kumimoji="1" lang="ja-JP" altLang="en-US" sz="2400" dirty="0"/>
          </a:p>
        </p:txBody>
      </p:sp>
      <p:sp>
        <p:nvSpPr>
          <p:cNvPr id="5" name="右矢印 4"/>
          <p:cNvSpPr/>
          <p:nvPr/>
        </p:nvSpPr>
        <p:spPr>
          <a:xfrm>
            <a:off x="1142976" y="250030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428860" y="2500306"/>
            <a:ext cx="38106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一度にまとめて宣言したい。</a:t>
            </a:r>
            <a:endParaRPr lang="en-US" altLang="ja-JP" sz="24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785786" y="3429000"/>
            <a:ext cx="77867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配列を使うと、</a:t>
            </a:r>
            <a:endParaRPr lang="en-US" altLang="ja-JP" sz="2400" dirty="0" smtClean="0"/>
          </a:p>
          <a:p>
            <a:r>
              <a:rPr lang="en-US" altLang="ja-JP" sz="2400" dirty="0" smtClean="0"/>
              <a:t>  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 m [100];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宣言することにより、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人分の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型のデータ格納場所が用意される。</a:t>
            </a:r>
            <a:endParaRPr lang="en-US" altLang="ja-JP" sz="2400" dirty="0" smtClean="0"/>
          </a:p>
          <a:p>
            <a:r>
              <a:rPr lang="en-US" altLang="ja-JP" sz="2400" dirty="0" smtClean="0"/>
              <a:t> m[0], m[1], m[2], … m[99]</a:t>
            </a:r>
          </a:p>
          <a:p>
            <a:r>
              <a:rPr lang="ja-JP" altLang="en-US" sz="2400" dirty="0" smtClean="0"/>
              <a:t>の</a:t>
            </a:r>
            <a:r>
              <a:rPr lang="en-US" altLang="ja-JP" sz="2400" dirty="0" smtClean="0"/>
              <a:t>100</a:t>
            </a:r>
            <a:r>
              <a:rPr lang="ja-JP" altLang="en-US" sz="2400" dirty="0" smtClean="0"/>
              <a:t>個分のデータ格納場所が用意される。</a:t>
            </a:r>
            <a:endParaRPr lang="en-US" altLang="ja-JP" sz="2400" dirty="0" smtClean="0"/>
          </a:p>
          <a:p>
            <a:r>
              <a:rPr lang="ja-JP" altLang="en-US" sz="2400" dirty="0" smtClean="0"/>
              <a:t>添え字が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から始まることに注意。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 smtClean="0"/>
              <a:t>プログラム例１（打ち込んで確認）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000100" y="1428736"/>
            <a:ext cx="5456943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/* </a:t>
            </a:r>
            <a:r>
              <a:rPr kumimoji="1" lang="ja-JP" altLang="en-US" sz="2400" dirty="0" smtClean="0"/>
              <a:t>長さ３の配列に数値を代入して表示 </a:t>
            </a:r>
            <a:r>
              <a:rPr kumimoji="1" lang="en-US" altLang="ja-JP" sz="2400" dirty="0" smtClean="0"/>
              <a:t>*/</a:t>
            </a:r>
          </a:p>
          <a:p>
            <a:r>
              <a:rPr kumimoji="1" lang="en-US" altLang="ja-JP" sz="2400" dirty="0" smtClean="0"/>
              <a:t>#include &lt;</a:t>
            </a:r>
            <a:r>
              <a:rPr kumimoji="1"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  <a:endParaRPr kumimoji="1" lang="en-US" altLang="ja-JP" sz="2400" dirty="0" smtClean="0"/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m[3];</a:t>
            </a:r>
          </a:p>
          <a:p>
            <a:r>
              <a:rPr kumimoji="1" lang="en-US" altLang="ja-JP" sz="2400" dirty="0" smtClean="0"/>
              <a:t>    m[0] = 10;</a:t>
            </a:r>
          </a:p>
          <a:p>
            <a:r>
              <a:rPr lang="en-US" altLang="ja-JP" sz="2400" dirty="0" smtClean="0"/>
              <a:t>    m[1] = 5;</a:t>
            </a:r>
          </a:p>
          <a:p>
            <a:r>
              <a:rPr kumimoji="1" lang="en-US" altLang="ja-JP" sz="2400" dirty="0" smtClean="0"/>
              <a:t>    m[2] = 7;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(“m[0] = %d\n”, m[0]);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(“m[1] = %d\n”, m[1]);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(“m[2] = %d\n”, m[2]);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 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9"/>
          <p:cNvGrpSpPr>
            <a:grpSpLocks/>
          </p:cNvGrpSpPr>
          <p:nvPr/>
        </p:nvGrpSpPr>
        <p:grpSpPr bwMode="auto">
          <a:xfrm>
            <a:off x="4214810" y="5003805"/>
            <a:ext cx="1439862" cy="566738"/>
            <a:chOff x="2789" y="2614"/>
            <a:chExt cx="907" cy="357"/>
          </a:xfrm>
        </p:grpSpPr>
        <p:sp>
          <p:nvSpPr>
            <p:cNvPr id="7219" name="AutoShape 70"/>
            <p:cNvSpPr>
              <a:spLocks noChangeArrowheads="1"/>
            </p:cNvSpPr>
            <p:nvPr/>
          </p:nvSpPr>
          <p:spPr bwMode="auto">
            <a:xfrm>
              <a:off x="2789" y="2614"/>
              <a:ext cx="907" cy="318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 sz="2400"/>
            </a:p>
          </p:txBody>
        </p:sp>
        <p:sp>
          <p:nvSpPr>
            <p:cNvPr id="7220" name="Text Box 71"/>
            <p:cNvSpPr txBox="1">
              <a:spLocks noChangeArrowheads="1"/>
            </p:cNvSpPr>
            <p:nvPr/>
          </p:nvSpPr>
          <p:spPr bwMode="auto">
            <a:xfrm>
              <a:off x="2941" y="2680"/>
              <a:ext cx="56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 a [2</a:t>
              </a:r>
              <a:r>
                <a:rPr lang="en-US" altLang="ja-JP" sz="2400" b="1" dirty="0">
                  <a:ea typeface="ＭＳ Ｐゴシック" charset="-128"/>
                </a:rPr>
                <a:t>]</a:t>
              </a:r>
            </a:p>
          </p:txBody>
        </p:sp>
      </p:grpSp>
      <p:grpSp>
        <p:nvGrpSpPr>
          <p:cNvPr id="5" name="Group 63"/>
          <p:cNvGrpSpPr>
            <a:grpSpLocks/>
          </p:cNvGrpSpPr>
          <p:nvPr/>
        </p:nvGrpSpPr>
        <p:grpSpPr bwMode="auto">
          <a:xfrm>
            <a:off x="4214810" y="4638680"/>
            <a:ext cx="1439862" cy="566738"/>
            <a:chOff x="2789" y="2614"/>
            <a:chExt cx="907" cy="357"/>
          </a:xfrm>
        </p:grpSpPr>
        <p:sp>
          <p:nvSpPr>
            <p:cNvPr id="7217" name="AutoShape 64"/>
            <p:cNvSpPr>
              <a:spLocks noChangeArrowheads="1"/>
            </p:cNvSpPr>
            <p:nvPr/>
          </p:nvSpPr>
          <p:spPr bwMode="auto">
            <a:xfrm>
              <a:off x="2789" y="2614"/>
              <a:ext cx="907" cy="318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 sz="2400"/>
            </a:p>
          </p:txBody>
        </p:sp>
        <p:sp>
          <p:nvSpPr>
            <p:cNvPr id="7218" name="Text Box 65"/>
            <p:cNvSpPr txBox="1">
              <a:spLocks noChangeArrowheads="1"/>
            </p:cNvSpPr>
            <p:nvPr/>
          </p:nvSpPr>
          <p:spPr bwMode="auto">
            <a:xfrm>
              <a:off x="2941" y="2680"/>
              <a:ext cx="56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 a [1</a:t>
              </a:r>
              <a:r>
                <a:rPr lang="en-US" altLang="ja-JP" sz="2400" b="1" dirty="0">
                  <a:ea typeface="ＭＳ Ｐゴシック" charset="-128"/>
                </a:rPr>
                <a:t>]</a:t>
              </a:r>
            </a:p>
          </p:txBody>
        </p:sp>
      </p:grpSp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85728"/>
            <a:ext cx="7620000" cy="685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kumimoji="0" lang="ja-JP" altLang="en-US" sz="3600" dirty="0" smtClean="0">
                <a:ea typeface="ＭＳ Ｐゴシック" pitchFamily="-108" charset="-128"/>
              </a:rPr>
              <a:t>配列の宣言</a:t>
            </a:r>
          </a:p>
        </p:txBody>
      </p:sp>
      <p:sp>
        <p:nvSpPr>
          <p:cNvPr id="71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351837" cy="719138"/>
          </a:xfrm>
        </p:spPr>
        <p:txBody>
          <a:bodyPr/>
          <a:lstStyle/>
          <a:p>
            <a:pPr eaLnBrk="1" hangingPunct="1"/>
            <a:r>
              <a:rPr kumimoji="0" lang="ja-JP" altLang="en-US" sz="2600" dirty="0" smtClean="0">
                <a:ea typeface="ＭＳ Ｐゴシック" charset="-128"/>
              </a:rPr>
              <a:t>３人分の点数を格納する</a:t>
            </a:r>
            <a:r>
              <a:rPr kumimoji="0" lang="en-US" altLang="ja-JP" sz="2600" dirty="0" err="1" smtClean="0">
                <a:ea typeface="ＭＳ Ｐゴシック" charset="-128"/>
              </a:rPr>
              <a:t>int</a:t>
            </a:r>
            <a:r>
              <a:rPr kumimoji="0" lang="ja-JP" altLang="en-US" sz="2600" dirty="0" smtClean="0">
                <a:ea typeface="ＭＳ Ｐゴシック" charset="-128"/>
              </a:rPr>
              <a:t>型の変数を用意したい場合</a:t>
            </a:r>
          </a:p>
        </p:txBody>
      </p:sp>
      <p:sp>
        <p:nvSpPr>
          <p:cNvPr id="7212" name="Text Box 6"/>
          <p:cNvSpPr txBox="1">
            <a:spLocks noChangeArrowheads="1"/>
          </p:cNvSpPr>
          <p:nvPr/>
        </p:nvSpPr>
        <p:spPr bwMode="auto">
          <a:xfrm>
            <a:off x="714348" y="2571744"/>
            <a:ext cx="69215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ja-JP" altLang="en-US" sz="2000" dirty="0">
                <a:ea typeface="ＭＳ Ｐゴシック" charset="-128"/>
              </a:rPr>
              <a:t>型名</a:t>
            </a:r>
          </a:p>
        </p:txBody>
      </p:sp>
      <p:sp>
        <p:nvSpPr>
          <p:cNvPr id="7213" name="Text Box 7"/>
          <p:cNvSpPr txBox="1">
            <a:spLocks noChangeArrowheads="1"/>
          </p:cNvSpPr>
          <p:nvPr/>
        </p:nvSpPr>
        <p:spPr bwMode="auto">
          <a:xfrm>
            <a:off x="1554148" y="2603497"/>
            <a:ext cx="946150" cy="3968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ja-JP" altLang="en-US" sz="2000" dirty="0">
                <a:ea typeface="ＭＳ Ｐゴシック" charset="-128"/>
              </a:rPr>
              <a:t>変数名</a:t>
            </a:r>
          </a:p>
        </p:txBody>
      </p:sp>
      <p:sp>
        <p:nvSpPr>
          <p:cNvPr id="7179" name="Text Box 11"/>
          <p:cNvSpPr txBox="1">
            <a:spLocks noChangeArrowheads="1"/>
          </p:cNvSpPr>
          <p:nvPr/>
        </p:nvSpPr>
        <p:spPr bwMode="auto">
          <a:xfrm>
            <a:off x="357158" y="1886249"/>
            <a:ext cx="2677656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 dirty="0" err="1" smtClean="0">
                <a:ea typeface="ＭＳ Ｐゴシック" charset="-128"/>
              </a:rPr>
              <a:t>int</a:t>
            </a:r>
            <a:r>
              <a:rPr lang="ja-JP" altLang="en-US" sz="2400" dirty="0" smtClean="0">
                <a:ea typeface="ＭＳ Ｐゴシック" charset="-128"/>
              </a:rPr>
              <a:t>型の変数</a:t>
            </a:r>
            <a:r>
              <a:rPr lang="ja-JP" altLang="en-US" sz="2400" dirty="0">
                <a:ea typeface="ＭＳ Ｐゴシック" charset="-128"/>
              </a:rPr>
              <a:t>の宣言</a:t>
            </a:r>
          </a:p>
        </p:txBody>
      </p:sp>
      <p:grpSp>
        <p:nvGrpSpPr>
          <p:cNvPr id="8" name="Group 22"/>
          <p:cNvGrpSpPr>
            <a:grpSpLocks/>
          </p:cNvGrpSpPr>
          <p:nvPr/>
        </p:nvGrpSpPr>
        <p:grpSpPr bwMode="auto">
          <a:xfrm>
            <a:off x="846121" y="4286256"/>
            <a:ext cx="1439863" cy="527133"/>
            <a:chOff x="1111" y="3158"/>
            <a:chExt cx="907" cy="428"/>
          </a:xfrm>
        </p:grpSpPr>
        <p:sp>
          <p:nvSpPr>
            <p:cNvPr id="7209" name="AutoShape 15"/>
            <p:cNvSpPr>
              <a:spLocks noChangeArrowheads="1"/>
            </p:cNvSpPr>
            <p:nvPr/>
          </p:nvSpPr>
          <p:spPr bwMode="auto">
            <a:xfrm>
              <a:off x="1111" y="3158"/>
              <a:ext cx="907" cy="409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7210" name="Text Box 16"/>
            <p:cNvSpPr txBox="1">
              <a:spLocks noChangeArrowheads="1"/>
            </p:cNvSpPr>
            <p:nvPr/>
          </p:nvSpPr>
          <p:spPr bwMode="auto">
            <a:xfrm>
              <a:off x="1411" y="3211"/>
              <a:ext cx="330" cy="3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x</a:t>
              </a:r>
              <a:endParaRPr lang="en-US" altLang="ja-JP" sz="2400" b="1" dirty="0">
                <a:ea typeface="ＭＳ Ｐゴシック" charset="-128"/>
              </a:endParaRPr>
            </a:p>
          </p:txBody>
        </p:sp>
      </p:grpSp>
      <p:sp>
        <p:nvSpPr>
          <p:cNvPr id="7207" name="AutoShape 21"/>
          <p:cNvSpPr>
            <a:spLocks noChangeArrowheads="1"/>
          </p:cNvSpPr>
          <p:nvPr/>
        </p:nvSpPr>
        <p:spPr bwMode="auto">
          <a:xfrm rot="5400000">
            <a:off x="1322364" y="3535364"/>
            <a:ext cx="433387" cy="649288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335896" name="Text Box 24"/>
          <p:cNvSpPr txBox="1">
            <a:spLocks noChangeArrowheads="1"/>
          </p:cNvSpPr>
          <p:nvPr/>
        </p:nvSpPr>
        <p:spPr bwMode="auto">
          <a:xfrm>
            <a:off x="3813146" y="1886249"/>
            <a:ext cx="4046621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400" dirty="0" err="1" smtClean="0">
                <a:ea typeface="ＭＳ Ｐゴシック" charset="-128"/>
              </a:rPr>
              <a:t>int</a:t>
            </a:r>
            <a:r>
              <a:rPr lang="ja-JP" altLang="en-US" sz="2400" dirty="0" smtClean="0">
                <a:ea typeface="ＭＳ Ｐゴシック" charset="-128"/>
              </a:rPr>
              <a:t>型を要素とする配列</a:t>
            </a:r>
            <a:r>
              <a:rPr lang="ja-JP" altLang="en-US" sz="2400" dirty="0">
                <a:ea typeface="ＭＳ Ｐゴシック" charset="-128"/>
              </a:rPr>
              <a:t>の宣言</a:t>
            </a:r>
          </a:p>
        </p:txBody>
      </p:sp>
      <p:sp>
        <p:nvSpPr>
          <p:cNvPr id="335952" name="Text Box 80"/>
          <p:cNvSpPr txBox="1">
            <a:spLocks noChangeArrowheads="1"/>
          </p:cNvSpPr>
          <p:nvPr/>
        </p:nvSpPr>
        <p:spPr bwMode="auto">
          <a:xfrm>
            <a:off x="5797548" y="4295607"/>
            <a:ext cx="3071802" cy="1200329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2400" dirty="0">
                <a:ea typeface="ＭＳ Ｐゴシック" pitchFamily="-108" charset="-128"/>
              </a:rPr>
              <a:t> </a:t>
            </a:r>
            <a:r>
              <a:rPr lang="en-US" altLang="ja-JP" sz="2400" dirty="0" smtClean="0">
                <a:ea typeface="ＭＳ Ｐゴシック" pitchFamily="-108" charset="-128"/>
              </a:rPr>
              <a:t>a[0</a:t>
            </a:r>
            <a:r>
              <a:rPr lang="en-US" altLang="ja-JP" sz="2400" dirty="0">
                <a:ea typeface="ＭＳ Ｐゴシック" pitchFamily="-108" charset="-128"/>
              </a:rPr>
              <a:t>] </a:t>
            </a:r>
            <a:r>
              <a:rPr lang="ja-JP" altLang="en-US" sz="2400" dirty="0" smtClean="0">
                <a:ea typeface="ＭＳ Ｐゴシック" pitchFamily="-108" charset="-128"/>
              </a:rPr>
              <a:t>～</a:t>
            </a:r>
            <a:r>
              <a:rPr lang="en-US" altLang="ja-JP" sz="2400" dirty="0" smtClean="0">
                <a:ea typeface="ＭＳ Ｐゴシック" pitchFamily="-108" charset="-128"/>
              </a:rPr>
              <a:t>a[2]</a:t>
            </a:r>
            <a:r>
              <a:rPr lang="ja-JP" altLang="en-US" sz="2400" dirty="0" err="1" smtClean="0">
                <a:ea typeface="ＭＳ Ｐゴシック" pitchFamily="-108" charset="-128"/>
              </a:rPr>
              <a:t>までの</a:t>
            </a:r>
            <a:r>
              <a:rPr lang="en-US" altLang="ja-JP" sz="2400" dirty="0" smtClean="0">
                <a:ea typeface="ＭＳ Ｐゴシック" pitchFamily="-108" charset="-128"/>
              </a:rPr>
              <a:t>3</a:t>
            </a:r>
            <a:r>
              <a:rPr lang="ja-JP" altLang="en-US" sz="2400" dirty="0" smtClean="0">
                <a:ea typeface="ＭＳ Ｐゴシック" pitchFamily="-108" charset="-128"/>
              </a:rPr>
              <a:t>個</a:t>
            </a:r>
            <a:r>
              <a:rPr lang="ja-JP" altLang="en-US" sz="2400" dirty="0">
                <a:ea typeface="ＭＳ Ｐゴシック" pitchFamily="-108" charset="-128"/>
              </a:rPr>
              <a:t>の</a:t>
            </a:r>
            <a:r>
              <a:rPr lang="en-US" altLang="ja-JP" sz="2400" dirty="0" err="1">
                <a:ea typeface="ＭＳ Ｐゴシック" pitchFamily="-108" charset="-128"/>
              </a:rPr>
              <a:t>int</a:t>
            </a:r>
            <a:r>
              <a:rPr lang="ja-JP" altLang="en-US" sz="2400" dirty="0" smtClean="0">
                <a:ea typeface="ＭＳ Ｐゴシック" pitchFamily="-108" charset="-128"/>
              </a:rPr>
              <a:t>型のデータの格納場所が用意される。</a:t>
            </a:r>
            <a:endParaRPr lang="ja-JP" altLang="en-US" sz="2400" dirty="0">
              <a:ea typeface="ＭＳ Ｐゴシック" pitchFamily="-108" charset="-128"/>
            </a:endParaRPr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4482285" y="2857496"/>
            <a:ext cx="32587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4400" dirty="0" err="1" smtClean="0"/>
              <a:t>i</a:t>
            </a:r>
            <a:r>
              <a:rPr kumimoji="1" lang="en-US" altLang="ja-JP" sz="4400" dirty="0" err="1" smtClean="0"/>
              <a:t>nt</a:t>
            </a:r>
            <a:r>
              <a:rPr kumimoji="1" lang="en-US" altLang="ja-JP" sz="4400" dirty="0" smtClean="0"/>
              <a:t>    a    [3]   ;</a:t>
            </a:r>
            <a:endParaRPr kumimoji="1" lang="ja-JP" altLang="en-US" sz="4400" dirty="0"/>
          </a:p>
        </p:txBody>
      </p:sp>
      <p:sp>
        <p:nvSpPr>
          <p:cNvPr id="64" name="AutoShape 21"/>
          <p:cNvSpPr>
            <a:spLocks noChangeArrowheads="1"/>
          </p:cNvSpPr>
          <p:nvPr/>
        </p:nvSpPr>
        <p:spPr bwMode="auto">
          <a:xfrm rot="5400000">
            <a:off x="4894264" y="3535364"/>
            <a:ext cx="433387" cy="649288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65" name="Text Box 80"/>
          <p:cNvSpPr txBox="1">
            <a:spLocks noChangeArrowheads="1"/>
          </p:cNvSpPr>
          <p:nvPr/>
        </p:nvSpPr>
        <p:spPr bwMode="auto">
          <a:xfrm>
            <a:off x="285720" y="5000636"/>
            <a:ext cx="3429024" cy="83099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ja-JP" sz="2400" dirty="0" err="1" smtClean="0">
                <a:ea typeface="ＭＳ Ｐゴシック" pitchFamily="-108" charset="-128"/>
              </a:rPr>
              <a:t>int</a:t>
            </a:r>
            <a:r>
              <a:rPr lang="ja-JP" altLang="en-US" sz="2400" dirty="0" smtClean="0">
                <a:ea typeface="ＭＳ Ｐゴシック" pitchFamily="-108" charset="-128"/>
              </a:rPr>
              <a:t>型のデータの格納場所が１つ用意される。</a:t>
            </a:r>
            <a:endParaRPr lang="ja-JP" altLang="en-US" sz="2400" dirty="0">
              <a:ea typeface="ＭＳ Ｐゴシック" pitchFamily="-108" charset="-128"/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4259221" y="5677213"/>
            <a:ext cx="4181534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[ ]</a:t>
            </a:r>
            <a:r>
              <a:rPr lang="ja-JP" altLang="en-US" sz="2400" dirty="0" smtClean="0"/>
              <a:t>内に書く番号</a:t>
            </a:r>
            <a:r>
              <a:rPr lang="en-US" altLang="ja-JP" sz="2400" dirty="0" smtClean="0"/>
              <a:t>(</a:t>
            </a:r>
            <a:r>
              <a:rPr lang="ja-JP" altLang="en-US" sz="2400" dirty="0" smtClean="0"/>
              <a:t>添え字という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は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から始まる。</a:t>
            </a:r>
            <a:endParaRPr kumimoji="1" lang="ja-JP" altLang="en-US" sz="2400" dirty="0"/>
          </a:p>
        </p:txBody>
      </p:sp>
      <p:grpSp>
        <p:nvGrpSpPr>
          <p:cNvPr id="67" name="Group 63"/>
          <p:cNvGrpSpPr>
            <a:grpSpLocks/>
          </p:cNvGrpSpPr>
          <p:nvPr/>
        </p:nvGrpSpPr>
        <p:grpSpPr bwMode="auto">
          <a:xfrm>
            <a:off x="4214810" y="4286256"/>
            <a:ext cx="1439862" cy="566738"/>
            <a:chOff x="2789" y="2614"/>
            <a:chExt cx="907" cy="357"/>
          </a:xfrm>
        </p:grpSpPr>
        <p:sp>
          <p:nvSpPr>
            <p:cNvPr id="68" name="AutoShape 64"/>
            <p:cNvSpPr>
              <a:spLocks noChangeArrowheads="1"/>
            </p:cNvSpPr>
            <p:nvPr/>
          </p:nvSpPr>
          <p:spPr bwMode="auto">
            <a:xfrm>
              <a:off x="2789" y="2614"/>
              <a:ext cx="907" cy="318"/>
            </a:xfrm>
            <a:prstGeom prst="cube">
              <a:avLst>
                <a:gd name="adj" fmla="val 25000"/>
              </a:avLst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ja-JP" altLang="en-US" sz="2400"/>
            </a:p>
          </p:txBody>
        </p:sp>
        <p:sp>
          <p:nvSpPr>
            <p:cNvPr id="69" name="Text Box 65"/>
            <p:cNvSpPr txBox="1">
              <a:spLocks noChangeArrowheads="1"/>
            </p:cNvSpPr>
            <p:nvPr/>
          </p:nvSpPr>
          <p:spPr bwMode="auto">
            <a:xfrm>
              <a:off x="2941" y="2680"/>
              <a:ext cx="56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ja-JP" sz="2400" b="1" dirty="0" smtClean="0">
                  <a:ea typeface="ＭＳ Ｐゴシック" charset="-128"/>
                </a:rPr>
                <a:t> a [0]</a:t>
              </a:r>
              <a:endParaRPr lang="en-US" altLang="ja-JP" sz="2400" b="1" dirty="0">
                <a:ea typeface="ＭＳ Ｐゴシック" charset="-128"/>
              </a:endParaRPr>
            </a:p>
          </p:txBody>
        </p:sp>
      </p:grpSp>
      <p:sp>
        <p:nvSpPr>
          <p:cNvPr id="70" name="Text Box 6"/>
          <p:cNvSpPr txBox="1">
            <a:spLocks noChangeArrowheads="1"/>
          </p:cNvSpPr>
          <p:nvPr/>
        </p:nvSpPr>
        <p:spPr bwMode="auto">
          <a:xfrm>
            <a:off x="4161866" y="2571744"/>
            <a:ext cx="1338828" cy="36933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ja-JP" altLang="en-US" dirty="0" smtClean="0">
                <a:ea typeface="ＭＳ Ｐゴシック" charset="-128"/>
              </a:rPr>
              <a:t>要素の型名</a:t>
            </a:r>
            <a:endParaRPr lang="ja-JP" altLang="en-US" dirty="0">
              <a:ea typeface="ＭＳ Ｐゴシック" charset="-128"/>
            </a:endParaRPr>
          </a:p>
        </p:txBody>
      </p:sp>
      <p:sp>
        <p:nvSpPr>
          <p:cNvPr id="71" name="テキスト ボックス 70"/>
          <p:cNvSpPr txBox="1"/>
          <p:nvPr/>
        </p:nvSpPr>
        <p:spPr>
          <a:xfrm>
            <a:off x="5488659" y="2571744"/>
            <a:ext cx="1975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変数名   </a:t>
            </a:r>
            <a:r>
              <a:rPr kumimoji="1" lang="en-US" altLang="ja-JP" dirty="0" smtClean="0"/>
              <a:t>[ </a:t>
            </a:r>
            <a:r>
              <a:rPr kumimoji="1" lang="ja-JP" altLang="en-US" dirty="0" smtClean="0"/>
              <a:t>要素数 </a:t>
            </a:r>
            <a:r>
              <a:rPr kumimoji="1" lang="en-US" altLang="ja-JP" dirty="0" smtClean="0"/>
              <a:t>]</a:t>
            </a:r>
            <a:endParaRPr kumimoji="1" lang="ja-JP" altLang="en-US" dirty="0"/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571472" y="2786058"/>
            <a:ext cx="20869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 smtClean="0"/>
              <a:t> </a:t>
            </a:r>
            <a:r>
              <a:rPr kumimoji="1" lang="en-US" altLang="ja-JP" sz="4400" dirty="0" err="1" smtClean="0"/>
              <a:t>int</a:t>
            </a:r>
            <a:r>
              <a:rPr kumimoji="1" lang="en-US" altLang="ja-JP" sz="4400" dirty="0" smtClean="0"/>
              <a:t>   x   ;</a:t>
            </a:r>
            <a:endParaRPr kumimoji="1" lang="ja-JP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配列の各要素への</a:t>
            </a:r>
            <a:r>
              <a:rPr lang="ja-JP" altLang="en-US" dirty="0" smtClean="0"/>
              <a:t>アクセス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2258319"/>
            <a:ext cx="341035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x;</a:t>
            </a:r>
          </a:p>
          <a:p>
            <a:r>
              <a:rPr lang="en-US" altLang="ja-JP" sz="2800" dirty="0" smtClean="0"/>
              <a:t> x = 3;</a:t>
            </a:r>
          </a:p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printf</a:t>
            </a:r>
            <a:r>
              <a:rPr kumimoji="1" lang="en-US" altLang="ja-JP" sz="2800" dirty="0" smtClean="0"/>
              <a:t> (“%d\n”, x + 2);</a:t>
            </a:r>
            <a:endParaRPr kumimoji="1" lang="ja-JP" altLang="en-US" sz="28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786314" y="2214554"/>
            <a:ext cx="389606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int</a:t>
            </a:r>
            <a:r>
              <a:rPr kumimoji="1" lang="en-US" altLang="ja-JP" sz="2800" dirty="0" smtClean="0"/>
              <a:t> x [10];</a:t>
            </a:r>
          </a:p>
          <a:p>
            <a:r>
              <a:rPr lang="en-US" altLang="ja-JP" sz="2800" dirty="0" smtClean="0"/>
              <a:t> </a:t>
            </a:r>
            <a:r>
              <a:rPr lang="en-US" altLang="ja-JP" sz="2800" dirty="0" smtClean="0">
                <a:solidFill>
                  <a:srgbClr val="FF0000"/>
                </a:solidFill>
              </a:rPr>
              <a:t>x[0]</a:t>
            </a:r>
            <a:r>
              <a:rPr lang="en-US" altLang="ja-JP" sz="2800" dirty="0" smtClean="0"/>
              <a:t> = 3;</a:t>
            </a:r>
          </a:p>
          <a:p>
            <a:r>
              <a:rPr kumimoji="1" lang="en-US" altLang="ja-JP" sz="2800" dirty="0" smtClean="0"/>
              <a:t> </a:t>
            </a:r>
            <a:r>
              <a:rPr kumimoji="1" lang="en-US" altLang="ja-JP" sz="2800" dirty="0" err="1" smtClean="0"/>
              <a:t>printf</a:t>
            </a:r>
            <a:r>
              <a:rPr kumimoji="1" lang="en-US" altLang="ja-JP" sz="2800" dirty="0" smtClean="0"/>
              <a:t> (“%d\n”, 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x[0]</a:t>
            </a:r>
            <a:r>
              <a:rPr kumimoji="1" lang="en-US" altLang="ja-JP" sz="2800" dirty="0" smtClean="0"/>
              <a:t> + 2);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714348" y="171448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変数の場合の例</a:t>
            </a:r>
            <a:endParaRPr kumimoji="1" lang="ja-JP" altLang="en-US" sz="2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4786314" y="168145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配列</a:t>
            </a:r>
            <a:r>
              <a:rPr kumimoji="1" lang="ja-JP" altLang="en-US" sz="2400" dirty="0" smtClean="0"/>
              <a:t>の場合の例</a:t>
            </a:r>
            <a:endParaRPr kumimoji="1" lang="ja-JP" altLang="en-US" sz="2400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00034" y="5429264"/>
            <a:ext cx="814390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変数の場合と同様に、配列の各要素が</a:t>
            </a:r>
            <a:r>
              <a:rPr kumimoji="1" lang="en-US" altLang="ja-JP" sz="2400" dirty="0" err="1" smtClean="0"/>
              <a:t>int</a:t>
            </a:r>
            <a:r>
              <a:rPr kumimoji="1" lang="ja-JP" altLang="en-US" sz="2400" dirty="0" smtClean="0"/>
              <a:t>型や</a:t>
            </a:r>
            <a:r>
              <a:rPr kumimoji="1" lang="en-US" altLang="ja-JP" sz="2400" dirty="0" smtClean="0"/>
              <a:t>double</a:t>
            </a:r>
            <a:r>
              <a:rPr kumimoji="1" lang="ja-JP" altLang="en-US" sz="2400" dirty="0" smtClean="0"/>
              <a:t>型の場合には、そこへ値を代入したり、そこに格納されている値を参照したりできる。</a:t>
            </a:r>
            <a:endParaRPr kumimoji="1" lang="ja-JP" altLang="en-US" sz="24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00034" y="4014621"/>
            <a:ext cx="807249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配列の各要素は、</a:t>
            </a:r>
            <a:r>
              <a:rPr kumimoji="1" lang="en-US" altLang="ja-JP" sz="2400" dirty="0" smtClean="0"/>
              <a:t>x[0]</a:t>
            </a:r>
            <a:r>
              <a:rPr kumimoji="1" lang="ja-JP" altLang="en-US" sz="2400" dirty="0" smtClean="0"/>
              <a:t>のように、配列名に続けて添え字を</a:t>
            </a:r>
            <a:r>
              <a:rPr kumimoji="1" lang="en-US" altLang="ja-JP" sz="2400" dirty="0" smtClean="0"/>
              <a:t>[ ]</a:t>
            </a:r>
            <a:r>
              <a:rPr kumimoji="1" lang="ja-JP" altLang="en-US" sz="2400" dirty="0" smtClean="0"/>
              <a:t>内に入れて表す</a:t>
            </a:r>
            <a:r>
              <a:rPr lang="ja-JP" altLang="en-US" sz="2400" dirty="0" smtClean="0"/>
              <a:t>。添え字は数字でなくても変数などの式でも構わない。ポインタの回にもう一度説明する。</a:t>
            </a:r>
            <a:endParaRPr kumimoji="1"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変数宣言の記法について</a:t>
            </a:r>
            <a:r>
              <a:rPr lang="ja-JP" altLang="en-US" dirty="0" smtClean="0"/>
              <a:t>（１）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42976" y="1500174"/>
            <a:ext cx="6929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これまで変数宣言は１つずつ</a:t>
            </a:r>
            <a:r>
              <a:rPr lang="ja-JP" altLang="en-US" sz="2400" dirty="0" smtClean="0"/>
              <a:t>書いてきたが、同じ型の変数はまとめて宣言することができる。</a:t>
            </a:r>
            <a:endParaRPr lang="en-US" altLang="ja-JP" sz="24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00100" y="2500306"/>
            <a:ext cx="6476453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（例）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y;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z;</a:t>
            </a:r>
          </a:p>
          <a:p>
            <a:r>
              <a:rPr lang="en-US" altLang="ja-JP" sz="2400" dirty="0" smtClean="0"/>
              <a:t>    double a;</a:t>
            </a:r>
          </a:p>
          <a:p>
            <a:r>
              <a:rPr lang="en-US" altLang="ja-JP" sz="2400" dirty="0" smtClean="0"/>
              <a:t>    double b;</a:t>
            </a:r>
          </a:p>
          <a:p>
            <a:r>
              <a:rPr kumimoji="1" lang="ja-JP" altLang="en-US" sz="2400" dirty="0" smtClean="0"/>
              <a:t>は、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x,y,z</a:t>
            </a:r>
            <a:r>
              <a:rPr lang="en-US" altLang="ja-JP" sz="2400" dirty="0" smtClean="0"/>
              <a:t>;</a:t>
            </a:r>
          </a:p>
          <a:p>
            <a:r>
              <a:rPr lang="en-US" altLang="ja-JP" sz="2400" dirty="0" smtClean="0"/>
              <a:t>    double a, b;</a:t>
            </a:r>
          </a:p>
          <a:p>
            <a:r>
              <a:rPr kumimoji="1" lang="ja-JP" altLang="en-US" sz="2400" dirty="0" smtClean="0"/>
              <a:t>のように</a:t>
            </a:r>
            <a:r>
              <a:rPr lang="ja-JP" altLang="en-US" sz="2400" dirty="0" smtClean="0"/>
              <a:t>、コンマで区切って一度に宣言してよい。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変数宣言の記法について</a:t>
            </a:r>
            <a:r>
              <a:rPr lang="ja-JP" altLang="en-US" dirty="0" smtClean="0"/>
              <a:t>（２）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71538" y="1500174"/>
            <a:ext cx="6929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配列の宣言もまとめて書いてよい。</a:t>
            </a:r>
            <a:endParaRPr lang="en-US" altLang="ja-JP" sz="24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714348" y="2143116"/>
            <a:ext cx="735808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（例）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a[3];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b[10];</a:t>
            </a:r>
          </a:p>
          <a:p>
            <a:r>
              <a:rPr lang="en-US" altLang="ja-JP" sz="2400" dirty="0" smtClean="0"/>
              <a:t>    double y;</a:t>
            </a:r>
          </a:p>
          <a:p>
            <a:r>
              <a:rPr lang="en-US" altLang="ja-JP" sz="2400" dirty="0" smtClean="0"/>
              <a:t>    double c[20];</a:t>
            </a:r>
          </a:p>
          <a:p>
            <a:r>
              <a:rPr kumimoji="1" lang="ja-JP" altLang="en-US" sz="2400" dirty="0" smtClean="0"/>
              <a:t>は、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x, a[3], b[10];</a:t>
            </a:r>
          </a:p>
          <a:p>
            <a:r>
              <a:rPr lang="en-US" altLang="ja-JP" sz="2400" dirty="0" smtClean="0"/>
              <a:t>    double y, c[20];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lang="ja-JP" altLang="en-US" sz="2400" dirty="0" smtClean="0"/>
              <a:t>コンマで区切って一度に宣言してよい。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変数宣言</a:t>
            </a:r>
            <a:r>
              <a:rPr lang="ja-JP" altLang="en-US" dirty="0" smtClean="0"/>
              <a:t>と初期化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42976" y="1500174"/>
            <a:ext cx="6929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変数宣言時に、変数の初期値を書くことができる。</a:t>
            </a:r>
            <a:endParaRPr lang="en-US" altLang="ja-JP" sz="24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142976" y="2357430"/>
            <a:ext cx="65722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（例）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y;</a:t>
            </a:r>
          </a:p>
          <a:p>
            <a:r>
              <a:rPr lang="en-US" altLang="ja-JP" sz="2400" dirty="0" smtClean="0"/>
              <a:t>    x=3;</a:t>
            </a:r>
          </a:p>
          <a:p>
            <a:r>
              <a:rPr lang="en-US" altLang="ja-JP" sz="2400" dirty="0" smtClean="0"/>
              <a:t>    y=10;</a:t>
            </a:r>
          </a:p>
          <a:p>
            <a:r>
              <a:rPr lang="ja-JP" altLang="en-US" sz="2400" dirty="0" smtClean="0"/>
              <a:t>は、</a:t>
            </a:r>
            <a:endParaRPr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x=3, y=10;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まとめて書いてよい。</a:t>
            </a:r>
            <a:endParaRPr lang="en-US" altLang="ja-JP" sz="2400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500166" y="5715016"/>
            <a:ext cx="6000792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2000" dirty="0" smtClean="0"/>
              <a:t>変数宣言時に初期化をすることによって、その変数の値を代入前に参照するという状況が起こらなくなる。</a:t>
            </a:r>
            <a:endParaRPr lang="en-US" altLang="ja-JP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配列の初期化（１）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2" y="1643050"/>
            <a:ext cx="624882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変数と同様、配列も宣言時に初期化できる。</a:t>
            </a:r>
            <a:endParaRPr kumimoji="1" lang="en-US" altLang="ja-JP" sz="2400" dirty="0" smtClean="0"/>
          </a:p>
          <a:p>
            <a:r>
              <a:rPr lang="ja-JP" altLang="en-US" sz="2400" dirty="0" smtClean="0"/>
              <a:t>宣言時に、右辺に中括弧で囲んで値を並べる。</a:t>
            </a:r>
            <a:endParaRPr kumimoji="1" lang="en-US" altLang="ja-JP" sz="2400" dirty="0" smtClean="0"/>
          </a:p>
          <a:p>
            <a:endParaRPr lang="en-US" altLang="ja-JP" sz="2400" dirty="0" smtClean="0"/>
          </a:p>
          <a:p>
            <a:r>
              <a:rPr lang="ja-JP" altLang="en-US" sz="2400" dirty="0" smtClean="0"/>
              <a:t>例えば、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a[3];</a:t>
            </a:r>
          </a:p>
          <a:p>
            <a:r>
              <a:rPr kumimoji="1" lang="en-US" altLang="ja-JP" sz="2400" dirty="0" smtClean="0"/>
              <a:t>    a[0] = 10;</a:t>
            </a:r>
          </a:p>
          <a:p>
            <a:r>
              <a:rPr lang="en-US" altLang="ja-JP" sz="2400" dirty="0" smtClean="0"/>
              <a:t>    a[1] = 5;</a:t>
            </a:r>
          </a:p>
          <a:p>
            <a:r>
              <a:rPr kumimoji="1" lang="en-US" altLang="ja-JP" sz="2400" dirty="0" smtClean="0"/>
              <a:t>    a[2] = 7;</a:t>
            </a:r>
          </a:p>
          <a:p>
            <a:r>
              <a:rPr lang="ja-JP" altLang="en-US" sz="2400" dirty="0" smtClean="0"/>
              <a:t>は、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[3] = {10, 5, 7};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kumimoji="1" lang="ja-JP" altLang="en-US" sz="2400" dirty="0" smtClean="0"/>
              <a:t>まとめて書くことができる。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配列の要素数について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85786" y="1500174"/>
            <a:ext cx="735811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配列を宣言する際、要素数は定数でなければならない。</a:t>
            </a:r>
            <a:endParaRPr lang="en-US" altLang="ja-JP" sz="2400" dirty="0" smtClean="0"/>
          </a:p>
          <a:p>
            <a:r>
              <a:rPr lang="ja-JP" altLang="en-US" sz="2400" dirty="0" smtClean="0"/>
              <a:t>（教科書 </a:t>
            </a:r>
            <a:r>
              <a:rPr lang="en-US" altLang="ja-JP" sz="2400" dirty="0" smtClean="0"/>
              <a:t>p. 89 </a:t>
            </a:r>
            <a:r>
              <a:rPr lang="ja-JP" altLang="en-US" sz="2400" dirty="0" smtClean="0"/>
              <a:t>参照）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例えば、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n = 5;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a[n];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要素数を変数で指定することは</a:t>
            </a:r>
            <a:r>
              <a:rPr lang="en-US" altLang="ja-JP" sz="2400" dirty="0" smtClean="0"/>
              <a:t>(1990</a:t>
            </a:r>
            <a:r>
              <a:rPr lang="ja-JP" altLang="en-US" sz="2400" dirty="0" smtClean="0"/>
              <a:t>年の</a:t>
            </a:r>
            <a:r>
              <a:rPr lang="en-US" altLang="ja-JP" sz="2400" dirty="0" smtClean="0"/>
              <a:t>ISO</a:t>
            </a:r>
            <a:r>
              <a:rPr lang="ja-JP" altLang="en-US" sz="2400" dirty="0" smtClean="0"/>
              <a:t>規格では</a:t>
            </a:r>
            <a:r>
              <a:rPr lang="en-US" altLang="ja-JP" sz="2400" dirty="0" smtClean="0"/>
              <a:t>)</a:t>
            </a:r>
            <a:r>
              <a:rPr lang="ja-JP" altLang="en-US" sz="2400" dirty="0" smtClean="0"/>
              <a:t>許されていない。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ただし、</a:t>
            </a:r>
            <a:r>
              <a:rPr kumimoji="1" lang="en-US" altLang="ja-JP" sz="2400" dirty="0" smtClean="0"/>
              <a:t>1999</a:t>
            </a:r>
            <a:r>
              <a:rPr kumimoji="1" lang="ja-JP" altLang="en-US" sz="2400" dirty="0" smtClean="0"/>
              <a:t>年の</a:t>
            </a:r>
            <a:r>
              <a:rPr kumimoji="1" lang="en-US" altLang="ja-JP" sz="2400" dirty="0" smtClean="0"/>
              <a:t>ISO</a:t>
            </a:r>
            <a:r>
              <a:rPr lang="ja-JP" altLang="en-US" sz="2400" dirty="0" smtClean="0"/>
              <a:t>規格</a:t>
            </a:r>
            <a:r>
              <a:rPr lang="en-US" altLang="ja-JP" sz="2400" dirty="0" smtClean="0"/>
              <a:t>(C99)</a:t>
            </a:r>
            <a:r>
              <a:rPr lang="ja-JP" altLang="en-US" sz="2400" dirty="0" smtClean="0"/>
              <a:t>では定数でなくてもよくなったので、上記のような宣言は許されている。</a:t>
            </a:r>
            <a:endParaRPr lang="en-US" altLang="ja-JP" sz="2400" dirty="0" smtClean="0"/>
          </a:p>
          <a:p>
            <a:r>
              <a:rPr lang="ja-JP" altLang="en-US" sz="2400" dirty="0" smtClean="0"/>
              <a:t>講義では</a:t>
            </a:r>
            <a:r>
              <a:rPr lang="en-US" altLang="ja-JP" sz="2400" dirty="0" smtClean="0"/>
              <a:t>1990</a:t>
            </a:r>
            <a:r>
              <a:rPr lang="ja-JP" altLang="en-US" sz="2400" dirty="0" smtClean="0"/>
              <a:t>年の</a:t>
            </a:r>
            <a:r>
              <a:rPr lang="en-US" altLang="ja-JP" sz="2400" dirty="0" smtClean="0"/>
              <a:t>ISO</a:t>
            </a:r>
            <a:r>
              <a:rPr lang="ja-JP" altLang="en-US" sz="2400" dirty="0" smtClean="0"/>
              <a:t>規格に従うが、試験ではどちらでもよいことにする。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71414"/>
            <a:ext cx="8229600" cy="725470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プログラム例２（打ち込んで確認）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42976" y="784943"/>
            <a:ext cx="6929486" cy="6001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/* </a:t>
            </a:r>
            <a:r>
              <a:rPr lang="ja-JP" altLang="en-US" sz="2400" dirty="0" smtClean="0"/>
              <a:t>長さ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の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型配列の各要素に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を代入 *</a:t>
            </a:r>
            <a:r>
              <a:rPr lang="en-US" altLang="ja-JP" sz="2400" dirty="0" smtClean="0"/>
              <a:t>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a[10];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&lt;10) {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smtClean="0">
                <a:solidFill>
                  <a:srgbClr val="FF0000"/>
                </a:solidFill>
              </a:rPr>
              <a:t>a[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</a:t>
            </a:r>
            <a:r>
              <a:rPr lang="en-US" altLang="ja-JP" sz="2400" dirty="0" smtClean="0"/>
              <a:t> = 0;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&lt;10) {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 = 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</a:t>
            </a:r>
            <a:r>
              <a:rPr lang="en-US" altLang="ja-JP" sz="2400" dirty="0" smtClean="0">
                <a:solidFill>
                  <a:srgbClr val="FF0000"/>
                </a:solidFill>
              </a:rPr>
              <a:t>a[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</a:t>
            </a:r>
            <a:r>
              <a:rPr lang="en-US" altLang="ja-JP" sz="2400" dirty="0" smtClean="0">
                <a:solidFill>
                  <a:srgbClr val="FF0000"/>
                </a:solidFill>
              </a:rPr>
              <a:t>]</a:t>
            </a:r>
            <a:r>
              <a:rPr lang="en-US" altLang="ja-JP" sz="2400" dirty="0" smtClean="0"/>
              <a:t>);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786182" y="3071810"/>
            <a:ext cx="385765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</a:t>
            </a:r>
            <a:r>
              <a:rPr lang="ja-JP" altLang="en-US" sz="2400" dirty="0" smtClean="0"/>
              <a:t>においては、変数式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</a:t>
            </a:r>
            <a:r>
              <a:rPr lang="ja-JP" altLang="en-US" sz="2400" dirty="0" smtClean="0"/>
              <a:t>が添え字になっている。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642942"/>
          </a:xfrm>
        </p:spPr>
        <p:txBody>
          <a:bodyPr>
            <a:normAutofit fontScale="90000"/>
          </a:bodyPr>
          <a:lstStyle/>
          <a:p>
            <a:r>
              <a:rPr kumimoji="1" lang="ja-JP" altLang="en-US" sz="4000" dirty="0" smtClean="0"/>
              <a:t>プログラム例</a:t>
            </a:r>
            <a:r>
              <a:rPr lang="ja-JP" altLang="en-US" sz="4000" dirty="0" smtClean="0"/>
              <a:t>３（打ち込んで確認）</a:t>
            </a:r>
            <a:endParaRPr kumimoji="1" lang="ja-JP" altLang="en-US" sz="4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428596" y="980728"/>
            <a:ext cx="8143932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/* </a:t>
            </a:r>
            <a:r>
              <a:rPr lang="ja-JP" altLang="en-US" sz="2400" dirty="0" smtClean="0"/>
              <a:t>配列にキーボードからの入力値を格納 </a:t>
            </a:r>
            <a:r>
              <a:rPr lang="en-US" altLang="ja-JP" sz="2400" dirty="0" smtClean="0"/>
              <a:t>*/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m[3];</a:t>
            </a:r>
          </a:p>
          <a:p>
            <a:r>
              <a:rPr lang="en-US" altLang="ja-JP" sz="2400" dirty="0" smtClean="0"/>
              <a:t>    double average;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(“M09001</a:t>
            </a:r>
            <a:r>
              <a:rPr lang="ja-JP" altLang="en-US" sz="2400" dirty="0" smtClean="0"/>
              <a:t>の成績を入力してください</a:t>
            </a:r>
            <a:r>
              <a:rPr lang="en-US" altLang="ja-JP" sz="2400" dirty="0" smtClean="0"/>
              <a:t>: “);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</a:t>
            </a:r>
            <a:r>
              <a:rPr lang="en-US" altLang="ja-JP" sz="2400" dirty="0" smtClean="0">
                <a:solidFill>
                  <a:srgbClr val="FF0000"/>
                </a:solidFill>
              </a:rPr>
              <a:t>&amp;m[0]</a:t>
            </a:r>
            <a:r>
              <a:rPr lang="en-US" altLang="ja-JP" sz="2400" dirty="0" smtClean="0"/>
              <a:t>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(“M09002</a:t>
            </a:r>
            <a:r>
              <a:rPr lang="ja-JP" altLang="en-US" sz="2400" dirty="0" smtClean="0"/>
              <a:t>の成績を入力してください</a:t>
            </a:r>
            <a:r>
              <a:rPr lang="en-US" altLang="ja-JP" sz="2400" dirty="0" smtClean="0"/>
              <a:t>: “);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</a:t>
            </a:r>
            <a:r>
              <a:rPr lang="en-US" altLang="ja-JP" sz="2400" dirty="0" smtClean="0">
                <a:solidFill>
                  <a:srgbClr val="FF0000"/>
                </a:solidFill>
              </a:rPr>
              <a:t>&amp;m[1]</a:t>
            </a:r>
            <a:r>
              <a:rPr lang="en-US" altLang="ja-JP" sz="2400" dirty="0" smtClean="0"/>
              <a:t>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(“M09003</a:t>
            </a:r>
            <a:r>
              <a:rPr lang="ja-JP" altLang="en-US" sz="2400" dirty="0" smtClean="0"/>
              <a:t>の成績を入力してください</a:t>
            </a:r>
            <a:r>
              <a:rPr lang="en-US" altLang="ja-JP" sz="2400" dirty="0" smtClean="0"/>
              <a:t>: “);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</a:t>
            </a:r>
            <a:r>
              <a:rPr lang="en-US" altLang="ja-JP" sz="2400" dirty="0" smtClean="0">
                <a:solidFill>
                  <a:srgbClr val="FF0000"/>
                </a:solidFill>
              </a:rPr>
              <a:t>&amp;m[2]</a:t>
            </a:r>
            <a:r>
              <a:rPr lang="en-US" altLang="ja-JP" sz="2400" dirty="0" smtClean="0"/>
              <a:t>);</a:t>
            </a:r>
          </a:p>
          <a:p>
            <a:r>
              <a:rPr lang="en-US" altLang="ja-JP" sz="2400" dirty="0" smtClean="0"/>
              <a:t>    average = (double) (m[0] + m[1] + m[2]) / 3;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</a:t>
            </a:r>
            <a:r>
              <a:rPr lang="ja-JP" altLang="en-US" sz="2400" dirty="0" smtClean="0"/>
              <a:t>平均点は</a:t>
            </a:r>
            <a:r>
              <a:rPr lang="en-US" altLang="ja-JP" sz="2400" dirty="0" smtClean="0"/>
              <a:t>%f</a:t>
            </a:r>
            <a:r>
              <a:rPr lang="ja-JP" altLang="en-US" sz="2400" dirty="0" smtClean="0"/>
              <a:t>点です。</a:t>
            </a:r>
            <a:r>
              <a:rPr lang="en-US" altLang="ja-JP" sz="2400" dirty="0" smtClean="0"/>
              <a:t>\n”, average);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491880" y="1412776"/>
            <a:ext cx="468052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2000" dirty="0" smtClean="0"/>
              <a:t>変数と同じように、</a:t>
            </a:r>
            <a:r>
              <a:rPr lang="en-US" altLang="ja-JP" sz="2000" dirty="0" smtClean="0"/>
              <a:t>&amp;</a:t>
            </a:r>
            <a:r>
              <a:rPr lang="ja-JP" altLang="en-US" sz="2000" dirty="0" smtClean="0"/>
              <a:t>を左側につける。詳しくはポインタの回に説明する。</a:t>
            </a:r>
            <a:r>
              <a:rPr lang="en-US" altLang="ja-JP" sz="2000" dirty="0" smtClean="0"/>
              <a:t> &amp;(m[0])</a:t>
            </a:r>
            <a:r>
              <a:rPr lang="ja-JP" altLang="en-US" sz="2000" dirty="0" smtClean="0"/>
              <a:t>を</a:t>
            </a:r>
            <a:r>
              <a:rPr lang="en-US" altLang="ja-JP" sz="2000" dirty="0" smtClean="0">
                <a:solidFill>
                  <a:srgbClr val="FF0000"/>
                </a:solidFill>
              </a:rPr>
              <a:t>&amp;m[0]</a:t>
            </a:r>
            <a:r>
              <a:rPr lang="ja-JP" altLang="en-US" sz="2000" dirty="0" err="1" smtClean="0"/>
              <a:t>のように</a:t>
            </a:r>
            <a:r>
              <a:rPr lang="ja-JP" altLang="en-US" sz="2000" dirty="0" smtClean="0"/>
              <a:t>括弧を省略して書いている。</a:t>
            </a:r>
            <a:endParaRPr kumimoji="1" lang="ja-JP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214290"/>
            <a:ext cx="8229600" cy="725470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プログラム例４（打ち込んで確認）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071546"/>
            <a:ext cx="8072494" cy="53245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000" dirty="0" smtClean="0"/>
              <a:t>/* M</a:t>
            </a:r>
            <a:r>
              <a:rPr lang="ja-JP" altLang="en-US" sz="2000" dirty="0" smtClean="0"/>
              <a:t>学科</a:t>
            </a:r>
            <a:r>
              <a:rPr lang="en-US" altLang="ja-JP" sz="2000" dirty="0" smtClean="0"/>
              <a:t>10</a:t>
            </a:r>
            <a:r>
              <a:rPr lang="ja-JP" altLang="en-US" sz="2000" dirty="0" smtClean="0"/>
              <a:t>人分の点数をキーボードから入力し、平均点を出力する *</a:t>
            </a:r>
            <a:r>
              <a:rPr lang="en-US" altLang="ja-JP" sz="2000" dirty="0" smtClean="0"/>
              <a:t>/</a:t>
            </a:r>
          </a:p>
          <a:p>
            <a:r>
              <a:rPr lang="en-US" altLang="ja-JP" sz="2000" dirty="0" smtClean="0"/>
              <a:t>#include &lt;</a:t>
            </a:r>
            <a:r>
              <a:rPr lang="en-US" altLang="ja-JP" sz="2000" dirty="0" err="1" smtClean="0"/>
              <a:t>stdio.h</a:t>
            </a:r>
            <a:r>
              <a:rPr lang="en-US" altLang="ja-JP" sz="2000" dirty="0" smtClean="0"/>
              <a:t>&gt;</a:t>
            </a:r>
          </a:p>
          <a:p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main (void) {</a:t>
            </a:r>
          </a:p>
          <a:p>
            <a:r>
              <a:rPr lang="en-US" altLang="ja-JP" sz="2000" dirty="0" smtClean="0"/>
              <a:t>    </a:t>
            </a:r>
            <a:r>
              <a:rPr lang="en-US" altLang="ja-JP" sz="2000" dirty="0" err="1" smtClean="0"/>
              <a:t>int</a:t>
            </a:r>
            <a:r>
              <a:rPr lang="en-US" altLang="ja-JP" sz="2000" dirty="0" smtClean="0"/>
              <a:t> m[10],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=0, sum=0;</a:t>
            </a:r>
          </a:p>
          <a:p>
            <a:r>
              <a:rPr lang="en-US" altLang="ja-JP" sz="2000" dirty="0" smtClean="0"/>
              <a:t>    while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&lt;10) {</a:t>
            </a:r>
          </a:p>
          <a:p>
            <a:r>
              <a:rPr lang="en-US" altLang="ja-JP" sz="2000" dirty="0" smtClean="0"/>
              <a:t>    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(“M090</a:t>
            </a:r>
            <a:r>
              <a:rPr lang="en-US" altLang="ja-JP" sz="2000" dirty="0" smtClean="0">
                <a:solidFill>
                  <a:srgbClr val="FF0000"/>
                </a:solidFill>
              </a:rPr>
              <a:t>%02d</a:t>
            </a:r>
            <a:r>
              <a:rPr lang="en-US" altLang="ja-JP" sz="2000" dirty="0" smtClean="0"/>
              <a:t>: “,  i+1);</a:t>
            </a:r>
          </a:p>
          <a:p>
            <a:r>
              <a:rPr lang="en-US" altLang="ja-JP" sz="2000" dirty="0" smtClean="0"/>
              <a:t>        </a:t>
            </a:r>
            <a:r>
              <a:rPr lang="en-US" altLang="ja-JP" sz="2000" dirty="0" err="1" smtClean="0"/>
              <a:t>scanf</a:t>
            </a:r>
            <a:r>
              <a:rPr lang="en-US" altLang="ja-JP" sz="2000" dirty="0" smtClean="0"/>
              <a:t> (“%d”, &amp;m[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</a:t>
            </a:r>
            <a:r>
              <a:rPr lang="ja-JP" altLang="en-US" sz="2000" dirty="0" smtClean="0"/>
              <a:t> </a:t>
            </a:r>
            <a:r>
              <a:rPr lang="en-US" altLang="ja-JP" sz="2000" dirty="0" smtClean="0"/>
              <a:t>);</a:t>
            </a:r>
          </a:p>
          <a:p>
            <a:r>
              <a:rPr lang="en-US" altLang="ja-JP" sz="2000" dirty="0" smtClean="0"/>
              <a:t>       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=i+1;</a:t>
            </a:r>
          </a:p>
          <a:p>
            <a:r>
              <a:rPr lang="en-US" altLang="ja-JP" sz="2000" dirty="0" smtClean="0"/>
              <a:t>    }</a:t>
            </a:r>
          </a:p>
          <a:p>
            <a:r>
              <a:rPr lang="en-US" altLang="ja-JP" sz="2000" dirty="0" smtClean="0"/>
              <a:t>   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=0;</a:t>
            </a:r>
          </a:p>
          <a:p>
            <a:r>
              <a:rPr lang="en-US" altLang="ja-JP" sz="2000" dirty="0" smtClean="0"/>
              <a:t>    while (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&lt;10) {</a:t>
            </a:r>
          </a:p>
          <a:p>
            <a:r>
              <a:rPr lang="en-US" altLang="ja-JP" sz="2000" dirty="0" smtClean="0"/>
              <a:t>        sum = sum + m[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];</a:t>
            </a:r>
          </a:p>
          <a:p>
            <a:r>
              <a:rPr lang="en-US" altLang="ja-JP" sz="2000" dirty="0" smtClean="0"/>
              <a:t>        </a:t>
            </a:r>
            <a:r>
              <a:rPr lang="en-US" altLang="ja-JP" sz="2000" dirty="0" err="1" smtClean="0"/>
              <a:t>i</a:t>
            </a:r>
            <a:r>
              <a:rPr lang="en-US" altLang="ja-JP" sz="2000" dirty="0" smtClean="0"/>
              <a:t>=i+1;</a:t>
            </a:r>
          </a:p>
          <a:p>
            <a:r>
              <a:rPr lang="en-US" altLang="ja-JP" sz="2000" dirty="0" smtClean="0"/>
              <a:t>    }</a:t>
            </a:r>
          </a:p>
          <a:p>
            <a:r>
              <a:rPr lang="en-US" altLang="ja-JP" sz="2000" dirty="0" smtClean="0"/>
              <a:t>    </a:t>
            </a:r>
            <a:r>
              <a:rPr lang="en-US" altLang="ja-JP" sz="2000" dirty="0" err="1" smtClean="0"/>
              <a:t>printf</a:t>
            </a:r>
            <a:r>
              <a:rPr lang="en-US" altLang="ja-JP" sz="2000" dirty="0" smtClean="0"/>
              <a:t> (“</a:t>
            </a:r>
            <a:r>
              <a:rPr lang="ja-JP" altLang="en-US" sz="2000" dirty="0" smtClean="0"/>
              <a:t>平均点は</a:t>
            </a:r>
            <a:r>
              <a:rPr lang="en-US" altLang="ja-JP" sz="2000" dirty="0" smtClean="0"/>
              <a:t>%f</a:t>
            </a:r>
            <a:r>
              <a:rPr lang="ja-JP" altLang="en-US" sz="2000" dirty="0" smtClean="0"/>
              <a:t>点です。</a:t>
            </a:r>
            <a:r>
              <a:rPr lang="en-US" altLang="ja-JP" sz="2000" dirty="0" smtClean="0"/>
              <a:t>\n”, (double) sum / 10);</a:t>
            </a:r>
          </a:p>
          <a:p>
            <a:r>
              <a:rPr lang="en-US" altLang="ja-JP" sz="2000" dirty="0" smtClean="0"/>
              <a:t>    return 0;</a:t>
            </a:r>
          </a:p>
          <a:p>
            <a:r>
              <a:rPr lang="en-US" altLang="ja-JP" sz="20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357686" y="2143116"/>
            <a:ext cx="4143404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000" dirty="0" smtClean="0">
                <a:solidFill>
                  <a:srgbClr val="FF0000"/>
                </a:solidFill>
              </a:rPr>
              <a:t>%02d</a:t>
            </a:r>
            <a:r>
              <a:rPr lang="ja-JP" altLang="en-US" sz="2000" dirty="0" smtClean="0"/>
              <a:t>の場合</a:t>
            </a:r>
            <a:r>
              <a:rPr kumimoji="1" lang="ja-JP" altLang="en-US" sz="2000" dirty="0" smtClean="0"/>
              <a:t>、表示する数が</a:t>
            </a:r>
            <a:r>
              <a:rPr kumimoji="1" lang="en-US" altLang="ja-JP" sz="2000" dirty="0" smtClean="0"/>
              <a:t>2</a:t>
            </a:r>
            <a:r>
              <a:rPr kumimoji="1" lang="ja-JP" altLang="en-US" sz="2000" dirty="0" smtClean="0"/>
              <a:t>桁未満のとき、左側に</a:t>
            </a:r>
            <a:r>
              <a:rPr kumimoji="1" lang="en-US" altLang="ja-JP" sz="2000" dirty="0" smtClean="0"/>
              <a:t>0</a:t>
            </a:r>
            <a:r>
              <a:rPr kumimoji="1" lang="ja-JP" altLang="en-US" sz="2000" dirty="0" smtClean="0"/>
              <a:t>を埋めて表示する。</a:t>
            </a:r>
            <a:endParaRPr kumimoji="1" lang="en-US" altLang="ja-JP" sz="2000" dirty="0" smtClean="0"/>
          </a:p>
          <a:p>
            <a:r>
              <a:rPr lang="en-US" altLang="ja-JP" sz="2000" dirty="0" smtClean="0">
                <a:solidFill>
                  <a:srgbClr val="FF0000"/>
                </a:solidFill>
              </a:rPr>
              <a:t>%2d</a:t>
            </a:r>
            <a:r>
              <a:rPr lang="ja-JP" altLang="en-US" sz="2000" dirty="0" smtClean="0"/>
              <a:t>の場合は、</a:t>
            </a:r>
            <a:r>
              <a:rPr lang="en-US" altLang="ja-JP" sz="2000" dirty="0" smtClean="0"/>
              <a:t>0</a:t>
            </a:r>
            <a:r>
              <a:rPr lang="ja-JP" altLang="en-US" sz="2000" dirty="0" smtClean="0"/>
              <a:t>ではなく空白を埋めて表示する。</a:t>
            </a:r>
            <a:endParaRPr kumimoji="1" lang="en-US" altLang="ja-JP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配列の初期化（</a:t>
            </a:r>
            <a:r>
              <a:rPr lang="en-US" altLang="ja-JP" dirty="0" smtClean="0"/>
              <a:t>2</a:t>
            </a:r>
            <a:r>
              <a:rPr lang="ja-JP" altLang="en-US" dirty="0" smtClean="0"/>
              <a:t>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3" y="1643050"/>
            <a:ext cx="70009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配列の初期化において、右辺の要素数が少ないときは、足りない</a:t>
            </a:r>
            <a:r>
              <a:rPr lang="ja-JP" altLang="en-US" sz="2400" dirty="0" smtClean="0"/>
              <a:t>部分は</a:t>
            </a:r>
            <a:r>
              <a:rPr kumimoji="1" lang="en-US" altLang="ja-JP" sz="2400" dirty="0" smtClean="0"/>
              <a:t>0 (double</a:t>
            </a:r>
            <a:r>
              <a:rPr kumimoji="1" lang="ja-JP" altLang="en-US" sz="2400" dirty="0" smtClean="0"/>
              <a:t>型の場合は</a:t>
            </a:r>
            <a:r>
              <a:rPr kumimoji="1" lang="en-US" altLang="ja-JP" sz="2400" dirty="0" smtClean="0"/>
              <a:t>0.0) </a:t>
            </a:r>
            <a:r>
              <a:rPr kumimoji="1" lang="ja-JP" altLang="en-US" sz="2400" dirty="0" smtClean="0"/>
              <a:t>で初期化される。</a:t>
            </a:r>
            <a:r>
              <a:rPr lang="ja-JP" altLang="en-US" sz="2400" dirty="0" smtClean="0"/>
              <a:t>たとえば、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[3] = {10, 5};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kumimoji="1" lang="ja-JP" altLang="en-US" sz="2400" dirty="0" smtClean="0"/>
              <a:t>書くと、</a:t>
            </a:r>
            <a:r>
              <a:rPr kumimoji="1" lang="en-US" altLang="ja-JP" sz="2400" dirty="0" smtClean="0"/>
              <a:t>a[0]</a:t>
            </a:r>
            <a:r>
              <a:rPr kumimoji="1" lang="ja-JP" altLang="en-US" sz="2400" dirty="0" smtClean="0"/>
              <a:t>が</a:t>
            </a:r>
            <a:r>
              <a:rPr kumimoji="1" lang="en-US" altLang="ja-JP" sz="2400" dirty="0" smtClean="0"/>
              <a:t>10, a[1]</a:t>
            </a:r>
            <a:r>
              <a:rPr kumimoji="1" lang="ja-JP" altLang="en-US" sz="2400" dirty="0" smtClean="0"/>
              <a:t>が</a:t>
            </a:r>
            <a:r>
              <a:rPr kumimoji="1" lang="en-US" altLang="ja-JP" sz="2400" dirty="0" smtClean="0"/>
              <a:t>5, a[2]</a:t>
            </a:r>
            <a:r>
              <a:rPr kumimoji="1" lang="ja-JP" altLang="en-US" sz="2400" dirty="0" smtClean="0"/>
              <a:t>が</a:t>
            </a:r>
            <a:r>
              <a:rPr kumimoji="1" lang="en-US" altLang="ja-JP" sz="2400" dirty="0" smtClean="0"/>
              <a:t>0</a:t>
            </a:r>
            <a:r>
              <a:rPr kumimoji="1" lang="ja-JP" altLang="en-US" sz="2400" dirty="0" smtClean="0"/>
              <a:t>で初期化される。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229600" cy="725470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プログラム例５（打ち込んで確認）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57224" y="1571612"/>
            <a:ext cx="6858048" cy="415498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/* </a:t>
            </a:r>
            <a:r>
              <a:rPr lang="ja-JP" altLang="en-US" sz="2400" dirty="0" smtClean="0"/>
              <a:t>長さ</a:t>
            </a:r>
            <a:r>
              <a:rPr lang="en-US" altLang="ja-JP" sz="2400" dirty="0" smtClean="0"/>
              <a:t>10</a:t>
            </a:r>
            <a:r>
              <a:rPr lang="ja-JP" altLang="en-US" sz="2400" dirty="0" smtClean="0"/>
              <a:t>の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型配列の各要素を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で初期化 *</a:t>
            </a:r>
            <a:r>
              <a:rPr lang="en-US" altLang="ja-JP" sz="2400" dirty="0" smtClean="0"/>
              <a:t>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>
                <a:solidFill>
                  <a:srgbClr val="FF0000"/>
                </a:solidFill>
              </a:rPr>
              <a:t>    </a:t>
            </a:r>
            <a:r>
              <a:rPr lang="en-US" altLang="ja-JP" sz="2400" dirty="0" err="1" smtClean="0">
                <a:solidFill>
                  <a:srgbClr val="FF0000"/>
                </a:solidFill>
              </a:rPr>
              <a:t>int</a:t>
            </a:r>
            <a:r>
              <a:rPr lang="en-US" altLang="ja-JP" sz="2400" dirty="0" smtClean="0">
                <a:solidFill>
                  <a:srgbClr val="FF0000"/>
                </a:solidFill>
              </a:rPr>
              <a:t> a[10]</a:t>
            </a:r>
            <a:r>
              <a:rPr lang="ja-JP" altLang="en-US" sz="2400" dirty="0" smtClean="0">
                <a:solidFill>
                  <a:srgbClr val="FF0000"/>
                </a:solidFill>
              </a:rPr>
              <a:t> </a:t>
            </a:r>
            <a:r>
              <a:rPr lang="en-US" altLang="ja-JP" sz="2400" dirty="0" smtClean="0">
                <a:solidFill>
                  <a:srgbClr val="FF0000"/>
                </a:solidFill>
              </a:rPr>
              <a:t>= {0};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&lt;10) {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 = 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]);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786182" y="2357430"/>
            <a:ext cx="342902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 a[0]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で初期化され、</a:t>
            </a:r>
            <a:r>
              <a:rPr lang="en-US" altLang="ja-JP" sz="2400" dirty="0" smtClean="0"/>
              <a:t>a[1]</a:t>
            </a:r>
            <a:r>
              <a:rPr lang="ja-JP" altLang="en-US" sz="2400" dirty="0" smtClean="0"/>
              <a:t>から</a:t>
            </a:r>
            <a:r>
              <a:rPr lang="en-US" altLang="ja-JP" sz="2400" dirty="0" smtClean="0"/>
              <a:t>a[9]</a:t>
            </a:r>
            <a:r>
              <a:rPr lang="ja-JP" altLang="en-US" sz="2400" dirty="0" smtClean="0"/>
              <a:t>も</a:t>
            </a:r>
            <a:r>
              <a:rPr lang="en-US" altLang="ja-JP" sz="2400" dirty="0" smtClean="0"/>
              <a:t>0</a:t>
            </a:r>
            <a:r>
              <a:rPr lang="ja-JP" altLang="en-US" sz="2400" dirty="0" smtClean="0"/>
              <a:t>で初期化される。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配列の初期化（</a:t>
            </a:r>
            <a:r>
              <a:rPr lang="en-US" altLang="ja-JP" dirty="0" smtClean="0"/>
              <a:t>3</a:t>
            </a:r>
            <a:r>
              <a:rPr lang="ja-JP" altLang="en-US" dirty="0" smtClean="0"/>
              <a:t>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28663" y="1643050"/>
            <a:ext cx="700092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配列の初期化において、右辺に初期化子がある場合、要素数を省略できる。例えば、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 ] = {10, 5, 7};</a:t>
            </a:r>
          </a:p>
          <a:p>
            <a:r>
              <a:rPr kumimoji="1" lang="ja-JP" altLang="en-US" sz="2400" dirty="0" err="1" smtClean="0"/>
              <a:t>のように</a:t>
            </a:r>
            <a:r>
              <a:rPr kumimoji="1" lang="ja-JP" altLang="en-US" sz="2400" dirty="0" smtClean="0"/>
              <a:t>書くと、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[3] = {10, 5, 7};</a:t>
            </a:r>
          </a:p>
          <a:p>
            <a:r>
              <a:rPr lang="ja-JP" altLang="en-US" sz="2400" dirty="0" smtClean="0"/>
              <a:t>と書いたのと同じ意味になる。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配列のコピー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5852" y="1785926"/>
            <a:ext cx="542928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配列のコピーを行う場合は、各要素をコピーする必要がある。</a:t>
            </a:r>
            <a:endParaRPr kumimoji="1" lang="ja-JP" altLang="en-US" sz="2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57290" y="3286124"/>
            <a:ext cx="283314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間違った例</a:t>
            </a:r>
            <a:endParaRPr kumimoji="1" lang="en-US" altLang="ja-JP" sz="2400" dirty="0" smtClean="0"/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a[3] = {10, 5, 7};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b[3];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smtClean="0">
                <a:solidFill>
                  <a:srgbClr val="FF0000"/>
                </a:solidFill>
              </a:rPr>
              <a:t>b=a</a:t>
            </a:r>
            <a:r>
              <a:rPr lang="en-US" altLang="ja-JP" sz="2400" dirty="0" smtClean="0"/>
              <a:t>;</a:t>
            </a:r>
            <a:endParaRPr kumimoji="1" lang="ja-JP" altLang="en-US" sz="2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500166" y="5214950"/>
            <a:ext cx="609333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 b=a</a:t>
            </a:r>
            <a:r>
              <a:rPr lang="ja-JP" altLang="en-US" sz="2400" dirty="0" smtClean="0"/>
              <a:t>の代入式はコンパイル時にエラーになる。</a:t>
            </a:r>
            <a:endParaRPr lang="en-US" altLang="ja-JP" sz="2400" dirty="0" smtClean="0"/>
          </a:p>
          <a:p>
            <a:r>
              <a:rPr kumimoji="1" lang="ja-JP" altLang="en-US" sz="2400" dirty="0" smtClean="0"/>
              <a:t>詳しくはポインタの回に説明する。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58204" cy="642942"/>
          </a:xfrm>
        </p:spPr>
        <p:txBody>
          <a:bodyPr>
            <a:normAutofit/>
          </a:bodyPr>
          <a:lstStyle/>
          <a:p>
            <a:r>
              <a:rPr lang="ja-JP" altLang="en-US" sz="3600" dirty="0" smtClean="0"/>
              <a:t>配列のコピー（打ち込んで確認）</a:t>
            </a:r>
            <a:endParaRPr kumimoji="1" lang="ja-JP" altLang="en-US" sz="36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89190" y="785794"/>
            <a:ext cx="7026148" cy="6001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#include &lt;</a:t>
            </a:r>
            <a:r>
              <a:rPr kumimoji="1"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a[5] = {3,4,5,6,7};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b[5];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&lt;5) {</a:t>
            </a:r>
          </a:p>
          <a:p>
            <a:r>
              <a:rPr lang="en-US" altLang="ja-JP" sz="2400" dirty="0" smtClean="0"/>
              <a:t>        b[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 =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];    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&lt;5) {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(“a[%d]=%d, b[%d]=%d\n”,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b[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]);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=i+1;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714744" y="2857496"/>
            <a:ext cx="414340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 b[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 =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</a:t>
            </a:r>
            <a:r>
              <a:rPr lang="ja-JP" altLang="en-US" sz="2400" dirty="0" smtClean="0"/>
              <a:t>の代入式によって各要素ごとに代入を行っている。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多次元配列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14348" y="1500174"/>
            <a:ext cx="750099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 smtClean="0"/>
              <a:t>配列の要素は配列でもよい。</a:t>
            </a:r>
            <a:endParaRPr kumimoji="1" lang="en-US" altLang="ja-JP" sz="2800" dirty="0" smtClean="0"/>
          </a:p>
          <a:p>
            <a:r>
              <a:rPr kumimoji="1" lang="ja-JP" altLang="en-US" sz="2800" dirty="0" smtClean="0"/>
              <a:t>例えば、</a:t>
            </a:r>
            <a:r>
              <a:rPr lang="en-US" altLang="ja-JP" sz="2800" dirty="0" err="1" smtClean="0"/>
              <a:t>int</a:t>
            </a:r>
            <a:r>
              <a:rPr lang="ja-JP" altLang="en-US" sz="2800" dirty="0" smtClean="0"/>
              <a:t>型を要素にもつ長さ</a:t>
            </a:r>
            <a:r>
              <a:rPr lang="en-US" altLang="ja-JP" sz="2800" dirty="0" smtClean="0"/>
              <a:t>3</a:t>
            </a:r>
            <a:r>
              <a:rPr lang="ja-JP" altLang="en-US" sz="2800" dirty="0" smtClean="0"/>
              <a:t>の配列を要素にもつ長さ</a:t>
            </a:r>
            <a:r>
              <a:rPr lang="en-US" altLang="ja-JP" sz="2800" dirty="0" smtClean="0"/>
              <a:t>2</a:t>
            </a:r>
            <a:r>
              <a:rPr lang="ja-JP" altLang="en-US" sz="2800" dirty="0" smtClean="0"/>
              <a:t>の配列は、</a:t>
            </a:r>
            <a:endParaRPr lang="en-US" altLang="ja-JP" sz="2800" dirty="0" smtClean="0"/>
          </a:p>
          <a:p>
            <a:r>
              <a:rPr kumimoji="1" lang="en-US" altLang="ja-JP" sz="2800" dirty="0" smtClean="0"/>
              <a:t>   </a:t>
            </a:r>
            <a:r>
              <a:rPr lang="en-US" altLang="ja-JP" sz="2800" dirty="0" err="1" smtClean="0"/>
              <a:t>int</a:t>
            </a:r>
            <a:r>
              <a:rPr lang="en-US" altLang="ja-JP" sz="2800" dirty="0" smtClean="0"/>
              <a:t> a [2] [3]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;</a:t>
            </a:r>
          </a:p>
          <a:p>
            <a:r>
              <a:rPr kumimoji="1" lang="ja-JP" altLang="en-US" sz="2800" dirty="0" err="1" smtClean="0"/>
              <a:t>のように</a:t>
            </a:r>
            <a:r>
              <a:rPr kumimoji="1" lang="ja-JP" altLang="en-US" sz="2800" dirty="0" smtClean="0"/>
              <a:t>宣言する。</a:t>
            </a:r>
            <a:r>
              <a:rPr lang="ja-JP" altLang="en-US" sz="2800" dirty="0" smtClean="0"/>
              <a:t>これは２次元配列である。（３次元以上も同様に宣言できる。２次元以上の配列を多次元配列と呼ぶ。）</a:t>
            </a:r>
            <a:endParaRPr kumimoji="1" lang="en-US" altLang="ja-JP" sz="2800" dirty="0" smtClean="0"/>
          </a:p>
          <a:p>
            <a:r>
              <a:rPr lang="ja-JP" altLang="en-US" sz="2800" dirty="0" smtClean="0"/>
              <a:t>各要素は、</a:t>
            </a:r>
            <a:r>
              <a:rPr lang="en-US" altLang="ja-JP" sz="2800" dirty="0" smtClean="0"/>
              <a:t>a[0][1]</a:t>
            </a:r>
            <a:r>
              <a:rPr lang="ja-JP" altLang="en-US" sz="2800" dirty="0" smtClean="0"/>
              <a:t>のように、</a:t>
            </a:r>
            <a:r>
              <a:rPr lang="en-US" altLang="ja-JP" sz="2800" dirty="0" smtClean="0"/>
              <a:t>[ ] </a:t>
            </a:r>
            <a:r>
              <a:rPr lang="ja-JP" altLang="en-US" sz="2800" dirty="0" smtClean="0"/>
              <a:t>を並べて書くことによって表す。これは</a:t>
            </a:r>
            <a:r>
              <a:rPr lang="en-US" altLang="ja-JP" sz="2800" dirty="0" smtClean="0"/>
              <a:t>(a[0])[1]</a:t>
            </a:r>
            <a:r>
              <a:rPr lang="ja-JP" altLang="en-US" sz="2800" dirty="0" smtClean="0"/>
              <a:t>を括弧を省略して書いたものである。</a:t>
            </a:r>
            <a:r>
              <a:rPr kumimoji="1" lang="en-US" altLang="ja-JP" sz="2800" dirty="0" smtClean="0"/>
              <a:t>a[0]</a:t>
            </a:r>
            <a:r>
              <a:rPr kumimoji="1" lang="ja-JP" altLang="en-US" sz="2800" dirty="0" smtClean="0"/>
              <a:t>は</a:t>
            </a:r>
            <a:r>
              <a:rPr kumimoji="1" lang="en-US" altLang="ja-JP" sz="2800" dirty="0" smtClean="0"/>
              <a:t>a</a:t>
            </a:r>
            <a:r>
              <a:rPr kumimoji="1" lang="ja-JP" altLang="en-US" sz="2800" dirty="0" smtClean="0"/>
              <a:t>の</a:t>
            </a:r>
            <a:r>
              <a:rPr lang="en-US" altLang="ja-JP" sz="2800" dirty="0" smtClean="0"/>
              <a:t>0</a:t>
            </a:r>
            <a:r>
              <a:rPr kumimoji="1" lang="ja-JP" altLang="en-US" sz="2800" dirty="0" smtClean="0"/>
              <a:t>番目の要素（</a:t>
            </a:r>
            <a:r>
              <a:rPr kumimoji="1" lang="en-US" altLang="ja-JP" sz="2800" dirty="0" err="1" smtClean="0"/>
              <a:t>int</a:t>
            </a:r>
            <a:r>
              <a:rPr kumimoji="1" lang="ja-JP" altLang="en-US" sz="2800" dirty="0" smtClean="0"/>
              <a:t>型を要素にもつ長さ</a:t>
            </a:r>
            <a:r>
              <a:rPr kumimoji="1" lang="en-US" altLang="ja-JP" sz="2800" dirty="0" smtClean="0"/>
              <a:t>3</a:t>
            </a:r>
            <a:r>
              <a:rPr kumimoji="1" lang="ja-JP" altLang="en-US" sz="2800" dirty="0" smtClean="0"/>
              <a:t>の配列）を表し、</a:t>
            </a:r>
            <a:r>
              <a:rPr kumimoji="1" lang="en-US" altLang="ja-JP" sz="2800" dirty="0" smtClean="0"/>
              <a:t>a[0][</a:t>
            </a:r>
            <a:r>
              <a:rPr lang="en-US" altLang="ja-JP" sz="2800" dirty="0" smtClean="0"/>
              <a:t>1</a:t>
            </a:r>
            <a:r>
              <a:rPr kumimoji="1" lang="en-US" altLang="ja-JP" sz="2800" dirty="0" smtClean="0"/>
              <a:t>]</a:t>
            </a:r>
            <a:r>
              <a:rPr kumimoji="1" lang="ja-JP" altLang="en-US" sz="2800" dirty="0" smtClean="0"/>
              <a:t>は、配列</a:t>
            </a:r>
            <a:r>
              <a:rPr kumimoji="1" lang="en-US" altLang="ja-JP" sz="2800" dirty="0" smtClean="0"/>
              <a:t>a[0]</a:t>
            </a:r>
            <a:r>
              <a:rPr kumimoji="1" lang="ja-JP" altLang="en-US" sz="2800" dirty="0" smtClean="0"/>
              <a:t>の</a:t>
            </a:r>
            <a:r>
              <a:rPr kumimoji="1" lang="en-US" altLang="ja-JP" sz="2800" dirty="0" smtClean="0"/>
              <a:t>1</a:t>
            </a:r>
            <a:r>
              <a:rPr kumimoji="1" lang="ja-JP" altLang="en-US" sz="2800" dirty="0" smtClean="0"/>
              <a:t>番目の要素を表す。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多次元配列のメモリ上での配置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1000100" y="1500174"/>
            <a:ext cx="66437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 [2] [3]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宣言された２次元配列の各要素は以下のようにメモリ上に配置される。</a:t>
            </a:r>
            <a:endParaRPr lang="en-US" altLang="ja-JP" sz="2400" dirty="0" smtClean="0"/>
          </a:p>
        </p:txBody>
      </p:sp>
      <p:graphicFrame>
        <p:nvGraphicFramePr>
          <p:cNvPr id="7" name="表 6"/>
          <p:cNvGraphicFramePr>
            <a:graphicFrameLocks noGrp="1"/>
          </p:cNvGraphicFramePr>
          <p:nvPr/>
        </p:nvGraphicFramePr>
        <p:xfrm>
          <a:off x="3857620" y="3286124"/>
          <a:ext cx="1928826" cy="2743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928826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a[0][0]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a[0][1]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a[0][2]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a[1][0]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a[1][1]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a[1][2]</a:t>
                      </a:r>
                      <a:endParaRPr kumimoji="1" lang="ja-JP" altLang="en-US" sz="24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左中かっこ 7"/>
          <p:cNvSpPr/>
          <p:nvPr/>
        </p:nvSpPr>
        <p:spPr>
          <a:xfrm>
            <a:off x="3143240" y="3357562"/>
            <a:ext cx="642942" cy="121444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785918" y="3714752"/>
            <a:ext cx="1361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配列 </a:t>
            </a:r>
            <a:r>
              <a:rPr lang="en-US" altLang="ja-JP" sz="2400" dirty="0" smtClean="0"/>
              <a:t>a[0]</a:t>
            </a:r>
          </a:p>
        </p:txBody>
      </p:sp>
      <p:sp>
        <p:nvSpPr>
          <p:cNvPr id="12" name="左中かっこ 11"/>
          <p:cNvSpPr/>
          <p:nvPr/>
        </p:nvSpPr>
        <p:spPr>
          <a:xfrm>
            <a:off x="3143240" y="4714884"/>
            <a:ext cx="642942" cy="1214446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785918" y="5072074"/>
            <a:ext cx="13612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配列 </a:t>
            </a:r>
            <a:r>
              <a:rPr lang="en-US" altLang="ja-JP" sz="2400" dirty="0" smtClean="0"/>
              <a:t>a[1]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 smtClean="0"/>
              <a:t>多次元配列の例（打ち込んで確認）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85720" y="1011399"/>
            <a:ext cx="4071966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/* 2*3</a:t>
            </a:r>
            <a:r>
              <a:rPr lang="ja-JP" altLang="en-US" sz="2400" dirty="0" smtClean="0"/>
              <a:t>の配列の各要素に</a:t>
            </a:r>
            <a:r>
              <a:rPr lang="en-US" altLang="ja-JP" sz="2400" dirty="0" smtClean="0"/>
              <a:t>1</a:t>
            </a:r>
            <a:r>
              <a:rPr lang="ja-JP" altLang="en-US" sz="2400" dirty="0" smtClean="0"/>
              <a:t>を代入し、各要素の値を表示  *</a:t>
            </a:r>
            <a:r>
              <a:rPr lang="en-US" altLang="ja-JP" sz="2400" dirty="0" smtClean="0"/>
              <a:t>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</a:t>
            </a:r>
            <a:r>
              <a:rPr lang="ja-JP" altLang="en-US" sz="2400" dirty="0" smtClean="0"/>
              <a:t> </a:t>
            </a:r>
            <a:r>
              <a:rPr lang="en-US" altLang="ja-JP" sz="2400" dirty="0" smtClean="0"/>
              <a:t>j;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a[2][3];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&lt; 2 ) {</a:t>
            </a:r>
          </a:p>
          <a:p>
            <a:r>
              <a:rPr lang="en-US" altLang="ja-JP" sz="2400" dirty="0" smtClean="0"/>
              <a:t>        j=0;</a:t>
            </a:r>
          </a:p>
          <a:p>
            <a:r>
              <a:rPr lang="en-US" altLang="ja-JP" sz="2400" dirty="0" smtClean="0"/>
              <a:t>        while ( j &lt; 3 ) {</a:t>
            </a:r>
          </a:p>
          <a:p>
            <a:r>
              <a:rPr lang="en-US" altLang="ja-JP" sz="2400" dirty="0" smtClean="0"/>
              <a:t>           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][j] = 1;</a:t>
            </a:r>
          </a:p>
          <a:p>
            <a:r>
              <a:rPr lang="en-US" altLang="ja-JP" sz="2400" dirty="0" smtClean="0"/>
              <a:t>            j = j + 1;</a:t>
            </a:r>
          </a:p>
          <a:p>
            <a:r>
              <a:rPr lang="en-US" altLang="ja-JP" sz="2400" dirty="0" smtClean="0"/>
              <a:t>        }</a:t>
            </a:r>
          </a:p>
          <a:p>
            <a:r>
              <a:rPr lang="en-US" altLang="ja-JP" sz="2400" dirty="0" smtClean="0"/>
              <a:t>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=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+ 1;</a:t>
            </a:r>
          </a:p>
          <a:p>
            <a:r>
              <a:rPr lang="en-US" altLang="ja-JP" sz="2400" dirty="0" smtClean="0"/>
              <a:t>    }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4456699" y="1000108"/>
            <a:ext cx="4473019" cy="4893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2400" dirty="0" smtClean="0"/>
              <a:t> </a:t>
            </a:r>
            <a:r>
              <a:rPr lang="en-US" altLang="ja-JP" sz="2400" dirty="0" smtClean="0"/>
              <a:t>/* </a:t>
            </a:r>
            <a:r>
              <a:rPr lang="ja-JP" altLang="en-US" sz="2400" dirty="0" smtClean="0"/>
              <a:t>左の続き *</a:t>
            </a:r>
            <a:r>
              <a:rPr lang="en-US" altLang="ja-JP" sz="2400" dirty="0" smtClean="0"/>
              <a:t>/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&lt; 2 ) {</a:t>
            </a:r>
          </a:p>
          <a:p>
            <a:r>
              <a:rPr lang="en-US" altLang="ja-JP" sz="2400" dirty="0" smtClean="0"/>
              <a:t>        j=0;</a:t>
            </a:r>
          </a:p>
          <a:p>
            <a:r>
              <a:rPr lang="en-US" altLang="ja-JP" sz="2400" dirty="0" smtClean="0"/>
              <a:t>        while ( j &lt; 3 ) {</a:t>
            </a:r>
          </a:p>
          <a:p>
            <a:r>
              <a:rPr lang="en-US" altLang="ja-JP" sz="2400" dirty="0" smtClean="0"/>
              <a:t>    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("a[%d][%d] = %d\n",</a:t>
            </a:r>
          </a:p>
          <a:p>
            <a:r>
              <a:rPr lang="en-US" altLang="ja-JP" sz="2400" dirty="0" smtClean="0"/>
              <a:t>                       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j,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][j] );</a:t>
            </a:r>
          </a:p>
          <a:p>
            <a:r>
              <a:rPr lang="en-US" altLang="ja-JP" sz="2400" dirty="0" smtClean="0"/>
              <a:t>        j = j + 1;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=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+ 1;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    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初期化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71538" y="1357298"/>
            <a:ext cx="4698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 smtClean="0"/>
              <a:t>１次元配列と同様に初期化できる。</a:t>
            </a:r>
            <a:endParaRPr kumimoji="1" lang="ja-JP" altLang="en-US" sz="2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00100" y="2285992"/>
            <a:ext cx="67151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dirty="0" smtClean="0"/>
              <a:t>（例）</a:t>
            </a:r>
            <a:endParaRPr lang="en-US" altLang="ja-JP" sz="2400" dirty="0" smtClean="0"/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/>
              <a:t>int</a:t>
            </a:r>
            <a:r>
              <a:rPr kumimoji="1" lang="en-US" altLang="ja-JP" sz="2400" dirty="0" smtClean="0"/>
              <a:t> a [2][3] = { {1,2,3}, {4,5,6} };</a:t>
            </a:r>
          </a:p>
          <a:p>
            <a:r>
              <a:rPr lang="ja-JP" altLang="en-US" sz="2400" dirty="0" err="1" smtClean="0"/>
              <a:t>のように</a:t>
            </a:r>
            <a:r>
              <a:rPr lang="ja-JP" altLang="en-US" sz="2400" dirty="0" smtClean="0"/>
              <a:t>宣言、初期化すると、配列 </a:t>
            </a:r>
            <a:r>
              <a:rPr lang="en-US" altLang="ja-JP" sz="2400" dirty="0" smtClean="0"/>
              <a:t>a[0] 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{1,2,3}</a:t>
            </a:r>
            <a:r>
              <a:rPr lang="ja-JP" altLang="en-US" sz="2400" dirty="0" smtClean="0"/>
              <a:t>で初期化され、配列 </a:t>
            </a:r>
            <a:r>
              <a:rPr lang="en-US" altLang="ja-JP" sz="2400" dirty="0" smtClean="0"/>
              <a:t>a[1] </a:t>
            </a:r>
            <a:r>
              <a:rPr lang="ja-JP" altLang="en-US" sz="2400" dirty="0" smtClean="0"/>
              <a:t>が</a:t>
            </a:r>
            <a:r>
              <a:rPr lang="en-US" altLang="ja-JP" sz="2400" dirty="0" smtClean="0"/>
              <a:t>{4,5,6}</a:t>
            </a:r>
            <a:r>
              <a:rPr lang="ja-JP" altLang="en-US" sz="2400" dirty="0" smtClean="0"/>
              <a:t>で初期化される。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7929618" cy="642942"/>
          </a:xfrm>
        </p:spPr>
        <p:txBody>
          <a:bodyPr>
            <a:normAutofit fontScale="90000"/>
          </a:bodyPr>
          <a:lstStyle/>
          <a:p>
            <a:r>
              <a:rPr kumimoji="1" lang="ja-JP" altLang="en-US" sz="4000" dirty="0" smtClean="0"/>
              <a:t>プログラム例（打ち込んで確認）</a:t>
            </a:r>
            <a:endParaRPr kumimoji="1" lang="ja-JP" altLang="en-US" sz="4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06706" y="784943"/>
            <a:ext cx="5822748" cy="6001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 smtClean="0"/>
              <a:t>/*  </a:t>
            </a:r>
            <a:r>
              <a:rPr lang="ja-JP" altLang="en-US" sz="2400" dirty="0" smtClean="0"/>
              <a:t>初期化した値を表示して確認  </a:t>
            </a:r>
            <a:r>
              <a:rPr lang="en-US" altLang="ja-JP" sz="2400" dirty="0" smtClean="0"/>
              <a:t>*/</a:t>
            </a:r>
          </a:p>
          <a:p>
            <a:r>
              <a:rPr lang="en-US" altLang="ja-JP" sz="2400" dirty="0" smtClean="0"/>
              <a:t>#include &lt;</a:t>
            </a:r>
            <a:r>
              <a:rPr lang="en-US" altLang="ja-JP" sz="2400" dirty="0" err="1" smtClean="0"/>
              <a:t>stdio.h</a:t>
            </a:r>
            <a:r>
              <a:rPr lang="en-US" altLang="ja-JP" sz="2400" dirty="0" smtClean="0"/>
              <a:t>&gt;</a:t>
            </a:r>
          </a:p>
          <a:p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main (void) {</a:t>
            </a:r>
          </a:p>
          <a:p>
            <a:r>
              <a:rPr kumimoji="1" lang="en-US" altLang="ja-JP" sz="2400" dirty="0" smtClean="0"/>
              <a:t>    </a:t>
            </a:r>
            <a:r>
              <a:rPr kumimoji="1" lang="en-US" altLang="ja-JP" sz="2400" dirty="0" err="1" smtClean="0">
                <a:solidFill>
                  <a:srgbClr val="FF0000"/>
                </a:solidFill>
              </a:rPr>
              <a:t>int</a:t>
            </a:r>
            <a:r>
              <a:rPr kumimoji="1" lang="en-US" altLang="ja-JP" sz="2400" dirty="0" smtClean="0">
                <a:solidFill>
                  <a:srgbClr val="FF0000"/>
                </a:solidFill>
              </a:rPr>
              <a:t> a</a:t>
            </a:r>
            <a:r>
              <a:rPr lang="en-US" altLang="ja-JP" sz="2400" dirty="0" smtClean="0">
                <a:solidFill>
                  <a:srgbClr val="FF0000"/>
                </a:solidFill>
              </a:rPr>
              <a:t>[2][3] = { {1,2,3}, {4,5,6} };</a:t>
            </a:r>
          </a:p>
          <a:p>
            <a:r>
              <a:rPr lang="en-US" altLang="ja-JP" sz="2400" dirty="0" smtClean="0"/>
              <a:t> </a:t>
            </a:r>
            <a:r>
              <a:rPr lang="ja-JP" altLang="en-US" sz="2400" dirty="0" smtClean="0"/>
              <a:t>  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j;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=0;</a:t>
            </a:r>
          </a:p>
          <a:p>
            <a:r>
              <a:rPr lang="en-US" altLang="ja-JP" sz="2400" dirty="0" smtClean="0"/>
              <a:t>    while (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&lt; 2 ) {</a:t>
            </a:r>
          </a:p>
          <a:p>
            <a:r>
              <a:rPr lang="en-US" altLang="ja-JP" sz="2400" dirty="0" smtClean="0"/>
              <a:t>        j=0;</a:t>
            </a:r>
          </a:p>
          <a:p>
            <a:r>
              <a:rPr lang="en-US" altLang="ja-JP" sz="2400" dirty="0" smtClean="0"/>
              <a:t>        while ( j &lt; 3 ) {</a:t>
            </a:r>
          </a:p>
          <a:p>
            <a:r>
              <a:rPr lang="en-US" altLang="ja-JP" sz="2400" dirty="0" smtClean="0"/>
              <a:t>            </a:t>
            </a:r>
            <a:r>
              <a:rPr lang="en-US" altLang="ja-JP" sz="2400" dirty="0" err="1" smtClean="0"/>
              <a:t>printf</a:t>
            </a:r>
            <a:r>
              <a:rPr lang="en-US" altLang="ja-JP" sz="2400" dirty="0" smtClean="0"/>
              <a:t> ("a[%d][%d] = %d\n",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, j, a[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][j]);</a:t>
            </a:r>
          </a:p>
          <a:p>
            <a:r>
              <a:rPr lang="en-US" altLang="ja-JP" sz="2400" dirty="0" smtClean="0"/>
              <a:t>            j = j + 1;</a:t>
            </a:r>
          </a:p>
          <a:p>
            <a:r>
              <a:rPr lang="en-US" altLang="ja-JP" sz="2400" dirty="0" smtClean="0"/>
              <a:t>        }</a:t>
            </a:r>
          </a:p>
          <a:p>
            <a:r>
              <a:rPr lang="en-US" altLang="ja-JP" sz="2400" dirty="0" smtClean="0"/>
              <a:t>   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= </a:t>
            </a:r>
            <a:r>
              <a:rPr lang="en-US" altLang="ja-JP" sz="2400" dirty="0" err="1" smtClean="0"/>
              <a:t>i</a:t>
            </a:r>
            <a:r>
              <a:rPr lang="en-US" altLang="ja-JP" sz="2400" dirty="0" smtClean="0"/>
              <a:t> + 1;</a:t>
            </a:r>
          </a:p>
          <a:p>
            <a:r>
              <a:rPr lang="en-US" altLang="ja-JP" sz="2400" dirty="0" smtClean="0"/>
              <a:t>    }</a:t>
            </a:r>
          </a:p>
          <a:p>
            <a:r>
              <a:rPr lang="en-US" altLang="ja-JP" sz="2400" dirty="0" smtClean="0"/>
              <a:t>    return 0;</a:t>
            </a:r>
          </a:p>
          <a:p>
            <a:r>
              <a:rPr lang="en-US" altLang="ja-JP" sz="2400" dirty="0" smtClean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基本課題１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39552" y="1412776"/>
            <a:ext cx="784887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 smtClean="0"/>
              <a:t>長さ</a:t>
            </a:r>
            <a:r>
              <a:rPr kumimoji="1" lang="en-US" altLang="ja-JP" sz="2400" dirty="0" smtClean="0"/>
              <a:t>5</a:t>
            </a:r>
            <a:r>
              <a:rPr kumimoji="1" lang="ja-JP" altLang="en-US" sz="2400" dirty="0" smtClean="0"/>
              <a:t>の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型の配列の各要素にキーボードから入力した整数値を格納し、それらの最大値、最小値、平均値を表示するプログラムを書け。平均値は</a:t>
            </a:r>
            <a:r>
              <a:rPr lang="en-US" altLang="ja-JP" sz="2400" dirty="0" smtClean="0"/>
              <a:t>double</a:t>
            </a:r>
            <a:r>
              <a:rPr lang="ja-JP" altLang="en-US" sz="2400" dirty="0" smtClean="0"/>
              <a:t>型で計算し、表示せよ。</a:t>
            </a:r>
            <a:endParaRPr lang="en-US" altLang="ja-JP" sz="2400" dirty="0" smtClean="0"/>
          </a:p>
          <a:p>
            <a:endParaRPr kumimoji="1" lang="en-US" altLang="ja-JP" sz="2400" dirty="0" smtClean="0"/>
          </a:p>
          <a:p>
            <a:r>
              <a:rPr kumimoji="1" lang="en-US" altLang="ja-JP" sz="2400" dirty="0" smtClean="0"/>
              <a:t>[</a:t>
            </a:r>
            <a:r>
              <a:rPr kumimoji="1" lang="ja-JP" altLang="en-US" sz="2400" dirty="0" smtClean="0"/>
              <a:t>実行例</a:t>
            </a:r>
            <a:r>
              <a:rPr kumimoji="1" lang="en-US" altLang="ja-JP" sz="2400" dirty="0" smtClean="0"/>
              <a:t>]</a:t>
            </a:r>
          </a:p>
          <a:p>
            <a:r>
              <a:rPr lang="en-US" altLang="ja-JP" sz="2400" dirty="0" smtClean="0"/>
              <a:t>$ ./kihon5-1</a:t>
            </a:r>
          </a:p>
          <a:p>
            <a:r>
              <a:rPr kumimoji="1" lang="ja-JP" altLang="en-US" sz="2400" dirty="0" smtClean="0"/>
              <a:t>整数を</a:t>
            </a:r>
            <a:r>
              <a:rPr lang="en-US" altLang="ja-JP" sz="2400" dirty="0" smtClean="0"/>
              <a:t>5</a:t>
            </a:r>
            <a:r>
              <a:rPr lang="ja-JP" altLang="en-US" sz="2400" dirty="0" smtClean="0"/>
              <a:t>個入力してください</a:t>
            </a:r>
            <a:r>
              <a:rPr lang="en-US" altLang="ja-JP" sz="2400" dirty="0" smtClean="0"/>
              <a:t>:</a:t>
            </a:r>
          </a:p>
          <a:p>
            <a:r>
              <a:rPr kumimoji="1" lang="en-US" altLang="ja-JP" sz="2400" dirty="0" smtClean="0"/>
              <a:t>a[0] = </a:t>
            </a:r>
            <a:r>
              <a:rPr kumimoji="1" lang="en-US" altLang="ja-JP" sz="2400" dirty="0" smtClean="0">
                <a:solidFill>
                  <a:srgbClr val="FF0000"/>
                </a:solidFill>
              </a:rPr>
              <a:t>30</a:t>
            </a:r>
          </a:p>
          <a:p>
            <a:r>
              <a:rPr lang="en-US" altLang="ja-JP" sz="2400" dirty="0" smtClean="0"/>
              <a:t>a[1]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55</a:t>
            </a:r>
          </a:p>
          <a:p>
            <a:r>
              <a:rPr lang="en-US" altLang="ja-JP" sz="2400" dirty="0" smtClean="0"/>
              <a:t>a[2] = </a:t>
            </a:r>
            <a:r>
              <a:rPr lang="en-US" altLang="ja-JP" sz="2400" dirty="0" smtClean="0">
                <a:solidFill>
                  <a:srgbClr val="FF0000"/>
                </a:solidFill>
              </a:rPr>
              <a:t>7</a:t>
            </a:r>
          </a:p>
          <a:p>
            <a:r>
              <a:rPr lang="en-US" altLang="ja-JP" sz="2400" dirty="0" smtClean="0"/>
              <a:t>a[3] = </a:t>
            </a:r>
            <a:r>
              <a:rPr lang="en-US" altLang="ja-JP" sz="2400" dirty="0" smtClean="0">
                <a:solidFill>
                  <a:srgbClr val="FF0000"/>
                </a:solidFill>
              </a:rPr>
              <a:t>40</a:t>
            </a:r>
          </a:p>
          <a:p>
            <a:r>
              <a:rPr lang="en-US" altLang="ja-JP" sz="2400" dirty="0" smtClean="0"/>
              <a:t>a[4] = </a:t>
            </a:r>
            <a:r>
              <a:rPr lang="en-US" altLang="ja-JP" sz="2400" dirty="0" smtClean="0">
                <a:solidFill>
                  <a:srgbClr val="FF0000"/>
                </a:solidFill>
              </a:rPr>
              <a:t>90</a:t>
            </a:r>
          </a:p>
          <a:p>
            <a:r>
              <a:rPr lang="ja-JP" altLang="en-US" sz="2400" dirty="0" smtClean="0"/>
              <a:t>最大値は</a:t>
            </a:r>
            <a:r>
              <a:rPr lang="en-US" altLang="ja-JP" sz="2400" dirty="0" smtClean="0"/>
              <a:t>90</a:t>
            </a:r>
            <a:r>
              <a:rPr lang="ja-JP" altLang="en-US" sz="2400" dirty="0" err="1" smtClean="0"/>
              <a:t>、</a:t>
            </a:r>
            <a:r>
              <a:rPr lang="ja-JP" altLang="en-US" sz="2400" dirty="0" smtClean="0"/>
              <a:t>最小値は</a:t>
            </a:r>
            <a:r>
              <a:rPr lang="en-US" altLang="ja-JP" sz="2400" dirty="0" smtClean="0"/>
              <a:t>7</a:t>
            </a:r>
            <a:r>
              <a:rPr lang="ja-JP" altLang="en-US" sz="2400" dirty="0" err="1" smtClean="0"/>
              <a:t>、</a:t>
            </a:r>
            <a:r>
              <a:rPr lang="ja-JP" altLang="en-US" sz="2400" dirty="0" smtClean="0"/>
              <a:t>平均値は</a:t>
            </a:r>
            <a:r>
              <a:rPr lang="en-US" altLang="ja-JP" sz="2400" dirty="0" smtClean="0"/>
              <a:t>44.4</a:t>
            </a:r>
            <a:r>
              <a:rPr lang="ja-JP" altLang="en-US" sz="2400" dirty="0" smtClean="0"/>
              <a:t>です。</a:t>
            </a:r>
            <a:endParaRPr lang="en-US" altLang="ja-JP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基本課題２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/>
        </p:nvSpPr>
        <p:spPr>
          <a:xfrm>
            <a:off x="539552" y="1268760"/>
            <a:ext cx="7992888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000" dirty="0" smtClean="0"/>
              <a:t>長さ</a:t>
            </a:r>
            <a:r>
              <a:rPr lang="en-US" altLang="ja-JP" sz="2000" dirty="0" smtClean="0"/>
              <a:t>5</a:t>
            </a:r>
            <a:r>
              <a:rPr lang="ja-JP" altLang="en-US" sz="2000" dirty="0" smtClean="0"/>
              <a:t>の</a:t>
            </a:r>
            <a:r>
              <a:rPr lang="en-US" altLang="ja-JP" sz="2000" dirty="0" err="1" smtClean="0"/>
              <a:t>int</a:t>
            </a:r>
            <a:r>
              <a:rPr lang="ja-JP" altLang="en-US" sz="2000" dirty="0" smtClean="0"/>
              <a:t>型の配列の各要素にキーボードから入力した値を格納し、その配列を左に１回転したものを別の配列に格納して表示せよ。</a:t>
            </a:r>
            <a:endParaRPr lang="en-US" altLang="ja-JP" sz="2000" dirty="0" smtClean="0"/>
          </a:p>
          <a:p>
            <a:r>
              <a:rPr lang="en-US" altLang="ja-JP" sz="2000" dirty="0" smtClean="0"/>
              <a:t>[</a:t>
            </a:r>
            <a:r>
              <a:rPr lang="ja-JP" altLang="en-US" sz="2000" dirty="0" smtClean="0"/>
              <a:t>実行例</a:t>
            </a:r>
            <a:r>
              <a:rPr lang="en-US" altLang="ja-JP" sz="2000" dirty="0" smtClean="0"/>
              <a:t>] </a:t>
            </a:r>
          </a:p>
          <a:p>
            <a:r>
              <a:rPr lang="en-US" altLang="ja-JP" sz="2000" dirty="0" smtClean="0"/>
              <a:t>$ ./kihon5-1</a:t>
            </a:r>
          </a:p>
          <a:p>
            <a:r>
              <a:rPr lang="ja-JP" altLang="en-US" sz="2000" dirty="0" smtClean="0"/>
              <a:t>整数を</a:t>
            </a:r>
            <a:r>
              <a:rPr lang="en-US" altLang="ja-JP" sz="2000" dirty="0" smtClean="0"/>
              <a:t>5</a:t>
            </a:r>
            <a:r>
              <a:rPr lang="ja-JP" altLang="en-US" sz="2000" dirty="0" smtClean="0"/>
              <a:t>個入力してください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a[0] = </a:t>
            </a:r>
            <a:r>
              <a:rPr lang="en-US" altLang="ja-JP" sz="2000" dirty="0" smtClean="0">
                <a:solidFill>
                  <a:srgbClr val="FF0000"/>
                </a:solidFill>
              </a:rPr>
              <a:t>30</a:t>
            </a:r>
          </a:p>
          <a:p>
            <a:r>
              <a:rPr lang="en-US" altLang="ja-JP" sz="2000" dirty="0" smtClean="0"/>
              <a:t>a[1] = </a:t>
            </a:r>
            <a:r>
              <a:rPr lang="en-US" altLang="ja-JP" sz="2000" dirty="0" smtClean="0">
                <a:solidFill>
                  <a:srgbClr val="FF0000"/>
                </a:solidFill>
              </a:rPr>
              <a:t>55</a:t>
            </a:r>
          </a:p>
          <a:p>
            <a:r>
              <a:rPr lang="en-US" altLang="ja-JP" sz="2000" dirty="0" smtClean="0"/>
              <a:t>a[2] = </a:t>
            </a:r>
            <a:r>
              <a:rPr lang="en-US" altLang="ja-JP" sz="2000" dirty="0" smtClean="0">
                <a:solidFill>
                  <a:srgbClr val="FF0000"/>
                </a:solidFill>
              </a:rPr>
              <a:t>7</a:t>
            </a:r>
          </a:p>
          <a:p>
            <a:r>
              <a:rPr lang="en-US" altLang="ja-JP" sz="2000" dirty="0" smtClean="0"/>
              <a:t>a[3] = </a:t>
            </a:r>
            <a:r>
              <a:rPr lang="en-US" altLang="ja-JP" sz="2000" dirty="0" smtClean="0">
                <a:solidFill>
                  <a:srgbClr val="FF0000"/>
                </a:solidFill>
              </a:rPr>
              <a:t>40</a:t>
            </a:r>
          </a:p>
          <a:p>
            <a:r>
              <a:rPr lang="en-US" altLang="ja-JP" sz="2000" dirty="0" smtClean="0"/>
              <a:t>a[4] = </a:t>
            </a:r>
            <a:r>
              <a:rPr lang="en-US" altLang="ja-JP" sz="2000" dirty="0" smtClean="0">
                <a:solidFill>
                  <a:srgbClr val="FF0000"/>
                </a:solidFill>
              </a:rPr>
              <a:t>90</a:t>
            </a:r>
          </a:p>
          <a:p>
            <a:r>
              <a:rPr lang="ja-JP" altLang="en-US" sz="2000" dirty="0" smtClean="0"/>
              <a:t>左に１回転した配列は、</a:t>
            </a:r>
          </a:p>
          <a:p>
            <a:r>
              <a:rPr lang="en-US" altLang="ja-JP" sz="2000" dirty="0" smtClean="0"/>
              <a:t>b[0] = 55</a:t>
            </a:r>
          </a:p>
          <a:p>
            <a:r>
              <a:rPr lang="en-US" altLang="ja-JP" sz="2000" dirty="0" smtClean="0"/>
              <a:t>b[1] = 7</a:t>
            </a:r>
          </a:p>
          <a:p>
            <a:r>
              <a:rPr lang="en-US" altLang="ja-JP" sz="2000" dirty="0" smtClean="0"/>
              <a:t>b[2] = 40</a:t>
            </a:r>
          </a:p>
          <a:p>
            <a:r>
              <a:rPr lang="en-US" altLang="ja-JP" sz="2000" dirty="0" smtClean="0"/>
              <a:t>b[3] = 90</a:t>
            </a:r>
          </a:p>
          <a:p>
            <a:r>
              <a:rPr lang="en-US" altLang="ja-JP" sz="2000" dirty="0" smtClean="0"/>
              <a:t>b[4] = 30</a:t>
            </a:r>
          </a:p>
          <a:p>
            <a:r>
              <a:rPr lang="ja-JP" altLang="en-US" sz="2000" dirty="0" smtClean="0"/>
              <a:t>です。</a:t>
            </a:r>
            <a:endParaRPr lang="en-US" altLang="ja-JP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発展課題１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11560" y="1196752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2</a:t>
            </a:r>
            <a:r>
              <a:rPr lang="ja-JP" altLang="en-US" sz="2400" dirty="0" smtClean="0"/>
              <a:t>次元配列</a:t>
            </a:r>
            <a:r>
              <a:rPr lang="ja-JP" altLang="en-US" sz="2400" dirty="0" smtClean="0"/>
              <a:t>を３つ使って</a:t>
            </a:r>
            <a:r>
              <a:rPr lang="ja-JP" altLang="en-US" sz="2400" dirty="0" smtClean="0"/>
              <a:t>、</a:t>
            </a:r>
            <a:r>
              <a:rPr lang="en-US" altLang="ja-JP" sz="2400" dirty="0" smtClean="0"/>
              <a:t>2*2</a:t>
            </a:r>
            <a:r>
              <a:rPr lang="ja-JP" altLang="en-US" sz="2400" dirty="0" smtClean="0"/>
              <a:t>の</a:t>
            </a:r>
            <a:r>
              <a:rPr lang="ja-JP" altLang="en-US" sz="2400" dirty="0" smtClean="0"/>
              <a:t>行列の積</a:t>
            </a:r>
            <a:r>
              <a:rPr lang="ja-JP" altLang="en-US" sz="2400" dirty="0" smtClean="0"/>
              <a:t>を計算して表示するプログラムを書け。行列</a:t>
            </a:r>
            <a:r>
              <a:rPr lang="ja-JP" altLang="en-US" sz="2400" dirty="0" smtClean="0"/>
              <a:t>の各要素の値</a:t>
            </a:r>
            <a:r>
              <a:rPr lang="ja-JP" altLang="en-US" sz="2400" dirty="0" smtClean="0"/>
              <a:t>は</a:t>
            </a:r>
            <a:r>
              <a:rPr lang="en-US" altLang="ja-JP" sz="2400" dirty="0" err="1" smtClean="0"/>
              <a:t>int</a:t>
            </a:r>
            <a:r>
              <a:rPr lang="ja-JP" altLang="en-US" sz="2400" dirty="0" smtClean="0"/>
              <a:t>型とし、キーボードから読み込むように</a:t>
            </a:r>
            <a:r>
              <a:rPr lang="ja-JP" altLang="en-US" sz="2400" dirty="0" smtClean="0"/>
              <a:t>せよ</a:t>
            </a:r>
            <a:r>
              <a:rPr lang="ja-JP" altLang="en-US" sz="2400" dirty="0" smtClean="0"/>
              <a:t>。</a:t>
            </a:r>
            <a:endParaRPr lang="en-US" altLang="ja-JP" sz="24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971600" y="2636912"/>
            <a:ext cx="338437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000" dirty="0" smtClean="0"/>
              <a:t>[</a:t>
            </a:r>
            <a:r>
              <a:rPr lang="ja-JP" altLang="en-US" sz="2000" dirty="0" smtClean="0"/>
              <a:t>実行例</a:t>
            </a:r>
            <a:r>
              <a:rPr lang="en-US" altLang="ja-JP" sz="2000" dirty="0" smtClean="0"/>
              <a:t>]</a:t>
            </a:r>
          </a:p>
          <a:p>
            <a:r>
              <a:rPr lang="en-US" altLang="ja-JP" sz="2000" dirty="0" smtClean="0"/>
              <a:t>$ ./hatten5-1</a:t>
            </a:r>
          </a:p>
          <a:p>
            <a:r>
              <a:rPr lang="ja-JP" altLang="en-US" sz="2000" dirty="0" smtClean="0"/>
              <a:t>行列</a:t>
            </a:r>
            <a:r>
              <a:rPr lang="en-US" altLang="ja-JP" sz="2000" dirty="0" smtClean="0"/>
              <a:t>a</a:t>
            </a:r>
            <a:r>
              <a:rPr lang="ja-JP" altLang="en-US" sz="2000" dirty="0" smtClean="0"/>
              <a:t>を入力してください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a[0][0]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000" dirty="0" smtClean="0"/>
              <a:t>a[0][1] = </a:t>
            </a:r>
            <a:r>
              <a:rPr lang="en-US" altLang="ja-JP" sz="2000" dirty="0" smtClean="0">
                <a:solidFill>
                  <a:srgbClr val="FF0000"/>
                </a:solidFill>
              </a:rPr>
              <a:t>2</a:t>
            </a:r>
          </a:p>
          <a:p>
            <a:r>
              <a:rPr lang="en-US" altLang="ja-JP" sz="2000" dirty="0" smtClean="0"/>
              <a:t>a[1][0] = </a:t>
            </a:r>
            <a:r>
              <a:rPr lang="en-US" altLang="ja-JP" sz="2000" dirty="0" smtClean="0">
                <a:solidFill>
                  <a:srgbClr val="FF0000"/>
                </a:solidFill>
              </a:rPr>
              <a:t>3</a:t>
            </a:r>
          </a:p>
          <a:p>
            <a:r>
              <a:rPr lang="en-US" altLang="ja-JP" sz="2000" dirty="0" smtClean="0"/>
              <a:t>a[1][1] = </a:t>
            </a:r>
            <a:r>
              <a:rPr lang="en-US" altLang="ja-JP" sz="2000" dirty="0" smtClean="0">
                <a:solidFill>
                  <a:srgbClr val="FF0000"/>
                </a:solidFill>
              </a:rPr>
              <a:t>4</a:t>
            </a:r>
          </a:p>
          <a:p>
            <a:r>
              <a:rPr lang="ja-JP" altLang="en-US" sz="2000" dirty="0" smtClean="0"/>
              <a:t>行列</a:t>
            </a:r>
            <a:r>
              <a:rPr lang="en-US" altLang="ja-JP" sz="2000" dirty="0" smtClean="0"/>
              <a:t>b</a:t>
            </a:r>
            <a:r>
              <a:rPr lang="ja-JP" altLang="en-US" sz="2000" dirty="0" smtClean="0"/>
              <a:t>を入力してください</a:t>
            </a:r>
            <a:r>
              <a:rPr lang="en-US" altLang="ja-JP" sz="2000" dirty="0" smtClean="0"/>
              <a:t>:</a:t>
            </a:r>
          </a:p>
          <a:p>
            <a:r>
              <a:rPr lang="en-US" altLang="ja-JP" sz="2000" dirty="0" smtClean="0"/>
              <a:t>b[0][0]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000" dirty="0" smtClean="0"/>
              <a:t>b[0][1]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000" dirty="0" smtClean="0"/>
              <a:t>b[1][0]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000" dirty="0" smtClean="0"/>
              <a:t>b[1][1] = </a:t>
            </a:r>
            <a:r>
              <a:rPr lang="en-US" altLang="ja-JP" sz="2000" dirty="0" smtClean="0">
                <a:solidFill>
                  <a:srgbClr val="FF0000"/>
                </a:solidFill>
              </a:rPr>
              <a:t>1</a:t>
            </a:r>
            <a:endParaRPr lang="en-US" altLang="ja-JP" sz="2000" dirty="0" smtClean="0">
              <a:solidFill>
                <a:srgbClr val="FF0000"/>
              </a:solidFill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4716016" y="2924944"/>
            <a:ext cx="381642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000" dirty="0" smtClean="0"/>
              <a:t>行列</a:t>
            </a:r>
            <a:r>
              <a:rPr lang="en-US" altLang="ja-JP" sz="2000" dirty="0" err="1" smtClean="0"/>
              <a:t>a,b</a:t>
            </a:r>
            <a:r>
              <a:rPr lang="ja-JP" altLang="en-US" sz="2000" dirty="0" smtClean="0"/>
              <a:t>の積は</a:t>
            </a:r>
          </a:p>
          <a:p>
            <a:r>
              <a:rPr lang="en-US" altLang="ja-JP" sz="2000" dirty="0" smtClean="0"/>
              <a:t>p[0][0] = 3</a:t>
            </a:r>
          </a:p>
          <a:p>
            <a:r>
              <a:rPr lang="en-US" altLang="ja-JP" sz="2000" dirty="0" smtClean="0"/>
              <a:t>p[0][1] = 3</a:t>
            </a:r>
          </a:p>
          <a:p>
            <a:r>
              <a:rPr lang="en-US" altLang="ja-JP" sz="2000" dirty="0" smtClean="0"/>
              <a:t>p[1][0] = 7</a:t>
            </a:r>
          </a:p>
          <a:p>
            <a:r>
              <a:rPr lang="en-US" altLang="ja-JP" sz="2000" dirty="0" smtClean="0"/>
              <a:t>p[1][1] = 7</a:t>
            </a:r>
          </a:p>
          <a:p>
            <a:r>
              <a:rPr lang="ja-JP" altLang="en-US" sz="2000" dirty="0" smtClean="0"/>
              <a:t>です。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 smtClean="0"/>
              <a:t>発展課題２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043608" y="1700808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2*2</a:t>
            </a:r>
            <a:r>
              <a:rPr kumimoji="1" lang="ja-JP" altLang="en-US" sz="2400" dirty="0" smtClean="0"/>
              <a:t>の</a:t>
            </a:r>
            <a:r>
              <a:rPr kumimoji="1" lang="en-US" altLang="ja-JP" sz="2400" dirty="0" err="1" smtClean="0"/>
              <a:t>int</a:t>
            </a:r>
            <a:r>
              <a:rPr kumimoji="1" lang="ja-JP" altLang="en-US" sz="2400" dirty="0" smtClean="0"/>
              <a:t>型の行列の</a:t>
            </a:r>
            <a:r>
              <a:rPr kumimoji="1" lang="en-US" altLang="ja-JP" sz="2400" dirty="0" smtClean="0"/>
              <a:t>n</a:t>
            </a:r>
            <a:r>
              <a:rPr kumimoji="1" lang="ja-JP" altLang="en-US" sz="2400" dirty="0" smtClean="0"/>
              <a:t>乗を計算</a:t>
            </a:r>
            <a:r>
              <a:rPr lang="ja-JP" altLang="en-US" sz="2400" dirty="0" smtClean="0"/>
              <a:t>し、表示する</a:t>
            </a:r>
            <a:r>
              <a:rPr kumimoji="1" lang="ja-JP" altLang="en-US" sz="2400" dirty="0" smtClean="0"/>
              <a:t>プログラムを書け。行列の値および</a:t>
            </a:r>
            <a:r>
              <a:rPr kumimoji="1" lang="en-US" altLang="ja-JP" sz="2400" dirty="0" smtClean="0"/>
              <a:t>n</a:t>
            </a:r>
            <a:r>
              <a:rPr kumimoji="1" lang="ja-JP" altLang="en-US" sz="2400" dirty="0" smtClean="0"/>
              <a:t>はキーボードから読み込むようにせよ</a:t>
            </a:r>
            <a:r>
              <a:rPr kumimoji="1" lang="ja-JP" altLang="en-US" sz="2400" dirty="0" smtClean="0"/>
              <a:t>。</a:t>
            </a:r>
            <a:endParaRPr kumimoji="1" lang="en-US" altLang="ja-JP" sz="2400" dirty="0" smtClean="0"/>
          </a:p>
        </p:txBody>
      </p:sp>
      <p:sp>
        <p:nvSpPr>
          <p:cNvPr id="4" name="正方形/長方形 3"/>
          <p:cNvSpPr/>
          <p:nvPr/>
        </p:nvSpPr>
        <p:spPr>
          <a:xfrm>
            <a:off x="971600" y="3068960"/>
            <a:ext cx="36004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smtClean="0"/>
              <a:t> [</a:t>
            </a:r>
            <a:r>
              <a:rPr lang="ja-JP" altLang="en-US" sz="2400" dirty="0" smtClean="0"/>
              <a:t>実行例</a:t>
            </a:r>
            <a:r>
              <a:rPr lang="en-US" altLang="ja-JP" sz="2400" dirty="0" smtClean="0"/>
              <a:t>] </a:t>
            </a:r>
          </a:p>
          <a:p>
            <a:r>
              <a:rPr lang="en-US" altLang="ja-JP" sz="2400" dirty="0" smtClean="0"/>
              <a:t>$ ./hatten5-2</a:t>
            </a:r>
          </a:p>
          <a:p>
            <a:r>
              <a:rPr lang="ja-JP" altLang="en-US" sz="2400" dirty="0" smtClean="0"/>
              <a:t>行列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を入力してください</a:t>
            </a:r>
            <a:r>
              <a:rPr lang="en-US" altLang="ja-JP" sz="2400" dirty="0" smtClean="0"/>
              <a:t>:</a:t>
            </a:r>
          </a:p>
          <a:p>
            <a:r>
              <a:rPr lang="en-US" altLang="ja-JP" sz="2400" dirty="0" smtClean="0"/>
              <a:t>a[0][0]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1</a:t>
            </a:r>
          </a:p>
          <a:p>
            <a:r>
              <a:rPr lang="en-US" altLang="ja-JP" sz="2400" dirty="0" smtClean="0"/>
              <a:t>a[0][1]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2</a:t>
            </a:r>
          </a:p>
          <a:p>
            <a:r>
              <a:rPr lang="en-US" altLang="ja-JP" sz="2400" dirty="0" smtClean="0"/>
              <a:t>a[1][0] = </a:t>
            </a:r>
            <a:r>
              <a:rPr lang="en-US" altLang="ja-JP" sz="2400" dirty="0" smtClean="0">
                <a:solidFill>
                  <a:srgbClr val="FF0000"/>
                </a:solidFill>
              </a:rPr>
              <a:t>3</a:t>
            </a:r>
          </a:p>
          <a:p>
            <a:r>
              <a:rPr lang="en-US" altLang="ja-JP" sz="2400" dirty="0" smtClean="0"/>
              <a:t>a[1][1] = </a:t>
            </a:r>
            <a:r>
              <a:rPr lang="en-US" altLang="ja-JP" sz="2400" dirty="0" smtClean="0">
                <a:solidFill>
                  <a:srgbClr val="FF0000"/>
                </a:solidFill>
              </a:rPr>
              <a:t>4</a:t>
            </a:r>
          </a:p>
          <a:p>
            <a:r>
              <a:rPr lang="ja-JP" altLang="en-US" sz="2400" dirty="0" smtClean="0"/>
              <a:t>何乗しますか</a:t>
            </a:r>
            <a:r>
              <a:rPr lang="en-US" altLang="ja-JP" sz="2400" dirty="0" smtClean="0"/>
              <a:t>: </a:t>
            </a:r>
            <a:r>
              <a:rPr lang="en-US" altLang="ja-JP" sz="2400" dirty="0" smtClean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7" name="正方形/長方形 6"/>
          <p:cNvSpPr/>
          <p:nvPr/>
        </p:nvSpPr>
        <p:spPr>
          <a:xfrm>
            <a:off x="5004048" y="3429000"/>
            <a:ext cx="27363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 dirty="0" smtClean="0"/>
              <a:t>行列</a:t>
            </a:r>
            <a:r>
              <a:rPr lang="en-US" altLang="ja-JP" sz="2400" dirty="0" smtClean="0"/>
              <a:t>a</a:t>
            </a:r>
            <a:r>
              <a:rPr lang="ja-JP" altLang="en-US" sz="2400" dirty="0" smtClean="0"/>
              <a:t>の</a:t>
            </a:r>
            <a:r>
              <a:rPr lang="en-US" altLang="ja-JP" sz="2400" dirty="0" smtClean="0"/>
              <a:t>3</a:t>
            </a:r>
            <a:r>
              <a:rPr lang="ja-JP" altLang="en-US" sz="2400" dirty="0" smtClean="0"/>
              <a:t>乗は</a:t>
            </a:r>
          </a:p>
          <a:p>
            <a:r>
              <a:rPr lang="en-US" altLang="ja-JP" sz="2400" dirty="0" smtClean="0"/>
              <a:t>p[0][0] = 37</a:t>
            </a:r>
          </a:p>
          <a:p>
            <a:r>
              <a:rPr lang="en-US" altLang="ja-JP" sz="2400" dirty="0" smtClean="0"/>
              <a:t>p[0][1] = 54</a:t>
            </a:r>
          </a:p>
          <a:p>
            <a:r>
              <a:rPr lang="en-US" altLang="ja-JP" sz="2400" dirty="0" smtClean="0"/>
              <a:t>p[1][0] = 81</a:t>
            </a:r>
          </a:p>
          <a:p>
            <a:r>
              <a:rPr lang="en-US" altLang="ja-JP" sz="2400" dirty="0" smtClean="0"/>
              <a:t>p[1][1] = 118</a:t>
            </a:r>
          </a:p>
          <a:p>
            <a:r>
              <a:rPr lang="ja-JP" altLang="en-US" sz="2400" dirty="0" smtClean="0"/>
              <a:t>です</a:t>
            </a:r>
            <a:r>
              <a:rPr lang="ja-JP" altLang="en-US" sz="2400" dirty="0" smtClean="0"/>
              <a:t>。</a:t>
            </a:r>
            <a:endParaRPr lang="ja-JP" alt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1059</TotalTime>
  <Words>2858</Words>
  <Application>Microsoft Office PowerPoint</Application>
  <PresentationFormat>画面に合わせる (4:3)</PresentationFormat>
  <Paragraphs>363</Paragraphs>
  <Slides>29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29</vt:i4>
      </vt:variant>
    </vt:vector>
  </HeadingPairs>
  <TitlesOfParts>
    <vt:vector size="30" baseType="lpstr">
      <vt:lpstr>Office テーマ</vt:lpstr>
      <vt:lpstr>プログラミング入門２ 第５回 配列 変数宣言、初期化について</vt:lpstr>
      <vt:lpstr>今日の内容</vt:lpstr>
      <vt:lpstr>配列の必要性</vt:lpstr>
      <vt:lpstr>配列の必要性</vt:lpstr>
      <vt:lpstr>プログラム例１（打ち込んで確認）</vt:lpstr>
      <vt:lpstr>配列の宣言</vt:lpstr>
      <vt:lpstr>配列の各要素へのアクセス</vt:lpstr>
      <vt:lpstr>変数宣言の記法について（１）</vt:lpstr>
      <vt:lpstr>変数宣言の記法について（２）</vt:lpstr>
      <vt:lpstr>変数宣言と初期化</vt:lpstr>
      <vt:lpstr>配列の初期化（１）</vt:lpstr>
      <vt:lpstr>配列の要素数について</vt:lpstr>
      <vt:lpstr>プログラム例２（打ち込んで確認）</vt:lpstr>
      <vt:lpstr>プログラム例３（打ち込んで確認）</vt:lpstr>
      <vt:lpstr>プログラム例４（打ち込んで確認）</vt:lpstr>
      <vt:lpstr>配列の初期化（2）</vt:lpstr>
      <vt:lpstr>プログラム例５（打ち込んで確認）</vt:lpstr>
      <vt:lpstr>配列の初期化（3）</vt:lpstr>
      <vt:lpstr>配列のコピー</vt:lpstr>
      <vt:lpstr>配列のコピー（打ち込んで確認）</vt:lpstr>
      <vt:lpstr>多次元配列</vt:lpstr>
      <vt:lpstr>多次元配列のメモリ上での配置</vt:lpstr>
      <vt:lpstr>多次元配列の例（打ち込んで確認）</vt:lpstr>
      <vt:lpstr>初期化</vt:lpstr>
      <vt:lpstr>プログラム例（打ち込んで確認）</vt:lpstr>
      <vt:lpstr>基本課題１</vt:lpstr>
      <vt:lpstr>基本課題２</vt:lpstr>
      <vt:lpstr>発展課題１</vt:lpstr>
      <vt:lpstr>発展課題２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プログラミング入門２ 第５回 </dc:title>
  <dc:creator>sasano</dc:creator>
  <cp:lastModifiedBy>sasano</cp:lastModifiedBy>
  <cp:revision>413</cp:revision>
  <dcterms:created xsi:type="dcterms:W3CDTF">2009-10-13T03:27:50Z</dcterms:created>
  <dcterms:modified xsi:type="dcterms:W3CDTF">2010-10-16T05:16:10Z</dcterms:modified>
</cp:coreProperties>
</file>