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6.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4"/>
  </p:notesMasterIdLst>
  <p:sldIdLst>
    <p:sldId id="256" r:id="rId2"/>
    <p:sldId id="257" r:id="rId3"/>
    <p:sldId id="258" r:id="rId4"/>
    <p:sldId id="288" r:id="rId5"/>
    <p:sldId id="291" r:id="rId6"/>
    <p:sldId id="290" r:id="rId7"/>
    <p:sldId id="292" r:id="rId8"/>
    <p:sldId id="293" r:id="rId9"/>
    <p:sldId id="294" r:id="rId10"/>
    <p:sldId id="295" r:id="rId11"/>
    <p:sldId id="297" r:id="rId12"/>
    <p:sldId id="260" r:id="rId13"/>
    <p:sldId id="307" r:id="rId14"/>
    <p:sldId id="323" r:id="rId15"/>
    <p:sldId id="306" r:id="rId16"/>
    <p:sldId id="302" r:id="rId17"/>
    <p:sldId id="301" r:id="rId18"/>
    <p:sldId id="303" r:id="rId19"/>
    <p:sldId id="281" r:id="rId20"/>
    <p:sldId id="282" r:id="rId21"/>
    <p:sldId id="298" r:id="rId22"/>
    <p:sldId id="300" r:id="rId23"/>
    <p:sldId id="283" r:id="rId24"/>
    <p:sldId id="317" r:id="rId25"/>
    <p:sldId id="264" r:id="rId26"/>
    <p:sldId id="263" r:id="rId27"/>
    <p:sldId id="272" r:id="rId28"/>
    <p:sldId id="273" r:id="rId29"/>
    <p:sldId id="276" r:id="rId30"/>
    <p:sldId id="284" r:id="rId31"/>
    <p:sldId id="269" r:id="rId32"/>
    <p:sldId id="278" r:id="rId33"/>
    <p:sldId id="324" r:id="rId34"/>
    <p:sldId id="325" r:id="rId35"/>
    <p:sldId id="326" r:id="rId36"/>
    <p:sldId id="279" r:id="rId37"/>
    <p:sldId id="280" r:id="rId38"/>
    <p:sldId id="327" r:id="rId39"/>
    <p:sldId id="309" r:id="rId40"/>
    <p:sldId id="310" r:id="rId41"/>
    <p:sldId id="320" r:id="rId42"/>
    <p:sldId id="311" r:id="rId43"/>
    <p:sldId id="312" r:id="rId44"/>
    <p:sldId id="318" r:id="rId45"/>
    <p:sldId id="321" r:id="rId46"/>
    <p:sldId id="322" r:id="rId47"/>
    <p:sldId id="271" r:id="rId48"/>
    <p:sldId id="319" r:id="rId49"/>
    <p:sldId id="313" r:id="rId50"/>
    <p:sldId id="314" r:id="rId51"/>
    <p:sldId id="308" r:id="rId52"/>
    <p:sldId id="267" r:id="rId53"/>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522"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6CCB013-1BCF-4E3C-9FB7-214F93471AFE}" type="datetimeFigureOut">
              <a:rPr kumimoji="1" lang="ja-JP" altLang="en-US" smtClean="0"/>
              <a:pPr/>
              <a:t>2010/10/31</a:t>
            </a:fld>
            <a:endParaRPr kumimoji="1" lang="ja-JP" altLang="en-US"/>
          </a:p>
        </p:txBody>
      </p:sp>
      <p:sp>
        <p:nvSpPr>
          <p:cNvPr id="4" name="スライド イメージ プレースホル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6" name="フッター プレースホル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98B94CD-062B-4D2A-90C9-B96C38A6BB1A}"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098B94CD-062B-4D2A-90C9-B96C38A6BB1A}" type="slidenum">
              <a:rPr kumimoji="1" lang="ja-JP" altLang="en-US" smtClean="0"/>
              <a:pPr/>
              <a:t>27</a:t>
            </a:fld>
            <a:endParaRPr kumimoji="1" lang="ja-JP"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098B94CD-062B-4D2A-90C9-B96C38A6BB1A}" type="slidenum">
              <a:rPr kumimoji="1" lang="ja-JP" altLang="en-US" smtClean="0"/>
              <a:pPr/>
              <a:t>28</a:t>
            </a:fld>
            <a:endParaRPr kumimoji="1" lang="ja-JP"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098B94CD-062B-4D2A-90C9-B96C38A6BB1A}" type="slidenum">
              <a:rPr kumimoji="1" lang="ja-JP" altLang="en-US" smtClean="0"/>
              <a:pPr/>
              <a:t>29</a:t>
            </a:fld>
            <a:endParaRPr kumimoji="1" lang="ja-JP"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098B94CD-062B-4D2A-90C9-B96C38A6BB1A}" type="slidenum">
              <a:rPr kumimoji="1" lang="ja-JP" altLang="en-US" smtClean="0"/>
              <a:pPr/>
              <a:t>36</a:t>
            </a:fld>
            <a:endParaRPr kumimoji="1" lang="ja-JP"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098B94CD-062B-4D2A-90C9-B96C38A6BB1A}" type="slidenum">
              <a:rPr kumimoji="1" lang="ja-JP" altLang="en-US" smtClean="0"/>
              <a:pPr/>
              <a:t>37</a:t>
            </a:fld>
            <a:endParaRPr kumimoji="1" lang="ja-JP"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098B94CD-062B-4D2A-90C9-B96C38A6BB1A}" type="slidenum">
              <a:rPr kumimoji="1" lang="ja-JP" altLang="en-US" smtClean="0"/>
              <a:pPr/>
              <a:t>43</a:t>
            </a:fld>
            <a:endParaRPr kumimoji="1" lang="ja-JP"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2010/10/31</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2010/10/31</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2010/10/31</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2010/10/31</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2010/10/31</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2010/10/31</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2010/10/31</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2010/10/31</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2010/10/31</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2010/10/31</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2010/10/31</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2010/10/31</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r>
              <a:rPr kumimoji="1" lang="ja-JP" altLang="en-US" dirty="0" smtClean="0"/>
              <a:t>プログラミング入門２</a:t>
            </a:r>
            <a:r>
              <a:rPr kumimoji="1" lang="en-US" altLang="ja-JP" dirty="0" smtClean="0"/>
              <a:t/>
            </a:r>
            <a:br>
              <a:rPr kumimoji="1" lang="en-US" altLang="ja-JP" dirty="0" smtClean="0"/>
            </a:br>
            <a:r>
              <a:rPr lang="ja-JP" altLang="en-US" dirty="0" smtClean="0"/>
              <a:t>第７回</a:t>
            </a:r>
            <a:endParaRPr kumimoji="1" lang="ja-JP" altLang="en-US" dirty="0"/>
          </a:p>
        </p:txBody>
      </p:sp>
      <p:sp>
        <p:nvSpPr>
          <p:cNvPr id="4" name="テキスト ボックス 3"/>
          <p:cNvSpPr txBox="1"/>
          <p:nvPr/>
        </p:nvSpPr>
        <p:spPr>
          <a:xfrm>
            <a:off x="2428860" y="5058803"/>
            <a:ext cx="4019049" cy="584775"/>
          </a:xfrm>
          <a:prstGeom prst="rect">
            <a:avLst/>
          </a:prstGeom>
          <a:noFill/>
        </p:spPr>
        <p:txBody>
          <a:bodyPr wrap="none" rtlCol="0">
            <a:spAutoFit/>
          </a:bodyPr>
          <a:lstStyle/>
          <a:p>
            <a:r>
              <a:rPr kumimoji="1" lang="ja-JP" altLang="en-US" sz="3200" dirty="0" smtClean="0"/>
              <a:t>情報工学科   篠埜　功</a:t>
            </a:r>
            <a:endParaRPr kumimoji="1" lang="ja-JP" altLang="en-US" sz="32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今日の内容</a:t>
            </a:r>
            <a:endParaRPr kumimoji="1" lang="ja-JP" altLang="en-US" dirty="0"/>
          </a:p>
        </p:txBody>
      </p:sp>
      <p:sp>
        <p:nvSpPr>
          <p:cNvPr id="3" name="コンテンツ プレースホルダ 2"/>
          <p:cNvSpPr>
            <a:spLocks noGrp="1"/>
          </p:cNvSpPr>
          <p:nvPr>
            <p:ph idx="1"/>
          </p:nvPr>
        </p:nvSpPr>
        <p:spPr/>
        <p:txBody>
          <a:bodyPr/>
          <a:lstStyle/>
          <a:p>
            <a:r>
              <a:rPr lang="ja-JP" altLang="en-US" dirty="0" smtClean="0"/>
              <a:t>中間試験について</a:t>
            </a:r>
            <a:endParaRPr kumimoji="1" lang="en-US" altLang="ja-JP" dirty="0" smtClean="0"/>
          </a:p>
          <a:p>
            <a:r>
              <a:rPr kumimoji="1" lang="ja-JP" altLang="en-US" dirty="0" smtClean="0"/>
              <a:t>基本型、文字列について</a:t>
            </a:r>
            <a:endParaRPr kumimoji="1" lang="en-US" altLang="ja-JP" dirty="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中間試験について</a:t>
            </a:r>
            <a:endParaRPr kumimoji="1" lang="ja-JP" altLang="en-US" dirty="0"/>
          </a:p>
        </p:txBody>
      </p:sp>
      <p:sp>
        <p:nvSpPr>
          <p:cNvPr id="3" name="コンテンツ プレースホルダ 2"/>
          <p:cNvSpPr>
            <a:spLocks noGrp="1"/>
          </p:cNvSpPr>
          <p:nvPr>
            <p:ph idx="1"/>
          </p:nvPr>
        </p:nvSpPr>
        <p:spPr>
          <a:xfrm>
            <a:off x="428596" y="1428736"/>
            <a:ext cx="8229600" cy="4686320"/>
          </a:xfrm>
        </p:spPr>
        <p:txBody>
          <a:bodyPr>
            <a:normAutofit fontScale="85000" lnSpcReduction="10000"/>
          </a:bodyPr>
          <a:lstStyle/>
          <a:p>
            <a:r>
              <a:rPr lang="ja-JP" altLang="en-US" dirty="0" smtClean="0"/>
              <a:t>演習室ではなく、通常教室で行います。</a:t>
            </a:r>
            <a:endParaRPr lang="en-US" altLang="ja-JP" dirty="0" smtClean="0"/>
          </a:p>
          <a:p>
            <a:r>
              <a:rPr lang="ja-JP" altLang="en-US" dirty="0" smtClean="0"/>
              <a:t>記述式にします。穴埋めや選択ではなく、白紙の答案用紙にプログラムが書けるようにしておいてください。これまでに講義で説明した構文のみを組み合わせて書ける問題のみを出題します。（まだ説明していない構文を使っても構いませんが。）</a:t>
            </a:r>
            <a:endParaRPr lang="en-US" altLang="ja-JP" dirty="0" smtClean="0"/>
          </a:p>
          <a:p>
            <a:r>
              <a:rPr lang="ja-JP" altLang="en-US" dirty="0" smtClean="0"/>
              <a:t>各回の基本課題のプログラムを何も見ずに書けるようにしておいてください。予想問題を次ページ以下に置いています。</a:t>
            </a:r>
            <a:endParaRPr lang="en-US" altLang="ja-JP" dirty="0" smtClean="0"/>
          </a:p>
          <a:p>
            <a:r>
              <a:rPr lang="ja-JP" altLang="en-US" dirty="0" smtClean="0"/>
              <a:t>試験範囲は今日の内容まで。</a:t>
            </a:r>
            <a:endParaRPr lang="en-US" altLang="ja-JP" dirty="0" smtClean="0"/>
          </a:p>
          <a:p>
            <a:r>
              <a:rPr lang="ja-JP" altLang="en-US" dirty="0" smtClean="0"/>
              <a:t>持ち込み不可。</a:t>
            </a:r>
            <a:endParaRPr lang="en-US" altLang="ja-JP" dirty="0" smtClean="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中間試験問題例１</a:t>
            </a:r>
            <a:endParaRPr kumimoji="1" lang="ja-JP" altLang="en-US" dirty="0"/>
          </a:p>
        </p:txBody>
      </p:sp>
      <p:sp>
        <p:nvSpPr>
          <p:cNvPr id="5" name="正方形/長方形 4"/>
          <p:cNvSpPr/>
          <p:nvPr/>
        </p:nvSpPr>
        <p:spPr>
          <a:xfrm>
            <a:off x="500034" y="1285860"/>
            <a:ext cx="8215370" cy="5262979"/>
          </a:xfrm>
          <a:prstGeom prst="rect">
            <a:avLst/>
          </a:prstGeom>
        </p:spPr>
        <p:txBody>
          <a:bodyPr wrap="square">
            <a:spAutoFit/>
          </a:bodyPr>
          <a:lstStyle/>
          <a:p>
            <a:r>
              <a:rPr lang="ja-JP" altLang="en-US" sz="2800" dirty="0" smtClean="0"/>
              <a:t>整数</a:t>
            </a:r>
            <a:r>
              <a:rPr lang="en-US" altLang="ja-JP" sz="2800" dirty="0" smtClean="0"/>
              <a:t>1 </a:t>
            </a:r>
            <a:r>
              <a:rPr lang="ja-JP" altLang="en-US" sz="2800" dirty="0" smtClean="0"/>
              <a:t>から</a:t>
            </a:r>
            <a:r>
              <a:rPr lang="en-US" altLang="ja-JP" sz="2800" dirty="0" smtClean="0"/>
              <a:t>n </a:t>
            </a:r>
            <a:r>
              <a:rPr lang="ja-JP" altLang="en-US" sz="2800" dirty="0" err="1" smtClean="0"/>
              <a:t>までの</a:t>
            </a:r>
            <a:r>
              <a:rPr lang="ja-JP" altLang="en-US" sz="2800" dirty="0" smtClean="0"/>
              <a:t>和を計算する関数を</a:t>
            </a:r>
            <a:r>
              <a:rPr lang="en-US" altLang="ja-JP" sz="2800" dirty="0" smtClean="0"/>
              <a:t>C </a:t>
            </a:r>
            <a:r>
              <a:rPr lang="ja-JP" altLang="en-US" sz="2800" dirty="0" smtClean="0"/>
              <a:t>言語で定義せよ。</a:t>
            </a:r>
            <a:r>
              <a:rPr lang="en-US" altLang="ja-JP" sz="2800" dirty="0" smtClean="0"/>
              <a:t>(</a:t>
            </a:r>
            <a:r>
              <a:rPr lang="ja-JP" altLang="en-US" sz="2800" dirty="0" smtClean="0"/>
              <a:t>例えば、</a:t>
            </a:r>
            <a:r>
              <a:rPr lang="en-US" altLang="ja-JP" sz="2800" dirty="0" smtClean="0"/>
              <a:t>n </a:t>
            </a:r>
            <a:r>
              <a:rPr lang="ja-JP" altLang="en-US" sz="2800" dirty="0" smtClean="0"/>
              <a:t>が</a:t>
            </a:r>
            <a:r>
              <a:rPr lang="en-US" altLang="ja-JP" sz="2800" dirty="0" smtClean="0"/>
              <a:t>4 </a:t>
            </a:r>
            <a:r>
              <a:rPr lang="ja-JP" altLang="en-US" sz="2800" dirty="0" smtClean="0"/>
              <a:t>の場合は、</a:t>
            </a:r>
            <a:r>
              <a:rPr lang="en-US" altLang="ja-JP" sz="2800" dirty="0" smtClean="0"/>
              <a:t>1,2,3,4 </a:t>
            </a:r>
            <a:r>
              <a:rPr lang="ja-JP" altLang="en-US" sz="2800" dirty="0" smtClean="0"/>
              <a:t>の和で、</a:t>
            </a:r>
            <a:r>
              <a:rPr lang="en-US" altLang="ja-JP" sz="2800" dirty="0" smtClean="0"/>
              <a:t>10 </a:t>
            </a:r>
            <a:r>
              <a:rPr lang="ja-JP" altLang="en-US" sz="2800" dirty="0" smtClean="0"/>
              <a:t>が結果となる。</a:t>
            </a:r>
            <a:r>
              <a:rPr lang="en-US" altLang="ja-JP" sz="2800" dirty="0" smtClean="0"/>
              <a:t>) </a:t>
            </a:r>
            <a:r>
              <a:rPr lang="ja-JP" altLang="en-US" sz="2800" dirty="0" smtClean="0"/>
              <a:t>関数名は</a:t>
            </a:r>
            <a:r>
              <a:rPr lang="en-US" altLang="ja-JP" sz="2800" dirty="0" smtClean="0"/>
              <a:t>sum </a:t>
            </a:r>
            <a:r>
              <a:rPr lang="ja-JP" altLang="en-US" sz="2800" dirty="0" smtClean="0"/>
              <a:t>とする。ただし、関数</a:t>
            </a:r>
            <a:r>
              <a:rPr lang="en-US" altLang="ja-JP" sz="2800" dirty="0" smtClean="0"/>
              <a:t>sum </a:t>
            </a:r>
            <a:r>
              <a:rPr lang="ja-JP" altLang="en-US" sz="2800" dirty="0" smtClean="0"/>
              <a:t>は、</a:t>
            </a:r>
            <a:r>
              <a:rPr lang="en-US" altLang="ja-JP" sz="2800" dirty="0" smtClean="0"/>
              <a:t>n </a:t>
            </a:r>
            <a:r>
              <a:rPr lang="ja-JP" altLang="en-US" sz="2800" dirty="0" smtClean="0"/>
              <a:t>を</a:t>
            </a:r>
            <a:r>
              <a:rPr lang="en-US" altLang="ja-JP" sz="2800" dirty="0" err="1" smtClean="0"/>
              <a:t>int</a:t>
            </a:r>
            <a:r>
              <a:rPr lang="ja-JP" altLang="en-US" sz="2800" dirty="0" smtClean="0"/>
              <a:t>型の引数として受け取り、計算結果を</a:t>
            </a:r>
            <a:r>
              <a:rPr lang="en-US" altLang="ja-JP" sz="2800" dirty="0" err="1" smtClean="0"/>
              <a:t>int</a:t>
            </a:r>
            <a:r>
              <a:rPr lang="en-US" altLang="ja-JP" sz="2800" dirty="0" smtClean="0"/>
              <a:t> </a:t>
            </a:r>
            <a:r>
              <a:rPr lang="ja-JP" altLang="en-US" sz="2800" dirty="0" smtClean="0"/>
              <a:t>型の値で返す関数として定義せよ。</a:t>
            </a:r>
          </a:p>
          <a:p>
            <a:r>
              <a:rPr lang="ja-JP" altLang="en-US" sz="2800" dirty="0" smtClean="0"/>
              <a:t>    </a:t>
            </a:r>
            <a:r>
              <a:rPr lang="en-US" altLang="ja-JP" sz="2800" dirty="0" err="1" smtClean="0"/>
              <a:t>int</a:t>
            </a:r>
            <a:r>
              <a:rPr lang="en-US" altLang="ja-JP" sz="2800" dirty="0" smtClean="0"/>
              <a:t> sum (</a:t>
            </a:r>
            <a:r>
              <a:rPr lang="en-US" altLang="ja-JP" sz="2800" dirty="0" err="1" smtClean="0"/>
              <a:t>int</a:t>
            </a:r>
            <a:r>
              <a:rPr lang="en-US" altLang="ja-JP" sz="2800" dirty="0" smtClean="0"/>
              <a:t> n) {</a:t>
            </a:r>
          </a:p>
          <a:p>
            <a:r>
              <a:rPr lang="ja-JP" altLang="en-US" sz="2800" dirty="0" smtClean="0"/>
              <a:t>        </a:t>
            </a:r>
            <a:r>
              <a:rPr lang="en-US" altLang="ja-JP" sz="2800" dirty="0" smtClean="0"/>
              <a:t>…</a:t>
            </a:r>
            <a:endParaRPr lang="ja-JP" altLang="en-US" sz="2800" dirty="0" smtClean="0"/>
          </a:p>
          <a:p>
            <a:r>
              <a:rPr lang="en-US" altLang="ja-JP" sz="2800" dirty="0" smtClean="0"/>
              <a:t>    }</a:t>
            </a:r>
          </a:p>
          <a:p>
            <a:r>
              <a:rPr lang="ja-JP" altLang="en-US" sz="2800" dirty="0" smtClean="0"/>
              <a:t>引数に</a:t>
            </a:r>
            <a:r>
              <a:rPr lang="en-US" altLang="ja-JP" sz="2800" dirty="0" smtClean="0"/>
              <a:t>0 </a:t>
            </a:r>
            <a:r>
              <a:rPr lang="ja-JP" altLang="en-US" sz="2800" dirty="0" smtClean="0"/>
              <a:t>以下の値が与えられた場合は</a:t>
            </a:r>
            <a:r>
              <a:rPr lang="en-US" altLang="ja-JP" sz="2800" dirty="0" smtClean="0"/>
              <a:t>0 </a:t>
            </a:r>
            <a:r>
              <a:rPr lang="ja-JP" altLang="en-US" sz="2800" dirty="0" smtClean="0"/>
              <a:t>を結果として返すようにせよ。効率のよい計算方法</a:t>
            </a:r>
            <a:r>
              <a:rPr lang="en-US" altLang="ja-JP" sz="2800" dirty="0" smtClean="0"/>
              <a:t>((1+n)n/2 </a:t>
            </a:r>
            <a:r>
              <a:rPr lang="ja-JP" altLang="en-US" sz="2800" dirty="0" smtClean="0"/>
              <a:t>など</a:t>
            </a:r>
            <a:r>
              <a:rPr lang="en-US" altLang="ja-JP" sz="2800" dirty="0" smtClean="0"/>
              <a:t>) </a:t>
            </a:r>
            <a:r>
              <a:rPr lang="ja-JP" altLang="en-US" sz="2800" dirty="0" smtClean="0"/>
              <a:t>は使わず、最も素朴な、</a:t>
            </a:r>
            <a:r>
              <a:rPr lang="en-US" altLang="ja-JP" sz="2800" dirty="0" smtClean="0"/>
              <a:t>1 </a:t>
            </a:r>
            <a:r>
              <a:rPr lang="ja-JP" altLang="en-US" sz="2800" dirty="0" smtClean="0"/>
              <a:t>から順に</a:t>
            </a:r>
            <a:r>
              <a:rPr lang="en-US" altLang="ja-JP" sz="2800" dirty="0" smtClean="0"/>
              <a:t>n </a:t>
            </a:r>
            <a:r>
              <a:rPr lang="ja-JP" altLang="en-US" sz="2800" dirty="0" err="1" smtClean="0"/>
              <a:t>まで</a:t>
            </a:r>
            <a:r>
              <a:rPr lang="ja-JP" altLang="en-US" sz="2800" dirty="0" smtClean="0"/>
              <a:t>足していく方法で定義せよ。</a:t>
            </a:r>
            <a:r>
              <a:rPr lang="en-US" altLang="ja-JP" sz="2800" dirty="0" smtClean="0"/>
              <a:t>main </a:t>
            </a:r>
            <a:r>
              <a:rPr lang="ja-JP" altLang="en-US" sz="2800" dirty="0" smtClean="0"/>
              <a:t>関数の定義は不要である。</a:t>
            </a:r>
            <a:endParaRPr lang="ja-JP" altLang="en-US" sz="28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解答例</a:t>
            </a:r>
            <a:endParaRPr kumimoji="1" lang="ja-JP" altLang="en-US" dirty="0"/>
          </a:p>
        </p:txBody>
      </p:sp>
      <p:sp>
        <p:nvSpPr>
          <p:cNvPr id="4" name="テキスト ボックス 3"/>
          <p:cNvSpPr txBox="1"/>
          <p:nvPr/>
        </p:nvSpPr>
        <p:spPr>
          <a:xfrm>
            <a:off x="819609" y="2104148"/>
            <a:ext cx="2937022" cy="3539430"/>
          </a:xfrm>
          <a:prstGeom prst="rect">
            <a:avLst/>
          </a:prstGeom>
          <a:noFill/>
          <a:ln>
            <a:solidFill>
              <a:schemeClr val="tx1"/>
            </a:solidFill>
          </a:ln>
        </p:spPr>
        <p:txBody>
          <a:bodyPr wrap="none" rtlCol="0">
            <a:spAutoFit/>
          </a:bodyPr>
          <a:lstStyle/>
          <a:p>
            <a:r>
              <a:rPr lang="en-US" altLang="ja-JP" sz="2800" dirty="0" err="1" smtClean="0"/>
              <a:t>int</a:t>
            </a:r>
            <a:r>
              <a:rPr lang="en-US" altLang="ja-JP" sz="2800" dirty="0" smtClean="0"/>
              <a:t> sum (</a:t>
            </a:r>
            <a:r>
              <a:rPr lang="en-US" altLang="ja-JP" sz="2800" dirty="0" err="1" smtClean="0"/>
              <a:t>int</a:t>
            </a:r>
            <a:r>
              <a:rPr lang="en-US" altLang="ja-JP" sz="2800" dirty="0" smtClean="0"/>
              <a:t> n) {</a:t>
            </a:r>
          </a:p>
          <a:p>
            <a:r>
              <a:rPr kumimoji="1" lang="en-US" altLang="ja-JP" sz="2800" dirty="0" smtClean="0"/>
              <a:t>    </a:t>
            </a:r>
            <a:r>
              <a:rPr lang="en-US" altLang="ja-JP" sz="2800" dirty="0" err="1" smtClean="0"/>
              <a:t>int</a:t>
            </a:r>
            <a:r>
              <a:rPr lang="en-US" altLang="ja-JP" sz="2800" dirty="0" smtClean="0"/>
              <a:t> sum=0, </a:t>
            </a:r>
            <a:r>
              <a:rPr lang="en-US" altLang="ja-JP" sz="2800" dirty="0" err="1" smtClean="0"/>
              <a:t>i</a:t>
            </a:r>
            <a:r>
              <a:rPr lang="en-US" altLang="ja-JP" sz="2800" dirty="0" smtClean="0"/>
              <a:t>=1;</a:t>
            </a:r>
          </a:p>
          <a:p>
            <a:r>
              <a:rPr lang="en-US" altLang="ja-JP" sz="2800" dirty="0" smtClean="0"/>
              <a:t>    while (</a:t>
            </a:r>
            <a:r>
              <a:rPr lang="en-US" altLang="ja-JP" sz="2800" dirty="0" err="1" smtClean="0"/>
              <a:t>i</a:t>
            </a:r>
            <a:r>
              <a:rPr lang="en-US" altLang="ja-JP" sz="2800" dirty="0" smtClean="0"/>
              <a:t>&lt;=n) {</a:t>
            </a:r>
          </a:p>
          <a:p>
            <a:r>
              <a:rPr lang="en-US" altLang="ja-JP" sz="2800" dirty="0" smtClean="0"/>
              <a:t>        sum = sum + </a:t>
            </a:r>
            <a:r>
              <a:rPr lang="en-US" altLang="ja-JP" sz="2800" dirty="0" err="1" smtClean="0"/>
              <a:t>i</a:t>
            </a:r>
            <a:r>
              <a:rPr lang="en-US" altLang="ja-JP" sz="2800" dirty="0" smtClean="0"/>
              <a:t>;</a:t>
            </a:r>
          </a:p>
          <a:p>
            <a:r>
              <a:rPr lang="en-US" altLang="ja-JP" sz="2800" dirty="0" smtClean="0"/>
              <a:t>        </a:t>
            </a:r>
            <a:r>
              <a:rPr lang="en-US" altLang="ja-JP" sz="2800" dirty="0" err="1" smtClean="0"/>
              <a:t>i</a:t>
            </a:r>
            <a:r>
              <a:rPr lang="en-US" altLang="ja-JP" sz="2800" dirty="0" smtClean="0"/>
              <a:t> = </a:t>
            </a:r>
            <a:r>
              <a:rPr lang="en-US" altLang="ja-JP" sz="2800" dirty="0" err="1" smtClean="0"/>
              <a:t>i</a:t>
            </a:r>
            <a:r>
              <a:rPr lang="en-US" altLang="ja-JP" sz="2800" dirty="0" smtClean="0"/>
              <a:t> + 1;</a:t>
            </a:r>
          </a:p>
          <a:p>
            <a:r>
              <a:rPr lang="en-US" altLang="ja-JP" sz="2800" dirty="0" smtClean="0"/>
              <a:t>    }</a:t>
            </a:r>
          </a:p>
          <a:p>
            <a:r>
              <a:rPr lang="en-US" altLang="ja-JP" sz="2800" dirty="0" smtClean="0"/>
              <a:t>    return sum;</a:t>
            </a:r>
          </a:p>
          <a:p>
            <a:r>
              <a:rPr lang="en-US" altLang="ja-JP" sz="2800" dirty="0" smtClean="0"/>
              <a:t>}</a:t>
            </a:r>
          </a:p>
        </p:txBody>
      </p:sp>
      <p:sp>
        <p:nvSpPr>
          <p:cNvPr id="5" name="テキスト ボックス 4"/>
          <p:cNvSpPr txBox="1"/>
          <p:nvPr/>
        </p:nvSpPr>
        <p:spPr>
          <a:xfrm>
            <a:off x="4418666" y="2143116"/>
            <a:ext cx="3949864" cy="2677656"/>
          </a:xfrm>
          <a:prstGeom prst="rect">
            <a:avLst/>
          </a:prstGeom>
          <a:noFill/>
          <a:ln>
            <a:solidFill>
              <a:schemeClr val="tx1"/>
            </a:solidFill>
          </a:ln>
        </p:spPr>
        <p:txBody>
          <a:bodyPr wrap="none" rtlCol="0">
            <a:spAutoFit/>
          </a:bodyPr>
          <a:lstStyle/>
          <a:p>
            <a:r>
              <a:rPr lang="en-US" altLang="ja-JP" sz="2800" dirty="0" err="1" smtClean="0"/>
              <a:t>int</a:t>
            </a:r>
            <a:r>
              <a:rPr lang="en-US" altLang="ja-JP" sz="2800" dirty="0" smtClean="0"/>
              <a:t> sum (</a:t>
            </a:r>
            <a:r>
              <a:rPr lang="en-US" altLang="ja-JP" sz="2800" dirty="0" err="1" smtClean="0"/>
              <a:t>int</a:t>
            </a:r>
            <a:r>
              <a:rPr lang="en-US" altLang="ja-JP" sz="2800" dirty="0" smtClean="0"/>
              <a:t> n) {</a:t>
            </a:r>
          </a:p>
          <a:p>
            <a:r>
              <a:rPr lang="en-US" altLang="ja-JP" sz="2800" dirty="0" smtClean="0"/>
              <a:t>    if (n&lt;=0)</a:t>
            </a:r>
          </a:p>
          <a:p>
            <a:r>
              <a:rPr lang="en-US" altLang="ja-JP" sz="2800" dirty="0" smtClean="0"/>
              <a:t>        return 0;</a:t>
            </a:r>
          </a:p>
          <a:p>
            <a:r>
              <a:rPr lang="en-US" altLang="ja-JP" sz="2800" dirty="0" smtClean="0"/>
              <a:t>    else</a:t>
            </a:r>
          </a:p>
          <a:p>
            <a:r>
              <a:rPr lang="en-US" altLang="ja-JP" sz="2800" dirty="0" smtClean="0"/>
              <a:t>        return </a:t>
            </a:r>
            <a:r>
              <a:rPr lang="ja-JP" altLang="en-US" sz="2800" dirty="0" smtClean="0"/>
              <a:t> </a:t>
            </a:r>
            <a:r>
              <a:rPr lang="en-US" altLang="ja-JP" sz="2800" dirty="0" smtClean="0"/>
              <a:t>n + sum (n-1);</a:t>
            </a:r>
          </a:p>
          <a:p>
            <a:r>
              <a:rPr lang="en-US" altLang="ja-JP" sz="2800" dirty="0" smtClean="0"/>
              <a:t>}</a:t>
            </a:r>
          </a:p>
        </p:txBody>
      </p:sp>
      <p:sp>
        <p:nvSpPr>
          <p:cNvPr id="6" name="テキスト ボックス 5"/>
          <p:cNvSpPr txBox="1"/>
          <p:nvPr/>
        </p:nvSpPr>
        <p:spPr>
          <a:xfrm>
            <a:off x="1709417" y="1477020"/>
            <a:ext cx="1507144" cy="523220"/>
          </a:xfrm>
          <a:prstGeom prst="rect">
            <a:avLst/>
          </a:prstGeom>
          <a:noFill/>
        </p:spPr>
        <p:txBody>
          <a:bodyPr wrap="none" rtlCol="0">
            <a:spAutoFit/>
          </a:bodyPr>
          <a:lstStyle/>
          <a:p>
            <a:r>
              <a:rPr kumimoji="1" lang="ja-JP" altLang="en-US" sz="2800" dirty="0" smtClean="0"/>
              <a:t>解答例１</a:t>
            </a:r>
            <a:endParaRPr kumimoji="1" lang="ja-JP" altLang="en-US" sz="2800" dirty="0"/>
          </a:p>
        </p:txBody>
      </p:sp>
      <p:sp>
        <p:nvSpPr>
          <p:cNvPr id="7" name="テキスト ボックス 6"/>
          <p:cNvSpPr txBox="1"/>
          <p:nvPr/>
        </p:nvSpPr>
        <p:spPr>
          <a:xfrm>
            <a:off x="5357818" y="1477020"/>
            <a:ext cx="1507144" cy="523220"/>
          </a:xfrm>
          <a:prstGeom prst="rect">
            <a:avLst/>
          </a:prstGeom>
          <a:noFill/>
        </p:spPr>
        <p:txBody>
          <a:bodyPr wrap="none" rtlCol="0">
            <a:spAutoFit/>
          </a:bodyPr>
          <a:lstStyle/>
          <a:p>
            <a:r>
              <a:rPr kumimoji="1" lang="ja-JP" altLang="en-US" sz="2800" dirty="0" smtClean="0"/>
              <a:t>解答例</a:t>
            </a:r>
            <a:r>
              <a:rPr lang="ja-JP" altLang="en-US" sz="2800" dirty="0" smtClean="0"/>
              <a:t>２</a:t>
            </a:r>
            <a:endParaRPr kumimoji="1" lang="ja-JP" altLang="en-US" sz="28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中間試験問題例</a:t>
            </a:r>
            <a:r>
              <a:rPr lang="ja-JP" altLang="en-US" dirty="0" smtClean="0"/>
              <a:t>２</a:t>
            </a:r>
            <a:endParaRPr kumimoji="1" lang="ja-JP" altLang="en-US" dirty="0"/>
          </a:p>
        </p:txBody>
      </p:sp>
      <p:sp>
        <p:nvSpPr>
          <p:cNvPr id="4" name="正方形/長方形 3"/>
          <p:cNvSpPr/>
          <p:nvPr/>
        </p:nvSpPr>
        <p:spPr>
          <a:xfrm>
            <a:off x="714348" y="1500174"/>
            <a:ext cx="7715304" cy="3539430"/>
          </a:xfrm>
          <a:prstGeom prst="rect">
            <a:avLst/>
          </a:prstGeom>
        </p:spPr>
        <p:txBody>
          <a:bodyPr wrap="square">
            <a:spAutoFit/>
          </a:bodyPr>
          <a:lstStyle/>
          <a:p>
            <a:r>
              <a:rPr lang="ja-JP" altLang="en-US" sz="2800" dirty="0" smtClean="0"/>
              <a:t>３つの整数の最大値を求める関数を定義せよ。関数名は</a:t>
            </a:r>
            <a:r>
              <a:rPr lang="en-US" altLang="ja-JP" sz="2800" dirty="0" smtClean="0"/>
              <a:t>max3 </a:t>
            </a:r>
            <a:r>
              <a:rPr lang="ja-JP" altLang="en-US" sz="2800" dirty="0" smtClean="0"/>
              <a:t>とする。ただし、関数</a:t>
            </a:r>
            <a:r>
              <a:rPr lang="en-US" altLang="ja-JP" sz="2800" dirty="0" smtClean="0"/>
              <a:t>max3 </a:t>
            </a:r>
            <a:r>
              <a:rPr lang="ja-JP" altLang="en-US" sz="2800" dirty="0" smtClean="0"/>
              <a:t>は、３つの</a:t>
            </a:r>
            <a:r>
              <a:rPr lang="en-US" altLang="ja-JP" sz="2800" dirty="0" err="1" smtClean="0"/>
              <a:t>int</a:t>
            </a:r>
            <a:r>
              <a:rPr lang="en-US" altLang="ja-JP" sz="2800" dirty="0" smtClean="0"/>
              <a:t> </a:t>
            </a:r>
            <a:r>
              <a:rPr lang="ja-JP" altLang="en-US" sz="2800" dirty="0" smtClean="0"/>
              <a:t>型の引数</a:t>
            </a:r>
            <a:r>
              <a:rPr lang="en-US" altLang="ja-JP" sz="2800" dirty="0" smtClean="0"/>
              <a:t>n1, n2, n3 </a:t>
            </a:r>
            <a:r>
              <a:rPr lang="ja-JP" altLang="en-US" sz="2800" dirty="0" smtClean="0"/>
              <a:t>を受け取り、そのうちの最大値を</a:t>
            </a:r>
            <a:r>
              <a:rPr lang="en-US" altLang="ja-JP" sz="2800" dirty="0" err="1" smtClean="0"/>
              <a:t>int</a:t>
            </a:r>
            <a:r>
              <a:rPr lang="en-US" altLang="ja-JP" sz="2800" dirty="0" smtClean="0"/>
              <a:t> </a:t>
            </a:r>
            <a:r>
              <a:rPr lang="ja-JP" altLang="en-US" sz="2800" dirty="0" smtClean="0"/>
              <a:t>型の値で返す関数として定義せよ。</a:t>
            </a:r>
          </a:p>
          <a:p>
            <a:r>
              <a:rPr lang="ja-JP" altLang="en-US" sz="2800" dirty="0" smtClean="0"/>
              <a:t>    </a:t>
            </a:r>
            <a:r>
              <a:rPr lang="en-US" altLang="ja-JP" sz="2800" dirty="0" err="1" smtClean="0"/>
              <a:t>int</a:t>
            </a:r>
            <a:r>
              <a:rPr lang="en-US" altLang="ja-JP" sz="2800" dirty="0" smtClean="0"/>
              <a:t> max3 (</a:t>
            </a:r>
            <a:r>
              <a:rPr lang="en-US" altLang="ja-JP" sz="2800" dirty="0" err="1" smtClean="0"/>
              <a:t>int</a:t>
            </a:r>
            <a:r>
              <a:rPr lang="en-US" altLang="ja-JP" sz="2800" dirty="0" smtClean="0"/>
              <a:t> n1, </a:t>
            </a:r>
            <a:r>
              <a:rPr lang="en-US" altLang="ja-JP" sz="2800" dirty="0" err="1" smtClean="0"/>
              <a:t>int</a:t>
            </a:r>
            <a:r>
              <a:rPr lang="en-US" altLang="ja-JP" sz="2800" dirty="0" smtClean="0"/>
              <a:t> n2, </a:t>
            </a:r>
            <a:r>
              <a:rPr lang="en-US" altLang="ja-JP" sz="2800" dirty="0" err="1" smtClean="0"/>
              <a:t>int</a:t>
            </a:r>
            <a:r>
              <a:rPr lang="en-US" altLang="ja-JP" sz="2800" dirty="0" smtClean="0"/>
              <a:t> n3) {</a:t>
            </a:r>
          </a:p>
          <a:p>
            <a:r>
              <a:rPr lang="ja-JP" altLang="en-US" sz="2800" dirty="0" smtClean="0"/>
              <a:t>        </a:t>
            </a:r>
            <a:r>
              <a:rPr lang="en-US" altLang="ja-JP" sz="2800" dirty="0" smtClean="0"/>
              <a:t>…</a:t>
            </a:r>
            <a:endParaRPr lang="ja-JP" altLang="en-US" sz="2800" dirty="0" smtClean="0"/>
          </a:p>
          <a:p>
            <a:r>
              <a:rPr lang="en-US" altLang="ja-JP" sz="2800" dirty="0" smtClean="0"/>
              <a:t>    }</a:t>
            </a:r>
          </a:p>
          <a:p>
            <a:r>
              <a:rPr lang="en-US" altLang="ja-JP" sz="2800" dirty="0" smtClean="0"/>
              <a:t>main </a:t>
            </a:r>
            <a:r>
              <a:rPr lang="ja-JP" altLang="en-US" sz="2800" dirty="0" smtClean="0"/>
              <a:t>関数の定義は不要である。</a:t>
            </a:r>
            <a:endParaRPr lang="ja-JP" altLang="en-US" sz="28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解答例</a:t>
            </a:r>
            <a:endParaRPr kumimoji="1" lang="ja-JP" altLang="en-US" dirty="0"/>
          </a:p>
        </p:txBody>
      </p:sp>
      <p:sp>
        <p:nvSpPr>
          <p:cNvPr id="4" name="テキスト ボックス 3"/>
          <p:cNvSpPr txBox="1"/>
          <p:nvPr/>
        </p:nvSpPr>
        <p:spPr>
          <a:xfrm>
            <a:off x="214282" y="2227258"/>
            <a:ext cx="4131259" cy="3416320"/>
          </a:xfrm>
          <a:prstGeom prst="rect">
            <a:avLst/>
          </a:prstGeom>
          <a:noFill/>
          <a:ln>
            <a:solidFill>
              <a:schemeClr val="tx1"/>
            </a:solidFill>
          </a:ln>
        </p:spPr>
        <p:txBody>
          <a:bodyPr wrap="none" rtlCol="0">
            <a:spAutoFit/>
          </a:bodyPr>
          <a:lstStyle/>
          <a:p>
            <a:r>
              <a:rPr lang="en-US" altLang="ja-JP" sz="2400" dirty="0" err="1" smtClean="0"/>
              <a:t>int</a:t>
            </a:r>
            <a:r>
              <a:rPr lang="en-US" altLang="ja-JP" sz="2400" dirty="0" smtClean="0"/>
              <a:t> max3 (</a:t>
            </a:r>
            <a:r>
              <a:rPr lang="en-US" altLang="ja-JP" sz="2400" dirty="0" err="1" smtClean="0"/>
              <a:t>int</a:t>
            </a:r>
            <a:r>
              <a:rPr lang="en-US" altLang="ja-JP" sz="2400" dirty="0" smtClean="0"/>
              <a:t> n1, </a:t>
            </a:r>
            <a:r>
              <a:rPr lang="en-US" altLang="ja-JP" sz="2400" dirty="0" err="1" smtClean="0"/>
              <a:t>int</a:t>
            </a:r>
            <a:r>
              <a:rPr lang="en-US" altLang="ja-JP" sz="2400" dirty="0" smtClean="0"/>
              <a:t> n2, </a:t>
            </a:r>
            <a:r>
              <a:rPr lang="en-US" altLang="ja-JP" sz="2400" dirty="0" err="1" smtClean="0"/>
              <a:t>int</a:t>
            </a:r>
            <a:r>
              <a:rPr lang="en-US" altLang="ja-JP" sz="2400" dirty="0" smtClean="0"/>
              <a:t> n3) {</a:t>
            </a:r>
          </a:p>
          <a:p>
            <a:r>
              <a:rPr kumimoji="1" lang="en-US" altLang="ja-JP" sz="2400" dirty="0" smtClean="0"/>
              <a:t>    </a:t>
            </a:r>
            <a:r>
              <a:rPr kumimoji="1" lang="en-US" altLang="ja-JP" sz="2400" dirty="0" err="1" smtClean="0"/>
              <a:t>int</a:t>
            </a:r>
            <a:r>
              <a:rPr kumimoji="1" lang="en-US" altLang="ja-JP" sz="2400" dirty="0" smtClean="0"/>
              <a:t> max;</a:t>
            </a:r>
          </a:p>
          <a:p>
            <a:r>
              <a:rPr lang="en-US" altLang="ja-JP" sz="2400" dirty="0" smtClean="0"/>
              <a:t>    max = n1;</a:t>
            </a:r>
            <a:endParaRPr kumimoji="1" lang="en-US" altLang="ja-JP" sz="2400" dirty="0" smtClean="0"/>
          </a:p>
          <a:p>
            <a:r>
              <a:rPr lang="en-US" altLang="ja-JP" sz="2400" dirty="0" smtClean="0"/>
              <a:t>    if (max &lt; n2)</a:t>
            </a:r>
          </a:p>
          <a:p>
            <a:r>
              <a:rPr kumimoji="1" lang="en-US" altLang="ja-JP" sz="2400" dirty="0" smtClean="0"/>
              <a:t>        max = n2;</a:t>
            </a:r>
          </a:p>
          <a:p>
            <a:r>
              <a:rPr lang="en-US" altLang="ja-JP" sz="2400" dirty="0" smtClean="0"/>
              <a:t>    if (max &lt; n3)</a:t>
            </a:r>
          </a:p>
          <a:p>
            <a:r>
              <a:rPr kumimoji="1" lang="en-US" altLang="ja-JP" sz="2400" dirty="0" smtClean="0"/>
              <a:t>        max = n3;</a:t>
            </a:r>
          </a:p>
          <a:p>
            <a:r>
              <a:rPr lang="en-US" altLang="ja-JP" sz="2400" dirty="0" smtClean="0"/>
              <a:t>    return max;</a:t>
            </a:r>
          </a:p>
          <a:p>
            <a:r>
              <a:rPr kumimoji="1" lang="en-US" altLang="ja-JP" sz="2400" dirty="0" smtClean="0"/>
              <a:t>}</a:t>
            </a:r>
          </a:p>
        </p:txBody>
      </p:sp>
      <p:sp>
        <p:nvSpPr>
          <p:cNvPr id="5" name="テキスト ボックス 4"/>
          <p:cNvSpPr txBox="1"/>
          <p:nvPr/>
        </p:nvSpPr>
        <p:spPr>
          <a:xfrm>
            <a:off x="4500562" y="2215116"/>
            <a:ext cx="4510915" cy="3785652"/>
          </a:xfrm>
          <a:prstGeom prst="rect">
            <a:avLst/>
          </a:prstGeom>
          <a:noFill/>
          <a:ln>
            <a:solidFill>
              <a:schemeClr val="tx1"/>
            </a:solidFill>
          </a:ln>
        </p:spPr>
        <p:txBody>
          <a:bodyPr wrap="none" rtlCol="0">
            <a:spAutoFit/>
          </a:bodyPr>
          <a:lstStyle/>
          <a:p>
            <a:r>
              <a:rPr lang="en-US" altLang="ja-JP" sz="2400" dirty="0" err="1" smtClean="0"/>
              <a:t>int</a:t>
            </a:r>
            <a:r>
              <a:rPr lang="en-US" altLang="ja-JP" sz="2400" dirty="0" smtClean="0"/>
              <a:t> max2 (</a:t>
            </a:r>
            <a:r>
              <a:rPr lang="en-US" altLang="ja-JP" sz="2400" dirty="0" err="1" smtClean="0"/>
              <a:t>int</a:t>
            </a:r>
            <a:r>
              <a:rPr lang="en-US" altLang="ja-JP" sz="2400" dirty="0" smtClean="0"/>
              <a:t> n1, </a:t>
            </a:r>
            <a:r>
              <a:rPr lang="en-US" altLang="ja-JP" sz="2400" dirty="0" err="1" smtClean="0"/>
              <a:t>int</a:t>
            </a:r>
            <a:r>
              <a:rPr lang="en-US" altLang="ja-JP" sz="2400" dirty="0" smtClean="0"/>
              <a:t> n2) {</a:t>
            </a:r>
          </a:p>
          <a:p>
            <a:r>
              <a:rPr lang="en-US" altLang="ja-JP" sz="2400" dirty="0" smtClean="0"/>
              <a:t>    if (n1 &gt; n2)</a:t>
            </a:r>
          </a:p>
          <a:p>
            <a:r>
              <a:rPr lang="en-US" altLang="ja-JP" sz="2400" dirty="0" smtClean="0"/>
              <a:t>        return n1;</a:t>
            </a:r>
          </a:p>
          <a:p>
            <a:r>
              <a:rPr lang="en-US" altLang="ja-JP" sz="2400" dirty="0" smtClean="0"/>
              <a:t>    else</a:t>
            </a:r>
          </a:p>
          <a:p>
            <a:r>
              <a:rPr lang="en-US" altLang="ja-JP" sz="2400" dirty="0" smtClean="0"/>
              <a:t>        return n2;</a:t>
            </a:r>
          </a:p>
          <a:p>
            <a:r>
              <a:rPr lang="en-US" altLang="ja-JP" sz="2400" dirty="0" smtClean="0"/>
              <a:t>}</a:t>
            </a:r>
          </a:p>
          <a:p>
            <a:endParaRPr lang="en-US" altLang="ja-JP" sz="2400" dirty="0" smtClean="0"/>
          </a:p>
          <a:p>
            <a:r>
              <a:rPr lang="en-US" altLang="ja-JP" sz="2400" dirty="0" err="1" smtClean="0"/>
              <a:t>int</a:t>
            </a:r>
            <a:r>
              <a:rPr lang="en-US" altLang="ja-JP" sz="2400" dirty="0" smtClean="0"/>
              <a:t> max3 (</a:t>
            </a:r>
            <a:r>
              <a:rPr lang="en-US" altLang="ja-JP" sz="2400" dirty="0" err="1" smtClean="0"/>
              <a:t>int</a:t>
            </a:r>
            <a:r>
              <a:rPr lang="en-US" altLang="ja-JP" sz="2400" dirty="0" smtClean="0"/>
              <a:t> n1, </a:t>
            </a:r>
            <a:r>
              <a:rPr lang="en-US" altLang="ja-JP" sz="2400" dirty="0" err="1" smtClean="0"/>
              <a:t>int</a:t>
            </a:r>
            <a:r>
              <a:rPr lang="en-US" altLang="ja-JP" sz="2400" dirty="0" smtClean="0"/>
              <a:t> n2, </a:t>
            </a:r>
            <a:r>
              <a:rPr lang="en-US" altLang="ja-JP" sz="2400" dirty="0" err="1" smtClean="0"/>
              <a:t>int</a:t>
            </a:r>
            <a:r>
              <a:rPr lang="en-US" altLang="ja-JP" sz="2400" dirty="0" smtClean="0"/>
              <a:t> n3) {</a:t>
            </a:r>
          </a:p>
          <a:p>
            <a:r>
              <a:rPr lang="en-US" altLang="ja-JP" sz="2400" dirty="0" smtClean="0"/>
              <a:t>    return max2 (n1, max2 (n2, n3));</a:t>
            </a:r>
          </a:p>
          <a:p>
            <a:r>
              <a:rPr kumimoji="1" lang="en-US" altLang="ja-JP" sz="2400" dirty="0" smtClean="0"/>
              <a:t>}</a:t>
            </a:r>
          </a:p>
        </p:txBody>
      </p:sp>
      <p:sp>
        <p:nvSpPr>
          <p:cNvPr id="6" name="テキスト ボックス 5"/>
          <p:cNvSpPr txBox="1"/>
          <p:nvPr/>
        </p:nvSpPr>
        <p:spPr>
          <a:xfrm>
            <a:off x="1493220" y="1500174"/>
            <a:ext cx="1507144" cy="523220"/>
          </a:xfrm>
          <a:prstGeom prst="rect">
            <a:avLst/>
          </a:prstGeom>
          <a:noFill/>
        </p:spPr>
        <p:txBody>
          <a:bodyPr wrap="none" rtlCol="0">
            <a:spAutoFit/>
          </a:bodyPr>
          <a:lstStyle/>
          <a:p>
            <a:r>
              <a:rPr kumimoji="1" lang="ja-JP" altLang="en-US" sz="2800" dirty="0" smtClean="0"/>
              <a:t>解答例１</a:t>
            </a:r>
            <a:endParaRPr kumimoji="1" lang="ja-JP" altLang="en-US" sz="2800" dirty="0"/>
          </a:p>
        </p:txBody>
      </p:sp>
      <p:sp>
        <p:nvSpPr>
          <p:cNvPr id="7" name="テキスト ボックス 6"/>
          <p:cNvSpPr txBox="1"/>
          <p:nvPr/>
        </p:nvSpPr>
        <p:spPr>
          <a:xfrm>
            <a:off x="5572132" y="1500174"/>
            <a:ext cx="1507144" cy="523220"/>
          </a:xfrm>
          <a:prstGeom prst="rect">
            <a:avLst/>
          </a:prstGeom>
          <a:noFill/>
        </p:spPr>
        <p:txBody>
          <a:bodyPr wrap="none" rtlCol="0">
            <a:spAutoFit/>
          </a:bodyPr>
          <a:lstStyle/>
          <a:p>
            <a:r>
              <a:rPr kumimoji="1" lang="ja-JP" altLang="en-US" sz="2800" dirty="0" smtClean="0"/>
              <a:t>解答例２</a:t>
            </a:r>
            <a:endParaRPr kumimoji="1" lang="ja-JP" altLang="en-US" sz="28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488952"/>
            <a:ext cx="8229600" cy="796908"/>
          </a:xfrm>
        </p:spPr>
        <p:txBody>
          <a:bodyPr>
            <a:normAutofit/>
          </a:bodyPr>
          <a:lstStyle/>
          <a:p>
            <a:r>
              <a:rPr kumimoji="1" lang="ja-JP" altLang="en-US" dirty="0" smtClean="0"/>
              <a:t>中間試験問題例３</a:t>
            </a:r>
            <a:endParaRPr kumimoji="1" lang="ja-JP" altLang="en-US" dirty="0"/>
          </a:p>
        </p:txBody>
      </p:sp>
      <p:sp>
        <p:nvSpPr>
          <p:cNvPr id="4" name="正方形/長方形 3"/>
          <p:cNvSpPr/>
          <p:nvPr/>
        </p:nvSpPr>
        <p:spPr>
          <a:xfrm>
            <a:off x="1071538" y="1714488"/>
            <a:ext cx="6643734" cy="954107"/>
          </a:xfrm>
          <a:prstGeom prst="rect">
            <a:avLst/>
          </a:prstGeom>
        </p:spPr>
        <p:txBody>
          <a:bodyPr wrap="square">
            <a:spAutoFit/>
          </a:bodyPr>
          <a:lstStyle/>
          <a:p>
            <a:r>
              <a:rPr lang="ja-JP" altLang="en-US" sz="2800" dirty="0" smtClean="0"/>
              <a:t>配列を使う</a:t>
            </a:r>
            <a:r>
              <a:rPr lang="en-US" altLang="ja-JP" sz="2800" dirty="0" smtClean="0"/>
              <a:t>C </a:t>
            </a:r>
            <a:r>
              <a:rPr lang="ja-JP" altLang="en-US" sz="2800" dirty="0" smtClean="0"/>
              <a:t>言語のプログラムを自由に定義し、その意味を説明せよ。</a:t>
            </a:r>
            <a:endParaRPr lang="ja-JP" altLang="en-US" sz="28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42852"/>
            <a:ext cx="8229600" cy="642942"/>
          </a:xfrm>
        </p:spPr>
        <p:txBody>
          <a:bodyPr>
            <a:normAutofit fontScale="90000"/>
          </a:bodyPr>
          <a:lstStyle/>
          <a:p>
            <a:r>
              <a:rPr kumimoji="1" lang="ja-JP" altLang="en-US" dirty="0" smtClean="0"/>
              <a:t>解答例</a:t>
            </a:r>
            <a:endParaRPr kumimoji="1" lang="ja-JP" altLang="en-US" dirty="0"/>
          </a:p>
        </p:txBody>
      </p:sp>
      <p:sp>
        <p:nvSpPr>
          <p:cNvPr id="4" name="テキスト ボックス 3"/>
          <p:cNvSpPr txBox="1"/>
          <p:nvPr/>
        </p:nvSpPr>
        <p:spPr>
          <a:xfrm>
            <a:off x="642910" y="928670"/>
            <a:ext cx="4379917" cy="5262979"/>
          </a:xfrm>
          <a:prstGeom prst="rect">
            <a:avLst/>
          </a:prstGeom>
          <a:noFill/>
          <a:ln>
            <a:solidFill>
              <a:schemeClr val="tx1"/>
            </a:solidFill>
          </a:ln>
        </p:spPr>
        <p:txBody>
          <a:bodyPr wrap="none" rtlCol="0">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kumimoji="1" lang="en-US" altLang="ja-JP" sz="2800" dirty="0" smtClean="0"/>
              <a:t>    </a:t>
            </a:r>
            <a:r>
              <a:rPr kumimoji="1" lang="en-US" altLang="ja-JP" sz="2800" dirty="0" err="1" smtClean="0"/>
              <a:t>int</a:t>
            </a:r>
            <a:r>
              <a:rPr kumimoji="1" lang="en-US" altLang="ja-JP" sz="2800" dirty="0" smtClean="0"/>
              <a:t> a[3];</a:t>
            </a:r>
          </a:p>
          <a:p>
            <a:r>
              <a:rPr lang="en-US" altLang="ja-JP" sz="2800" dirty="0" smtClean="0"/>
              <a:t>    </a:t>
            </a:r>
            <a:r>
              <a:rPr lang="en-US" altLang="ja-JP" sz="2800" dirty="0" err="1" smtClean="0"/>
              <a:t>int</a:t>
            </a:r>
            <a:r>
              <a:rPr lang="en-US" altLang="ja-JP" sz="2800" dirty="0" smtClean="0"/>
              <a:t> </a:t>
            </a:r>
            <a:r>
              <a:rPr lang="en-US" altLang="ja-JP" sz="2800" dirty="0" err="1" smtClean="0"/>
              <a:t>i</a:t>
            </a:r>
            <a:r>
              <a:rPr lang="en-US" altLang="ja-JP" sz="2800" dirty="0" smtClean="0"/>
              <a:t>=0, sum=0;</a:t>
            </a:r>
          </a:p>
          <a:p>
            <a:r>
              <a:rPr lang="en-US" altLang="ja-JP" sz="2800" dirty="0" smtClean="0"/>
              <a:t>    while (</a:t>
            </a:r>
            <a:r>
              <a:rPr lang="en-US" altLang="ja-JP" sz="2800" dirty="0" err="1" smtClean="0"/>
              <a:t>i</a:t>
            </a:r>
            <a:r>
              <a:rPr lang="en-US" altLang="ja-JP" sz="2800" dirty="0" smtClean="0"/>
              <a:t> &lt; 3)</a:t>
            </a:r>
          </a:p>
          <a:p>
            <a:r>
              <a:rPr lang="en-US" altLang="ja-JP" sz="2800" dirty="0" smtClean="0"/>
              <a:t>        </a:t>
            </a:r>
            <a:r>
              <a:rPr lang="en-US" altLang="ja-JP" sz="2800" dirty="0" err="1" smtClean="0"/>
              <a:t>scanf</a:t>
            </a:r>
            <a:r>
              <a:rPr lang="en-US" altLang="ja-JP" sz="2800" dirty="0" smtClean="0"/>
              <a:t> (“%d”, &amp;a[</a:t>
            </a:r>
            <a:r>
              <a:rPr lang="en-US" altLang="ja-JP" sz="2800" dirty="0" err="1" smtClean="0"/>
              <a:t>i</a:t>
            </a:r>
            <a:r>
              <a:rPr lang="en-US" altLang="ja-JP" sz="2800" dirty="0" smtClean="0"/>
              <a:t>]);</a:t>
            </a:r>
          </a:p>
          <a:p>
            <a:r>
              <a:rPr lang="en-US" altLang="ja-JP" sz="2800" dirty="0" smtClean="0"/>
              <a:t>    </a:t>
            </a:r>
            <a:r>
              <a:rPr lang="en-US" altLang="ja-JP" sz="2800" dirty="0" err="1" smtClean="0"/>
              <a:t>i</a:t>
            </a:r>
            <a:r>
              <a:rPr lang="en-US" altLang="ja-JP" sz="2800" dirty="0" smtClean="0"/>
              <a:t> = 0;</a:t>
            </a:r>
          </a:p>
          <a:p>
            <a:r>
              <a:rPr lang="en-US" altLang="ja-JP" sz="2800" dirty="0" smtClean="0"/>
              <a:t>    while (</a:t>
            </a:r>
            <a:r>
              <a:rPr lang="en-US" altLang="ja-JP" sz="2800" dirty="0" err="1" smtClean="0"/>
              <a:t>i</a:t>
            </a:r>
            <a:r>
              <a:rPr lang="en-US" altLang="ja-JP" sz="2800" dirty="0" smtClean="0"/>
              <a:t> &lt; 3) </a:t>
            </a:r>
          </a:p>
          <a:p>
            <a:r>
              <a:rPr lang="en-US" altLang="ja-JP" sz="2800" dirty="0" smtClean="0"/>
              <a:t>        sum = sum + a[</a:t>
            </a:r>
            <a:r>
              <a:rPr lang="en-US" altLang="ja-JP" sz="2800" dirty="0" err="1" smtClean="0"/>
              <a:t>i</a:t>
            </a:r>
            <a:r>
              <a:rPr lang="en-US" altLang="ja-JP" sz="2800" dirty="0" smtClean="0"/>
              <a:t>];</a:t>
            </a:r>
          </a:p>
          <a:p>
            <a:r>
              <a:rPr lang="en-US" altLang="ja-JP" sz="2800" dirty="0" smtClean="0"/>
              <a:t>    </a:t>
            </a:r>
            <a:r>
              <a:rPr lang="en-US" altLang="ja-JP" sz="2800" dirty="0" err="1" smtClean="0"/>
              <a:t>printf</a:t>
            </a:r>
            <a:r>
              <a:rPr lang="en-US" altLang="ja-JP" sz="2800" dirty="0" smtClean="0"/>
              <a:t> (“sum=%d\n”, sum);</a:t>
            </a:r>
          </a:p>
          <a:p>
            <a:r>
              <a:rPr lang="en-US" altLang="ja-JP" sz="2800" dirty="0" smtClean="0"/>
              <a:t>    return 0;</a:t>
            </a:r>
          </a:p>
          <a:p>
            <a:r>
              <a:rPr lang="en-US" altLang="ja-JP" sz="2800" dirty="0" smtClean="0"/>
              <a:t>}  </a:t>
            </a:r>
            <a:endParaRPr kumimoji="1" lang="ja-JP" altLang="en-US" sz="2800" dirty="0"/>
          </a:p>
        </p:txBody>
      </p:sp>
      <p:sp>
        <p:nvSpPr>
          <p:cNvPr id="5" name="テキスト ボックス 4"/>
          <p:cNvSpPr txBox="1"/>
          <p:nvPr/>
        </p:nvSpPr>
        <p:spPr>
          <a:xfrm>
            <a:off x="5286380" y="1000108"/>
            <a:ext cx="3357586" cy="2677656"/>
          </a:xfrm>
          <a:prstGeom prst="rect">
            <a:avLst/>
          </a:prstGeom>
          <a:noFill/>
        </p:spPr>
        <p:txBody>
          <a:bodyPr wrap="square" rtlCol="0">
            <a:spAutoFit/>
          </a:bodyPr>
          <a:lstStyle/>
          <a:p>
            <a:r>
              <a:rPr kumimoji="1" lang="ja-JP" altLang="en-US" sz="2800" dirty="0" smtClean="0"/>
              <a:t>（説明）</a:t>
            </a:r>
            <a:endParaRPr kumimoji="1" lang="en-US" altLang="ja-JP" sz="2800" dirty="0" smtClean="0"/>
          </a:p>
          <a:p>
            <a:r>
              <a:rPr kumimoji="1" lang="ja-JP" altLang="en-US" sz="2800" dirty="0" smtClean="0"/>
              <a:t>これは、キーボードから３つの</a:t>
            </a:r>
            <a:r>
              <a:rPr lang="ja-JP" altLang="en-US" sz="2800" dirty="0" smtClean="0"/>
              <a:t>整数を受け取り、それらの和を計算して表示するプログラムである。</a:t>
            </a:r>
            <a:endParaRPr kumimoji="1" lang="ja-JP" altLang="en-US" sz="28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868346"/>
          </a:xfrm>
        </p:spPr>
        <p:txBody>
          <a:bodyPr/>
          <a:lstStyle/>
          <a:p>
            <a:r>
              <a:rPr kumimoji="1" lang="ja-JP" altLang="en-US" dirty="0" smtClean="0"/>
              <a:t>中間試験問題例４</a:t>
            </a:r>
            <a:endParaRPr kumimoji="1" lang="ja-JP" altLang="en-US" dirty="0"/>
          </a:p>
        </p:txBody>
      </p:sp>
      <p:sp>
        <p:nvSpPr>
          <p:cNvPr id="5" name="テキスト ボックス 4"/>
          <p:cNvSpPr txBox="1"/>
          <p:nvPr/>
        </p:nvSpPr>
        <p:spPr>
          <a:xfrm>
            <a:off x="323528" y="1340768"/>
            <a:ext cx="3384376" cy="1569660"/>
          </a:xfrm>
          <a:prstGeom prst="rect">
            <a:avLst/>
          </a:prstGeom>
          <a:noFill/>
        </p:spPr>
        <p:txBody>
          <a:bodyPr wrap="square" rtlCol="0">
            <a:spAutoFit/>
          </a:bodyPr>
          <a:lstStyle/>
          <a:p>
            <a:r>
              <a:rPr kumimoji="1" lang="ja-JP" altLang="en-US" sz="2400" dirty="0" smtClean="0"/>
              <a:t>以下のプログラムを</a:t>
            </a:r>
            <a:r>
              <a:rPr lang="ja-JP" altLang="en-US" sz="2400" dirty="0" smtClean="0"/>
              <a:t>、</a:t>
            </a:r>
            <a:r>
              <a:rPr lang="en-US" altLang="ja-JP" sz="2400" dirty="0" smtClean="0"/>
              <a:t>continue</a:t>
            </a:r>
            <a:r>
              <a:rPr lang="ja-JP" altLang="en-US" sz="2400" dirty="0" smtClean="0"/>
              <a:t>文を使うことにより、</a:t>
            </a:r>
            <a:r>
              <a:rPr lang="en-US" altLang="ja-JP" sz="2400" dirty="0" err="1" smtClean="0"/>
              <a:t>goto</a:t>
            </a:r>
            <a:r>
              <a:rPr lang="ja-JP" altLang="en-US" sz="2400" dirty="0" smtClean="0"/>
              <a:t>文を使わないプログラムに書き換えよ。</a:t>
            </a:r>
            <a:endParaRPr kumimoji="1" lang="en-US" altLang="ja-JP" sz="2400" dirty="0" smtClean="0"/>
          </a:p>
        </p:txBody>
      </p:sp>
      <p:sp>
        <p:nvSpPr>
          <p:cNvPr id="6" name="正方形/長方形 5"/>
          <p:cNvSpPr/>
          <p:nvPr/>
        </p:nvSpPr>
        <p:spPr>
          <a:xfrm>
            <a:off x="3923928" y="1436578"/>
            <a:ext cx="4572000" cy="5016758"/>
          </a:xfrm>
          <a:prstGeom prst="rect">
            <a:avLst/>
          </a:prstGeom>
          <a:ln>
            <a:solidFill>
              <a:schemeClr val="tx1"/>
            </a:solidFill>
          </a:ln>
        </p:spPr>
        <p:txBody>
          <a:bodyPr>
            <a:spAutoFit/>
          </a:bodyPr>
          <a:lstStyle/>
          <a:p>
            <a:r>
              <a:rPr lang="en-US" altLang="ja-JP" sz="2000" dirty="0" smtClean="0"/>
              <a:t>#include &lt;</a:t>
            </a:r>
            <a:r>
              <a:rPr lang="en-US" altLang="ja-JP" sz="2000" dirty="0" err="1" smtClean="0"/>
              <a:t>stdio.h</a:t>
            </a:r>
            <a:r>
              <a:rPr lang="en-US" altLang="ja-JP" sz="2000" dirty="0" smtClean="0"/>
              <a:t>&gt;</a:t>
            </a:r>
          </a:p>
          <a:p>
            <a:r>
              <a:rPr lang="en-US" altLang="ja-JP" sz="2000" dirty="0" err="1" smtClean="0"/>
              <a:t>int</a:t>
            </a:r>
            <a:r>
              <a:rPr lang="en-US" altLang="ja-JP" sz="2000" dirty="0" smtClean="0"/>
              <a:t> main (void) {</a:t>
            </a:r>
          </a:p>
          <a:p>
            <a:r>
              <a:rPr lang="en-US" altLang="ja-JP" sz="2000" dirty="0" smtClean="0"/>
              <a:t>    </a:t>
            </a:r>
            <a:r>
              <a:rPr lang="en-US" altLang="ja-JP" sz="2000" dirty="0" err="1" smtClean="0"/>
              <a:t>int</a:t>
            </a:r>
            <a:r>
              <a:rPr lang="en-US" altLang="ja-JP" sz="2000" dirty="0" smtClean="0"/>
              <a:t> x;</a:t>
            </a:r>
          </a:p>
          <a:p>
            <a:r>
              <a:rPr lang="en-US" altLang="ja-JP" sz="2000" dirty="0" smtClean="0"/>
              <a:t>    x = 1;</a:t>
            </a:r>
          </a:p>
          <a:p>
            <a:r>
              <a:rPr lang="en-US" altLang="ja-JP" sz="2000" dirty="0" smtClean="0"/>
              <a:t>    while (x &lt;= 10) {</a:t>
            </a:r>
          </a:p>
          <a:p>
            <a:r>
              <a:rPr lang="en-US" altLang="ja-JP" sz="2000" dirty="0" smtClean="0"/>
              <a:t>        if (x == 5) {</a:t>
            </a:r>
          </a:p>
          <a:p>
            <a:r>
              <a:rPr lang="en-US" altLang="ja-JP" sz="2000" dirty="0" smtClean="0"/>
              <a:t>             x=x+1;</a:t>
            </a:r>
          </a:p>
          <a:p>
            <a:r>
              <a:rPr lang="en-US" altLang="ja-JP" sz="2000" dirty="0" smtClean="0"/>
              <a:t>             </a:t>
            </a:r>
            <a:r>
              <a:rPr lang="en-US" altLang="ja-JP" sz="2000" dirty="0" err="1" smtClean="0"/>
              <a:t>goto</a:t>
            </a:r>
            <a:r>
              <a:rPr lang="en-US" altLang="ja-JP" sz="2000" dirty="0" smtClean="0"/>
              <a:t> </a:t>
            </a:r>
            <a:r>
              <a:rPr lang="en-US" altLang="ja-JP" sz="2000" dirty="0" err="1" smtClean="0"/>
              <a:t>aaa</a:t>
            </a:r>
            <a:r>
              <a:rPr lang="en-US" altLang="ja-JP" sz="2000" dirty="0" smtClean="0"/>
              <a:t>;</a:t>
            </a:r>
          </a:p>
          <a:p>
            <a:r>
              <a:rPr lang="en-US" altLang="ja-JP" sz="2000" dirty="0" smtClean="0"/>
              <a:t>        }</a:t>
            </a:r>
          </a:p>
          <a:p>
            <a:r>
              <a:rPr lang="en-US" altLang="ja-JP" sz="2000" dirty="0" smtClean="0"/>
              <a:t>        </a:t>
            </a:r>
            <a:r>
              <a:rPr lang="en-US" altLang="ja-JP" sz="2000" dirty="0" err="1" smtClean="0"/>
              <a:t>printf</a:t>
            </a:r>
            <a:r>
              <a:rPr lang="en-US" altLang="ja-JP" sz="2000" dirty="0" smtClean="0"/>
              <a:t> (“</a:t>
            </a:r>
            <a:r>
              <a:rPr lang="ja-JP" altLang="en-US" sz="2000" dirty="0" smtClean="0"/>
              <a:t>羊が</a:t>
            </a:r>
            <a:r>
              <a:rPr lang="en-US" altLang="ja-JP" sz="2000" dirty="0" smtClean="0"/>
              <a:t>%d</a:t>
            </a:r>
            <a:r>
              <a:rPr lang="ja-JP" altLang="en-US" sz="2000" dirty="0" smtClean="0"/>
              <a:t>匹</a:t>
            </a:r>
            <a:r>
              <a:rPr lang="en-US" altLang="ja-JP" sz="2000" dirty="0" smtClean="0"/>
              <a:t>\n", x);</a:t>
            </a:r>
          </a:p>
          <a:p>
            <a:r>
              <a:rPr lang="en-US" altLang="ja-JP" sz="2000" dirty="0" smtClean="0"/>
              <a:t>        x=x+1;</a:t>
            </a:r>
          </a:p>
          <a:p>
            <a:r>
              <a:rPr lang="en-US" altLang="ja-JP" sz="2000" dirty="0" smtClean="0"/>
              <a:t>     </a:t>
            </a:r>
            <a:r>
              <a:rPr lang="en-US" altLang="ja-JP" sz="2000" dirty="0" err="1" smtClean="0"/>
              <a:t>aaa</a:t>
            </a:r>
            <a:r>
              <a:rPr lang="en-US" altLang="ja-JP" sz="2000" dirty="0" smtClean="0"/>
              <a:t>:  </a:t>
            </a:r>
          </a:p>
          <a:p>
            <a:r>
              <a:rPr lang="en-US" altLang="ja-JP" sz="2000" dirty="0" smtClean="0"/>
              <a:t>        ; </a:t>
            </a:r>
          </a:p>
          <a:p>
            <a:r>
              <a:rPr lang="en-US" altLang="ja-JP" sz="2000" dirty="0" smtClean="0"/>
              <a:t>    }</a:t>
            </a:r>
          </a:p>
          <a:p>
            <a:r>
              <a:rPr lang="en-US" altLang="ja-JP" sz="2000" dirty="0" smtClean="0"/>
              <a:t>    return 0;</a:t>
            </a:r>
          </a:p>
          <a:p>
            <a:r>
              <a:rPr lang="en-US" altLang="ja-JP" sz="2000" dirty="0" smtClean="0"/>
              <a:t>}</a:t>
            </a:r>
            <a:endParaRPr lang="en-US" altLang="ja-JP" sz="20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868346"/>
          </a:xfrm>
        </p:spPr>
        <p:txBody>
          <a:bodyPr/>
          <a:lstStyle/>
          <a:p>
            <a:r>
              <a:rPr kumimoji="1" lang="ja-JP" altLang="en-US" dirty="0" smtClean="0"/>
              <a:t>解答例</a:t>
            </a:r>
            <a:endParaRPr kumimoji="1" lang="ja-JP" altLang="en-US" dirty="0"/>
          </a:p>
        </p:txBody>
      </p:sp>
      <p:sp>
        <p:nvSpPr>
          <p:cNvPr id="6" name="正方形/長方形 5"/>
          <p:cNvSpPr/>
          <p:nvPr/>
        </p:nvSpPr>
        <p:spPr>
          <a:xfrm>
            <a:off x="1571636" y="1428736"/>
            <a:ext cx="4572000" cy="5262979"/>
          </a:xfrm>
          <a:prstGeom prst="rect">
            <a:avLst/>
          </a:prstGeom>
          <a:ln>
            <a:solidFill>
              <a:schemeClr val="tx1"/>
            </a:solidFill>
          </a:ln>
        </p:spPr>
        <p:txBody>
          <a:bodyPr>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x;</a:t>
            </a:r>
          </a:p>
          <a:p>
            <a:r>
              <a:rPr lang="en-US" altLang="ja-JP" sz="2400" dirty="0" smtClean="0"/>
              <a:t>    x = 1;</a:t>
            </a:r>
          </a:p>
          <a:p>
            <a:r>
              <a:rPr lang="en-US" altLang="ja-JP" sz="2400" dirty="0" smtClean="0"/>
              <a:t>    while (x &lt;= 10) {</a:t>
            </a:r>
          </a:p>
          <a:p>
            <a:r>
              <a:rPr lang="en-US" altLang="ja-JP" sz="2400" dirty="0" smtClean="0"/>
              <a:t>        if (x == 5) {</a:t>
            </a:r>
          </a:p>
          <a:p>
            <a:r>
              <a:rPr lang="en-US" altLang="ja-JP" sz="2400" dirty="0" smtClean="0"/>
              <a:t>             x=x+1;</a:t>
            </a:r>
          </a:p>
          <a:p>
            <a:r>
              <a:rPr lang="en-US" altLang="ja-JP" sz="2400" dirty="0" smtClean="0"/>
              <a:t>             continue;</a:t>
            </a:r>
            <a:endParaRPr lang="en-US" altLang="ja-JP" sz="2400" dirty="0" smtClean="0">
              <a:solidFill>
                <a:srgbClr val="FF0000"/>
              </a:solidFill>
            </a:endParaRPr>
          </a:p>
          <a:p>
            <a:r>
              <a:rPr lang="en-US" altLang="ja-JP" sz="2400" dirty="0" smtClean="0"/>
              <a:t>        }</a:t>
            </a:r>
          </a:p>
          <a:p>
            <a:r>
              <a:rPr lang="en-US" altLang="ja-JP" sz="2400" dirty="0" smtClean="0"/>
              <a:t>        </a:t>
            </a:r>
            <a:r>
              <a:rPr lang="en-US" altLang="ja-JP" sz="2400" dirty="0" err="1" smtClean="0"/>
              <a:t>printf</a:t>
            </a:r>
            <a:r>
              <a:rPr lang="en-US" altLang="ja-JP" sz="2400" dirty="0" smtClean="0"/>
              <a:t> (“</a:t>
            </a:r>
            <a:r>
              <a:rPr lang="ja-JP" altLang="en-US" sz="2400" dirty="0" smtClean="0"/>
              <a:t>羊が</a:t>
            </a:r>
            <a:r>
              <a:rPr lang="en-US" altLang="ja-JP" sz="2400" dirty="0" smtClean="0"/>
              <a:t>%d</a:t>
            </a:r>
            <a:r>
              <a:rPr lang="ja-JP" altLang="en-US" sz="2400" dirty="0" smtClean="0"/>
              <a:t>匹</a:t>
            </a:r>
            <a:r>
              <a:rPr lang="en-US" altLang="ja-JP" sz="2400" dirty="0" smtClean="0"/>
              <a:t>\n", x);</a:t>
            </a:r>
          </a:p>
          <a:p>
            <a:r>
              <a:rPr lang="en-US" altLang="ja-JP" sz="2400" dirty="0" smtClean="0"/>
              <a:t>        x=x+1;</a:t>
            </a:r>
          </a:p>
          <a:p>
            <a:r>
              <a:rPr lang="en-US" altLang="ja-JP" sz="2400" dirty="0" smtClean="0"/>
              <a:t>    }</a:t>
            </a:r>
          </a:p>
          <a:p>
            <a:r>
              <a:rPr lang="en-US" altLang="ja-JP" sz="2400" dirty="0" smtClean="0"/>
              <a:t>    return 0;</a:t>
            </a:r>
          </a:p>
          <a:p>
            <a:r>
              <a:rPr lang="en-US" altLang="ja-JP" sz="2400" dirty="0" smtClean="0"/>
              <a:t>}</a:t>
            </a:r>
            <a:endParaRPr lang="en-US" altLang="ja-JP" sz="24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基本型</a:t>
            </a:r>
            <a:endParaRPr kumimoji="1" lang="ja-JP" altLang="en-US" dirty="0"/>
          </a:p>
        </p:txBody>
      </p:sp>
      <p:sp>
        <p:nvSpPr>
          <p:cNvPr id="3" name="コンテンツ プレースホルダ 2"/>
          <p:cNvSpPr>
            <a:spLocks noGrp="1"/>
          </p:cNvSpPr>
          <p:nvPr>
            <p:ph idx="1"/>
          </p:nvPr>
        </p:nvSpPr>
        <p:spPr>
          <a:xfrm>
            <a:off x="457200" y="1600201"/>
            <a:ext cx="8229600" cy="2471742"/>
          </a:xfrm>
        </p:spPr>
        <p:txBody>
          <a:bodyPr/>
          <a:lstStyle/>
          <a:p>
            <a:r>
              <a:rPr kumimoji="1" lang="ja-JP" altLang="en-US" dirty="0" smtClean="0"/>
              <a:t>これまでに紹介した基本型は</a:t>
            </a:r>
            <a:r>
              <a:rPr kumimoji="1" lang="en-US" altLang="ja-JP" dirty="0" err="1" smtClean="0"/>
              <a:t>int</a:t>
            </a:r>
            <a:r>
              <a:rPr lang="ja-JP" altLang="en-US" dirty="0" smtClean="0"/>
              <a:t>型、</a:t>
            </a:r>
            <a:r>
              <a:rPr lang="en-US" altLang="ja-JP" dirty="0" smtClean="0"/>
              <a:t>double</a:t>
            </a:r>
            <a:r>
              <a:rPr lang="ja-JP" altLang="en-US" dirty="0" smtClean="0"/>
              <a:t>型である。その他にもさまざまな基本型があり、整数型、浮動小数点型に分類できる。</a:t>
            </a:r>
            <a:endParaRPr lang="en-US" altLang="ja-JP" dirty="0" smtClean="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868346"/>
          </a:xfrm>
        </p:spPr>
        <p:txBody>
          <a:bodyPr/>
          <a:lstStyle/>
          <a:p>
            <a:r>
              <a:rPr kumimoji="1" lang="ja-JP" altLang="en-US" dirty="0" smtClean="0"/>
              <a:t>整数型</a:t>
            </a:r>
            <a:endParaRPr kumimoji="1" lang="ja-JP" altLang="en-US" dirty="0"/>
          </a:p>
        </p:txBody>
      </p:sp>
      <p:sp>
        <p:nvSpPr>
          <p:cNvPr id="4" name="テキスト ボックス 3"/>
          <p:cNvSpPr txBox="1"/>
          <p:nvPr/>
        </p:nvSpPr>
        <p:spPr>
          <a:xfrm>
            <a:off x="570332" y="1262365"/>
            <a:ext cx="7962108" cy="5262979"/>
          </a:xfrm>
          <a:prstGeom prst="rect">
            <a:avLst/>
          </a:prstGeom>
          <a:noFill/>
        </p:spPr>
        <p:txBody>
          <a:bodyPr wrap="square" rtlCol="0">
            <a:spAutoFit/>
          </a:bodyPr>
          <a:lstStyle/>
          <a:p>
            <a:r>
              <a:rPr lang="ja-JP" altLang="en-US" sz="2800" dirty="0" smtClean="0"/>
              <a:t>整数型は</a:t>
            </a:r>
            <a:r>
              <a:rPr lang="en-US" altLang="ja-JP" sz="2800" dirty="0" smtClean="0"/>
              <a:t> </a:t>
            </a:r>
            <a:r>
              <a:rPr lang="ja-JP" altLang="en-US" sz="2800" dirty="0" err="1" smtClean="0"/>
              <a:t>、</a:t>
            </a:r>
            <a:r>
              <a:rPr lang="en-US" altLang="ja-JP" sz="2800" dirty="0" smtClean="0"/>
              <a:t>char</a:t>
            </a:r>
            <a:r>
              <a:rPr lang="ja-JP" altLang="en-US" sz="2800" dirty="0" smtClean="0"/>
              <a:t>型</a:t>
            </a:r>
            <a:r>
              <a:rPr lang="en-US" altLang="ja-JP" sz="2800" dirty="0" smtClean="0"/>
              <a:t>, short </a:t>
            </a:r>
            <a:r>
              <a:rPr lang="en-US" altLang="ja-JP" sz="2800" dirty="0" err="1" smtClean="0"/>
              <a:t>int</a:t>
            </a:r>
            <a:r>
              <a:rPr lang="ja-JP" altLang="en-US" sz="2800" dirty="0" smtClean="0"/>
              <a:t>型</a:t>
            </a:r>
            <a:r>
              <a:rPr lang="en-US" altLang="ja-JP" sz="2800" dirty="0" smtClean="0"/>
              <a:t>, </a:t>
            </a:r>
            <a:r>
              <a:rPr lang="en-US" altLang="ja-JP" sz="2800" dirty="0" err="1" smtClean="0"/>
              <a:t>int</a:t>
            </a:r>
            <a:r>
              <a:rPr lang="ja-JP" altLang="en-US" sz="2800" dirty="0" smtClean="0"/>
              <a:t>型</a:t>
            </a:r>
            <a:r>
              <a:rPr lang="en-US" altLang="ja-JP" sz="2800" dirty="0" smtClean="0"/>
              <a:t>, long </a:t>
            </a:r>
            <a:r>
              <a:rPr lang="en-US" altLang="ja-JP" sz="2800" dirty="0" err="1" smtClean="0"/>
              <a:t>int</a:t>
            </a:r>
            <a:r>
              <a:rPr lang="ja-JP" altLang="en-US" sz="2800" dirty="0" smtClean="0"/>
              <a:t>型</a:t>
            </a:r>
            <a:r>
              <a:rPr kumimoji="1" lang="ja-JP" altLang="en-US" sz="2800" dirty="0" smtClean="0"/>
              <a:t>の</a:t>
            </a:r>
            <a:r>
              <a:rPr lang="ja-JP" altLang="en-US" sz="2800" dirty="0" smtClean="0"/>
              <a:t>４</a:t>
            </a:r>
            <a:r>
              <a:rPr kumimoji="1" lang="ja-JP" altLang="en-US" sz="2800" dirty="0" smtClean="0"/>
              <a:t>種類に分かれる</a:t>
            </a:r>
            <a:r>
              <a:rPr kumimoji="1" lang="en-US" altLang="ja-JP" sz="2800" dirty="0" smtClean="0"/>
              <a:t>(C99</a:t>
            </a:r>
            <a:r>
              <a:rPr kumimoji="1" lang="ja-JP" altLang="en-US" sz="2800" dirty="0" smtClean="0"/>
              <a:t>では</a:t>
            </a:r>
            <a:r>
              <a:rPr kumimoji="1" lang="en-US" altLang="ja-JP" sz="2800" dirty="0" smtClean="0"/>
              <a:t>long </a:t>
            </a:r>
            <a:r>
              <a:rPr kumimoji="1" lang="en-US" altLang="ja-JP" sz="2800" dirty="0" err="1" smtClean="0"/>
              <a:t>long</a:t>
            </a:r>
            <a:r>
              <a:rPr kumimoji="1" lang="en-US" altLang="ja-JP" sz="2800" dirty="0" smtClean="0"/>
              <a:t> </a:t>
            </a:r>
            <a:r>
              <a:rPr kumimoji="1" lang="en-US" altLang="ja-JP" sz="2800" dirty="0" err="1" smtClean="0"/>
              <a:t>int</a:t>
            </a:r>
            <a:r>
              <a:rPr kumimoji="1" lang="ja-JP" altLang="en-US" sz="2800" dirty="0" smtClean="0"/>
              <a:t>型が加わり、５種類</a:t>
            </a:r>
            <a:r>
              <a:rPr kumimoji="1" lang="en-US" altLang="ja-JP" sz="2800" dirty="0" smtClean="0"/>
              <a:t>)</a:t>
            </a:r>
            <a:r>
              <a:rPr kumimoji="1" lang="ja-JP" altLang="en-US" sz="2800" dirty="0" err="1" smtClean="0"/>
              <a:t>。</a:t>
            </a:r>
            <a:r>
              <a:rPr lang="en-US" altLang="ja-JP" sz="2800" dirty="0" smtClean="0"/>
              <a:t>char</a:t>
            </a:r>
            <a:r>
              <a:rPr lang="ja-JP" altLang="en-US" sz="2800" dirty="0" smtClean="0"/>
              <a:t>型が一番小さく、</a:t>
            </a:r>
            <a:r>
              <a:rPr lang="en-US" altLang="ja-JP" sz="2800" dirty="0" smtClean="0"/>
              <a:t>long </a:t>
            </a:r>
            <a:r>
              <a:rPr lang="en-US" altLang="ja-JP" sz="2800" dirty="0" err="1" smtClean="0"/>
              <a:t>int</a:t>
            </a:r>
            <a:r>
              <a:rPr lang="ja-JP" altLang="en-US" sz="2800" dirty="0" smtClean="0"/>
              <a:t>型が一番大きい（具体的に何バイトかは定められておらず、処理系によって異なる）。</a:t>
            </a:r>
            <a:endParaRPr lang="en-US" altLang="ja-JP" sz="2800" dirty="0" smtClean="0"/>
          </a:p>
          <a:p>
            <a:r>
              <a:rPr lang="ja-JP" altLang="en-US" sz="2800" dirty="0" smtClean="0"/>
              <a:t>それぞれの型は、符号付きと符号無しでそれぞれ２つずつある。</a:t>
            </a:r>
            <a:r>
              <a:rPr lang="en-US" altLang="ja-JP" sz="2800" dirty="0" smtClean="0"/>
              <a:t> </a:t>
            </a:r>
            <a:r>
              <a:rPr lang="ja-JP" altLang="en-US" sz="2800" dirty="0" smtClean="0"/>
              <a:t>型指定子</a:t>
            </a:r>
            <a:r>
              <a:rPr lang="en-US" altLang="ja-JP" sz="2800" dirty="0" smtClean="0"/>
              <a:t>(signed</a:t>
            </a:r>
            <a:r>
              <a:rPr lang="ja-JP" altLang="en-US" sz="2800" dirty="0" smtClean="0"/>
              <a:t>か</a:t>
            </a:r>
            <a:r>
              <a:rPr lang="en-US" altLang="ja-JP" sz="2800" dirty="0" smtClean="0"/>
              <a:t>unsigned)</a:t>
            </a:r>
            <a:r>
              <a:rPr lang="ja-JP" altLang="en-US" sz="2800" dirty="0" smtClean="0"/>
              <a:t>で指定する。</a:t>
            </a:r>
            <a:r>
              <a:rPr lang="en-US" altLang="ja-JP" sz="2800" dirty="0" smtClean="0"/>
              <a:t>char</a:t>
            </a:r>
            <a:r>
              <a:rPr lang="ja-JP" altLang="en-US" sz="2800" dirty="0" smtClean="0"/>
              <a:t>型以外は、型指定子を与えない場合は符号付きになる。</a:t>
            </a:r>
            <a:r>
              <a:rPr lang="en-US" altLang="ja-JP" sz="2800" dirty="0" smtClean="0"/>
              <a:t>char</a:t>
            </a:r>
            <a:r>
              <a:rPr lang="ja-JP" altLang="en-US" sz="2800" dirty="0" smtClean="0"/>
              <a:t>型は、型指定子を与えない場合は、符号付きか符号無しかのいずれかである（処理系依存）。</a:t>
            </a:r>
            <a:endParaRPr lang="en-US" altLang="ja-JP" sz="2800" dirty="0" smtClean="0"/>
          </a:p>
          <a:p>
            <a:r>
              <a:rPr kumimoji="1" lang="ja-JP" altLang="en-US" sz="2800" dirty="0" smtClean="0"/>
              <a:t>扱う数の範囲に</a:t>
            </a:r>
            <a:r>
              <a:rPr lang="ja-JP" altLang="en-US" sz="2800" dirty="0" smtClean="0"/>
              <a:t>応じて適切な型を選択して用いる。</a:t>
            </a:r>
            <a:endParaRPr kumimoji="1" lang="en-US" altLang="ja-JP" sz="2800" dirty="0" smtClean="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kumimoji="1" lang="en-US" altLang="ja-JP" dirty="0" smtClean="0"/>
              <a:t>char</a:t>
            </a:r>
            <a:r>
              <a:rPr kumimoji="1" lang="ja-JP" altLang="en-US" dirty="0" smtClean="0"/>
              <a:t>型が符号付きかどうか判定</a:t>
            </a:r>
            <a:r>
              <a:rPr kumimoji="1" lang="en-US" altLang="ja-JP" dirty="0" smtClean="0"/>
              <a:t/>
            </a:r>
            <a:br>
              <a:rPr kumimoji="1" lang="en-US" altLang="ja-JP" dirty="0" smtClean="0"/>
            </a:br>
            <a:r>
              <a:rPr lang="ja-JP" altLang="en-US" dirty="0" smtClean="0"/>
              <a:t>（打ち込んで確認）</a:t>
            </a:r>
            <a:endParaRPr kumimoji="1" lang="ja-JP" altLang="en-US" dirty="0"/>
          </a:p>
        </p:txBody>
      </p:sp>
      <p:sp>
        <p:nvSpPr>
          <p:cNvPr id="4" name="テキスト ボックス 3"/>
          <p:cNvSpPr txBox="1"/>
          <p:nvPr/>
        </p:nvSpPr>
        <p:spPr>
          <a:xfrm>
            <a:off x="1331640" y="1772816"/>
            <a:ext cx="5363841" cy="4832092"/>
          </a:xfrm>
          <a:prstGeom prst="rect">
            <a:avLst/>
          </a:prstGeom>
          <a:noFill/>
          <a:ln>
            <a:solidFill>
              <a:schemeClr val="tx1"/>
            </a:solidFill>
          </a:ln>
        </p:spPr>
        <p:txBody>
          <a:bodyPr wrap="none" rtlCol="0">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smtClean="0"/>
              <a:t>#include &lt;</a:t>
            </a:r>
            <a:r>
              <a:rPr lang="en-US" altLang="ja-JP" sz="2800" dirty="0" err="1" smtClean="0"/>
              <a:t>limits.h</a:t>
            </a:r>
            <a:r>
              <a:rPr lang="en-US" altLang="ja-JP" sz="2800" dirty="0" smtClean="0"/>
              <a:t>&gt;</a:t>
            </a:r>
          </a:p>
          <a:p>
            <a:endParaRPr lang="en-US" altLang="ja-JP" sz="2800" dirty="0" smtClean="0"/>
          </a:p>
          <a:p>
            <a:r>
              <a:rPr lang="en-US" altLang="ja-JP" sz="2800" dirty="0" err="1" smtClean="0"/>
              <a:t>int</a:t>
            </a:r>
            <a:r>
              <a:rPr lang="en-US" altLang="ja-JP" sz="2800" dirty="0" smtClean="0"/>
              <a:t> main (void) {</a:t>
            </a:r>
          </a:p>
          <a:p>
            <a:r>
              <a:rPr lang="en-US" altLang="ja-JP" sz="2800" dirty="0" smtClean="0"/>
              <a:t>  </a:t>
            </a:r>
            <a:r>
              <a:rPr lang="en-US" altLang="ja-JP" sz="2800" dirty="0" err="1" smtClean="0"/>
              <a:t>printf</a:t>
            </a:r>
            <a:r>
              <a:rPr lang="en-US" altLang="ja-JP" sz="2800" dirty="0" smtClean="0"/>
              <a:t> ("</a:t>
            </a:r>
            <a:r>
              <a:rPr lang="ja-JP" altLang="en-US" sz="2800" dirty="0" smtClean="0"/>
              <a:t>この処理系の</a:t>
            </a:r>
            <a:r>
              <a:rPr lang="en-US" altLang="ja-JP" sz="2800" dirty="0" smtClean="0"/>
              <a:t>char</a:t>
            </a:r>
            <a:r>
              <a:rPr lang="ja-JP" altLang="en-US" sz="2800" dirty="0" smtClean="0"/>
              <a:t>型は</a:t>
            </a:r>
            <a:r>
              <a:rPr lang="en-US" altLang="ja-JP" sz="2800" dirty="0" smtClean="0"/>
              <a:t>");</a:t>
            </a:r>
          </a:p>
          <a:p>
            <a:r>
              <a:rPr lang="en-US" altLang="ja-JP" sz="2800" dirty="0" smtClean="0"/>
              <a:t>  if (CHAR_MIN)</a:t>
            </a:r>
          </a:p>
          <a:p>
            <a:r>
              <a:rPr lang="en-US" altLang="ja-JP" sz="2800" dirty="0" smtClean="0"/>
              <a:t>    </a:t>
            </a:r>
            <a:r>
              <a:rPr lang="en-US" altLang="ja-JP" sz="2800" dirty="0" err="1" smtClean="0"/>
              <a:t>printf</a:t>
            </a:r>
            <a:r>
              <a:rPr lang="en-US" altLang="ja-JP" sz="2800" dirty="0" smtClean="0"/>
              <a:t>("</a:t>
            </a:r>
            <a:r>
              <a:rPr lang="ja-JP" altLang="en-US" sz="2800" dirty="0" smtClean="0"/>
              <a:t>符号つきです。</a:t>
            </a:r>
            <a:r>
              <a:rPr lang="en-US" altLang="ja-JP" sz="2800" dirty="0" smtClean="0"/>
              <a:t>\n");</a:t>
            </a:r>
          </a:p>
          <a:p>
            <a:r>
              <a:rPr lang="en-US" altLang="ja-JP" sz="2800" dirty="0" smtClean="0"/>
              <a:t>  else</a:t>
            </a:r>
          </a:p>
          <a:p>
            <a:r>
              <a:rPr lang="en-US" altLang="ja-JP" sz="2800" dirty="0" smtClean="0"/>
              <a:t>    </a:t>
            </a:r>
            <a:r>
              <a:rPr lang="en-US" altLang="ja-JP" sz="2800" dirty="0" err="1" smtClean="0"/>
              <a:t>printf</a:t>
            </a:r>
            <a:r>
              <a:rPr lang="en-US" altLang="ja-JP" sz="2800" dirty="0" smtClean="0"/>
              <a:t>("</a:t>
            </a:r>
            <a:r>
              <a:rPr lang="ja-JP" altLang="en-US" sz="2800" dirty="0" smtClean="0"/>
              <a:t>符号無しです。</a:t>
            </a:r>
            <a:r>
              <a:rPr lang="en-US" altLang="ja-JP" sz="2800" dirty="0" smtClean="0"/>
              <a:t>\n");</a:t>
            </a:r>
          </a:p>
          <a:p>
            <a:r>
              <a:rPr lang="en-US" altLang="ja-JP" sz="2800" dirty="0" smtClean="0"/>
              <a:t>  return 0;</a:t>
            </a:r>
          </a:p>
          <a:p>
            <a:r>
              <a:rPr lang="en-US" altLang="ja-JP" sz="2800" dirty="0" smtClean="0"/>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整数型</a:t>
            </a:r>
            <a:endParaRPr kumimoji="1" lang="ja-JP" altLang="en-US" dirty="0"/>
          </a:p>
        </p:txBody>
      </p:sp>
      <p:sp>
        <p:nvSpPr>
          <p:cNvPr id="3" name="コンテンツ プレースホルダ 2"/>
          <p:cNvSpPr>
            <a:spLocks noGrp="1"/>
          </p:cNvSpPr>
          <p:nvPr>
            <p:ph idx="1"/>
          </p:nvPr>
        </p:nvSpPr>
        <p:spPr>
          <a:xfrm>
            <a:off x="642910" y="1571612"/>
            <a:ext cx="8229600" cy="4525963"/>
          </a:xfrm>
        </p:spPr>
        <p:txBody>
          <a:bodyPr>
            <a:normAutofit fontScale="92500" lnSpcReduction="10000"/>
          </a:bodyPr>
          <a:lstStyle/>
          <a:p>
            <a:pPr>
              <a:buNone/>
            </a:pPr>
            <a:r>
              <a:rPr lang="ja-JP" altLang="en-US" dirty="0" smtClean="0"/>
              <a:t>整数</a:t>
            </a:r>
            <a:r>
              <a:rPr kumimoji="1" lang="ja-JP" altLang="en-US" dirty="0" smtClean="0"/>
              <a:t>型は、結局、</a:t>
            </a:r>
            <a:endParaRPr lang="en-US" altLang="ja-JP" dirty="0" smtClean="0"/>
          </a:p>
          <a:p>
            <a:pPr lvl="1"/>
            <a:r>
              <a:rPr lang="en-US" altLang="ja-JP" dirty="0" smtClean="0"/>
              <a:t>signed char</a:t>
            </a:r>
            <a:r>
              <a:rPr lang="ja-JP" altLang="en-US" dirty="0" smtClean="0"/>
              <a:t>型</a:t>
            </a:r>
            <a:endParaRPr lang="en-US" altLang="ja-JP" dirty="0" smtClean="0"/>
          </a:p>
          <a:p>
            <a:pPr lvl="1"/>
            <a:r>
              <a:rPr lang="en-US" altLang="ja-JP" dirty="0" err="1" smtClean="0"/>
              <a:t>unsinged</a:t>
            </a:r>
            <a:r>
              <a:rPr lang="en-US" altLang="ja-JP" dirty="0" smtClean="0"/>
              <a:t> char</a:t>
            </a:r>
            <a:r>
              <a:rPr lang="ja-JP" altLang="en-US" dirty="0" smtClean="0"/>
              <a:t>型</a:t>
            </a:r>
            <a:endParaRPr lang="en-US" altLang="ja-JP" dirty="0" smtClean="0"/>
          </a:p>
          <a:p>
            <a:pPr lvl="1"/>
            <a:r>
              <a:rPr lang="en-US" altLang="ja-JP" dirty="0" smtClean="0"/>
              <a:t>signed short </a:t>
            </a:r>
            <a:r>
              <a:rPr lang="en-US" altLang="ja-JP" dirty="0" err="1" smtClean="0"/>
              <a:t>int</a:t>
            </a:r>
            <a:r>
              <a:rPr lang="ja-JP" altLang="en-US" dirty="0" smtClean="0"/>
              <a:t>型</a:t>
            </a:r>
            <a:endParaRPr lang="en-US" altLang="ja-JP" dirty="0" smtClean="0"/>
          </a:p>
          <a:p>
            <a:pPr lvl="1"/>
            <a:r>
              <a:rPr lang="en-US" altLang="ja-JP" dirty="0" smtClean="0"/>
              <a:t>unsigned short </a:t>
            </a:r>
            <a:r>
              <a:rPr lang="en-US" altLang="ja-JP" dirty="0" err="1" smtClean="0"/>
              <a:t>int</a:t>
            </a:r>
            <a:r>
              <a:rPr kumimoji="1" lang="ja-JP" altLang="en-US" dirty="0" smtClean="0"/>
              <a:t>型</a:t>
            </a:r>
            <a:endParaRPr kumimoji="1" lang="en-US" altLang="ja-JP" dirty="0" smtClean="0"/>
          </a:p>
          <a:p>
            <a:pPr lvl="1"/>
            <a:r>
              <a:rPr lang="en-US" altLang="ja-JP" dirty="0" smtClean="0"/>
              <a:t>signed </a:t>
            </a:r>
            <a:r>
              <a:rPr lang="en-US" altLang="ja-JP" dirty="0" err="1" smtClean="0"/>
              <a:t>int</a:t>
            </a:r>
            <a:r>
              <a:rPr lang="ja-JP" altLang="en-US" dirty="0" smtClean="0"/>
              <a:t>型</a:t>
            </a:r>
            <a:endParaRPr lang="en-US" altLang="ja-JP" dirty="0" smtClean="0"/>
          </a:p>
          <a:p>
            <a:pPr lvl="1"/>
            <a:r>
              <a:rPr lang="en-US" altLang="ja-JP" dirty="0" smtClean="0"/>
              <a:t>unsigned </a:t>
            </a:r>
            <a:r>
              <a:rPr lang="en-US" altLang="ja-JP" dirty="0" err="1" smtClean="0"/>
              <a:t>int</a:t>
            </a:r>
            <a:r>
              <a:rPr lang="en-US" altLang="ja-JP" dirty="0" smtClean="0"/>
              <a:t> </a:t>
            </a:r>
            <a:r>
              <a:rPr lang="ja-JP" altLang="en-US" dirty="0" smtClean="0"/>
              <a:t>型</a:t>
            </a:r>
            <a:endParaRPr lang="en-US" altLang="ja-JP" dirty="0" smtClean="0"/>
          </a:p>
          <a:p>
            <a:pPr lvl="1"/>
            <a:r>
              <a:rPr lang="en-US" altLang="ja-JP" dirty="0" smtClean="0"/>
              <a:t>signed long </a:t>
            </a:r>
            <a:r>
              <a:rPr lang="en-US" altLang="ja-JP" dirty="0" err="1" smtClean="0"/>
              <a:t>int</a:t>
            </a:r>
            <a:r>
              <a:rPr lang="ja-JP" altLang="en-US" dirty="0" smtClean="0"/>
              <a:t>型</a:t>
            </a:r>
            <a:endParaRPr lang="en-US" altLang="ja-JP" dirty="0" smtClean="0"/>
          </a:p>
          <a:p>
            <a:pPr lvl="1"/>
            <a:r>
              <a:rPr lang="en-US" altLang="ja-JP" dirty="0" smtClean="0"/>
              <a:t>unsigned long </a:t>
            </a:r>
            <a:r>
              <a:rPr lang="en-US" altLang="ja-JP" dirty="0" err="1" smtClean="0"/>
              <a:t>int</a:t>
            </a:r>
            <a:r>
              <a:rPr lang="ja-JP" altLang="en-US" dirty="0" smtClean="0"/>
              <a:t>型</a:t>
            </a:r>
            <a:endParaRPr lang="en-US" altLang="ja-JP" dirty="0" smtClean="0"/>
          </a:p>
          <a:p>
            <a:pPr>
              <a:buNone/>
            </a:pPr>
            <a:r>
              <a:rPr lang="ja-JP" altLang="en-US" dirty="0" smtClean="0"/>
              <a:t>の８個となる。</a:t>
            </a:r>
            <a:r>
              <a:rPr lang="en-US" altLang="ja-JP" dirty="0" smtClean="0"/>
              <a:t>(long  </a:t>
            </a:r>
            <a:r>
              <a:rPr lang="en-US" altLang="ja-JP" dirty="0" err="1" smtClean="0"/>
              <a:t>long</a:t>
            </a:r>
            <a:r>
              <a:rPr lang="en-US" altLang="ja-JP" dirty="0" smtClean="0"/>
              <a:t>  </a:t>
            </a:r>
            <a:r>
              <a:rPr lang="en-US" altLang="ja-JP" dirty="0" err="1" smtClean="0"/>
              <a:t>int</a:t>
            </a:r>
            <a:r>
              <a:rPr lang="ja-JP" altLang="en-US" dirty="0" smtClean="0"/>
              <a:t>を入れれば１０個。</a:t>
            </a:r>
            <a:r>
              <a:rPr lang="en-US" altLang="ja-JP" dirty="0" smtClean="0"/>
              <a:t>)</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357158" y="357166"/>
            <a:ext cx="8572560" cy="928694"/>
          </a:xfrm>
        </p:spPr>
        <p:txBody>
          <a:bodyPr>
            <a:normAutofit/>
          </a:bodyPr>
          <a:lstStyle/>
          <a:p>
            <a:r>
              <a:rPr kumimoji="1" lang="ja-JP" altLang="en-US" dirty="0" smtClean="0"/>
              <a:t>符号について</a:t>
            </a:r>
            <a:r>
              <a:rPr lang="ja-JP" altLang="en-US" dirty="0" smtClean="0"/>
              <a:t>（１）</a:t>
            </a:r>
            <a:endParaRPr kumimoji="1" lang="ja-JP" altLang="en-US" dirty="0"/>
          </a:p>
        </p:txBody>
      </p:sp>
      <p:sp>
        <p:nvSpPr>
          <p:cNvPr id="4" name="テキスト ボックス 3"/>
          <p:cNvSpPr txBox="1"/>
          <p:nvPr/>
        </p:nvSpPr>
        <p:spPr>
          <a:xfrm>
            <a:off x="714348" y="1643050"/>
            <a:ext cx="7786742" cy="1384995"/>
          </a:xfrm>
          <a:prstGeom prst="rect">
            <a:avLst/>
          </a:prstGeom>
          <a:noFill/>
        </p:spPr>
        <p:txBody>
          <a:bodyPr wrap="square" rtlCol="0">
            <a:spAutoFit/>
          </a:bodyPr>
          <a:lstStyle/>
          <a:p>
            <a:r>
              <a:rPr kumimoji="1" lang="ja-JP" altLang="en-US" sz="2800" dirty="0" smtClean="0"/>
              <a:t>符号無し整数型</a:t>
            </a:r>
            <a:r>
              <a:rPr kumimoji="1" lang="en-US" altLang="ja-JP" sz="2800" dirty="0" smtClean="0"/>
              <a:t>(unsigned char, </a:t>
            </a:r>
            <a:r>
              <a:rPr lang="en-US" altLang="ja-JP" sz="2800" dirty="0" smtClean="0"/>
              <a:t>unsigned short </a:t>
            </a:r>
            <a:r>
              <a:rPr lang="en-US" altLang="ja-JP" sz="2800" dirty="0" err="1" smtClean="0"/>
              <a:t>int</a:t>
            </a:r>
            <a:r>
              <a:rPr lang="en-US" altLang="ja-JP" sz="2800" dirty="0" smtClean="0"/>
              <a:t>,  unsigned </a:t>
            </a:r>
            <a:r>
              <a:rPr lang="en-US" altLang="ja-JP" sz="2800" dirty="0" err="1" smtClean="0"/>
              <a:t>int</a:t>
            </a:r>
            <a:r>
              <a:rPr lang="en-US" altLang="ja-JP" sz="2800" dirty="0" smtClean="0"/>
              <a:t>, unsigned long </a:t>
            </a:r>
            <a:r>
              <a:rPr lang="en-US" altLang="ja-JP" sz="2800" dirty="0" err="1" smtClean="0"/>
              <a:t>int</a:t>
            </a:r>
            <a:r>
              <a:rPr lang="en-US" altLang="ja-JP" sz="2800" dirty="0" smtClean="0"/>
              <a:t>)</a:t>
            </a:r>
            <a:r>
              <a:rPr lang="ja-JP" altLang="en-US" sz="2800" dirty="0" smtClean="0"/>
              <a:t>においては</a:t>
            </a:r>
            <a:r>
              <a:rPr kumimoji="1" lang="ja-JP" altLang="en-US" sz="2800" dirty="0" smtClean="0"/>
              <a:t>、ビット列を普通の２進数として解釈する。</a:t>
            </a:r>
            <a:endParaRPr kumimoji="1" lang="ja-JP" altLang="en-US" sz="280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417514"/>
            <a:ext cx="8229600" cy="582594"/>
          </a:xfrm>
        </p:spPr>
        <p:txBody>
          <a:bodyPr>
            <a:normAutofit fontScale="90000"/>
          </a:bodyPr>
          <a:lstStyle/>
          <a:p>
            <a:r>
              <a:rPr kumimoji="1" lang="ja-JP" altLang="en-US" dirty="0" smtClean="0"/>
              <a:t>符号について（２）</a:t>
            </a:r>
            <a:endParaRPr kumimoji="1" lang="ja-JP" altLang="en-US" dirty="0"/>
          </a:p>
        </p:txBody>
      </p:sp>
      <p:sp>
        <p:nvSpPr>
          <p:cNvPr id="5" name="正方形/長方形 4"/>
          <p:cNvSpPr/>
          <p:nvPr/>
        </p:nvSpPr>
        <p:spPr>
          <a:xfrm>
            <a:off x="571472" y="1357298"/>
            <a:ext cx="8143932" cy="4401205"/>
          </a:xfrm>
          <a:prstGeom prst="rect">
            <a:avLst/>
          </a:prstGeom>
        </p:spPr>
        <p:txBody>
          <a:bodyPr wrap="square">
            <a:spAutoFit/>
          </a:bodyPr>
          <a:lstStyle/>
          <a:p>
            <a:r>
              <a:rPr lang="ja-JP" altLang="en-US" sz="2800" dirty="0" smtClean="0">
                <a:solidFill>
                  <a:prstClr val="black"/>
                </a:solidFill>
              </a:rPr>
              <a:t>符号付き整数型</a:t>
            </a:r>
            <a:r>
              <a:rPr lang="en-US" altLang="ja-JP" sz="2800" dirty="0" smtClean="0">
                <a:solidFill>
                  <a:prstClr val="black"/>
                </a:solidFill>
              </a:rPr>
              <a:t>(signed char, signed short </a:t>
            </a:r>
            <a:r>
              <a:rPr lang="en-US" altLang="ja-JP" sz="2800" dirty="0" err="1" smtClean="0">
                <a:solidFill>
                  <a:prstClr val="black"/>
                </a:solidFill>
              </a:rPr>
              <a:t>int</a:t>
            </a:r>
            <a:r>
              <a:rPr lang="en-US" altLang="ja-JP" sz="2800" dirty="0" smtClean="0">
                <a:solidFill>
                  <a:prstClr val="black"/>
                </a:solidFill>
              </a:rPr>
              <a:t>, signed </a:t>
            </a:r>
            <a:r>
              <a:rPr lang="en-US" altLang="ja-JP" sz="2800" dirty="0" err="1" smtClean="0">
                <a:solidFill>
                  <a:prstClr val="black"/>
                </a:solidFill>
              </a:rPr>
              <a:t>int</a:t>
            </a:r>
            <a:r>
              <a:rPr lang="en-US" altLang="ja-JP" sz="2800" dirty="0" smtClean="0">
                <a:solidFill>
                  <a:prstClr val="black"/>
                </a:solidFill>
              </a:rPr>
              <a:t>,  signed long </a:t>
            </a:r>
            <a:r>
              <a:rPr lang="en-US" altLang="ja-JP" sz="2800" dirty="0" err="1" smtClean="0">
                <a:solidFill>
                  <a:prstClr val="black"/>
                </a:solidFill>
              </a:rPr>
              <a:t>int</a:t>
            </a:r>
            <a:r>
              <a:rPr lang="en-US" altLang="ja-JP" sz="2800" dirty="0" smtClean="0">
                <a:solidFill>
                  <a:prstClr val="black"/>
                </a:solidFill>
              </a:rPr>
              <a:t>,)</a:t>
            </a:r>
            <a:r>
              <a:rPr lang="ja-JP" altLang="en-US" sz="2800" dirty="0" smtClean="0">
                <a:solidFill>
                  <a:prstClr val="black"/>
                </a:solidFill>
              </a:rPr>
              <a:t>においては、符号を表すために１ビットを用いる（符号ビットという）。符号ビットが</a:t>
            </a:r>
            <a:r>
              <a:rPr lang="en-US" altLang="ja-JP" sz="2800" dirty="0" smtClean="0">
                <a:solidFill>
                  <a:prstClr val="black"/>
                </a:solidFill>
              </a:rPr>
              <a:t>0</a:t>
            </a:r>
            <a:r>
              <a:rPr lang="ja-JP" altLang="en-US" sz="2800" dirty="0" smtClean="0">
                <a:solidFill>
                  <a:prstClr val="black"/>
                </a:solidFill>
              </a:rPr>
              <a:t>の場合には、残りのビットを普通の２進数として解釈する。符号ビットが</a:t>
            </a:r>
            <a:r>
              <a:rPr lang="en-US" altLang="ja-JP" sz="2800" dirty="0" smtClean="0">
                <a:solidFill>
                  <a:prstClr val="black"/>
                </a:solidFill>
              </a:rPr>
              <a:t>1</a:t>
            </a:r>
            <a:r>
              <a:rPr lang="ja-JP" altLang="en-US" sz="2800" dirty="0" smtClean="0">
                <a:solidFill>
                  <a:prstClr val="black"/>
                </a:solidFill>
              </a:rPr>
              <a:t>の場合の解釈は以下の３通りのいずれかである（処理系依存）。</a:t>
            </a:r>
            <a:endParaRPr lang="en-US" altLang="ja-JP" sz="2800" dirty="0" smtClean="0">
              <a:solidFill>
                <a:prstClr val="black"/>
              </a:solidFill>
            </a:endParaRPr>
          </a:p>
          <a:p>
            <a:pPr lvl="1">
              <a:buFont typeface="Arial" pitchFamily="34" charset="0"/>
              <a:buChar char="•"/>
            </a:pPr>
            <a:r>
              <a:rPr lang="ja-JP" altLang="en-US" sz="2800" dirty="0" smtClean="0">
                <a:solidFill>
                  <a:prstClr val="black"/>
                </a:solidFill>
              </a:rPr>
              <a:t>　符号ビットを</a:t>
            </a:r>
            <a:r>
              <a:rPr lang="en-US" altLang="ja-JP" sz="2800" dirty="0" smtClean="0">
                <a:solidFill>
                  <a:prstClr val="black"/>
                </a:solidFill>
              </a:rPr>
              <a:t>0</a:t>
            </a:r>
            <a:r>
              <a:rPr lang="ja-JP" altLang="en-US" sz="2800" dirty="0" smtClean="0">
                <a:solidFill>
                  <a:prstClr val="black"/>
                </a:solidFill>
              </a:rPr>
              <a:t>に変えた場合のビット列が表す数にマイナスを付けた数を表す</a:t>
            </a:r>
            <a:endParaRPr lang="en-US" altLang="ja-JP" sz="2800" dirty="0" smtClean="0">
              <a:solidFill>
                <a:prstClr val="black"/>
              </a:solidFill>
            </a:endParaRPr>
          </a:p>
          <a:p>
            <a:pPr lvl="1">
              <a:buFont typeface="Arial" pitchFamily="34" charset="0"/>
              <a:buChar char="•"/>
            </a:pPr>
            <a:r>
              <a:rPr lang="ja-JP" altLang="en-US" sz="2800" dirty="0" smtClean="0">
                <a:solidFill>
                  <a:prstClr val="black"/>
                </a:solidFill>
              </a:rPr>
              <a:t>　２の補数表現</a:t>
            </a:r>
            <a:endParaRPr lang="en-US" altLang="ja-JP" sz="2800" dirty="0" smtClean="0">
              <a:solidFill>
                <a:prstClr val="black"/>
              </a:solidFill>
            </a:endParaRPr>
          </a:p>
          <a:p>
            <a:pPr lvl="1">
              <a:buFont typeface="Arial" pitchFamily="34" charset="0"/>
              <a:buChar char="•"/>
            </a:pPr>
            <a:r>
              <a:rPr lang="ja-JP" altLang="en-US" sz="2800" dirty="0" smtClean="0">
                <a:solidFill>
                  <a:prstClr val="black"/>
                </a:solidFill>
              </a:rPr>
              <a:t>　１の補数表現</a:t>
            </a:r>
            <a:endParaRPr lang="en-US" altLang="ja-JP" sz="2800" dirty="0" smtClean="0">
              <a:solidFill>
                <a:prstClr val="black"/>
              </a:solidFill>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例外について</a:t>
            </a:r>
            <a:endParaRPr kumimoji="1" lang="ja-JP" altLang="en-US" dirty="0"/>
          </a:p>
        </p:txBody>
      </p:sp>
      <p:sp>
        <p:nvSpPr>
          <p:cNvPr id="3" name="テキスト ボックス 2"/>
          <p:cNvSpPr txBox="1"/>
          <p:nvPr/>
        </p:nvSpPr>
        <p:spPr>
          <a:xfrm>
            <a:off x="1000100" y="1643050"/>
            <a:ext cx="7000925" cy="4401205"/>
          </a:xfrm>
          <a:prstGeom prst="rect">
            <a:avLst/>
          </a:prstGeom>
          <a:noFill/>
        </p:spPr>
        <p:txBody>
          <a:bodyPr wrap="square" rtlCol="0">
            <a:spAutoFit/>
          </a:bodyPr>
          <a:lstStyle/>
          <a:p>
            <a:r>
              <a:rPr kumimoji="1" lang="ja-JP" altLang="en-US" sz="2800" dirty="0" smtClean="0"/>
              <a:t>演算の結果が</a:t>
            </a:r>
            <a:r>
              <a:rPr lang="ja-JP" altLang="en-US" sz="2800" dirty="0" smtClean="0"/>
              <a:t>、表現可能な値の範囲を超える場合（</a:t>
            </a:r>
            <a:r>
              <a:rPr lang="en-US" altLang="ja-JP" sz="2800" dirty="0" smtClean="0"/>
              <a:t>overflow</a:t>
            </a:r>
            <a:r>
              <a:rPr lang="ja-JP" altLang="en-US" sz="2800" dirty="0" smtClean="0"/>
              <a:t>）や、</a:t>
            </a:r>
            <a:r>
              <a:rPr lang="en-US" altLang="ja-JP" sz="2800" dirty="0" smtClean="0"/>
              <a:t>0</a:t>
            </a:r>
            <a:r>
              <a:rPr lang="ja-JP" altLang="en-US" sz="2800" dirty="0" err="1" smtClean="0"/>
              <a:t>での</a:t>
            </a:r>
            <a:r>
              <a:rPr lang="ja-JP" altLang="en-US" sz="2800" dirty="0" smtClean="0"/>
              <a:t>除算などの場合、例外</a:t>
            </a:r>
            <a:r>
              <a:rPr lang="en-US" altLang="ja-JP" sz="2800" dirty="0" smtClean="0"/>
              <a:t>(exception)</a:t>
            </a:r>
            <a:r>
              <a:rPr lang="ja-JP" altLang="en-US" sz="2800" dirty="0" smtClean="0"/>
              <a:t>が発生する。</a:t>
            </a:r>
            <a:endParaRPr lang="en-US" altLang="ja-JP" sz="2800" dirty="0" smtClean="0"/>
          </a:p>
          <a:p>
            <a:r>
              <a:rPr kumimoji="1" lang="ja-JP" altLang="en-US" sz="2800" dirty="0" smtClean="0"/>
              <a:t>例外が発生したときの挙動は処理系によって異なる。</a:t>
            </a:r>
            <a:endParaRPr kumimoji="1" lang="en-US" altLang="ja-JP" sz="2800" dirty="0" smtClean="0"/>
          </a:p>
          <a:p>
            <a:endParaRPr lang="en-US" altLang="ja-JP" sz="2800" dirty="0" smtClean="0"/>
          </a:p>
          <a:p>
            <a:r>
              <a:rPr lang="ja-JP" altLang="en-US" sz="2800" dirty="0" smtClean="0"/>
              <a:t>ただし、符号無し整数型の演算では、表現可能な値の範囲を超えた場合、表現可能な最大値</a:t>
            </a:r>
            <a:r>
              <a:rPr lang="en-US" altLang="ja-JP" sz="2800" dirty="0" smtClean="0"/>
              <a:t>+1</a:t>
            </a:r>
            <a:r>
              <a:rPr lang="ja-JP" altLang="en-US" sz="2800" dirty="0" smtClean="0"/>
              <a:t>で割った余りになると定められている（のでオーバーフローは発生しない）。</a:t>
            </a:r>
            <a:endParaRPr lang="en-US" altLang="ja-JP" sz="2800" dirty="0" smtClean="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文字について</a:t>
            </a:r>
            <a:endParaRPr kumimoji="1" lang="ja-JP" altLang="en-US" dirty="0"/>
          </a:p>
        </p:txBody>
      </p:sp>
      <p:sp>
        <p:nvSpPr>
          <p:cNvPr id="4" name="テキスト ボックス 3"/>
          <p:cNvSpPr txBox="1"/>
          <p:nvPr/>
        </p:nvSpPr>
        <p:spPr>
          <a:xfrm>
            <a:off x="642910" y="1357298"/>
            <a:ext cx="8001056" cy="954107"/>
          </a:xfrm>
          <a:prstGeom prst="rect">
            <a:avLst/>
          </a:prstGeom>
          <a:noFill/>
        </p:spPr>
        <p:txBody>
          <a:bodyPr wrap="square" rtlCol="0">
            <a:spAutoFit/>
          </a:bodyPr>
          <a:lstStyle/>
          <a:p>
            <a:r>
              <a:rPr lang="ja-JP" altLang="en-US" sz="2800" dirty="0" smtClean="0"/>
              <a:t>プログラム中では、１</a:t>
            </a:r>
            <a:r>
              <a:rPr kumimoji="1" lang="ja-JP" altLang="en-US" sz="2800" dirty="0" smtClean="0"/>
              <a:t>文字</a:t>
            </a:r>
            <a:r>
              <a:rPr lang="ja-JP" altLang="en-US" sz="2800" dirty="0" smtClean="0"/>
              <a:t>をクォートで囲むと、その文字に対応する</a:t>
            </a:r>
            <a:r>
              <a:rPr lang="en-US" altLang="ja-JP" sz="2800" dirty="0" err="1" smtClean="0"/>
              <a:t>int</a:t>
            </a:r>
            <a:r>
              <a:rPr lang="ja-JP" altLang="en-US" sz="2800" dirty="0" smtClean="0"/>
              <a:t>型の数</a:t>
            </a:r>
            <a:r>
              <a:rPr kumimoji="1" lang="ja-JP" altLang="en-US" sz="2800" dirty="0" smtClean="0"/>
              <a:t>を表す</a:t>
            </a:r>
            <a:r>
              <a:rPr lang="ja-JP" altLang="en-US" sz="2800" dirty="0" smtClean="0"/>
              <a:t>。</a:t>
            </a:r>
            <a:endParaRPr lang="en-US" altLang="ja-JP" sz="2800" dirty="0" smtClean="0"/>
          </a:p>
        </p:txBody>
      </p:sp>
      <p:sp>
        <p:nvSpPr>
          <p:cNvPr id="5" name="正方形/長方形 4"/>
          <p:cNvSpPr/>
          <p:nvPr/>
        </p:nvSpPr>
        <p:spPr>
          <a:xfrm>
            <a:off x="928662" y="3714752"/>
            <a:ext cx="7215238" cy="3046988"/>
          </a:xfrm>
          <a:prstGeom prst="rect">
            <a:avLst/>
          </a:prstGeom>
        </p:spPr>
        <p:txBody>
          <a:bodyPr wrap="square">
            <a:spAutoFit/>
          </a:bodyPr>
          <a:lstStyle/>
          <a:p>
            <a:r>
              <a:rPr lang="ja-JP" altLang="en-US" sz="2400" dirty="0" smtClean="0"/>
              <a:t>（補足）文字は</a:t>
            </a:r>
            <a:r>
              <a:rPr lang="en-US" altLang="ja-JP" sz="2400" dirty="0" smtClean="0"/>
              <a:t>char</a:t>
            </a:r>
            <a:r>
              <a:rPr lang="ja-JP" altLang="en-US" sz="2400" dirty="0" smtClean="0"/>
              <a:t>型で表すと無駄がないが、</a:t>
            </a:r>
            <a:r>
              <a:rPr lang="en-US" altLang="ja-JP" sz="2400" dirty="0" err="1" smtClean="0"/>
              <a:t>int</a:t>
            </a:r>
            <a:r>
              <a:rPr lang="ja-JP" altLang="en-US" sz="2400" dirty="0" smtClean="0"/>
              <a:t>型で表しておくと、例えばファイルから文字を１文字ずつ読み取って変数に代入する場合、ファイルの終端に来た時に</a:t>
            </a:r>
            <a:r>
              <a:rPr lang="en-US" altLang="ja-JP" sz="2400" dirty="0" smtClean="0"/>
              <a:t>EOF(</a:t>
            </a:r>
            <a:r>
              <a:rPr lang="en-US" altLang="ja-JP" sz="2400" dirty="0" err="1" smtClean="0"/>
              <a:t>int</a:t>
            </a:r>
            <a:r>
              <a:rPr lang="ja-JP" altLang="en-US" sz="2400" dirty="0" smtClean="0"/>
              <a:t>型、値はどの文字とも異なる。普通は</a:t>
            </a:r>
            <a:r>
              <a:rPr lang="en-US" altLang="ja-JP" sz="2400" dirty="0" smtClean="0"/>
              <a:t>-1</a:t>
            </a:r>
            <a:r>
              <a:rPr lang="ja-JP" altLang="en-US" sz="2400" dirty="0" err="1" smtClean="0"/>
              <a:t>。</a:t>
            </a:r>
            <a:r>
              <a:rPr lang="en-US" altLang="ja-JP" sz="2400" dirty="0" smtClean="0"/>
              <a:t>)</a:t>
            </a:r>
            <a:r>
              <a:rPr lang="ja-JP" altLang="en-US" sz="2400" dirty="0" smtClean="0"/>
              <a:t>が返され、それを変数に代入し、その値が</a:t>
            </a:r>
            <a:r>
              <a:rPr lang="en-US" altLang="ja-JP" sz="2400" dirty="0" smtClean="0"/>
              <a:t>EOF</a:t>
            </a:r>
            <a:r>
              <a:rPr lang="ja-JP" altLang="en-US" sz="2400" dirty="0" smtClean="0"/>
              <a:t>と等しいかどうか判定するといったプログラムを書けるというメリットがある。</a:t>
            </a:r>
            <a:endParaRPr lang="en-US" altLang="ja-JP" sz="2400" dirty="0" smtClean="0"/>
          </a:p>
          <a:p>
            <a:r>
              <a:rPr lang="ja-JP" altLang="en-US" sz="2400" dirty="0" smtClean="0"/>
              <a:t>（補足）文字列は</a:t>
            </a:r>
            <a:r>
              <a:rPr lang="en-US" altLang="ja-JP" sz="2400" dirty="0" smtClean="0"/>
              <a:t>char</a:t>
            </a:r>
            <a:r>
              <a:rPr lang="ja-JP" altLang="en-US" sz="2400" dirty="0" smtClean="0"/>
              <a:t>型の並びである（後述）。</a:t>
            </a:r>
            <a:endParaRPr lang="en-US" altLang="ja-JP" sz="2400" dirty="0" smtClean="0"/>
          </a:p>
        </p:txBody>
      </p:sp>
      <p:sp>
        <p:nvSpPr>
          <p:cNvPr id="6" name="正方形/長方形 5"/>
          <p:cNvSpPr/>
          <p:nvPr/>
        </p:nvSpPr>
        <p:spPr>
          <a:xfrm>
            <a:off x="714348" y="2329757"/>
            <a:ext cx="7786742" cy="1384995"/>
          </a:xfrm>
          <a:prstGeom prst="rect">
            <a:avLst/>
          </a:prstGeom>
        </p:spPr>
        <p:txBody>
          <a:bodyPr wrap="square">
            <a:spAutoFit/>
          </a:bodyPr>
          <a:lstStyle/>
          <a:p>
            <a:pPr lvl="0"/>
            <a:r>
              <a:rPr lang="ja-JP" altLang="en-US" sz="2800" dirty="0" smtClean="0">
                <a:solidFill>
                  <a:prstClr val="black"/>
                </a:solidFill>
              </a:rPr>
              <a:t>（例） </a:t>
            </a:r>
            <a:r>
              <a:rPr lang="en-US" altLang="ja-JP" sz="2800" dirty="0" smtClean="0">
                <a:solidFill>
                  <a:prstClr val="black"/>
                </a:solidFill>
              </a:rPr>
              <a:t>‘a’ </a:t>
            </a:r>
            <a:r>
              <a:rPr lang="ja-JP" altLang="en-US" sz="2800" dirty="0" smtClean="0">
                <a:solidFill>
                  <a:prstClr val="black"/>
                </a:solidFill>
              </a:rPr>
              <a:t>は</a:t>
            </a:r>
            <a:r>
              <a:rPr lang="en-US" altLang="ja-JP" sz="2800" dirty="0" smtClean="0">
                <a:solidFill>
                  <a:prstClr val="black"/>
                </a:solidFill>
              </a:rPr>
              <a:t>a</a:t>
            </a:r>
            <a:r>
              <a:rPr lang="ja-JP" altLang="en-US" sz="2800" dirty="0" smtClean="0">
                <a:solidFill>
                  <a:prstClr val="black"/>
                </a:solidFill>
              </a:rPr>
              <a:t>という文字に対応する</a:t>
            </a:r>
            <a:r>
              <a:rPr lang="en-US" altLang="ja-JP" sz="2800" dirty="0" err="1" smtClean="0">
                <a:solidFill>
                  <a:prstClr val="black"/>
                </a:solidFill>
              </a:rPr>
              <a:t>int</a:t>
            </a:r>
            <a:r>
              <a:rPr lang="ja-JP" altLang="en-US" sz="2800" dirty="0" smtClean="0">
                <a:solidFill>
                  <a:prstClr val="black"/>
                </a:solidFill>
              </a:rPr>
              <a:t>型の数を表す。（</a:t>
            </a:r>
            <a:r>
              <a:rPr lang="en-US" altLang="ja-JP" sz="2800" dirty="0" smtClean="0">
                <a:solidFill>
                  <a:prstClr val="black"/>
                </a:solidFill>
              </a:rPr>
              <a:t>char</a:t>
            </a:r>
            <a:r>
              <a:rPr lang="ja-JP" altLang="en-US" sz="2800" dirty="0" smtClean="0">
                <a:solidFill>
                  <a:prstClr val="black"/>
                </a:solidFill>
              </a:rPr>
              <a:t>型ではないことに注意。</a:t>
            </a:r>
            <a:r>
              <a:rPr lang="en-US" altLang="ja-JP" sz="2800" dirty="0" smtClean="0">
                <a:solidFill>
                  <a:prstClr val="black"/>
                </a:solidFill>
              </a:rPr>
              <a:t>C++</a:t>
            </a:r>
            <a:r>
              <a:rPr lang="ja-JP" altLang="en-US" sz="2800" dirty="0" smtClean="0">
                <a:solidFill>
                  <a:prstClr val="black"/>
                </a:solidFill>
              </a:rPr>
              <a:t>では</a:t>
            </a:r>
            <a:r>
              <a:rPr lang="en-US" altLang="ja-JP" sz="2800" dirty="0" smtClean="0">
                <a:solidFill>
                  <a:prstClr val="black"/>
                </a:solidFill>
              </a:rPr>
              <a:t>char</a:t>
            </a:r>
            <a:r>
              <a:rPr lang="ja-JP" altLang="en-US" sz="2800" dirty="0" smtClean="0">
                <a:solidFill>
                  <a:prstClr val="black"/>
                </a:solidFill>
              </a:rPr>
              <a:t>型だが。）演習室の環境では、</a:t>
            </a:r>
            <a:r>
              <a:rPr lang="en-US" altLang="ja-JP" sz="2800" dirty="0" smtClean="0">
                <a:solidFill>
                  <a:prstClr val="black"/>
                </a:solidFill>
              </a:rPr>
              <a:t>’a’</a:t>
            </a:r>
            <a:r>
              <a:rPr lang="ja-JP" altLang="en-US" sz="2800" dirty="0" smtClean="0">
                <a:solidFill>
                  <a:prstClr val="black"/>
                </a:solidFill>
              </a:rPr>
              <a:t>は</a:t>
            </a:r>
            <a:r>
              <a:rPr lang="en-US" altLang="ja-JP" sz="2800" dirty="0" err="1" smtClean="0">
                <a:solidFill>
                  <a:prstClr val="black"/>
                </a:solidFill>
              </a:rPr>
              <a:t>int</a:t>
            </a:r>
            <a:r>
              <a:rPr lang="ja-JP" altLang="en-US" sz="2800" dirty="0" smtClean="0">
                <a:solidFill>
                  <a:prstClr val="black"/>
                </a:solidFill>
              </a:rPr>
              <a:t>型の</a:t>
            </a:r>
            <a:r>
              <a:rPr lang="en-US" altLang="ja-JP" sz="2800" dirty="0" smtClean="0">
                <a:solidFill>
                  <a:prstClr val="black"/>
                </a:solidFill>
              </a:rPr>
              <a:t>97</a:t>
            </a:r>
            <a:r>
              <a:rPr lang="ja-JP" altLang="en-US" sz="2800" dirty="0" smtClean="0">
                <a:solidFill>
                  <a:prstClr val="black"/>
                </a:solidFill>
              </a:rPr>
              <a:t>を表す。</a:t>
            </a:r>
            <a:endParaRPr lang="en-US" altLang="ja-JP" sz="2800" dirty="0" smtClean="0">
              <a:solidFill>
                <a:prstClr val="black"/>
              </a:solidFill>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42852"/>
            <a:ext cx="8229600" cy="1143000"/>
          </a:xfrm>
        </p:spPr>
        <p:txBody>
          <a:bodyPr>
            <a:normAutofit fontScale="90000"/>
          </a:bodyPr>
          <a:lstStyle/>
          <a:p>
            <a:r>
              <a:rPr lang="en-US" altLang="ja-JP" dirty="0" err="1" smtClean="0"/>
              <a:t>printf</a:t>
            </a:r>
            <a:r>
              <a:rPr lang="ja-JP" altLang="en-US" dirty="0" err="1" smtClean="0"/>
              <a:t>での</a:t>
            </a:r>
            <a:r>
              <a:rPr lang="ja-JP" altLang="en-US" dirty="0" smtClean="0"/>
              <a:t>文字の表示方法</a:t>
            </a:r>
            <a:r>
              <a:rPr lang="en-US" altLang="ja-JP" dirty="0" smtClean="0"/>
              <a:t/>
            </a:r>
            <a:br>
              <a:rPr lang="en-US" altLang="ja-JP" dirty="0" smtClean="0"/>
            </a:br>
            <a:r>
              <a:rPr lang="ja-JP" altLang="en-US" dirty="0" smtClean="0"/>
              <a:t>（打ち込んで確認）</a:t>
            </a:r>
            <a:endParaRPr kumimoji="1" lang="ja-JP" altLang="en-US" dirty="0"/>
          </a:p>
        </p:txBody>
      </p:sp>
      <p:sp>
        <p:nvSpPr>
          <p:cNvPr id="4" name="テキスト ボックス 3"/>
          <p:cNvSpPr txBox="1"/>
          <p:nvPr/>
        </p:nvSpPr>
        <p:spPr>
          <a:xfrm>
            <a:off x="357158" y="1428736"/>
            <a:ext cx="8501122" cy="1200329"/>
          </a:xfrm>
          <a:prstGeom prst="rect">
            <a:avLst/>
          </a:prstGeom>
          <a:noFill/>
        </p:spPr>
        <p:txBody>
          <a:bodyPr wrap="square" rtlCol="0">
            <a:spAutoFit/>
          </a:bodyPr>
          <a:lstStyle/>
          <a:p>
            <a:r>
              <a:rPr lang="en-US" altLang="ja-JP" sz="2400" dirty="0" err="1" smtClean="0"/>
              <a:t>p</a:t>
            </a:r>
            <a:r>
              <a:rPr kumimoji="1" lang="en-US" altLang="ja-JP" sz="2400" dirty="0" err="1" smtClean="0"/>
              <a:t>rintf</a:t>
            </a:r>
            <a:r>
              <a:rPr kumimoji="1" lang="ja-JP" altLang="en-US" sz="2400" dirty="0" smtClean="0"/>
              <a:t>関数で文字</a:t>
            </a:r>
            <a:r>
              <a:rPr lang="ja-JP" altLang="en-US" sz="2400" dirty="0" smtClean="0"/>
              <a:t>を表示する場合、変換指定を</a:t>
            </a:r>
            <a:r>
              <a:rPr lang="en-US" altLang="ja-JP" sz="2400" dirty="0" smtClean="0"/>
              <a:t>%c</a:t>
            </a:r>
            <a:r>
              <a:rPr lang="ja-JP" altLang="en-US" sz="2400" dirty="0" smtClean="0"/>
              <a:t>にする。引数には</a:t>
            </a:r>
            <a:r>
              <a:rPr lang="en-US" altLang="ja-JP" sz="2400" dirty="0" err="1" smtClean="0"/>
              <a:t>int</a:t>
            </a:r>
            <a:r>
              <a:rPr lang="ja-JP" altLang="en-US" sz="2400" dirty="0" smtClean="0"/>
              <a:t>型を受け取り、それを</a:t>
            </a:r>
            <a:r>
              <a:rPr lang="en-US" altLang="ja-JP" sz="2400" dirty="0" smtClean="0"/>
              <a:t>unsigned char</a:t>
            </a:r>
            <a:r>
              <a:rPr lang="ja-JP" altLang="en-US" sz="2400" dirty="0" smtClean="0"/>
              <a:t>型に変換（</a:t>
            </a:r>
            <a:r>
              <a:rPr lang="en-US" altLang="ja-JP" sz="2400" dirty="0" smtClean="0"/>
              <a:t>256</a:t>
            </a:r>
            <a:r>
              <a:rPr lang="ja-JP" altLang="en-US" sz="2400" dirty="0" smtClean="0"/>
              <a:t>で割った（非負の）余りに変換）し、それに対応する文字を表示する。</a:t>
            </a:r>
            <a:endParaRPr kumimoji="1" lang="ja-JP" altLang="en-US" sz="2400" dirty="0"/>
          </a:p>
        </p:txBody>
      </p:sp>
      <p:sp>
        <p:nvSpPr>
          <p:cNvPr id="6" name="正方形/長方形 5"/>
          <p:cNvSpPr/>
          <p:nvPr/>
        </p:nvSpPr>
        <p:spPr>
          <a:xfrm>
            <a:off x="1142976" y="2786058"/>
            <a:ext cx="4143404" cy="3970318"/>
          </a:xfrm>
          <a:prstGeom prst="rect">
            <a:avLst/>
          </a:prstGeom>
          <a:ln>
            <a:solidFill>
              <a:schemeClr val="tx1"/>
            </a:solidFill>
          </a:ln>
        </p:spPr>
        <p:txBody>
          <a:bodyPr wrap="square">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a:t>
            </a:r>
            <a:r>
              <a:rPr lang="en-US" altLang="ja-JP" sz="2800" dirty="0" err="1" smtClean="0"/>
              <a:t>printf</a:t>
            </a:r>
            <a:r>
              <a:rPr lang="en-US" altLang="ja-JP" sz="2800" dirty="0" smtClean="0"/>
              <a:t> ("</a:t>
            </a:r>
            <a:r>
              <a:rPr lang="en-US" altLang="ja-JP" sz="2800" dirty="0" smtClean="0">
                <a:solidFill>
                  <a:srgbClr val="FF0000"/>
                </a:solidFill>
              </a:rPr>
              <a:t>%c</a:t>
            </a:r>
            <a:r>
              <a:rPr lang="en-US" altLang="ja-JP" sz="2800" dirty="0" smtClean="0"/>
              <a:t>\n", 'a');</a:t>
            </a:r>
          </a:p>
          <a:p>
            <a:r>
              <a:rPr lang="en-US" altLang="ja-JP" sz="2800" dirty="0" smtClean="0"/>
              <a:t>  </a:t>
            </a:r>
            <a:r>
              <a:rPr lang="en-US" altLang="ja-JP" sz="2800" dirty="0" err="1" smtClean="0"/>
              <a:t>printf</a:t>
            </a:r>
            <a:r>
              <a:rPr lang="en-US" altLang="ja-JP" sz="2800" dirty="0" smtClean="0"/>
              <a:t> ("%d\n", 'a');</a:t>
            </a:r>
          </a:p>
          <a:p>
            <a:r>
              <a:rPr lang="en-US" altLang="ja-JP" sz="2800" dirty="0" smtClean="0"/>
              <a:t>  </a:t>
            </a:r>
            <a:r>
              <a:rPr lang="en-US" altLang="ja-JP" sz="2800" dirty="0" err="1" smtClean="0"/>
              <a:t>printf</a:t>
            </a:r>
            <a:r>
              <a:rPr lang="en-US" altLang="ja-JP" sz="2800" dirty="0" smtClean="0"/>
              <a:t> ("</a:t>
            </a:r>
            <a:r>
              <a:rPr lang="en-US" altLang="ja-JP" sz="2800" dirty="0" smtClean="0">
                <a:solidFill>
                  <a:srgbClr val="FF0000"/>
                </a:solidFill>
              </a:rPr>
              <a:t>%c</a:t>
            </a:r>
            <a:r>
              <a:rPr lang="en-US" altLang="ja-JP" sz="2800" dirty="0" smtClean="0"/>
              <a:t>\n", 97);</a:t>
            </a:r>
          </a:p>
          <a:p>
            <a:r>
              <a:rPr lang="en-US" altLang="ja-JP" sz="2800" dirty="0" smtClean="0"/>
              <a:t>  </a:t>
            </a:r>
            <a:r>
              <a:rPr lang="en-US" altLang="ja-JP" sz="2800" dirty="0" err="1" smtClean="0"/>
              <a:t>printf</a:t>
            </a:r>
            <a:r>
              <a:rPr lang="en-US" altLang="ja-JP" sz="2800" dirty="0" smtClean="0"/>
              <a:t> (“</a:t>
            </a:r>
            <a:r>
              <a:rPr lang="en-US" altLang="ja-JP" sz="2800" dirty="0" smtClean="0">
                <a:solidFill>
                  <a:srgbClr val="FF0000"/>
                </a:solidFill>
              </a:rPr>
              <a:t>%c</a:t>
            </a:r>
            <a:r>
              <a:rPr lang="en-US" altLang="ja-JP" sz="2800" dirty="0" smtClean="0"/>
              <a:t>\n”, 97 + 256);</a:t>
            </a:r>
          </a:p>
          <a:p>
            <a:r>
              <a:rPr lang="en-US" altLang="ja-JP" sz="2800" dirty="0" smtClean="0"/>
              <a:t>  </a:t>
            </a:r>
            <a:r>
              <a:rPr lang="en-US" altLang="ja-JP" sz="2800" dirty="0" err="1" smtClean="0"/>
              <a:t>printf</a:t>
            </a:r>
            <a:r>
              <a:rPr lang="en-US" altLang="ja-JP" sz="2800" dirty="0" smtClean="0"/>
              <a:t> (“</a:t>
            </a:r>
            <a:r>
              <a:rPr lang="en-US" altLang="ja-JP" sz="2800" dirty="0" smtClean="0">
                <a:solidFill>
                  <a:srgbClr val="FF0000"/>
                </a:solidFill>
              </a:rPr>
              <a:t>%c</a:t>
            </a:r>
            <a:r>
              <a:rPr lang="en-US" altLang="ja-JP" sz="2800" dirty="0" smtClean="0"/>
              <a:t>\n”, 97 – 256);</a:t>
            </a:r>
          </a:p>
          <a:p>
            <a:r>
              <a:rPr lang="en-US" altLang="ja-JP" sz="2800" dirty="0" smtClean="0"/>
              <a:t>  return 0;</a:t>
            </a:r>
          </a:p>
          <a:p>
            <a:r>
              <a:rPr lang="en-US" altLang="ja-JP" sz="2800" dirty="0" smtClean="0"/>
              <a:t>}</a:t>
            </a:r>
            <a:endParaRPr lang="en-US" altLang="ja-JP" sz="2800" dirty="0"/>
          </a:p>
        </p:txBody>
      </p:sp>
      <p:sp>
        <p:nvSpPr>
          <p:cNvPr id="7" name="テキスト ボックス 6"/>
          <p:cNvSpPr txBox="1"/>
          <p:nvPr/>
        </p:nvSpPr>
        <p:spPr>
          <a:xfrm>
            <a:off x="5500694" y="3643314"/>
            <a:ext cx="2444900" cy="2677656"/>
          </a:xfrm>
          <a:prstGeom prst="rect">
            <a:avLst/>
          </a:prstGeom>
          <a:noFill/>
        </p:spPr>
        <p:txBody>
          <a:bodyPr wrap="none" rtlCol="0">
            <a:spAutoFit/>
          </a:bodyPr>
          <a:lstStyle/>
          <a:p>
            <a:r>
              <a:rPr kumimoji="1" lang="en-US" altLang="ja-JP" sz="2800" dirty="0" smtClean="0"/>
              <a:t>a</a:t>
            </a:r>
          </a:p>
          <a:p>
            <a:r>
              <a:rPr lang="en-US" altLang="ja-JP" sz="2800" dirty="0" smtClean="0"/>
              <a:t>97</a:t>
            </a:r>
          </a:p>
          <a:p>
            <a:r>
              <a:rPr lang="en-US" altLang="ja-JP" sz="2800" dirty="0" smtClean="0"/>
              <a:t>a</a:t>
            </a:r>
            <a:endParaRPr kumimoji="1" lang="en-US" altLang="ja-JP" sz="2800" dirty="0" smtClean="0"/>
          </a:p>
          <a:p>
            <a:r>
              <a:rPr lang="en-US" altLang="ja-JP" sz="2800" dirty="0" smtClean="0"/>
              <a:t>a</a:t>
            </a:r>
          </a:p>
          <a:p>
            <a:r>
              <a:rPr lang="en-US" altLang="ja-JP" sz="2800" dirty="0" smtClean="0"/>
              <a:t>a</a:t>
            </a:r>
            <a:endParaRPr kumimoji="1" lang="en-US" altLang="ja-JP" sz="2800" dirty="0" smtClean="0"/>
          </a:p>
          <a:p>
            <a:r>
              <a:rPr lang="ja-JP" altLang="en-US" sz="2800" dirty="0" smtClean="0"/>
              <a:t>が表示される。</a:t>
            </a:r>
            <a:endParaRPr lang="en-US" altLang="ja-JP" sz="2800" dirty="0" smtClean="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42852"/>
            <a:ext cx="8229600" cy="917596"/>
          </a:xfrm>
        </p:spPr>
        <p:txBody>
          <a:bodyPr>
            <a:normAutofit/>
          </a:bodyPr>
          <a:lstStyle/>
          <a:p>
            <a:r>
              <a:rPr lang="ja-JP" altLang="en-US" dirty="0" smtClean="0"/>
              <a:t>文字の８進表記</a:t>
            </a:r>
            <a:endParaRPr kumimoji="1" lang="ja-JP" altLang="en-US" dirty="0"/>
          </a:p>
        </p:txBody>
      </p:sp>
      <p:sp>
        <p:nvSpPr>
          <p:cNvPr id="4" name="テキスト ボックス 3"/>
          <p:cNvSpPr txBox="1"/>
          <p:nvPr/>
        </p:nvSpPr>
        <p:spPr>
          <a:xfrm>
            <a:off x="928662" y="1071546"/>
            <a:ext cx="7215238" cy="5693866"/>
          </a:xfrm>
          <a:prstGeom prst="rect">
            <a:avLst/>
          </a:prstGeom>
          <a:noFill/>
        </p:spPr>
        <p:txBody>
          <a:bodyPr wrap="square" rtlCol="0">
            <a:spAutoFit/>
          </a:bodyPr>
          <a:lstStyle/>
          <a:p>
            <a:r>
              <a:rPr kumimoji="1" lang="ja-JP" altLang="en-US" sz="2800" dirty="0" smtClean="0"/>
              <a:t>ある文字に対応する数が分かっているとき、</a:t>
            </a:r>
            <a:r>
              <a:rPr lang="ja-JP" altLang="en-US" sz="2800" dirty="0" smtClean="0"/>
              <a:t>その数で直接書きたい場合がある。その時に使うのが文字の８進表記である。</a:t>
            </a:r>
            <a:endParaRPr lang="en-US" altLang="ja-JP" sz="2800" dirty="0" smtClean="0"/>
          </a:p>
          <a:p>
            <a:r>
              <a:rPr lang="ja-JP" altLang="en-US" sz="2800" dirty="0" smtClean="0"/>
              <a:t>たとえば、</a:t>
            </a:r>
            <a:r>
              <a:rPr lang="en-US" altLang="ja-JP" sz="2800" dirty="0" smtClean="0"/>
              <a:t>’a’</a:t>
            </a:r>
            <a:r>
              <a:rPr lang="ja-JP" altLang="en-US" sz="2800" dirty="0" smtClean="0"/>
              <a:t>と書く代りに、（演習室の環境では）</a:t>
            </a:r>
            <a:r>
              <a:rPr lang="en-US" altLang="ja-JP" sz="2800" dirty="0" smtClean="0"/>
              <a:t>’\141’</a:t>
            </a:r>
            <a:r>
              <a:rPr lang="ja-JP" altLang="en-US" sz="2800" dirty="0" smtClean="0"/>
              <a:t>と書くことができる。ただし、プログラムの可搬性が低下するので使わない方がよい。</a:t>
            </a:r>
            <a:endParaRPr lang="en-US" altLang="ja-JP" sz="2800" dirty="0" smtClean="0"/>
          </a:p>
          <a:p>
            <a:endParaRPr lang="en-US" altLang="ja-JP" sz="2800" dirty="0" smtClean="0"/>
          </a:p>
          <a:p>
            <a:r>
              <a:rPr lang="ja-JP" altLang="en-US" sz="2800" dirty="0" smtClean="0"/>
              <a:t>よく使うのは、ヌル文字を表す場合で、</a:t>
            </a:r>
            <a:r>
              <a:rPr lang="en-US" altLang="ja-JP" sz="2800" dirty="0" smtClean="0"/>
              <a:t>’\0’</a:t>
            </a:r>
            <a:r>
              <a:rPr lang="ja-JP" altLang="en-US" sz="2800" dirty="0" smtClean="0"/>
              <a:t>と書く。</a:t>
            </a:r>
            <a:r>
              <a:rPr lang="en-US" altLang="ja-JP" sz="2800" dirty="0" smtClean="0"/>
              <a:t>’\0’</a:t>
            </a:r>
            <a:r>
              <a:rPr lang="ja-JP" altLang="en-US" sz="2800" dirty="0" smtClean="0"/>
              <a:t>は、対応する数が</a:t>
            </a:r>
            <a:r>
              <a:rPr lang="en-US" altLang="ja-JP" sz="2800" dirty="0" smtClean="0"/>
              <a:t>0</a:t>
            </a:r>
            <a:r>
              <a:rPr lang="ja-JP" altLang="en-US" sz="2800" dirty="0" smtClean="0"/>
              <a:t>である文字（ヌル文字という）に対応する数（すなわち</a:t>
            </a:r>
            <a:r>
              <a:rPr lang="en-US" altLang="ja-JP" sz="2800" dirty="0" smtClean="0"/>
              <a:t>0</a:t>
            </a:r>
            <a:r>
              <a:rPr lang="ja-JP" altLang="en-US" sz="2800" dirty="0" smtClean="0"/>
              <a:t>）を表している。</a:t>
            </a:r>
            <a:r>
              <a:rPr lang="en-US" altLang="ja-JP" sz="2800" dirty="0" smtClean="0"/>
              <a:t>0</a:t>
            </a:r>
            <a:r>
              <a:rPr lang="ja-JP" altLang="en-US" sz="2800" dirty="0" smtClean="0"/>
              <a:t>と直接書いても同じ意味だが、</a:t>
            </a:r>
            <a:r>
              <a:rPr lang="en-US" altLang="ja-JP" sz="2800" dirty="0" smtClean="0"/>
              <a:t>0</a:t>
            </a:r>
            <a:r>
              <a:rPr lang="ja-JP" altLang="en-US" sz="2800" dirty="0" smtClean="0"/>
              <a:t>よりも</a:t>
            </a:r>
            <a:r>
              <a:rPr lang="en-US" altLang="ja-JP" sz="2800" dirty="0" smtClean="0"/>
              <a:t>’\0’</a:t>
            </a:r>
            <a:r>
              <a:rPr lang="ja-JP" altLang="en-US" sz="2800" dirty="0" smtClean="0"/>
              <a:t>の方が、文字を表している数だということが見た目に分かりやすい。</a:t>
            </a:r>
            <a:endParaRPr kumimoji="1" lang="ja-JP" altLang="en-US" sz="2800"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8</a:t>
            </a:r>
            <a:r>
              <a:rPr kumimoji="1" lang="ja-JP" altLang="en-US" dirty="0" smtClean="0"/>
              <a:t>進</a:t>
            </a:r>
            <a:r>
              <a:rPr lang="ja-JP" altLang="en-US" dirty="0" smtClean="0"/>
              <a:t>逆斜線</a:t>
            </a:r>
            <a:r>
              <a:rPr kumimoji="1" lang="ja-JP" altLang="en-US" dirty="0" smtClean="0"/>
              <a:t>表記の構文</a:t>
            </a:r>
            <a:endParaRPr kumimoji="1" lang="ja-JP" altLang="en-US" dirty="0"/>
          </a:p>
        </p:txBody>
      </p:sp>
      <p:sp>
        <p:nvSpPr>
          <p:cNvPr id="4" name="テキスト ボックス 3"/>
          <p:cNvSpPr txBox="1"/>
          <p:nvPr/>
        </p:nvSpPr>
        <p:spPr>
          <a:xfrm>
            <a:off x="3857620" y="1428736"/>
            <a:ext cx="1911549" cy="523220"/>
          </a:xfrm>
          <a:prstGeom prst="rect">
            <a:avLst/>
          </a:prstGeom>
          <a:solidFill>
            <a:srgbClr val="FFFF00"/>
          </a:solidFill>
          <a:ln>
            <a:solidFill>
              <a:schemeClr val="tx1"/>
            </a:solidFill>
          </a:ln>
        </p:spPr>
        <p:txBody>
          <a:bodyPr wrap="none" rtlCol="0">
            <a:spAutoFit/>
          </a:bodyPr>
          <a:lstStyle/>
          <a:p>
            <a:r>
              <a:rPr kumimoji="1" lang="en-US" altLang="ja-JP" sz="2800" dirty="0" smtClean="0"/>
              <a:t>\ octal-digit</a:t>
            </a:r>
          </a:p>
        </p:txBody>
      </p:sp>
      <p:sp>
        <p:nvSpPr>
          <p:cNvPr id="5" name="正方形/長方形 4"/>
          <p:cNvSpPr/>
          <p:nvPr/>
        </p:nvSpPr>
        <p:spPr>
          <a:xfrm>
            <a:off x="3902392" y="2214554"/>
            <a:ext cx="3455690" cy="523220"/>
          </a:xfrm>
          <a:prstGeom prst="rect">
            <a:avLst/>
          </a:prstGeom>
          <a:solidFill>
            <a:srgbClr val="FFFF00"/>
          </a:solidFill>
          <a:ln>
            <a:solidFill>
              <a:schemeClr val="tx1"/>
            </a:solidFill>
          </a:ln>
        </p:spPr>
        <p:txBody>
          <a:bodyPr wrap="none">
            <a:spAutoFit/>
          </a:bodyPr>
          <a:lstStyle/>
          <a:p>
            <a:pPr lvl="0"/>
            <a:r>
              <a:rPr lang="en-US" altLang="ja-JP" sz="2800" dirty="0" smtClean="0">
                <a:solidFill>
                  <a:prstClr val="black"/>
                </a:solidFill>
              </a:rPr>
              <a:t>\ octal-digit </a:t>
            </a:r>
            <a:r>
              <a:rPr lang="en-US" altLang="ja-JP" sz="2800" dirty="0" err="1" smtClean="0">
                <a:solidFill>
                  <a:prstClr val="black"/>
                </a:solidFill>
              </a:rPr>
              <a:t>octal-digit</a:t>
            </a:r>
            <a:endParaRPr lang="en-US" altLang="ja-JP" sz="2800" dirty="0" smtClean="0">
              <a:solidFill>
                <a:prstClr val="black"/>
              </a:solidFill>
            </a:endParaRPr>
          </a:p>
        </p:txBody>
      </p:sp>
      <p:sp>
        <p:nvSpPr>
          <p:cNvPr id="6" name="正方形/長方形 5"/>
          <p:cNvSpPr/>
          <p:nvPr/>
        </p:nvSpPr>
        <p:spPr>
          <a:xfrm>
            <a:off x="3857620" y="3000372"/>
            <a:ext cx="4999830" cy="523220"/>
          </a:xfrm>
          <a:prstGeom prst="rect">
            <a:avLst/>
          </a:prstGeom>
          <a:solidFill>
            <a:srgbClr val="FFFF00"/>
          </a:solidFill>
          <a:ln>
            <a:solidFill>
              <a:schemeClr val="tx1"/>
            </a:solidFill>
          </a:ln>
        </p:spPr>
        <p:txBody>
          <a:bodyPr wrap="none">
            <a:spAutoFit/>
          </a:bodyPr>
          <a:lstStyle/>
          <a:p>
            <a:pPr lvl="0"/>
            <a:r>
              <a:rPr lang="en-US" altLang="ja-JP" sz="2800" dirty="0" smtClean="0">
                <a:solidFill>
                  <a:prstClr val="black"/>
                </a:solidFill>
              </a:rPr>
              <a:t>\ octal-digit </a:t>
            </a:r>
            <a:r>
              <a:rPr lang="en-US" altLang="ja-JP" sz="2800" dirty="0" err="1" smtClean="0">
                <a:solidFill>
                  <a:prstClr val="black"/>
                </a:solidFill>
              </a:rPr>
              <a:t>octal-digit</a:t>
            </a:r>
            <a:r>
              <a:rPr lang="en-US" altLang="ja-JP" sz="2800" dirty="0" smtClean="0">
                <a:solidFill>
                  <a:prstClr val="black"/>
                </a:solidFill>
              </a:rPr>
              <a:t> octal-digit</a:t>
            </a:r>
          </a:p>
        </p:txBody>
      </p:sp>
      <p:sp>
        <p:nvSpPr>
          <p:cNvPr id="7" name="テキスト ボックス 6"/>
          <p:cNvSpPr txBox="1"/>
          <p:nvPr/>
        </p:nvSpPr>
        <p:spPr>
          <a:xfrm>
            <a:off x="389240" y="1428736"/>
            <a:ext cx="3320140" cy="461665"/>
          </a:xfrm>
          <a:prstGeom prst="rect">
            <a:avLst/>
          </a:prstGeom>
          <a:noFill/>
        </p:spPr>
        <p:txBody>
          <a:bodyPr wrap="none" rtlCol="0">
            <a:spAutoFit/>
          </a:bodyPr>
          <a:lstStyle/>
          <a:p>
            <a:r>
              <a:rPr kumimoji="1" lang="en-US" altLang="ja-JP" sz="2400" dirty="0" smtClean="0"/>
              <a:t>8</a:t>
            </a:r>
            <a:r>
              <a:rPr kumimoji="1" lang="ja-JP" altLang="en-US" sz="2400" dirty="0" smtClean="0"/>
              <a:t>進逆斜線表記の構文１</a:t>
            </a:r>
            <a:endParaRPr kumimoji="1" lang="ja-JP" altLang="en-US" sz="2400" dirty="0"/>
          </a:p>
        </p:txBody>
      </p:sp>
      <p:sp>
        <p:nvSpPr>
          <p:cNvPr id="8" name="テキスト ボックス 7"/>
          <p:cNvSpPr txBox="1"/>
          <p:nvPr/>
        </p:nvSpPr>
        <p:spPr>
          <a:xfrm>
            <a:off x="357158" y="2285992"/>
            <a:ext cx="3320140" cy="461665"/>
          </a:xfrm>
          <a:prstGeom prst="rect">
            <a:avLst/>
          </a:prstGeom>
          <a:noFill/>
        </p:spPr>
        <p:txBody>
          <a:bodyPr wrap="none" rtlCol="0">
            <a:spAutoFit/>
          </a:bodyPr>
          <a:lstStyle/>
          <a:p>
            <a:r>
              <a:rPr kumimoji="1" lang="en-US" altLang="ja-JP" sz="2400" dirty="0" smtClean="0"/>
              <a:t>8</a:t>
            </a:r>
            <a:r>
              <a:rPr kumimoji="1" lang="ja-JP" altLang="en-US" sz="2400" dirty="0" smtClean="0"/>
              <a:t>進逆斜線表記の構文２</a:t>
            </a:r>
            <a:endParaRPr kumimoji="1" lang="ja-JP" altLang="en-US" sz="2400" dirty="0"/>
          </a:p>
        </p:txBody>
      </p:sp>
      <p:sp>
        <p:nvSpPr>
          <p:cNvPr id="9" name="テキスト ボックス 8"/>
          <p:cNvSpPr txBox="1"/>
          <p:nvPr/>
        </p:nvSpPr>
        <p:spPr>
          <a:xfrm>
            <a:off x="389240" y="3000372"/>
            <a:ext cx="3320140" cy="461665"/>
          </a:xfrm>
          <a:prstGeom prst="rect">
            <a:avLst/>
          </a:prstGeom>
          <a:noFill/>
        </p:spPr>
        <p:txBody>
          <a:bodyPr wrap="none" rtlCol="0">
            <a:spAutoFit/>
          </a:bodyPr>
          <a:lstStyle/>
          <a:p>
            <a:r>
              <a:rPr kumimoji="1" lang="en-US" altLang="ja-JP" sz="2400" dirty="0" smtClean="0"/>
              <a:t>8</a:t>
            </a:r>
            <a:r>
              <a:rPr kumimoji="1" lang="ja-JP" altLang="en-US" sz="2400" dirty="0" smtClean="0"/>
              <a:t>進逆斜線表記の構文３</a:t>
            </a:r>
            <a:endParaRPr kumimoji="1" lang="ja-JP" altLang="en-US" sz="2400" dirty="0"/>
          </a:p>
        </p:txBody>
      </p:sp>
      <p:sp>
        <p:nvSpPr>
          <p:cNvPr id="10" name="テキスト ボックス 9"/>
          <p:cNvSpPr txBox="1"/>
          <p:nvPr/>
        </p:nvSpPr>
        <p:spPr>
          <a:xfrm>
            <a:off x="571472" y="3643314"/>
            <a:ext cx="8143932" cy="1200329"/>
          </a:xfrm>
          <a:prstGeom prst="rect">
            <a:avLst/>
          </a:prstGeom>
          <a:noFill/>
        </p:spPr>
        <p:txBody>
          <a:bodyPr wrap="square" rtlCol="0">
            <a:spAutoFit/>
          </a:bodyPr>
          <a:lstStyle/>
          <a:p>
            <a:r>
              <a:rPr kumimoji="1" lang="ja-JP" altLang="en-US" sz="2400" dirty="0" smtClean="0"/>
              <a:t>ただし、</a:t>
            </a:r>
            <a:r>
              <a:rPr kumimoji="1" lang="en-US" altLang="ja-JP" sz="2400" dirty="0" smtClean="0"/>
              <a:t>octal-digit</a:t>
            </a:r>
            <a:r>
              <a:rPr kumimoji="1" lang="ja-JP" altLang="en-US" sz="2400" dirty="0" smtClean="0"/>
              <a:t>は</a:t>
            </a:r>
            <a:r>
              <a:rPr kumimoji="1" lang="en-US" altLang="ja-JP" sz="2400" dirty="0" smtClean="0"/>
              <a:t>0 1 2 3 4 5 6 7</a:t>
            </a:r>
            <a:r>
              <a:rPr kumimoji="1" lang="ja-JP" altLang="en-US" sz="2400" dirty="0" smtClean="0"/>
              <a:t>のいずれかを表す。</a:t>
            </a:r>
            <a:endParaRPr kumimoji="1" lang="en-US" altLang="ja-JP" sz="2400" dirty="0" smtClean="0"/>
          </a:p>
          <a:p>
            <a:r>
              <a:rPr lang="ja-JP" altLang="en-US" sz="2400" dirty="0" smtClean="0"/>
              <a:t>つまり、バックスラッシュのあとに</a:t>
            </a:r>
            <a:r>
              <a:rPr lang="en-US" altLang="ja-JP" sz="2400" dirty="0" smtClean="0"/>
              <a:t>1</a:t>
            </a:r>
            <a:r>
              <a:rPr lang="ja-JP" altLang="en-US" sz="2400" dirty="0" smtClean="0"/>
              <a:t>桁から</a:t>
            </a:r>
            <a:r>
              <a:rPr lang="en-US" altLang="ja-JP" sz="2400" dirty="0" smtClean="0"/>
              <a:t>3</a:t>
            </a:r>
            <a:r>
              <a:rPr lang="ja-JP" altLang="en-US" sz="2400" dirty="0" smtClean="0"/>
              <a:t>桁の</a:t>
            </a:r>
            <a:r>
              <a:rPr lang="en-US" altLang="ja-JP" sz="2400" dirty="0" smtClean="0"/>
              <a:t>8</a:t>
            </a:r>
            <a:r>
              <a:rPr lang="ja-JP" altLang="en-US" sz="2400" dirty="0" smtClean="0"/>
              <a:t>進数を書いたものが</a:t>
            </a:r>
            <a:r>
              <a:rPr lang="en-US" altLang="ja-JP" sz="2400" dirty="0" smtClean="0"/>
              <a:t>8</a:t>
            </a:r>
            <a:r>
              <a:rPr lang="ja-JP" altLang="en-US" sz="2400" dirty="0" smtClean="0"/>
              <a:t>進逆斜線表記である。</a:t>
            </a:r>
            <a:endParaRPr kumimoji="1" lang="ja-JP" altLang="en-US" sz="2400" dirty="0"/>
          </a:p>
        </p:txBody>
      </p:sp>
      <p:sp>
        <p:nvSpPr>
          <p:cNvPr id="11" name="テキスト ボックス 10"/>
          <p:cNvSpPr txBox="1"/>
          <p:nvPr/>
        </p:nvSpPr>
        <p:spPr>
          <a:xfrm>
            <a:off x="428597" y="4786322"/>
            <a:ext cx="8143932" cy="1938992"/>
          </a:xfrm>
          <a:prstGeom prst="rect">
            <a:avLst/>
          </a:prstGeom>
          <a:noFill/>
        </p:spPr>
        <p:txBody>
          <a:bodyPr wrap="square" rtlCol="0">
            <a:spAutoFit/>
          </a:bodyPr>
          <a:lstStyle/>
          <a:p>
            <a:r>
              <a:rPr lang="en-US" altLang="ja-JP" sz="2400" dirty="0" smtClean="0"/>
              <a:t>8</a:t>
            </a:r>
            <a:r>
              <a:rPr kumimoji="1" lang="ja-JP" altLang="en-US" sz="2400" dirty="0" smtClean="0"/>
              <a:t>進逆斜線表記は</a:t>
            </a:r>
            <a:r>
              <a:rPr lang="ja-JP" altLang="en-US" sz="2400" dirty="0" smtClean="0"/>
              <a:t>クォートおよびダブルクォートの中でのみ用いる。</a:t>
            </a:r>
            <a:r>
              <a:rPr lang="en-US" altLang="ja-JP" sz="2400" dirty="0" smtClean="0"/>
              <a:t>8</a:t>
            </a:r>
            <a:r>
              <a:rPr lang="ja-JP" altLang="en-US" sz="2400" dirty="0" smtClean="0"/>
              <a:t>進逆斜線表記をクォートで囲んだとき、それは、その</a:t>
            </a:r>
            <a:r>
              <a:rPr lang="en-US" altLang="ja-JP" sz="2400" dirty="0" smtClean="0"/>
              <a:t>8</a:t>
            </a:r>
            <a:r>
              <a:rPr lang="ja-JP" altLang="en-US" sz="2400" dirty="0" smtClean="0"/>
              <a:t>進数の表している数</a:t>
            </a:r>
            <a:r>
              <a:rPr lang="en-US" altLang="ja-JP" sz="2400" dirty="0" smtClean="0"/>
              <a:t>(</a:t>
            </a:r>
            <a:r>
              <a:rPr lang="en-US" altLang="ja-JP" sz="2400" dirty="0" err="1" smtClean="0"/>
              <a:t>int</a:t>
            </a:r>
            <a:r>
              <a:rPr lang="ja-JP" altLang="en-US" sz="2400" dirty="0" smtClean="0"/>
              <a:t>型</a:t>
            </a:r>
            <a:r>
              <a:rPr lang="en-US" altLang="ja-JP" sz="2400" dirty="0" smtClean="0"/>
              <a:t>)</a:t>
            </a:r>
            <a:r>
              <a:rPr lang="ja-JP" altLang="en-US" sz="2400" dirty="0" smtClean="0"/>
              <a:t>を表す。つまり、文字を表すための数であるということを見た目に分かりやすくするために用意されている構文である。</a:t>
            </a:r>
            <a:endParaRPr kumimoji="1" lang="ja-JP" altLang="en-US" sz="2400"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smtClean="0"/>
              <a:t>変数への格納（打ち込んで確認）</a:t>
            </a:r>
            <a:endParaRPr kumimoji="1" lang="ja-JP" altLang="en-US" dirty="0"/>
          </a:p>
        </p:txBody>
      </p:sp>
      <p:sp>
        <p:nvSpPr>
          <p:cNvPr id="5" name="正方形/長方形 4"/>
          <p:cNvSpPr/>
          <p:nvPr/>
        </p:nvSpPr>
        <p:spPr>
          <a:xfrm>
            <a:off x="928662" y="1571612"/>
            <a:ext cx="3429024" cy="4832092"/>
          </a:xfrm>
          <a:prstGeom prst="rect">
            <a:avLst/>
          </a:prstGeom>
          <a:ln>
            <a:solidFill>
              <a:schemeClr val="tx1"/>
            </a:solidFill>
          </a:ln>
        </p:spPr>
        <p:txBody>
          <a:bodyPr wrap="square">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a:t>
            </a:r>
            <a:r>
              <a:rPr lang="en-US" altLang="ja-JP" sz="2800" dirty="0" err="1" smtClean="0"/>
              <a:t>int</a:t>
            </a:r>
            <a:r>
              <a:rPr lang="en-US" altLang="ja-JP" sz="2800" dirty="0" smtClean="0"/>
              <a:t> x;</a:t>
            </a:r>
          </a:p>
          <a:p>
            <a:r>
              <a:rPr lang="en-US" altLang="ja-JP" sz="2800" dirty="0" smtClean="0"/>
              <a:t>  x = 'a';</a:t>
            </a:r>
          </a:p>
          <a:p>
            <a:r>
              <a:rPr lang="en-US" altLang="ja-JP" sz="2800" dirty="0" smtClean="0"/>
              <a:t>  </a:t>
            </a:r>
            <a:r>
              <a:rPr lang="en-US" altLang="ja-JP" sz="2800" dirty="0" err="1" smtClean="0"/>
              <a:t>printf</a:t>
            </a:r>
            <a:r>
              <a:rPr lang="en-US" altLang="ja-JP" sz="2800" dirty="0" smtClean="0"/>
              <a:t> ("%c\n", x);</a:t>
            </a:r>
          </a:p>
          <a:p>
            <a:r>
              <a:rPr lang="en-US" altLang="ja-JP" sz="2800" dirty="0" smtClean="0"/>
              <a:t>  </a:t>
            </a:r>
            <a:r>
              <a:rPr lang="en-US" altLang="ja-JP" sz="2800" dirty="0" err="1" smtClean="0"/>
              <a:t>printf</a:t>
            </a:r>
            <a:r>
              <a:rPr lang="en-US" altLang="ja-JP" sz="2800" dirty="0" smtClean="0"/>
              <a:t> ("%d\n", x);</a:t>
            </a:r>
          </a:p>
          <a:p>
            <a:r>
              <a:rPr lang="en-US" altLang="ja-JP" sz="2800" dirty="0" smtClean="0"/>
              <a:t>  x = x+1;</a:t>
            </a:r>
          </a:p>
          <a:p>
            <a:r>
              <a:rPr lang="en-US" altLang="ja-JP" sz="2800" dirty="0" smtClean="0"/>
              <a:t>  </a:t>
            </a:r>
            <a:r>
              <a:rPr lang="en-US" altLang="ja-JP" sz="2800" dirty="0" err="1" smtClean="0"/>
              <a:t>printf</a:t>
            </a:r>
            <a:r>
              <a:rPr lang="en-US" altLang="ja-JP" sz="2800" dirty="0" smtClean="0"/>
              <a:t> ("%c\n", x);</a:t>
            </a:r>
          </a:p>
          <a:p>
            <a:r>
              <a:rPr lang="en-US" altLang="ja-JP" sz="2800" dirty="0" smtClean="0"/>
              <a:t>  </a:t>
            </a:r>
            <a:r>
              <a:rPr lang="en-US" altLang="ja-JP" sz="2800" dirty="0" err="1" smtClean="0"/>
              <a:t>printf</a:t>
            </a:r>
            <a:r>
              <a:rPr lang="en-US" altLang="ja-JP" sz="2800" dirty="0" smtClean="0"/>
              <a:t> (“%d\n”, x);</a:t>
            </a:r>
          </a:p>
          <a:p>
            <a:r>
              <a:rPr lang="en-US" altLang="ja-JP" sz="2800" dirty="0" smtClean="0"/>
              <a:t>  return 0;</a:t>
            </a:r>
          </a:p>
          <a:p>
            <a:r>
              <a:rPr lang="en-US" altLang="ja-JP" sz="2800" dirty="0" smtClean="0"/>
              <a:t>}</a:t>
            </a:r>
            <a:endParaRPr lang="en-US" altLang="ja-JP" sz="2800" dirty="0"/>
          </a:p>
        </p:txBody>
      </p:sp>
      <p:sp>
        <p:nvSpPr>
          <p:cNvPr id="6" name="テキスト ボックス 5"/>
          <p:cNvSpPr txBox="1"/>
          <p:nvPr/>
        </p:nvSpPr>
        <p:spPr>
          <a:xfrm>
            <a:off x="4714876" y="2214554"/>
            <a:ext cx="3714776" cy="830997"/>
          </a:xfrm>
          <a:prstGeom prst="rect">
            <a:avLst/>
          </a:prstGeom>
          <a:noFill/>
        </p:spPr>
        <p:txBody>
          <a:bodyPr wrap="square" rtlCol="0">
            <a:spAutoFit/>
          </a:bodyPr>
          <a:lstStyle/>
          <a:p>
            <a:r>
              <a:rPr kumimoji="1" lang="ja-JP" altLang="en-US" sz="2400" dirty="0" smtClean="0"/>
              <a:t>文字は通常、</a:t>
            </a:r>
            <a:r>
              <a:rPr kumimoji="1" lang="en-US" altLang="ja-JP" sz="2400" dirty="0" err="1" smtClean="0"/>
              <a:t>int</a:t>
            </a:r>
            <a:r>
              <a:rPr kumimoji="1" lang="ja-JP" altLang="en-US" sz="2400" dirty="0" smtClean="0"/>
              <a:t>型の変数に格納する。</a:t>
            </a:r>
            <a:endParaRPr kumimoji="1" lang="en-US" altLang="ja-JP" sz="2400" dirty="0" smtClean="0"/>
          </a:p>
        </p:txBody>
      </p:sp>
      <p:sp>
        <p:nvSpPr>
          <p:cNvPr id="7" name="正方形/長方形 6"/>
          <p:cNvSpPr/>
          <p:nvPr/>
        </p:nvSpPr>
        <p:spPr>
          <a:xfrm>
            <a:off x="4643438" y="4643446"/>
            <a:ext cx="3929090" cy="830997"/>
          </a:xfrm>
          <a:prstGeom prst="rect">
            <a:avLst/>
          </a:prstGeom>
        </p:spPr>
        <p:txBody>
          <a:bodyPr wrap="square">
            <a:spAutoFit/>
          </a:bodyPr>
          <a:lstStyle/>
          <a:p>
            <a:r>
              <a:rPr lang="en-US" altLang="ja-JP" sz="2400" dirty="0" smtClean="0"/>
              <a:t>1</a:t>
            </a:r>
            <a:r>
              <a:rPr lang="ja-JP" altLang="en-US" sz="2400" dirty="0" smtClean="0"/>
              <a:t>を足したものを</a:t>
            </a:r>
            <a:r>
              <a:rPr lang="en-US" altLang="ja-JP" sz="2400" dirty="0" smtClean="0"/>
              <a:t>%c</a:t>
            </a:r>
            <a:r>
              <a:rPr lang="ja-JP" altLang="en-US" sz="2400" dirty="0" smtClean="0"/>
              <a:t>で表示すると</a:t>
            </a:r>
            <a:r>
              <a:rPr lang="en-US" altLang="ja-JP" sz="2400" dirty="0" smtClean="0"/>
              <a:t>b</a:t>
            </a:r>
            <a:r>
              <a:rPr lang="ja-JP" altLang="en-US" sz="2400" dirty="0" smtClean="0"/>
              <a:t>が表示される。</a:t>
            </a:r>
            <a:endParaRPr lang="en-US" altLang="ja-JP" sz="2400" dirty="0" smtClean="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ja-JP" altLang="en-US" dirty="0" smtClean="0"/>
              <a:t>整数型の範囲について</a:t>
            </a:r>
            <a:r>
              <a:rPr lang="en-US" altLang="ja-JP" dirty="0" smtClean="0"/>
              <a:t/>
            </a:r>
            <a:br>
              <a:rPr lang="en-US" altLang="ja-JP" dirty="0" smtClean="0"/>
            </a:br>
            <a:r>
              <a:rPr lang="ja-JP" altLang="en-US" dirty="0" smtClean="0"/>
              <a:t>（打ち込んで確認）</a:t>
            </a:r>
            <a:endParaRPr kumimoji="1" lang="ja-JP" altLang="en-US" dirty="0"/>
          </a:p>
        </p:txBody>
      </p:sp>
      <p:sp>
        <p:nvSpPr>
          <p:cNvPr id="5" name="テキスト ボックス 4"/>
          <p:cNvSpPr txBox="1"/>
          <p:nvPr/>
        </p:nvSpPr>
        <p:spPr>
          <a:xfrm>
            <a:off x="714348" y="1500174"/>
            <a:ext cx="7858180" cy="954107"/>
          </a:xfrm>
          <a:prstGeom prst="rect">
            <a:avLst/>
          </a:prstGeom>
          <a:noFill/>
        </p:spPr>
        <p:txBody>
          <a:bodyPr wrap="square" rtlCol="0">
            <a:spAutoFit/>
          </a:bodyPr>
          <a:lstStyle/>
          <a:p>
            <a:r>
              <a:rPr kumimoji="1" lang="en-US" altLang="ja-JP" sz="2800" dirty="0" smtClean="0"/>
              <a:t> C</a:t>
            </a:r>
            <a:r>
              <a:rPr kumimoji="1" lang="ja-JP" altLang="en-US" sz="2800" dirty="0" smtClean="0"/>
              <a:t>言語の処理系は、</a:t>
            </a:r>
            <a:r>
              <a:rPr kumimoji="1" lang="en-US" altLang="ja-JP" sz="2800" dirty="0" err="1" smtClean="0"/>
              <a:t>limits.h</a:t>
            </a:r>
            <a:r>
              <a:rPr lang="ja-JP" altLang="en-US" sz="2800" dirty="0" smtClean="0"/>
              <a:t>において、</a:t>
            </a:r>
            <a:r>
              <a:rPr kumimoji="1" lang="ja-JP" altLang="en-US" sz="2800" dirty="0" smtClean="0"/>
              <a:t>それぞれの型の最大値、最小値をマクロ</a:t>
            </a:r>
            <a:r>
              <a:rPr lang="ja-JP" altLang="en-US" sz="2800" dirty="0" smtClean="0"/>
              <a:t>として提供する。</a:t>
            </a:r>
            <a:endParaRPr kumimoji="1" lang="ja-JP" altLang="en-US" sz="2800" dirty="0"/>
          </a:p>
        </p:txBody>
      </p:sp>
      <p:sp>
        <p:nvSpPr>
          <p:cNvPr id="6" name="テキスト ボックス 5"/>
          <p:cNvSpPr txBox="1"/>
          <p:nvPr/>
        </p:nvSpPr>
        <p:spPr>
          <a:xfrm>
            <a:off x="500034" y="2643182"/>
            <a:ext cx="8406468" cy="3416320"/>
          </a:xfrm>
          <a:prstGeom prst="rect">
            <a:avLst/>
          </a:prstGeom>
          <a:noFill/>
          <a:ln>
            <a:solidFill>
              <a:schemeClr val="tx1"/>
            </a:solidFill>
          </a:ln>
        </p:spPr>
        <p:txBody>
          <a:bodyPr wrap="none" rtlCol="0">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smtClean="0"/>
              <a:t>#include &lt;</a:t>
            </a:r>
            <a:r>
              <a:rPr lang="en-US" altLang="ja-JP" sz="2400" dirty="0" err="1" smtClean="0"/>
              <a:t>limits.h</a:t>
            </a:r>
            <a:r>
              <a:rPr lang="en-US" altLang="ja-JP" sz="2400" dirty="0" smtClean="0"/>
              <a:t>&gt;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printf</a:t>
            </a:r>
            <a:r>
              <a:rPr lang="en-US" altLang="ja-JP" sz="2400" dirty="0" smtClean="0"/>
              <a:t> ("char   : %d</a:t>
            </a:r>
            <a:r>
              <a:rPr lang="ja-JP" altLang="en-US" sz="2400" dirty="0" smtClean="0"/>
              <a:t>から</a:t>
            </a:r>
            <a:r>
              <a:rPr lang="en-US" altLang="ja-JP" sz="2400" dirty="0" smtClean="0"/>
              <a:t>%d</a:t>
            </a:r>
            <a:r>
              <a:rPr lang="ja-JP" altLang="en-US" sz="2400" dirty="0" smtClean="0"/>
              <a:t>まで</a:t>
            </a:r>
            <a:r>
              <a:rPr lang="en-US" altLang="ja-JP" sz="2400" dirty="0" smtClean="0"/>
              <a:t>\n", CHAR_MIN, CHAR_MAX);</a:t>
            </a:r>
          </a:p>
          <a:p>
            <a:r>
              <a:rPr lang="en-US" altLang="ja-JP" sz="2400" dirty="0" smtClean="0"/>
              <a:t>  </a:t>
            </a:r>
            <a:r>
              <a:rPr lang="en-US" altLang="ja-JP" sz="2400" dirty="0" err="1" smtClean="0"/>
              <a:t>printf</a:t>
            </a:r>
            <a:r>
              <a:rPr lang="en-US" altLang="ja-JP" sz="2400" dirty="0" smtClean="0"/>
              <a:t> (“short </a:t>
            </a:r>
            <a:r>
              <a:rPr lang="ja-JP" altLang="en-US" sz="2400" dirty="0" smtClean="0"/>
              <a:t> </a:t>
            </a:r>
            <a:r>
              <a:rPr lang="en-US" altLang="ja-JP" sz="2400" dirty="0" err="1" smtClean="0"/>
              <a:t>int</a:t>
            </a:r>
            <a:r>
              <a:rPr lang="en-US" altLang="ja-JP" sz="2400" dirty="0" smtClean="0"/>
              <a:t> : %d</a:t>
            </a:r>
            <a:r>
              <a:rPr lang="ja-JP" altLang="en-US" sz="2400" dirty="0" smtClean="0"/>
              <a:t>から</a:t>
            </a:r>
            <a:r>
              <a:rPr lang="en-US" altLang="ja-JP" sz="2400" dirty="0" smtClean="0"/>
              <a:t>%d</a:t>
            </a:r>
            <a:r>
              <a:rPr lang="ja-JP" altLang="en-US" sz="2400" dirty="0" smtClean="0"/>
              <a:t>まで</a:t>
            </a:r>
            <a:r>
              <a:rPr lang="en-US" altLang="ja-JP" sz="2400" dirty="0" smtClean="0"/>
              <a:t>\n", SHRT_MIN, SHRT_MAX);</a:t>
            </a:r>
          </a:p>
          <a:p>
            <a:r>
              <a:rPr lang="en-US" altLang="ja-JP" sz="2400" dirty="0" smtClean="0"/>
              <a:t>  </a:t>
            </a:r>
            <a:r>
              <a:rPr lang="en-US" altLang="ja-JP" sz="2400" dirty="0" err="1" smtClean="0"/>
              <a:t>printf</a:t>
            </a:r>
            <a:r>
              <a:rPr lang="en-US" altLang="ja-JP" sz="2400" dirty="0" smtClean="0"/>
              <a:t> ("</a:t>
            </a:r>
            <a:r>
              <a:rPr lang="en-US" altLang="ja-JP" sz="2400" dirty="0" err="1" smtClean="0"/>
              <a:t>int</a:t>
            </a:r>
            <a:r>
              <a:rPr lang="en-US" altLang="ja-JP" sz="2400" dirty="0" smtClean="0"/>
              <a:t>   : %d</a:t>
            </a:r>
            <a:r>
              <a:rPr lang="ja-JP" altLang="en-US" sz="2400" dirty="0" smtClean="0"/>
              <a:t>から</a:t>
            </a:r>
            <a:r>
              <a:rPr lang="en-US" altLang="ja-JP" sz="2400" dirty="0" smtClean="0"/>
              <a:t>%d</a:t>
            </a:r>
            <a:r>
              <a:rPr lang="ja-JP" altLang="en-US" sz="2400" dirty="0" smtClean="0"/>
              <a:t>まで</a:t>
            </a:r>
            <a:r>
              <a:rPr lang="en-US" altLang="ja-JP" sz="2400" dirty="0" smtClean="0"/>
              <a:t>\n", INT_MIN, INT_MAX);</a:t>
            </a:r>
          </a:p>
          <a:p>
            <a:r>
              <a:rPr lang="en-US" altLang="ja-JP" sz="2400" dirty="0" smtClean="0"/>
              <a:t>  </a:t>
            </a:r>
            <a:r>
              <a:rPr lang="en-US" altLang="ja-JP" sz="2400" dirty="0" err="1" smtClean="0"/>
              <a:t>printf</a:t>
            </a:r>
            <a:r>
              <a:rPr lang="en-US" altLang="ja-JP" sz="2400" dirty="0" smtClean="0"/>
              <a:t> ("long  </a:t>
            </a:r>
            <a:r>
              <a:rPr lang="en-US" altLang="ja-JP" sz="2400" dirty="0" err="1" smtClean="0"/>
              <a:t>int</a:t>
            </a:r>
            <a:r>
              <a:rPr lang="en-US" altLang="ja-JP" sz="2400" dirty="0" smtClean="0"/>
              <a:t>  : %ld</a:t>
            </a:r>
            <a:r>
              <a:rPr lang="ja-JP" altLang="en-US" sz="2400" dirty="0" smtClean="0"/>
              <a:t>から</a:t>
            </a:r>
            <a:r>
              <a:rPr lang="en-US" altLang="ja-JP" sz="2400" dirty="0" smtClean="0"/>
              <a:t>%ld</a:t>
            </a:r>
            <a:r>
              <a:rPr lang="ja-JP" altLang="en-US" sz="2400" dirty="0" smtClean="0"/>
              <a:t>まで</a:t>
            </a:r>
            <a:r>
              <a:rPr lang="en-US" altLang="ja-JP" sz="2400" dirty="0" smtClean="0"/>
              <a:t>\n", LONG_MIN, LONG_MAX);</a:t>
            </a:r>
          </a:p>
          <a:p>
            <a:r>
              <a:rPr lang="en-US" altLang="ja-JP" sz="2400" dirty="0" smtClean="0"/>
              <a:t>  return 0;</a:t>
            </a:r>
          </a:p>
          <a:p>
            <a:r>
              <a:rPr lang="en-US" altLang="ja-JP" sz="2400" dirty="0" smtClean="0"/>
              <a:t>}</a:t>
            </a:r>
            <a:endParaRPr lang="en-US" altLang="ja-JP" sz="2400" dirty="0"/>
          </a:p>
        </p:txBody>
      </p:sp>
      <p:sp>
        <p:nvSpPr>
          <p:cNvPr id="7" name="テキスト ボックス 6"/>
          <p:cNvSpPr txBox="1"/>
          <p:nvPr/>
        </p:nvSpPr>
        <p:spPr>
          <a:xfrm>
            <a:off x="928662" y="6215082"/>
            <a:ext cx="5939318" cy="523220"/>
          </a:xfrm>
          <a:prstGeom prst="rect">
            <a:avLst/>
          </a:prstGeom>
          <a:noFill/>
        </p:spPr>
        <p:txBody>
          <a:bodyPr wrap="none" rtlCol="0">
            <a:spAutoFit/>
          </a:bodyPr>
          <a:lstStyle/>
          <a:p>
            <a:r>
              <a:rPr lang="en-US" altLang="ja-JP" sz="2800" dirty="0" smtClean="0"/>
              <a:t> long </a:t>
            </a:r>
            <a:r>
              <a:rPr lang="en-US" altLang="ja-JP" sz="2800" dirty="0" err="1" smtClean="0"/>
              <a:t>int</a:t>
            </a:r>
            <a:r>
              <a:rPr lang="ja-JP" altLang="en-US" sz="2800" dirty="0" smtClean="0"/>
              <a:t>の変換指定には</a:t>
            </a:r>
            <a:r>
              <a:rPr lang="en-US" altLang="ja-JP" sz="2800" dirty="0" smtClean="0"/>
              <a:t>%ld</a:t>
            </a:r>
            <a:r>
              <a:rPr lang="ja-JP" altLang="en-US" sz="2800" dirty="0" smtClean="0"/>
              <a:t>を用いる。</a:t>
            </a:r>
            <a:endParaRPr kumimoji="1" lang="ja-JP" altLang="en-US" sz="2800"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整数型のまとめ</a:t>
            </a:r>
            <a:endParaRPr kumimoji="1" lang="ja-JP" altLang="en-US" dirty="0"/>
          </a:p>
        </p:txBody>
      </p:sp>
      <p:sp>
        <p:nvSpPr>
          <p:cNvPr id="3" name="コンテンツ プレースホルダ 2"/>
          <p:cNvSpPr>
            <a:spLocks noGrp="1"/>
          </p:cNvSpPr>
          <p:nvPr>
            <p:ph idx="1"/>
          </p:nvPr>
        </p:nvSpPr>
        <p:spPr/>
        <p:txBody>
          <a:bodyPr/>
          <a:lstStyle/>
          <a:p>
            <a:r>
              <a:rPr kumimoji="1" lang="ja-JP" altLang="en-US" dirty="0" smtClean="0"/>
              <a:t>整数型はある一定の範囲の整数を表現するための型である。</a:t>
            </a:r>
            <a:endParaRPr kumimoji="1" lang="en-US" altLang="ja-JP" dirty="0" smtClean="0"/>
          </a:p>
          <a:p>
            <a:r>
              <a:rPr lang="ja-JP" altLang="en-US" dirty="0" smtClean="0"/>
              <a:t>扱う数値が負にならないことが分かっていれば、符号無しの型を使うと、同じビット数で、より大きな範囲の数を扱うことができる。</a:t>
            </a:r>
            <a:endParaRPr lang="en-US" altLang="ja-JP" dirty="0" smtClean="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浮動小数点型</a:t>
            </a:r>
            <a:endParaRPr kumimoji="1" lang="ja-JP" altLang="en-US" dirty="0"/>
          </a:p>
        </p:txBody>
      </p:sp>
      <p:sp>
        <p:nvSpPr>
          <p:cNvPr id="4" name="コンテンツ プレースホルダ 2"/>
          <p:cNvSpPr>
            <a:spLocks noGrp="1"/>
          </p:cNvSpPr>
          <p:nvPr>
            <p:ph idx="1"/>
          </p:nvPr>
        </p:nvSpPr>
        <p:spPr>
          <a:xfrm>
            <a:off x="457200" y="1600201"/>
            <a:ext cx="8258204" cy="2757493"/>
          </a:xfrm>
        </p:spPr>
        <p:txBody>
          <a:bodyPr>
            <a:normAutofit/>
          </a:bodyPr>
          <a:lstStyle/>
          <a:p>
            <a:pPr>
              <a:buNone/>
            </a:pPr>
            <a:r>
              <a:rPr kumimoji="1" lang="ja-JP" altLang="en-US" dirty="0" smtClean="0"/>
              <a:t>浮動小数点型は小数を表すための型であり、</a:t>
            </a:r>
            <a:endParaRPr kumimoji="1" lang="en-US" altLang="ja-JP" dirty="0" smtClean="0"/>
          </a:p>
          <a:p>
            <a:pPr lvl="1"/>
            <a:r>
              <a:rPr lang="en-US" altLang="ja-JP" dirty="0" smtClean="0"/>
              <a:t>float</a:t>
            </a:r>
            <a:r>
              <a:rPr lang="ja-JP" altLang="en-US" dirty="0" smtClean="0"/>
              <a:t>型</a:t>
            </a:r>
            <a:endParaRPr lang="en-US" altLang="ja-JP" dirty="0" smtClean="0"/>
          </a:p>
          <a:p>
            <a:pPr lvl="1"/>
            <a:r>
              <a:rPr lang="en-US" altLang="ja-JP" dirty="0" smtClean="0"/>
              <a:t>double</a:t>
            </a:r>
            <a:r>
              <a:rPr kumimoji="1" lang="ja-JP" altLang="en-US" dirty="0" smtClean="0"/>
              <a:t>型</a:t>
            </a:r>
            <a:endParaRPr kumimoji="1" lang="en-US" altLang="ja-JP" dirty="0" smtClean="0"/>
          </a:p>
          <a:p>
            <a:pPr lvl="1"/>
            <a:r>
              <a:rPr lang="en-US" altLang="ja-JP" dirty="0" smtClean="0"/>
              <a:t>long double</a:t>
            </a:r>
            <a:r>
              <a:rPr lang="ja-JP" altLang="en-US" dirty="0" smtClean="0"/>
              <a:t>型</a:t>
            </a:r>
            <a:endParaRPr lang="en-US" altLang="ja-JP" dirty="0" smtClean="0"/>
          </a:p>
          <a:p>
            <a:pPr>
              <a:buNone/>
            </a:pPr>
            <a:r>
              <a:rPr lang="ja-JP" altLang="en-US" dirty="0" smtClean="0"/>
              <a:t>の３つがある。今回は詳しくは説明しない。</a:t>
            </a:r>
            <a:endParaRPr lang="en-US" altLang="ja-JP" dirty="0" smtClean="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文字列とは（１）</a:t>
            </a:r>
            <a:endParaRPr kumimoji="1" lang="ja-JP" altLang="en-US" dirty="0"/>
          </a:p>
        </p:txBody>
      </p:sp>
      <p:sp>
        <p:nvSpPr>
          <p:cNvPr id="4" name="テキスト ボックス 3"/>
          <p:cNvSpPr txBox="1"/>
          <p:nvPr/>
        </p:nvSpPr>
        <p:spPr>
          <a:xfrm>
            <a:off x="748753" y="1214422"/>
            <a:ext cx="7680899" cy="1200329"/>
          </a:xfrm>
          <a:prstGeom prst="rect">
            <a:avLst/>
          </a:prstGeom>
          <a:noFill/>
        </p:spPr>
        <p:txBody>
          <a:bodyPr wrap="square" rtlCol="0">
            <a:spAutoFit/>
          </a:bodyPr>
          <a:lstStyle/>
          <a:p>
            <a:r>
              <a:rPr lang="ja-JP" altLang="en-US" sz="2400" dirty="0" smtClean="0">
                <a:latin typeface="+mn-ea"/>
              </a:rPr>
              <a:t>文字</a:t>
            </a:r>
            <a:r>
              <a:rPr lang="en-US" altLang="ja-JP" sz="2400" dirty="0" smtClean="0">
                <a:latin typeface="+mn-ea"/>
              </a:rPr>
              <a:t>(char</a:t>
            </a:r>
            <a:r>
              <a:rPr lang="ja-JP" altLang="en-US" sz="2400" dirty="0" smtClean="0">
                <a:latin typeface="+mn-ea"/>
              </a:rPr>
              <a:t>型</a:t>
            </a:r>
            <a:r>
              <a:rPr lang="en-US" altLang="ja-JP" sz="2400" dirty="0" smtClean="0">
                <a:latin typeface="+mn-ea"/>
              </a:rPr>
              <a:t>)</a:t>
            </a:r>
            <a:r>
              <a:rPr lang="ja-JP" altLang="en-US" sz="2400" dirty="0" smtClean="0">
                <a:latin typeface="+mn-ea"/>
              </a:rPr>
              <a:t>の並びであって、</a:t>
            </a:r>
            <a:r>
              <a:rPr lang="en-US" altLang="ja-JP" sz="2400" dirty="0" smtClean="0">
                <a:latin typeface="+mn-ea"/>
              </a:rPr>
              <a:t>‘\0’(</a:t>
            </a:r>
            <a:r>
              <a:rPr lang="ja-JP" altLang="en-US" sz="2400" dirty="0" smtClean="0">
                <a:latin typeface="+mn-ea"/>
              </a:rPr>
              <a:t>ヌル文字 </a:t>
            </a:r>
            <a:r>
              <a:rPr lang="en-US" altLang="ja-JP" sz="2400" dirty="0" smtClean="0">
                <a:latin typeface="+mn-ea"/>
              </a:rPr>
              <a:t>null character</a:t>
            </a:r>
            <a:r>
              <a:rPr lang="ja-JP" altLang="en-US" sz="2400" dirty="0" err="1" smtClean="0">
                <a:latin typeface="+mn-ea"/>
              </a:rPr>
              <a:t>、</a:t>
            </a:r>
            <a:r>
              <a:rPr lang="ja-JP" altLang="en-US" sz="2400" dirty="0" smtClean="0">
                <a:latin typeface="+mn-ea"/>
              </a:rPr>
              <a:t>値は</a:t>
            </a:r>
            <a:r>
              <a:rPr lang="en-US" altLang="ja-JP" sz="2400" dirty="0" smtClean="0">
                <a:latin typeface="+mn-ea"/>
              </a:rPr>
              <a:t>0</a:t>
            </a:r>
            <a:r>
              <a:rPr lang="ja-JP" altLang="en-US" sz="2400" dirty="0" err="1" smtClean="0">
                <a:latin typeface="+mn-ea"/>
              </a:rPr>
              <a:t>。</a:t>
            </a:r>
            <a:r>
              <a:rPr lang="ja-JP" altLang="en-US" sz="2400" dirty="0" smtClean="0">
                <a:latin typeface="+mn-ea"/>
              </a:rPr>
              <a:t>ナル文字と読む場合もある。</a:t>
            </a:r>
            <a:r>
              <a:rPr lang="en-US" altLang="ja-JP" sz="2400" dirty="0" smtClean="0">
                <a:latin typeface="+mn-ea"/>
              </a:rPr>
              <a:t>)</a:t>
            </a:r>
            <a:r>
              <a:rPr lang="ja-JP" altLang="en-US" sz="2400" dirty="0" err="1" smtClean="0">
                <a:latin typeface="+mn-ea"/>
              </a:rPr>
              <a:t>までを</a:t>
            </a:r>
            <a:r>
              <a:rPr lang="ja-JP" altLang="en-US" sz="2400" dirty="0" smtClean="0">
                <a:latin typeface="+mn-ea"/>
              </a:rPr>
              <a:t>文字列と呼んでいる。</a:t>
            </a:r>
            <a:endParaRPr kumimoji="1" lang="ja-JP" altLang="en-US" sz="2400" dirty="0">
              <a:latin typeface="+mn-ea"/>
            </a:endParaRPr>
          </a:p>
        </p:txBody>
      </p:sp>
      <p:graphicFrame>
        <p:nvGraphicFramePr>
          <p:cNvPr id="6" name="表 5"/>
          <p:cNvGraphicFramePr>
            <a:graphicFrameLocks noGrp="1"/>
          </p:cNvGraphicFramePr>
          <p:nvPr/>
        </p:nvGraphicFramePr>
        <p:xfrm>
          <a:off x="1285852" y="2576514"/>
          <a:ext cx="4959840" cy="709610"/>
        </p:xfrm>
        <a:graphic>
          <a:graphicData uri="http://schemas.openxmlformats.org/drawingml/2006/table">
            <a:tbl>
              <a:tblPr firstRow="1" bandRow="1">
                <a:tableStyleId>{00A15C55-8517-42AA-B614-E9B94910E393}</a:tableStyleId>
              </a:tblPr>
              <a:tblGrid>
                <a:gridCol w="826640"/>
                <a:gridCol w="826640"/>
                <a:gridCol w="826640"/>
                <a:gridCol w="826640"/>
                <a:gridCol w="826640"/>
                <a:gridCol w="826640"/>
              </a:tblGrid>
              <a:tr h="709610">
                <a:tc>
                  <a:txBody>
                    <a:bodyPr/>
                    <a:lstStyle/>
                    <a:p>
                      <a:pPr algn="ctr"/>
                      <a:r>
                        <a:rPr kumimoji="1" lang="en-US" altLang="ja-JP" sz="3200" b="0" dirty="0" smtClean="0">
                          <a:solidFill>
                            <a:sysClr val="windowText" lastClr="000000"/>
                          </a:solidFill>
                        </a:rPr>
                        <a:t>‘L’</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a:t>
                      </a:r>
                      <a:r>
                        <a:rPr kumimoji="1" lang="en-US" altLang="ja-JP" sz="3200" b="0" dirty="0" err="1" smtClean="0">
                          <a:solidFill>
                            <a:sysClr val="windowText" lastClr="000000"/>
                          </a:solidFill>
                        </a:rPr>
                        <a:t>i</a:t>
                      </a:r>
                      <a:r>
                        <a:rPr kumimoji="1" lang="en-US" altLang="ja-JP" sz="3200" b="0" dirty="0" smtClean="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‘n’</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‘u’</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‘x’</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graphicFrame>
        <p:nvGraphicFramePr>
          <p:cNvPr id="8" name="表 7"/>
          <p:cNvGraphicFramePr>
            <a:graphicFrameLocks noGrp="1"/>
          </p:cNvGraphicFramePr>
          <p:nvPr/>
        </p:nvGraphicFramePr>
        <p:xfrm>
          <a:off x="1285854" y="3505208"/>
          <a:ext cx="5813269" cy="714380"/>
        </p:xfrm>
        <a:graphic>
          <a:graphicData uri="http://schemas.openxmlformats.org/drawingml/2006/table">
            <a:tbl>
              <a:tblPr firstRow="1" bandRow="1">
                <a:tableStyleId>{00A15C55-8517-42AA-B614-E9B94910E393}</a:tableStyleId>
              </a:tblPr>
              <a:tblGrid>
                <a:gridCol w="830467"/>
                <a:gridCol w="830467"/>
                <a:gridCol w="830467"/>
                <a:gridCol w="830467"/>
                <a:gridCol w="830467"/>
                <a:gridCol w="830467"/>
                <a:gridCol w="830467"/>
              </a:tblGrid>
              <a:tr h="714380">
                <a:tc>
                  <a:txBody>
                    <a:bodyPr/>
                    <a:lstStyle/>
                    <a:p>
                      <a:pPr algn="ctr"/>
                      <a:r>
                        <a:rPr kumimoji="1" lang="en-US" altLang="ja-JP" sz="3200" b="0" dirty="0" smtClean="0">
                          <a:solidFill>
                            <a:sysClr val="windowText" lastClr="000000"/>
                          </a:solidFill>
                        </a:rPr>
                        <a:t>‘L’</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a:t>
                      </a:r>
                      <a:r>
                        <a:rPr kumimoji="1" lang="en-US" altLang="ja-JP" sz="3200" b="0" dirty="0" err="1" smtClean="0">
                          <a:solidFill>
                            <a:sysClr val="windowText" lastClr="000000"/>
                          </a:solidFill>
                        </a:rPr>
                        <a:t>i</a:t>
                      </a:r>
                      <a:r>
                        <a:rPr kumimoji="1" lang="en-US" altLang="ja-JP" sz="3200" b="0" dirty="0" smtClean="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‘n’</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‘u’</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‘x’</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graphicFrame>
        <p:nvGraphicFramePr>
          <p:cNvPr id="10" name="表 9"/>
          <p:cNvGraphicFramePr>
            <a:graphicFrameLocks noGrp="1"/>
          </p:cNvGraphicFramePr>
          <p:nvPr/>
        </p:nvGraphicFramePr>
        <p:xfrm>
          <a:off x="1285852" y="4505340"/>
          <a:ext cx="6643736" cy="709610"/>
        </p:xfrm>
        <a:graphic>
          <a:graphicData uri="http://schemas.openxmlformats.org/drawingml/2006/table">
            <a:tbl>
              <a:tblPr firstRow="1" bandRow="1">
                <a:tableStyleId>{00A15C55-8517-42AA-B614-E9B94910E393}</a:tableStyleId>
              </a:tblPr>
              <a:tblGrid>
                <a:gridCol w="830467"/>
                <a:gridCol w="830467"/>
                <a:gridCol w="830467"/>
                <a:gridCol w="830467"/>
                <a:gridCol w="830467"/>
                <a:gridCol w="830467"/>
                <a:gridCol w="830467"/>
                <a:gridCol w="830467"/>
              </a:tblGrid>
              <a:tr h="709610">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‘L’</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a:t>
                      </a:r>
                      <a:r>
                        <a:rPr kumimoji="1" lang="en-US" altLang="ja-JP" sz="3200" b="0" dirty="0" err="1" smtClean="0">
                          <a:solidFill>
                            <a:sysClr val="windowText" lastClr="000000"/>
                          </a:solidFill>
                        </a:rPr>
                        <a:t>i</a:t>
                      </a:r>
                      <a:r>
                        <a:rPr kumimoji="1" lang="en-US" altLang="ja-JP" sz="3200" b="0" dirty="0" smtClean="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‘n’</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‘u’</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‘x’</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11" name="テキスト ボックス 10"/>
          <p:cNvSpPr txBox="1"/>
          <p:nvPr/>
        </p:nvSpPr>
        <p:spPr>
          <a:xfrm>
            <a:off x="971600" y="5517232"/>
            <a:ext cx="7100862" cy="830997"/>
          </a:xfrm>
          <a:prstGeom prst="rect">
            <a:avLst/>
          </a:prstGeom>
          <a:noFill/>
        </p:spPr>
        <p:txBody>
          <a:bodyPr wrap="square" rtlCol="0">
            <a:spAutoFit/>
          </a:bodyPr>
          <a:lstStyle/>
          <a:p>
            <a:r>
              <a:rPr kumimoji="1" lang="ja-JP" altLang="en-US" sz="2400" dirty="0" smtClean="0"/>
              <a:t>これらは文字</a:t>
            </a:r>
            <a:r>
              <a:rPr kumimoji="1" lang="en-US" altLang="ja-JP" sz="2400" dirty="0" smtClean="0"/>
              <a:t>(char</a:t>
            </a:r>
            <a:r>
              <a:rPr kumimoji="1" lang="ja-JP" altLang="en-US" sz="2400" dirty="0" smtClean="0"/>
              <a:t>型</a:t>
            </a:r>
            <a:r>
              <a:rPr kumimoji="1" lang="en-US" altLang="ja-JP" sz="2400" dirty="0" smtClean="0"/>
              <a:t>)</a:t>
            </a:r>
            <a:r>
              <a:rPr kumimoji="1" lang="ja-JP" altLang="en-US" sz="2400" dirty="0" smtClean="0"/>
              <a:t>の並びである。</a:t>
            </a:r>
            <a:r>
              <a:rPr lang="ja-JP" altLang="en-US" sz="2400" dirty="0" smtClean="0"/>
              <a:t>文字列は、文字の並びの中で、</a:t>
            </a:r>
            <a:r>
              <a:rPr lang="en-US" altLang="ja-JP" sz="2400" dirty="0" smtClean="0"/>
              <a:t>’\0’</a:t>
            </a:r>
            <a:r>
              <a:rPr lang="ja-JP" altLang="en-US" sz="2400" dirty="0" smtClean="0"/>
              <a:t>が最後（だけ）にあるものである。</a:t>
            </a:r>
            <a:endParaRPr kumimoji="1" lang="en-US" altLang="ja-JP" sz="2400" dirty="0" smtClean="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文字列とは（２）</a:t>
            </a:r>
            <a:endParaRPr kumimoji="1" lang="ja-JP" altLang="en-US" dirty="0"/>
          </a:p>
        </p:txBody>
      </p:sp>
      <p:graphicFrame>
        <p:nvGraphicFramePr>
          <p:cNvPr id="8" name="表 7"/>
          <p:cNvGraphicFramePr>
            <a:graphicFrameLocks noGrp="1"/>
          </p:cNvGraphicFramePr>
          <p:nvPr/>
        </p:nvGraphicFramePr>
        <p:xfrm>
          <a:off x="1142976" y="1500174"/>
          <a:ext cx="5813269" cy="714380"/>
        </p:xfrm>
        <a:graphic>
          <a:graphicData uri="http://schemas.openxmlformats.org/drawingml/2006/table">
            <a:tbl>
              <a:tblPr firstRow="1" bandRow="1">
                <a:tableStyleId>{00A15C55-8517-42AA-B614-E9B94910E393}</a:tableStyleId>
              </a:tblPr>
              <a:tblGrid>
                <a:gridCol w="830467"/>
                <a:gridCol w="830467"/>
                <a:gridCol w="830467"/>
                <a:gridCol w="830467"/>
                <a:gridCol w="830467"/>
                <a:gridCol w="830467"/>
                <a:gridCol w="830467"/>
              </a:tblGrid>
              <a:tr h="714380">
                <a:tc>
                  <a:txBody>
                    <a:bodyPr/>
                    <a:lstStyle/>
                    <a:p>
                      <a:pPr algn="ctr"/>
                      <a:r>
                        <a:rPr kumimoji="1" lang="en-US" altLang="ja-JP" sz="3200" b="0" dirty="0" smtClean="0">
                          <a:solidFill>
                            <a:sysClr val="windowText" lastClr="000000"/>
                          </a:solidFill>
                        </a:rPr>
                        <a:t>‘L’</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a:t>
                      </a:r>
                      <a:r>
                        <a:rPr kumimoji="1" lang="en-US" altLang="ja-JP" sz="3200" b="0" dirty="0" err="1" smtClean="0">
                          <a:solidFill>
                            <a:sysClr val="windowText" lastClr="000000"/>
                          </a:solidFill>
                        </a:rPr>
                        <a:t>i</a:t>
                      </a:r>
                      <a:r>
                        <a:rPr kumimoji="1" lang="en-US" altLang="ja-JP" sz="3200" b="0" dirty="0" smtClean="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‘n’</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‘u’</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‘x’</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9" name="テキスト ボックス 8"/>
          <p:cNvSpPr txBox="1"/>
          <p:nvPr/>
        </p:nvSpPr>
        <p:spPr>
          <a:xfrm>
            <a:off x="1142976" y="2857496"/>
            <a:ext cx="3623108" cy="461665"/>
          </a:xfrm>
          <a:prstGeom prst="rect">
            <a:avLst/>
          </a:prstGeom>
          <a:noFill/>
        </p:spPr>
        <p:txBody>
          <a:bodyPr wrap="none" rtlCol="0">
            <a:spAutoFit/>
          </a:bodyPr>
          <a:lstStyle/>
          <a:p>
            <a:r>
              <a:rPr kumimoji="1" lang="ja-JP" altLang="en-US" sz="2400" dirty="0" smtClean="0"/>
              <a:t>この</a:t>
            </a:r>
            <a:r>
              <a:rPr lang="ja-JP" altLang="en-US" sz="2400" dirty="0" smtClean="0"/>
              <a:t>部分は文字列である。</a:t>
            </a:r>
            <a:endParaRPr kumimoji="1" lang="ja-JP" altLang="en-US" sz="2400" dirty="0"/>
          </a:p>
        </p:txBody>
      </p:sp>
      <p:sp>
        <p:nvSpPr>
          <p:cNvPr id="12" name="右中かっこ 11"/>
          <p:cNvSpPr/>
          <p:nvPr/>
        </p:nvSpPr>
        <p:spPr>
          <a:xfrm rot="16200000" flipH="1">
            <a:off x="2536019" y="964391"/>
            <a:ext cx="571505" cy="3214709"/>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dirty="0"/>
          </a:p>
        </p:txBody>
      </p:sp>
      <p:graphicFrame>
        <p:nvGraphicFramePr>
          <p:cNvPr id="13" name="表 12"/>
          <p:cNvGraphicFramePr>
            <a:graphicFrameLocks noGrp="1"/>
          </p:cNvGraphicFramePr>
          <p:nvPr/>
        </p:nvGraphicFramePr>
        <p:xfrm>
          <a:off x="1071538" y="3571876"/>
          <a:ext cx="5813269" cy="714380"/>
        </p:xfrm>
        <a:graphic>
          <a:graphicData uri="http://schemas.openxmlformats.org/drawingml/2006/table">
            <a:tbl>
              <a:tblPr firstRow="1" bandRow="1">
                <a:tableStyleId>{00A15C55-8517-42AA-B614-E9B94910E393}</a:tableStyleId>
              </a:tblPr>
              <a:tblGrid>
                <a:gridCol w="830467"/>
                <a:gridCol w="830467"/>
                <a:gridCol w="830467"/>
                <a:gridCol w="830467"/>
                <a:gridCol w="830467"/>
                <a:gridCol w="830467"/>
                <a:gridCol w="830467"/>
              </a:tblGrid>
              <a:tr h="714380">
                <a:tc>
                  <a:txBody>
                    <a:bodyPr/>
                    <a:lstStyle/>
                    <a:p>
                      <a:pPr algn="ctr"/>
                      <a:r>
                        <a:rPr kumimoji="1" lang="en-US" altLang="ja-JP" sz="3200" b="0" dirty="0" smtClean="0">
                          <a:solidFill>
                            <a:sysClr val="windowText" lastClr="000000"/>
                          </a:solidFill>
                        </a:rPr>
                        <a:t>‘L’</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a:t>
                      </a:r>
                      <a:r>
                        <a:rPr kumimoji="1" lang="en-US" altLang="ja-JP" sz="3200" b="0" dirty="0" err="1" smtClean="0">
                          <a:solidFill>
                            <a:sysClr val="windowText" lastClr="000000"/>
                          </a:solidFill>
                        </a:rPr>
                        <a:t>i</a:t>
                      </a:r>
                      <a:r>
                        <a:rPr kumimoji="1" lang="en-US" altLang="ja-JP" sz="3200" b="0" dirty="0" smtClean="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‘n’</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‘u’</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‘x’</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14" name="テキスト ボックス 13"/>
          <p:cNvSpPr txBox="1"/>
          <p:nvPr/>
        </p:nvSpPr>
        <p:spPr>
          <a:xfrm>
            <a:off x="1643042" y="4929198"/>
            <a:ext cx="3563796" cy="461665"/>
          </a:xfrm>
          <a:prstGeom prst="rect">
            <a:avLst/>
          </a:prstGeom>
          <a:noFill/>
        </p:spPr>
        <p:txBody>
          <a:bodyPr wrap="none" rtlCol="0">
            <a:spAutoFit/>
          </a:bodyPr>
          <a:lstStyle/>
          <a:p>
            <a:r>
              <a:rPr kumimoji="1" lang="ja-JP" altLang="en-US" sz="2400" dirty="0" smtClean="0"/>
              <a:t>この</a:t>
            </a:r>
            <a:r>
              <a:rPr lang="ja-JP" altLang="en-US" sz="2400" dirty="0" smtClean="0"/>
              <a:t>部分も文字列である。</a:t>
            </a:r>
            <a:endParaRPr kumimoji="1" lang="ja-JP" altLang="en-US" sz="2400" dirty="0"/>
          </a:p>
        </p:txBody>
      </p:sp>
      <p:sp>
        <p:nvSpPr>
          <p:cNvPr id="15" name="右中かっこ 14"/>
          <p:cNvSpPr/>
          <p:nvPr/>
        </p:nvSpPr>
        <p:spPr>
          <a:xfrm rot="16200000" flipH="1">
            <a:off x="2893210" y="3393281"/>
            <a:ext cx="500066" cy="2428892"/>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dirty="0"/>
          </a:p>
        </p:txBody>
      </p:sp>
      <p:sp>
        <p:nvSpPr>
          <p:cNvPr id="16" name="テキスト ボックス 15"/>
          <p:cNvSpPr txBox="1"/>
          <p:nvPr/>
        </p:nvSpPr>
        <p:spPr>
          <a:xfrm>
            <a:off x="1500166" y="5643578"/>
            <a:ext cx="6072230" cy="830997"/>
          </a:xfrm>
          <a:prstGeom prst="rect">
            <a:avLst/>
          </a:prstGeom>
          <a:noFill/>
        </p:spPr>
        <p:txBody>
          <a:bodyPr wrap="square" rtlCol="0">
            <a:spAutoFit/>
          </a:bodyPr>
          <a:lstStyle/>
          <a:p>
            <a:r>
              <a:rPr kumimoji="1" lang="ja-JP" altLang="en-US" sz="2400" dirty="0" smtClean="0"/>
              <a:t>一番右端が</a:t>
            </a:r>
            <a:r>
              <a:rPr kumimoji="1" lang="en-US" altLang="ja-JP" sz="2400" dirty="0" smtClean="0"/>
              <a:t>’\0’</a:t>
            </a:r>
            <a:r>
              <a:rPr kumimoji="1" lang="ja-JP" altLang="en-US" sz="2400" dirty="0" smtClean="0"/>
              <a:t>であり、それ以外に</a:t>
            </a:r>
            <a:r>
              <a:rPr kumimoji="1" lang="en-US" altLang="ja-JP" sz="2400" dirty="0" smtClean="0"/>
              <a:t>’\0’</a:t>
            </a:r>
            <a:r>
              <a:rPr kumimoji="1" lang="ja-JP" altLang="en-US" sz="2400" dirty="0" smtClean="0"/>
              <a:t>を含んでいなければそれは文字列である。</a:t>
            </a:r>
            <a:endParaRPr kumimoji="1" lang="ja-JP" altLang="en-US" sz="2400"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文字列とは（</a:t>
            </a:r>
            <a:r>
              <a:rPr lang="ja-JP" altLang="en-US" dirty="0" smtClean="0"/>
              <a:t>３</a:t>
            </a:r>
            <a:r>
              <a:rPr kumimoji="1" lang="ja-JP" altLang="en-US" dirty="0" smtClean="0"/>
              <a:t>）</a:t>
            </a:r>
            <a:endParaRPr kumimoji="1" lang="ja-JP" altLang="en-US" dirty="0"/>
          </a:p>
        </p:txBody>
      </p:sp>
      <p:graphicFrame>
        <p:nvGraphicFramePr>
          <p:cNvPr id="8" name="表 7"/>
          <p:cNvGraphicFramePr>
            <a:graphicFrameLocks noGrp="1"/>
          </p:cNvGraphicFramePr>
          <p:nvPr/>
        </p:nvGraphicFramePr>
        <p:xfrm>
          <a:off x="1142976" y="1500174"/>
          <a:ext cx="5813269" cy="714380"/>
        </p:xfrm>
        <a:graphic>
          <a:graphicData uri="http://schemas.openxmlformats.org/drawingml/2006/table">
            <a:tbl>
              <a:tblPr firstRow="1" bandRow="1">
                <a:tableStyleId>{00A15C55-8517-42AA-B614-E9B94910E393}</a:tableStyleId>
              </a:tblPr>
              <a:tblGrid>
                <a:gridCol w="830467"/>
                <a:gridCol w="830467"/>
                <a:gridCol w="830467"/>
                <a:gridCol w="830467"/>
                <a:gridCol w="830467"/>
                <a:gridCol w="830467"/>
                <a:gridCol w="830467"/>
              </a:tblGrid>
              <a:tr h="714380">
                <a:tc>
                  <a:txBody>
                    <a:bodyPr/>
                    <a:lstStyle/>
                    <a:p>
                      <a:pPr algn="ctr"/>
                      <a:r>
                        <a:rPr kumimoji="1" lang="en-US" altLang="ja-JP" sz="3200" b="0" dirty="0" smtClean="0">
                          <a:solidFill>
                            <a:sysClr val="windowText" lastClr="000000"/>
                          </a:solidFill>
                        </a:rPr>
                        <a:t>‘L’</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a:t>
                      </a:r>
                      <a:r>
                        <a:rPr kumimoji="1" lang="en-US" altLang="ja-JP" sz="3200" b="0" dirty="0" err="1" smtClean="0">
                          <a:solidFill>
                            <a:sysClr val="windowText" lastClr="000000"/>
                          </a:solidFill>
                        </a:rPr>
                        <a:t>i</a:t>
                      </a:r>
                      <a:r>
                        <a:rPr kumimoji="1" lang="en-US" altLang="ja-JP" sz="3200" b="0" dirty="0" smtClean="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‘n’</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‘u’</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‘x’</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9" name="テキスト ボックス 8"/>
          <p:cNvSpPr txBox="1"/>
          <p:nvPr/>
        </p:nvSpPr>
        <p:spPr>
          <a:xfrm>
            <a:off x="1643042" y="2857496"/>
            <a:ext cx="5907386" cy="461665"/>
          </a:xfrm>
          <a:prstGeom prst="rect">
            <a:avLst/>
          </a:prstGeom>
          <a:noFill/>
        </p:spPr>
        <p:txBody>
          <a:bodyPr wrap="none" rtlCol="0">
            <a:spAutoFit/>
          </a:bodyPr>
          <a:lstStyle/>
          <a:p>
            <a:r>
              <a:rPr kumimoji="1" lang="ja-JP" altLang="en-US" sz="2400" dirty="0" smtClean="0"/>
              <a:t>この</a:t>
            </a:r>
            <a:r>
              <a:rPr lang="ja-JP" altLang="en-US" sz="2400" dirty="0" smtClean="0"/>
              <a:t>部分は文字列である（空文字列という）。</a:t>
            </a:r>
            <a:endParaRPr kumimoji="1" lang="ja-JP" altLang="en-US" sz="2400" dirty="0"/>
          </a:p>
        </p:txBody>
      </p:sp>
      <p:sp>
        <p:nvSpPr>
          <p:cNvPr id="12" name="右中かっこ 11"/>
          <p:cNvSpPr/>
          <p:nvPr/>
        </p:nvSpPr>
        <p:spPr>
          <a:xfrm rot="16200000" flipH="1">
            <a:off x="3750463" y="2178837"/>
            <a:ext cx="571506" cy="785818"/>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dirty="0"/>
          </a:p>
        </p:txBody>
      </p:sp>
      <p:graphicFrame>
        <p:nvGraphicFramePr>
          <p:cNvPr id="13" name="表 12"/>
          <p:cNvGraphicFramePr>
            <a:graphicFrameLocks noGrp="1"/>
          </p:cNvGraphicFramePr>
          <p:nvPr/>
        </p:nvGraphicFramePr>
        <p:xfrm>
          <a:off x="1071538" y="3571876"/>
          <a:ext cx="5813269" cy="714380"/>
        </p:xfrm>
        <a:graphic>
          <a:graphicData uri="http://schemas.openxmlformats.org/drawingml/2006/table">
            <a:tbl>
              <a:tblPr firstRow="1" bandRow="1">
                <a:tableStyleId>{00A15C55-8517-42AA-B614-E9B94910E393}</a:tableStyleId>
              </a:tblPr>
              <a:tblGrid>
                <a:gridCol w="830467"/>
                <a:gridCol w="830467"/>
                <a:gridCol w="830467"/>
                <a:gridCol w="830467"/>
                <a:gridCol w="830467"/>
                <a:gridCol w="830467"/>
                <a:gridCol w="830467"/>
              </a:tblGrid>
              <a:tr h="714380">
                <a:tc>
                  <a:txBody>
                    <a:bodyPr/>
                    <a:lstStyle/>
                    <a:p>
                      <a:pPr algn="ctr"/>
                      <a:r>
                        <a:rPr kumimoji="1" lang="en-US" altLang="ja-JP" sz="3200" b="0" dirty="0" smtClean="0">
                          <a:solidFill>
                            <a:sysClr val="windowText" lastClr="000000"/>
                          </a:solidFill>
                        </a:rPr>
                        <a:t>‘L’</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a:t>
                      </a:r>
                      <a:r>
                        <a:rPr kumimoji="1" lang="en-US" altLang="ja-JP" sz="3200" b="0" dirty="0" err="1" smtClean="0">
                          <a:solidFill>
                            <a:sysClr val="windowText" lastClr="000000"/>
                          </a:solidFill>
                        </a:rPr>
                        <a:t>i</a:t>
                      </a:r>
                      <a:r>
                        <a:rPr kumimoji="1" lang="en-US" altLang="ja-JP" sz="3200" b="0" dirty="0" smtClean="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‘n’</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‘u’</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‘x’</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14" name="テキスト ボックス 13"/>
          <p:cNvSpPr txBox="1"/>
          <p:nvPr/>
        </p:nvSpPr>
        <p:spPr>
          <a:xfrm>
            <a:off x="3865724" y="5000636"/>
            <a:ext cx="3563796" cy="461665"/>
          </a:xfrm>
          <a:prstGeom prst="rect">
            <a:avLst/>
          </a:prstGeom>
          <a:noFill/>
        </p:spPr>
        <p:txBody>
          <a:bodyPr wrap="none" rtlCol="0">
            <a:spAutoFit/>
          </a:bodyPr>
          <a:lstStyle/>
          <a:p>
            <a:r>
              <a:rPr kumimoji="1" lang="ja-JP" altLang="en-US" sz="2400" dirty="0" smtClean="0"/>
              <a:t>この</a:t>
            </a:r>
            <a:r>
              <a:rPr lang="ja-JP" altLang="en-US" sz="2400" dirty="0" smtClean="0"/>
              <a:t>部分も文字列である。</a:t>
            </a:r>
            <a:endParaRPr kumimoji="1" lang="ja-JP" altLang="en-US" sz="2400" dirty="0"/>
          </a:p>
        </p:txBody>
      </p:sp>
      <p:sp>
        <p:nvSpPr>
          <p:cNvPr id="15" name="右中かっこ 14"/>
          <p:cNvSpPr/>
          <p:nvPr/>
        </p:nvSpPr>
        <p:spPr>
          <a:xfrm rot="16200000" flipH="1">
            <a:off x="5393537" y="3464719"/>
            <a:ext cx="500066" cy="2428892"/>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dirty="0"/>
          </a:p>
        </p:txBody>
      </p:sp>
      <p:sp>
        <p:nvSpPr>
          <p:cNvPr id="16" name="テキスト ボックス 15"/>
          <p:cNvSpPr txBox="1"/>
          <p:nvPr/>
        </p:nvSpPr>
        <p:spPr>
          <a:xfrm>
            <a:off x="1500166" y="5643578"/>
            <a:ext cx="6072230" cy="830997"/>
          </a:xfrm>
          <a:prstGeom prst="rect">
            <a:avLst/>
          </a:prstGeom>
          <a:noFill/>
        </p:spPr>
        <p:txBody>
          <a:bodyPr wrap="square" rtlCol="0">
            <a:spAutoFit/>
          </a:bodyPr>
          <a:lstStyle/>
          <a:p>
            <a:r>
              <a:rPr kumimoji="1" lang="ja-JP" altLang="en-US" sz="2400" dirty="0" smtClean="0"/>
              <a:t>一番右端が</a:t>
            </a:r>
            <a:r>
              <a:rPr kumimoji="1" lang="en-US" altLang="ja-JP" sz="2400" dirty="0" smtClean="0"/>
              <a:t>’\0’</a:t>
            </a:r>
            <a:r>
              <a:rPr kumimoji="1" lang="ja-JP" altLang="en-US" sz="2400" dirty="0" smtClean="0"/>
              <a:t>であり、それ以外に</a:t>
            </a:r>
            <a:r>
              <a:rPr kumimoji="1" lang="en-US" altLang="ja-JP" sz="2400" dirty="0" smtClean="0"/>
              <a:t>’\0’</a:t>
            </a:r>
            <a:r>
              <a:rPr kumimoji="1" lang="ja-JP" altLang="en-US" sz="2400" dirty="0" smtClean="0"/>
              <a:t>を含んでいなければそれは文字列である。</a:t>
            </a:r>
            <a:endParaRPr kumimoji="1" lang="ja-JP" altLang="en-US" sz="2400"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c</a:t>
            </a:r>
            <a:r>
              <a:rPr kumimoji="1" lang="en-US" altLang="ja-JP" dirty="0" smtClean="0"/>
              <a:t>har</a:t>
            </a:r>
            <a:r>
              <a:rPr kumimoji="1" lang="ja-JP" altLang="en-US" dirty="0" smtClean="0"/>
              <a:t>型の配列</a:t>
            </a:r>
            <a:endParaRPr kumimoji="1" lang="ja-JP" altLang="en-US" dirty="0"/>
          </a:p>
        </p:txBody>
      </p:sp>
      <p:sp>
        <p:nvSpPr>
          <p:cNvPr id="4" name="テキスト ボックス 3"/>
          <p:cNvSpPr txBox="1"/>
          <p:nvPr/>
        </p:nvSpPr>
        <p:spPr>
          <a:xfrm>
            <a:off x="928662" y="1571612"/>
            <a:ext cx="7072361" cy="3108543"/>
          </a:xfrm>
          <a:prstGeom prst="rect">
            <a:avLst/>
          </a:prstGeom>
          <a:noFill/>
        </p:spPr>
        <p:txBody>
          <a:bodyPr wrap="square" rtlCol="0">
            <a:spAutoFit/>
          </a:bodyPr>
          <a:lstStyle/>
          <a:p>
            <a:r>
              <a:rPr lang="ja-JP" altLang="en-US" sz="2800" dirty="0" smtClean="0"/>
              <a:t>文字列は</a:t>
            </a:r>
            <a:r>
              <a:rPr lang="en-US" altLang="ja-JP" sz="2800" dirty="0" smtClean="0"/>
              <a:t>char</a:t>
            </a:r>
            <a:r>
              <a:rPr lang="ja-JP" altLang="en-US" sz="2800" dirty="0" smtClean="0"/>
              <a:t>型の配列を宣言し、各要素に文字を１文字ずつ格納して最後にヌル文字を格納することによって作成できる。</a:t>
            </a:r>
            <a:endParaRPr lang="en-US" altLang="ja-JP" sz="2800" dirty="0" smtClean="0"/>
          </a:p>
          <a:p>
            <a:r>
              <a:rPr lang="en-US" altLang="ja-JP" sz="2800" dirty="0" smtClean="0"/>
              <a:t>char</a:t>
            </a:r>
            <a:r>
              <a:rPr lang="ja-JP" altLang="en-US" sz="2800" dirty="0" smtClean="0"/>
              <a:t>型の配列型の変数は</a:t>
            </a:r>
            <a:endParaRPr lang="en-US" altLang="ja-JP" sz="2800" dirty="0" smtClean="0"/>
          </a:p>
          <a:p>
            <a:r>
              <a:rPr kumimoji="1" lang="en-US" altLang="ja-JP" sz="2800" dirty="0" smtClean="0"/>
              <a:t>    char a [7];</a:t>
            </a:r>
          </a:p>
          <a:p>
            <a:r>
              <a:rPr lang="ja-JP" altLang="en-US" sz="2800" dirty="0" err="1" smtClean="0"/>
              <a:t>のように</a:t>
            </a:r>
            <a:r>
              <a:rPr lang="ja-JP" altLang="en-US" sz="2800" dirty="0" smtClean="0"/>
              <a:t>宣言する。これは</a:t>
            </a:r>
            <a:r>
              <a:rPr lang="en-US" altLang="ja-JP" sz="2800" dirty="0" smtClean="0"/>
              <a:t>char</a:t>
            </a:r>
            <a:r>
              <a:rPr lang="ja-JP" altLang="en-US" sz="2800" dirty="0" smtClean="0"/>
              <a:t>型の要素を</a:t>
            </a:r>
            <a:r>
              <a:rPr lang="en-US" altLang="ja-JP" sz="2800" dirty="0" smtClean="0"/>
              <a:t>7</a:t>
            </a:r>
            <a:r>
              <a:rPr lang="ja-JP" altLang="en-US" sz="2800" dirty="0" smtClean="0"/>
              <a:t>個持つ配列</a:t>
            </a:r>
            <a:r>
              <a:rPr lang="en-US" altLang="ja-JP" sz="2800" dirty="0" smtClean="0"/>
              <a:t>a</a:t>
            </a:r>
            <a:r>
              <a:rPr lang="ja-JP" altLang="en-US" sz="2800" dirty="0" smtClean="0"/>
              <a:t>を宣言している。</a:t>
            </a:r>
            <a:endParaRPr kumimoji="1" lang="ja-JP" altLang="en-US" sz="2800"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4"/>
            <a:ext cx="8258204" cy="1143008"/>
          </a:xfrm>
        </p:spPr>
        <p:txBody>
          <a:bodyPr>
            <a:normAutofit fontScale="90000"/>
          </a:bodyPr>
          <a:lstStyle/>
          <a:p>
            <a:r>
              <a:rPr kumimoji="1" lang="en-US" altLang="ja-JP" sz="3600" dirty="0" err="1" smtClean="0"/>
              <a:t>printf</a:t>
            </a:r>
            <a:r>
              <a:rPr kumimoji="1" lang="ja-JP" altLang="en-US" sz="3600" dirty="0" smtClean="0"/>
              <a:t>関数での文字列の表示方法</a:t>
            </a:r>
            <a:r>
              <a:rPr kumimoji="1" lang="en-US" altLang="ja-JP" sz="3600" dirty="0" smtClean="0"/>
              <a:t/>
            </a:r>
            <a:br>
              <a:rPr kumimoji="1" lang="en-US" altLang="ja-JP" sz="3600" dirty="0" smtClean="0"/>
            </a:br>
            <a:r>
              <a:rPr lang="ja-JP" altLang="en-US" sz="3600" dirty="0" smtClean="0"/>
              <a:t>（打ち込んで確認）</a:t>
            </a:r>
            <a:endParaRPr kumimoji="1" lang="ja-JP" altLang="en-US" sz="3600" dirty="0"/>
          </a:p>
        </p:txBody>
      </p:sp>
      <p:sp>
        <p:nvSpPr>
          <p:cNvPr id="4" name="テキスト ボックス 3"/>
          <p:cNvSpPr txBox="1"/>
          <p:nvPr/>
        </p:nvSpPr>
        <p:spPr>
          <a:xfrm>
            <a:off x="4572000" y="1142984"/>
            <a:ext cx="3857652" cy="3539430"/>
          </a:xfrm>
          <a:prstGeom prst="rect">
            <a:avLst/>
          </a:prstGeom>
          <a:noFill/>
          <a:ln>
            <a:solidFill>
              <a:schemeClr val="tx1"/>
            </a:solidFill>
          </a:ln>
        </p:spPr>
        <p:txBody>
          <a:bodyPr wrap="square" rtlCol="0">
            <a:spAutoFit/>
          </a:bodyPr>
          <a:lstStyle/>
          <a:p>
            <a:r>
              <a:rPr lang="ja-JP" altLang="en-US" sz="2800" dirty="0" smtClean="0"/>
              <a:t>文字列の表示には、変換指定として</a:t>
            </a:r>
            <a:r>
              <a:rPr kumimoji="1" lang="en-US" altLang="ja-JP" sz="2800" dirty="0" smtClean="0"/>
              <a:t>%s</a:t>
            </a:r>
            <a:r>
              <a:rPr kumimoji="1" lang="ja-JP" altLang="en-US" sz="2800" dirty="0" smtClean="0"/>
              <a:t>を用い、引数に</a:t>
            </a:r>
            <a:r>
              <a:rPr kumimoji="1" lang="en-US" altLang="ja-JP" sz="2800" dirty="0" smtClean="0">
                <a:solidFill>
                  <a:srgbClr val="FF0000"/>
                </a:solidFill>
              </a:rPr>
              <a:t>char</a:t>
            </a:r>
            <a:r>
              <a:rPr kumimoji="1" lang="ja-JP" altLang="en-US" sz="2800" dirty="0" smtClean="0">
                <a:solidFill>
                  <a:srgbClr val="FF0000"/>
                </a:solidFill>
              </a:rPr>
              <a:t>型</a:t>
            </a:r>
            <a:r>
              <a:rPr kumimoji="1" lang="ja-JP" altLang="en-US" sz="2800" dirty="0" smtClean="0"/>
              <a:t>へのポインタ（詳しくは後日説明）を与える。</a:t>
            </a:r>
            <a:r>
              <a:rPr lang="ja-JP" altLang="en-US" sz="2800" dirty="0" smtClean="0"/>
              <a:t>そのポインタが指しているところから、ヌル文字の手前までを画面に表示する。</a:t>
            </a:r>
            <a:endParaRPr kumimoji="1" lang="en-US" altLang="ja-JP" sz="2800" dirty="0" smtClean="0"/>
          </a:p>
        </p:txBody>
      </p:sp>
      <p:sp>
        <p:nvSpPr>
          <p:cNvPr id="5" name="テキスト ボックス 4"/>
          <p:cNvSpPr txBox="1"/>
          <p:nvPr/>
        </p:nvSpPr>
        <p:spPr>
          <a:xfrm>
            <a:off x="428596" y="1071546"/>
            <a:ext cx="3746988" cy="5693866"/>
          </a:xfrm>
          <a:prstGeom prst="rect">
            <a:avLst/>
          </a:prstGeom>
          <a:noFill/>
          <a:ln>
            <a:solidFill>
              <a:schemeClr val="tx1"/>
            </a:solidFill>
          </a:ln>
        </p:spPr>
        <p:txBody>
          <a:bodyPr wrap="square" rtlCol="0">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a:t>
            </a:r>
            <a:r>
              <a:rPr lang="en-US" altLang="ja-JP" sz="2800" dirty="0" smtClean="0">
                <a:solidFill>
                  <a:srgbClr val="FF0000"/>
                </a:solidFill>
              </a:rPr>
              <a:t>char</a:t>
            </a:r>
            <a:r>
              <a:rPr lang="en-US" altLang="ja-JP" sz="2800" dirty="0" smtClean="0"/>
              <a:t> a [7];</a:t>
            </a:r>
          </a:p>
          <a:p>
            <a:r>
              <a:rPr lang="en-US" altLang="ja-JP" sz="2800" dirty="0" smtClean="0"/>
              <a:t>    a[0] = ‘L’;</a:t>
            </a:r>
          </a:p>
          <a:p>
            <a:r>
              <a:rPr lang="en-US" altLang="ja-JP" sz="2800" dirty="0" smtClean="0"/>
              <a:t>    a[1] = ‘</a:t>
            </a:r>
            <a:r>
              <a:rPr lang="en-US" altLang="ja-JP" sz="2800" dirty="0" err="1" smtClean="0"/>
              <a:t>i</a:t>
            </a:r>
            <a:r>
              <a:rPr lang="en-US" altLang="ja-JP" sz="2800" dirty="0" smtClean="0"/>
              <a:t>’;</a:t>
            </a:r>
          </a:p>
          <a:p>
            <a:r>
              <a:rPr lang="en-US" altLang="ja-JP" sz="2800" dirty="0" smtClean="0"/>
              <a:t>    a[2] = ‘n’;</a:t>
            </a:r>
          </a:p>
          <a:p>
            <a:r>
              <a:rPr lang="en-US" altLang="ja-JP" sz="2800" dirty="0" smtClean="0"/>
              <a:t>    a[3] = ‘\0’;</a:t>
            </a:r>
          </a:p>
          <a:p>
            <a:r>
              <a:rPr lang="en-US" altLang="ja-JP" sz="2800" dirty="0" smtClean="0"/>
              <a:t>    a[4] = ‘u’;</a:t>
            </a:r>
          </a:p>
          <a:p>
            <a:r>
              <a:rPr lang="en-US" altLang="ja-JP" sz="2800" dirty="0" smtClean="0"/>
              <a:t>    a[5] = ‘x’;</a:t>
            </a:r>
          </a:p>
          <a:p>
            <a:r>
              <a:rPr lang="en-US" altLang="ja-JP" sz="2800" dirty="0" smtClean="0"/>
              <a:t>    a[6] = ‘\0’;</a:t>
            </a:r>
          </a:p>
          <a:p>
            <a:r>
              <a:rPr lang="en-US" altLang="ja-JP" sz="2800" dirty="0" smtClean="0"/>
              <a:t>    </a:t>
            </a:r>
            <a:r>
              <a:rPr lang="en-US" altLang="ja-JP" sz="2800" dirty="0" err="1" smtClean="0"/>
              <a:t>printf</a:t>
            </a:r>
            <a:r>
              <a:rPr lang="en-US" altLang="ja-JP" sz="2800" dirty="0" smtClean="0"/>
              <a:t> (“</a:t>
            </a:r>
            <a:r>
              <a:rPr lang="en-US" altLang="ja-JP" sz="2800" dirty="0" smtClean="0">
                <a:solidFill>
                  <a:srgbClr val="FF0000"/>
                </a:solidFill>
              </a:rPr>
              <a:t>%s</a:t>
            </a:r>
            <a:r>
              <a:rPr lang="en-US" altLang="ja-JP" sz="2800" dirty="0" smtClean="0"/>
              <a:t>\n”, </a:t>
            </a:r>
            <a:r>
              <a:rPr lang="en-US" altLang="ja-JP" sz="2800" dirty="0" smtClean="0">
                <a:solidFill>
                  <a:srgbClr val="FF0000"/>
                </a:solidFill>
              </a:rPr>
              <a:t>&amp;a[0]</a:t>
            </a:r>
            <a:r>
              <a:rPr lang="en-US" altLang="ja-JP" sz="2800" dirty="0" smtClean="0"/>
              <a:t>);</a:t>
            </a:r>
          </a:p>
          <a:p>
            <a:r>
              <a:rPr lang="en-US" altLang="ja-JP" sz="2800" dirty="0" smtClean="0"/>
              <a:t>    return 0;</a:t>
            </a:r>
          </a:p>
          <a:p>
            <a:r>
              <a:rPr lang="en-US" altLang="ja-JP" sz="2800" dirty="0" smtClean="0"/>
              <a:t>}</a:t>
            </a:r>
            <a:endParaRPr kumimoji="1" lang="ja-JP" altLang="en-US" sz="2800" dirty="0"/>
          </a:p>
        </p:txBody>
      </p:sp>
      <p:sp>
        <p:nvSpPr>
          <p:cNvPr id="6" name="テキスト ボックス 5"/>
          <p:cNvSpPr txBox="1"/>
          <p:nvPr/>
        </p:nvSpPr>
        <p:spPr>
          <a:xfrm>
            <a:off x="4643438" y="4857760"/>
            <a:ext cx="3571900" cy="1569660"/>
          </a:xfrm>
          <a:prstGeom prst="rect">
            <a:avLst/>
          </a:prstGeom>
          <a:noFill/>
        </p:spPr>
        <p:txBody>
          <a:bodyPr wrap="square" rtlCol="0">
            <a:spAutoFit/>
          </a:bodyPr>
          <a:lstStyle/>
          <a:p>
            <a:r>
              <a:rPr kumimoji="1" lang="en-US" altLang="ja-JP" sz="2400" dirty="0" smtClean="0"/>
              <a:t>&amp;a[0]</a:t>
            </a:r>
            <a:r>
              <a:rPr kumimoji="1" lang="ja-JP" altLang="en-US" sz="2400" dirty="0" smtClean="0"/>
              <a:t>は配列</a:t>
            </a:r>
            <a:r>
              <a:rPr kumimoji="1" lang="en-US" altLang="ja-JP" sz="2400" dirty="0" smtClean="0"/>
              <a:t>a</a:t>
            </a:r>
            <a:r>
              <a:rPr kumimoji="1" lang="ja-JP" altLang="en-US" sz="2400" dirty="0" smtClean="0"/>
              <a:t>の先頭要素</a:t>
            </a:r>
            <a:r>
              <a:rPr lang="ja-JP" altLang="en-US" sz="2400" dirty="0" smtClean="0"/>
              <a:t>へのポインタを表す。先頭要素は</a:t>
            </a:r>
            <a:r>
              <a:rPr lang="en-US" altLang="ja-JP" sz="2400" dirty="0" smtClean="0"/>
              <a:t>’L’</a:t>
            </a:r>
            <a:r>
              <a:rPr lang="ja-JP" altLang="en-US" sz="2400" dirty="0" smtClean="0"/>
              <a:t>であり、</a:t>
            </a:r>
            <a:r>
              <a:rPr lang="en-US" altLang="ja-JP" sz="2400" dirty="0" smtClean="0"/>
              <a:t>Lin</a:t>
            </a:r>
            <a:r>
              <a:rPr lang="ja-JP" altLang="en-US" sz="2400" dirty="0" smtClean="0"/>
              <a:t>が表示される。</a:t>
            </a:r>
            <a:endParaRPr lang="en-US" altLang="ja-JP" sz="2400" dirty="0" smtClean="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4"/>
            <a:ext cx="8258204" cy="1143008"/>
          </a:xfrm>
        </p:spPr>
        <p:txBody>
          <a:bodyPr>
            <a:normAutofit fontScale="90000"/>
          </a:bodyPr>
          <a:lstStyle/>
          <a:p>
            <a:r>
              <a:rPr kumimoji="1" lang="en-US" altLang="ja-JP" sz="3600" dirty="0" err="1" smtClean="0"/>
              <a:t>printf</a:t>
            </a:r>
            <a:r>
              <a:rPr kumimoji="1" lang="ja-JP" altLang="en-US" sz="3600" dirty="0" smtClean="0"/>
              <a:t>関数での文字列の表示方法</a:t>
            </a:r>
            <a:r>
              <a:rPr kumimoji="1" lang="en-US" altLang="ja-JP" sz="3600" dirty="0" smtClean="0"/>
              <a:t/>
            </a:r>
            <a:br>
              <a:rPr kumimoji="1" lang="en-US" altLang="ja-JP" sz="3600" dirty="0" smtClean="0"/>
            </a:br>
            <a:r>
              <a:rPr lang="ja-JP" altLang="en-US" sz="3600" dirty="0" smtClean="0"/>
              <a:t>（打ち込んで確認）</a:t>
            </a:r>
            <a:endParaRPr kumimoji="1" lang="ja-JP" altLang="en-US" sz="3600" dirty="0"/>
          </a:p>
        </p:txBody>
      </p:sp>
      <p:sp>
        <p:nvSpPr>
          <p:cNvPr id="5" name="テキスト ボックス 4"/>
          <p:cNvSpPr txBox="1"/>
          <p:nvPr/>
        </p:nvSpPr>
        <p:spPr>
          <a:xfrm>
            <a:off x="428596" y="1071546"/>
            <a:ext cx="3746988" cy="5693866"/>
          </a:xfrm>
          <a:prstGeom prst="rect">
            <a:avLst/>
          </a:prstGeom>
          <a:noFill/>
          <a:ln>
            <a:solidFill>
              <a:schemeClr val="tx1"/>
            </a:solidFill>
          </a:ln>
        </p:spPr>
        <p:txBody>
          <a:bodyPr wrap="square" rtlCol="0">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char a [7];</a:t>
            </a:r>
          </a:p>
          <a:p>
            <a:r>
              <a:rPr lang="en-US" altLang="ja-JP" sz="2800" dirty="0" smtClean="0"/>
              <a:t>    a[0] = ‘L’;</a:t>
            </a:r>
          </a:p>
          <a:p>
            <a:r>
              <a:rPr lang="en-US" altLang="ja-JP" sz="2800" dirty="0" smtClean="0"/>
              <a:t>    a[1] = ‘</a:t>
            </a:r>
            <a:r>
              <a:rPr lang="en-US" altLang="ja-JP" sz="2800" dirty="0" err="1" smtClean="0"/>
              <a:t>i</a:t>
            </a:r>
            <a:r>
              <a:rPr lang="en-US" altLang="ja-JP" sz="2800" dirty="0" smtClean="0"/>
              <a:t>’;</a:t>
            </a:r>
          </a:p>
          <a:p>
            <a:r>
              <a:rPr lang="en-US" altLang="ja-JP" sz="2800" dirty="0" smtClean="0"/>
              <a:t>    a[2] = ‘n’;</a:t>
            </a:r>
          </a:p>
          <a:p>
            <a:r>
              <a:rPr lang="en-US" altLang="ja-JP" sz="2800" dirty="0" smtClean="0"/>
              <a:t>    a[3] = ‘\0’;</a:t>
            </a:r>
          </a:p>
          <a:p>
            <a:r>
              <a:rPr lang="en-US" altLang="ja-JP" sz="2800" dirty="0" smtClean="0"/>
              <a:t>    a[4] = ‘u’;</a:t>
            </a:r>
          </a:p>
          <a:p>
            <a:r>
              <a:rPr lang="en-US" altLang="ja-JP" sz="2800" dirty="0" smtClean="0"/>
              <a:t>    a[5] = ‘x’;</a:t>
            </a:r>
          </a:p>
          <a:p>
            <a:r>
              <a:rPr lang="en-US" altLang="ja-JP" sz="2800" dirty="0" smtClean="0"/>
              <a:t>    a[6] = ‘\0’;</a:t>
            </a:r>
          </a:p>
          <a:p>
            <a:r>
              <a:rPr lang="en-US" altLang="ja-JP" sz="2800" dirty="0" smtClean="0"/>
              <a:t>    </a:t>
            </a:r>
            <a:r>
              <a:rPr lang="en-US" altLang="ja-JP" sz="2800" dirty="0" err="1" smtClean="0"/>
              <a:t>printf</a:t>
            </a:r>
            <a:r>
              <a:rPr lang="en-US" altLang="ja-JP" sz="2800" dirty="0" smtClean="0"/>
              <a:t> (“</a:t>
            </a:r>
            <a:r>
              <a:rPr lang="en-US" altLang="ja-JP" sz="2800" dirty="0" smtClean="0">
                <a:solidFill>
                  <a:srgbClr val="FF0000"/>
                </a:solidFill>
              </a:rPr>
              <a:t>%s</a:t>
            </a:r>
            <a:r>
              <a:rPr lang="en-US" altLang="ja-JP" sz="2800" dirty="0" smtClean="0"/>
              <a:t>\n”, </a:t>
            </a:r>
            <a:r>
              <a:rPr lang="en-US" altLang="ja-JP" sz="2800" dirty="0" smtClean="0">
                <a:solidFill>
                  <a:srgbClr val="FF0000"/>
                </a:solidFill>
              </a:rPr>
              <a:t>&amp;a[1]</a:t>
            </a:r>
            <a:r>
              <a:rPr lang="en-US" altLang="ja-JP" sz="2800" dirty="0" smtClean="0"/>
              <a:t>);</a:t>
            </a:r>
          </a:p>
          <a:p>
            <a:r>
              <a:rPr lang="en-US" altLang="ja-JP" sz="2800" dirty="0" smtClean="0"/>
              <a:t>    return 0;</a:t>
            </a:r>
          </a:p>
          <a:p>
            <a:r>
              <a:rPr lang="en-US" altLang="ja-JP" sz="2800" dirty="0" smtClean="0"/>
              <a:t>}</a:t>
            </a:r>
            <a:endParaRPr kumimoji="1" lang="ja-JP" altLang="en-US" sz="2800" dirty="0"/>
          </a:p>
        </p:txBody>
      </p:sp>
      <p:sp>
        <p:nvSpPr>
          <p:cNvPr id="7" name="テキスト ボックス 6"/>
          <p:cNvSpPr txBox="1"/>
          <p:nvPr/>
        </p:nvSpPr>
        <p:spPr>
          <a:xfrm>
            <a:off x="4572000" y="1428736"/>
            <a:ext cx="3571900" cy="2246769"/>
          </a:xfrm>
          <a:prstGeom prst="rect">
            <a:avLst/>
          </a:prstGeom>
          <a:noFill/>
        </p:spPr>
        <p:txBody>
          <a:bodyPr wrap="square" rtlCol="0">
            <a:spAutoFit/>
          </a:bodyPr>
          <a:lstStyle/>
          <a:p>
            <a:r>
              <a:rPr kumimoji="1" lang="en-US" altLang="ja-JP" sz="2800" dirty="0" smtClean="0"/>
              <a:t>&amp;a[1]</a:t>
            </a:r>
            <a:r>
              <a:rPr kumimoji="1" lang="ja-JP" altLang="en-US" sz="2800" dirty="0" smtClean="0"/>
              <a:t>は配列</a:t>
            </a:r>
            <a:r>
              <a:rPr kumimoji="1" lang="en-US" altLang="ja-JP" sz="2800" dirty="0" smtClean="0"/>
              <a:t>a</a:t>
            </a:r>
            <a:r>
              <a:rPr kumimoji="1" lang="ja-JP" altLang="en-US" sz="2800" dirty="0" smtClean="0"/>
              <a:t>の２番目要素</a:t>
            </a:r>
            <a:r>
              <a:rPr lang="ja-JP" altLang="en-US" sz="2800" dirty="0" smtClean="0"/>
              <a:t>へのポインタを表す。２番目の要素は</a:t>
            </a:r>
            <a:r>
              <a:rPr lang="en-US" altLang="ja-JP" sz="2800" dirty="0" smtClean="0"/>
              <a:t>’</a:t>
            </a:r>
            <a:r>
              <a:rPr lang="en-US" altLang="ja-JP" sz="2800" dirty="0" err="1" smtClean="0"/>
              <a:t>i</a:t>
            </a:r>
            <a:r>
              <a:rPr lang="en-US" altLang="ja-JP" sz="2800" dirty="0" smtClean="0"/>
              <a:t>’</a:t>
            </a:r>
            <a:r>
              <a:rPr lang="ja-JP" altLang="en-US" sz="2800" dirty="0" smtClean="0"/>
              <a:t>であり、</a:t>
            </a:r>
            <a:r>
              <a:rPr lang="en-US" altLang="ja-JP" sz="2800" dirty="0" smtClean="0"/>
              <a:t>in</a:t>
            </a:r>
            <a:r>
              <a:rPr kumimoji="1" lang="ja-JP" altLang="en-US" sz="2800" dirty="0" smtClean="0"/>
              <a:t>が画面に表示される。</a:t>
            </a:r>
            <a:endParaRPr kumimoji="1" lang="ja-JP" altLang="en-US" sz="2800"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注意</a:t>
            </a:r>
            <a:endParaRPr kumimoji="1" lang="ja-JP" altLang="en-US" dirty="0"/>
          </a:p>
        </p:txBody>
      </p:sp>
      <p:sp>
        <p:nvSpPr>
          <p:cNvPr id="3" name="コンテンツ プレースホルダ 2"/>
          <p:cNvSpPr>
            <a:spLocks noGrp="1"/>
          </p:cNvSpPr>
          <p:nvPr>
            <p:ph idx="1"/>
          </p:nvPr>
        </p:nvSpPr>
        <p:spPr/>
        <p:txBody>
          <a:bodyPr/>
          <a:lstStyle/>
          <a:p>
            <a:r>
              <a:rPr kumimoji="1" lang="ja-JP" altLang="en-US" dirty="0" smtClean="0"/>
              <a:t>文字列の表示には</a:t>
            </a:r>
            <a:r>
              <a:rPr kumimoji="1" lang="en-US" altLang="ja-JP" dirty="0" err="1" smtClean="0"/>
              <a:t>printf</a:t>
            </a:r>
            <a:r>
              <a:rPr lang="ja-JP" altLang="en-US" dirty="0" smtClean="0"/>
              <a:t>の変換指定で</a:t>
            </a:r>
            <a:r>
              <a:rPr lang="en-US" altLang="ja-JP" dirty="0" smtClean="0"/>
              <a:t>%s</a:t>
            </a:r>
            <a:r>
              <a:rPr lang="ja-JP" altLang="en-US" dirty="0" smtClean="0"/>
              <a:t>を使う。このとき、引数に与えられるポインタが指す先は</a:t>
            </a:r>
            <a:r>
              <a:rPr lang="en-US" altLang="ja-JP" dirty="0" smtClean="0"/>
              <a:t>char</a:t>
            </a:r>
            <a:r>
              <a:rPr lang="ja-JP" altLang="en-US" dirty="0" smtClean="0"/>
              <a:t>型の並びであることが前提なので、もし</a:t>
            </a:r>
            <a:r>
              <a:rPr lang="en-US" altLang="ja-JP" dirty="0" err="1" smtClean="0"/>
              <a:t>int</a:t>
            </a:r>
            <a:r>
              <a:rPr lang="ja-JP" altLang="en-US" dirty="0" smtClean="0"/>
              <a:t>型の配列に文字列を入れていた場合には正常に表示されなくなる。</a:t>
            </a:r>
            <a:endParaRPr lang="en-US" altLang="ja-JP" dirty="0" smtClean="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4"/>
            <a:ext cx="8258204" cy="1143008"/>
          </a:xfrm>
        </p:spPr>
        <p:txBody>
          <a:bodyPr>
            <a:normAutofit/>
          </a:bodyPr>
          <a:lstStyle/>
          <a:p>
            <a:r>
              <a:rPr lang="ja-JP" altLang="en-US" sz="3600" dirty="0" smtClean="0"/>
              <a:t>間違った例（打ち込んで確認）</a:t>
            </a:r>
            <a:endParaRPr kumimoji="1" lang="ja-JP" altLang="en-US" sz="3600" dirty="0"/>
          </a:p>
        </p:txBody>
      </p:sp>
      <p:sp>
        <p:nvSpPr>
          <p:cNvPr id="4" name="テキスト ボックス 3"/>
          <p:cNvSpPr txBox="1"/>
          <p:nvPr/>
        </p:nvSpPr>
        <p:spPr>
          <a:xfrm>
            <a:off x="4499992" y="1124744"/>
            <a:ext cx="3857652" cy="2246769"/>
          </a:xfrm>
          <a:prstGeom prst="rect">
            <a:avLst/>
          </a:prstGeom>
          <a:noFill/>
          <a:ln>
            <a:solidFill>
              <a:schemeClr val="tx1"/>
            </a:solidFill>
          </a:ln>
        </p:spPr>
        <p:txBody>
          <a:bodyPr wrap="square" rtlCol="0">
            <a:spAutoFit/>
          </a:bodyPr>
          <a:lstStyle/>
          <a:p>
            <a:r>
              <a:rPr kumimoji="1" lang="ja-JP" altLang="en-US" sz="2800" dirty="0" smtClean="0"/>
              <a:t>このプログラムだと、意図した通りには表示されない。（具体的にどう表示されるかは</a:t>
            </a:r>
            <a:r>
              <a:rPr kumimoji="1" lang="en-US" altLang="ja-JP" sz="2800" dirty="0" err="1" smtClean="0"/>
              <a:t>int</a:t>
            </a:r>
            <a:r>
              <a:rPr kumimoji="1" lang="ja-JP" altLang="en-US" sz="2800" dirty="0" smtClean="0"/>
              <a:t>型の表現に依存。）</a:t>
            </a:r>
            <a:endParaRPr lang="en-US" altLang="ja-JP" sz="2800" dirty="0" smtClean="0"/>
          </a:p>
        </p:txBody>
      </p:sp>
      <p:sp>
        <p:nvSpPr>
          <p:cNvPr id="5" name="テキスト ボックス 4"/>
          <p:cNvSpPr txBox="1"/>
          <p:nvPr/>
        </p:nvSpPr>
        <p:spPr>
          <a:xfrm>
            <a:off x="428596" y="1071546"/>
            <a:ext cx="3746988" cy="5693866"/>
          </a:xfrm>
          <a:prstGeom prst="rect">
            <a:avLst/>
          </a:prstGeom>
          <a:noFill/>
          <a:ln>
            <a:solidFill>
              <a:schemeClr val="tx1"/>
            </a:solidFill>
          </a:ln>
        </p:spPr>
        <p:txBody>
          <a:bodyPr wrap="square" rtlCol="0">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a:t>
            </a:r>
            <a:r>
              <a:rPr lang="en-US" altLang="ja-JP" sz="2800" dirty="0" err="1" smtClean="0">
                <a:solidFill>
                  <a:srgbClr val="FF0000"/>
                </a:solidFill>
              </a:rPr>
              <a:t>int</a:t>
            </a:r>
            <a:r>
              <a:rPr lang="en-US" altLang="ja-JP" sz="2800" dirty="0" smtClean="0"/>
              <a:t> a [7];</a:t>
            </a:r>
          </a:p>
          <a:p>
            <a:r>
              <a:rPr lang="en-US" altLang="ja-JP" sz="2800" dirty="0" smtClean="0"/>
              <a:t>    a[0] = ‘L’;</a:t>
            </a:r>
          </a:p>
          <a:p>
            <a:r>
              <a:rPr lang="en-US" altLang="ja-JP" sz="2800" dirty="0" smtClean="0"/>
              <a:t>    a[1] = ‘</a:t>
            </a:r>
            <a:r>
              <a:rPr lang="en-US" altLang="ja-JP" sz="2800" dirty="0" err="1" smtClean="0"/>
              <a:t>i</a:t>
            </a:r>
            <a:r>
              <a:rPr lang="en-US" altLang="ja-JP" sz="2800" dirty="0" smtClean="0"/>
              <a:t>’;</a:t>
            </a:r>
          </a:p>
          <a:p>
            <a:r>
              <a:rPr lang="en-US" altLang="ja-JP" sz="2800" dirty="0" smtClean="0"/>
              <a:t>    a[2] = ‘n’;</a:t>
            </a:r>
          </a:p>
          <a:p>
            <a:r>
              <a:rPr lang="en-US" altLang="ja-JP" sz="2800" dirty="0" smtClean="0"/>
              <a:t>    a[3] = ‘\0’;</a:t>
            </a:r>
          </a:p>
          <a:p>
            <a:r>
              <a:rPr lang="en-US" altLang="ja-JP" sz="2800" dirty="0" smtClean="0"/>
              <a:t>    a[4] = ‘u’;</a:t>
            </a:r>
          </a:p>
          <a:p>
            <a:r>
              <a:rPr lang="en-US" altLang="ja-JP" sz="2800" dirty="0" smtClean="0"/>
              <a:t>    a[5] = ‘x’;</a:t>
            </a:r>
          </a:p>
          <a:p>
            <a:r>
              <a:rPr lang="en-US" altLang="ja-JP" sz="2800" dirty="0" smtClean="0"/>
              <a:t>    a[6] = ‘\0’;</a:t>
            </a:r>
          </a:p>
          <a:p>
            <a:r>
              <a:rPr lang="en-US" altLang="ja-JP" sz="2800" dirty="0" smtClean="0"/>
              <a:t>    </a:t>
            </a:r>
            <a:r>
              <a:rPr lang="en-US" altLang="ja-JP" sz="2800" dirty="0" err="1" smtClean="0"/>
              <a:t>printf</a:t>
            </a:r>
            <a:r>
              <a:rPr lang="en-US" altLang="ja-JP" sz="2800" dirty="0" smtClean="0"/>
              <a:t> (“</a:t>
            </a:r>
            <a:r>
              <a:rPr lang="en-US" altLang="ja-JP" sz="2800" dirty="0" smtClean="0">
                <a:solidFill>
                  <a:srgbClr val="FF0000"/>
                </a:solidFill>
              </a:rPr>
              <a:t>%s</a:t>
            </a:r>
            <a:r>
              <a:rPr lang="en-US" altLang="ja-JP" sz="2800" dirty="0" smtClean="0"/>
              <a:t>\n”, </a:t>
            </a:r>
            <a:r>
              <a:rPr lang="en-US" altLang="ja-JP" sz="2800" dirty="0" smtClean="0">
                <a:solidFill>
                  <a:srgbClr val="FF0000"/>
                </a:solidFill>
              </a:rPr>
              <a:t>&amp;a[0]</a:t>
            </a:r>
            <a:r>
              <a:rPr lang="en-US" altLang="ja-JP" sz="2800" dirty="0" smtClean="0"/>
              <a:t>);</a:t>
            </a:r>
          </a:p>
          <a:p>
            <a:r>
              <a:rPr lang="en-US" altLang="ja-JP" sz="2800" dirty="0" smtClean="0"/>
              <a:t>    return 0;</a:t>
            </a:r>
          </a:p>
          <a:p>
            <a:r>
              <a:rPr lang="en-US" altLang="ja-JP" sz="2800" dirty="0" smtClean="0"/>
              <a:t>}</a:t>
            </a:r>
            <a:endParaRPr kumimoji="1" lang="ja-JP" altLang="en-US" sz="2800" dirty="0"/>
          </a:p>
        </p:txBody>
      </p:sp>
      <p:sp>
        <p:nvSpPr>
          <p:cNvPr id="7" name="正方形/長方形 6"/>
          <p:cNvSpPr/>
          <p:nvPr/>
        </p:nvSpPr>
        <p:spPr>
          <a:xfrm>
            <a:off x="4499992" y="3501008"/>
            <a:ext cx="4248472" cy="2677656"/>
          </a:xfrm>
          <a:prstGeom prst="rect">
            <a:avLst/>
          </a:prstGeom>
          <a:ln>
            <a:solidFill>
              <a:schemeClr val="tx1"/>
            </a:solidFill>
          </a:ln>
        </p:spPr>
        <p:txBody>
          <a:bodyPr wrap="square">
            <a:spAutoFit/>
          </a:bodyPr>
          <a:lstStyle/>
          <a:p>
            <a:r>
              <a:rPr lang="en-US" altLang="ja-JP" sz="2400" dirty="0" smtClean="0"/>
              <a:t>(</a:t>
            </a:r>
            <a:r>
              <a:rPr lang="ja-JP" altLang="en-US" sz="2400" dirty="0" smtClean="0"/>
              <a:t>さらに補足</a:t>
            </a:r>
            <a:r>
              <a:rPr lang="en-US" altLang="ja-JP" sz="2400" dirty="0" smtClean="0"/>
              <a:t>)</a:t>
            </a:r>
          </a:p>
          <a:p>
            <a:r>
              <a:rPr lang="en-US" altLang="ja-JP" sz="2400" dirty="0" smtClean="0"/>
              <a:t>&amp;a[0]</a:t>
            </a:r>
            <a:r>
              <a:rPr lang="ja-JP" altLang="en-US" sz="2400" dirty="0" smtClean="0"/>
              <a:t>は</a:t>
            </a:r>
            <a:r>
              <a:rPr lang="en-US" altLang="ja-JP" sz="2400" dirty="0" err="1" smtClean="0"/>
              <a:t>int</a:t>
            </a:r>
            <a:r>
              <a:rPr lang="ja-JP" altLang="en-US" sz="2400" dirty="0" err="1" smtClean="0"/>
              <a:t>への</a:t>
            </a:r>
            <a:r>
              <a:rPr lang="ja-JP" altLang="en-US" sz="2400" dirty="0" smtClean="0"/>
              <a:t>ポインタ型であり、</a:t>
            </a:r>
            <a:r>
              <a:rPr lang="en-US" altLang="ja-JP" sz="2400" dirty="0" smtClean="0"/>
              <a:t>char</a:t>
            </a:r>
            <a:r>
              <a:rPr lang="ja-JP" altLang="en-US" sz="2400" dirty="0" smtClean="0"/>
              <a:t>型へのポインタではないので、</a:t>
            </a:r>
            <a:endParaRPr lang="en-US" altLang="ja-JP" sz="2400" dirty="0" smtClean="0"/>
          </a:p>
          <a:p>
            <a:r>
              <a:rPr lang="en-US" altLang="ja-JP" sz="2400" dirty="0" smtClean="0"/>
              <a:t>$ </a:t>
            </a:r>
            <a:r>
              <a:rPr lang="en-US" altLang="ja-JP" sz="2400" dirty="0" err="1" smtClean="0"/>
              <a:t>gcc</a:t>
            </a:r>
            <a:r>
              <a:rPr lang="en-US" altLang="ja-JP" sz="2400" dirty="0" smtClean="0"/>
              <a:t> -W -Wall </a:t>
            </a:r>
            <a:r>
              <a:rPr lang="en-US" altLang="ja-JP" sz="2400" dirty="0" err="1" smtClean="0"/>
              <a:t>test.c</a:t>
            </a:r>
            <a:endParaRPr lang="en-US" altLang="ja-JP" sz="2400" dirty="0" smtClean="0"/>
          </a:p>
          <a:p>
            <a:r>
              <a:rPr lang="ja-JP" altLang="en-US" sz="2400" dirty="0" err="1" smtClean="0"/>
              <a:t>のように</a:t>
            </a:r>
            <a:r>
              <a:rPr lang="ja-JP" altLang="en-US" sz="2400" dirty="0" smtClean="0"/>
              <a:t>オプションを付けてコンパイルすれば</a:t>
            </a:r>
            <a:r>
              <a:rPr lang="en-US" altLang="ja-JP" sz="2400" dirty="0" smtClean="0"/>
              <a:t>warning</a:t>
            </a:r>
            <a:r>
              <a:rPr lang="ja-JP" altLang="en-US" sz="2400" dirty="0" smtClean="0"/>
              <a:t>が出る。</a:t>
            </a:r>
            <a:endParaRPr lang="en-US" altLang="ja-JP" sz="2400" dirty="0" smtClean="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解説</a:t>
            </a:r>
            <a:endParaRPr kumimoji="1" lang="ja-JP" altLang="en-US" dirty="0"/>
          </a:p>
        </p:txBody>
      </p:sp>
      <p:sp>
        <p:nvSpPr>
          <p:cNvPr id="4" name="テキスト ボックス 3"/>
          <p:cNvSpPr txBox="1"/>
          <p:nvPr/>
        </p:nvSpPr>
        <p:spPr>
          <a:xfrm>
            <a:off x="1115616" y="1268760"/>
            <a:ext cx="7344816" cy="954107"/>
          </a:xfrm>
          <a:prstGeom prst="rect">
            <a:avLst/>
          </a:prstGeom>
          <a:noFill/>
        </p:spPr>
        <p:txBody>
          <a:bodyPr wrap="square" rtlCol="0">
            <a:spAutoFit/>
          </a:bodyPr>
          <a:lstStyle/>
          <a:p>
            <a:r>
              <a:rPr kumimoji="1" lang="ja-JP" altLang="en-US" sz="2800" dirty="0" smtClean="0"/>
              <a:t>この演習室の環境では、</a:t>
            </a:r>
            <a:r>
              <a:rPr kumimoji="1" lang="en-US" altLang="ja-JP" sz="2800" dirty="0" smtClean="0"/>
              <a:t>’L’</a:t>
            </a:r>
            <a:r>
              <a:rPr kumimoji="1" lang="ja-JP" altLang="en-US" sz="2800" dirty="0" smtClean="0"/>
              <a:t>は</a:t>
            </a:r>
            <a:r>
              <a:rPr kumimoji="1" lang="en-US" altLang="ja-JP" sz="2800" dirty="0" err="1" smtClean="0"/>
              <a:t>int</a:t>
            </a:r>
            <a:r>
              <a:rPr lang="ja-JP" altLang="en-US" sz="2800" dirty="0" smtClean="0"/>
              <a:t>型の</a:t>
            </a:r>
            <a:r>
              <a:rPr lang="en-US" altLang="ja-JP" sz="2800" dirty="0" smtClean="0"/>
              <a:t>76</a:t>
            </a:r>
            <a:r>
              <a:rPr lang="ja-JP" altLang="en-US" sz="2800" dirty="0" smtClean="0"/>
              <a:t>であり、さきほどの</a:t>
            </a:r>
            <a:r>
              <a:rPr lang="en-US" altLang="ja-JP" sz="2800" dirty="0" err="1" smtClean="0"/>
              <a:t>int</a:t>
            </a:r>
            <a:r>
              <a:rPr lang="ja-JP" altLang="en-US" sz="2800" dirty="0" smtClean="0"/>
              <a:t>型の配列</a:t>
            </a:r>
            <a:r>
              <a:rPr lang="en-US" altLang="ja-JP" sz="2800" dirty="0" smtClean="0"/>
              <a:t>a</a:t>
            </a:r>
            <a:r>
              <a:rPr lang="ja-JP" altLang="en-US" sz="2800" dirty="0" smtClean="0"/>
              <a:t>は、メモリ上では</a:t>
            </a:r>
            <a:endParaRPr lang="en-US" altLang="ja-JP" sz="2800" dirty="0" smtClean="0"/>
          </a:p>
        </p:txBody>
      </p:sp>
      <p:graphicFrame>
        <p:nvGraphicFramePr>
          <p:cNvPr id="5" name="表 4"/>
          <p:cNvGraphicFramePr>
            <a:graphicFrameLocks noGrp="1"/>
          </p:cNvGraphicFramePr>
          <p:nvPr/>
        </p:nvGraphicFramePr>
        <p:xfrm>
          <a:off x="539552" y="2348880"/>
          <a:ext cx="8136900" cy="714380"/>
        </p:xfrm>
        <a:graphic>
          <a:graphicData uri="http://schemas.openxmlformats.org/drawingml/2006/table">
            <a:tbl>
              <a:tblPr firstRow="1" bandRow="1">
                <a:tableStyleId>{00A15C55-8517-42AA-B614-E9B94910E393}</a:tableStyleId>
              </a:tblPr>
              <a:tblGrid>
                <a:gridCol w="813690"/>
                <a:gridCol w="813690"/>
                <a:gridCol w="813690"/>
                <a:gridCol w="813690"/>
                <a:gridCol w="813690"/>
                <a:gridCol w="813690"/>
                <a:gridCol w="813690"/>
                <a:gridCol w="813690"/>
                <a:gridCol w="813690"/>
                <a:gridCol w="813690"/>
              </a:tblGrid>
              <a:tr h="714380">
                <a:tc>
                  <a:txBody>
                    <a:bodyPr/>
                    <a:lstStyle/>
                    <a:p>
                      <a:pPr algn="ctr"/>
                      <a:r>
                        <a:rPr kumimoji="1" lang="en-US" altLang="ja-JP" sz="3200" b="0" dirty="0" smtClean="0">
                          <a:solidFill>
                            <a:sysClr val="windowText" lastClr="000000"/>
                          </a:solidFill>
                        </a:rPr>
                        <a:t>76</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105</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110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6" name="テキスト ボックス 5"/>
          <p:cNvSpPr txBox="1"/>
          <p:nvPr/>
        </p:nvSpPr>
        <p:spPr>
          <a:xfrm>
            <a:off x="1115616" y="4437112"/>
            <a:ext cx="4935967" cy="523220"/>
          </a:xfrm>
          <a:prstGeom prst="rect">
            <a:avLst/>
          </a:prstGeom>
          <a:noFill/>
        </p:spPr>
        <p:txBody>
          <a:bodyPr wrap="none" rtlCol="0">
            <a:spAutoFit/>
          </a:bodyPr>
          <a:lstStyle/>
          <a:p>
            <a:r>
              <a:rPr kumimoji="1" lang="ja-JP" altLang="en-US" sz="2800" dirty="0" err="1" smtClean="0"/>
              <a:t>のように</a:t>
            </a:r>
            <a:r>
              <a:rPr kumimoji="1" lang="ja-JP" altLang="en-US" sz="2800" dirty="0" smtClean="0"/>
              <a:t>並んでいる。すなわち、</a:t>
            </a:r>
            <a:endParaRPr kumimoji="1" lang="ja-JP" altLang="en-US" sz="2800" dirty="0"/>
          </a:p>
        </p:txBody>
      </p:sp>
      <p:sp>
        <p:nvSpPr>
          <p:cNvPr id="7" name="右中かっこ 6"/>
          <p:cNvSpPr/>
          <p:nvPr/>
        </p:nvSpPr>
        <p:spPr>
          <a:xfrm rot="16200000" flipH="1">
            <a:off x="1861154" y="1819366"/>
            <a:ext cx="571505" cy="3214709"/>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dirty="0"/>
          </a:p>
        </p:txBody>
      </p:sp>
      <p:sp>
        <p:nvSpPr>
          <p:cNvPr id="8" name="右中かっこ 7"/>
          <p:cNvSpPr/>
          <p:nvPr/>
        </p:nvSpPr>
        <p:spPr>
          <a:xfrm rot="16200000" flipH="1">
            <a:off x="5173522" y="1819366"/>
            <a:ext cx="571505" cy="3214709"/>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dirty="0"/>
          </a:p>
        </p:txBody>
      </p:sp>
      <p:sp>
        <p:nvSpPr>
          <p:cNvPr id="10" name="テキスト ボックス 9"/>
          <p:cNvSpPr txBox="1"/>
          <p:nvPr/>
        </p:nvSpPr>
        <p:spPr>
          <a:xfrm>
            <a:off x="1763688" y="3861048"/>
            <a:ext cx="760144" cy="523220"/>
          </a:xfrm>
          <a:prstGeom prst="rect">
            <a:avLst/>
          </a:prstGeom>
          <a:noFill/>
        </p:spPr>
        <p:txBody>
          <a:bodyPr wrap="none" rtlCol="0">
            <a:spAutoFit/>
          </a:bodyPr>
          <a:lstStyle/>
          <a:p>
            <a:r>
              <a:rPr kumimoji="1" lang="en-US" altLang="ja-JP" sz="2800" dirty="0" smtClean="0"/>
              <a:t>a[0]</a:t>
            </a:r>
            <a:endParaRPr kumimoji="1" lang="ja-JP" altLang="en-US" sz="2800" dirty="0"/>
          </a:p>
        </p:txBody>
      </p:sp>
      <p:sp>
        <p:nvSpPr>
          <p:cNvPr id="11" name="テキスト ボックス 10"/>
          <p:cNvSpPr txBox="1"/>
          <p:nvPr/>
        </p:nvSpPr>
        <p:spPr>
          <a:xfrm>
            <a:off x="5004048" y="3861048"/>
            <a:ext cx="760144" cy="523220"/>
          </a:xfrm>
          <a:prstGeom prst="rect">
            <a:avLst/>
          </a:prstGeom>
          <a:noFill/>
        </p:spPr>
        <p:txBody>
          <a:bodyPr wrap="none" rtlCol="0">
            <a:spAutoFit/>
          </a:bodyPr>
          <a:lstStyle/>
          <a:p>
            <a:r>
              <a:rPr kumimoji="1" lang="en-US" altLang="ja-JP" sz="2800" dirty="0" smtClean="0"/>
              <a:t>a[1]</a:t>
            </a:r>
            <a:endParaRPr kumimoji="1" lang="ja-JP" altLang="en-US" sz="2800" dirty="0"/>
          </a:p>
        </p:txBody>
      </p:sp>
      <p:sp>
        <p:nvSpPr>
          <p:cNvPr id="12" name="テキスト ボックス 11"/>
          <p:cNvSpPr txBox="1"/>
          <p:nvPr/>
        </p:nvSpPr>
        <p:spPr>
          <a:xfrm>
            <a:off x="7596336" y="3717032"/>
            <a:ext cx="415372" cy="523220"/>
          </a:xfrm>
          <a:prstGeom prst="rect">
            <a:avLst/>
          </a:prstGeom>
          <a:noFill/>
        </p:spPr>
        <p:txBody>
          <a:bodyPr wrap="square" rtlCol="0">
            <a:spAutoFit/>
          </a:bodyPr>
          <a:lstStyle/>
          <a:p>
            <a:r>
              <a:rPr kumimoji="1" lang="en-US" altLang="ja-JP" sz="2800" dirty="0" smtClean="0"/>
              <a:t>…</a:t>
            </a:r>
            <a:endParaRPr kumimoji="1" lang="ja-JP" altLang="en-US" sz="2800" dirty="0"/>
          </a:p>
        </p:txBody>
      </p:sp>
      <p:graphicFrame>
        <p:nvGraphicFramePr>
          <p:cNvPr id="13" name="表 12"/>
          <p:cNvGraphicFramePr>
            <a:graphicFrameLocks noGrp="1"/>
          </p:cNvGraphicFramePr>
          <p:nvPr/>
        </p:nvGraphicFramePr>
        <p:xfrm>
          <a:off x="539552" y="5013176"/>
          <a:ext cx="8136900" cy="714380"/>
        </p:xfrm>
        <a:graphic>
          <a:graphicData uri="http://schemas.openxmlformats.org/drawingml/2006/table">
            <a:tbl>
              <a:tblPr firstRow="1" bandRow="1">
                <a:tableStyleId>{00A15C55-8517-42AA-B614-E9B94910E393}</a:tableStyleId>
              </a:tblPr>
              <a:tblGrid>
                <a:gridCol w="813690"/>
                <a:gridCol w="813690"/>
                <a:gridCol w="813690"/>
                <a:gridCol w="813690"/>
                <a:gridCol w="813690"/>
                <a:gridCol w="813690"/>
                <a:gridCol w="813690"/>
                <a:gridCol w="813690"/>
                <a:gridCol w="813690"/>
                <a:gridCol w="813690"/>
              </a:tblGrid>
              <a:tr h="714380">
                <a:tc>
                  <a:txBody>
                    <a:bodyPr/>
                    <a:lstStyle/>
                    <a:p>
                      <a:pPr algn="ctr"/>
                      <a:r>
                        <a:rPr kumimoji="1" lang="en-US" altLang="ja-JP" sz="3200" b="0" dirty="0" smtClean="0">
                          <a:solidFill>
                            <a:sysClr val="windowText" lastClr="000000"/>
                          </a:solidFill>
                        </a:rPr>
                        <a:t>‘L’</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a:t>
                      </a:r>
                      <a:r>
                        <a:rPr kumimoji="1" lang="en-US" altLang="ja-JP" sz="3200" b="0" dirty="0" err="1" smtClean="0">
                          <a:solidFill>
                            <a:sysClr val="windowText" lastClr="000000"/>
                          </a:solidFill>
                        </a:rPr>
                        <a:t>i</a:t>
                      </a:r>
                      <a:r>
                        <a:rPr kumimoji="1" lang="en-US" altLang="ja-JP" sz="3200" b="0" dirty="0" smtClean="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‘n’</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14" name="テキスト ボックス 13"/>
          <p:cNvSpPr txBox="1"/>
          <p:nvPr/>
        </p:nvSpPr>
        <p:spPr>
          <a:xfrm>
            <a:off x="522147" y="5859269"/>
            <a:ext cx="8226317" cy="954107"/>
          </a:xfrm>
          <a:prstGeom prst="rect">
            <a:avLst/>
          </a:prstGeom>
          <a:noFill/>
        </p:spPr>
        <p:txBody>
          <a:bodyPr wrap="square" rtlCol="0">
            <a:spAutoFit/>
          </a:bodyPr>
          <a:lstStyle/>
          <a:p>
            <a:r>
              <a:rPr kumimoji="1" lang="ja-JP" altLang="en-US" sz="2800" dirty="0" smtClean="0"/>
              <a:t>ということである。つまり、この演習室の環境では</a:t>
            </a:r>
            <a:r>
              <a:rPr kumimoji="1" lang="en-US" altLang="ja-JP" sz="2800" dirty="0" smtClean="0"/>
              <a:t>’L’</a:t>
            </a:r>
            <a:r>
              <a:rPr kumimoji="1" lang="ja-JP" altLang="en-US" sz="2800" dirty="0" smtClean="0"/>
              <a:t>しか表示されなくなる。</a:t>
            </a:r>
            <a:endParaRPr kumimoji="1" lang="ja-JP" altLang="en-US" sz="2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Autofit/>
          </a:bodyPr>
          <a:lstStyle/>
          <a:p>
            <a:r>
              <a:rPr kumimoji="1" lang="ja-JP" altLang="en-US" sz="3200" dirty="0" smtClean="0"/>
              <a:t>ポインタについて</a:t>
            </a:r>
            <a:r>
              <a:rPr kumimoji="1" lang="en-US" altLang="ja-JP" sz="3200" dirty="0" smtClean="0"/>
              <a:t/>
            </a:r>
            <a:br>
              <a:rPr kumimoji="1" lang="en-US" altLang="ja-JP" sz="3200" dirty="0" smtClean="0"/>
            </a:br>
            <a:r>
              <a:rPr kumimoji="1" lang="ja-JP" altLang="en-US" sz="3200" dirty="0" smtClean="0"/>
              <a:t>（後日、ポインタの回にも説明する）</a:t>
            </a:r>
            <a:endParaRPr kumimoji="1" lang="ja-JP" altLang="en-US" sz="3200" dirty="0"/>
          </a:p>
        </p:txBody>
      </p:sp>
      <p:graphicFrame>
        <p:nvGraphicFramePr>
          <p:cNvPr id="8" name="表 7"/>
          <p:cNvGraphicFramePr>
            <a:graphicFrameLocks noGrp="1"/>
          </p:cNvGraphicFramePr>
          <p:nvPr/>
        </p:nvGraphicFramePr>
        <p:xfrm>
          <a:off x="1687689" y="2252955"/>
          <a:ext cx="5813269" cy="714380"/>
        </p:xfrm>
        <a:graphic>
          <a:graphicData uri="http://schemas.openxmlformats.org/drawingml/2006/table">
            <a:tbl>
              <a:tblPr firstRow="1" bandRow="1">
                <a:tableStyleId>{00A15C55-8517-42AA-B614-E9B94910E393}</a:tableStyleId>
              </a:tblPr>
              <a:tblGrid>
                <a:gridCol w="830467"/>
                <a:gridCol w="830467"/>
                <a:gridCol w="830467"/>
                <a:gridCol w="830467"/>
                <a:gridCol w="830467"/>
                <a:gridCol w="830467"/>
                <a:gridCol w="830467"/>
              </a:tblGrid>
              <a:tr h="714380">
                <a:tc>
                  <a:txBody>
                    <a:bodyPr/>
                    <a:lstStyle/>
                    <a:p>
                      <a:pPr algn="ctr"/>
                      <a:r>
                        <a:rPr kumimoji="1" lang="en-US" altLang="ja-JP" sz="3200" b="0" dirty="0" smtClean="0">
                          <a:solidFill>
                            <a:sysClr val="windowText" lastClr="000000"/>
                          </a:solidFill>
                        </a:rPr>
                        <a:t>‘L’</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a:t>
                      </a:r>
                      <a:r>
                        <a:rPr kumimoji="1" lang="en-US" altLang="ja-JP" sz="3200" b="0" dirty="0" err="1" smtClean="0">
                          <a:solidFill>
                            <a:sysClr val="windowText" lastClr="000000"/>
                          </a:solidFill>
                        </a:rPr>
                        <a:t>i</a:t>
                      </a:r>
                      <a:r>
                        <a:rPr kumimoji="1" lang="en-US" altLang="ja-JP" sz="3200" b="0" dirty="0" smtClean="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‘n’</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‘u’</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‘x’</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10" name="テキスト ボックス 9"/>
          <p:cNvSpPr txBox="1"/>
          <p:nvPr/>
        </p:nvSpPr>
        <p:spPr>
          <a:xfrm>
            <a:off x="1785918" y="3110211"/>
            <a:ext cx="676788" cy="461665"/>
          </a:xfrm>
          <a:prstGeom prst="rect">
            <a:avLst/>
          </a:prstGeom>
          <a:noFill/>
        </p:spPr>
        <p:txBody>
          <a:bodyPr wrap="none" rtlCol="0">
            <a:spAutoFit/>
          </a:bodyPr>
          <a:lstStyle/>
          <a:p>
            <a:r>
              <a:rPr kumimoji="1" lang="en-US" altLang="ja-JP" sz="2400" dirty="0" smtClean="0"/>
              <a:t>a[0]</a:t>
            </a:r>
            <a:endParaRPr kumimoji="1" lang="ja-JP" altLang="en-US" sz="2400" dirty="0"/>
          </a:p>
        </p:txBody>
      </p:sp>
      <p:sp>
        <p:nvSpPr>
          <p:cNvPr id="11" name="テキスト ボックス 10"/>
          <p:cNvSpPr txBox="1"/>
          <p:nvPr/>
        </p:nvSpPr>
        <p:spPr>
          <a:xfrm>
            <a:off x="2571736" y="3110211"/>
            <a:ext cx="676788" cy="461665"/>
          </a:xfrm>
          <a:prstGeom prst="rect">
            <a:avLst/>
          </a:prstGeom>
          <a:noFill/>
        </p:spPr>
        <p:txBody>
          <a:bodyPr wrap="none" rtlCol="0">
            <a:spAutoFit/>
          </a:bodyPr>
          <a:lstStyle/>
          <a:p>
            <a:r>
              <a:rPr kumimoji="1" lang="en-US" altLang="ja-JP" sz="2400" dirty="0" smtClean="0"/>
              <a:t>a[1]</a:t>
            </a:r>
            <a:endParaRPr kumimoji="1" lang="ja-JP" altLang="en-US" sz="2400" dirty="0"/>
          </a:p>
        </p:txBody>
      </p:sp>
      <p:sp>
        <p:nvSpPr>
          <p:cNvPr id="17" name="テキスト ボックス 16"/>
          <p:cNvSpPr txBox="1"/>
          <p:nvPr/>
        </p:nvSpPr>
        <p:spPr>
          <a:xfrm>
            <a:off x="3428992" y="3110211"/>
            <a:ext cx="676788" cy="461665"/>
          </a:xfrm>
          <a:prstGeom prst="rect">
            <a:avLst/>
          </a:prstGeom>
          <a:noFill/>
        </p:spPr>
        <p:txBody>
          <a:bodyPr wrap="none" rtlCol="0">
            <a:spAutoFit/>
          </a:bodyPr>
          <a:lstStyle/>
          <a:p>
            <a:r>
              <a:rPr kumimoji="1" lang="en-US" altLang="ja-JP" sz="2400" dirty="0" smtClean="0"/>
              <a:t>a[2]</a:t>
            </a:r>
            <a:endParaRPr kumimoji="1" lang="ja-JP" altLang="en-US" sz="2400" dirty="0"/>
          </a:p>
        </p:txBody>
      </p:sp>
      <p:sp>
        <p:nvSpPr>
          <p:cNvPr id="18" name="テキスト ボックス 17"/>
          <p:cNvSpPr txBox="1"/>
          <p:nvPr/>
        </p:nvSpPr>
        <p:spPr>
          <a:xfrm>
            <a:off x="4252402" y="3110211"/>
            <a:ext cx="676788" cy="461665"/>
          </a:xfrm>
          <a:prstGeom prst="rect">
            <a:avLst/>
          </a:prstGeom>
          <a:noFill/>
        </p:spPr>
        <p:txBody>
          <a:bodyPr wrap="none" rtlCol="0">
            <a:spAutoFit/>
          </a:bodyPr>
          <a:lstStyle/>
          <a:p>
            <a:r>
              <a:rPr kumimoji="1" lang="en-US" altLang="ja-JP" sz="2400" dirty="0" smtClean="0"/>
              <a:t>a[3]</a:t>
            </a:r>
            <a:endParaRPr kumimoji="1" lang="ja-JP" altLang="en-US" sz="2400" dirty="0"/>
          </a:p>
        </p:txBody>
      </p:sp>
      <p:sp>
        <p:nvSpPr>
          <p:cNvPr id="19" name="テキスト ボックス 18"/>
          <p:cNvSpPr txBox="1"/>
          <p:nvPr/>
        </p:nvSpPr>
        <p:spPr>
          <a:xfrm>
            <a:off x="5072066" y="3110211"/>
            <a:ext cx="676788" cy="461665"/>
          </a:xfrm>
          <a:prstGeom prst="rect">
            <a:avLst/>
          </a:prstGeom>
          <a:noFill/>
        </p:spPr>
        <p:txBody>
          <a:bodyPr wrap="none" rtlCol="0">
            <a:spAutoFit/>
          </a:bodyPr>
          <a:lstStyle/>
          <a:p>
            <a:r>
              <a:rPr kumimoji="1" lang="en-US" altLang="ja-JP" sz="2400" dirty="0" smtClean="0"/>
              <a:t>a[4]</a:t>
            </a:r>
            <a:endParaRPr kumimoji="1" lang="ja-JP" altLang="en-US" sz="2400" dirty="0"/>
          </a:p>
        </p:txBody>
      </p:sp>
      <p:sp>
        <p:nvSpPr>
          <p:cNvPr id="20" name="テキスト ボックス 19"/>
          <p:cNvSpPr txBox="1"/>
          <p:nvPr/>
        </p:nvSpPr>
        <p:spPr>
          <a:xfrm>
            <a:off x="5929322" y="3110211"/>
            <a:ext cx="676788" cy="461665"/>
          </a:xfrm>
          <a:prstGeom prst="rect">
            <a:avLst/>
          </a:prstGeom>
          <a:noFill/>
        </p:spPr>
        <p:txBody>
          <a:bodyPr wrap="none" rtlCol="0">
            <a:spAutoFit/>
          </a:bodyPr>
          <a:lstStyle/>
          <a:p>
            <a:r>
              <a:rPr kumimoji="1" lang="en-US" altLang="ja-JP" sz="2400" dirty="0" smtClean="0"/>
              <a:t>a[5]</a:t>
            </a:r>
            <a:endParaRPr kumimoji="1" lang="ja-JP" altLang="en-US" sz="2400" dirty="0"/>
          </a:p>
        </p:txBody>
      </p:sp>
      <p:sp>
        <p:nvSpPr>
          <p:cNvPr id="21" name="テキスト ボックス 20"/>
          <p:cNvSpPr txBox="1"/>
          <p:nvPr/>
        </p:nvSpPr>
        <p:spPr>
          <a:xfrm>
            <a:off x="6752732" y="3110211"/>
            <a:ext cx="676788" cy="461665"/>
          </a:xfrm>
          <a:prstGeom prst="rect">
            <a:avLst/>
          </a:prstGeom>
          <a:noFill/>
        </p:spPr>
        <p:txBody>
          <a:bodyPr wrap="none" rtlCol="0">
            <a:spAutoFit/>
          </a:bodyPr>
          <a:lstStyle/>
          <a:p>
            <a:r>
              <a:rPr kumimoji="1" lang="en-US" altLang="ja-JP" sz="2400" dirty="0" smtClean="0"/>
              <a:t>a[6]</a:t>
            </a:r>
            <a:endParaRPr kumimoji="1" lang="ja-JP" altLang="en-US" sz="2400" dirty="0"/>
          </a:p>
        </p:txBody>
      </p:sp>
      <p:sp>
        <p:nvSpPr>
          <p:cNvPr id="22" name="テキスト ボックス 21"/>
          <p:cNvSpPr txBox="1"/>
          <p:nvPr/>
        </p:nvSpPr>
        <p:spPr>
          <a:xfrm>
            <a:off x="1214414" y="4039751"/>
            <a:ext cx="6643734" cy="2246769"/>
          </a:xfrm>
          <a:prstGeom prst="rect">
            <a:avLst/>
          </a:prstGeom>
          <a:noFill/>
        </p:spPr>
        <p:txBody>
          <a:bodyPr wrap="square" rtlCol="0">
            <a:spAutoFit/>
          </a:bodyPr>
          <a:lstStyle/>
          <a:p>
            <a:r>
              <a:rPr kumimoji="1" lang="en-US" altLang="ja-JP" sz="2800" dirty="0" smtClean="0"/>
              <a:t>&amp;a[0]</a:t>
            </a:r>
            <a:r>
              <a:rPr kumimoji="1" lang="ja-JP" altLang="en-US" sz="2800" dirty="0" smtClean="0"/>
              <a:t>は配列</a:t>
            </a:r>
            <a:r>
              <a:rPr kumimoji="1" lang="en-US" altLang="ja-JP" sz="2800" dirty="0" smtClean="0"/>
              <a:t>a</a:t>
            </a:r>
            <a:r>
              <a:rPr kumimoji="1" lang="ja-JP" altLang="en-US" sz="2800" dirty="0" smtClean="0"/>
              <a:t>の先頭要素へのポインタ</a:t>
            </a:r>
            <a:r>
              <a:rPr lang="ja-JP" altLang="en-US" sz="2800" dirty="0" smtClean="0"/>
              <a:t>を表す。</a:t>
            </a:r>
            <a:r>
              <a:rPr lang="en-US" altLang="ja-JP" sz="2800" dirty="0" smtClean="0"/>
              <a:t>&amp;a[0]</a:t>
            </a:r>
            <a:r>
              <a:rPr lang="ja-JP" altLang="en-US" sz="2800" dirty="0" smtClean="0"/>
              <a:t>の値は、配列</a:t>
            </a:r>
            <a:r>
              <a:rPr lang="en-US" altLang="ja-JP" sz="2800" dirty="0" smtClean="0"/>
              <a:t>a</a:t>
            </a:r>
            <a:r>
              <a:rPr lang="ja-JP" altLang="en-US" sz="2800" dirty="0" smtClean="0"/>
              <a:t>の先頭要素</a:t>
            </a:r>
            <a:r>
              <a:rPr kumimoji="1" lang="ja-JP" altLang="en-US" sz="2800" dirty="0" smtClean="0"/>
              <a:t>の番地である。この場合、</a:t>
            </a:r>
            <a:r>
              <a:rPr kumimoji="1" lang="en-US" altLang="ja-JP" sz="2800" dirty="0" smtClean="0"/>
              <a:t>100</a:t>
            </a:r>
            <a:r>
              <a:rPr kumimoji="1" lang="ja-JP" altLang="en-US" sz="2800" dirty="0" smtClean="0"/>
              <a:t>である。</a:t>
            </a:r>
            <a:r>
              <a:rPr kumimoji="1" lang="en-US" altLang="ja-JP" sz="2800" dirty="0" smtClean="0"/>
              <a:t>&amp;a[1]</a:t>
            </a:r>
            <a:r>
              <a:rPr kumimoji="1" lang="ja-JP" altLang="en-US" sz="2800" dirty="0" smtClean="0"/>
              <a:t>は</a:t>
            </a:r>
            <a:r>
              <a:rPr lang="ja-JP" altLang="en-US" sz="2800" dirty="0" smtClean="0"/>
              <a:t>配列</a:t>
            </a:r>
            <a:r>
              <a:rPr lang="en-US" altLang="ja-JP" sz="2800" dirty="0" smtClean="0"/>
              <a:t>a</a:t>
            </a:r>
            <a:r>
              <a:rPr lang="ja-JP" altLang="en-US" sz="2800" dirty="0" smtClean="0"/>
              <a:t>の２番目の要素へのポインタであり、</a:t>
            </a:r>
            <a:r>
              <a:rPr lang="en-US" altLang="ja-JP" sz="2800" dirty="0" smtClean="0"/>
              <a:t>101</a:t>
            </a:r>
            <a:r>
              <a:rPr lang="ja-JP" altLang="en-US" sz="2800" dirty="0" smtClean="0"/>
              <a:t>である。</a:t>
            </a:r>
            <a:r>
              <a:rPr lang="en-US" altLang="ja-JP" sz="2800" dirty="0" smtClean="0"/>
              <a:t>&amp;a[2]</a:t>
            </a:r>
            <a:r>
              <a:rPr lang="ja-JP" altLang="en-US" sz="2800" dirty="0" smtClean="0"/>
              <a:t>は</a:t>
            </a:r>
            <a:r>
              <a:rPr lang="en-US" altLang="ja-JP" sz="2800" dirty="0" smtClean="0"/>
              <a:t>102</a:t>
            </a:r>
            <a:r>
              <a:rPr lang="ja-JP" altLang="en-US" sz="2800" dirty="0" smtClean="0"/>
              <a:t>である。以下同様。</a:t>
            </a:r>
            <a:endParaRPr kumimoji="1" lang="en-US" altLang="ja-JP" sz="2800" dirty="0" smtClean="0"/>
          </a:p>
        </p:txBody>
      </p:sp>
      <p:sp>
        <p:nvSpPr>
          <p:cNvPr id="23" name="テキスト ボックス 22"/>
          <p:cNvSpPr txBox="1"/>
          <p:nvPr/>
        </p:nvSpPr>
        <p:spPr>
          <a:xfrm>
            <a:off x="1785918" y="1714488"/>
            <a:ext cx="651140" cy="461665"/>
          </a:xfrm>
          <a:prstGeom prst="rect">
            <a:avLst/>
          </a:prstGeom>
          <a:noFill/>
        </p:spPr>
        <p:txBody>
          <a:bodyPr wrap="none" rtlCol="0">
            <a:spAutoFit/>
          </a:bodyPr>
          <a:lstStyle/>
          <a:p>
            <a:r>
              <a:rPr kumimoji="1" lang="en-US" altLang="ja-JP" sz="2400" dirty="0" smtClean="0"/>
              <a:t>100</a:t>
            </a:r>
            <a:endParaRPr kumimoji="1" lang="ja-JP" altLang="en-US" sz="2400" dirty="0"/>
          </a:p>
        </p:txBody>
      </p:sp>
      <p:sp>
        <p:nvSpPr>
          <p:cNvPr id="24" name="テキスト ボックス 23"/>
          <p:cNvSpPr txBox="1"/>
          <p:nvPr/>
        </p:nvSpPr>
        <p:spPr>
          <a:xfrm>
            <a:off x="2643174" y="1714488"/>
            <a:ext cx="651140" cy="461665"/>
          </a:xfrm>
          <a:prstGeom prst="rect">
            <a:avLst/>
          </a:prstGeom>
          <a:noFill/>
        </p:spPr>
        <p:txBody>
          <a:bodyPr wrap="none" rtlCol="0">
            <a:spAutoFit/>
          </a:bodyPr>
          <a:lstStyle/>
          <a:p>
            <a:r>
              <a:rPr kumimoji="1" lang="en-US" altLang="ja-JP" sz="2400" dirty="0" smtClean="0"/>
              <a:t>101</a:t>
            </a:r>
            <a:endParaRPr kumimoji="1" lang="ja-JP" altLang="en-US" sz="2400" dirty="0"/>
          </a:p>
        </p:txBody>
      </p:sp>
      <p:sp>
        <p:nvSpPr>
          <p:cNvPr id="25" name="テキスト ボックス 24"/>
          <p:cNvSpPr txBox="1"/>
          <p:nvPr/>
        </p:nvSpPr>
        <p:spPr>
          <a:xfrm>
            <a:off x="3428992" y="1714488"/>
            <a:ext cx="651140" cy="461665"/>
          </a:xfrm>
          <a:prstGeom prst="rect">
            <a:avLst/>
          </a:prstGeom>
          <a:noFill/>
        </p:spPr>
        <p:txBody>
          <a:bodyPr wrap="none" rtlCol="0">
            <a:spAutoFit/>
          </a:bodyPr>
          <a:lstStyle/>
          <a:p>
            <a:r>
              <a:rPr kumimoji="1" lang="en-US" altLang="ja-JP" sz="2400" dirty="0" smtClean="0"/>
              <a:t>102</a:t>
            </a:r>
            <a:endParaRPr kumimoji="1" lang="ja-JP" altLang="en-US" sz="2400" dirty="0"/>
          </a:p>
        </p:txBody>
      </p:sp>
      <p:sp>
        <p:nvSpPr>
          <p:cNvPr id="26" name="テキスト ボックス 25"/>
          <p:cNvSpPr txBox="1"/>
          <p:nvPr/>
        </p:nvSpPr>
        <p:spPr>
          <a:xfrm>
            <a:off x="4286248" y="1714488"/>
            <a:ext cx="651140" cy="461665"/>
          </a:xfrm>
          <a:prstGeom prst="rect">
            <a:avLst/>
          </a:prstGeom>
          <a:noFill/>
        </p:spPr>
        <p:txBody>
          <a:bodyPr wrap="none" rtlCol="0">
            <a:spAutoFit/>
          </a:bodyPr>
          <a:lstStyle/>
          <a:p>
            <a:r>
              <a:rPr kumimoji="1" lang="en-US" altLang="ja-JP" sz="2400" dirty="0" smtClean="0"/>
              <a:t>103</a:t>
            </a:r>
            <a:endParaRPr kumimoji="1" lang="ja-JP" altLang="en-US" sz="2400" dirty="0"/>
          </a:p>
        </p:txBody>
      </p:sp>
      <p:sp>
        <p:nvSpPr>
          <p:cNvPr id="27" name="テキスト ボックス 26"/>
          <p:cNvSpPr txBox="1"/>
          <p:nvPr/>
        </p:nvSpPr>
        <p:spPr>
          <a:xfrm>
            <a:off x="5072066" y="1714488"/>
            <a:ext cx="651140" cy="461665"/>
          </a:xfrm>
          <a:prstGeom prst="rect">
            <a:avLst/>
          </a:prstGeom>
          <a:noFill/>
        </p:spPr>
        <p:txBody>
          <a:bodyPr wrap="none" rtlCol="0">
            <a:spAutoFit/>
          </a:bodyPr>
          <a:lstStyle/>
          <a:p>
            <a:r>
              <a:rPr kumimoji="1" lang="en-US" altLang="ja-JP" sz="2400" dirty="0" smtClean="0"/>
              <a:t>104</a:t>
            </a:r>
            <a:endParaRPr kumimoji="1" lang="ja-JP" altLang="en-US" sz="2400" dirty="0"/>
          </a:p>
        </p:txBody>
      </p:sp>
      <p:sp>
        <p:nvSpPr>
          <p:cNvPr id="28" name="テキスト ボックス 27"/>
          <p:cNvSpPr txBox="1"/>
          <p:nvPr/>
        </p:nvSpPr>
        <p:spPr>
          <a:xfrm>
            <a:off x="5929322" y="1714488"/>
            <a:ext cx="651140" cy="461665"/>
          </a:xfrm>
          <a:prstGeom prst="rect">
            <a:avLst/>
          </a:prstGeom>
          <a:noFill/>
        </p:spPr>
        <p:txBody>
          <a:bodyPr wrap="none" rtlCol="0">
            <a:spAutoFit/>
          </a:bodyPr>
          <a:lstStyle/>
          <a:p>
            <a:r>
              <a:rPr kumimoji="1" lang="en-US" altLang="ja-JP" sz="2400" dirty="0" smtClean="0"/>
              <a:t>105</a:t>
            </a:r>
            <a:endParaRPr kumimoji="1" lang="ja-JP" altLang="en-US" sz="2400" dirty="0"/>
          </a:p>
        </p:txBody>
      </p:sp>
      <p:sp>
        <p:nvSpPr>
          <p:cNvPr id="29" name="テキスト ボックス 28"/>
          <p:cNvSpPr txBox="1"/>
          <p:nvPr/>
        </p:nvSpPr>
        <p:spPr>
          <a:xfrm>
            <a:off x="6715140" y="1714488"/>
            <a:ext cx="651140" cy="461665"/>
          </a:xfrm>
          <a:prstGeom prst="rect">
            <a:avLst/>
          </a:prstGeom>
          <a:noFill/>
        </p:spPr>
        <p:txBody>
          <a:bodyPr wrap="none" rtlCol="0">
            <a:spAutoFit/>
          </a:bodyPr>
          <a:lstStyle/>
          <a:p>
            <a:r>
              <a:rPr kumimoji="1" lang="en-US" altLang="ja-JP" sz="2400" dirty="0" smtClean="0"/>
              <a:t>106</a:t>
            </a:r>
            <a:endParaRPr kumimoji="1" lang="ja-JP" altLang="en-US" sz="2400" dirty="0"/>
          </a:p>
        </p:txBody>
      </p:sp>
      <p:sp>
        <p:nvSpPr>
          <p:cNvPr id="30" name="テキスト ボックス 29"/>
          <p:cNvSpPr txBox="1"/>
          <p:nvPr/>
        </p:nvSpPr>
        <p:spPr>
          <a:xfrm>
            <a:off x="714348" y="1752889"/>
            <a:ext cx="857256" cy="461665"/>
          </a:xfrm>
          <a:prstGeom prst="rect">
            <a:avLst/>
          </a:prstGeom>
          <a:noFill/>
        </p:spPr>
        <p:txBody>
          <a:bodyPr wrap="square" rtlCol="0">
            <a:spAutoFit/>
          </a:bodyPr>
          <a:lstStyle/>
          <a:p>
            <a:r>
              <a:rPr kumimoji="1" lang="ja-JP" altLang="en-US" sz="2400" dirty="0" smtClean="0"/>
              <a:t>番地</a:t>
            </a:r>
            <a:endParaRPr kumimoji="1" lang="ja-JP" altLang="en-US" sz="2400"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500034" y="357174"/>
            <a:ext cx="8229600" cy="785810"/>
          </a:xfrm>
        </p:spPr>
        <p:txBody>
          <a:bodyPr>
            <a:noAutofit/>
          </a:bodyPr>
          <a:lstStyle/>
          <a:p>
            <a:r>
              <a:rPr lang="en-US" altLang="ja-JP" sz="3600" dirty="0" err="1" smtClean="0"/>
              <a:t>p</a:t>
            </a:r>
            <a:r>
              <a:rPr kumimoji="1" lang="en-US" altLang="ja-JP" sz="3600" dirty="0" err="1" smtClean="0"/>
              <a:t>rintf</a:t>
            </a:r>
            <a:r>
              <a:rPr kumimoji="1" lang="ja-JP" altLang="en-US" sz="3600" dirty="0" smtClean="0"/>
              <a:t>関数の変換指定の</a:t>
            </a:r>
            <a:r>
              <a:rPr kumimoji="1" lang="en-US" altLang="ja-JP" sz="3600" dirty="0" smtClean="0"/>
              <a:t>%s</a:t>
            </a:r>
            <a:r>
              <a:rPr kumimoji="1" lang="ja-JP" altLang="en-US" sz="3600" dirty="0" smtClean="0"/>
              <a:t>について</a:t>
            </a:r>
            <a:endParaRPr kumimoji="1" lang="ja-JP" altLang="en-US" sz="3600" dirty="0"/>
          </a:p>
        </p:txBody>
      </p:sp>
      <p:graphicFrame>
        <p:nvGraphicFramePr>
          <p:cNvPr id="8" name="表 7"/>
          <p:cNvGraphicFramePr>
            <a:graphicFrameLocks noGrp="1"/>
          </p:cNvGraphicFramePr>
          <p:nvPr/>
        </p:nvGraphicFramePr>
        <p:xfrm>
          <a:off x="1687689" y="1895765"/>
          <a:ext cx="5813269" cy="714380"/>
        </p:xfrm>
        <a:graphic>
          <a:graphicData uri="http://schemas.openxmlformats.org/drawingml/2006/table">
            <a:tbl>
              <a:tblPr firstRow="1" bandRow="1">
                <a:tableStyleId>{00A15C55-8517-42AA-B614-E9B94910E393}</a:tableStyleId>
              </a:tblPr>
              <a:tblGrid>
                <a:gridCol w="830467"/>
                <a:gridCol w="830467"/>
                <a:gridCol w="830467"/>
                <a:gridCol w="830467"/>
                <a:gridCol w="830467"/>
                <a:gridCol w="830467"/>
                <a:gridCol w="830467"/>
              </a:tblGrid>
              <a:tr h="714380">
                <a:tc>
                  <a:txBody>
                    <a:bodyPr/>
                    <a:lstStyle/>
                    <a:p>
                      <a:pPr algn="ctr"/>
                      <a:r>
                        <a:rPr kumimoji="1" lang="en-US" altLang="ja-JP" sz="3200" b="0" dirty="0" smtClean="0">
                          <a:solidFill>
                            <a:sysClr val="windowText" lastClr="000000"/>
                          </a:solidFill>
                        </a:rPr>
                        <a:t>‘L’</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a:t>
                      </a:r>
                      <a:r>
                        <a:rPr kumimoji="1" lang="en-US" altLang="ja-JP" sz="3200" b="0" dirty="0" err="1" smtClean="0">
                          <a:solidFill>
                            <a:sysClr val="windowText" lastClr="000000"/>
                          </a:solidFill>
                        </a:rPr>
                        <a:t>i</a:t>
                      </a:r>
                      <a:r>
                        <a:rPr kumimoji="1" lang="en-US" altLang="ja-JP" sz="3200" b="0" dirty="0" smtClean="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‘n’</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‘u’</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‘x’</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10" name="テキスト ボックス 9"/>
          <p:cNvSpPr txBox="1"/>
          <p:nvPr/>
        </p:nvSpPr>
        <p:spPr>
          <a:xfrm>
            <a:off x="1785918" y="2753021"/>
            <a:ext cx="676788" cy="461665"/>
          </a:xfrm>
          <a:prstGeom prst="rect">
            <a:avLst/>
          </a:prstGeom>
          <a:noFill/>
        </p:spPr>
        <p:txBody>
          <a:bodyPr wrap="none" rtlCol="0">
            <a:spAutoFit/>
          </a:bodyPr>
          <a:lstStyle/>
          <a:p>
            <a:r>
              <a:rPr kumimoji="1" lang="en-US" altLang="ja-JP" sz="2400" dirty="0" smtClean="0"/>
              <a:t>a[0]</a:t>
            </a:r>
            <a:endParaRPr kumimoji="1" lang="ja-JP" altLang="en-US" sz="2400" dirty="0"/>
          </a:p>
        </p:txBody>
      </p:sp>
      <p:sp>
        <p:nvSpPr>
          <p:cNvPr id="11" name="テキスト ボックス 10"/>
          <p:cNvSpPr txBox="1"/>
          <p:nvPr/>
        </p:nvSpPr>
        <p:spPr>
          <a:xfrm>
            <a:off x="2571736" y="2753021"/>
            <a:ext cx="676788" cy="461665"/>
          </a:xfrm>
          <a:prstGeom prst="rect">
            <a:avLst/>
          </a:prstGeom>
          <a:noFill/>
        </p:spPr>
        <p:txBody>
          <a:bodyPr wrap="none" rtlCol="0">
            <a:spAutoFit/>
          </a:bodyPr>
          <a:lstStyle/>
          <a:p>
            <a:r>
              <a:rPr kumimoji="1" lang="en-US" altLang="ja-JP" sz="2400" dirty="0" smtClean="0"/>
              <a:t>a[1]</a:t>
            </a:r>
            <a:endParaRPr kumimoji="1" lang="ja-JP" altLang="en-US" sz="2400" dirty="0"/>
          </a:p>
        </p:txBody>
      </p:sp>
      <p:sp>
        <p:nvSpPr>
          <p:cNvPr id="17" name="テキスト ボックス 16"/>
          <p:cNvSpPr txBox="1"/>
          <p:nvPr/>
        </p:nvSpPr>
        <p:spPr>
          <a:xfrm>
            <a:off x="3428992" y="2753021"/>
            <a:ext cx="676788" cy="461665"/>
          </a:xfrm>
          <a:prstGeom prst="rect">
            <a:avLst/>
          </a:prstGeom>
          <a:noFill/>
        </p:spPr>
        <p:txBody>
          <a:bodyPr wrap="none" rtlCol="0">
            <a:spAutoFit/>
          </a:bodyPr>
          <a:lstStyle/>
          <a:p>
            <a:r>
              <a:rPr kumimoji="1" lang="en-US" altLang="ja-JP" sz="2400" dirty="0" smtClean="0"/>
              <a:t>a[2]</a:t>
            </a:r>
            <a:endParaRPr kumimoji="1" lang="ja-JP" altLang="en-US" sz="2400" dirty="0"/>
          </a:p>
        </p:txBody>
      </p:sp>
      <p:sp>
        <p:nvSpPr>
          <p:cNvPr id="18" name="テキスト ボックス 17"/>
          <p:cNvSpPr txBox="1"/>
          <p:nvPr/>
        </p:nvSpPr>
        <p:spPr>
          <a:xfrm>
            <a:off x="4252402" y="2753021"/>
            <a:ext cx="676788" cy="461665"/>
          </a:xfrm>
          <a:prstGeom prst="rect">
            <a:avLst/>
          </a:prstGeom>
          <a:noFill/>
        </p:spPr>
        <p:txBody>
          <a:bodyPr wrap="none" rtlCol="0">
            <a:spAutoFit/>
          </a:bodyPr>
          <a:lstStyle/>
          <a:p>
            <a:r>
              <a:rPr kumimoji="1" lang="en-US" altLang="ja-JP" sz="2400" dirty="0" smtClean="0"/>
              <a:t>a[3]</a:t>
            </a:r>
            <a:endParaRPr kumimoji="1" lang="ja-JP" altLang="en-US" sz="2400" dirty="0"/>
          </a:p>
        </p:txBody>
      </p:sp>
      <p:sp>
        <p:nvSpPr>
          <p:cNvPr id="19" name="テキスト ボックス 18"/>
          <p:cNvSpPr txBox="1"/>
          <p:nvPr/>
        </p:nvSpPr>
        <p:spPr>
          <a:xfrm>
            <a:off x="5072066" y="2753021"/>
            <a:ext cx="676788" cy="461665"/>
          </a:xfrm>
          <a:prstGeom prst="rect">
            <a:avLst/>
          </a:prstGeom>
          <a:noFill/>
        </p:spPr>
        <p:txBody>
          <a:bodyPr wrap="none" rtlCol="0">
            <a:spAutoFit/>
          </a:bodyPr>
          <a:lstStyle/>
          <a:p>
            <a:r>
              <a:rPr kumimoji="1" lang="en-US" altLang="ja-JP" sz="2400" dirty="0" smtClean="0"/>
              <a:t>a[4]</a:t>
            </a:r>
            <a:endParaRPr kumimoji="1" lang="ja-JP" altLang="en-US" sz="2400" dirty="0"/>
          </a:p>
        </p:txBody>
      </p:sp>
      <p:sp>
        <p:nvSpPr>
          <p:cNvPr id="20" name="テキスト ボックス 19"/>
          <p:cNvSpPr txBox="1"/>
          <p:nvPr/>
        </p:nvSpPr>
        <p:spPr>
          <a:xfrm>
            <a:off x="5929322" y="2753021"/>
            <a:ext cx="676788" cy="461665"/>
          </a:xfrm>
          <a:prstGeom prst="rect">
            <a:avLst/>
          </a:prstGeom>
          <a:noFill/>
        </p:spPr>
        <p:txBody>
          <a:bodyPr wrap="none" rtlCol="0">
            <a:spAutoFit/>
          </a:bodyPr>
          <a:lstStyle/>
          <a:p>
            <a:r>
              <a:rPr kumimoji="1" lang="en-US" altLang="ja-JP" sz="2400" dirty="0" smtClean="0"/>
              <a:t>a[5]</a:t>
            </a:r>
            <a:endParaRPr kumimoji="1" lang="ja-JP" altLang="en-US" sz="2400" dirty="0"/>
          </a:p>
        </p:txBody>
      </p:sp>
      <p:sp>
        <p:nvSpPr>
          <p:cNvPr id="21" name="テキスト ボックス 20"/>
          <p:cNvSpPr txBox="1"/>
          <p:nvPr/>
        </p:nvSpPr>
        <p:spPr>
          <a:xfrm>
            <a:off x="6752732" y="2753021"/>
            <a:ext cx="676788" cy="461665"/>
          </a:xfrm>
          <a:prstGeom prst="rect">
            <a:avLst/>
          </a:prstGeom>
          <a:noFill/>
        </p:spPr>
        <p:txBody>
          <a:bodyPr wrap="none" rtlCol="0">
            <a:spAutoFit/>
          </a:bodyPr>
          <a:lstStyle/>
          <a:p>
            <a:r>
              <a:rPr kumimoji="1" lang="en-US" altLang="ja-JP" sz="2400" dirty="0" smtClean="0"/>
              <a:t>a[6]</a:t>
            </a:r>
            <a:endParaRPr kumimoji="1" lang="ja-JP" altLang="en-US" sz="2400" dirty="0"/>
          </a:p>
        </p:txBody>
      </p:sp>
      <p:sp>
        <p:nvSpPr>
          <p:cNvPr id="22" name="テキスト ボックス 21"/>
          <p:cNvSpPr txBox="1"/>
          <p:nvPr/>
        </p:nvSpPr>
        <p:spPr>
          <a:xfrm>
            <a:off x="928662" y="3643314"/>
            <a:ext cx="6643734" cy="2677656"/>
          </a:xfrm>
          <a:prstGeom prst="rect">
            <a:avLst/>
          </a:prstGeom>
          <a:noFill/>
        </p:spPr>
        <p:txBody>
          <a:bodyPr wrap="square" rtlCol="0">
            <a:spAutoFit/>
          </a:bodyPr>
          <a:lstStyle/>
          <a:p>
            <a:r>
              <a:rPr lang="en-US" altLang="ja-JP" sz="2800" dirty="0" smtClean="0"/>
              <a:t> </a:t>
            </a:r>
            <a:r>
              <a:rPr lang="ja-JP" altLang="en-US" sz="2800" dirty="0" smtClean="0"/>
              <a:t>   </a:t>
            </a:r>
            <a:r>
              <a:rPr lang="en-US" altLang="ja-JP" sz="2800" dirty="0" err="1" smtClean="0"/>
              <a:t>printf</a:t>
            </a:r>
            <a:r>
              <a:rPr lang="en-US" altLang="ja-JP" sz="2800" dirty="0" smtClean="0"/>
              <a:t> (“%s”, &amp;a[1]);</a:t>
            </a:r>
          </a:p>
          <a:p>
            <a:r>
              <a:rPr kumimoji="1" lang="ja-JP" altLang="en-US" sz="2800" dirty="0" smtClean="0"/>
              <a:t>が実行されると、</a:t>
            </a:r>
            <a:r>
              <a:rPr lang="en-US" altLang="ja-JP" sz="2800" dirty="0" smtClean="0"/>
              <a:t>101</a:t>
            </a:r>
            <a:r>
              <a:rPr lang="ja-JP" altLang="en-US" sz="2800" dirty="0" smtClean="0"/>
              <a:t>番地から、ヌル文字の１つ手前までの文字が画面に出力される。つまり、</a:t>
            </a:r>
            <a:r>
              <a:rPr lang="en-US" altLang="ja-JP" sz="2800" dirty="0" smtClean="0"/>
              <a:t>in</a:t>
            </a:r>
            <a:r>
              <a:rPr lang="ja-JP" altLang="en-US" sz="2800" dirty="0" smtClean="0"/>
              <a:t>が表示される。</a:t>
            </a:r>
            <a:endParaRPr lang="en-US" altLang="ja-JP" sz="2800" dirty="0" smtClean="0"/>
          </a:p>
          <a:p>
            <a:r>
              <a:rPr lang="en-US" altLang="ja-JP" sz="2800" dirty="0" smtClean="0"/>
              <a:t>    </a:t>
            </a:r>
            <a:r>
              <a:rPr lang="en-US" altLang="ja-JP" sz="2800" dirty="0" err="1" smtClean="0"/>
              <a:t>printf</a:t>
            </a:r>
            <a:r>
              <a:rPr lang="en-US" altLang="ja-JP" sz="2800" dirty="0" smtClean="0"/>
              <a:t> (“%s”, &amp;a[4]);</a:t>
            </a:r>
          </a:p>
          <a:p>
            <a:r>
              <a:rPr lang="ja-JP" altLang="en-US" sz="2800" dirty="0" smtClean="0"/>
              <a:t>だと、</a:t>
            </a:r>
            <a:r>
              <a:rPr lang="en-US" altLang="ja-JP" sz="2800" dirty="0" err="1" smtClean="0"/>
              <a:t>ux</a:t>
            </a:r>
            <a:r>
              <a:rPr lang="ja-JP" altLang="en-US" sz="2800" dirty="0" smtClean="0"/>
              <a:t>が表示される。</a:t>
            </a:r>
            <a:endParaRPr lang="en-US" altLang="ja-JP" sz="2800" dirty="0" smtClean="0"/>
          </a:p>
        </p:txBody>
      </p:sp>
      <p:sp>
        <p:nvSpPr>
          <p:cNvPr id="23" name="テキスト ボックス 22"/>
          <p:cNvSpPr txBox="1"/>
          <p:nvPr/>
        </p:nvSpPr>
        <p:spPr>
          <a:xfrm>
            <a:off x="1785918" y="1357298"/>
            <a:ext cx="651140" cy="461665"/>
          </a:xfrm>
          <a:prstGeom prst="rect">
            <a:avLst/>
          </a:prstGeom>
          <a:noFill/>
        </p:spPr>
        <p:txBody>
          <a:bodyPr wrap="none" rtlCol="0">
            <a:spAutoFit/>
          </a:bodyPr>
          <a:lstStyle/>
          <a:p>
            <a:r>
              <a:rPr kumimoji="1" lang="en-US" altLang="ja-JP" sz="2400" dirty="0" smtClean="0"/>
              <a:t>100</a:t>
            </a:r>
            <a:endParaRPr kumimoji="1" lang="ja-JP" altLang="en-US" sz="2400" dirty="0"/>
          </a:p>
        </p:txBody>
      </p:sp>
      <p:sp>
        <p:nvSpPr>
          <p:cNvPr id="24" name="テキスト ボックス 23"/>
          <p:cNvSpPr txBox="1"/>
          <p:nvPr/>
        </p:nvSpPr>
        <p:spPr>
          <a:xfrm>
            <a:off x="2643174" y="1357298"/>
            <a:ext cx="651140" cy="461665"/>
          </a:xfrm>
          <a:prstGeom prst="rect">
            <a:avLst/>
          </a:prstGeom>
          <a:noFill/>
        </p:spPr>
        <p:txBody>
          <a:bodyPr wrap="none" rtlCol="0">
            <a:spAutoFit/>
          </a:bodyPr>
          <a:lstStyle/>
          <a:p>
            <a:r>
              <a:rPr kumimoji="1" lang="en-US" altLang="ja-JP" sz="2400" dirty="0" smtClean="0"/>
              <a:t>101</a:t>
            </a:r>
            <a:endParaRPr kumimoji="1" lang="ja-JP" altLang="en-US" sz="2400" dirty="0"/>
          </a:p>
        </p:txBody>
      </p:sp>
      <p:sp>
        <p:nvSpPr>
          <p:cNvPr id="25" name="テキスト ボックス 24"/>
          <p:cNvSpPr txBox="1"/>
          <p:nvPr/>
        </p:nvSpPr>
        <p:spPr>
          <a:xfrm>
            <a:off x="3428992" y="1357298"/>
            <a:ext cx="651140" cy="461665"/>
          </a:xfrm>
          <a:prstGeom prst="rect">
            <a:avLst/>
          </a:prstGeom>
          <a:noFill/>
        </p:spPr>
        <p:txBody>
          <a:bodyPr wrap="none" rtlCol="0">
            <a:spAutoFit/>
          </a:bodyPr>
          <a:lstStyle/>
          <a:p>
            <a:r>
              <a:rPr kumimoji="1" lang="en-US" altLang="ja-JP" sz="2400" dirty="0" smtClean="0"/>
              <a:t>102</a:t>
            </a:r>
            <a:endParaRPr kumimoji="1" lang="ja-JP" altLang="en-US" sz="2400" dirty="0"/>
          </a:p>
        </p:txBody>
      </p:sp>
      <p:sp>
        <p:nvSpPr>
          <p:cNvPr id="26" name="テキスト ボックス 25"/>
          <p:cNvSpPr txBox="1"/>
          <p:nvPr/>
        </p:nvSpPr>
        <p:spPr>
          <a:xfrm>
            <a:off x="4286248" y="1357298"/>
            <a:ext cx="651140" cy="461665"/>
          </a:xfrm>
          <a:prstGeom prst="rect">
            <a:avLst/>
          </a:prstGeom>
          <a:noFill/>
        </p:spPr>
        <p:txBody>
          <a:bodyPr wrap="none" rtlCol="0">
            <a:spAutoFit/>
          </a:bodyPr>
          <a:lstStyle/>
          <a:p>
            <a:r>
              <a:rPr kumimoji="1" lang="en-US" altLang="ja-JP" sz="2400" dirty="0" smtClean="0"/>
              <a:t>103</a:t>
            </a:r>
            <a:endParaRPr kumimoji="1" lang="ja-JP" altLang="en-US" sz="2400" dirty="0"/>
          </a:p>
        </p:txBody>
      </p:sp>
      <p:sp>
        <p:nvSpPr>
          <p:cNvPr id="27" name="テキスト ボックス 26"/>
          <p:cNvSpPr txBox="1"/>
          <p:nvPr/>
        </p:nvSpPr>
        <p:spPr>
          <a:xfrm>
            <a:off x="5072066" y="1357298"/>
            <a:ext cx="651140" cy="461665"/>
          </a:xfrm>
          <a:prstGeom prst="rect">
            <a:avLst/>
          </a:prstGeom>
          <a:noFill/>
        </p:spPr>
        <p:txBody>
          <a:bodyPr wrap="none" rtlCol="0">
            <a:spAutoFit/>
          </a:bodyPr>
          <a:lstStyle/>
          <a:p>
            <a:r>
              <a:rPr kumimoji="1" lang="en-US" altLang="ja-JP" sz="2400" dirty="0" smtClean="0"/>
              <a:t>104</a:t>
            </a:r>
            <a:endParaRPr kumimoji="1" lang="ja-JP" altLang="en-US" sz="2400" dirty="0"/>
          </a:p>
        </p:txBody>
      </p:sp>
      <p:sp>
        <p:nvSpPr>
          <p:cNvPr id="28" name="テキスト ボックス 27"/>
          <p:cNvSpPr txBox="1"/>
          <p:nvPr/>
        </p:nvSpPr>
        <p:spPr>
          <a:xfrm>
            <a:off x="5929322" y="1357298"/>
            <a:ext cx="651140" cy="461665"/>
          </a:xfrm>
          <a:prstGeom prst="rect">
            <a:avLst/>
          </a:prstGeom>
          <a:noFill/>
        </p:spPr>
        <p:txBody>
          <a:bodyPr wrap="none" rtlCol="0">
            <a:spAutoFit/>
          </a:bodyPr>
          <a:lstStyle/>
          <a:p>
            <a:r>
              <a:rPr kumimoji="1" lang="en-US" altLang="ja-JP" sz="2400" dirty="0" smtClean="0"/>
              <a:t>105</a:t>
            </a:r>
            <a:endParaRPr kumimoji="1" lang="ja-JP" altLang="en-US" sz="2400" dirty="0"/>
          </a:p>
        </p:txBody>
      </p:sp>
      <p:sp>
        <p:nvSpPr>
          <p:cNvPr id="29" name="テキスト ボックス 28"/>
          <p:cNvSpPr txBox="1"/>
          <p:nvPr/>
        </p:nvSpPr>
        <p:spPr>
          <a:xfrm>
            <a:off x="6715140" y="1357298"/>
            <a:ext cx="651140" cy="461665"/>
          </a:xfrm>
          <a:prstGeom prst="rect">
            <a:avLst/>
          </a:prstGeom>
          <a:noFill/>
        </p:spPr>
        <p:txBody>
          <a:bodyPr wrap="none" rtlCol="0">
            <a:spAutoFit/>
          </a:bodyPr>
          <a:lstStyle/>
          <a:p>
            <a:r>
              <a:rPr kumimoji="1" lang="en-US" altLang="ja-JP" sz="2400" dirty="0" smtClean="0"/>
              <a:t>106</a:t>
            </a:r>
            <a:endParaRPr kumimoji="1" lang="ja-JP" altLang="en-US" sz="2400" dirty="0"/>
          </a:p>
        </p:txBody>
      </p:sp>
      <p:sp>
        <p:nvSpPr>
          <p:cNvPr id="30" name="テキスト ボックス 29"/>
          <p:cNvSpPr txBox="1"/>
          <p:nvPr/>
        </p:nvSpPr>
        <p:spPr>
          <a:xfrm>
            <a:off x="714348" y="1395699"/>
            <a:ext cx="857256" cy="461665"/>
          </a:xfrm>
          <a:prstGeom prst="rect">
            <a:avLst/>
          </a:prstGeom>
          <a:noFill/>
        </p:spPr>
        <p:txBody>
          <a:bodyPr wrap="square" rtlCol="0">
            <a:spAutoFit/>
          </a:bodyPr>
          <a:lstStyle/>
          <a:p>
            <a:r>
              <a:rPr kumimoji="1" lang="ja-JP" altLang="en-US" sz="2400" dirty="0" smtClean="0"/>
              <a:t>番地</a:t>
            </a:r>
            <a:endParaRPr kumimoji="1" lang="ja-JP" altLang="en-US" sz="2400"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補足</a:t>
            </a:r>
            <a:endParaRPr kumimoji="1" lang="ja-JP" altLang="en-US" dirty="0"/>
          </a:p>
        </p:txBody>
      </p:sp>
      <p:sp>
        <p:nvSpPr>
          <p:cNvPr id="4" name="テキスト ボックス 3"/>
          <p:cNvSpPr txBox="1"/>
          <p:nvPr/>
        </p:nvSpPr>
        <p:spPr>
          <a:xfrm>
            <a:off x="683568" y="3966155"/>
            <a:ext cx="7920880" cy="830997"/>
          </a:xfrm>
          <a:prstGeom prst="rect">
            <a:avLst/>
          </a:prstGeom>
          <a:noFill/>
          <a:ln>
            <a:solidFill>
              <a:schemeClr val="bg1"/>
            </a:solidFill>
          </a:ln>
        </p:spPr>
        <p:txBody>
          <a:bodyPr wrap="square" rtlCol="0">
            <a:spAutoFit/>
          </a:bodyPr>
          <a:lstStyle/>
          <a:p>
            <a:r>
              <a:rPr lang="en-US" altLang="ja-JP" sz="2400" dirty="0" err="1" smtClean="0"/>
              <a:t>printf</a:t>
            </a:r>
            <a:r>
              <a:rPr lang="ja-JP" altLang="en-US" sz="2400" dirty="0" smtClean="0"/>
              <a:t>の変換指定で</a:t>
            </a:r>
            <a:r>
              <a:rPr lang="en-US" altLang="ja-JP" sz="2400" dirty="0" smtClean="0"/>
              <a:t>float</a:t>
            </a:r>
            <a:r>
              <a:rPr lang="ja-JP" altLang="en-US" sz="2400" dirty="0" smtClean="0"/>
              <a:t>型用のものがないのも規定の実引数拡張による（第２回のスライド参照）。</a:t>
            </a:r>
            <a:endParaRPr kumimoji="1" lang="ja-JP" altLang="en-US" sz="2400" dirty="0"/>
          </a:p>
        </p:txBody>
      </p:sp>
      <p:sp>
        <p:nvSpPr>
          <p:cNvPr id="5" name="正方形/長方形 4"/>
          <p:cNvSpPr/>
          <p:nvPr/>
        </p:nvSpPr>
        <p:spPr>
          <a:xfrm>
            <a:off x="683568" y="1562016"/>
            <a:ext cx="7632848" cy="1938992"/>
          </a:xfrm>
          <a:prstGeom prst="rect">
            <a:avLst/>
          </a:prstGeom>
        </p:spPr>
        <p:txBody>
          <a:bodyPr wrap="square">
            <a:spAutoFit/>
          </a:bodyPr>
          <a:lstStyle/>
          <a:p>
            <a:r>
              <a:rPr lang="en-US" altLang="ja-JP" sz="2400" dirty="0" err="1" smtClean="0"/>
              <a:t>printf</a:t>
            </a:r>
            <a:r>
              <a:rPr lang="ja-JP" altLang="en-US" sz="2400" dirty="0" smtClean="0"/>
              <a:t>の変換指定で</a:t>
            </a:r>
            <a:r>
              <a:rPr lang="en-US" altLang="ja-JP" sz="2400" dirty="0" smtClean="0"/>
              <a:t>%c</a:t>
            </a:r>
            <a:r>
              <a:rPr lang="ja-JP" altLang="en-US" sz="2400" dirty="0" smtClean="0"/>
              <a:t>を使う場合、引数の型は</a:t>
            </a:r>
            <a:r>
              <a:rPr lang="en-US" altLang="ja-JP" sz="2400" dirty="0" err="1" smtClean="0"/>
              <a:t>int</a:t>
            </a:r>
            <a:r>
              <a:rPr lang="ja-JP" altLang="en-US" sz="2400" dirty="0" smtClean="0"/>
              <a:t>型と書いたが、</a:t>
            </a:r>
            <a:r>
              <a:rPr lang="en-US" altLang="ja-JP" sz="2400" dirty="0" smtClean="0"/>
              <a:t>char</a:t>
            </a:r>
            <a:r>
              <a:rPr lang="ja-JP" altLang="en-US" sz="2400" dirty="0" smtClean="0"/>
              <a:t>型でもよい。もし</a:t>
            </a:r>
            <a:r>
              <a:rPr lang="en-US" altLang="ja-JP" sz="2400" dirty="0" smtClean="0"/>
              <a:t>char</a:t>
            </a:r>
            <a:r>
              <a:rPr lang="ja-JP" altLang="en-US" sz="2400" dirty="0" smtClean="0"/>
              <a:t>型の式が与えられ場合は、規定の実引数拡張</a:t>
            </a:r>
            <a:r>
              <a:rPr lang="en-US" altLang="ja-JP" sz="2400" dirty="0" smtClean="0"/>
              <a:t>(default argument promotion)</a:t>
            </a:r>
            <a:r>
              <a:rPr lang="ja-JP" altLang="en-US" sz="2400" dirty="0" smtClean="0"/>
              <a:t>により、自動的に</a:t>
            </a:r>
            <a:r>
              <a:rPr lang="en-US" altLang="ja-JP" sz="2400" dirty="0" err="1" smtClean="0"/>
              <a:t>int</a:t>
            </a:r>
            <a:r>
              <a:rPr lang="ja-JP" altLang="en-US" sz="2400" dirty="0" smtClean="0"/>
              <a:t>型に変換される</a:t>
            </a:r>
            <a:r>
              <a:rPr lang="en-US" altLang="ja-JP" sz="2400" dirty="0" smtClean="0"/>
              <a:t>(</a:t>
            </a:r>
            <a:r>
              <a:rPr lang="en-US" altLang="ja-JP" sz="2400" dirty="0" err="1" smtClean="0"/>
              <a:t>printf</a:t>
            </a:r>
            <a:r>
              <a:rPr lang="ja-JP" altLang="en-US" sz="2400" dirty="0" smtClean="0"/>
              <a:t>の引数の個数は可変なので</a:t>
            </a:r>
            <a:r>
              <a:rPr lang="en-US" altLang="ja-JP" sz="2400" dirty="0" smtClean="0"/>
              <a:t>)</a:t>
            </a:r>
            <a:r>
              <a:rPr lang="ja-JP" altLang="en-US" sz="2400" dirty="0" err="1" smtClean="0"/>
              <a:t>。</a:t>
            </a:r>
            <a:r>
              <a:rPr lang="ja-JP" altLang="en-US" sz="2400" dirty="0" smtClean="0"/>
              <a:t>これは本講義の</a:t>
            </a:r>
            <a:r>
              <a:rPr lang="ja-JP" altLang="en-US" sz="2400" dirty="0" smtClean="0"/>
              <a:t>範囲外</a:t>
            </a:r>
            <a:r>
              <a:rPr lang="ja-JP" altLang="en-US" sz="2400" dirty="0" smtClean="0"/>
              <a:t>と</a:t>
            </a:r>
            <a:r>
              <a:rPr lang="ja-JP" altLang="en-US" sz="2400" dirty="0" smtClean="0"/>
              <a:t>し、説明はしない。</a:t>
            </a:r>
            <a:endParaRPr lang="en-US" altLang="ja-JP" sz="2400" dirty="0" smtClean="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文字列リテラル</a:t>
            </a:r>
            <a:endParaRPr kumimoji="1" lang="ja-JP" altLang="en-US" dirty="0"/>
          </a:p>
        </p:txBody>
      </p:sp>
      <p:sp>
        <p:nvSpPr>
          <p:cNvPr id="4" name="テキスト ボックス 3"/>
          <p:cNvSpPr txBox="1"/>
          <p:nvPr/>
        </p:nvSpPr>
        <p:spPr>
          <a:xfrm>
            <a:off x="500034" y="1428736"/>
            <a:ext cx="8215369" cy="1815882"/>
          </a:xfrm>
          <a:prstGeom prst="rect">
            <a:avLst/>
          </a:prstGeom>
          <a:noFill/>
        </p:spPr>
        <p:txBody>
          <a:bodyPr wrap="square" rtlCol="0">
            <a:spAutoFit/>
          </a:bodyPr>
          <a:lstStyle/>
          <a:p>
            <a:r>
              <a:rPr lang="ja-JP" altLang="en-US" sz="2800" dirty="0" smtClean="0"/>
              <a:t>ダブルクォート  </a:t>
            </a:r>
            <a:r>
              <a:rPr lang="en-US" altLang="ja-JP" sz="2800" dirty="0" smtClean="0"/>
              <a:t>” </a:t>
            </a:r>
            <a:r>
              <a:rPr lang="ja-JP" altLang="en-US" sz="2800" dirty="0" smtClean="0"/>
              <a:t>で囲んだものを文字列リテラルという。</a:t>
            </a:r>
            <a:endParaRPr lang="en-US" altLang="ja-JP" sz="2800" dirty="0" smtClean="0"/>
          </a:p>
          <a:p>
            <a:r>
              <a:rPr lang="ja-JP" altLang="en-US" sz="2800" dirty="0" smtClean="0"/>
              <a:t>（例）</a:t>
            </a:r>
            <a:r>
              <a:rPr kumimoji="1" lang="en-US" altLang="ja-JP" sz="2800" dirty="0" smtClean="0"/>
              <a:t>”</a:t>
            </a:r>
            <a:r>
              <a:rPr kumimoji="1" lang="en-US" altLang="ja-JP" sz="2800" dirty="0" err="1" smtClean="0"/>
              <a:t>abc</a:t>
            </a:r>
            <a:r>
              <a:rPr kumimoji="1" lang="en-US" altLang="ja-JP" sz="2800" dirty="0" smtClean="0"/>
              <a:t>”</a:t>
            </a:r>
            <a:r>
              <a:rPr kumimoji="1" lang="ja-JP" altLang="en-US" sz="2800" dirty="0" smtClean="0"/>
              <a:t>など。</a:t>
            </a:r>
            <a:endParaRPr kumimoji="1" lang="en-US" altLang="ja-JP" sz="2800" dirty="0" smtClean="0"/>
          </a:p>
          <a:p>
            <a:r>
              <a:rPr lang="ja-JP" altLang="en-US" sz="2800" dirty="0" smtClean="0"/>
              <a:t>これは、</a:t>
            </a:r>
            <a:r>
              <a:rPr lang="en-US" altLang="ja-JP" sz="2800" dirty="0" smtClean="0"/>
              <a:t>char</a:t>
            </a:r>
            <a:r>
              <a:rPr lang="ja-JP" altLang="en-US" sz="2800" dirty="0" smtClean="0"/>
              <a:t>型の並びであり、最後にヌル文字が追加されたものである。</a:t>
            </a:r>
            <a:endParaRPr lang="en-US" altLang="ja-JP" sz="2800" dirty="0" smtClean="0"/>
          </a:p>
        </p:txBody>
      </p:sp>
      <p:graphicFrame>
        <p:nvGraphicFramePr>
          <p:cNvPr id="5" name="表 4"/>
          <p:cNvGraphicFramePr>
            <a:graphicFrameLocks noGrp="1"/>
          </p:cNvGraphicFramePr>
          <p:nvPr/>
        </p:nvGraphicFramePr>
        <p:xfrm>
          <a:off x="1357290" y="4929198"/>
          <a:ext cx="5813269" cy="714380"/>
        </p:xfrm>
        <a:graphic>
          <a:graphicData uri="http://schemas.openxmlformats.org/drawingml/2006/table">
            <a:tbl>
              <a:tblPr firstRow="1" bandRow="1">
                <a:tableStyleId>{00A15C55-8517-42AA-B614-E9B94910E393}</a:tableStyleId>
              </a:tblPr>
              <a:tblGrid>
                <a:gridCol w="830467"/>
                <a:gridCol w="830467"/>
                <a:gridCol w="830467"/>
                <a:gridCol w="830467"/>
                <a:gridCol w="830467"/>
                <a:gridCol w="830467"/>
                <a:gridCol w="830467"/>
              </a:tblGrid>
              <a:tr h="714380">
                <a:tc>
                  <a:txBody>
                    <a:bodyPr/>
                    <a:lstStyle/>
                    <a:p>
                      <a:pPr algn="ctr"/>
                      <a:r>
                        <a:rPr kumimoji="1" lang="en-US" altLang="ja-JP" sz="3200" b="0" dirty="0" smtClean="0">
                          <a:solidFill>
                            <a:sysClr val="windowText" lastClr="000000"/>
                          </a:solidFill>
                        </a:rPr>
                        <a:t>‘a’</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‘b’</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‘c’</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‘d’</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‘e’</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7" name="正方形/長方形 6"/>
          <p:cNvSpPr/>
          <p:nvPr/>
        </p:nvSpPr>
        <p:spPr>
          <a:xfrm>
            <a:off x="571472" y="3500438"/>
            <a:ext cx="8358214" cy="954107"/>
          </a:xfrm>
          <a:prstGeom prst="rect">
            <a:avLst/>
          </a:prstGeom>
        </p:spPr>
        <p:txBody>
          <a:bodyPr wrap="square">
            <a:spAutoFit/>
          </a:bodyPr>
          <a:lstStyle/>
          <a:p>
            <a:pPr lvl="0"/>
            <a:r>
              <a:rPr lang="ja-JP" altLang="en-US" sz="2800" dirty="0" smtClean="0">
                <a:solidFill>
                  <a:prstClr val="black"/>
                </a:solidFill>
              </a:rPr>
              <a:t>（例）</a:t>
            </a:r>
            <a:r>
              <a:rPr lang="en-US" altLang="ja-JP" sz="2800" dirty="0" smtClean="0">
                <a:solidFill>
                  <a:prstClr val="black"/>
                </a:solidFill>
              </a:rPr>
              <a:t>“</a:t>
            </a:r>
            <a:r>
              <a:rPr lang="en-US" altLang="ja-JP" sz="2800" dirty="0" err="1" smtClean="0">
                <a:solidFill>
                  <a:prstClr val="black"/>
                </a:solidFill>
              </a:rPr>
              <a:t>abc</a:t>
            </a:r>
            <a:r>
              <a:rPr lang="en-US" altLang="ja-JP" sz="2800" dirty="0" smtClean="0">
                <a:solidFill>
                  <a:prstClr val="black"/>
                </a:solidFill>
              </a:rPr>
              <a:t>\0de”</a:t>
            </a:r>
            <a:r>
              <a:rPr lang="ja-JP" altLang="en-US" sz="2800" dirty="0" smtClean="0">
                <a:solidFill>
                  <a:prstClr val="black"/>
                </a:solidFill>
              </a:rPr>
              <a:t>は文字列リテラルである。最後にヌル文字が追加されるので、以下の</a:t>
            </a:r>
            <a:r>
              <a:rPr lang="en-US" altLang="ja-JP" sz="2800" dirty="0" smtClean="0">
                <a:solidFill>
                  <a:prstClr val="black"/>
                </a:solidFill>
              </a:rPr>
              <a:t>char</a:t>
            </a:r>
            <a:r>
              <a:rPr lang="ja-JP" altLang="en-US" sz="2800" dirty="0" smtClean="0">
                <a:solidFill>
                  <a:prstClr val="black"/>
                </a:solidFill>
              </a:rPr>
              <a:t>型の並びとなる。</a:t>
            </a:r>
            <a:endParaRPr lang="ja-JP" altLang="en-US" sz="2800" dirty="0">
              <a:solidFill>
                <a:prstClr val="black"/>
              </a:solidFill>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例（打ち込んで確認）</a:t>
            </a:r>
            <a:endParaRPr kumimoji="1" lang="ja-JP" altLang="en-US" dirty="0"/>
          </a:p>
        </p:txBody>
      </p:sp>
      <p:sp>
        <p:nvSpPr>
          <p:cNvPr id="5" name="正方形/長方形 4"/>
          <p:cNvSpPr/>
          <p:nvPr/>
        </p:nvSpPr>
        <p:spPr>
          <a:xfrm>
            <a:off x="1500166" y="1714488"/>
            <a:ext cx="4214842" cy="2246769"/>
          </a:xfrm>
          <a:prstGeom prst="rect">
            <a:avLst/>
          </a:prstGeom>
          <a:ln>
            <a:solidFill>
              <a:schemeClr val="tx1"/>
            </a:solidFill>
          </a:ln>
        </p:spPr>
        <p:txBody>
          <a:bodyPr wrap="square">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a:t>
            </a:r>
            <a:r>
              <a:rPr lang="en-US" altLang="ja-JP" sz="2800" dirty="0" err="1" smtClean="0"/>
              <a:t>printf</a:t>
            </a:r>
            <a:r>
              <a:rPr lang="en-US" altLang="ja-JP" sz="2800" dirty="0" smtClean="0"/>
              <a:t> ("</a:t>
            </a:r>
            <a:r>
              <a:rPr lang="en-US" altLang="ja-JP" sz="2800" dirty="0" err="1" smtClean="0"/>
              <a:t>abc</a:t>
            </a:r>
            <a:r>
              <a:rPr lang="en-US" altLang="ja-JP" sz="2800" dirty="0" smtClean="0"/>
              <a:t>\0de");</a:t>
            </a:r>
          </a:p>
          <a:p>
            <a:r>
              <a:rPr lang="en-US" altLang="ja-JP" sz="2800" dirty="0" smtClean="0"/>
              <a:t>    return 0;</a:t>
            </a:r>
          </a:p>
          <a:p>
            <a:r>
              <a:rPr lang="en-US" altLang="ja-JP" sz="2800" dirty="0" smtClean="0"/>
              <a:t>}</a:t>
            </a:r>
          </a:p>
        </p:txBody>
      </p:sp>
      <p:sp>
        <p:nvSpPr>
          <p:cNvPr id="6" name="正方形/長方形 5"/>
          <p:cNvSpPr/>
          <p:nvPr/>
        </p:nvSpPr>
        <p:spPr>
          <a:xfrm>
            <a:off x="785786" y="4429132"/>
            <a:ext cx="7500990" cy="954107"/>
          </a:xfrm>
          <a:prstGeom prst="rect">
            <a:avLst/>
          </a:prstGeom>
        </p:spPr>
        <p:txBody>
          <a:bodyPr wrap="square">
            <a:spAutoFit/>
          </a:bodyPr>
          <a:lstStyle/>
          <a:p>
            <a:pPr lvl="0"/>
            <a:r>
              <a:rPr lang="ja-JP" altLang="en-US" sz="2800" dirty="0" smtClean="0">
                <a:solidFill>
                  <a:prstClr val="black"/>
                </a:solidFill>
              </a:rPr>
              <a:t>これを実行すると、</a:t>
            </a:r>
            <a:r>
              <a:rPr lang="en-US" altLang="ja-JP" sz="2800" dirty="0" err="1" smtClean="0">
                <a:solidFill>
                  <a:prstClr val="black"/>
                </a:solidFill>
              </a:rPr>
              <a:t>abc</a:t>
            </a:r>
            <a:r>
              <a:rPr lang="ja-JP" altLang="en-US" sz="2800" dirty="0" smtClean="0">
                <a:solidFill>
                  <a:prstClr val="black"/>
                </a:solidFill>
              </a:rPr>
              <a:t>が表示される（</a:t>
            </a:r>
            <a:r>
              <a:rPr lang="en-US" altLang="ja-JP" sz="2800" dirty="0" smtClean="0">
                <a:solidFill>
                  <a:prstClr val="black"/>
                </a:solidFill>
              </a:rPr>
              <a:t>de</a:t>
            </a:r>
            <a:r>
              <a:rPr lang="ja-JP" altLang="en-US" sz="2800" dirty="0" smtClean="0">
                <a:solidFill>
                  <a:prstClr val="black"/>
                </a:solidFill>
              </a:rPr>
              <a:t>は表示されない）。</a:t>
            </a:r>
            <a:endParaRPr lang="en-US" altLang="ja-JP" sz="2800" dirty="0" smtClean="0">
              <a:solidFill>
                <a:prstClr val="black"/>
              </a:solidFill>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smtClean="0"/>
              <a:t>文字の読み込み</a:t>
            </a:r>
            <a:endParaRPr kumimoji="1" lang="ja-JP" altLang="en-US" dirty="0"/>
          </a:p>
        </p:txBody>
      </p:sp>
      <p:sp>
        <p:nvSpPr>
          <p:cNvPr id="4" name="テキスト ボックス 3"/>
          <p:cNvSpPr txBox="1"/>
          <p:nvPr/>
        </p:nvSpPr>
        <p:spPr>
          <a:xfrm>
            <a:off x="714349" y="1500174"/>
            <a:ext cx="7715304" cy="954107"/>
          </a:xfrm>
          <a:prstGeom prst="rect">
            <a:avLst/>
          </a:prstGeom>
          <a:noFill/>
        </p:spPr>
        <p:txBody>
          <a:bodyPr wrap="square" rtlCol="0">
            <a:spAutoFit/>
          </a:bodyPr>
          <a:lstStyle/>
          <a:p>
            <a:r>
              <a:rPr kumimoji="1" lang="ja-JP" altLang="en-US" sz="2800" dirty="0" smtClean="0"/>
              <a:t>１文字の読み込みは、</a:t>
            </a:r>
            <a:r>
              <a:rPr kumimoji="1" lang="en-US" altLang="ja-JP" sz="2800" dirty="0" err="1" smtClean="0"/>
              <a:t>scanf</a:t>
            </a:r>
            <a:r>
              <a:rPr kumimoji="1" lang="ja-JP" altLang="en-US" sz="2800" dirty="0" smtClean="0"/>
              <a:t>関数で変換指定として</a:t>
            </a:r>
            <a:r>
              <a:rPr kumimoji="1" lang="en-US" altLang="ja-JP" sz="2800" dirty="0" smtClean="0"/>
              <a:t>%c</a:t>
            </a:r>
            <a:r>
              <a:rPr kumimoji="1" lang="ja-JP" altLang="en-US" sz="2800" dirty="0" smtClean="0"/>
              <a:t>を用いて行う。</a:t>
            </a:r>
            <a:endParaRPr kumimoji="1" lang="ja-JP" altLang="en-US" sz="2800" dirty="0"/>
          </a:p>
        </p:txBody>
      </p:sp>
      <p:sp>
        <p:nvSpPr>
          <p:cNvPr id="5" name="正方形/長方形 4"/>
          <p:cNvSpPr/>
          <p:nvPr/>
        </p:nvSpPr>
        <p:spPr>
          <a:xfrm>
            <a:off x="1785918" y="2769890"/>
            <a:ext cx="4572000" cy="3539430"/>
          </a:xfrm>
          <a:prstGeom prst="rect">
            <a:avLst/>
          </a:prstGeom>
          <a:ln>
            <a:solidFill>
              <a:schemeClr val="tx1"/>
            </a:solidFill>
          </a:ln>
        </p:spPr>
        <p:txBody>
          <a:bodyPr>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char a;</a:t>
            </a:r>
          </a:p>
          <a:p>
            <a:r>
              <a:rPr lang="en-US" altLang="ja-JP" sz="2800" dirty="0" smtClean="0"/>
              <a:t>  </a:t>
            </a:r>
            <a:r>
              <a:rPr lang="en-US" altLang="ja-JP" sz="2800" dirty="0" err="1" smtClean="0"/>
              <a:t>printf</a:t>
            </a:r>
            <a:r>
              <a:rPr lang="en-US" altLang="ja-JP" sz="2800" dirty="0" smtClean="0"/>
              <a:t> ("Input characters: ");</a:t>
            </a:r>
          </a:p>
          <a:p>
            <a:r>
              <a:rPr lang="en-US" altLang="ja-JP" sz="2800" dirty="0" smtClean="0"/>
              <a:t>  </a:t>
            </a:r>
            <a:r>
              <a:rPr lang="en-US" altLang="ja-JP" sz="2800" dirty="0" err="1" smtClean="0">
                <a:solidFill>
                  <a:srgbClr val="FF0000"/>
                </a:solidFill>
              </a:rPr>
              <a:t>scanf</a:t>
            </a:r>
            <a:r>
              <a:rPr lang="en-US" altLang="ja-JP" sz="2800" dirty="0" smtClean="0">
                <a:solidFill>
                  <a:srgbClr val="FF0000"/>
                </a:solidFill>
              </a:rPr>
              <a:t> ("%c", &amp;a);</a:t>
            </a:r>
          </a:p>
          <a:p>
            <a:r>
              <a:rPr lang="en-US" altLang="ja-JP" sz="2800" dirty="0" smtClean="0"/>
              <a:t>  </a:t>
            </a:r>
            <a:r>
              <a:rPr lang="en-US" altLang="ja-JP" sz="2800" dirty="0" err="1" smtClean="0"/>
              <a:t>printf</a:t>
            </a:r>
            <a:r>
              <a:rPr lang="en-US" altLang="ja-JP" sz="2800" dirty="0" smtClean="0"/>
              <a:t> ("%c\n", a);</a:t>
            </a:r>
          </a:p>
          <a:p>
            <a:r>
              <a:rPr lang="en-US" altLang="ja-JP" sz="2800" dirty="0" smtClean="0"/>
              <a:t>  return 0;</a:t>
            </a:r>
          </a:p>
          <a:p>
            <a:r>
              <a:rPr lang="en-US" altLang="ja-JP" sz="2800" dirty="0" smtClean="0"/>
              <a:t>}</a:t>
            </a:r>
            <a:endParaRPr lang="en-US" altLang="ja-JP" sz="2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ja-JP" altLang="en-US" dirty="0" smtClean="0"/>
              <a:t>文字列の読み込み（打ち込んで確認）</a:t>
            </a:r>
            <a:endParaRPr kumimoji="1" lang="ja-JP" altLang="en-US" dirty="0"/>
          </a:p>
        </p:txBody>
      </p:sp>
      <p:sp>
        <p:nvSpPr>
          <p:cNvPr id="4" name="テキスト ボックス 3"/>
          <p:cNvSpPr txBox="1"/>
          <p:nvPr/>
        </p:nvSpPr>
        <p:spPr>
          <a:xfrm>
            <a:off x="714349" y="1500174"/>
            <a:ext cx="7715304" cy="954107"/>
          </a:xfrm>
          <a:prstGeom prst="rect">
            <a:avLst/>
          </a:prstGeom>
          <a:noFill/>
        </p:spPr>
        <p:txBody>
          <a:bodyPr wrap="square" rtlCol="0">
            <a:spAutoFit/>
          </a:bodyPr>
          <a:lstStyle/>
          <a:p>
            <a:r>
              <a:rPr kumimoji="1" lang="ja-JP" altLang="en-US" sz="2800" dirty="0" smtClean="0"/>
              <a:t>文字列の読み込みは、</a:t>
            </a:r>
            <a:r>
              <a:rPr kumimoji="1" lang="en-US" altLang="ja-JP" sz="2800" dirty="0" err="1" smtClean="0"/>
              <a:t>scanf</a:t>
            </a:r>
            <a:r>
              <a:rPr kumimoji="1" lang="ja-JP" altLang="en-US" sz="2800" dirty="0" smtClean="0"/>
              <a:t>関数で変換指定として</a:t>
            </a:r>
            <a:r>
              <a:rPr kumimoji="1" lang="en-US" altLang="ja-JP" sz="2800" dirty="0" smtClean="0"/>
              <a:t>%s</a:t>
            </a:r>
            <a:r>
              <a:rPr kumimoji="1" lang="ja-JP" altLang="en-US" sz="2800" dirty="0" smtClean="0"/>
              <a:t>を用いて行う。</a:t>
            </a:r>
            <a:endParaRPr kumimoji="1" lang="ja-JP" altLang="en-US" sz="2800" dirty="0"/>
          </a:p>
        </p:txBody>
      </p:sp>
      <p:sp>
        <p:nvSpPr>
          <p:cNvPr id="6" name="正方形/長方形 5"/>
          <p:cNvSpPr/>
          <p:nvPr/>
        </p:nvSpPr>
        <p:spPr>
          <a:xfrm>
            <a:off x="1259632" y="2492896"/>
            <a:ext cx="4572000" cy="3539430"/>
          </a:xfrm>
          <a:prstGeom prst="rect">
            <a:avLst/>
          </a:prstGeom>
          <a:ln>
            <a:solidFill>
              <a:schemeClr val="tx1"/>
            </a:solidFill>
          </a:ln>
        </p:spPr>
        <p:txBody>
          <a:bodyPr>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char a[7];</a:t>
            </a:r>
          </a:p>
          <a:p>
            <a:r>
              <a:rPr lang="en-US" altLang="ja-JP" sz="2800" dirty="0" smtClean="0"/>
              <a:t>  </a:t>
            </a:r>
            <a:r>
              <a:rPr lang="en-US" altLang="ja-JP" sz="2800" dirty="0" err="1" smtClean="0"/>
              <a:t>printf</a:t>
            </a:r>
            <a:r>
              <a:rPr lang="en-US" altLang="ja-JP" sz="2800" dirty="0" smtClean="0"/>
              <a:t> ("Input characters: ");</a:t>
            </a:r>
          </a:p>
          <a:p>
            <a:r>
              <a:rPr lang="en-US" altLang="ja-JP" sz="2800" dirty="0" smtClean="0"/>
              <a:t>  </a:t>
            </a:r>
            <a:r>
              <a:rPr lang="en-US" altLang="ja-JP" sz="2800" dirty="0" err="1" smtClean="0">
                <a:solidFill>
                  <a:srgbClr val="FF0000"/>
                </a:solidFill>
              </a:rPr>
              <a:t>scanf</a:t>
            </a:r>
            <a:r>
              <a:rPr lang="en-US" altLang="ja-JP" sz="2800" dirty="0" smtClean="0">
                <a:solidFill>
                  <a:srgbClr val="FF0000"/>
                </a:solidFill>
              </a:rPr>
              <a:t> ("%s", &amp;a[0]);</a:t>
            </a:r>
          </a:p>
          <a:p>
            <a:r>
              <a:rPr lang="en-US" altLang="ja-JP" sz="2800" dirty="0" smtClean="0"/>
              <a:t>  </a:t>
            </a:r>
            <a:r>
              <a:rPr lang="en-US" altLang="ja-JP" sz="2800" dirty="0" err="1" smtClean="0"/>
              <a:t>printf</a:t>
            </a:r>
            <a:r>
              <a:rPr lang="en-US" altLang="ja-JP" sz="2800" dirty="0" smtClean="0"/>
              <a:t> ("%s\n", &amp;a[0]);</a:t>
            </a:r>
          </a:p>
          <a:p>
            <a:r>
              <a:rPr lang="en-US" altLang="ja-JP" sz="2800" dirty="0" smtClean="0"/>
              <a:t>  return 0;</a:t>
            </a:r>
          </a:p>
          <a:p>
            <a:r>
              <a:rPr lang="en-US" altLang="ja-JP" sz="2800" dirty="0" smtClean="0"/>
              <a:t>}</a:t>
            </a:r>
            <a:endParaRPr lang="en-US" altLang="ja-JP" sz="2800" dirty="0"/>
          </a:p>
        </p:txBody>
      </p:sp>
      <p:sp>
        <p:nvSpPr>
          <p:cNvPr id="5" name="テキスト ボックス 4"/>
          <p:cNvSpPr txBox="1"/>
          <p:nvPr/>
        </p:nvSpPr>
        <p:spPr>
          <a:xfrm>
            <a:off x="6084168" y="3501008"/>
            <a:ext cx="2736304" cy="1815882"/>
          </a:xfrm>
          <a:prstGeom prst="rect">
            <a:avLst/>
          </a:prstGeom>
          <a:noFill/>
        </p:spPr>
        <p:txBody>
          <a:bodyPr wrap="square" rtlCol="0">
            <a:spAutoFit/>
          </a:bodyPr>
          <a:lstStyle/>
          <a:p>
            <a:r>
              <a:rPr lang="en-US" altLang="ja-JP" sz="2800" dirty="0" err="1" smtClean="0"/>
              <a:t>scanf</a:t>
            </a:r>
            <a:r>
              <a:rPr lang="ja-JP" altLang="en-US" sz="2800" dirty="0" smtClean="0"/>
              <a:t>は、入力文字に空白があると、そこまでが配列に格納される。</a:t>
            </a:r>
            <a:endParaRPr kumimoji="1" lang="ja-JP" altLang="en-US" sz="2800" dirty="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500034" y="357174"/>
            <a:ext cx="8229600" cy="785810"/>
          </a:xfrm>
        </p:spPr>
        <p:txBody>
          <a:bodyPr>
            <a:noAutofit/>
          </a:bodyPr>
          <a:lstStyle/>
          <a:p>
            <a:r>
              <a:rPr kumimoji="1" lang="en-US" altLang="ja-JP" sz="3600" dirty="0" err="1" smtClean="0"/>
              <a:t>scanf</a:t>
            </a:r>
            <a:r>
              <a:rPr kumimoji="1" lang="ja-JP" altLang="en-US" sz="3600" dirty="0" smtClean="0"/>
              <a:t>関数の変換指定の</a:t>
            </a:r>
            <a:r>
              <a:rPr kumimoji="1" lang="en-US" altLang="ja-JP" sz="3600" dirty="0" smtClean="0"/>
              <a:t>%s</a:t>
            </a:r>
            <a:r>
              <a:rPr kumimoji="1" lang="ja-JP" altLang="en-US" sz="3600" dirty="0" smtClean="0"/>
              <a:t>について</a:t>
            </a:r>
            <a:endParaRPr kumimoji="1" lang="ja-JP" altLang="en-US" sz="3600" dirty="0"/>
          </a:p>
        </p:txBody>
      </p:sp>
      <p:graphicFrame>
        <p:nvGraphicFramePr>
          <p:cNvPr id="8" name="表 7"/>
          <p:cNvGraphicFramePr>
            <a:graphicFrameLocks noGrp="1"/>
          </p:cNvGraphicFramePr>
          <p:nvPr/>
        </p:nvGraphicFramePr>
        <p:xfrm>
          <a:off x="1687689" y="1752889"/>
          <a:ext cx="5813269" cy="714380"/>
        </p:xfrm>
        <a:graphic>
          <a:graphicData uri="http://schemas.openxmlformats.org/drawingml/2006/table">
            <a:tbl>
              <a:tblPr firstRow="1" bandRow="1">
                <a:tableStyleId>{00A15C55-8517-42AA-B614-E9B94910E393}</a:tableStyleId>
              </a:tblPr>
              <a:tblGrid>
                <a:gridCol w="830467"/>
                <a:gridCol w="830467"/>
                <a:gridCol w="830467"/>
                <a:gridCol w="830467"/>
                <a:gridCol w="830467"/>
                <a:gridCol w="830467"/>
                <a:gridCol w="830467"/>
              </a:tblGrid>
              <a:tr h="714380">
                <a:tc>
                  <a:txBody>
                    <a:bodyPr/>
                    <a:lstStyle/>
                    <a:p>
                      <a:pPr algn="ctr"/>
                      <a:r>
                        <a:rPr kumimoji="1" lang="en-US" altLang="ja-JP" sz="3200" b="0" dirty="0" smtClean="0">
                          <a:solidFill>
                            <a:sysClr val="windowText" lastClr="000000"/>
                          </a:solidFill>
                        </a:rPr>
                        <a:t>‘a’</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‘b’</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‘c’</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‘d’</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‘e’</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10" name="テキスト ボックス 9"/>
          <p:cNvSpPr txBox="1"/>
          <p:nvPr/>
        </p:nvSpPr>
        <p:spPr>
          <a:xfrm>
            <a:off x="1785918" y="2610145"/>
            <a:ext cx="676788" cy="461665"/>
          </a:xfrm>
          <a:prstGeom prst="rect">
            <a:avLst/>
          </a:prstGeom>
          <a:noFill/>
        </p:spPr>
        <p:txBody>
          <a:bodyPr wrap="none" rtlCol="0">
            <a:spAutoFit/>
          </a:bodyPr>
          <a:lstStyle/>
          <a:p>
            <a:r>
              <a:rPr kumimoji="1" lang="en-US" altLang="ja-JP" sz="2400" dirty="0" smtClean="0"/>
              <a:t>a[0]</a:t>
            </a:r>
            <a:endParaRPr kumimoji="1" lang="ja-JP" altLang="en-US" sz="2400" dirty="0"/>
          </a:p>
        </p:txBody>
      </p:sp>
      <p:sp>
        <p:nvSpPr>
          <p:cNvPr id="11" name="テキスト ボックス 10"/>
          <p:cNvSpPr txBox="1"/>
          <p:nvPr/>
        </p:nvSpPr>
        <p:spPr>
          <a:xfrm>
            <a:off x="2571736" y="2610145"/>
            <a:ext cx="676788" cy="461665"/>
          </a:xfrm>
          <a:prstGeom prst="rect">
            <a:avLst/>
          </a:prstGeom>
          <a:noFill/>
        </p:spPr>
        <p:txBody>
          <a:bodyPr wrap="none" rtlCol="0">
            <a:spAutoFit/>
          </a:bodyPr>
          <a:lstStyle/>
          <a:p>
            <a:r>
              <a:rPr kumimoji="1" lang="en-US" altLang="ja-JP" sz="2400" dirty="0" smtClean="0"/>
              <a:t>a[1]</a:t>
            </a:r>
            <a:endParaRPr kumimoji="1" lang="ja-JP" altLang="en-US" sz="2400" dirty="0"/>
          </a:p>
        </p:txBody>
      </p:sp>
      <p:sp>
        <p:nvSpPr>
          <p:cNvPr id="17" name="テキスト ボックス 16"/>
          <p:cNvSpPr txBox="1"/>
          <p:nvPr/>
        </p:nvSpPr>
        <p:spPr>
          <a:xfrm>
            <a:off x="3428992" y="2610145"/>
            <a:ext cx="676788" cy="461665"/>
          </a:xfrm>
          <a:prstGeom prst="rect">
            <a:avLst/>
          </a:prstGeom>
          <a:noFill/>
        </p:spPr>
        <p:txBody>
          <a:bodyPr wrap="none" rtlCol="0">
            <a:spAutoFit/>
          </a:bodyPr>
          <a:lstStyle/>
          <a:p>
            <a:r>
              <a:rPr kumimoji="1" lang="en-US" altLang="ja-JP" sz="2400" dirty="0" smtClean="0"/>
              <a:t>a[2]</a:t>
            </a:r>
            <a:endParaRPr kumimoji="1" lang="ja-JP" altLang="en-US" sz="2400" dirty="0"/>
          </a:p>
        </p:txBody>
      </p:sp>
      <p:sp>
        <p:nvSpPr>
          <p:cNvPr id="18" name="テキスト ボックス 17"/>
          <p:cNvSpPr txBox="1"/>
          <p:nvPr/>
        </p:nvSpPr>
        <p:spPr>
          <a:xfrm>
            <a:off x="4252402" y="2610145"/>
            <a:ext cx="676788" cy="461665"/>
          </a:xfrm>
          <a:prstGeom prst="rect">
            <a:avLst/>
          </a:prstGeom>
          <a:noFill/>
        </p:spPr>
        <p:txBody>
          <a:bodyPr wrap="none" rtlCol="0">
            <a:spAutoFit/>
          </a:bodyPr>
          <a:lstStyle/>
          <a:p>
            <a:r>
              <a:rPr kumimoji="1" lang="en-US" altLang="ja-JP" sz="2400" dirty="0" smtClean="0"/>
              <a:t>a[3]</a:t>
            </a:r>
            <a:endParaRPr kumimoji="1" lang="ja-JP" altLang="en-US" sz="2400" dirty="0"/>
          </a:p>
        </p:txBody>
      </p:sp>
      <p:sp>
        <p:nvSpPr>
          <p:cNvPr id="19" name="テキスト ボックス 18"/>
          <p:cNvSpPr txBox="1"/>
          <p:nvPr/>
        </p:nvSpPr>
        <p:spPr>
          <a:xfrm>
            <a:off x="5072066" y="2610145"/>
            <a:ext cx="676788" cy="461665"/>
          </a:xfrm>
          <a:prstGeom prst="rect">
            <a:avLst/>
          </a:prstGeom>
          <a:noFill/>
        </p:spPr>
        <p:txBody>
          <a:bodyPr wrap="none" rtlCol="0">
            <a:spAutoFit/>
          </a:bodyPr>
          <a:lstStyle/>
          <a:p>
            <a:r>
              <a:rPr kumimoji="1" lang="en-US" altLang="ja-JP" sz="2400" dirty="0" smtClean="0"/>
              <a:t>a[4]</a:t>
            </a:r>
            <a:endParaRPr kumimoji="1" lang="ja-JP" altLang="en-US" sz="2400" dirty="0"/>
          </a:p>
        </p:txBody>
      </p:sp>
      <p:sp>
        <p:nvSpPr>
          <p:cNvPr id="20" name="テキスト ボックス 19"/>
          <p:cNvSpPr txBox="1"/>
          <p:nvPr/>
        </p:nvSpPr>
        <p:spPr>
          <a:xfrm>
            <a:off x="5929322" y="2610145"/>
            <a:ext cx="676788" cy="461665"/>
          </a:xfrm>
          <a:prstGeom prst="rect">
            <a:avLst/>
          </a:prstGeom>
          <a:noFill/>
        </p:spPr>
        <p:txBody>
          <a:bodyPr wrap="none" rtlCol="0">
            <a:spAutoFit/>
          </a:bodyPr>
          <a:lstStyle/>
          <a:p>
            <a:r>
              <a:rPr kumimoji="1" lang="en-US" altLang="ja-JP" sz="2400" dirty="0" smtClean="0"/>
              <a:t>a[5]</a:t>
            </a:r>
            <a:endParaRPr kumimoji="1" lang="ja-JP" altLang="en-US" sz="2400" dirty="0"/>
          </a:p>
        </p:txBody>
      </p:sp>
      <p:sp>
        <p:nvSpPr>
          <p:cNvPr id="21" name="テキスト ボックス 20"/>
          <p:cNvSpPr txBox="1"/>
          <p:nvPr/>
        </p:nvSpPr>
        <p:spPr>
          <a:xfrm>
            <a:off x="6752732" y="2610145"/>
            <a:ext cx="676788" cy="461665"/>
          </a:xfrm>
          <a:prstGeom prst="rect">
            <a:avLst/>
          </a:prstGeom>
          <a:noFill/>
        </p:spPr>
        <p:txBody>
          <a:bodyPr wrap="none" rtlCol="0">
            <a:spAutoFit/>
          </a:bodyPr>
          <a:lstStyle/>
          <a:p>
            <a:r>
              <a:rPr kumimoji="1" lang="en-US" altLang="ja-JP" sz="2400" dirty="0" smtClean="0"/>
              <a:t>a[6]</a:t>
            </a:r>
            <a:endParaRPr kumimoji="1" lang="ja-JP" altLang="en-US" sz="2400" dirty="0"/>
          </a:p>
        </p:txBody>
      </p:sp>
      <p:sp>
        <p:nvSpPr>
          <p:cNvPr id="22" name="テキスト ボックス 21"/>
          <p:cNvSpPr txBox="1"/>
          <p:nvPr/>
        </p:nvSpPr>
        <p:spPr>
          <a:xfrm>
            <a:off x="285720" y="3214686"/>
            <a:ext cx="8429684" cy="3539430"/>
          </a:xfrm>
          <a:prstGeom prst="rect">
            <a:avLst/>
          </a:prstGeom>
          <a:noFill/>
        </p:spPr>
        <p:txBody>
          <a:bodyPr wrap="square" rtlCol="0">
            <a:spAutoFit/>
          </a:bodyPr>
          <a:lstStyle/>
          <a:p>
            <a:r>
              <a:rPr lang="en-US" altLang="ja-JP" sz="2800" dirty="0" smtClean="0"/>
              <a:t> </a:t>
            </a:r>
            <a:r>
              <a:rPr lang="ja-JP" altLang="en-US" sz="2800" dirty="0" smtClean="0"/>
              <a:t>   </a:t>
            </a:r>
            <a:r>
              <a:rPr lang="en-US" altLang="ja-JP" sz="2800" dirty="0" err="1" smtClean="0"/>
              <a:t>scanf</a:t>
            </a:r>
            <a:r>
              <a:rPr lang="en-US" altLang="ja-JP" sz="2800" dirty="0" smtClean="0"/>
              <a:t> (“%s”, &amp;a[0]);</a:t>
            </a:r>
          </a:p>
          <a:p>
            <a:r>
              <a:rPr kumimoji="1" lang="ja-JP" altLang="en-US" sz="2800" dirty="0" smtClean="0"/>
              <a:t>が実行されると、例えば</a:t>
            </a:r>
            <a:r>
              <a:rPr kumimoji="1" lang="en-US" altLang="ja-JP" sz="2800" dirty="0" err="1" smtClean="0"/>
              <a:t>abcde</a:t>
            </a:r>
            <a:r>
              <a:rPr kumimoji="1" lang="ja-JP" altLang="en-US" sz="2800" dirty="0" smtClean="0"/>
              <a:t>を入力した場合、</a:t>
            </a:r>
            <a:r>
              <a:rPr lang="en-US" altLang="ja-JP" sz="2800" dirty="0" smtClean="0"/>
              <a:t>100</a:t>
            </a:r>
            <a:r>
              <a:rPr lang="ja-JP" altLang="en-US" sz="2800" dirty="0" smtClean="0"/>
              <a:t>番地から</a:t>
            </a:r>
            <a:r>
              <a:rPr lang="en-US" altLang="ja-JP" sz="2800" dirty="0" smtClean="0"/>
              <a:t>104</a:t>
            </a:r>
            <a:r>
              <a:rPr lang="ja-JP" altLang="en-US" sz="2800" dirty="0" smtClean="0"/>
              <a:t>番地まで</a:t>
            </a:r>
            <a:r>
              <a:rPr lang="en-US" altLang="ja-JP" sz="2800" dirty="0" err="1" smtClean="0"/>
              <a:t>a,b,c,d,e</a:t>
            </a:r>
            <a:r>
              <a:rPr lang="ja-JP" altLang="en-US" sz="2800" dirty="0" smtClean="0"/>
              <a:t>が順番に格納され、</a:t>
            </a:r>
            <a:r>
              <a:rPr lang="en-US" altLang="ja-JP" sz="2800" dirty="0" smtClean="0"/>
              <a:t>105</a:t>
            </a:r>
            <a:r>
              <a:rPr lang="ja-JP" altLang="en-US" sz="2800" dirty="0" smtClean="0"/>
              <a:t>番地にヌル文字が格納される。最後にヌル文字が格納されるので、配列のサイズ</a:t>
            </a:r>
            <a:r>
              <a:rPr lang="en-US" altLang="ja-JP" sz="2800" dirty="0" smtClean="0"/>
              <a:t>-1</a:t>
            </a:r>
            <a:r>
              <a:rPr lang="ja-JP" altLang="en-US" sz="2800" dirty="0" smtClean="0"/>
              <a:t>の長さを超えて入力してはいけない。それ以上入力したらあふれた部分も書きこまれる（バッファーオーバーフロー）。 これは攻撃の対象になるので対処が必要だが、本講義の範囲外とする。</a:t>
            </a:r>
            <a:endParaRPr lang="en-US" altLang="ja-JP" sz="2800" dirty="0" smtClean="0"/>
          </a:p>
        </p:txBody>
      </p:sp>
      <p:sp>
        <p:nvSpPr>
          <p:cNvPr id="23" name="テキスト ボックス 22"/>
          <p:cNvSpPr txBox="1"/>
          <p:nvPr/>
        </p:nvSpPr>
        <p:spPr>
          <a:xfrm>
            <a:off x="1785918" y="1214422"/>
            <a:ext cx="651140" cy="461665"/>
          </a:xfrm>
          <a:prstGeom prst="rect">
            <a:avLst/>
          </a:prstGeom>
          <a:noFill/>
        </p:spPr>
        <p:txBody>
          <a:bodyPr wrap="none" rtlCol="0">
            <a:spAutoFit/>
          </a:bodyPr>
          <a:lstStyle/>
          <a:p>
            <a:r>
              <a:rPr kumimoji="1" lang="en-US" altLang="ja-JP" sz="2400" dirty="0" smtClean="0"/>
              <a:t>100</a:t>
            </a:r>
            <a:endParaRPr kumimoji="1" lang="ja-JP" altLang="en-US" sz="2400" dirty="0"/>
          </a:p>
        </p:txBody>
      </p:sp>
      <p:sp>
        <p:nvSpPr>
          <p:cNvPr id="24" name="テキスト ボックス 23"/>
          <p:cNvSpPr txBox="1"/>
          <p:nvPr/>
        </p:nvSpPr>
        <p:spPr>
          <a:xfrm>
            <a:off x="2643174" y="1214422"/>
            <a:ext cx="651140" cy="461665"/>
          </a:xfrm>
          <a:prstGeom prst="rect">
            <a:avLst/>
          </a:prstGeom>
          <a:noFill/>
        </p:spPr>
        <p:txBody>
          <a:bodyPr wrap="none" rtlCol="0">
            <a:spAutoFit/>
          </a:bodyPr>
          <a:lstStyle/>
          <a:p>
            <a:r>
              <a:rPr kumimoji="1" lang="en-US" altLang="ja-JP" sz="2400" dirty="0" smtClean="0"/>
              <a:t>101</a:t>
            </a:r>
            <a:endParaRPr kumimoji="1" lang="ja-JP" altLang="en-US" sz="2400" dirty="0"/>
          </a:p>
        </p:txBody>
      </p:sp>
      <p:sp>
        <p:nvSpPr>
          <p:cNvPr id="25" name="テキスト ボックス 24"/>
          <p:cNvSpPr txBox="1"/>
          <p:nvPr/>
        </p:nvSpPr>
        <p:spPr>
          <a:xfrm>
            <a:off x="3428992" y="1214422"/>
            <a:ext cx="651140" cy="461665"/>
          </a:xfrm>
          <a:prstGeom prst="rect">
            <a:avLst/>
          </a:prstGeom>
          <a:noFill/>
        </p:spPr>
        <p:txBody>
          <a:bodyPr wrap="none" rtlCol="0">
            <a:spAutoFit/>
          </a:bodyPr>
          <a:lstStyle/>
          <a:p>
            <a:r>
              <a:rPr kumimoji="1" lang="en-US" altLang="ja-JP" sz="2400" dirty="0" smtClean="0"/>
              <a:t>102</a:t>
            </a:r>
            <a:endParaRPr kumimoji="1" lang="ja-JP" altLang="en-US" sz="2400" dirty="0"/>
          </a:p>
        </p:txBody>
      </p:sp>
      <p:sp>
        <p:nvSpPr>
          <p:cNvPr id="26" name="テキスト ボックス 25"/>
          <p:cNvSpPr txBox="1"/>
          <p:nvPr/>
        </p:nvSpPr>
        <p:spPr>
          <a:xfrm>
            <a:off x="4286248" y="1214422"/>
            <a:ext cx="651140" cy="461665"/>
          </a:xfrm>
          <a:prstGeom prst="rect">
            <a:avLst/>
          </a:prstGeom>
          <a:noFill/>
        </p:spPr>
        <p:txBody>
          <a:bodyPr wrap="none" rtlCol="0">
            <a:spAutoFit/>
          </a:bodyPr>
          <a:lstStyle/>
          <a:p>
            <a:r>
              <a:rPr kumimoji="1" lang="en-US" altLang="ja-JP" sz="2400" dirty="0" smtClean="0"/>
              <a:t>103</a:t>
            </a:r>
            <a:endParaRPr kumimoji="1" lang="ja-JP" altLang="en-US" sz="2400" dirty="0"/>
          </a:p>
        </p:txBody>
      </p:sp>
      <p:sp>
        <p:nvSpPr>
          <p:cNvPr id="27" name="テキスト ボックス 26"/>
          <p:cNvSpPr txBox="1"/>
          <p:nvPr/>
        </p:nvSpPr>
        <p:spPr>
          <a:xfrm>
            <a:off x="5072066" y="1214422"/>
            <a:ext cx="651140" cy="461665"/>
          </a:xfrm>
          <a:prstGeom prst="rect">
            <a:avLst/>
          </a:prstGeom>
          <a:noFill/>
        </p:spPr>
        <p:txBody>
          <a:bodyPr wrap="none" rtlCol="0">
            <a:spAutoFit/>
          </a:bodyPr>
          <a:lstStyle/>
          <a:p>
            <a:r>
              <a:rPr kumimoji="1" lang="en-US" altLang="ja-JP" sz="2400" dirty="0" smtClean="0"/>
              <a:t>104</a:t>
            </a:r>
            <a:endParaRPr kumimoji="1" lang="ja-JP" altLang="en-US" sz="2400" dirty="0"/>
          </a:p>
        </p:txBody>
      </p:sp>
      <p:sp>
        <p:nvSpPr>
          <p:cNvPr id="28" name="テキスト ボックス 27"/>
          <p:cNvSpPr txBox="1"/>
          <p:nvPr/>
        </p:nvSpPr>
        <p:spPr>
          <a:xfrm>
            <a:off x="5929322" y="1214422"/>
            <a:ext cx="651140" cy="461665"/>
          </a:xfrm>
          <a:prstGeom prst="rect">
            <a:avLst/>
          </a:prstGeom>
          <a:noFill/>
        </p:spPr>
        <p:txBody>
          <a:bodyPr wrap="none" rtlCol="0">
            <a:spAutoFit/>
          </a:bodyPr>
          <a:lstStyle/>
          <a:p>
            <a:r>
              <a:rPr kumimoji="1" lang="en-US" altLang="ja-JP" sz="2400" dirty="0" smtClean="0"/>
              <a:t>105</a:t>
            </a:r>
            <a:endParaRPr kumimoji="1" lang="ja-JP" altLang="en-US" sz="2400" dirty="0"/>
          </a:p>
        </p:txBody>
      </p:sp>
      <p:sp>
        <p:nvSpPr>
          <p:cNvPr id="29" name="テキスト ボックス 28"/>
          <p:cNvSpPr txBox="1"/>
          <p:nvPr/>
        </p:nvSpPr>
        <p:spPr>
          <a:xfrm>
            <a:off x="6715140" y="1214422"/>
            <a:ext cx="651140" cy="461665"/>
          </a:xfrm>
          <a:prstGeom prst="rect">
            <a:avLst/>
          </a:prstGeom>
          <a:noFill/>
        </p:spPr>
        <p:txBody>
          <a:bodyPr wrap="none" rtlCol="0">
            <a:spAutoFit/>
          </a:bodyPr>
          <a:lstStyle/>
          <a:p>
            <a:r>
              <a:rPr kumimoji="1" lang="en-US" altLang="ja-JP" sz="2400" dirty="0" smtClean="0"/>
              <a:t>106</a:t>
            </a:r>
            <a:endParaRPr kumimoji="1" lang="ja-JP" altLang="en-US" sz="2400" dirty="0"/>
          </a:p>
        </p:txBody>
      </p:sp>
      <p:sp>
        <p:nvSpPr>
          <p:cNvPr id="30" name="テキスト ボックス 29"/>
          <p:cNvSpPr txBox="1"/>
          <p:nvPr/>
        </p:nvSpPr>
        <p:spPr>
          <a:xfrm>
            <a:off x="714348" y="1252823"/>
            <a:ext cx="857256" cy="461665"/>
          </a:xfrm>
          <a:prstGeom prst="rect">
            <a:avLst/>
          </a:prstGeom>
          <a:noFill/>
        </p:spPr>
        <p:txBody>
          <a:bodyPr wrap="square" rtlCol="0">
            <a:spAutoFit/>
          </a:bodyPr>
          <a:lstStyle/>
          <a:p>
            <a:r>
              <a:rPr kumimoji="1" lang="ja-JP" altLang="en-US" sz="2400" dirty="0" smtClean="0"/>
              <a:t>番地</a:t>
            </a:r>
            <a:endParaRPr kumimoji="1" lang="ja-JP" altLang="en-US" sz="2400"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96908"/>
          </a:xfrm>
        </p:spPr>
        <p:txBody>
          <a:bodyPr/>
          <a:lstStyle/>
          <a:p>
            <a:r>
              <a:rPr kumimoji="1" lang="en-US" altLang="ja-JP" dirty="0" smtClean="0"/>
              <a:t>gets</a:t>
            </a:r>
            <a:r>
              <a:rPr kumimoji="1" lang="ja-JP" altLang="en-US" dirty="0" smtClean="0"/>
              <a:t>関数</a:t>
            </a:r>
            <a:endParaRPr kumimoji="1" lang="ja-JP" altLang="en-US" dirty="0"/>
          </a:p>
        </p:txBody>
      </p:sp>
      <p:sp>
        <p:nvSpPr>
          <p:cNvPr id="4" name="テキスト ボックス 3"/>
          <p:cNvSpPr txBox="1"/>
          <p:nvPr/>
        </p:nvSpPr>
        <p:spPr>
          <a:xfrm>
            <a:off x="785786" y="1142984"/>
            <a:ext cx="7929618" cy="1938992"/>
          </a:xfrm>
          <a:prstGeom prst="rect">
            <a:avLst/>
          </a:prstGeom>
          <a:noFill/>
        </p:spPr>
        <p:txBody>
          <a:bodyPr wrap="square" rtlCol="0">
            <a:spAutoFit/>
          </a:bodyPr>
          <a:lstStyle/>
          <a:p>
            <a:r>
              <a:rPr lang="ja-JP" altLang="en-US" sz="2400" dirty="0" smtClean="0"/>
              <a:t>空白がある文字列は</a:t>
            </a:r>
            <a:r>
              <a:rPr kumimoji="1" lang="en-US" altLang="ja-JP" sz="2400" dirty="0" smtClean="0"/>
              <a:t>gets</a:t>
            </a:r>
            <a:r>
              <a:rPr kumimoji="1" lang="ja-JP" altLang="en-US" sz="2400" dirty="0" smtClean="0"/>
              <a:t>関数を用いる</a:t>
            </a:r>
            <a:r>
              <a:rPr lang="ja-JP" altLang="en-US" sz="2400" dirty="0" smtClean="0"/>
              <a:t>と読み込ませることができる。</a:t>
            </a:r>
            <a:r>
              <a:rPr lang="en-US" altLang="ja-JP" sz="2400" dirty="0" smtClean="0"/>
              <a:t>gets</a:t>
            </a:r>
            <a:r>
              <a:rPr lang="ja-JP" altLang="en-US" sz="2400" dirty="0" smtClean="0"/>
              <a:t>関数は改行まで読み込み、改行文字をヌル文字に置き換えて配列に格納する。これも配列のサイズを超えた場合にも書きこまれる。</a:t>
            </a:r>
            <a:r>
              <a:rPr lang="en-US" altLang="ja-JP" sz="2400" dirty="0" smtClean="0"/>
              <a:t>(</a:t>
            </a:r>
            <a:r>
              <a:rPr lang="en-US" altLang="ja-JP" sz="2400" dirty="0" err="1" smtClean="0"/>
              <a:t>fgets</a:t>
            </a:r>
            <a:r>
              <a:rPr lang="ja-JP" altLang="en-US" sz="2400" dirty="0" smtClean="0"/>
              <a:t>関数を用いるとこれに対処できるが、本講義の範囲外とする。）</a:t>
            </a:r>
            <a:endParaRPr kumimoji="1" lang="ja-JP" altLang="en-US" sz="2400" dirty="0"/>
          </a:p>
        </p:txBody>
      </p:sp>
      <p:sp>
        <p:nvSpPr>
          <p:cNvPr id="5" name="正方形/長方形 4"/>
          <p:cNvSpPr/>
          <p:nvPr/>
        </p:nvSpPr>
        <p:spPr>
          <a:xfrm>
            <a:off x="1571604" y="3214686"/>
            <a:ext cx="5786478" cy="3416320"/>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main (void) {</a:t>
            </a:r>
          </a:p>
          <a:p>
            <a:r>
              <a:rPr lang="en-US" altLang="ja-JP" sz="2400" dirty="0" smtClean="0"/>
              <a:t>  char a[10];</a:t>
            </a:r>
          </a:p>
          <a:p>
            <a:r>
              <a:rPr lang="en-US" altLang="ja-JP" sz="2400" dirty="0" smtClean="0"/>
              <a:t>  gets (&amp;a[0]);</a:t>
            </a:r>
          </a:p>
          <a:p>
            <a:r>
              <a:rPr lang="en-US" altLang="ja-JP" sz="2400" dirty="0" smtClean="0"/>
              <a:t>  </a:t>
            </a:r>
            <a:r>
              <a:rPr lang="en-US" altLang="ja-JP" sz="2400" dirty="0" err="1" smtClean="0"/>
              <a:t>printf</a:t>
            </a:r>
            <a:r>
              <a:rPr lang="en-US" altLang="ja-JP" sz="2400" dirty="0" smtClean="0"/>
              <a:t> ("%s\n", &amp;a[0]);</a:t>
            </a:r>
          </a:p>
          <a:p>
            <a:r>
              <a:rPr lang="en-US" altLang="ja-JP" sz="2400" dirty="0" smtClean="0"/>
              <a:t>  </a:t>
            </a:r>
            <a:r>
              <a:rPr lang="en-US" altLang="ja-JP" sz="2400" dirty="0" err="1" smtClean="0"/>
              <a:t>scanf</a:t>
            </a:r>
            <a:r>
              <a:rPr lang="en-US" altLang="ja-JP" sz="2400" dirty="0" smtClean="0"/>
              <a:t> ("%s", &amp;a[0]);</a:t>
            </a:r>
          </a:p>
          <a:p>
            <a:r>
              <a:rPr lang="en-US" altLang="ja-JP" sz="2400" dirty="0" smtClean="0"/>
              <a:t>  </a:t>
            </a:r>
            <a:r>
              <a:rPr lang="en-US" altLang="ja-JP" sz="2400" dirty="0" err="1" smtClean="0"/>
              <a:t>printf</a:t>
            </a:r>
            <a:r>
              <a:rPr lang="en-US" altLang="ja-JP" sz="2400" dirty="0" smtClean="0"/>
              <a:t> ("%s\n", &amp;a[0]);</a:t>
            </a:r>
          </a:p>
          <a:p>
            <a:r>
              <a:rPr lang="en-US" altLang="ja-JP" sz="2400" dirty="0" smtClean="0"/>
              <a:t>  return 0;</a:t>
            </a:r>
          </a:p>
          <a:p>
            <a:r>
              <a:rPr lang="en-US" altLang="ja-JP" sz="2400" dirty="0" smtClean="0"/>
              <a:t>}</a:t>
            </a:r>
            <a:endParaRPr lang="en-US" altLang="ja-JP" sz="2400"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67544" y="260648"/>
            <a:ext cx="8229600" cy="1143000"/>
          </a:xfrm>
        </p:spPr>
        <p:txBody>
          <a:bodyPr/>
          <a:lstStyle/>
          <a:p>
            <a:r>
              <a:rPr lang="ja-JP" altLang="en-US" dirty="0" smtClean="0"/>
              <a:t>基本課題１</a:t>
            </a:r>
            <a:endParaRPr kumimoji="1" lang="ja-JP" altLang="en-US" dirty="0"/>
          </a:p>
        </p:txBody>
      </p:sp>
      <p:sp>
        <p:nvSpPr>
          <p:cNvPr id="1027" name="Rectangle 3"/>
          <p:cNvSpPr>
            <a:spLocks noChangeArrowheads="1"/>
          </p:cNvSpPr>
          <p:nvPr/>
        </p:nvSpPr>
        <p:spPr bwMode="auto">
          <a:xfrm>
            <a:off x="395536" y="1269341"/>
            <a:ext cx="8352928" cy="526297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fontAlgn="base">
              <a:spcBef>
                <a:spcPct val="0"/>
              </a:spcBef>
              <a:spcAft>
                <a:spcPct val="0"/>
              </a:spcAft>
            </a:pPr>
            <a:r>
              <a:rPr lang="ja-JP" altLang="en-US" sz="2800" dirty="0" smtClean="0">
                <a:latin typeface="+mn-ea"/>
                <a:cs typeface="Times New Roman" pitchFamily="18" charset="0"/>
              </a:rPr>
              <a:t>空白がある（かもしれない）</a:t>
            </a:r>
            <a:r>
              <a:rPr kumimoji="1" lang="ja-JP" sz="2800" b="0" i="0" u="none" strike="noStrike" cap="none" normalizeH="0" baseline="0" dirty="0" smtClean="0">
                <a:ln>
                  <a:noFill/>
                </a:ln>
                <a:solidFill>
                  <a:schemeClr val="tx1"/>
                </a:solidFill>
                <a:effectLst/>
                <a:latin typeface="+mn-ea"/>
                <a:cs typeface="Times New Roman" pitchFamily="18" charset="0"/>
              </a:rPr>
              <a:t>文字列を</a:t>
            </a:r>
            <a:r>
              <a:rPr kumimoji="1" lang="ja-JP" altLang="en-US" sz="2800" b="0" i="0" u="none" strike="noStrike" cap="none" normalizeH="0" baseline="0" dirty="0" smtClean="0">
                <a:ln>
                  <a:noFill/>
                </a:ln>
                <a:solidFill>
                  <a:schemeClr val="tx1"/>
                </a:solidFill>
                <a:effectLst/>
                <a:latin typeface="+mn-ea"/>
                <a:cs typeface="Times New Roman" pitchFamily="18" charset="0"/>
              </a:rPr>
              <a:t>キーボードから受け取り</a:t>
            </a:r>
            <a:r>
              <a:rPr kumimoji="1" lang="ja-JP" sz="2800" b="0" i="0" u="none" strike="noStrike" cap="none" normalizeH="0" baseline="0" dirty="0" smtClean="0">
                <a:ln>
                  <a:noFill/>
                </a:ln>
                <a:solidFill>
                  <a:schemeClr val="tx1"/>
                </a:solidFill>
                <a:effectLst/>
                <a:latin typeface="+mn-ea"/>
                <a:cs typeface="Times New Roman" pitchFamily="18" charset="0"/>
              </a:rPr>
              <a:t>、</a:t>
            </a:r>
            <a:r>
              <a:rPr kumimoji="1" lang="ja-JP" altLang="en-US" sz="2800" b="0" i="0" u="none" strike="noStrike" cap="none" normalizeH="0" baseline="0" dirty="0" smtClean="0">
                <a:ln>
                  <a:noFill/>
                </a:ln>
                <a:solidFill>
                  <a:schemeClr val="tx1"/>
                </a:solidFill>
                <a:effectLst/>
                <a:latin typeface="+mn-ea"/>
                <a:cs typeface="Times New Roman" pitchFamily="18" charset="0"/>
              </a:rPr>
              <a:t>表示するプログラムを</a:t>
            </a:r>
            <a:r>
              <a:rPr lang="en-US" altLang="ja-JP" sz="2800" dirty="0" smtClean="0">
                <a:latin typeface="+mn-ea"/>
                <a:cs typeface="Times New Roman" pitchFamily="18" charset="0"/>
              </a:rPr>
              <a:t>gets</a:t>
            </a:r>
            <a:r>
              <a:rPr lang="ja-JP" altLang="en-US" sz="2800" dirty="0" smtClean="0">
                <a:latin typeface="+mn-ea"/>
                <a:cs typeface="Times New Roman" pitchFamily="18" charset="0"/>
              </a:rPr>
              <a:t>関数を使用せずに</a:t>
            </a:r>
            <a:r>
              <a:rPr kumimoji="1" lang="ja-JP" altLang="en-US" sz="2800" b="0" i="0" u="none" strike="noStrike" cap="none" normalizeH="0" baseline="0" dirty="0" smtClean="0">
                <a:ln>
                  <a:noFill/>
                </a:ln>
                <a:solidFill>
                  <a:schemeClr val="tx1"/>
                </a:solidFill>
                <a:effectLst/>
                <a:latin typeface="+mn-ea"/>
                <a:cs typeface="Times New Roman" pitchFamily="18" charset="0"/>
              </a:rPr>
              <a:t>作成せよ。</a:t>
            </a:r>
            <a:endParaRPr lang="en-US" altLang="ja-JP" sz="2800" dirty="0" smtClean="0">
              <a:latin typeface="+mn-ea"/>
              <a:cs typeface="Times New Roman" pitchFamily="18" charset="0"/>
            </a:endParaRPr>
          </a:p>
          <a:p>
            <a:pPr lvl="0" fontAlgn="base">
              <a:spcBef>
                <a:spcPct val="0"/>
              </a:spcBef>
              <a:spcAft>
                <a:spcPct val="0"/>
              </a:spcAft>
            </a:pPr>
            <a:r>
              <a:rPr kumimoji="1" lang="en-US" altLang="ja-JP" sz="2800" b="0" i="0" u="none" strike="noStrike" cap="none" normalizeH="0" baseline="0" dirty="0" smtClean="0">
                <a:ln>
                  <a:noFill/>
                </a:ln>
                <a:solidFill>
                  <a:schemeClr val="tx1"/>
                </a:solidFill>
                <a:effectLst/>
                <a:latin typeface="+mn-ea"/>
                <a:cs typeface="Times New Roman" pitchFamily="18" charset="0"/>
              </a:rPr>
              <a:t>[</a:t>
            </a:r>
            <a:r>
              <a:rPr kumimoji="1" lang="ja-JP" altLang="en-US" sz="2800" b="0" i="0" u="none" strike="noStrike" cap="none" normalizeH="0" baseline="0" dirty="0" smtClean="0">
                <a:ln>
                  <a:noFill/>
                </a:ln>
                <a:solidFill>
                  <a:schemeClr val="tx1"/>
                </a:solidFill>
                <a:effectLst/>
                <a:latin typeface="+mn-ea"/>
                <a:cs typeface="Times New Roman" pitchFamily="18" charset="0"/>
              </a:rPr>
              <a:t>実行例</a:t>
            </a:r>
            <a:r>
              <a:rPr kumimoji="1" lang="en-US" altLang="ja-JP" sz="2800" b="0" i="0" u="none" strike="noStrike" cap="none" normalizeH="0" baseline="0" dirty="0" smtClean="0">
                <a:ln>
                  <a:noFill/>
                </a:ln>
                <a:solidFill>
                  <a:schemeClr val="tx1"/>
                </a:solidFill>
                <a:effectLst/>
                <a:latin typeface="+mn-ea"/>
                <a:cs typeface="Times New Roman" pitchFamily="18" charset="0"/>
              </a:rPr>
              <a:t>]</a:t>
            </a:r>
            <a:endParaRPr kumimoji="1" lang="en-US" altLang="ja-JP" sz="2800" b="0" i="0" u="none" strike="noStrike" cap="none" normalizeH="0" baseline="0" dirty="0" smtClean="0">
              <a:ln>
                <a:noFill/>
              </a:ln>
              <a:solidFill>
                <a:schemeClr val="tx1"/>
              </a:solidFill>
              <a:effectLst/>
              <a:latin typeface="+mn-ea"/>
              <a:cs typeface="ＭＳ Ｐゴシック" pitchFamily="50" charset="-128"/>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ja-JP" altLang="en-US" sz="2800" b="0" i="0" u="none" strike="noStrike" cap="none" normalizeH="0" baseline="0" dirty="0" smtClean="0">
                <a:ln>
                  <a:noFill/>
                </a:ln>
                <a:solidFill>
                  <a:schemeClr val="tx1"/>
                </a:solidFill>
                <a:effectLst/>
                <a:latin typeface="+mn-ea"/>
                <a:cs typeface="Times New Roman" pitchFamily="18" charset="0"/>
              </a:rPr>
              <a:t>文字列を入力して下さい</a:t>
            </a:r>
            <a:r>
              <a:rPr kumimoji="1" lang="en-US" altLang="ja-JP" sz="2800" b="0" i="0" u="none" strike="noStrike" cap="none" normalizeH="0" baseline="0" dirty="0" smtClean="0">
                <a:ln>
                  <a:noFill/>
                </a:ln>
                <a:solidFill>
                  <a:schemeClr val="tx1"/>
                </a:solidFill>
                <a:effectLst/>
                <a:latin typeface="+mn-ea"/>
                <a:cs typeface="Times New Roman" pitchFamily="18" charset="0"/>
              </a:rPr>
              <a:t>:</a:t>
            </a:r>
            <a:r>
              <a:rPr kumimoji="1" lang="en-US" altLang="ja-JP" sz="2800" b="0" i="0" u="none" strike="noStrike" cap="none" normalizeH="0" dirty="0" smtClean="0">
                <a:ln>
                  <a:noFill/>
                </a:ln>
                <a:solidFill>
                  <a:schemeClr val="tx1"/>
                </a:solidFill>
                <a:effectLst/>
                <a:latin typeface="+mn-ea"/>
                <a:cs typeface="Times New Roman" pitchFamily="18" charset="0"/>
              </a:rPr>
              <a:t> </a:t>
            </a:r>
            <a:r>
              <a:rPr kumimoji="1" lang="en-US" altLang="ja-JP" sz="2800" b="0" i="0" u="none" strike="noStrike" cap="none" normalizeH="0" dirty="0" smtClean="0">
                <a:ln>
                  <a:noFill/>
                </a:ln>
                <a:solidFill>
                  <a:srgbClr val="FF0000"/>
                </a:solidFill>
                <a:effectLst/>
                <a:latin typeface="+mn-ea"/>
                <a:cs typeface="Times New Roman" pitchFamily="18" charset="0"/>
              </a:rPr>
              <a:t>This is a test.</a:t>
            </a:r>
            <a:endParaRPr kumimoji="1" lang="ja-JP" altLang="en-US" sz="2800" b="0" i="0" u="none" strike="noStrike" cap="none" normalizeH="0" baseline="0" dirty="0" smtClean="0">
              <a:ln>
                <a:noFill/>
              </a:ln>
              <a:solidFill>
                <a:srgbClr val="FF0000"/>
              </a:solidFill>
              <a:effectLst/>
              <a:latin typeface="+mn-ea"/>
              <a:cs typeface="ＭＳ Ｐゴシック" pitchFamily="50" charset="-128"/>
            </a:endParaRPr>
          </a:p>
          <a:p>
            <a:pPr lvl="0" eaLnBrk="0" fontAlgn="base" hangingPunct="0">
              <a:spcBef>
                <a:spcPct val="0"/>
              </a:spcBef>
              <a:spcAft>
                <a:spcPct val="0"/>
              </a:spcAft>
            </a:pPr>
            <a:r>
              <a:rPr kumimoji="1" lang="ja-JP" altLang="en-US" sz="2800" b="0" i="0" u="none" strike="noStrike" cap="none" normalizeH="0" baseline="0" dirty="0" smtClean="0">
                <a:ln>
                  <a:noFill/>
                </a:ln>
                <a:solidFill>
                  <a:schemeClr val="tx1"/>
                </a:solidFill>
                <a:effectLst/>
                <a:latin typeface="+mn-ea"/>
                <a:cs typeface="Times New Roman" pitchFamily="18" charset="0"/>
              </a:rPr>
              <a:t>あなたが入力した文字列は、</a:t>
            </a:r>
            <a:r>
              <a:rPr lang="en-US" altLang="ja-JP" sz="2800" dirty="0" smtClean="0">
                <a:latin typeface="+mn-ea"/>
                <a:cs typeface="Times New Roman" pitchFamily="18" charset="0"/>
              </a:rPr>
              <a:t> This is a test.</a:t>
            </a:r>
            <a:r>
              <a:rPr lang="ja-JP" altLang="en-US" sz="2800" dirty="0" smtClean="0">
                <a:latin typeface="+mn-ea"/>
                <a:cs typeface="Times New Roman" pitchFamily="18" charset="0"/>
              </a:rPr>
              <a:t>です。</a:t>
            </a:r>
            <a:endParaRPr kumimoji="1" lang="en-US" altLang="ja-JP" sz="2800" b="0" i="0" u="none" strike="noStrike" cap="none" normalizeH="0" baseline="0" dirty="0" smtClean="0">
              <a:ln>
                <a:noFill/>
              </a:ln>
              <a:solidFill>
                <a:schemeClr val="tx1"/>
              </a:solidFill>
              <a:effectLst/>
              <a:latin typeface="+mn-ea"/>
              <a:cs typeface="Times New Roman" pitchFamily="18" charset="0"/>
            </a:endParaRPr>
          </a:p>
          <a:p>
            <a:pPr lvl="0" eaLnBrk="0" fontAlgn="base" hangingPunct="0">
              <a:spcBef>
                <a:spcPct val="0"/>
              </a:spcBef>
              <a:spcAft>
                <a:spcPct val="0"/>
              </a:spcAft>
            </a:pPr>
            <a:r>
              <a:rPr lang="en-US" altLang="ja-JP" sz="2800" dirty="0" smtClean="0">
                <a:latin typeface="+mn-ea"/>
                <a:cs typeface="Times New Roman" pitchFamily="18" charset="0"/>
              </a:rPr>
              <a:t>(</a:t>
            </a:r>
            <a:r>
              <a:rPr lang="ja-JP" altLang="en-US" sz="2800" dirty="0" smtClean="0">
                <a:latin typeface="+mn-ea"/>
                <a:cs typeface="Times New Roman" pitchFamily="18" charset="0"/>
              </a:rPr>
              <a:t>ヒント</a:t>
            </a:r>
            <a:r>
              <a:rPr lang="en-US" altLang="ja-JP" sz="2800" dirty="0" smtClean="0">
                <a:latin typeface="+mn-ea"/>
                <a:cs typeface="Times New Roman" pitchFamily="18" charset="0"/>
              </a:rPr>
              <a:t>) </a:t>
            </a:r>
          </a:p>
          <a:p>
            <a:pPr lvl="0" eaLnBrk="0" fontAlgn="base" hangingPunct="0">
              <a:spcBef>
                <a:spcPct val="0"/>
              </a:spcBef>
              <a:spcAft>
                <a:spcPct val="0"/>
              </a:spcAft>
            </a:pPr>
            <a:r>
              <a:rPr lang="en-US" altLang="ja-JP" sz="2800" dirty="0" err="1" smtClean="0">
                <a:latin typeface="+mn-ea"/>
                <a:cs typeface="Times New Roman" pitchFamily="18" charset="0"/>
              </a:rPr>
              <a:t>scanf</a:t>
            </a:r>
            <a:r>
              <a:rPr lang="en-US" altLang="ja-JP" sz="2800" dirty="0" smtClean="0">
                <a:latin typeface="+mn-ea"/>
                <a:cs typeface="Times New Roman" pitchFamily="18" charset="0"/>
              </a:rPr>
              <a:t> (“%c”, &amp;c); </a:t>
            </a:r>
          </a:p>
          <a:p>
            <a:pPr lvl="0" eaLnBrk="0" fontAlgn="base" hangingPunct="0">
              <a:spcBef>
                <a:spcPct val="0"/>
              </a:spcBef>
              <a:spcAft>
                <a:spcPct val="0"/>
              </a:spcAft>
            </a:pPr>
            <a:r>
              <a:rPr lang="en-US" altLang="ja-JP" sz="2800" dirty="0" err="1" smtClean="0">
                <a:latin typeface="+mn-ea"/>
                <a:cs typeface="Times New Roman" pitchFamily="18" charset="0"/>
              </a:rPr>
              <a:t>printf</a:t>
            </a:r>
            <a:r>
              <a:rPr lang="en-US" altLang="ja-JP" sz="2800" dirty="0" smtClean="0">
                <a:latin typeface="+mn-ea"/>
                <a:cs typeface="Times New Roman" pitchFamily="18" charset="0"/>
              </a:rPr>
              <a:t> (“%c”, c);</a:t>
            </a:r>
          </a:p>
          <a:p>
            <a:pPr lvl="0" eaLnBrk="0" fontAlgn="base" hangingPunct="0">
              <a:spcBef>
                <a:spcPct val="0"/>
              </a:spcBef>
              <a:spcAft>
                <a:spcPct val="0"/>
              </a:spcAft>
            </a:pPr>
            <a:r>
              <a:rPr lang="ja-JP" altLang="en-US" sz="2800" dirty="0" smtClean="0">
                <a:latin typeface="+mn-ea"/>
                <a:cs typeface="Times New Roman" pitchFamily="18" charset="0"/>
              </a:rPr>
              <a:t>を、</a:t>
            </a:r>
            <a:r>
              <a:rPr lang="en-US" altLang="ja-JP" sz="2800" dirty="0" smtClean="0">
                <a:latin typeface="+mn-ea"/>
                <a:cs typeface="Times New Roman" pitchFamily="18" charset="0"/>
              </a:rPr>
              <a:t>c</a:t>
            </a:r>
            <a:r>
              <a:rPr lang="ja-JP" altLang="en-US" sz="2800" dirty="0" smtClean="0">
                <a:latin typeface="+mn-ea"/>
                <a:cs typeface="Times New Roman" pitchFamily="18" charset="0"/>
              </a:rPr>
              <a:t>が</a:t>
            </a:r>
            <a:r>
              <a:rPr lang="en-US" altLang="ja-JP" sz="2800" dirty="0" smtClean="0">
                <a:latin typeface="+mn-ea"/>
                <a:cs typeface="Times New Roman" pitchFamily="18" charset="0"/>
              </a:rPr>
              <a:t>’\n’</a:t>
            </a:r>
            <a:r>
              <a:rPr lang="ja-JP" altLang="en-US" sz="2800" dirty="0" smtClean="0">
                <a:latin typeface="+mn-ea"/>
                <a:cs typeface="Times New Roman" pitchFamily="18" charset="0"/>
              </a:rPr>
              <a:t>と等しくなるまで繰り返し実行すればよい。</a:t>
            </a:r>
            <a:endParaRPr lang="en-US" altLang="ja-JP" sz="2800" dirty="0" smtClean="0">
              <a:latin typeface="+mn-ea"/>
              <a:cs typeface="Times New Roman" pitchFamily="18" charset="0"/>
            </a:endParaRPr>
          </a:p>
          <a:p>
            <a:pPr lvl="0" eaLnBrk="0" fontAlgn="base" hangingPunct="0">
              <a:spcBef>
                <a:spcPct val="0"/>
              </a:spcBef>
              <a:spcAft>
                <a:spcPct val="0"/>
              </a:spcAft>
            </a:pPr>
            <a:r>
              <a:rPr lang="ja-JP" altLang="en-US" sz="2800" dirty="0" smtClean="0">
                <a:latin typeface="+mn-ea"/>
                <a:cs typeface="Times New Roman" pitchFamily="18" charset="0"/>
              </a:rPr>
              <a:t>あるいは、配列を使ってすべての文字を格納してから表示させてもよい。</a:t>
            </a:r>
            <a:endParaRPr kumimoji="1" lang="ja-JP" altLang="en-US" sz="2800" b="0" i="0" u="none" strike="noStrike" cap="none" normalizeH="0" baseline="0" dirty="0" smtClean="0">
              <a:ln>
                <a:noFill/>
              </a:ln>
              <a:solidFill>
                <a:schemeClr val="tx1"/>
              </a:solidFill>
              <a:effectLst/>
              <a:latin typeface="+mn-ea"/>
              <a:cs typeface="ＭＳ Ｐゴシック" pitchFamily="50" charset="-128"/>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基本課題２</a:t>
            </a:r>
            <a:endParaRPr kumimoji="1" lang="ja-JP" altLang="en-US" dirty="0"/>
          </a:p>
        </p:txBody>
      </p:sp>
      <p:sp>
        <p:nvSpPr>
          <p:cNvPr id="67585" name="Rectangle 1"/>
          <p:cNvSpPr>
            <a:spLocks noChangeArrowheads="1"/>
          </p:cNvSpPr>
          <p:nvPr/>
        </p:nvSpPr>
        <p:spPr bwMode="auto">
          <a:xfrm>
            <a:off x="539552" y="1327408"/>
            <a:ext cx="7632848" cy="2677656"/>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fontAlgn="base">
              <a:spcBef>
                <a:spcPct val="0"/>
              </a:spcBef>
              <a:spcAft>
                <a:spcPct val="0"/>
              </a:spcAft>
            </a:pPr>
            <a:r>
              <a:rPr kumimoji="1" lang="ja-JP" sz="2800" b="0" i="0" u="none" strike="noStrike" cap="none" normalizeH="0" baseline="0" dirty="0" smtClean="0">
                <a:ln>
                  <a:noFill/>
                </a:ln>
                <a:solidFill>
                  <a:schemeClr val="tx1"/>
                </a:solidFill>
                <a:effectLst/>
                <a:latin typeface="+mn-ea"/>
                <a:cs typeface="Times New Roman" pitchFamily="18" charset="0"/>
              </a:rPr>
              <a:t>英文を</a:t>
            </a:r>
            <a:r>
              <a:rPr kumimoji="1" lang="ja-JP" altLang="en-US" sz="2800" b="0" i="0" u="none" strike="noStrike" cap="none" normalizeH="0" baseline="0" dirty="0" smtClean="0">
                <a:ln>
                  <a:noFill/>
                </a:ln>
                <a:solidFill>
                  <a:schemeClr val="tx1"/>
                </a:solidFill>
                <a:effectLst/>
                <a:latin typeface="+mn-ea"/>
                <a:cs typeface="Times New Roman" pitchFamily="18" charset="0"/>
              </a:rPr>
              <a:t>キーボードから</a:t>
            </a:r>
            <a:r>
              <a:rPr kumimoji="1" lang="ja-JP" sz="2800" b="0" i="0" u="none" strike="noStrike" cap="none" normalizeH="0" baseline="0" dirty="0" smtClean="0">
                <a:ln>
                  <a:noFill/>
                </a:ln>
                <a:solidFill>
                  <a:schemeClr val="tx1"/>
                </a:solidFill>
                <a:effectLst/>
                <a:latin typeface="+mn-ea"/>
                <a:cs typeface="Times New Roman" pitchFamily="18" charset="0"/>
              </a:rPr>
              <a:t>入力し、その英文の長さを表示するプログラムを作成せよ。ただし、空白</a:t>
            </a:r>
            <a:r>
              <a:rPr kumimoji="1" lang="ja-JP" altLang="en-US" sz="2800" b="0" i="0" u="none" strike="noStrike" cap="none" normalizeH="0" baseline="0" dirty="0" smtClean="0">
                <a:ln>
                  <a:noFill/>
                </a:ln>
                <a:solidFill>
                  <a:schemeClr val="tx1"/>
                </a:solidFill>
                <a:effectLst/>
                <a:latin typeface="+mn-ea"/>
                <a:cs typeface="Times New Roman" pitchFamily="18" charset="0"/>
              </a:rPr>
              <a:t>やピリオド等</a:t>
            </a:r>
            <a:r>
              <a:rPr kumimoji="1" lang="ja-JP" sz="2800" b="0" i="0" u="none" strike="noStrike" cap="none" normalizeH="0" baseline="0" dirty="0" smtClean="0">
                <a:ln>
                  <a:noFill/>
                </a:ln>
                <a:solidFill>
                  <a:schemeClr val="tx1"/>
                </a:solidFill>
                <a:effectLst/>
                <a:latin typeface="+mn-ea"/>
                <a:cs typeface="Times New Roman" pitchFamily="18" charset="0"/>
              </a:rPr>
              <a:t>も文字数にカウントする</a:t>
            </a:r>
            <a:r>
              <a:rPr lang="ja-JP" altLang="en-US" sz="2800" dirty="0" smtClean="0">
                <a:latin typeface="+mn-ea"/>
                <a:cs typeface="Times New Roman" pitchFamily="18" charset="0"/>
              </a:rPr>
              <a:t>。</a:t>
            </a:r>
            <a:endParaRPr lang="en-US" altLang="ja-JP" sz="2800" dirty="0" smtClean="0">
              <a:latin typeface="+mn-ea"/>
              <a:cs typeface="Times New Roman" pitchFamily="18" charset="0"/>
            </a:endParaRPr>
          </a:p>
          <a:p>
            <a:pPr fontAlgn="base">
              <a:spcBef>
                <a:spcPct val="0"/>
              </a:spcBef>
              <a:spcAft>
                <a:spcPct val="0"/>
              </a:spcAft>
            </a:pPr>
            <a:r>
              <a:rPr lang="en-US" altLang="ja-JP" sz="2800" dirty="0" smtClean="0">
                <a:latin typeface="+mn-ea"/>
                <a:cs typeface="Times New Roman" pitchFamily="18" charset="0"/>
              </a:rPr>
              <a:t>[</a:t>
            </a:r>
            <a:r>
              <a:rPr lang="ja-JP" altLang="en-US" sz="2800" dirty="0" smtClean="0">
                <a:latin typeface="+mn-ea"/>
                <a:cs typeface="Times New Roman" pitchFamily="18" charset="0"/>
              </a:rPr>
              <a:t>実行例</a:t>
            </a:r>
            <a:r>
              <a:rPr lang="en-US" altLang="ja-JP" sz="2800" dirty="0" smtClean="0">
                <a:latin typeface="+mn-ea"/>
                <a:cs typeface="Times New Roman" pitchFamily="18" charset="0"/>
              </a:rPr>
              <a:t>]</a:t>
            </a:r>
          </a:p>
          <a:p>
            <a:pPr fontAlgn="base">
              <a:spcBef>
                <a:spcPct val="0"/>
              </a:spcBef>
              <a:spcAft>
                <a:spcPct val="0"/>
              </a:spcAft>
            </a:pPr>
            <a:r>
              <a:rPr lang="ja-JP" altLang="en-US" sz="2800" dirty="0" smtClean="0">
                <a:latin typeface="+mn-ea"/>
                <a:cs typeface="Times New Roman" pitchFamily="18" charset="0"/>
              </a:rPr>
              <a:t>英文を入力して下さい</a:t>
            </a:r>
            <a:r>
              <a:rPr lang="en-US" altLang="ja-JP" sz="2800" dirty="0" smtClean="0">
                <a:latin typeface="+mn-ea"/>
                <a:cs typeface="Times New Roman" pitchFamily="18" charset="0"/>
              </a:rPr>
              <a:t>: </a:t>
            </a:r>
            <a:r>
              <a:rPr lang="en-US" altLang="ja-JP" sz="2800" dirty="0" smtClean="0">
                <a:solidFill>
                  <a:srgbClr val="FF0000"/>
                </a:solidFill>
                <a:latin typeface="+mn-ea"/>
                <a:cs typeface="Times New Roman" pitchFamily="18" charset="0"/>
              </a:rPr>
              <a:t>This is a pen.</a:t>
            </a:r>
          </a:p>
          <a:p>
            <a:pPr fontAlgn="base">
              <a:spcBef>
                <a:spcPct val="0"/>
              </a:spcBef>
              <a:spcAft>
                <a:spcPct val="0"/>
              </a:spcAft>
            </a:pPr>
            <a:r>
              <a:rPr lang="ja-JP" altLang="en-US" sz="2800" dirty="0" smtClean="0">
                <a:latin typeface="+mn-ea"/>
                <a:cs typeface="Times New Roman" pitchFamily="18" charset="0"/>
              </a:rPr>
              <a:t>あなたが入力した英文の文字数は</a:t>
            </a:r>
            <a:r>
              <a:rPr lang="en-US" altLang="ja-JP" sz="2800" dirty="0" smtClean="0">
                <a:latin typeface="+mn-ea"/>
                <a:cs typeface="Times New Roman" pitchFamily="18" charset="0"/>
              </a:rPr>
              <a:t>14</a:t>
            </a:r>
            <a:r>
              <a:rPr lang="ja-JP" altLang="en-US" sz="2800" dirty="0" smtClean="0">
                <a:latin typeface="+mn-ea"/>
                <a:cs typeface="Times New Roman" pitchFamily="18" charset="0"/>
              </a:rPr>
              <a:t>です。</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28596" y="357166"/>
            <a:ext cx="8229600" cy="654032"/>
          </a:xfrm>
        </p:spPr>
        <p:txBody>
          <a:bodyPr>
            <a:normAutofit fontScale="90000"/>
          </a:bodyPr>
          <a:lstStyle/>
          <a:p>
            <a:r>
              <a:rPr kumimoji="1" lang="ja-JP" altLang="en-US" dirty="0" smtClean="0"/>
              <a:t>発展課題１</a:t>
            </a:r>
            <a:endParaRPr kumimoji="1" lang="ja-JP" altLang="en-US" dirty="0"/>
          </a:p>
        </p:txBody>
      </p:sp>
      <p:sp>
        <p:nvSpPr>
          <p:cNvPr id="4" name="テキスト ボックス 3"/>
          <p:cNvSpPr txBox="1"/>
          <p:nvPr/>
        </p:nvSpPr>
        <p:spPr>
          <a:xfrm>
            <a:off x="1000100" y="1428736"/>
            <a:ext cx="7215238" cy="4832092"/>
          </a:xfrm>
          <a:prstGeom prst="rect">
            <a:avLst/>
          </a:prstGeom>
          <a:noFill/>
        </p:spPr>
        <p:txBody>
          <a:bodyPr wrap="square" rtlCol="0">
            <a:spAutoFit/>
          </a:bodyPr>
          <a:lstStyle/>
          <a:p>
            <a:r>
              <a:rPr lang="ja-JP" altLang="en-US" sz="2800" dirty="0" smtClean="0"/>
              <a:t>キーボードから英語の文字列を１つ入力として受け取り、その中に英語の大文字をすべて小文字に変換したものを画面に表示するプログラムを作成せよ。英語の大文字以外の文字はそのまま表示せよ。</a:t>
            </a:r>
            <a:endParaRPr lang="en-US" altLang="ja-JP" sz="2800" dirty="0" smtClean="0"/>
          </a:p>
          <a:p>
            <a:endParaRPr lang="en-US" altLang="ja-JP" sz="2800" dirty="0" smtClean="0"/>
          </a:p>
          <a:p>
            <a:r>
              <a:rPr lang="en-US" altLang="ja-JP" sz="2800" dirty="0" smtClean="0"/>
              <a:t>[</a:t>
            </a:r>
            <a:r>
              <a:rPr lang="ja-JP" altLang="en-US" sz="2800" dirty="0" smtClean="0"/>
              <a:t>実行例</a:t>
            </a:r>
            <a:r>
              <a:rPr lang="en-US" altLang="ja-JP" sz="2800" dirty="0" smtClean="0"/>
              <a:t>]</a:t>
            </a:r>
          </a:p>
          <a:p>
            <a:r>
              <a:rPr lang="ja-JP" altLang="en-US" sz="2800" dirty="0" smtClean="0"/>
              <a:t>文字列を入力してください</a:t>
            </a:r>
            <a:r>
              <a:rPr lang="en-US" altLang="ja-JP" sz="2800" dirty="0" smtClean="0"/>
              <a:t>: </a:t>
            </a:r>
            <a:r>
              <a:rPr lang="en-US" altLang="ja-JP" sz="2800" dirty="0" smtClean="0">
                <a:solidFill>
                  <a:srgbClr val="FF0000"/>
                </a:solidFill>
              </a:rPr>
              <a:t>This is a pen.</a:t>
            </a:r>
          </a:p>
          <a:p>
            <a:r>
              <a:rPr lang="en-US" altLang="ja-JP" sz="2800" dirty="0" smtClean="0"/>
              <a:t>this is a pen.</a:t>
            </a:r>
          </a:p>
          <a:p>
            <a:endParaRPr lang="en-US" altLang="ja-JP" sz="2800" dirty="0" smtClean="0"/>
          </a:p>
          <a:p>
            <a:r>
              <a:rPr lang="ja-JP" altLang="en-US" sz="2800" dirty="0" smtClean="0"/>
              <a:t>（注意）十分な長さの配列を宣言して用いること。</a:t>
            </a:r>
            <a:endParaRPr lang="en-US" altLang="ja-JP" sz="2800" dirty="0" smtClean="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ja-JP" altLang="en-US" dirty="0" smtClean="0"/>
              <a:t>（補足）</a:t>
            </a:r>
            <a:r>
              <a:rPr lang="en-US" altLang="ja-JP" dirty="0" smtClean="0"/>
              <a:t>char</a:t>
            </a:r>
            <a:r>
              <a:rPr lang="ja-JP" altLang="en-US" dirty="0" smtClean="0"/>
              <a:t>配列の初期化について</a:t>
            </a:r>
            <a:endParaRPr kumimoji="1" lang="ja-JP" altLang="en-US" dirty="0"/>
          </a:p>
        </p:txBody>
      </p:sp>
      <p:sp>
        <p:nvSpPr>
          <p:cNvPr id="4" name="テキスト ボックス 3"/>
          <p:cNvSpPr txBox="1"/>
          <p:nvPr/>
        </p:nvSpPr>
        <p:spPr>
          <a:xfrm>
            <a:off x="1043608" y="1714488"/>
            <a:ext cx="7416824" cy="3108543"/>
          </a:xfrm>
          <a:prstGeom prst="rect">
            <a:avLst/>
          </a:prstGeom>
          <a:noFill/>
        </p:spPr>
        <p:txBody>
          <a:bodyPr wrap="square" rtlCol="0">
            <a:spAutoFit/>
          </a:bodyPr>
          <a:lstStyle/>
          <a:p>
            <a:r>
              <a:rPr lang="en-US" altLang="ja-JP" sz="2800" dirty="0" smtClean="0"/>
              <a:t> char a [1000] = {‘\0’};</a:t>
            </a:r>
          </a:p>
          <a:p>
            <a:r>
              <a:rPr lang="en-US" altLang="ja-JP" sz="2800" dirty="0" smtClean="0"/>
              <a:t> char b [1000] = {‘\0’};</a:t>
            </a:r>
          </a:p>
          <a:p>
            <a:r>
              <a:rPr lang="ja-JP" altLang="en-US" sz="2800" dirty="0" err="1" smtClean="0"/>
              <a:t>のように</a:t>
            </a:r>
            <a:r>
              <a:rPr lang="en-US" altLang="ja-JP" sz="2800" dirty="0" smtClean="0"/>
              <a:t>char</a:t>
            </a:r>
            <a:r>
              <a:rPr lang="ja-JP" altLang="en-US" sz="2800" dirty="0" smtClean="0"/>
              <a:t>配列の初期化をすることによって、すべての要素がヌル文字で初期化されるので便利がよい。（文字列のコピーなどの場合に最後のヌル文字の扱いがやりやすくなるので）</a:t>
            </a:r>
            <a:endParaRPr lang="en-US" altLang="ja-JP" sz="2800" dirty="0" smtClean="0"/>
          </a:p>
          <a:p>
            <a:endParaRPr kumimoji="1" lang="ja-JP" altLang="en-US" sz="2800" dirty="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25470"/>
          </a:xfrm>
        </p:spPr>
        <p:txBody>
          <a:bodyPr>
            <a:normAutofit fontScale="90000"/>
          </a:bodyPr>
          <a:lstStyle/>
          <a:p>
            <a:r>
              <a:rPr lang="ja-JP" altLang="en-US" dirty="0" smtClean="0"/>
              <a:t>大文字から小文字への変換</a:t>
            </a:r>
            <a:endParaRPr kumimoji="1" lang="ja-JP" altLang="en-US" dirty="0"/>
          </a:p>
        </p:txBody>
      </p:sp>
      <p:sp>
        <p:nvSpPr>
          <p:cNvPr id="4" name="テキスト ボックス 3"/>
          <p:cNvSpPr txBox="1"/>
          <p:nvPr/>
        </p:nvSpPr>
        <p:spPr>
          <a:xfrm>
            <a:off x="857224" y="1142984"/>
            <a:ext cx="7215238" cy="1938992"/>
          </a:xfrm>
          <a:prstGeom prst="rect">
            <a:avLst/>
          </a:prstGeom>
          <a:noFill/>
        </p:spPr>
        <p:txBody>
          <a:bodyPr wrap="square" rtlCol="0">
            <a:spAutoFit/>
          </a:bodyPr>
          <a:lstStyle/>
          <a:p>
            <a:r>
              <a:rPr kumimoji="1" lang="ja-JP" altLang="en-US" sz="2400" dirty="0" smtClean="0"/>
              <a:t>大文字から小文字への変換は</a:t>
            </a:r>
            <a:r>
              <a:rPr kumimoji="1" lang="en-US" altLang="ja-JP" sz="2400" dirty="0" err="1" smtClean="0"/>
              <a:t>tolower</a:t>
            </a:r>
            <a:r>
              <a:rPr kumimoji="1" lang="ja-JP" altLang="en-US" sz="2400" dirty="0" smtClean="0"/>
              <a:t>関数を用いる。</a:t>
            </a:r>
            <a:endParaRPr kumimoji="1" lang="en-US" altLang="ja-JP" sz="2400" dirty="0" smtClean="0"/>
          </a:p>
          <a:p>
            <a:r>
              <a:rPr lang="en-US" altLang="ja-JP" sz="2400" dirty="0" err="1" smtClean="0"/>
              <a:t>tolower</a:t>
            </a:r>
            <a:r>
              <a:rPr lang="ja-JP" altLang="en-US" sz="2400" dirty="0" smtClean="0"/>
              <a:t>関数は、</a:t>
            </a:r>
            <a:r>
              <a:rPr lang="en-US" altLang="ja-JP" sz="2400" dirty="0" err="1" smtClean="0"/>
              <a:t>int</a:t>
            </a:r>
            <a:r>
              <a:rPr lang="ja-JP" altLang="en-US" sz="2400" dirty="0" smtClean="0"/>
              <a:t>型を引数に受け取り、それが大文字に対応する数の場合、その小文字に対応する</a:t>
            </a:r>
            <a:r>
              <a:rPr lang="en-US" altLang="ja-JP" sz="2400" dirty="0" err="1" smtClean="0"/>
              <a:t>int</a:t>
            </a:r>
            <a:r>
              <a:rPr lang="ja-JP" altLang="en-US" sz="2400" dirty="0" smtClean="0"/>
              <a:t>型の数を返す。大文字以外の場合はそれをそのまま返す。</a:t>
            </a:r>
            <a:endParaRPr lang="en-US" altLang="ja-JP" sz="2400" dirty="0" smtClean="0"/>
          </a:p>
          <a:p>
            <a:r>
              <a:rPr kumimoji="1" lang="en-US" altLang="ja-JP" sz="2400" dirty="0" err="1" smtClean="0"/>
              <a:t>ctype.h</a:t>
            </a:r>
            <a:r>
              <a:rPr kumimoji="1" lang="ja-JP" altLang="en-US" sz="2400" dirty="0" smtClean="0"/>
              <a:t>を読み込む必要がある。</a:t>
            </a:r>
            <a:endParaRPr kumimoji="1" lang="ja-JP" altLang="en-US" sz="2400" dirty="0"/>
          </a:p>
        </p:txBody>
      </p:sp>
      <p:sp>
        <p:nvSpPr>
          <p:cNvPr id="6" name="正方形/長方形 5"/>
          <p:cNvSpPr/>
          <p:nvPr/>
        </p:nvSpPr>
        <p:spPr>
          <a:xfrm>
            <a:off x="1643042" y="3214686"/>
            <a:ext cx="5214974" cy="3539430"/>
          </a:xfrm>
          <a:prstGeom prst="rect">
            <a:avLst/>
          </a:prstGeom>
          <a:ln>
            <a:solidFill>
              <a:schemeClr val="tx1"/>
            </a:solidFill>
          </a:ln>
        </p:spPr>
        <p:txBody>
          <a:bodyPr wrap="square">
            <a:spAutoFit/>
          </a:bodyPr>
          <a:lstStyle/>
          <a:p>
            <a:r>
              <a:rPr lang="en-US" altLang="ja-JP" sz="2800" dirty="0" smtClean="0"/>
              <a:t>#include &lt;</a:t>
            </a:r>
            <a:r>
              <a:rPr lang="en-US" altLang="ja-JP" sz="2800" dirty="0" err="1" smtClean="0"/>
              <a:t>ctype.h</a:t>
            </a:r>
            <a:r>
              <a:rPr lang="en-US" altLang="ja-JP" sz="2800" dirty="0" smtClean="0"/>
              <a:t>&gt;</a:t>
            </a:r>
          </a:p>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a:t>
            </a:r>
            <a:r>
              <a:rPr lang="en-US" altLang="ja-JP" sz="2800" dirty="0" err="1" smtClean="0"/>
              <a:t>printf</a:t>
            </a:r>
            <a:r>
              <a:rPr lang="en-US" altLang="ja-JP" sz="2800" dirty="0" smtClean="0"/>
              <a:t> ("%c\n", </a:t>
            </a:r>
            <a:r>
              <a:rPr lang="en-US" altLang="ja-JP" sz="2800" dirty="0" err="1" smtClean="0"/>
              <a:t>tolower</a:t>
            </a:r>
            <a:r>
              <a:rPr lang="en-US" altLang="ja-JP" sz="2800" dirty="0" smtClean="0"/>
              <a:t> ('A'));</a:t>
            </a:r>
          </a:p>
          <a:p>
            <a:r>
              <a:rPr lang="en-US" altLang="ja-JP" sz="2800" dirty="0" smtClean="0"/>
              <a:t>    </a:t>
            </a:r>
            <a:r>
              <a:rPr lang="en-US" altLang="ja-JP" sz="2800" dirty="0" err="1" smtClean="0"/>
              <a:t>printf</a:t>
            </a:r>
            <a:r>
              <a:rPr lang="en-US" altLang="ja-JP" sz="2800" dirty="0" smtClean="0"/>
              <a:t> ("%c\n", </a:t>
            </a:r>
            <a:r>
              <a:rPr lang="en-US" altLang="ja-JP" sz="2800" dirty="0" err="1" smtClean="0"/>
              <a:t>tolower</a:t>
            </a:r>
            <a:r>
              <a:rPr lang="en-US" altLang="ja-JP" sz="2800" dirty="0" smtClean="0"/>
              <a:t> ('a'));</a:t>
            </a:r>
          </a:p>
          <a:p>
            <a:r>
              <a:rPr lang="en-US" altLang="ja-JP" sz="2800" dirty="0" smtClean="0"/>
              <a:t>    </a:t>
            </a:r>
            <a:r>
              <a:rPr lang="en-US" altLang="ja-JP" sz="2800" dirty="0" err="1" smtClean="0"/>
              <a:t>printf</a:t>
            </a:r>
            <a:r>
              <a:rPr lang="en-US" altLang="ja-JP" sz="2800" dirty="0" smtClean="0"/>
              <a:t> ("%c\n", </a:t>
            </a:r>
            <a:r>
              <a:rPr lang="en-US" altLang="ja-JP" sz="2800" dirty="0" err="1" smtClean="0"/>
              <a:t>tolower</a:t>
            </a:r>
            <a:r>
              <a:rPr lang="en-US" altLang="ja-JP" sz="2800" dirty="0" smtClean="0"/>
              <a:t> ('+'));</a:t>
            </a:r>
          </a:p>
          <a:p>
            <a:r>
              <a:rPr lang="en-US" altLang="ja-JP" sz="2800" dirty="0" smtClean="0"/>
              <a:t>    return 0;</a:t>
            </a:r>
          </a:p>
          <a:p>
            <a:r>
              <a:rPr lang="en-US" altLang="ja-JP" sz="2800" dirty="0" smtClean="0"/>
              <a:t>}</a:t>
            </a:r>
            <a:endParaRPr lang="en-US" altLang="ja-JP" sz="2800" dirty="0"/>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28596" y="428604"/>
            <a:ext cx="8229600" cy="654032"/>
          </a:xfrm>
        </p:spPr>
        <p:txBody>
          <a:bodyPr>
            <a:normAutofit fontScale="90000"/>
          </a:bodyPr>
          <a:lstStyle/>
          <a:p>
            <a:r>
              <a:rPr kumimoji="1" lang="ja-JP" altLang="en-US" dirty="0" smtClean="0"/>
              <a:t>発展課題２</a:t>
            </a:r>
            <a:endParaRPr kumimoji="1" lang="ja-JP" altLang="en-US" dirty="0"/>
          </a:p>
        </p:txBody>
      </p:sp>
      <p:sp>
        <p:nvSpPr>
          <p:cNvPr id="4" name="テキスト ボックス 3"/>
          <p:cNvSpPr txBox="1"/>
          <p:nvPr/>
        </p:nvSpPr>
        <p:spPr>
          <a:xfrm>
            <a:off x="323528" y="1404059"/>
            <a:ext cx="8640960" cy="4401205"/>
          </a:xfrm>
          <a:prstGeom prst="rect">
            <a:avLst/>
          </a:prstGeom>
          <a:noFill/>
        </p:spPr>
        <p:txBody>
          <a:bodyPr wrap="square" rtlCol="0">
            <a:spAutoFit/>
          </a:bodyPr>
          <a:lstStyle/>
          <a:p>
            <a:r>
              <a:rPr lang="ja-JP" altLang="en-US" sz="2800" dirty="0" smtClean="0"/>
              <a:t>キーボードから英語の文字列を１つ入力として受け取り、それが回文であるかどうかを判定するプログラムを作成せよ。ただし、アルファベットの大文字小文字は区別せず、かつアルファベット以外の記号（空白、エクスクラメーションマーク等）は無視するものとする。</a:t>
            </a:r>
            <a:endParaRPr lang="en-US" altLang="ja-JP" sz="2800" dirty="0" smtClean="0"/>
          </a:p>
          <a:p>
            <a:r>
              <a:rPr lang="ja-JP" altLang="en-US" sz="2800" dirty="0" smtClean="0"/>
              <a:t>（実行例）</a:t>
            </a:r>
            <a:endParaRPr lang="en-US" altLang="ja-JP" sz="2800" dirty="0" smtClean="0"/>
          </a:p>
          <a:p>
            <a:r>
              <a:rPr lang="ja-JP" altLang="en-US" sz="2800" dirty="0" smtClean="0"/>
              <a:t>英語の文字列を入力してください</a:t>
            </a:r>
            <a:r>
              <a:rPr lang="en-US" altLang="ja-JP" sz="2800" dirty="0" smtClean="0"/>
              <a:t>: </a:t>
            </a:r>
            <a:r>
              <a:rPr lang="en-US" altLang="ja-JP" sz="2800" dirty="0" smtClean="0">
                <a:solidFill>
                  <a:srgbClr val="FF0000"/>
                </a:solidFill>
              </a:rPr>
              <a:t>So many dynamos!</a:t>
            </a:r>
          </a:p>
          <a:p>
            <a:r>
              <a:rPr lang="en-US" altLang="ja-JP" sz="2800" dirty="0" smtClean="0"/>
              <a:t>So many dynamos!</a:t>
            </a:r>
            <a:r>
              <a:rPr lang="ja-JP" altLang="en-US" sz="2800" dirty="0" smtClean="0"/>
              <a:t> は回文です。</a:t>
            </a:r>
            <a:endParaRPr lang="en-US" altLang="ja-JP" sz="2800" dirty="0" smtClean="0"/>
          </a:p>
          <a:p>
            <a:r>
              <a:rPr lang="ja-JP" altLang="en-US" sz="2800" dirty="0" smtClean="0"/>
              <a:t>（補足）</a:t>
            </a:r>
            <a:r>
              <a:rPr lang="en-US" altLang="ja-JP" sz="2800" dirty="0" smtClean="0"/>
              <a:t>dynamo</a:t>
            </a:r>
            <a:r>
              <a:rPr lang="ja-JP" altLang="en-US" sz="2800" dirty="0" smtClean="0"/>
              <a:t>は発電機。</a:t>
            </a:r>
            <a:r>
              <a:rPr lang="en-US" altLang="ja-JP" sz="2800" dirty="0" smtClean="0"/>
              <a:t>dynamos</a:t>
            </a:r>
            <a:r>
              <a:rPr lang="ja-JP" altLang="en-US" sz="2800" dirty="0" smtClean="0"/>
              <a:t>は</a:t>
            </a:r>
            <a:r>
              <a:rPr lang="en-US" altLang="ja-JP" sz="2800" dirty="0" smtClean="0"/>
              <a:t>dynamo</a:t>
            </a:r>
            <a:r>
              <a:rPr lang="ja-JP" altLang="en-US" sz="2800" dirty="0" smtClean="0"/>
              <a:t>の複数形</a:t>
            </a:r>
            <a:endParaRPr lang="en-US" altLang="ja-JP" sz="2800" dirty="0" smtClean="0"/>
          </a:p>
          <a:p>
            <a:r>
              <a:rPr lang="ja-JP" altLang="en-US" sz="2800" dirty="0" smtClean="0"/>
              <a:t>（注意）十分な長さの配列を宣言して用いること。</a:t>
            </a: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582594"/>
          </a:xfrm>
        </p:spPr>
        <p:txBody>
          <a:bodyPr>
            <a:normAutofit fontScale="90000"/>
          </a:bodyPr>
          <a:lstStyle/>
          <a:p>
            <a:r>
              <a:rPr kumimoji="1" lang="ja-JP" altLang="en-US" dirty="0" smtClean="0"/>
              <a:t>アルファベットの文字の判定</a:t>
            </a:r>
            <a:endParaRPr kumimoji="1" lang="ja-JP" altLang="en-US" dirty="0"/>
          </a:p>
        </p:txBody>
      </p:sp>
      <p:sp>
        <p:nvSpPr>
          <p:cNvPr id="4" name="テキスト ボックス 3"/>
          <p:cNvSpPr txBox="1"/>
          <p:nvPr/>
        </p:nvSpPr>
        <p:spPr>
          <a:xfrm>
            <a:off x="642910" y="1142984"/>
            <a:ext cx="7286644" cy="1200329"/>
          </a:xfrm>
          <a:prstGeom prst="rect">
            <a:avLst/>
          </a:prstGeom>
          <a:noFill/>
        </p:spPr>
        <p:txBody>
          <a:bodyPr wrap="square" rtlCol="0">
            <a:spAutoFit/>
          </a:bodyPr>
          <a:lstStyle/>
          <a:p>
            <a:r>
              <a:rPr kumimoji="1" lang="ja-JP" altLang="en-US" sz="2400" dirty="0" smtClean="0"/>
              <a:t>アルファベットの文字の</a:t>
            </a:r>
            <a:r>
              <a:rPr lang="ja-JP" altLang="en-US" sz="2400" dirty="0" smtClean="0"/>
              <a:t>大小の</a:t>
            </a:r>
            <a:r>
              <a:rPr kumimoji="1" lang="ja-JP" altLang="en-US" sz="2400" dirty="0" smtClean="0"/>
              <a:t>判定は、</a:t>
            </a:r>
            <a:r>
              <a:rPr kumimoji="1" lang="en-US" altLang="ja-JP" sz="2400" dirty="0" err="1" smtClean="0"/>
              <a:t>islower</a:t>
            </a:r>
            <a:r>
              <a:rPr kumimoji="1" lang="en-US" altLang="ja-JP" sz="2400" dirty="0" smtClean="0"/>
              <a:t>, </a:t>
            </a:r>
            <a:r>
              <a:rPr kumimoji="1" lang="en-US" altLang="ja-JP" sz="2400" dirty="0" err="1" smtClean="0"/>
              <a:t>isupper</a:t>
            </a:r>
            <a:r>
              <a:rPr kumimoji="1" lang="ja-JP" altLang="en-US" sz="2400" dirty="0" smtClean="0"/>
              <a:t>関数</a:t>
            </a:r>
            <a:r>
              <a:rPr lang="ja-JP" altLang="en-US" sz="2400" dirty="0" smtClean="0"/>
              <a:t>で行う。アルファベット文字かどうかは、</a:t>
            </a:r>
            <a:r>
              <a:rPr lang="en-US" altLang="ja-JP" sz="2400" dirty="0" err="1" smtClean="0"/>
              <a:t>islower</a:t>
            </a:r>
            <a:r>
              <a:rPr lang="en-US" altLang="ja-JP" sz="2400" dirty="0" smtClean="0"/>
              <a:t>, </a:t>
            </a:r>
            <a:r>
              <a:rPr lang="en-US" altLang="ja-JP" sz="2400" dirty="0" err="1" smtClean="0"/>
              <a:t>isupper</a:t>
            </a:r>
            <a:r>
              <a:rPr lang="ja-JP" altLang="en-US" sz="2400" dirty="0" smtClean="0"/>
              <a:t>のいずれも偽になるかどうかで判定できる。</a:t>
            </a:r>
            <a:endParaRPr kumimoji="1" lang="ja-JP" altLang="en-US" sz="2400" dirty="0"/>
          </a:p>
        </p:txBody>
      </p:sp>
      <p:sp>
        <p:nvSpPr>
          <p:cNvPr id="5" name="正方形/長方形 4"/>
          <p:cNvSpPr/>
          <p:nvPr/>
        </p:nvSpPr>
        <p:spPr>
          <a:xfrm>
            <a:off x="285720" y="2973545"/>
            <a:ext cx="5786478" cy="3170099"/>
          </a:xfrm>
          <a:prstGeom prst="rect">
            <a:avLst/>
          </a:prstGeom>
          <a:ln>
            <a:solidFill>
              <a:schemeClr val="tx1"/>
            </a:solidFill>
          </a:ln>
        </p:spPr>
        <p:txBody>
          <a:bodyPr wrap="square">
            <a:spAutoFit/>
          </a:bodyPr>
          <a:lstStyle/>
          <a:p>
            <a:r>
              <a:rPr lang="en-US" altLang="ja-JP" sz="2000" dirty="0" smtClean="0"/>
              <a:t>#include &lt;</a:t>
            </a:r>
            <a:r>
              <a:rPr lang="en-US" altLang="ja-JP" sz="2000" dirty="0" err="1" smtClean="0"/>
              <a:t>ctype.h</a:t>
            </a:r>
            <a:r>
              <a:rPr lang="en-US" altLang="ja-JP" sz="2000" dirty="0" smtClean="0"/>
              <a:t>&gt;</a:t>
            </a:r>
          </a:p>
          <a:p>
            <a:r>
              <a:rPr lang="en-US" altLang="ja-JP" sz="2000" dirty="0" smtClean="0"/>
              <a:t>#include &lt;</a:t>
            </a:r>
            <a:r>
              <a:rPr lang="en-US" altLang="ja-JP" sz="2000" dirty="0" err="1" smtClean="0"/>
              <a:t>stdio.h</a:t>
            </a:r>
            <a:r>
              <a:rPr lang="en-US" altLang="ja-JP" sz="2000" dirty="0" smtClean="0"/>
              <a:t>&gt;</a:t>
            </a:r>
          </a:p>
          <a:p>
            <a:r>
              <a:rPr lang="en-US" altLang="ja-JP" sz="2000" dirty="0" smtClean="0"/>
              <a:t>void </a:t>
            </a:r>
            <a:r>
              <a:rPr lang="en-US" altLang="ja-JP" sz="2000" dirty="0" err="1" smtClean="0"/>
              <a:t>hantei</a:t>
            </a:r>
            <a:r>
              <a:rPr lang="en-US" altLang="ja-JP" sz="2000" dirty="0" smtClean="0"/>
              <a:t> (</a:t>
            </a:r>
            <a:r>
              <a:rPr lang="en-US" altLang="ja-JP" sz="2000" dirty="0" err="1" smtClean="0"/>
              <a:t>int</a:t>
            </a:r>
            <a:r>
              <a:rPr lang="en-US" altLang="ja-JP" sz="2000" dirty="0" smtClean="0"/>
              <a:t> c) {</a:t>
            </a:r>
          </a:p>
          <a:p>
            <a:r>
              <a:rPr lang="en-US" altLang="ja-JP" sz="2000" dirty="0" smtClean="0"/>
              <a:t>  if (</a:t>
            </a:r>
            <a:r>
              <a:rPr lang="en-US" altLang="ja-JP" sz="2000" dirty="0" err="1" smtClean="0"/>
              <a:t>islower</a:t>
            </a:r>
            <a:r>
              <a:rPr lang="en-US" altLang="ja-JP" sz="2000" dirty="0" smtClean="0"/>
              <a:t>(c))</a:t>
            </a:r>
          </a:p>
          <a:p>
            <a:r>
              <a:rPr lang="en-US" altLang="ja-JP" sz="2000" dirty="0" smtClean="0"/>
              <a:t>    </a:t>
            </a:r>
            <a:r>
              <a:rPr lang="en-US" altLang="ja-JP" sz="2000" dirty="0" err="1" smtClean="0"/>
              <a:t>printf</a:t>
            </a:r>
            <a:r>
              <a:rPr lang="en-US" altLang="ja-JP" sz="2000" dirty="0" smtClean="0"/>
              <a:t> ("%c</a:t>
            </a:r>
            <a:r>
              <a:rPr lang="ja-JP" altLang="en-US" sz="2000" dirty="0" smtClean="0"/>
              <a:t>は小文字です</a:t>
            </a:r>
            <a:r>
              <a:rPr lang="en-US" altLang="ja-JP" sz="2000" dirty="0" smtClean="0"/>
              <a:t>\n", c);</a:t>
            </a:r>
          </a:p>
          <a:p>
            <a:r>
              <a:rPr lang="en-US" altLang="ja-JP" sz="2000" dirty="0" smtClean="0"/>
              <a:t>  else if (</a:t>
            </a:r>
            <a:r>
              <a:rPr lang="en-US" altLang="ja-JP" sz="2000" dirty="0" err="1" smtClean="0"/>
              <a:t>isupper</a:t>
            </a:r>
            <a:r>
              <a:rPr lang="en-US" altLang="ja-JP" sz="2000" dirty="0" smtClean="0"/>
              <a:t> (c))</a:t>
            </a:r>
          </a:p>
          <a:p>
            <a:r>
              <a:rPr lang="en-US" altLang="ja-JP" sz="2000" dirty="0" smtClean="0"/>
              <a:t>    </a:t>
            </a:r>
            <a:r>
              <a:rPr lang="en-US" altLang="ja-JP" sz="2000" dirty="0" err="1" smtClean="0"/>
              <a:t>printf</a:t>
            </a:r>
            <a:r>
              <a:rPr lang="en-US" altLang="ja-JP" sz="2000" dirty="0" smtClean="0"/>
              <a:t> ("%c</a:t>
            </a:r>
            <a:r>
              <a:rPr lang="ja-JP" altLang="en-US" sz="2000" dirty="0" smtClean="0"/>
              <a:t>は大文字です</a:t>
            </a:r>
            <a:r>
              <a:rPr lang="en-US" altLang="ja-JP" sz="2000" dirty="0" smtClean="0"/>
              <a:t>\n", c);</a:t>
            </a:r>
          </a:p>
          <a:p>
            <a:r>
              <a:rPr lang="en-US" altLang="ja-JP" sz="2000" dirty="0" smtClean="0"/>
              <a:t>  else</a:t>
            </a:r>
          </a:p>
          <a:p>
            <a:r>
              <a:rPr lang="en-US" altLang="ja-JP" sz="2000" dirty="0" smtClean="0"/>
              <a:t>    </a:t>
            </a:r>
            <a:r>
              <a:rPr lang="en-US" altLang="ja-JP" sz="2000" dirty="0" err="1" smtClean="0"/>
              <a:t>printf</a:t>
            </a:r>
            <a:r>
              <a:rPr lang="en-US" altLang="ja-JP" sz="2000" dirty="0" smtClean="0"/>
              <a:t> ("%c</a:t>
            </a:r>
            <a:r>
              <a:rPr lang="ja-JP" altLang="en-US" sz="2000" dirty="0" err="1" smtClean="0"/>
              <a:t>はアルファ</a:t>
            </a:r>
            <a:r>
              <a:rPr lang="ja-JP" altLang="en-US" sz="2000" dirty="0" smtClean="0"/>
              <a:t>ベットではありません。</a:t>
            </a:r>
            <a:r>
              <a:rPr lang="en-US" altLang="ja-JP" sz="2000" dirty="0" smtClean="0"/>
              <a:t>\n", c);</a:t>
            </a:r>
          </a:p>
          <a:p>
            <a:r>
              <a:rPr lang="en-US" altLang="ja-JP" sz="2000" dirty="0" smtClean="0"/>
              <a:t>}</a:t>
            </a:r>
          </a:p>
        </p:txBody>
      </p:sp>
      <p:sp>
        <p:nvSpPr>
          <p:cNvPr id="6" name="正方形/長方形 5"/>
          <p:cNvSpPr/>
          <p:nvPr/>
        </p:nvSpPr>
        <p:spPr>
          <a:xfrm>
            <a:off x="6286512" y="2973545"/>
            <a:ext cx="2214562" cy="2246769"/>
          </a:xfrm>
          <a:prstGeom prst="rect">
            <a:avLst/>
          </a:prstGeom>
          <a:ln>
            <a:solidFill>
              <a:schemeClr val="tx1"/>
            </a:solidFill>
          </a:ln>
        </p:spPr>
        <p:txBody>
          <a:bodyPr wrap="square">
            <a:spAutoFit/>
          </a:bodyPr>
          <a:lstStyle/>
          <a:p>
            <a:r>
              <a:rPr lang="en-US" altLang="ja-JP" sz="2000" dirty="0" smtClean="0"/>
              <a:t>/* </a:t>
            </a:r>
            <a:r>
              <a:rPr lang="ja-JP" altLang="en-US" sz="2000" dirty="0" smtClean="0"/>
              <a:t>続き </a:t>
            </a:r>
            <a:r>
              <a:rPr lang="en-US" altLang="ja-JP" sz="2000" dirty="0" smtClean="0"/>
              <a:t>*/</a:t>
            </a:r>
          </a:p>
          <a:p>
            <a:r>
              <a:rPr lang="en-US" altLang="ja-JP" sz="2000" dirty="0" err="1" smtClean="0"/>
              <a:t>int</a:t>
            </a:r>
            <a:r>
              <a:rPr lang="en-US" altLang="ja-JP" sz="2000" dirty="0" smtClean="0"/>
              <a:t> main (void) {</a:t>
            </a:r>
          </a:p>
          <a:p>
            <a:r>
              <a:rPr lang="en-US" altLang="ja-JP" sz="2000" dirty="0" smtClean="0"/>
              <a:t>  </a:t>
            </a:r>
            <a:r>
              <a:rPr lang="en-US" altLang="ja-JP" sz="2000" dirty="0" err="1" smtClean="0"/>
              <a:t>hantei</a:t>
            </a:r>
            <a:r>
              <a:rPr lang="en-US" altLang="ja-JP" sz="2000" dirty="0" smtClean="0"/>
              <a:t> ('a');</a:t>
            </a:r>
          </a:p>
          <a:p>
            <a:r>
              <a:rPr lang="en-US" altLang="ja-JP" sz="2000" dirty="0" smtClean="0"/>
              <a:t>  </a:t>
            </a:r>
            <a:r>
              <a:rPr lang="en-US" altLang="ja-JP" sz="2000" dirty="0" err="1" smtClean="0"/>
              <a:t>hantei</a:t>
            </a:r>
            <a:r>
              <a:rPr lang="en-US" altLang="ja-JP" sz="2000" dirty="0" smtClean="0"/>
              <a:t> ('A');</a:t>
            </a:r>
          </a:p>
          <a:p>
            <a:r>
              <a:rPr lang="en-US" altLang="ja-JP" sz="2000" dirty="0" smtClean="0"/>
              <a:t>  </a:t>
            </a:r>
            <a:r>
              <a:rPr lang="en-US" altLang="ja-JP" sz="2000" dirty="0" err="1" smtClean="0"/>
              <a:t>hantei</a:t>
            </a:r>
            <a:r>
              <a:rPr lang="en-US" altLang="ja-JP" sz="2000" dirty="0" smtClean="0"/>
              <a:t> ('+');</a:t>
            </a:r>
          </a:p>
          <a:p>
            <a:r>
              <a:rPr lang="en-US" altLang="ja-JP" sz="2000" dirty="0" smtClean="0"/>
              <a:t>  return 0;</a:t>
            </a:r>
          </a:p>
          <a:p>
            <a:r>
              <a:rPr lang="en-US" altLang="ja-JP" sz="2000" dirty="0" smtClean="0"/>
              <a:t>}</a:t>
            </a: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96908"/>
          </a:xfrm>
        </p:spPr>
        <p:txBody>
          <a:bodyPr/>
          <a:lstStyle/>
          <a:p>
            <a:r>
              <a:rPr lang="ja-JP" altLang="en-US" dirty="0" smtClean="0"/>
              <a:t>発展課題３</a:t>
            </a:r>
            <a:endParaRPr kumimoji="1" lang="ja-JP" altLang="en-US" dirty="0"/>
          </a:p>
        </p:txBody>
      </p:sp>
      <p:sp>
        <p:nvSpPr>
          <p:cNvPr id="5" name="テキスト ボックス 4"/>
          <p:cNvSpPr txBox="1"/>
          <p:nvPr/>
        </p:nvSpPr>
        <p:spPr>
          <a:xfrm>
            <a:off x="928662" y="1214422"/>
            <a:ext cx="7429552" cy="5262979"/>
          </a:xfrm>
          <a:prstGeom prst="rect">
            <a:avLst/>
          </a:prstGeom>
          <a:noFill/>
        </p:spPr>
        <p:txBody>
          <a:bodyPr wrap="square" rtlCol="0">
            <a:spAutoFit/>
          </a:bodyPr>
          <a:lstStyle/>
          <a:p>
            <a:r>
              <a:rPr kumimoji="1" lang="ja-JP" altLang="en-US" sz="2800" dirty="0" smtClean="0"/>
              <a:t>１．文字列</a:t>
            </a:r>
            <a:r>
              <a:rPr lang="ja-JP" altLang="en-US" sz="2800" dirty="0" smtClean="0"/>
              <a:t>を２つキーボードから受け取り、１つ目の文字列が２つ目の文字列の（連続した）部分文字列になっているかどうかを判定するプログラムを作成せよ。</a:t>
            </a:r>
            <a:endParaRPr lang="en-US" altLang="ja-JP" sz="2800" dirty="0" smtClean="0"/>
          </a:p>
          <a:p>
            <a:r>
              <a:rPr kumimoji="1" lang="en-US" altLang="ja-JP" sz="2800" dirty="0" smtClean="0"/>
              <a:t>[</a:t>
            </a:r>
            <a:r>
              <a:rPr kumimoji="1" lang="ja-JP" altLang="en-US" sz="2800" dirty="0" smtClean="0"/>
              <a:t>実行例１</a:t>
            </a:r>
            <a:r>
              <a:rPr kumimoji="1" lang="en-US" altLang="ja-JP" sz="2800" dirty="0" smtClean="0"/>
              <a:t>]</a:t>
            </a:r>
          </a:p>
          <a:p>
            <a:r>
              <a:rPr lang="en-US" altLang="ja-JP" sz="2800" dirty="0" smtClean="0"/>
              <a:t>1</a:t>
            </a:r>
            <a:r>
              <a:rPr lang="ja-JP" altLang="en-US" sz="2800" dirty="0" smtClean="0"/>
              <a:t>つ目の文字列</a:t>
            </a:r>
            <a:r>
              <a:rPr lang="en-US" altLang="ja-JP" sz="2800" dirty="0" smtClean="0"/>
              <a:t>: </a:t>
            </a:r>
            <a:r>
              <a:rPr lang="en-US" altLang="ja-JP" sz="2800" dirty="0" smtClean="0">
                <a:solidFill>
                  <a:srgbClr val="FF0000"/>
                </a:solidFill>
              </a:rPr>
              <a:t>def</a:t>
            </a:r>
          </a:p>
          <a:p>
            <a:r>
              <a:rPr kumimoji="1" lang="en-US" altLang="ja-JP" sz="2800" dirty="0" smtClean="0"/>
              <a:t>2</a:t>
            </a:r>
            <a:r>
              <a:rPr kumimoji="1" lang="ja-JP" altLang="en-US" sz="2800" dirty="0" smtClean="0"/>
              <a:t>つ目の文字列</a:t>
            </a:r>
            <a:r>
              <a:rPr kumimoji="1" lang="en-US" altLang="ja-JP" sz="2800" dirty="0" smtClean="0"/>
              <a:t>: </a:t>
            </a:r>
            <a:r>
              <a:rPr kumimoji="1" lang="en-US" altLang="ja-JP" sz="2800" dirty="0" err="1" smtClean="0">
                <a:solidFill>
                  <a:srgbClr val="FF0000"/>
                </a:solidFill>
              </a:rPr>
              <a:t>abcdefg</a:t>
            </a:r>
            <a:endParaRPr kumimoji="1" lang="en-US" altLang="ja-JP" sz="2800" dirty="0" smtClean="0">
              <a:solidFill>
                <a:srgbClr val="FF0000"/>
              </a:solidFill>
            </a:endParaRPr>
          </a:p>
          <a:p>
            <a:r>
              <a:rPr lang="en-US" altLang="ja-JP" sz="2800" dirty="0" smtClean="0"/>
              <a:t> def</a:t>
            </a:r>
            <a:r>
              <a:rPr lang="ja-JP" altLang="en-US" sz="2800" dirty="0" smtClean="0"/>
              <a:t>は</a:t>
            </a:r>
            <a:r>
              <a:rPr lang="en-US" altLang="ja-JP" sz="2800" dirty="0" err="1" smtClean="0"/>
              <a:t>abcdefg</a:t>
            </a:r>
            <a:r>
              <a:rPr lang="ja-JP" altLang="en-US" sz="2800" dirty="0" smtClean="0"/>
              <a:t>の部分文字列です。</a:t>
            </a:r>
            <a:endParaRPr lang="en-US" altLang="ja-JP" sz="2800" dirty="0" smtClean="0"/>
          </a:p>
          <a:p>
            <a:r>
              <a:rPr lang="en-US" altLang="ja-JP" sz="2800" dirty="0" smtClean="0"/>
              <a:t>[</a:t>
            </a:r>
            <a:r>
              <a:rPr lang="ja-JP" altLang="en-US" sz="2800" dirty="0" smtClean="0"/>
              <a:t>実行例２</a:t>
            </a:r>
            <a:r>
              <a:rPr lang="en-US" altLang="ja-JP" sz="2800" dirty="0" smtClean="0"/>
              <a:t>]</a:t>
            </a:r>
          </a:p>
          <a:p>
            <a:r>
              <a:rPr kumimoji="1" lang="en-US" altLang="ja-JP" sz="2800" dirty="0" smtClean="0"/>
              <a:t>1</a:t>
            </a:r>
            <a:r>
              <a:rPr kumimoji="1" lang="ja-JP" altLang="en-US" sz="2800" dirty="0" smtClean="0"/>
              <a:t>つ目の文字列</a:t>
            </a:r>
            <a:r>
              <a:rPr kumimoji="1" lang="en-US" altLang="ja-JP" sz="2800" dirty="0" smtClean="0"/>
              <a:t>: </a:t>
            </a:r>
            <a:r>
              <a:rPr kumimoji="1" lang="en-US" altLang="ja-JP" sz="2800" dirty="0" err="1" smtClean="0">
                <a:solidFill>
                  <a:srgbClr val="FF0000"/>
                </a:solidFill>
              </a:rPr>
              <a:t>cef</a:t>
            </a:r>
            <a:endParaRPr kumimoji="1" lang="en-US" altLang="ja-JP" sz="2800" dirty="0" smtClean="0">
              <a:solidFill>
                <a:srgbClr val="FF0000"/>
              </a:solidFill>
            </a:endParaRPr>
          </a:p>
          <a:p>
            <a:r>
              <a:rPr lang="en-US" altLang="ja-JP" sz="2800" dirty="0" smtClean="0"/>
              <a:t>2</a:t>
            </a:r>
            <a:r>
              <a:rPr lang="ja-JP" altLang="en-US" sz="2800" dirty="0" smtClean="0"/>
              <a:t>つ目の文字列</a:t>
            </a:r>
            <a:r>
              <a:rPr lang="en-US" altLang="ja-JP" sz="2800" dirty="0" smtClean="0"/>
              <a:t>: </a:t>
            </a:r>
            <a:r>
              <a:rPr lang="en-US" altLang="ja-JP" sz="2800" dirty="0" err="1" smtClean="0">
                <a:solidFill>
                  <a:srgbClr val="FF0000"/>
                </a:solidFill>
              </a:rPr>
              <a:t>abcdefg</a:t>
            </a:r>
            <a:endParaRPr lang="en-US" altLang="ja-JP" sz="2800" dirty="0" smtClean="0">
              <a:solidFill>
                <a:srgbClr val="FF0000"/>
              </a:solidFill>
            </a:endParaRPr>
          </a:p>
          <a:p>
            <a:r>
              <a:rPr kumimoji="1" lang="en-US" altLang="ja-JP" sz="2800" dirty="0" err="1" smtClean="0"/>
              <a:t>cef</a:t>
            </a:r>
            <a:r>
              <a:rPr kumimoji="1" lang="ja-JP" altLang="en-US" sz="2800" dirty="0" smtClean="0"/>
              <a:t>は</a:t>
            </a:r>
            <a:r>
              <a:rPr kumimoji="1" lang="en-US" altLang="ja-JP" sz="2800" dirty="0" err="1" smtClean="0"/>
              <a:t>abcdefg</a:t>
            </a:r>
            <a:r>
              <a:rPr kumimoji="1" lang="ja-JP" altLang="en-US" sz="2800" dirty="0" smtClean="0"/>
              <a:t>の部分文字列ではありません。</a:t>
            </a:r>
            <a:endParaRPr kumimoji="1" lang="ja-JP" altLang="en-US" sz="28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テーマ">
  <a:themeElements>
    <a:clrScheme name="Office">
      <a:dk1>
        <a:sysClr val="windowText" lastClr="000000"/>
      </a:dk1>
      <a:lt1>
        <a:sysClr val="window" lastClr="C0C0C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C0C0C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1284</TotalTime>
  <Words>4950</Words>
  <Application>Microsoft Office PowerPoint</Application>
  <PresentationFormat>画面に合わせる (4:3)</PresentationFormat>
  <Paragraphs>579</Paragraphs>
  <Slides>52</Slides>
  <Notes>6</Notes>
  <HiddenSlides>0</HiddenSlides>
  <MMClips>0</MMClips>
  <ScaleCrop>false</ScaleCrop>
  <HeadingPairs>
    <vt:vector size="4" baseType="variant">
      <vt:variant>
        <vt:lpstr>テーマ</vt:lpstr>
      </vt:variant>
      <vt:variant>
        <vt:i4>1</vt:i4>
      </vt:variant>
      <vt:variant>
        <vt:lpstr>スライド タイトル</vt:lpstr>
      </vt:variant>
      <vt:variant>
        <vt:i4>52</vt:i4>
      </vt:variant>
    </vt:vector>
  </HeadingPairs>
  <TitlesOfParts>
    <vt:vector size="53" baseType="lpstr">
      <vt:lpstr>Office テーマ</vt:lpstr>
      <vt:lpstr>プログラミング入門２ 第７回</vt:lpstr>
      <vt:lpstr>今日の内容</vt:lpstr>
      <vt:lpstr>中間試験について</vt:lpstr>
      <vt:lpstr>中間試験問題例１</vt:lpstr>
      <vt:lpstr>解答例</vt:lpstr>
      <vt:lpstr>中間試験問題例２</vt:lpstr>
      <vt:lpstr>解答例</vt:lpstr>
      <vt:lpstr>中間試験問題例３</vt:lpstr>
      <vt:lpstr>解答例</vt:lpstr>
      <vt:lpstr>中間試験問題例４</vt:lpstr>
      <vt:lpstr>解答例</vt:lpstr>
      <vt:lpstr>基本型</vt:lpstr>
      <vt:lpstr>整数型</vt:lpstr>
      <vt:lpstr>char型が符号付きかどうか判定 （打ち込んで確認）</vt:lpstr>
      <vt:lpstr>整数型</vt:lpstr>
      <vt:lpstr>符号について（１）</vt:lpstr>
      <vt:lpstr>符号について（２）</vt:lpstr>
      <vt:lpstr>例外について</vt:lpstr>
      <vt:lpstr>文字について</vt:lpstr>
      <vt:lpstr>printfでの文字の表示方法 （打ち込んで確認）</vt:lpstr>
      <vt:lpstr>文字の８進表記</vt:lpstr>
      <vt:lpstr>8進逆斜線表記の構文</vt:lpstr>
      <vt:lpstr>変数への格納（打ち込んで確認）</vt:lpstr>
      <vt:lpstr>整数型の範囲について （打ち込んで確認）</vt:lpstr>
      <vt:lpstr>整数型のまとめ</vt:lpstr>
      <vt:lpstr>浮動小数点型</vt:lpstr>
      <vt:lpstr>文字列とは（１）</vt:lpstr>
      <vt:lpstr>文字列とは（２）</vt:lpstr>
      <vt:lpstr>文字列とは（３）</vt:lpstr>
      <vt:lpstr>char型の配列</vt:lpstr>
      <vt:lpstr>printf関数での文字列の表示方法 （打ち込んで確認）</vt:lpstr>
      <vt:lpstr>printf関数での文字列の表示方法 （打ち込んで確認）</vt:lpstr>
      <vt:lpstr>注意</vt:lpstr>
      <vt:lpstr>間違った例（打ち込んで確認）</vt:lpstr>
      <vt:lpstr>解説</vt:lpstr>
      <vt:lpstr>ポインタについて （後日、ポインタの回にも説明する）</vt:lpstr>
      <vt:lpstr>printf関数の変換指定の%sについて</vt:lpstr>
      <vt:lpstr>補足</vt:lpstr>
      <vt:lpstr>文字列リテラル</vt:lpstr>
      <vt:lpstr>例（打ち込んで確認）</vt:lpstr>
      <vt:lpstr>文字の読み込み</vt:lpstr>
      <vt:lpstr>文字列の読み込み（打ち込んで確認）</vt:lpstr>
      <vt:lpstr>scanf関数の変換指定の%sについて</vt:lpstr>
      <vt:lpstr>gets関数</vt:lpstr>
      <vt:lpstr>基本課題１</vt:lpstr>
      <vt:lpstr>基本課題２</vt:lpstr>
      <vt:lpstr>発展課題１</vt:lpstr>
      <vt:lpstr>（補足）char配列の初期化について</vt:lpstr>
      <vt:lpstr>大文字から小文字への変換</vt:lpstr>
      <vt:lpstr>発展課題２</vt:lpstr>
      <vt:lpstr>アルファベットの文字の判定</vt:lpstr>
      <vt:lpstr>発展課題３</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プログラミング入門２ 第７回</dc:title>
  <dc:creator>sasano</dc:creator>
  <cp:lastModifiedBy>sasano</cp:lastModifiedBy>
  <cp:revision>673</cp:revision>
  <dcterms:created xsi:type="dcterms:W3CDTF">2009-10-26T06:53:54Z</dcterms:created>
  <dcterms:modified xsi:type="dcterms:W3CDTF">2010-10-31T10:35:28Z</dcterms:modified>
</cp:coreProperties>
</file>