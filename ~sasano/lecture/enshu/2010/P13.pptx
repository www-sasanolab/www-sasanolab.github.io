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61" r:id="rId5"/>
    <p:sldId id="277" r:id="rId6"/>
    <p:sldId id="266" r:id="rId7"/>
    <p:sldId id="267" r:id="rId8"/>
    <p:sldId id="276" r:id="rId9"/>
    <p:sldId id="272" r:id="rId10"/>
    <p:sldId id="275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3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-1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2010/12/24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プログラミング入門２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786050" y="5072074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350748" y="3630043"/>
            <a:ext cx="4435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</a:t>
            </a:r>
            <a:r>
              <a:rPr lang="en-US" altLang="ja-JP" sz="3200" dirty="0" smtClean="0"/>
              <a:t>13</a:t>
            </a:r>
            <a:r>
              <a:rPr kumimoji="1" lang="ja-JP" altLang="en-US" sz="3200" dirty="0" smtClean="0"/>
              <a:t>回、</a:t>
            </a:r>
            <a:r>
              <a:rPr kumimoji="1" lang="en-US" altLang="ja-JP" sz="3200" dirty="0" smtClean="0"/>
              <a:t>14</a:t>
            </a:r>
            <a:r>
              <a:rPr kumimoji="1" lang="ja-JP" altLang="en-US" sz="3200" dirty="0" smtClean="0"/>
              <a:t>回　</a:t>
            </a:r>
            <a:r>
              <a:rPr lang="ja-JP" altLang="en-US" sz="3200" dirty="0" smtClean="0"/>
              <a:t>総合演習</a:t>
            </a:r>
            <a:endParaRPr kumimoji="1" lang="ja-JP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次回について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次回（第</a:t>
            </a:r>
            <a:r>
              <a:rPr kumimoji="1" lang="en-US" altLang="ja-JP" dirty="0" smtClean="0"/>
              <a:t>14</a:t>
            </a:r>
            <a:r>
              <a:rPr kumimoji="1" lang="ja-JP" altLang="en-US" dirty="0" smtClean="0"/>
              <a:t>回）は</a:t>
            </a:r>
            <a:r>
              <a:rPr lang="en-US" altLang="ja-JP" dirty="0" smtClean="0"/>
              <a:t>12/24(</a:t>
            </a:r>
            <a:r>
              <a:rPr lang="ja-JP" altLang="en-US" dirty="0" smtClean="0"/>
              <a:t>金</a:t>
            </a:r>
            <a:r>
              <a:rPr lang="en-US" altLang="ja-JP" dirty="0" smtClean="0"/>
              <a:t>)</a:t>
            </a:r>
            <a:r>
              <a:rPr lang="ja-JP" altLang="en-US" dirty="0" smtClean="0"/>
              <a:t>です。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今日と次回の内容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28596" y="1571612"/>
            <a:ext cx="7959828" cy="4525963"/>
          </a:xfrm>
        </p:spPr>
        <p:txBody>
          <a:bodyPr/>
          <a:lstStyle/>
          <a:p>
            <a:r>
              <a:rPr kumimoji="1" lang="ja-JP" altLang="en-US" dirty="0" smtClean="0"/>
              <a:t>これまでの学習内容を用いて、</a:t>
            </a:r>
            <a:r>
              <a:rPr lang="ja-JP" altLang="en-US" dirty="0" smtClean="0"/>
              <a:t>少し複雑な問題を３問（</a:t>
            </a:r>
            <a:r>
              <a:rPr lang="en-US" altLang="ja-JP" dirty="0" smtClean="0"/>
              <a:t>+</a:t>
            </a:r>
            <a:r>
              <a:rPr lang="ja-JP" altLang="en-US" dirty="0" smtClean="0"/>
              <a:t>発展課題２問）解く。</a:t>
            </a:r>
            <a:endParaRPr lang="en-US" altLang="ja-JP" dirty="0" smtClean="0"/>
          </a:p>
          <a:p>
            <a:r>
              <a:rPr kumimoji="1" lang="en-US" altLang="ja-JP" dirty="0" smtClean="0"/>
              <a:t>TA</a:t>
            </a:r>
            <a:r>
              <a:rPr kumimoji="1" lang="ja-JP" altLang="en-US" dirty="0" smtClean="0"/>
              <a:t>に確認してもらう期限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第</a:t>
            </a:r>
            <a:r>
              <a:rPr kumimoji="1" lang="en-US" altLang="ja-JP" dirty="0" smtClean="0"/>
              <a:t>14</a:t>
            </a:r>
            <a:r>
              <a:rPr kumimoji="1" lang="ja-JP" altLang="en-US" dirty="0" smtClean="0"/>
              <a:t>回の終了時（</a:t>
            </a:r>
            <a:r>
              <a:rPr kumimoji="1" lang="en-US" altLang="ja-JP" dirty="0" smtClean="0"/>
              <a:t>16:10</a:t>
            </a:r>
            <a:r>
              <a:rPr kumimoji="1" lang="ja-JP" altLang="en-US" dirty="0" smtClean="0"/>
              <a:t>）までとする。</a:t>
            </a:r>
            <a:r>
              <a:rPr lang="ja-JP" altLang="en-US" dirty="0"/>
              <a:t>これまで</a:t>
            </a:r>
            <a:r>
              <a:rPr lang="ja-JP" altLang="en-US" dirty="0" smtClean="0"/>
              <a:t>の課題についても第</a:t>
            </a:r>
            <a:r>
              <a:rPr lang="en-US" altLang="ja-JP" dirty="0" smtClean="0"/>
              <a:t>14</a:t>
            </a:r>
            <a:r>
              <a:rPr lang="ja-JP" altLang="en-US" dirty="0" smtClean="0"/>
              <a:t>回の終了時まで受け付ける。</a:t>
            </a:r>
            <a:endParaRPr kumimoji="1"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期末試験について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日時   第</a:t>
            </a:r>
            <a:r>
              <a:rPr lang="en-US" altLang="ja-JP" dirty="0" smtClean="0"/>
              <a:t>15</a:t>
            </a:r>
            <a:r>
              <a:rPr lang="ja-JP" altLang="en-US" dirty="0" smtClean="0"/>
              <a:t>回  </a:t>
            </a:r>
            <a:r>
              <a:rPr lang="en-US" altLang="ja-JP" dirty="0" smtClean="0"/>
              <a:t>1/17(</a:t>
            </a:r>
            <a:r>
              <a:rPr lang="ja-JP" altLang="en-US" dirty="0" smtClean="0"/>
              <a:t>月</a:t>
            </a:r>
            <a:r>
              <a:rPr lang="en-US" altLang="ja-JP" dirty="0" smtClean="0"/>
              <a:t>)</a:t>
            </a:r>
            <a:r>
              <a:rPr lang="ja-JP" altLang="en-US" dirty="0" smtClean="0"/>
              <a:t>  </a:t>
            </a:r>
            <a:r>
              <a:rPr lang="en-US" altLang="ja-JP" dirty="0" smtClean="0"/>
              <a:t>3</a:t>
            </a:r>
            <a:r>
              <a:rPr lang="ja-JP" altLang="en-US" dirty="0" smtClean="0"/>
              <a:t>限のみ</a:t>
            </a:r>
            <a:endParaRPr lang="en-US" altLang="ja-JP" dirty="0" smtClean="0"/>
          </a:p>
          <a:p>
            <a:r>
              <a:rPr lang="ja-JP" altLang="en-US" dirty="0" smtClean="0"/>
              <a:t>場所  </a:t>
            </a:r>
            <a:r>
              <a:rPr lang="en-US" altLang="ja-JP" dirty="0" smtClean="0"/>
              <a:t>4107</a:t>
            </a:r>
            <a:r>
              <a:rPr lang="ja-JP" altLang="en-US" dirty="0" smtClean="0"/>
              <a:t>教室 </a:t>
            </a:r>
            <a:endParaRPr lang="en-US" altLang="ja-JP" dirty="0" smtClean="0"/>
          </a:p>
          <a:p>
            <a:r>
              <a:rPr lang="ja-JP" altLang="en-US" dirty="0" smtClean="0"/>
              <a:t>持ち込み不可 </a:t>
            </a:r>
            <a:endParaRPr lang="en-US" altLang="ja-JP" dirty="0" smtClean="0"/>
          </a:p>
          <a:p>
            <a:r>
              <a:rPr kumimoji="1" lang="ja-JP" altLang="en-US" dirty="0" smtClean="0"/>
              <a:t>出題範囲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第１回から第１４回まですべて</a:t>
            </a:r>
            <a:endParaRPr kumimoji="1" lang="en-US" altLang="ja-JP" dirty="0" smtClean="0"/>
          </a:p>
          <a:p>
            <a:r>
              <a:rPr lang="ja-JP" altLang="en-US" dirty="0" smtClean="0"/>
              <a:t>出題形式：中間試験と同様とする予定。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60064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総合演習基本課題１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57200" y="987552"/>
            <a:ext cx="800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 smtClean="0"/>
              <a:t>C</a:t>
            </a:r>
            <a:r>
              <a:rPr lang="ja-JP" altLang="en-US" sz="2000" dirty="0" smtClean="0"/>
              <a:t>言語の（構文誤りがあるかもしれない）プログラムのファイルを読み込み、括弧（「</a:t>
            </a:r>
            <a:r>
              <a:rPr lang="en-US" altLang="ja-JP" sz="2000" dirty="0" smtClean="0"/>
              <a:t>(</a:t>
            </a:r>
            <a:r>
              <a:rPr lang="ja-JP" altLang="en-US" sz="2000" dirty="0" smtClean="0"/>
              <a:t>」と「</a:t>
            </a:r>
            <a:r>
              <a:rPr lang="en-US" altLang="ja-JP" sz="2000" dirty="0" smtClean="0"/>
              <a:t>)</a:t>
            </a:r>
            <a:r>
              <a:rPr lang="ja-JP" altLang="en-US" sz="2000" dirty="0" smtClean="0"/>
              <a:t>」）の対応がとれているかどうかを検査するプログラムを書け。プログラム全体において開き括弧の数と閉じ括弧の数が同じで、かつ、プログラムの任意の</a:t>
            </a:r>
            <a:r>
              <a:rPr lang="en-US" altLang="ja-JP" sz="2000" dirty="0" smtClean="0"/>
              <a:t>prefix(</a:t>
            </a:r>
            <a:r>
              <a:rPr lang="ja-JP" altLang="en-US" sz="2000" dirty="0" smtClean="0"/>
              <a:t>接頭辞</a:t>
            </a:r>
            <a:r>
              <a:rPr lang="en-US" altLang="ja-JP" sz="2000" dirty="0" smtClean="0"/>
              <a:t>)</a:t>
            </a:r>
            <a:r>
              <a:rPr lang="ja-JP" altLang="en-US" sz="2000" dirty="0" smtClean="0"/>
              <a:t>において開き括弧の数が閉じ括弧の数以上であるとき、括弧の対応がとれていると定義する。（文字列内やコメント内の括弧は無視すべきだが、この課題では考慮しなくてよいものとする。）</a:t>
            </a:r>
          </a:p>
          <a:p>
            <a:r>
              <a:rPr lang="en-US" altLang="ja-JP" sz="2000" dirty="0" smtClean="0"/>
              <a:t>[</a:t>
            </a:r>
            <a:r>
              <a:rPr lang="ja-JP" altLang="en-US" sz="2000" dirty="0" smtClean="0"/>
              <a:t>実行例</a:t>
            </a:r>
            <a:r>
              <a:rPr lang="en-US" altLang="ja-JP" sz="2000" dirty="0" smtClean="0"/>
              <a:t>1]</a:t>
            </a:r>
          </a:p>
          <a:p>
            <a:r>
              <a:rPr lang="ja-JP" altLang="en-US" sz="2000" dirty="0" smtClean="0"/>
              <a:t>検査するファイル名を入力して下さい</a:t>
            </a:r>
            <a:r>
              <a:rPr lang="en-US" altLang="ja-JP" sz="2000" dirty="0" smtClean="0"/>
              <a:t>: </a:t>
            </a:r>
            <a:r>
              <a:rPr lang="en-US" altLang="ja-JP" sz="2000" dirty="0" err="1" smtClean="0">
                <a:solidFill>
                  <a:srgbClr val="FF0000"/>
                </a:solidFill>
              </a:rPr>
              <a:t>err.c</a:t>
            </a:r>
            <a:endParaRPr lang="en-US" altLang="ja-JP" sz="2000" dirty="0" smtClean="0">
              <a:solidFill>
                <a:srgbClr val="FF0000"/>
              </a:solidFill>
            </a:endParaRPr>
          </a:p>
          <a:p>
            <a:r>
              <a:rPr lang="ja-JP" altLang="en-US" sz="2000" dirty="0" smtClean="0"/>
              <a:t>括弧が正しく対応していません。</a:t>
            </a:r>
            <a:endParaRPr lang="en-US" altLang="ja-JP" sz="2000" dirty="0" smtClean="0"/>
          </a:p>
          <a:p>
            <a:r>
              <a:rPr lang="en-US" altLang="ja-JP" sz="2000" dirty="0" smtClean="0"/>
              <a:t>[</a:t>
            </a:r>
            <a:r>
              <a:rPr lang="ja-JP" altLang="en-US" sz="2000" dirty="0" smtClean="0"/>
              <a:t>実行例</a:t>
            </a:r>
            <a:r>
              <a:rPr lang="en-US" altLang="ja-JP" sz="2000" dirty="0" smtClean="0"/>
              <a:t>2]</a:t>
            </a:r>
            <a:endParaRPr lang="ja-JP" altLang="en-US" sz="2000" dirty="0" smtClean="0"/>
          </a:p>
          <a:p>
            <a:r>
              <a:rPr lang="ja-JP" altLang="en-US" sz="2000" dirty="0" smtClean="0"/>
              <a:t>検査するファイル名を入力して下さい</a:t>
            </a:r>
            <a:r>
              <a:rPr lang="en-US" altLang="ja-JP" sz="2000" dirty="0" smtClean="0"/>
              <a:t>: </a:t>
            </a:r>
            <a:r>
              <a:rPr lang="en-US" altLang="ja-JP" sz="2000" dirty="0" err="1" smtClean="0">
                <a:solidFill>
                  <a:srgbClr val="FF0000"/>
                </a:solidFill>
              </a:rPr>
              <a:t>ok.c</a:t>
            </a:r>
            <a:endParaRPr lang="en-US" altLang="ja-JP" sz="2000" dirty="0" smtClean="0">
              <a:solidFill>
                <a:srgbClr val="FF0000"/>
              </a:solidFill>
            </a:endParaRPr>
          </a:p>
          <a:p>
            <a:r>
              <a:rPr lang="ja-JP" altLang="en-US" sz="2000" dirty="0" smtClean="0"/>
              <a:t>括弧は正しく対応しています。</a:t>
            </a:r>
            <a:endParaRPr lang="en-US" altLang="ja-JP" sz="2000" dirty="0" smtClean="0"/>
          </a:p>
          <a:p>
            <a:endParaRPr kumimoji="1" lang="en-US" altLang="ja-JP" sz="2000" dirty="0" smtClean="0"/>
          </a:p>
          <a:p>
            <a:r>
              <a:rPr lang="en-US" altLang="ja-JP" sz="2000" dirty="0" err="1" smtClean="0"/>
              <a:t>err.c</a:t>
            </a:r>
            <a:r>
              <a:rPr lang="ja-JP" altLang="en-US" sz="2000" dirty="0" smtClean="0"/>
              <a:t>と</a:t>
            </a:r>
            <a:r>
              <a:rPr lang="en-US" altLang="ja-JP" sz="2000" dirty="0" err="1" smtClean="0"/>
              <a:t>ok.c</a:t>
            </a:r>
            <a:r>
              <a:rPr lang="ja-JP" altLang="en-US" sz="2000" dirty="0" smtClean="0"/>
              <a:t>は講義用の</a:t>
            </a:r>
            <a:r>
              <a:rPr lang="en-US" altLang="ja-JP" sz="2000" dirty="0" smtClean="0"/>
              <a:t>web page</a:t>
            </a:r>
            <a:r>
              <a:rPr lang="ja-JP" altLang="en-US" sz="2000" dirty="0" smtClean="0"/>
              <a:t>からダウンロードしてください。</a:t>
            </a:r>
            <a:endParaRPr lang="en-US" altLang="ja-JP" sz="2000" dirty="0" smtClean="0"/>
          </a:p>
          <a:p>
            <a:r>
              <a:rPr lang="ja-JP" altLang="en-US" sz="2000" dirty="0" smtClean="0"/>
              <a:t>（注意）括弧の対応以外の構文の検査はしません。</a:t>
            </a:r>
            <a:endParaRPr kumimoji="1" lang="en-US" altLang="ja-JP" sz="2000" dirty="0" smtClean="0"/>
          </a:p>
          <a:p>
            <a:r>
              <a:rPr lang="en-US" altLang="ja-JP" sz="2000" dirty="0" smtClean="0"/>
              <a:t>err2.c</a:t>
            </a:r>
            <a:r>
              <a:rPr lang="ja-JP" altLang="en-US" sz="2000" dirty="0" smtClean="0"/>
              <a:t>を追加で</a:t>
            </a:r>
            <a:r>
              <a:rPr lang="en-US" altLang="ja-JP" sz="2000" dirty="0" smtClean="0"/>
              <a:t>web page</a:t>
            </a:r>
            <a:r>
              <a:rPr lang="ja-JP" altLang="en-US" sz="2000" dirty="0" err="1" smtClean="0"/>
              <a:t>に置</a:t>
            </a:r>
            <a:r>
              <a:rPr lang="ja-JP" altLang="en-US" sz="2000" dirty="0" smtClean="0"/>
              <a:t>きました。</a:t>
            </a:r>
            <a:r>
              <a:rPr lang="en-US" altLang="ja-JP" sz="2000" dirty="0" smtClean="0"/>
              <a:t>err2.c</a:t>
            </a:r>
            <a:r>
              <a:rPr lang="ja-JP" altLang="en-US" sz="2000" dirty="0" smtClean="0"/>
              <a:t>は正しく対応していない例です。</a:t>
            </a:r>
            <a:r>
              <a:rPr lang="en-US" altLang="ja-JP" sz="2000" dirty="0" err="1" smtClean="0"/>
              <a:t>err.c</a:t>
            </a:r>
            <a:r>
              <a:rPr lang="en-US" altLang="ja-JP" sz="2000" dirty="0" smtClean="0"/>
              <a:t>, </a:t>
            </a:r>
            <a:r>
              <a:rPr lang="en-US" altLang="ja-JP" sz="2000" dirty="0" err="1" smtClean="0"/>
              <a:t>ok.c</a:t>
            </a:r>
            <a:r>
              <a:rPr lang="en-US" altLang="ja-JP" sz="2000" dirty="0" smtClean="0"/>
              <a:t>, err2.c</a:t>
            </a:r>
            <a:r>
              <a:rPr lang="ja-JP" altLang="en-US" sz="2000" dirty="0" smtClean="0"/>
              <a:t>の３つのファイルで確認してください。</a:t>
            </a:r>
            <a:endParaRPr kumimoji="1" lang="ja-JP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24408" y="188640"/>
            <a:ext cx="7620000" cy="792088"/>
          </a:xfrm>
        </p:spPr>
        <p:txBody>
          <a:bodyPr>
            <a:normAutofit/>
          </a:bodyPr>
          <a:lstStyle/>
          <a:p>
            <a:r>
              <a:rPr lang="ja-JP" altLang="en-US" sz="4000" dirty="0" smtClean="0"/>
              <a:t>総合演習基本課題２</a:t>
            </a:r>
            <a:endParaRPr lang="ja-JP" altLang="en-US" sz="4000" dirty="0"/>
          </a:p>
        </p:txBody>
      </p:sp>
      <p:sp>
        <p:nvSpPr>
          <p:cNvPr id="385029" name="Text Box 5"/>
          <p:cNvSpPr txBox="1">
            <a:spLocks noChangeArrowheads="1"/>
          </p:cNvSpPr>
          <p:nvPr/>
        </p:nvSpPr>
        <p:spPr bwMode="auto">
          <a:xfrm>
            <a:off x="6984776" y="2949332"/>
            <a:ext cx="2051720" cy="14157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sz="2000" b="0" dirty="0">
                <a:latin typeface="ＭＳ Ｐゴシック" charset="-128"/>
              </a:rPr>
              <a:t>0-10 : ****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sz="2000" b="0" dirty="0">
                <a:latin typeface="ＭＳ Ｐゴシック" charset="-128"/>
              </a:rPr>
              <a:t>11-20 : ******</a:t>
            </a:r>
            <a:r>
              <a:rPr lang="ja-JP" sz="2000" b="0" dirty="0" smtClean="0">
                <a:latin typeface="ＭＳ Ｐゴシック" charset="-128"/>
              </a:rPr>
              <a:t>*</a:t>
            </a:r>
            <a:endParaRPr lang="ja-JP" sz="2000" b="0" dirty="0">
              <a:latin typeface="ＭＳ Ｐゴシック" charset="-128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sz="2000" b="0" dirty="0">
                <a:latin typeface="ＭＳ Ｐゴシック" charset="-128"/>
              </a:rPr>
              <a:t>・・</a:t>
            </a:r>
            <a:r>
              <a:rPr lang="ja-JP" sz="2000" b="0" dirty="0" smtClean="0">
                <a:latin typeface="ＭＳ Ｐゴシック" charset="-128"/>
              </a:rPr>
              <a:t>・</a:t>
            </a:r>
            <a:endParaRPr lang="en-US" altLang="ja-JP" sz="2000" b="0" dirty="0">
              <a:latin typeface="ＭＳ Ｐゴシック" charset="-128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ja-JP" altLang="ja-JP" sz="2000" b="0" dirty="0">
                <a:latin typeface="ＭＳ Ｐゴシック" charset="-128"/>
              </a:rPr>
              <a:t>9</a:t>
            </a:r>
            <a:r>
              <a:rPr lang="ja-JP" sz="2000" b="0" dirty="0">
                <a:latin typeface="ＭＳ Ｐゴシック" charset="-128"/>
              </a:rPr>
              <a:t>1-100 : **</a:t>
            </a:r>
            <a:endParaRPr lang="ja-JP" altLang="en-US" sz="2000" b="0" dirty="0">
              <a:latin typeface="ＭＳ Ｐゴシック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4499992" y="5171708"/>
            <a:ext cx="4392488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000" dirty="0" smtClean="0">
                <a:latin typeface="ＭＳ Ｐゴシック" charset="-128"/>
                <a:ea typeface="ＭＳ Ｐゴシック" charset="-128"/>
              </a:rPr>
              <a:t>分散 = (データを２乗した値の総和 - (データの総和の２乗 /データ数)) / データ数</a:t>
            </a:r>
            <a:endParaRPr lang="en-US" altLang="ja-JP" sz="2000" dirty="0" smtClean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000" dirty="0" smtClean="0">
                <a:latin typeface="ＭＳ Ｐゴシック" charset="-128"/>
                <a:ea typeface="ＭＳ Ｐゴシック" charset="-128"/>
              </a:rPr>
              <a:t>標準偏差：分散の</a:t>
            </a:r>
            <a:r>
              <a:rPr lang="ja-JP" altLang="en-US" sz="2000" dirty="0" smtClean="0">
                <a:latin typeface="ＭＳ Ｐゴシック" charset="-128"/>
                <a:ea typeface="ＭＳ Ｐゴシック" charset="-128"/>
              </a:rPr>
              <a:t>正の</a:t>
            </a:r>
            <a:r>
              <a:rPr lang="ja-JP" altLang="ja-JP" sz="2000" dirty="0" smtClean="0">
                <a:latin typeface="ＭＳ Ｐゴシック" charset="-128"/>
                <a:ea typeface="ＭＳ Ｐゴシック" charset="-128"/>
              </a:rPr>
              <a:t>平方根</a:t>
            </a:r>
            <a:endParaRPr lang="en-US" altLang="ja-JP" sz="2000" dirty="0" smtClean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000" dirty="0" smtClean="0">
                <a:latin typeface="ＭＳ Ｐゴシック" charset="-128"/>
                <a:ea typeface="ＭＳ Ｐゴシック" charset="-128"/>
              </a:rPr>
              <a:t>偏差 = </a:t>
            </a:r>
            <a:r>
              <a:rPr lang="ja-JP" altLang="en-US" sz="2000" dirty="0" smtClean="0">
                <a:latin typeface="ＭＳ Ｐゴシック" charset="-128"/>
                <a:ea typeface="ＭＳ Ｐゴシック" charset="-128"/>
              </a:rPr>
              <a:t>個々</a:t>
            </a:r>
            <a:r>
              <a:rPr lang="ja-JP" altLang="ja-JP" sz="2000" dirty="0" smtClean="0">
                <a:latin typeface="ＭＳ Ｐゴシック" charset="-128"/>
                <a:ea typeface="ＭＳ Ｐゴシック" charset="-128"/>
              </a:rPr>
              <a:t>の値 - 平均値</a:t>
            </a:r>
            <a:endParaRPr lang="en-US" altLang="ja-JP" sz="2000" dirty="0" smtClean="0">
              <a:latin typeface="ＭＳ Ｐゴシック" charset="-128"/>
              <a:ea typeface="ＭＳ Ｐゴシック" charset="-128"/>
            </a:endParaRPr>
          </a:p>
          <a:p>
            <a:pPr marL="419100" indent="-419100">
              <a:lnSpc>
                <a:spcPct val="80000"/>
              </a:lnSpc>
              <a:buFont typeface="Arial" charset="0"/>
              <a:buNone/>
            </a:pPr>
            <a:r>
              <a:rPr lang="ja-JP" altLang="ja-JP" sz="2000" dirty="0" smtClean="0">
                <a:latin typeface="ＭＳ Ｐゴシック" charset="-128"/>
                <a:ea typeface="ＭＳ Ｐゴシック" charset="-128"/>
              </a:rPr>
              <a:t>偏差値 = (偏差 / 標準偏差) * 10 + 50</a:t>
            </a:r>
            <a:endParaRPr lang="ja-JP" altLang="en-US" sz="2000" dirty="0">
              <a:latin typeface="ＭＳ Ｐゴシック" charset="-128"/>
              <a:ea typeface="ＭＳ Ｐゴシック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1520" y="1136933"/>
            <a:ext cx="69847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１００名分の学生の学籍番号と点数（１００点満点）が格納されているデータファイル（</a:t>
            </a:r>
            <a:r>
              <a:rPr lang="en-US" altLang="ja-JP" sz="2400" dirty="0" smtClean="0"/>
              <a:t>score.txt</a:t>
            </a:r>
            <a:r>
              <a:rPr lang="ja-JP" altLang="en-US" sz="2400" dirty="0" err="1" smtClean="0"/>
              <a:t>、</a:t>
            </a:r>
            <a:r>
              <a:rPr lang="ja-JP" altLang="en-US" sz="2400" dirty="0" smtClean="0"/>
              <a:t>講義用</a:t>
            </a:r>
            <a:r>
              <a:rPr lang="en-US" altLang="ja-JP" sz="2400" dirty="0" smtClean="0"/>
              <a:t>web page</a:t>
            </a:r>
            <a:r>
              <a:rPr lang="ja-JP" altLang="en-US" sz="2400" dirty="0" err="1" smtClean="0"/>
              <a:t>に置</a:t>
            </a:r>
            <a:r>
              <a:rPr lang="ja-JP" altLang="en-US" sz="2400" dirty="0" smtClean="0"/>
              <a:t>いてあるのでダウンロードしてください）を読み込み、これらのデータに対して以下の</a:t>
            </a:r>
            <a:r>
              <a:rPr lang="en-US" altLang="ja-JP" sz="2400" dirty="0" smtClean="0"/>
              <a:t>(1)</a:t>
            </a:r>
            <a:r>
              <a:rPr lang="ja-JP" altLang="en-US" sz="2400" dirty="0" err="1" smtClean="0"/>
              <a:t>、</a:t>
            </a:r>
            <a:r>
              <a:rPr lang="en-US" altLang="ja-JP" sz="2400" dirty="0" smtClean="0"/>
              <a:t>(2)</a:t>
            </a:r>
            <a:r>
              <a:rPr lang="ja-JP" altLang="en-US" sz="2400" dirty="0" smtClean="0"/>
              <a:t>を行うプログラムを作成せよ。</a:t>
            </a:r>
          </a:p>
          <a:p>
            <a:r>
              <a:rPr lang="en-US" altLang="ja-JP" sz="2400" dirty="0" smtClean="0"/>
              <a:t>(1)</a:t>
            </a:r>
            <a:r>
              <a:rPr lang="ja-JP" altLang="en-US" sz="2400" dirty="0" smtClean="0"/>
              <a:t>右の図のように１０点刻みで分布グラフを</a:t>
            </a:r>
            <a:r>
              <a:rPr lang="en-US" altLang="ja-JP" sz="2400" dirty="0" smtClean="0"/>
              <a:t>*</a:t>
            </a:r>
            <a:r>
              <a:rPr lang="ja-JP" altLang="en-US" sz="2400" dirty="0" smtClean="0"/>
              <a:t>を用いて画面に表示し、その後、平均点、最高点、最低点、標準偏差 を画面に表示する。</a:t>
            </a:r>
          </a:p>
          <a:p>
            <a:r>
              <a:rPr lang="en-US" altLang="ja-JP" sz="2400" dirty="0" smtClean="0"/>
              <a:t>(2)</a:t>
            </a:r>
            <a:r>
              <a:rPr lang="ja-JP" altLang="en-US" sz="2400" dirty="0" smtClean="0"/>
              <a:t>全員分の偏差値をファイル（ファイル名は自由）に出力する。その際、学籍番号と点数も一緒に以下の順で書きだす。</a:t>
            </a:r>
          </a:p>
          <a:p>
            <a:r>
              <a:rPr lang="ja-JP" altLang="en-US" sz="2400" dirty="0" smtClean="0"/>
              <a:t>　　学籍番号　点数　偏差値</a:t>
            </a:r>
            <a:endParaRPr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51520" y="5779008"/>
            <a:ext cx="28280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平均 </a:t>
            </a:r>
            <a:r>
              <a:rPr lang="en-US" altLang="ja-JP" dirty="0" smtClean="0"/>
              <a:t>49.77 </a:t>
            </a:r>
            <a:r>
              <a:rPr kumimoji="1" lang="ja-JP" altLang="en-US" dirty="0" smtClean="0"/>
              <a:t>最高 </a:t>
            </a:r>
            <a:r>
              <a:rPr kumimoji="1" lang="en-US" altLang="ja-JP" dirty="0" smtClean="0"/>
              <a:t>100 </a:t>
            </a:r>
            <a:r>
              <a:rPr kumimoji="1" lang="ja-JP" altLang="en-US" dirty="0" smtClean="0"/>
              <a:t>最低</a:t>
            </a:r>
            <a:r>
              <a:rPr kumimoji="1" lang="en-US" altLang="ja-JP" dirty="0" smtClean="0"/>
              <a:t>0 </a:t>
            </a:r>
          </a:p>
          <a:p>
            <a:r>
              <a:rPr kumimoji="1" lang="ja-JP" altLang="en-US" dirty="0" smtClean="0"/>
              <a:t>標準偏差 </a:t>
            </a:r>
            <a:r>
              <a:rPr kumimoji="1" lang="en-US" altLang="ja-JP" dirty="0" smtClean="0"/>
              <a:t>28.758948</a:t>
            </a:r>
          </a:p>
          <a:p>
            <a:r>
              <a:rPr lang="ja-JP" altLang="en-US" dirty="0" smtClean="0"/>
              <a:t>程度になるはずです。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424" y="332656"/>
            <a:ext cx="7620000" cy="648072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総合演習基本課題３</a:t>
            </a:r>
            <a:endParaRPr lang="ja-JP" altLang="en-US" dirty="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714876" y="3776685"/>
            <a:ext cx="3235326" cy="2652712"/>
            <a:chOff x="410" y="1536"/>
            <a:chExt cx="2038" cy="1671"/>
          </a:xfrm>
        </p:grpSpPr>
        <p:sp>
          <p:nvSpPr>
            <p:cNvPr id="387077" name="Line 5"/>
            <p:cNvSpPr>
              <a:spLocks noChangeShapeType="1"/>
            </p:cNvSpPr>
            <p:nvPr/>
          </p:nvSpPr>
          <p:spPr bwMode="auto">
            <a:xfrm>
              <a:off x="576" y="3024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ja-JP" altLang="en-US"/>
            </a:p>
          </p:txBody>
        </p:sp>
        <p:sp>
          <p:nvSpPr>
            <p:cNvPr id="387078" name="Line 6"/>
            <p:cNvSpPr>
              <a:spLocks noChangeShapeType="1"/>
            </p:cNvSpPr>
            <p:nvPr/>
          </p:nvSpPr>
          <p:spPr bwMode="auto">
            <a:xfrm flipV="1">
              <a:off x="576" y="153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ja-JP" altLang="en-US"/>
            </a:p>
          </p:txBody>
        </p:sp>
        <p:sp>
          <p:nvSpPr>
            <p:cNvPr id="387079" name="Text Box 7"/>
            <p:cNvSpPr txBox="1">
              <a:spLocks noChangeArrowheads="1"/>
            </p:cNvSpPr>
            <p:nvPr/>
          </p:nvSpPr>
          <p:spPr bwMode="auto">
            <a:xfrm>
              <a:off x="410" y="2976"/>
              <a:ext cx="21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ja-JP" altLang="en-US"/>
                <a:t>０</a:t>
              </a:r>
            </a:p>
          </p:txBody>
        </p:sp>
        <p:sp>
          <p:nvSpPr>
            <p:cNvPr id="387080" name="Freeform 8"/>
            <p:cNvSpPr>
              <a:spLocks/>
            </p:cNvSpPr>
            <p:nvPr/>
          </p:nvSpPr>
          <p:spPr bwMode="auto">
            <a:xfrm>
              <a:off x="576" y="1616"/>
              <a:ext cx="1104" cy="1408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336" y="1344"/>
                </a:cxn>
                <a:cxn ang="0">
                  <a:pos x="672" y="1008"/>
                </a:cxn>
                <a:cxn ang="0">
                  <a:pos x="912" y="528"/>
                </a:cxn>
                <a:cxn ang="0">
                  <a:pos x="1104" y="0"/>
                </a:cxn>
              </a:cxnLst>
              <a:rect l="0" t="0" r="r" b="b"/>
              <a:pathLst>
                <a:path w="1104" h="1408">
                  <a:moveTo>
                    <a:pt x="0" y="1392"/>
                  </a:moveTo>
                  <a:cubicBezTo>
                    <a:pt x="112" y="1400"/>
                    <a:pt x="224" y="1408"/>
                    <a:pt x="336" y="1344"/>
                  </a:cubicBezTo>
                  <a:cubicBezTo>
                    <a:pt x="448" y="1280"/>
                    <a:pt x="576" y="1144"/>
                    <a:pt x="672" y="1008"/>
                  </a:cubicBezTo>
                  <a:cubicBezTo>
                    <a:pt x="768" y="872"/>
                    <a:pt x="840" y="696"/>
                    <a:pt x="912" y="528"/>
                  </a:cubicBezTo>
                  <a:cubicBezTo>
                    <a:pt x="984" y="360"/>
                    <a:pt x="1044" y="180"/>
                    <a:pt x="110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ja-JP" altLang="en-US"/>
            </a:p>
          </p:txBody>
        </p:sp>
      </p:grpSp>
      <p:sp>
        <p:nvSpPr>
          <p:cNvPr id="387083" name="Rectangle 11"/>
          <p:cNvSpPr>
            <a:spLocks noChangeArrowheads="1"/>
          </p:cNvSpPr>
          <p:nvPr/>
        </p:nvSpPr>
        <p:spPr bwMode="auto">
          <a:xfrm>
            <a:off x="6502401" y="4600597"/>
            <a:ext cx="152400" cy="1524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ja-JP" altLang="en-US"/>
          </a:p>
        </p:txBody>
      </p:sp>
      <p:sp>
        <p:nvSpPr>
          <p:cNvPr id="387084" name="Rectangle 12"/>
          <p:cNvSpPr>
            <a:spLocks noChangeArrowheads="1"/>
          </p:cNvSpPr>
          <p:nvPr/>
        </p:nvSpPr>
        <p:spPr bwMode="auto">
          <a:xfrm>
            <a:off x="6350001" y="4905397"/>
            <a:ext cx="152400" cy="1219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5" name="Rectangle 13"/>
          <p:cNvSpPr>
            <a:spLocks noChangeArrowheads="1"/>
          </p:cNvSpPr>
          <p:nvPr/>
        </p:nvSpPr>
        <p:spPr bwMode="auto">
          <a:xfrm>
            <a:off x="6197601" y="5210197"/>
            <a:ext cx="152400" cy="914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6" name="Rectangle 14"/>
          <p:cNvSpPr>
            <a:spLocks noChangeArrowheads="1"/>
          </p:cNvSpPr>
          <p:nvPr/>
        </p:nvSpPr>
        <p:spPr bwMode="auto">
          <a:xfrm>
            <a:off x="6045201" y="5514997"/>
            <a:ext cx="1524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7" name="Rectangle 15"/>
          <p:cNvSpPr>
            <a:spLocks noChangeArrowheads="1"/>
          </p:cNvSpPr>
          <p:nvPr/>
        </p:nvSpPr>
        <p:spPr bwMode="auto">
          <a:xfrm>
            <a:off x="5892801" y="5743597"/>
            <a:ext cx="152400" cy="381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8" name="Rectangle 16"/>
          <p:cNvSpPr>
            <a:spLocks noChangeArrowheads="1"/>
          </p:cNvSpPr>
          <p:nvPr/>
        </p:nvSpPr>
        <p:spPr bwMode="auto">
          <a:xfrm>
            <a:off x="5740401" y="5895997"/>
            <a:ext cx="152400" cy="228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89" name="Rectangle 17"/>
          <p:cNvSpPr>
            <a:spLocks noChangeArrowheads="1"/>
          </p:cNvSpPr>
          <p:nvPr/>
        </p:nvSpPr>
        <p:spPr bwMode="auto">
          <a:xfrm>
            <a:off x="5588001" y="5972197"/>
            <a:ext cx="152400" cy="152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90" name="Rectangle 18"/>
          <p:cNvSpPr>
            <a:spLocks noChangeArrowheads="1"/>
          </p:cNvSpPr>
          <p:nvPr/>
        </p:nvSpPr>
        <p:spPr bwMode="auto">
          <a:xfrm>
            <a:off x="5435601" y="6048397"/>
            <a:ext cx="152400" cy="76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ja-JP" altLang="en-US"/>
          </a:p>
        </p:txBody>
      </p:sp>
      <p:sp>
        <p:nvSpPr>
          <p:cNvPr id="387091" name="Line 19"/>
          <p:cNvSpPr>
            <a:spLocks noChangeShapeType="1"/>
          </p:cNvSpPr>
          <p:nvPr/>
        </p:nvSpPr>
        <p:spPr bwMode="auto">
          <a:xfrm>
            <a:off x="6654801" y="3686197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ja-JP" altLang="en-US"/>
          </a:p>
        </p:txBody>
      </p:sp>
      <p:sp>
        <p:nvSpPr>
          <p:cNvPr id="387092" name="Text Box 20"/>
          <p:cNvSpPr txBox="1">
            <a:spLocks noChangeArrowheads="1"/>
          </p:cNvSpPr>
          <p:nvPr/>
        </p:nvSpPr>
        <p:spPr bwMode="auto">
          <a:xfrm>
            <a:off x="6654801" y="6124597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/>
              <a:t>3</a:t>
            </a:r>
          </a:p>
        </p:txBody>
      </p:sp>
      <p:sp>
        <p:nvSpPr>
          <p:cNvPr id="387094" name="Line 22"/>
          <p:cNvSpPr>
            <a:spLocks noChangeShapeType="1"/>
          </p:cNvSpPr>
          <p:nvPr/>
        </p:nvSpPr>
        <p:spPr bwMode="auto">
          <a:xfrm flipV="1">
            <a:off x="5408625" y="6276997"/>
            <a:ext cx="234945" cy="95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square" anchor="ctr">
            <a:spAutoFit/>
          </a:bodyPr>
          <a:lstStyle/>
          <a:p>
            <a:endParaRPr lang="ja-JP" altLang="en-US"/>
          </a:p>
        </p:txBody>
      </p:sp>
      <p:sp>
        <p:nvSpPr>
          <p:cNvPr id="387095" name="Text Box 23"/>
          <p:cNvSpPr txBox="1">
            <a:spLocks noChangeArrowheads="1"/>
          </p:cNvSpPr>
          <p:nvPr/>
        </p:nvSpPr>
        <p:spPr bwMode="auto">
          <a:xfrm>
            <a:off x="5286380" y="6357958"/>
            <a:ext cx="47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dirty="0" err="1"/>
              <a:t>Δx</a:t>
            </a:r>
            <a:endParaRPr lang="en-US" altLang="ja-JP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7858148" y="6072206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x</a:t>
            </a:r>
            <a:endParaRPr kumimoji="1" lang="ja-JP" altLang="en-US" sz="24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000628" y="342900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y</a:t>
            </a:r>
            <a:endParaRPr kumimoji="1" lang="ja-JP" altLang="en-US" sz="2400" dirty="0"/>
          </a:p>
        </p:txBody>
      </p:sp>
      <p:sp>
        <p:nvSpPr>
          <p:cNvPr id="24" name="正方形/長方形 23"/>
          <p:cNvSpPr/>
          <p:nvPr/>
        </p:nvSpPr>
        <p:spPr>
          <a:xfrm>
            <a:off x="827584" y="1124744"/>
            <a:ext cx="748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ja-JP" sz="2400" dirty="0" smtClean="0">
                <a:latin typeface="Osaka" pitchFamily="32" charset="-128"/>
                <a:ea typeface="Osaka" pitchFamily="32" charset="-128"/>
              </a:rPr>
              <a:t>二次関数　f(x) = </a:t>
            </a: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x</a:t>
            </a:r>
            <a:r>
              <a:rPr lang="en-US" altLang="ja-JP" sz="2400" baseline="30000" dirty="0" smtClean="0">
                <a:latin typeface="Osaka" pitchFamily="32" charset="-128"/>
                <a:ea typeface="Osaka" pitchFamily="32" charset="-128"/>
              </a:rPr>
              <a:t>2</a:t>
            </a: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 </a:t>
            </a:r>
            <a:r>
              <a:rPr lang="ja-JP" altLang="ja-JP" sz="2400" dirty="0" smtClean="0">
                <a:latin typeface="Osaka" pitchFamily="32" charset="-128"/>
                <a:ea typeface="Osaka" pitchFamily="32" charset="-128"/>
              </a:rPr>
              <a:t>について、</a:t>
            </a: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x=0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から</a:t>
            </a: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3</a:t>
            </a:r>
            <a:r>
              <a:rPr lang="ja-JP" altLang="en-US" sz="2400" dirty="0" err="1" smtClean="0">
                <a:latin typeface="Osaka" pitchFamily="32" charset="-128"/>
                <a:ea typeface="Osaka" pitchFamily="32" charset="-128"/>
              </a:rPr>
              <a:t>までの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定積分を求めたい。区分求積法（下のグラフで、黄色の部分の面積を求める）により、この積分の近似値を求めよ。</a:t>
            </a: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/>
            </a:r>
            <a:br>
              <a:rPr lang="en-US" altLang="ja-JP" sz="2400" dirty="0" smtClean="0">
                <a:latin typeface="Osaka" pitchFamily="32" charset="-128"/>
                <a:ea typeface="Osaka" pitchFamily="32" charset="-128"/>
              </a:rPr>
            </a:b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x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軸方向の刻み幅</a:t>
            </a:r>
            <a:r>
              <a:rPr lang="en-US" altLang="ja-JP" sz="2400" dirty="0" err="1" smtClean="0">
                <a:latin typeface="Osaka" pitchFamily="32" charset="-128"/>
                <a:ea typeface="Osaka" pitchFamily="32" charset="-128"/>
              </a:rPr>
              <a:t>Δx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を大</a:t>
            </a:r>
            <a:r>
              <a:rPr lang="en-US" altLang="ja-JP" sz="2400" dirty="0" smtClean="0">
                <a:latin typeface="Osaka" pitchFamily="32" charset="-128"/>
                <a:ea typeface="Osaka" pitchFamily="32" charset="-128"/>
              </a:rPr>
              <a:t>→</a:t>
            </a:r>
            <a:r>
              <a:rPr lang="ja-JP" altLang="en-US" sz="2400" dirty="0" smtClean="0">
                <a:latin typeface="Osaka" pitchFamily="32" charset="-128"/>
                <a:ea typeface="Osaka" pitchFamily="32" charset="-128"/>
              </a:rPr>
              <a:t>小へと変化させ、近似の精度が良くなることを確認せよ。</a:t>
            </a:r>
            <a:endParaRPr lang="ja-JP" altLang="ja-JP" sz="2400" dirty="0">
              <a:latin typeface="Osaka" pitchFamily="32" charset="-128"/>
              <a:ea typeface="Osaka" pitchFamily="32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827584" y="4571069"/>
            <a:ext cx="337865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右の図では、黄色の長方形の左側を</a:t>
            </a:r>
            <a:r>
              <a:rPr kumimoji="1" lang="ja-JP" altLang="en-US" dirty="0" smtClean="0"/>
              <a:t>グラフに</a:t>
            </a:r>
            <a:r>
              <a:rPr lang="ja-JP" altLang="en-US" dirty="0" smtClean="0"/>
              <a:t>合わせていますが、右側を合わせて</a:t>
            </a:r>
            <a:r>
              <a:rPr lang="ja-JP" altLang="en-US" dirty="0" smtClean="0"/>
              <a:t>も構いません</a:t>
            </a:r>
            <a:r>
              <a:rPr lang="ja-JP" altLang="en-US" dirty="0" smtClean="0"/>
              <a:t>。あるいは真ん中を合わせても</a:t>
            </a:r>
            <a:r>
              <a:rPr lang="en-US" altLang="ja-JP" dirty="0" smtClean="0"/>
              <a:t>OK</a:t>
            </a:r>
            <a:r>
              <a:rPr lang="ja-JP" altLang="en-US" dirty="0" smtClean="0"/>
              <a:t>です。</a:t>
            </a:r>
            <a:endParaRPr kumimoji="1"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ja-JP" altLang="en-US" sz="4000" dirty="0" smtClean="0"/>
              <a:t>総合演習基本課題２ 補足説明</a:t>
            </a:r>
            <a:endParaRPr kumimoji="1" lang="ja-JP" altLang="en-US" sz="4000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29208" y="1484784"/>
            <a:ext cx="8003232" cy="4525963"/>
          </a:xfrm>
        </p:spPr>
        <p:txBody>
          <a:bodyPr>
            <a:normAutofit fontScale="77500" lnSpcReduction="20000"/>
          </a:bodyPr>
          <a:lstStyle/>
          <a:p>
            <a:r>
              <a:rPr lang="en-US" altLang="ja-JP" dirty="0" smtClean="0"/>
              <a:t>score.txt</a:t>
            </a:r>
            <a:r>
              <a:rPr lang="ja-JP" altLang="en-US" dirty="0" smtClean="0"/>
              <a:t>からの学籍番号、点数の読み取り方法について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まず、ファイルをオープンする。</a:t>
            </a:r>
            <a:endParaRPr kumimoji="1" lang="en-US" altLang="ja-JP" dirty="0" smtClean="0"/>
          </a:p>
          <a:p>
            <a:pPr lvl="2"/>
            <a:r>
              <a:rPr lang="en-US" altLang="ja-JP" dirty="0" err="1" smtClean="0"/>
              <a:t>scoreFile</a:t>
            </a:r>
            <a:r>
              <a:rPr lang="en-US" altLang="ja-JP" dirty="0" smtClean="0"/>
              <a:t> = </a:t>
            </a:r>
            <a:r>
              <a:rPr lang="en-US" altLang="ja-JP" dirty="0" err="1" smtClean="0"/>
              <a:t>fopen</a:t>
            </a:r>
            <a:r>
              <a:rPr lang="en-US" altLang="ja-JP" dirty="0" smtClean="0"/>
              <a:t> (“score.txt”, “r”);</a:t>
            </a:r>
          </a:p>
          <a:p>
            <a:pPr lvl="1"/>
            <a:r>
              <a:rPr lang="ja-JP" altLang="en-US" dirty="0" smtClean="0"/>
              <a:t>次に、</a:t>
            </a:r>
            <a:r>
              <a:rPr lang="en-US" altLang="ja-JP" dirty="0" err="1" smtClean="0"/>
              <a:t>fscanf</a:t>
            </a:r>
            <a:r>
              <a:rPr lang="ja-JP" altLang="en-US" dirty="0" smtClean="0"/>
              <a:t>で一行ずつデータを読み込む。</a:t>
            </a:r>
            <a:endParaRPr lang="en-US" altLang="ja-JP" dirty="0" smtClean="0"/>
          </a:p>
          <a:p>
            <a:pPr lvl="2"/>
            <a:r>
              <a:rPr lang="en-US" altLang="ja-JP" dirty="0" err="1" smtClean="0"/>
              <a:t>fscanf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scoreFile</a:t>
            </a:r>
            <a:r>
              <a:rPr lang="en-US" altLang="ja-JP" dirty="0" smtClean="0"/>
              <a:t>, “%</a:t>
            </a:r>
            <a:r>
              <a:rPr lang="en-US" altLang="ja-JP" dirty="0" err="1" smtClean="0"/>
              <a:t>s%d</a:t>
            </a:r>
            <a:r>
              <a:rPr lang="en-US" altLang="ja-JP" dirty="0" smtClean="0"/>
              <a:t>”, …………);</a:t>
            </a:r>
          </a:p>
          <a:p>
            <a:r>
              <a:rPr kumimoji="1" lang="ja-JP" altLang="en-US" dirty="0" smtClean="0"/>
              <a:t>平方根について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数学ライブラリ</a:t>
            </a:r>
            <a:r>
              <a:rPr lang="en-US" altLang="ja-JP" dirty="0" err="1" smtClean="0"/>
              <a:t>libm.so</a:t>
            </a:r>
            <a:r>
              <a:rPr lang="ja-JP" altLang="en-US" dirty="0" smtClean="0"/>
              <a:t>中の</a:t>
            </a:r>
            <a:r>
              <a:rPr lang="en-US" altLang="ja-JP" dirty="0" err="1" smtClean="0"/>
              <a:t>sqrt</a:t>
            </a:r>
            <a:r>
              <a:rPr lang="ja-JP" altLang="en-US" dirty="0" smtClean="0"/>
              <a:t>関数を用いる。</a:t>
            </a:r>
            <a:r>
              <a:rPr lang="en-US" altLang="ja-JP" dirty="0" smtClean="0"/>
              <a:t>(</a:t>
            </a:r>
            <a:r>
              <a:rPr lang="en-US" altLang="ja-JP" dirty="0" err="1" smtClean="0"/>
              <a:t>sqrt</a:t>
            </a:r>
            <a:r>
              <a:rPr lang="ja-JP" altLang="en-US" dirty="0" smtClean="0"/>
              <a:t>関数は、</a:t>
            </a:r>
            <a:r>
              <a:rPr lang="en-US" altLang="ja-JP" dirty="0" smtClean="0"/>
              <a:t>double</a:t>
            </a:r>
            <a:r>
              <a:rPr lang="ja-JP" altLang="en-US" dirty="0" smtClean="0"/>
              <a:t>型を受け取り、その平方根を</a:t>
            </a:r>
            <a:r>
              <a:rPr lang="en-US" altLang="ja-JP" dirty="0" smtClean="0"/>
              <a:t>double</a:t>
            </a:r>
            <a:r>
              <a:rPr lang="ja-JP" altLang="en-US" dirty="0" smtClean="0"/>
              <a:t>型で返す。</a:t>
            </a:r>
            <a:r>
              <a:rPr lang="en-US" altLang="ja-JP" dirty="0" smtClean="0"/>
              <a:t>)</a:t>
            </a:r>
          </a:p>
          <a:p>
            <a:pPr lvl="1"/>
            <a:r>
              <a:rPr lang="en-US" altLang="ja-JP" dirty="0" err="1" smtClean="0"/>
              <a:t>sqrt</a:t>
            </a:r>
            <a:r>
              <a:rPr lang="ja-JP" altLang="en-US" dirty="0" smtClean="0"/>
              <a:t>関数を使うために、</a:t>
            </a:r>
            <a:r>
              <a:rPr lang="en-US" altLang="ja-JP" dirty="0" err="1" smtClean="0"/>
              <a:t>math.h</a:t>
            </a:r>
            <a:r>
              <a:rPr lang="ja-JP" altLang="en-US" dirty="0" smtClean="0"/>
              <a:t>をインクルードする。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コンパイル</a:t>
            </a:r>
            <a:r>
              <a:rPr lang="ja-JP" altLang="en-US" dirty="0" smtClean="0"/>
              <a:t>するとき</a:t>
            </a:r>
            <a:r>
              <a:rPr kumimoji="1" lang="ja-JP" altLang="en-US" dirty="0" smtClean="0"/>
              <a:t>、</a:t>
            </a:r>
            <a:r>
              <a:rPr kumimoji="1" lang="en-US" altLang="ja-JP" dirty="0" smtClean="0"/>
              <a:t>$ </a:t>
            </a:r>
            <a:r>
              <a:rPr kumimoji="1" lang="en-US" altLang="ja-JP" dirty="0" err="1" smtClean="0"/>
              <a:t>gcc</a:t>
            </a:r>
            <a:r>
              <a:rPr kumimoji="1" lang="en-US" altLang="ja-JP" dirty="0" smtClean="0"/>
              <a:t> kadai2.c -lm </a:t>
            </a:r>
            <a:r>
              <a:rPr kumimoji="1" lang="ja-JP" altLang="en-US" dirty="0" err="1" smtClean="0"/>
              <a:t>のように</a:t>
            </a:r>
            <a:r>
              <a:rPr kumimoji="1" lang="ja-JP" altLang="en-US" dirty="0" smtClean="0"/>
              <a:t>することにより、</a:t>
            </a:r>
            <a:r>
              <a:rPr kumimoji="1" lang="en-US" altLang="ja-JP" dirty="0" err="1" smtClean="0"/>
              <a:t>sqrt</a:t>
            </a:r>
            <a:r>
              <a:rPr kumimoji="1" lang="ja-JP" altLang="en-US" dirty="0" smtClean="0"/>
              <a:t>関数のコンパイル</a:t>
            </a:r>
            <a:r>
              <a:rPr lang="ja-JP" altLang="en-US" dirty="0" smtClean="0"/>
              <a:t>結果が格納されている</a:t>
            </a:r>
            <a:r>
              <a:rPr kumimoji="1" lang="en-US" altLang="ja-JP" dirty="0" err="1" smtClean="0"/>
              <a:t>libm.so</a:t>
            </a:r>
            <a:r>
              <a:rPr kumimoji="1" lang="ja-JP" altLang="en-US" dirty="0" smtClean="0"/>
              <a:t>というファイルが検索され、リンクされる。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総合演習発展課題１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115616" y="1754813"/>
            <a:ext cx="66247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課題３において、積分範囲をキーボードから受け取るようにせよ。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46646"/>
            <a:ext cx="8229600" cy="994122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総合演習発展課題２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00100" y="1556792"/>
            <a:ext cx="69294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モンテカルロ法による円周率の近似値</a:t>
            </a:r>
            <a:r>
              <a:rPr lang="ja-JP" altLang="en-US" sz="2800" dirty="0" smtClean="0"/>
              <a:t>の計算を行うプログラムを書け。</a:t>
            </a:r>
            <a:endParaRPr lang="en-US" altLang="ja-JP" sz="2800" dirty="0" smtClean="0"/>
          </a:p>
          <a:p>
            <a:r>
              <a:rPr lang="ja-JP" altLang="en-US" sz="2800" dirty="0" smtClean="0"/>
              <a:t>生成する点の個数はキーボードから受け取るようにせよ。</a:t>
            </a:r>
            <a:endParaRPr lang="en-US" altLang="ja-JP" sz="2800" dirty="0" smtClean="0"/>
          </a:p>
          <a:p>
            <a:r>
              <a:rPr lang="ja-JP" altLang="en-US" sz="2800" dirty="0" smtClean="0"/>
              <a:t>乱数の生成には</a:t>
            </a:r>
            <a:r>
              <a:rPr kumimoji="1" lang="en-US" altLang="ja-JP" sz="2800" dirty="0" err="1" smtClean="0"/>
              <a:t>Mersenne</a:t>
            </a:r>
            <a:r>
              <a:rPr kumimoji="1" lang="en-US" altLang="ja-JP" sz="2800" dirty="0" smtClean="0"/>
              <a:t> twister</a:t>
            </a:r>
            <a:r>
              <a:rPr kumimoji="1" lang="ja-JP" altLang="en-US" sz="2800" dirty="0" smtClean="0"/>
              <a:t>を用いよ</a:t>
            </a:r>
            <a:r>
              <a:rPr lang="ja-JP" altLang="en-US" sz="2800" dirty="0" smtClean="0"/>
              <a:t>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ja-JP" altLang="en-US" sz="2800" dirty="0" smtClean="0"/>
              <a:t>（実行例）</a:t>
            </a:r>
            <a:endParaRPr lang="en-US" altLang="ja-JP" sz="2800" dirty="0" smtClean="0"/>
          </a:p>
          <a:p>
            <a:r>
              <a:rPr lang="ja-JP" altLang="en-US" sz="2800" dirty="0" smtClean="0"/>
              <a:t>点の生成回数を入力してください</a:t>
            </a:r>
            <a:r>
              <a:rPr lang="en-US" altLang="ja-JP" sz="2800" dirty="0" smtClean="0"/>
              <a:t>: </a:t>
            </a:r>
            <a:r>
              <a:rPr lang="en-US" altLang="ja-JP" sz="2800" dirty="0" smtClean="0">
                <a:solidFill>
                  <a:srgbClr val="FF0000"/>
                </a:solidFill>
              </a:rPr>
              <a:t>1000000</a:t>
            </a:r>
          </a:p>
          <a:p>
            <a:r>
              <a:rPr lang="ja-JP" altLang="en-US" sz="2800" dirty="0" smtClean="0"/>
              <a:t>円周率の近似値は</a:t>
            </a:r>
            <a:r>
              <a:rPr lang="en-US" altLang="ja-JP" sz="2800" dirty="0" smtClean="0"/>
              <a:t>3.141200</a:t>
            </a:r>
            <a:r>
              <a:rPr lang="ja-JP" altLang="en-US" sz="2800" dirty="0" smtClean="0"/>
              <a:t>です。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Mersenne</a:t>
            </a:r>
            <a:r>
              <a:rPr lang="en-US" altLang="ja-JP" dirty="0" smtClean="0"/>
              <a:t> Twister</a:t>
            </a:r>
            <a:r>
              <a:rPr lang="ja-JP" altLang="en-US" dirty="0" smtClean="0"/>
              <a:t>の使い方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714348" y="1525866"/>
            <a:ext cx="742955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http://www.math.sci.hiroshima-u.ac.jp/~m-mat/MT/MT2002/mt19937ar.html </a:t>
            </a:r>
          </a:p>
          <a:p>
            <a:r>
              <a:rPr lang="ja-JP" altLang="en-US" sz="2800" dirty="0" smtClean="0"/>
              <a:t>のページから、</a:t>
            </a:r>
            <a:r>
              <a:rPr lang="en-US" altLang="ja-JP" sz="2800" dirty="0" smtClean="0"/>
              <a:t>mt19937ar.sep.tgz</a:t>
            </a:r>
            <a:r>
              <a:rPr lang="ja-JP" altLang="en-US" sz="2800" dirty="0" smtClean="0"/>
              <a:t>をダウンロードする。ダウンロードした</a:t>
            </a:r>
            <a:r>
              <a:rPr lang="en-US" altLang="ja-JP" sz="2800" dirty="0" err="1" smtClean="0"/>
              <a:t>tgz</a:t>
            </a:r>
            <a:r>
              <a:rPr lang="ja-JP" altLang="en-US" sz="2800" dirty="0" smtClean="0"/>
              <a:t>ファイルを適当なディレクトリにおき、以下のようにして展開する。</a:t>
            </a:r>
            <a:endParaRPr lang="en-US" altLang="ja-JP" sz="2800" dirty="0" smtClean="0"/>
          </a:p>
          <a:p>
            <a:r>
              <a:rPr lang="en-US" altLang="ja-JP" sz="2800" dirty="0" smtClean="0"/>
              <a:t>$ tar </a:t>
            </a:r>
            <a:r>
              <a:rPr lang="en-US" altLang="ja-JP" sz="2800" dirty="0" err="1" smtClean="0"/>
              <a:t>zxvf</a:t>
            </a:r>
            <a:r>
              <a:rPr lang="en-US" altLang="ja-JP" sz="2800" dirty="0" smtClean="0"/>
              <a:t> mt19937ar.sep.tgz</a:t>
            </a:r>
          </a:p>
          <a:p>
            <a:r>
              <a:rPr lang="ja-JP" altLang="en-US" sz="2800" dirty="0" smtClean="0"/>
              <a:t>ファイルがそのディレクトリに５つ展開される。その中の</a:t>
            </a:r>
            <a:r>
              <a:rPr lang="en-US" altLang="ja-JP" sz="2800" dirty="0" smtClean="0"/>
              <a:t>mt19937ar.c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mt19937ar.h</a:t>
            </a:r>
            <a:r>
              <a:rPr lang="ja-JP" altLang="en-US" sz="2800" dirty="0" smtClean="0"/>
              <a:t>を用いる。</a:t>
            </a:r>
            <a:endParaRPr lang="en-US" altLang="ja-JP" sz="2800" dirty="0" smtClean="0"/>
          </a:p>
          <a:p>
            <a:r>
              <a:rPr lang="ja-JP" altLang="en-US" sz="2800" dirty="0" smtClean="0"/>
              <a:t>この演習では、</a:t>
            </a:r>
            <a:r>
              <a:rPr lang="en-US" altLang="ja-JP" sz="2800" dirty="0" smtClean="0"/>
              <a:t>mt19937ar.c</a:t>
            </a:r>
            <a:r>
              <a:rPr lang="ja-JP" altLang="en-US" sz="2800" dirty="0" smtClean="0"/>
              <a:t>中の</a:t>
            </a:r>
            <a:r>
              <a:rPr lang="en-US" altLang="ja-JP" sz="2800" dirty="0" smtClean="0"/>
              <a:t>genrand_real2()</a:t>
            </a:r>
            <a:r>
              <a:rPr lang="ja-JP" altLang="en-US" sz="2800" dirty="0" smtClean="0"/>
              <a:t>という関数を用いることとする。これは</a:t>
            </a:r>
            <a:r>
              <a:rPr lang="en-US" altLang="ja-JP" sz="2800" dirty="0" smtClean="0"/>
              <a:t>0</a:t>
            </a:r>
            <a:r>
              <a:rPr lang="ja-JP" altLang="en-US" sz="2800" dirty="0" smtClean="0"/>
              <a:t>以上</a:t>
            </a:r>
            <a:r>
              <a:rPr lang="en-US" altLang="ja-JP" sz="2800" dirty="0" smtClean="0"/>
              <a:t>1</a:t>
            </a:r>
            <a:r>
              <a:rPr lang="ja-JP" altLang="en-US" sz="2800" dirty="0" smtClean="0"/>
              <a:t>未満の乱数を生成する。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 smtClean="0"/>
              <a:t>Mersenne</a:t>
            </a:r>
            <a:r>
              <a:rPr lang="en-US" altLang="ja-JP" dirty="0" smtClean="0"/>
              <a:t> Twister</a:t>
            </a:r>
            <a:r>
              <a:rPr lang="ja-JP" altLang="en-US" dirty="0" smtClean="0"/>
              <a:t>の使い方（続き）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00034" y="1571612"/>
            <a:ext cx="800102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関数を呼び出すプログラムの先頭において、</a:t>
            </a:r>
            <a:endParaRPr lang="en-US" altLang="ja-JP" sz="2400" dirty="0" smtClean="0"/>
          </a:p>
          <a:p>
            <a:r>
              <a:rPr lang="en-US" altLang="ja-JP" sz="2400" dirty="0" smtClean="0"/>
              <a:t>#include "mt19937ar.h“</a:t>
            </a:r>
          </a:p>
          <a:p>
            <a:r>
              <a:rPr lang="ja-JP" altLang="en-US" sz="2400" dirty="0" smtClean="0"/>
              <a:t>を記述する。（</a:t>
            </a:r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のプロトタイプ宣言を読み込む為。）これまでは</a:t>
            </a:r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  <a:r>
              <a:rPr lang="ja-JP" altLang="en-US" sz="2400" dirty="0" err="1" smtClean="0"/>
              <a:t>のように</a:t>
            </a:r>
            <a:r>
              <a:rPr lang="en-US" altLang="ja-JP" sz="2400" dirty="0" smtClean="0"/>
              <a:t>&lt; &gt;</a:t>
            </a:r>
            <a:r>
              <a:rPr lang="ja-JP" altLang="en-US" sz="2400" dirty="0" smtClean="0"/>
              <a:t>の中にヘッダーファイル名を書いていたが、これは、ある定められたディレクトリから探してくるという意味である。カレントディレクトリにあるヘッダーファイルを読み込む場合は</a:t>
            </a:r>
            <a:r>
              <a:rPr lang="en-US" altLang="ja-JP" sz="2400" dirty="0" smtClean="0"/>
              <a:t>” “</a:t>
            </a:r>
            <a:r>
              <a:rPr lang="ja-JP" altLang="en-US" sz="2400" dirty="0" smtClean="0"/>
              <a:t>で囲む。</a:t>
            </a:r>
            <a:endParaRPr lang="en-US" altLang="ja-JP" sz="2400" dirty="0" smtClean="0"/>
          </a:p>
          <a:p>
            <a:r>
              <a:rPr lang="ja-JP" altLang="en-US" sz="2400" dirty="0" smtClean="0"/>
              <a:t>コンパイルは、</a:t>
            </a:r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関数を使っているファイルの名前を</a:t>
            </a:r>
            <a:r>
              <a:rPr lang="en-US" altLang="ja-JP" sz="2400" dirty="0" smtClean="0"/>
              <a:t>kadai1.c</a:t>
            </a:r>
            <a:r>
              <a:rPr lang="ja-JP" altLang="en-US" sz="2400" dirty="0" smtClean="0"/>
              <a:t>とすると、</a:t>
            </a:r>
            <a:endParaRPr lang="en-US" altLang="ja-JP" sz="2400" dirty="0" smtClean="0"/>
          </a:p>
          <a:p>
            <a:r>
              <a:rPr lang="en-US" altLang="ja-JP" sz="2400" dirty="0" smtClean="0"/>
              <a:t>$ </a:t>
            </a:r>
            <a:r>
              <a:rPr lang="en-US" altLang="ja-JP" sz="2400" dirty="0" err="1" smtClean="0"/>
              <a:t>gcc</a:t>
            </a:r>
            <a:r>
              <a:rPr lang="en-US" altLang="ja-JP" sz="2400" dirty="0" smtClean="0"/>
              <a:t> kadai1.c mt19937ar.c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行う。</a:t>
            </a:r>
            <a:endParaRPr lang="en-US" altLang="ja-JP" sz="2400" dirty="0" smtClean="0"/>
          </a:p>
          <a:p>
            <a:r>
              <a:rPr lang="ja-JP" altLang="en-US" sz="2400" dirty="0" smtClean="0"/>
              <a:t>（参考）</a:t>
            </a:r>
            <a:r>
              <a:rPr lang="en-US" altLang="ja-JP" sz="2400" dirty="0" err="1" smtClean="0"/>
              <a:t>Mersenne</a:t>
            </a:r>
            <a:r>
              <a:rPr lang="en-US" altLang="ja-JP" sz="2400" dirty="0" smtClean="0"/>
              <a:t> Twister</a:t>
            </a:r>
            <a:r>
              <a:rPr lang="ja-JP" altLang="en-US" sz="2400" dirty="0" smtClean="0"/>
              <a:t>の改良版</a:t>
            </a:r>
            <a:r>
              <a:rPr lang="en-US" altLang="ja-JP" sz="2400" dirty="0" smtClean="0"/>
              <a:t>SFMT</a:t>
            </a:r>
            <a:r>
              <a:rPr lang="ja-JP" altLang="en-US" sz="2400" dirty="0" smtClean="0"/>
              <a:t>も公開されている。</a:t>
            </a:r>
            <a:endParaRPr lang="en-US" altLang="ja-JP" sz="2400" dirty="0" smtClean="0"/>
          </a:p>
          <a:p>
            <a:endParaRPr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 smtClean="0"/>
              <a:t>Mersenne</a:t>
            </a:r>
            <a:r>
              <a:rPr lang="en-US" altLang="ja-JP" dirty="0" smtClean="0"/>
              <a:t> Twister</a:t>
            </a:r>
            <a:r>
              <a:rPr lang="ja-JP" altLang="en-US" dirty="0" smtClean="0"/>
              <a:t>の使い方（続き）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00034" y="1571612"/>
            <a:ext cx="80010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実行毎に生成する乱数列を変えたい場合は、</a:t>
            </a:r>
            <a:endParaRPr lang="en-US" altLang="ja-JP" sz="2400" dirty="0" smtClean="0"/>
          </a:p>
          <a:p>
            <a:r>
              <a:rPr lang="en-US" altLang="ja-JP" sz="2400" dirty="0" err="1" smtClean="0"/>
              <a:t>init_genrand</a:t>
            </a:r>
            <a:r>
              <a:rPr lang="en-US" altLang="ja-JP" sz="2400" dirty="0" smtClean="0"/>
              <a:t> (time(0));</a:t>
            </a:r>
            <a:r>
              <a:rPr lang="ja-JP" altLang="en-US" sz="2400" dirty="0" smtClean="0"/>
              <a:t>のように、</a:t>
            </a:r>
            <a:r>
              <a:rPr lang="en-US" altLang="ja-JP" sz="2400" dirty="0" smtClean="0"/>
              <a:t>time</a:t>
            </a:r>
            <a:r>
              <a:rPr lang="ja-JP" altLang="en-US" sz="2400" dirty="0" smtClean="0"/>
              <a:t>関数の返り値を初期化関数に与えるようにすればよい。</a:t>
            </a:r>
            <a:endParaRPr lang="en-US" altLang="ja-JP" sz="2400" dirty="0" smtClean="0"/>
          </a:p>
          <a:p>
            <a:r>
              <a:rPr lang="ja-JP" altLang="en-US" sz="2400" dirty="0" smtClean="0"/>
              <a:t>（</a:t>
            </a:r>
            <a:r>
              <a:rPr lang="en-US" altLang="ja-JP" sz="2400" dirty="0" err="1" smtClean="0"/>
              <a:t>init_genrand</a:t>
            </a:r>
            <a:r>
              <a:rPr lang="ja-JP" altLang="en-US" sz="2400" dirty="0" smtClean="0"/>
              <a:t>関数を最初に一度呼び出してから、</a:t>
            </a:r>
            <a:r>
              <a:rPr lang="en-US" altLang="ja-JP" sz="2400" dirty="0" smtClean="0"/>
              <a:t>genrand_real2()</a:t>
            </a:r>
            <a:r>
              <a:rPr lang="ja-JP" altLang="en-US" sz="2400" dirty="0" smtClean="0"/>
              <a:t>関数を必要な回数呼び出せばよい。）</a:t>
            </a:r>
            <a:endParaRPr lang="en-US" altLang="ja-JP" sz="2400" dirty="0" smtClean="0"/>
          </a:p>
          <a:p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円周率の近似値の計算</a:t>
            </a:r>
            <a:endParaRPr kumimoji="1" lang="ja-JP" altLang="en-US" dirty="0"/>
          </a:p>
        </p:txBody>
      </p:sp>
      <p:sp>
        <p:nvSpPr>
          <p:cNvPr id="5" name="パイ 4"/>
          <p:cNvSpPr/>
          <p:nvPr/>
        </p:nvSpPr>
        <p:spPr>
          <a:xfrm rot="16200000">
            <a:off x="2051521" y="2264404"/>
            <a:ext cx="1771656" cy="1785950"/>
          </a:xfrm>
          <a:prstGeom prst="pie">
            <a:avLst>
              <a:gd name="adj1" fmla="val 0"/>
              <a:gd name="adj2" fmla="val 538384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>
              <a:solidFill>
                <a:schemeClr val="tx1"/>
              </a:solidFill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14546" y="3213892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(0,0)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71868" y="3180855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(1,0)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143108" y="1966409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(0,1)</a:t>
            </a:r>
            <a:endParaRPr kumimoji="1" lang="ja-JP" altLang="en-US" sz="2400" dirty="0"/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1928794" y="3142454"/>
            <a:ext cx="278608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 flipH="1" flipV="1">
            <a:off x="1607720" y="2749942"/>
            <a:ext cx="264320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 flipH="1">
            <a:off x="4786314" y="3071810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x</a:t>
            </a:r>
            <a:endParaRPr kumimoji="1" lang="ja-JP" altLang="en-US" sz="2400" dirty="0"/>
          </a:p>
        </p:txBody>
      </p:sp>
      <p:sp>
        <p:nvSpPr>
          <p:cNvPr id="18" name="正方形/長方形 17"/>
          <p:cNvSpPr/>
          <p:nvPr/>
        </p:nvSpPr>
        <p:spPr>
          <a:xfrm>
            <a:off x="2929721" y="2259490"/>
            <a:ext cx="900603" cy="882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57290" y="4500570"/>
            <a:ext cx="65008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から</a:t>
            </a:r>
            <a:r>
              <a:rPr kumimoji="1" lang="en-US" altLang="ja-JP" sz="2400" dirty="0" smtClean="0"/>
              <a:t>1</a:t>
            </a:r>
            <a:r>
              <a:rPr kumimoji="1" lang="ja-JP" altLang="en-US" sz="2400" dirty="0" smtClean="0"/>
              <a:t>の</a:t>
            </a:r>
            <a:r>
              <a:rPr lang="ja-JP" altLang="en-US" sz="2400" dirty="0" smtClean="0"/>
              <a:t>範囲の</a:t>
            </a:r>
            <a:r>
              <a:rPr kumimoji="1" lang="ja-JP" altLang="en-US" sz="2400" dirty="0" smtClean="0"/>
              <a:t>乱数を２つ生成すると、それらは上記の正方形の範囲内の１つの座標と見ることができる。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点を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個生成し、</a:t>
            </a:r>
            <a:r>
              <a:rPr lang="ja-JP" altLang="en-US" sz="2400" dirty="0" smtClean="0"/>
              <a:t>そのうち</a:t>
            </a:r>
            <a:r>
              <a:rPr lang="en-US" altLang="ja-JP" sz="2400" dirty="0" smtClean="0"/>
              <a:t>n</a:t>
            </a:r>
            <a:r>
              <a:rPr lang="ja-JP" altLang="en-US" sz="2400" dirty="0" smtClean="0"/>
              <a:t>個が円の中に入っていた場合は、</a:t>
            </a:r>
            <a:r>
              <a:rPr lang="en-US" altLang="ja-JP" sz="2400" dirty="0" smtClean="0"/>
              <a:t>(n/N)*4</a:t>
            </a:r>
            <a:r>
              <a:rPr lang="ja-JP" altLang="en-US" sz="2400" dirty="0" smtClean="0"/>
              <a:t>が円周率の近似値となる。</a:t>
            </a:r>
            <a:endParaRPr kumimoji="1" lang="ja-JP" altLang="en-US" sz="2400" dirty="0"/>
          </a:p>
        </p:txBody>
      </p:sp>
      <p:sp>
        <p:nvSpPr>
          <p:cNvPr id="20" name="テキスト ボックス 19"/>
          <p:cNvSpPr txBox="1"/>
          <p:nvPr/>
        </p:nvSpPr>
        <p:spPr>
          <a:xfrm flipH="1">
            <a:off x="3000364" y="1214422"/>
            <a:ext cx="28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y</a:t>
            </a:r>
            <a:endParaRPr kumimoji="1" lang="ja-JP" altLang="en-US" sz="2400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786182" y="1895765"/>
            <a:ext cx="7585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(1,1)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1184</Words>
  <Application>Microsoft Office PowerPoint</Application>
  <PresentationFormat>画面に合わせる (4:3)</PresentationFormat>
  <Paragraphs>97</Paragraphs>
  <Slides>14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5" baseType="lpstr">
      <vt:lpstr>Office テーマ</vt:lpstr>
      <vt:lpstr>プログラミング入門２</vt:lpstr>
      <vt:lpstr>次回について</vt:lpstr>
      <vt:lpstr>今日と次回の内容</vt:lpstr>
      <vt:lpstr>期末試験について</vt:lpstr>
      <vt:lpstr>総合演習基本課題１</vt:lpstr>
      <vt:lpstr>総合演習基本課題２</vt:lpstr>
      <vt:lpstr>総合演習基本課題３</vt:lpstr>
      <vt:lpstr>総合演習基本課題２ 補足説明</vt:lpstr>
      <vt:lpstr>総合演習発展課題１</vt:lpstr>
      <vt:lpstr>総合演習発展課題２</vt:lpstr>
      <vt:lpstr>Mersenne Twisterの使い方</vt:lpstr>
      <vt:lpstr>Mersenne Twisterの使い方（続き）</vt:lpstr>
      <vt:lpstr>Mersenne Twisterの使い方（続き）</vt:lpstr>
      <vt:lpstr>円周率の近似値の計算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</dc:title>
  <dc:creator>sasano</dc:creator>
  <cp:lastModifiedBy>sasano</cp:lastModifiedBy>
  <cp:revision>193</cp:revision>
  <dcterms:created xsi:type="dcterms:W3CDTF">2009-12-17T07:05:53Z</dcterms:created>
  <dcterms:modified xsi:type="dcterms:W3CDTF">2010-12-24T07:42:05Z</dcterms:modified>
</cp:coreProperties>
</file>