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8" r:id="rId12"/>
    <p:sldId id="273" r:id="rId13"/>
    <p:sldId id="269" r:id="rId14"/>
    <p:sldId id="275" r:id="rId15"/>
    <p:sldId id="277" r:id="rId16"/>
    <p:sldId id="276" r:id="rId17"/>
    <p:sldId id="278" r:id="rId18"/>
    <p:sldId id="267" r:id="rId19"/>
    <p:sldId id="279" r:id="rId20"/>
    <p:sldId id="280" r:id="rId21"/>
    <p:sldId id="281" r:id="rId22"/>
    <p:sldId id="283" r:id="rId23"/>
    <p:sldId id="282" r:id="rId24"/>
    <p:sldId id="284" r:id="rId25"/>
    <p:sldId id="285" r:id="rId26"/>
    <p:sldId id="286" r:id="rId27"/>
    <p:sldId id="270" r:id="rId28"/>
    <p:sldId id="271" r:id="rId29"/>
    <p:sldId id="289" r:id="rId30"/>
    <p:sldId id="290" r:id="rId31"/>
    <p:sldId id="287" r:id="rId32"/>
    <p:sldId id="266" r:id="rId33"/>
    <p:sldId id="272" r:id="rId3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4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402A8A-1359-4ECC-B713-69DA8037369C}" type="datetimeFigureOut">
              <a:rPr kumimoji="1" lang="ja-JP" altLang="en-US" smtClean="0"/>
              <a:pPr/>
              <a:t>2010/12/13</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0210E9-32C0-4038-8A44-8E520BD51458}"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90210E9-32C0-4038-8A44-8E520BD51458}" type="slidenum">
              <a:rPr kumimoji="1" lang="ja-JP" altLang="en-US" smtClean="0"/>
              <a:pPr/>
              <a:t>9</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a:t>
            </a:r>
            <a:endParaRPr kumimoji="1" lang="ja-JP" altLang="en-US" dirty="0"/>
          </a:p>
        </p:txBody>
      </p:sp>
      <p:sp>
        <p:nvSpPr>
          <p:cNvPr id="4" name="テキスト ボックス 3"/>
          <p:cNvSpPr txBox="1"/>
          <p:nvPr/>
        </p:nvSpPr>
        <p:spPr>
          <a:xfrm>
            <a:off x="3500430" y="3786190"/>
            <a:ext cx="1566454" cy="584775"/>
          </a:xfrm>
          <a:prstGeom prst="rect">
            <a:avLst/>
          </a:prstGeom>
          <a:noFill/>
        </p:spPr>
        <p:txBody>
          <a:bodyPr wrap="none" rtlCol="0">
            <a:spAutoFit/>
          </a:bodyPr>
          <a:lstStyle/>
          <a:p>
            <a:r>
              <a:rPr kumimoji="1" lang="ja-JP" altLang="en-US" sz="3200" dirty="0" smtClean="0"/>
              <a:t>第１２回</a:t>
            </a:r>
            <a:endParaRPr kumimoji="1" lang="ja-JP" altLang="en-US" sz="3200" dirty="0"/>
          </a:p>
        </p:txBody>
      </p:sp>
      <p:sp>
        <p:nvSpPr>
          <p:cNvPr id="5" name="テキスト ボックス 4"/>
          <p:cNvSpPr txBox="1"/>
          <p:nvPr/>
        </p:nvSpPr>
        <p:spPr>
          <a:xfrm>
            <a:off x="2571736"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a:xfrm>
            <a:off x="457200" y="1600201"/>
            <a:ext cx="8229600" cy="3971940"/>
          </a:xfrm>
        </p:spPr>
        <p:txBody>
          <a:bodyPr>
            <a:normAutofit/>
          </a:bodyPr>
          <a:lstStyle/>
          <a:p>
            <a:r>
              <a:rPr kumimoji="1" lang="ja-JP" altLang="en-US" dirty="0" smtClean="0"/>
              <a:t>便利な構文を紹介</a:t>
            </a:r>
            <a:endParaRPr kumimoji="1" lang="en-US" altLang="ja-JP" dirty="0" smtClean="0"/>
          </a:p>
          <a:p>
            <a:pPr lvl="1"/>
            <a:r>
              <a:rPr lang="en-US" altLang="ja-JP" dirty="0" smtClean="0"/>
              <a:t>for</a:t>
            </a:r>
            <a:r>
              <a:rPr lang="ja-JP" altLang="en-US" dirty="0" smtClean="0"/>
              <a:t>文</a:t>
            </a:r>
            <a:endParaRPr kumimoji="1" lang="en-US" altLang="ja-JP" dirty="0" smtClean="0"/>
          </a:p>
          <a:p>
            <a:pPr lvl="1"/>
            <a:r>
              <a:rPr lang="ja-JP" altLang="en-US" dirty="0" smtClean="0"/>
              <a:t>コンマ演算子</a:t>
            </a:r>
            <a:endParaRPr lang="en-US" altLang="ja-JP" dirty="0" smtClean="0"/>
          </a:p>
          <a:p>
            <a:pPr lvl="1"/>
            <a:r>
              <a:rPr lang="ja-JP" altLang="en-US" dirty="0" smtClean="0"/>
              <a:t>増分演算子</a:t>
            </a:r>
            <a:r>
              <a:rPr lang="en-US" altLang="ja-JP" dirty="0" smtClean="0"/>
              <a:t>++</a:t>
            </a:r>
            <a:r>
              <a:rPr lang="ja-JP" altLang="en-US" dirty="0" err="1" smtClean="0"/>
              <a:t>、</a:t>
            </a:r>
            <a:r>
              <a:rPr lang="ja-JP" altLang="en-US" dirty="0" smtClean="0"/>
              <a:t>減分演算子</a:t>
            </a:r>
            <a:r>
              <a:rPr lang="en-US" altLang="ja-JP" dirty="0" smtClean="0"/>
              <a:t>--</a:t>
            </a:r>
            <a:r>
              <a:rPr lang="ja-JP" altLang="en-US" dirty="0" smtClean="0"/>
              <a:t>（それぞれ前置と後置がある）</a:t>
            </a:r>
            <a:endParaRPr lang="en-US" altLang="ja-JP" dirty="0" smtClean="0"/>
          </a:p>
          <a:p>
            <a:r>
              <a:rPr lang="ja-JP" altLang="en-US" dirty="0" smtClean="0"/>
              <a:t>ファイル処理</a:t>
            </a:r>
            <a:endParaRPr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857256"/>
          </a:xfrm>
        </p:spPr>
        <p:txBody>
          <a:bodyPr/>
          <a:lstStyle/>
          <a:p>
            <a:r>
              <a:rPr kumimoji="1" lang="en-US" altLang="ja-JP" dirty="0" smtClean="0"/>
              <a:t>for</a:t>
            </a:r>
            <a:r>
              <a:rPr kumimoji="1" lang="ja-JP" altLang="en-US" dirty="0" smtClean="0"/>
              <a:t>文</a:t>
            </a:r>
            <a:endParaRPr kumimoji="1" lang="ja-JP" altLang="en-US" dirty="0"/>
          </a:p>
        </p:txBody>
      </p:sp>
      <p:sp>
        <p:nvSpPr>
          <p:cNvPr id="4" name="テキスト ボックス 3"/>
          <p:cNvSpPr txBox="1"/>
          <p:nvPr/>
        </p:nvSpPr>
        <p:spPr>
          <a:xfrm>
            <a:off x="571472" y="1214422"/>
            <a:ext cx="8143900" cy="1384995"/>
          </a:xfrm>
          <a:prstGeom prst="rect">
            <a:avLst/>
          </a:prstGeom>
          <a:noFill/>
        </p:spPr>
        <p:txBody>
          <a:bodyPr wrap="square" rtlCol="0">
            <a:spAutoFit/>
          </a:bodyPr>
          <a:lstStyle/>
          <a:p>
            <a:r>
              <a:rPr kumimoji="1" lang="ja-JP" altLang="en-US" sz="2800" dirty="0" smtClean="0"/>
              <a:t>これまでは繰り返しのための構文としては</a:t>
            </a:r>
            <a:r>
              <a:rPr kumimoji="1" lang="en-US" altLang="ja-JP" sz="2800" dirty="0" smtClean="0"/>
              <a:t>while</a:t>
            </a:r>
            <a:r>
              <a:rPr kumimoji="1" lang="ja-JP" altLang="en-US" sz="2800" dirty="0" smtClean="0"/>
              <a:t>文のみを紹介していた。繰り返し構文は配列を扱う場合によく使われる。</a:t>
            </a:r>
            <a:endParaRPr kumimoji="1" lang="en-US" altLang="ja-JP" sz="2800" dirty="0" smtClean="0"/>
          </a:p>
        </p:txBody>
      </p:sp>
      <p:sp>
        <p:nvSpPr>
          <p:cNvPr id="5" name="正方形/長方形 4"/>
          <p:cNvSpPr/>
          <p:nvPr/>
        </p:nvSpPr>
        <p:spPr>
          <a:xfrm>
            <a:off x="1714480" y="3325371"/>
            <a:ext cx="3649608" cy="2246769"/>
          </a:xfrm>
          <a:prstGeom prst="rect">
            <a:avLst/>
          </a:prstGeom>
          <a:ln>
            <a:solidFill>
              <a:schemeClr val="tx1"/>
            </a:solidFill>
          </a:ln>
        </p:spPr>
        <p:txBody>
          <a:bodyPr wrap="square">
            <a:spAutoFit/>
          </a:bodyPr>
          <a:lstStyle/>
          <a:p>
            <a:r>
              <a:rPr lang="en-US" altLang="ja-JP" sz="2800" dirty="0" smtClean="0"/>
              <a:t> </a:t>
            </a:r>
            <a:r>
              <a:rPr lang="en-US" altLang="ja-JP" sz="2800" dirty="0" err="1" smtClean="0"/>
              <a:t>i</a:t>
            </a:r>
            <a:r>
              <a:rPr lang="en-US" altLang="ja-JP" sz="2800" dirty="0" smtClean="0"/>
              <a:t> = 0;</a:t>
            </a:r>
          </a:p>
          <a:p>
            <a:r>
              <a:rPr lang="en-US" altLang="ja-JP" sz="2800" dirty="0" smtClean="0"/>
              <a:t> while (</a:t>
            </a:r>
            <a:r>
              <a:rPr lang="ja-JP" altLang="en-US" sz="2800" dirty="0" smtClean="0"/>
              <a:t>条件式</a:t>
            </a:r>
            <a:r>
              <a:rPr lang="en-US" altLang="ja-JP" sz="2800" dirty="0" smtClean="0"/>
              <a:t>) {</a:t>
            </a:r>
          </a:p>
          <a:p>
            <a:r>
              <a:rPr lang="en-US" altLang="ja-JP" sz="2800" dirty="0" smtClean="0"/>
              <a:t>      … </a:t>
            </a:r>
            <a:r>
              <a:rPr lang="ja-JP" altLang="en-US" sz="2800" dirty="0" smtClean="0"/>
              <a:t>配列の処理 </a:t>
            </a:r>
            <a:r>
              <a:rPr lang="en-US" altLang="ja-JP" sz="2800" dirty="0" smtClean="0"/>
              <a:t>…</a:t>
            </a:r>
          </a:p>
          <a:p>
            <a:r>
              <a:rPr lang="en-US" altLang="ja-JP" sz="2800" dirty="0" smtClean="0"/>
              <a:t>      </a:t>
            </a:r>
            <a:r>
              <a:rPr lang="en-US" altLang="ja-JP" sz="2800" dirty="0" err="1" smtClean="0"/>
              <a:t>i</a:t>
            </a:r>
            <a:r>
              <a:rPr lang="en-US" altLang="ja-JP" sz="2800" dirty="0" smtClean="0"/>
              <a:t> = </a:t>
            </a:r>
            <a:r>
              <a:rPr lang="en-US" altLang="ja-JP" sz="2800" dirty="0" err="1" smtClean="0"/>
              <a:t>i</a:t>
            </a:r>
            <a:r>
              <a:rPr lang="en-US" altLang="ja-JP" sz="2800" dirty="0" smtClean="0"/>
              <a:t> + 1;</a:t>
            </a:r>
          </a:p>
          <a:p>
            <a:r>
              <a:rPr lang="en-US" altLang="ja-JP" sz="2800" dirty="0" smtClean="0"/>
              <a:t> }</a:t>
            </a:r>
            <a:endParaRPr lang="ja-JP" altLang="en-US" sz="2800" dirty="0"/>
          </a:p>
        </p:txBody>
      </p:sp>
      <p:sp>
        <p:nvSpPr>
          <p:cNvPr id="6" name="正方形/長方形 5"/>
          <p:cNvSpPr/>
          <p:nvPr/>
        </p:nvSpPr>
        <p:spPr>
          <a:xfrm>
            <a:off x="928662" y="2714620"/>
            <a:ext cx="4195379" cy="523220"/>
          </a:xfrm>
          <a:prstGeom prst="rect">
            <a:avLst/>
          </a:prstGeom>
        </p:spPr>
        <p:txBody>
          <a:bodyPr wrap="none">
            <a:spAutoFit/>
          </a:bodyPr>
          <a:lstStyle/>
          <a:p>
            <a:r>
              <a:rPr lang="ja-JP" altLang="en-US" sz="2800" dirty="0" smtClean="0"/>
              <a:t>配列の処理の典型的な形</a:t>
            </a:r>
            <a:r>
              <a:rPr lang="en-US" altLang="ja-JP" sz="2800" dirty="0" smtClean="0"/>
              <a:t>:</a:t>
            </a:r>
          </a:p>
        </p:txBody>
      </p:sp>
      <p:sp>
        <p:nvSpPr>
          <p:cNvPr id="7" name="テキスト ボックス 6"/>
          <p:cNvSpPr txBox="1"/>
          <p:nvPr/>
        </p:nvSpPr>
        <p:spPr>
          <a:xfrm>
            <a:off x="428596" y="5761041"/>
            <a:ext cx="8358246" cy="954107"/>
          </a:xfrm>
          <a:prstGeom prst="rect">
            <a:avLst/>
          </a:prstGeom>
          <a:noFill/>
        </p:spPr>
        <p:txBody>
          <a:bodyPr wrap="square" rtlCol="0">
            <a:spAutoFit/>
          </a:bodyPr>
          <a:lstStyle/>
          <a:p>
            <a:r>
              <a:rPr lang="ja-JP" altLang="en-US" sz="2800" dirty="0" smtClean="0"/>
              <a:t>このような形のプログラムを見やすく書くための構文として</a:t>
            </a:r>
            <a:r>
              <a:rPr lang="en-US" altLang="ja-JP" sz="2800" dirty="0" smtClean="0"/>
              <a:t>for</a:t>
            </a:r>
            <a:r>
              <a:rPr lang="ja-JP" altLang="en-US" sz="2800" dirty="0" smtClean="0"/>
              <a:t>文がある。</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for</a:t>
            </a:r>
            <a:r>
              <a:rPr lang="ja-JP" altLang="en-US" dirty="0" smtClean="0"/>
              <a:t>文</a:t>
            </a:r>
            <a:r>
              <a:rPr kumimoji="1" lang="ja-JP" altLang="en-US" dirty="0" smtClean="0"/>
              <a:t>の例（打ち込んで確認）</a:t>
            </a:r>
            <a:endParaRPr kumimoji="1" lang="ja-JP" altLang="en-US" dirty="0"/>
          </a:p>
        </p:txBody>
      </p:sp>
      <p:sp>
        <p:nvSpPr>
          <p:cNvPr id="5" name="正方形/長方形 4"/>
          <p:cNvSpPr/>
          <p:nvPr/>
        </p:nvSpPr>
        <p:spPr>
          <a:xfrm>
            <a:off x="285720" y="1772816"/>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solidFill>
                  <a:srgbClr val="FF0000"/>
                </a:solidFill>
              </a:rPr>
              <a:t>i</a:t>
            </a:r>
            <a:r>
              <a:rPr lang="en-US" altLang="ja-JP" sz="2400" dirty="0" smtClean="0">
                <a:solidFill>
                  <a:srgbClr val="FF0000"/>
                </a:solidFill>
              </a:rPr>
              <a:t>=0</a:t>
            </a:r>
            <a:r>
              <a:rPr lang="en-US" altLang="ja-JP" sz="2400" dirty="0" smtClean="0"/>
              <a:t>; </a:t>
            </a:r>
            <a:r>
              <a:rPr lang="en-US" altLang="ja-JP" sz="2400" dirty="0" err="1" smtClean="0">
                <a:solidFill>
                  <a:srgbClr val="00B050"/>
                </a:solidFill>
              </a:rPr>
              <a:t>i</a:t>
            </a:r>
            <a:r>
              <a:rPr lang="en-US" altLang="ja-JP" sz="2400" dirty="0" smtClean="0">
                <a:solidFill>
                  <a:srgbClr val="00B050"/>
                </a:solidFill>
              </a:rPr>
              <a:t>&lt;5</a:t>
            </a:r>
            <a:r>
              <a:rPr lang="en-US" altLang="ja-JP" sz="2400" dirty="0" smtClean="0"/>
              <a:t>; </a:t>
            </a:r>
            <a:r>
              <a:rPr lang="en-US" altLang="ja-JP" sz="2400" dirty="0" err="1" smtClean="0">
                <a:solidFill>
                  <a:schemeClr val="accent2">
                    <a:lumMod val="75000"/>
                  </a:schemeClr>
                </a:solidFill>
              </a:rPr>
              <a:t>i</a:t>
            </a:r>
            <a:r>
              <a:rPr lang="en-US" altLang="ja-JP" sz="2400" dirty="0" smtClean="0">
                <a:solidFill>
                  <a:schemeClr val="accent2">
                    <a:lumMod val="75000"/>
                  </a:schemeClr>
                </a:solidFill>
              </a:rPr>
              <a:t>=i+1</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6" name="正方形/長方形 5"/>
          <p:cNvSpPr/>
          <p:nvPr/>
        </p:nvSpPr>
        <p:spPr>
          <a:xfrm>
            <a:off x="4644008" y="1700808"/>
            <a:ext cx="4143404" cy="3785652"/>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a:t>
            </a:r>
            <a:r>
              <a:rPr lang="en-US" altLang="ja-JP" sz="2400" dirty="0" err="1" smtClean="0">
                <a:solidFill>
                  <a:srgbClr val="FF0000"/>
                </a:solidFill>
              </a:rPr>
              <a:t>i</a:t>
            </a:r>
            <a:r>
              <a:rPr lang="en-US" altLang="ja-JP" sz="2400" dirty="0" smtClean="0">
                <a:solidFill>
                  <a:srgbClr val="FF0000"/>
                </a:solidFill>
              </a:rPr>
              <a:t>=0</a:t>
            </a:r>
            <a:r>
              <a:rPr lang="en-US" altLang="ja-JP" sz="2400" dirty="0" smtClean="0"/>
              <a:t>;</a:t>
            </a:r>
          </a:p>
          <a:p>
            <a:r>
              <a:rPr lang="en-US" altLang="ja-JP" sz="2400" dirty="0" smtClean="0"/>
              <a:t>  while (</a:t>
            </a:r>
            <a:r>
              <a:rPr lang="en-US" altLang="ja-JP" sz="2400" dirty="0" err="1" smtClean="0">
                <a:solidFill>
                  <a:srgbClr val="00B050"/>
                </a:solidFill>
              </a:rPr>
              <a:t>i</a:t>
            </a:r>
            <a:r>
              <a:rPr lang="en-US" altLang="ja-JP" sz="2400" dirty="0" smtClean="0">
                <a:solidFill>
                  <a:srgbClr val="00B050"/>
                </a:solidFill>
              </a:rPr>
              <a:t>&lt;5</a:t>
            </a:r>
            <a:r>
              <a:rPr lang="en-US" altLang="ja-JP" sz="2400" dirty="0" smtClean="0"/>
              <a:t>) {</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a:t>
            </a:r>
            <a:r>
              <a:rPr lang="en-US" altLang="ja-JP" sz="2400" dirty="0" err="1" smtClean="0">
                <a:solidFill>
                  <a:schemeClr val="accent2">
                    <a:lumMod val="75000"/>
                  </a:schemeClr>
                </a:solidFill>
              </a:rPr>
              <a:t>i</a:t>
            </a:r>
            <a:r>
              <a:rPr lang="en-US" altLang="ja-JP" sz="2400" dirty="0" smtClean="0">
                <a:solidFill>
                  <a:schemeClr val="accent2">
                    <a:lumMod val="75000"/>
                  </a:schemeClr>
                </a:solidFill>
              </a:rPr>
              <a:t>=i+1</a:t>
            </a:r>
            <a:r>
              <a:rPr lang="en-US" altLang="ja-JP" sz="2400" dirty="0" smtClean="0"/>
              <a:t>;</a:t>
            </a:r>
          </a:p>
          <a:p>
            <a:r>
              <a:rPr lang="en-US" altLang="ja-JP" sz="2400" dirty="0" smtClean="0"/>
              <a:t>  }</a:t>
            </a:r>
          </a:p>
          <a:p>
            <a:r>
              <a:rPr lang="en-US" altLang="ja-JP" sz="2400" dirty="0" smtClean="0"/>
              <a:t>  return 0;</a:t>
            </a:r>
          </a:p>
          <a:p>
            <a:r>
              <a:rPr lang="en-US" altLang="ja-JP" sz="2400" dirty="0" smtClean="0"/>
              <a:t>}</a:t>
            </a:r>
            <a:endParaRPr lang="en-US" altLang="ja-JP" sz="2400" dirty="0"/>
          </a:p>
        </p:txBody>
      </p:sp>
      <p:sp>
        <p:nvSpPr>
          <p:cNvPr id="7" name="テキスト ボックス 6"/>
          <p:cNvSpPr txBox="1"/>
          <p:nvPr/>
        </p:nvSpPr>
        <p:spPr>
          <a:xfrm>
            <a:off x="1785918" y="6000768"/>
            <a:ext cx="6066084" cy="523220"/>
          </a:xfrm>
          <a:prstGeom prst="rect">
            <a:avLst/>
          </a:prstGeom>
          <a:noFill/>
        </p:spPr>
        <p:txBody>
          <a:bodyPr wrap="none" rtlCol="0">
            <a:spAutoFit/>
          </a:bodyPr>
          <a:lstStyle/>
          <a:p>
            <a:r>
              <a:rPr kumimoji="1" lang="ja-JP" altLang="en-US" sz="2800" dirty="0" smtClean="0"/>
              <a:t>左と右のプログラムは同じ意味である。</a:t>
            </a:r>
            <a:endParaRPr kumimoji="1"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f</a:t>
            </a:r>
            <a:r>
              <a:rPr kumimoji="1" lang="en-US" altLang="ja-JP" dirty="0" smtClean="0"/>
              <a:t>or</a:t>
            </a:r>
            <a:r>
              <a:rPr lang="ja-JP" altLang="en-US" dirty="0" smtClean="0"/>
              <a:t>文</a:t>
            </a:r>
            <a:r>
              <a:rPr kumimoji="1" lang="ja-JP" altLang="en-US" dirty="0" smtClean="0"/>
              <a:t>の構文（基本形）</a:t>
            </a:r>
            <a:endParaRPr kumimoji="1" lang="ja-JP" altLang="en-US" dirty="0"/>
          </a:p>
        </p:txBody>
      </p:sp>
      <p:sp>
        <p:nvSpPr>
          <p:cNvPr id="4" name="テキスト ボックス 3"/>
          <p:cNvSpPr txBox="1"/>
          <p:nvPr/>
        </p:nvSpPr>
        <p:spPr>
          <a:xfrm>
            <a:off x="714348" y="1357298"/>
            <a:ext cx="2036583" cy="523220"/>
          </a:xfrm>
          <a:prstGeom prst="rect">
            <a:avLst/>
          </a:prstGeom>
          <a:noFill/>
        </p:spPr>
        <p:txBody>
          <a:bodyPr wrap="none" rtlCol="0">
            <a:spAutoFit/>
          </a:bodyPr>
          <a:lstStyle/>
          <a:p>
            <a:r>
              <a:rPr lang="en-US" altLang="ja-JP" sz="2800" dirty="0" smtClean="0"/>
              <a:t>f</a:t>
            </a:r>
            <a:r>
              <a:rPr kumimoji="1" lang="en-US" altLang="ja-JP" sz="2800" dirty="0" smtClean="0"/>
              <a:t>or</a:t>
            </a:r>
            <a:r>
              <a:rPr kumimoji="1" lang="ja-JP" altLang="en-US" sz="2800" dirty="0" smtClean="0"/>
              <a:t>文の構文</a:t>
            </a:r>
            <a:endParaRPr kumimoji="1" lang="ja-JP" altLang="en-US" sz="2800" dirty="0"/>
          </a:p>
        </p:txBody>
      </p:sp>
      <p:sp>
        <p:nvSpPr>
          <p:cNvPr id="5" name="Text Box 5"/>
          <p:cNvSpPr txBox="1">
            <a:spLocks noChangeArrowheads="1"/>
          </p:cNvSpPr>
          <p:nvPr/>
        </p:nvSpPr>
        <p:spPr bwMode="auto">
          <a:xfrm>
            <a:off x="1643042" y="2143116"/>
            <a:ext cx="2996782"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en-US" altLang="ja-JP" sz="2800" dirty="0" smtClean="0">
                <a:ea typeface="ＭＳ Ｐゴシック" charset="-128"/>
              </a:rPr>
              <a:t>for</a:t>
            </a:r>
            <a:r>
              <a:rPr lang="ja-JP" altLang="en-US" sz="2800" dirty="0" smtClean="0">
                <a:ea typeface="ＭＳ Ｐゴシック" charset="-128"/>
              </a:rPr>
              <a:t> </a:t>
            </a:r>
            <a:r>
              <a:rPr lang="ja-JP" altLang="en-US" sz="2800" dirty="0">
                <a:ea typeface="ＭＳ Ｐゴシック" charset="-128"/>
              </a:rPr>
              <a:t>（</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 </a:t>
            </a:r>
            <a:r>
              <a:rPr lang="ja-JP" altLang="en-US" sz="2800" dirty="0">
                <a:ea typeface="ＭＳ Ｐゴシック" charset="-128"/>
              </a:rPr>
              <a:t>文</a:t>
            </a:r>
          </a:p>
        </p:txBody>
      </p:sp>
      <p:sp>
        <p:nvSpPr>
          <p:cNvPr id="6" name="テキスト ボックス 11"/>
          <p:cNvSpPr txBox="1">
            <a:spLocks noChangeArrowheads="1"/>
          </p:cNvSpPr>
          <p:nvPr/>
        </p:nvSpPr>
        <p:spPr bwMode="auto">
          <a:xfrm>
            <a:off x="642910" y="2928934"/>
            <a:ext cx="4821448" cy="523220"/>
          </a:xfrm>
          <a:prstGeom prst="rect">
            <a:avLst/>
          </a:prstGeom>
          <a:noFill/>
          <a:ln w="9525">
            <a:noFill/>
            <a:miter lim="800000"/>
            <a:headEnd/>
            <a:tailEnd/>
          </a:ln>
        </p:spPr>
        <p:txBody>
          <a:bodyPr wrap="none">
            <a:spAutoFit/>
          </a:bodyPr>
          <a:lstStyle/>
          <a:p>
            <a:r>
              <a:rPr lang="en-US" altLang="ja-JP" sz="2800" dirty="0" smtClean="0"/>
              <a:t> for</a:t>
            </a:r>
            <a:r>
              <a:rPr kumimoji="1" lang="ja-JP" altLang="en-US" sz="2800" dirty="0" smtClean="0"/>
              <a:t>文  </a:t>
            </a:r>
            <a:r>
              <a:rPr kumimoji="1" lang="en-US" altLang="ja-JP" sz="2800" dirty="0" smtClean="0">
                <a:solidFill>
                  <a:srgbClr val="FF0000"/>
                </a:solidFill>
              </a:rPr>
              <a:t>for </a:t>
            </a:r>
            <a:r>
              <a:rPr kumimoji="1" lang="en-US" altLang="ja-JP" sz="2800" dirty="0">
                <a:solidFill>
                  <a:srgbClr val="FF0000"/>
                </a:solidFill>
              </a:rPr>
              <a:t>(</a:t>
            </a:r>
            <a:r>
              <a:rPr kumimoji="1" lang="en-US" altLang="ja-JP" sz="2800" dirty="0" smtClean="0">
                <a:solidFill>
                  <a:srgbClr val="FF0000"/>
                </a:solidFill>
              </a:rPr>
              <a:t>e1; e2; e3) </a:t>
            </a:r>
            <a:r>
              <a:rPr kumimoji="1" lang="en-US" altLang="ja-JP" sz="2800" dirty="0">
                <a:solidFill>
                  <a:srgbClr val="FF0000"/>
                </a:solidFill>
              </a:rPr>
              <a:t>s  </a:t>
            </a:r>
            <a:r>
              <a:rPr kumimoji="1" lang="ja-JP" altLang="en-US" sz="2800" dirty="0"/>
              <a:t>の意味</a:t>
            </a:r>
            <a:endParaRPr kumimoji="1" lang="en-US" altLang="ja-JP" sz="2800" dirty="0"/>
          </a:p>
        </p:txBody>
      </p:sp>
      <p:sp>
        <p:nvSpPr>
          <p:cNvPr id="7" name="テキスト ボックス 6"/>
          <p:cNvSpPr txBox="1"/>
          <p:nvPr/>
        </p:nvSpPr>
        <p:spPr>
          <a:xfrm>
            <a:off x="1643042" y="3571876"/>
            <a:ext cx="3071834" cy="2677656"/>
          </a:xfrm>
          <a:prstGeom prst="rect">
            <a:avLst/>
          </a:prstGeom>
          <a:solidFill>
            <a:srgbClr val="92D050"/>
          </a:solidFill>
          <a:ln>
            <a:solidFill>
              <a:schemeClr val="tx1"/>
            </a:solidFill>
          </a:ln>
        </p:spPr>
        <p:txBody>
          <a:bodyPr wrap="square" rtlCol="0">
            <a:spAutoFit/>
          </a:bodyPr>
          <a:lstStyle/>
          <a:p>
            <a:r>
              <a:rPr lang="en-US" altLang="ja-JP" sz="2800" dirty="0" smtClean="0"/>
              <a:t>e1;</a:t>
            </a:r>
          </a:p>
          <a:p>
            <a:r>
              <a:rPr lang="en-US" altLang="ja-JP" sz="2800" dirty="0" smtClean="0"/>
              <a:t>while (e2) { </a:t>
            </a:r>
          </a:p>
          <a:p>
            <a:r>
              <a:rPr lang="en-US" altLang="ja-JP" sz="2800" dirty="0" smtClean="0"/>
              <a:t>    s</a:t>
            </a:r>
          </a:p>
          <a:p>
            <a:r>
              <a:rPr lang="en-US" altLang="ja-JP" sz="2800" dirty="0" smtClean="0"/>
              <a:t>    e3;</a:t>
            </a:r>
          </a:p>
          <a:p>
            <a:r>
              <a:rPr lang="en-US" altLang="ja-JP" sz="2800" dirty="0" smtClean="0"/>
              <a:t>}</a:t>
            </a:r>
          </a:p>
          <a:p>
            <a:r>
              <a:rPr lang="ja-JP" altLang="en-US" sz="2800" dirty="0" smtClean="0"/>
              <a:t>と同じ意味である。</a:t>
            </a:r>
            <a:endParaRPr lang="en-US" altLang="ja-JP" sz="2800" dirty="0" smtClean="0"/>
          </a:p>
        </p:txBody>
      </p:sp>
      <p:sp>
        <p:nvSpPr>
          <p:cNvPr id="8" name="テキスト ボックス 7"/>
          <p:cNvSpPr txBox="1"/>
          <p:nvPr/>
        </p:nvSpPr>
        <p:spPr>
          <a:xfrm>
            <a:off x="5572132" y="3714752"/>
            <a:ext cx="3214678" cy="2862322"/>
          </a:xfrm>
          <a:prstGeom prst="rect">
            <a:avLst/>
          </a:prstGeom>
          <a:noFill/>
        </p:spPr>
        <p:txBody>
          <a:bodyPr wrap="square" rtlCol="0">
            <a:spAutoFit/>
          </a:bodyPr>
          <a:lstStyle/>
          <a:p>
            <a:r>
              <a:rPr lang="ja-JP" altLang="en-US" sz="2000" dirty="0" smtClean="0"/>
              <a:t>（注意）</a:t>
            </a:r>
            <a:r>
              <a:rPr lang="en-US" altLang="ja-JP" sz="2000" dirty="0" smtClean="0"/>
              <a:t>1999</a:t>
            </a:r>
            <a:r>
              <a:rPr lang="ja-JP" altLang="en-US" sz="2000" dirty="0" smtClean="0"/>
              <a:t>年の</a:t>
            </a:r>
            <a:r>
              <a:rPr lang="en-US" altLang="ja-JP" sz="2000" dirty="0" smtClean="0"/>
              <a:t>ISO</a:t>
            </a:r>
            <a:r>
              <a:rPr lang="ja-JP" altLang="en-US" sz="2000" dirty="0" smtClean="0"/>
              <a:t>規格</a:t>
            </a:r>
            <a:r>
              <a:rPr lang="en-US" altLang="ja-JP" sz="2000" dirty="0" smtClean="0"/>
              <a:t>(C99)</a:t>
            </a:r>
            <a:r>
              <a:rPr lang="ja-JP" altLang="en-US" sz="2000" dirty="0" smtClean="0"/>
              <a:t>においては</a:t>
            </a:r>
            <a:r>
              <a:rPr lang="en-US" altLang="ja-JP" sz="2000" dirty="0" smtClean="0"/>
              <a:t>e1</a:t>
            </a:r>
            <a:r>
              <a:rPr lang="ja-JP" altLang="en-US" sz="2000" dirty="0" smtClean="0"/>
              <a:t>のところに変数</a:t>
            </a:r>
            <a:r>
              <a:rPr kumimoji="1" lang="ja-JP" altLang="en-US" sz="2000" dirty="0" smtClean="0"/>
              <a:t>宣言（</a:t>
            </a:r>
            <a:r>
              <a:rPr kumimoji="1" lang="en-US" altLang="ja-JP" sz="2000" dirty="0" smtClean="0"/>
              <a:t>for</a:t>
            </a:r>
            <a:r>
              <a:rPr kumimoji="1" lang="ja-JP" altLang="en-US" sz="2000" dirty="0" smtClean="0"/>
              <a:t>文内部でのみ有効）が書ける</a:t>
            </a:r>
            <a:r>
              <a:rPr lang="ja-JP" altLang="en-US" sz="2000" dirty="0" smtClean="0"/>
              <a:t>ように</a:t>
            </a:r>
            <a:r>
              <a:rPr lang="en-US" altLang="ja-JP" sz="2000" dirty="0" smtClean="0"/>
              <a:t>for</a:t>
            </a:r>
            <a:r>
              <a:rPr lang="ja-JP" altLang="en-US" sz="2000" dirty="0" smtClean="0"/>
              <a:t>文の定義が拡張されている</a:t>
            </a:r>
            <a:r>
              <a:rPr kumimoji="1" lang="ja-JP" altLang="en-US" sz="2000" dirty="0" smtClean="0"/>
              <a:t>。</a:t>
            </a:r>
            <a:endParaRPr lang="en-US" altLang="ja-JP" sz="2000" dirty="0" smtClean="0"/>
          </a:p>
          <a:p>
            <a:r>
              <a:rPr lang="en-US" altLang="ja-JP" sz="2000" dirty="0" smtClean="0"/>
              <a:t>e1</a:t>
            </a:r>
            <a:r>
              <a:rPr lang="ja-JP" altLang="en-US" sz="2000" dirty="0" smtClean="0"/>
              <a:t>のところが変数宣言の場合は、左の置き換えはできない（変数の有効範囲が変わってしまうので）。</a:t>
            </a:r>
            <a:endParaRPr kumimoji="1" lang="ja-JP" alt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例（打ち込んで確認）</a:t>
            </a:r>
            <a:endParaRPr kumimoji="1" lang="ja-JP" altLang="en-US" dirty="0"/>
          </a:p>
        </p:txBody>
      </p:sp>
      <p:sp>
        <p:nvSpPr>
          <p:cNvPr id="6" name="正方形/長方形 5"/>
          <p:cNvSpPr/>
          <p:nvPr/>
        </p:nvSpPr>
        <p:spPr>
          <a:xfrm>
            <a:off x="500034" y="1571612"/>
            <a:ext cx="5357850" cy="4401205"/>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sum=0, a[5]={1,2,3,4,5};</a:t>
            </a:r>
          </a:p>
          <a:p>
            <a:r>
              <a:rPr lang="en-US" altLang="ja-JP" sz="2800" dirty="0" smtClean="0"/>
              <a:t>  for (</a:t>
            </a:r>
            <a:r>
              <a:rPr lang="en-US" altLang="ja-JP" sz="2800" dirty="0" err="1" smtClean="0"/>
              <a:t>i</a:t>
            </a:r>
            <a:r>
              <a:rPr lang="en-US" altLang="ja-JP" sz="2800" dirty="0" smtClean="0"/>
              <a:t>=0; </a:t>
            </a:r>
            <a:r>
              <a:rPr lang="en-US" altLang="ja-JP" sz="2800" dirty="0" err="1" smtClean="0"/>
              <a:t>i</a:t>
            </a:r>
            <a:r>
              <a:rPr lang="en-US" altLang="ja-JP" sz="2800" dirty="0" smtClean="0"/>
              <a:t>&lt;5; </a:t>
            </a:r>
            <a:r>
              <a:rPr lang="en-US" altLang="ja-JP" sz="2800" dirty="0" err="1" smtClean="0"/>
              <a:t>i</a:t>
            </a:r>
            <a:r>
              <a:rPr lang="en-US" altLang="ja-JP" sz="2800" dirty="0" smtClean="0"/>
              <a:t>=i+1) </a:t>
            </a:r>
            <a:r>
              <a:rPr lang="en-US" altLang="ja-JP" sz="2800" dirty="0" smtClean="0">
                <a:solidFill>
                  <a:srgbClr val="FF0000"/>
                </a:solidFill>
              </a:rPr>
              <a:t>{</a:t>
            </a:r>
          </a:p>
          <a:p>
            <a:r>
              <a:rPr lang="en-US" altLang="ja-JP" sz="2800" dirty="0" smtClean="0">
                <a:solidFill>
                  <a:srgbClr val="FF0000"/>
                </a:solidFill>
              </a:rPr>
              <a:t>    </a:t>
            </a:r>
            <a:r>
              <a:rPr lang="en-US" altLang="ja-JP" sz="2800" dirty="0" err="1" smtClean="0">
                <a:solidFill>
                  <a:srgbClr val="FF0000"/>
                </a:solidFill>
              </a:rPr>
              <a:t>printf</a:t>
            </a:r>
            <a:r>
              <a:rPr lang="en-US" altLang="ja-JP" sz="2800" dirty="0" smtClean="0">
                <a:solidFill>
                  <a:srgbClr val="FF0000"/>
                </a:solidFill>
              </a:rPr>
              <a:t> ("a[%d]=%d\n", </a:t>
            </a:r>
            <a:r>
              <a:rPr lang="en-US" altLang="ja-JP" sz="2800" dirty="0" err="1" smtClean="0">
                <a:solidFill>
                  <a:srgbClr val="FF0000"/>
                </a:solidFill>
              </a:rPr>
              <a:t>i</a:t>
            </a:r>
            <a:r>
              <a:rPr lang="en-US" altLang="ja-JP" sz="2800" dirty="0" smtClean="0">
                <a:solidFill>
                  <a:srgbClr val="FF0000"/>
                </a:solidFill>
              </a:rPr>
              <a:t>, a[</a:t>
            </a:r>
            <a:r>
              <a:rPr lang="en-US" altLang="ja-JP" sz="2800" dirty="0" err="1" smtClean="0">
                <a:solidFill>
                  <a:srgbClr val="FF0000"/>
                </a:solidFill>
              </a:rPr>
              <a:t>i</a:t>
            </a:r>
            <a:r>
              <a:rPr lang="en-US" altLang="ja-JP" sz="2800" dirty="0" smtClean="0">
                <a:solidFill>
                  <a:srgbClr val="FF0000"/>
                </a:solidFill>
              </a:rPr>
              <a:t>]);</a:t>
            </a:r>
          </a:p>
          <a:p>
            <a:r>
              <a:rPr lang="en-US" altLang="ja-JP" sz="2800" dirty="0" smtClean="0">
                <a:solidFill>
                  <a:srgbClr val="FF0000"/>
                </a:solidFill>
              </a:rPr>
              <a:t>    sum = sum + a[</a:t>
            </a:r>
            <a:r>
              <a:rPr lang="en-US" altLang="ja-JP" sz="2800" dirty="0" err="1" smtClean="0">
                <a:solidFill>
                  <a:srgbClr val="FF0000"/>
                </a:solidFill>
              </a:rPr>
              <a:t>i</a:t>
            </a:r>
            <a:r>
              <a:rPr lang="en-US" altLang="ja-JP" sz="2800" dirty="0" smtClean="0">
                <a:solidFill>
                  <a:srgbClr val="FF0000"/>
                </a:solidFill>
              </a:rPr>
              <a:t>];</a:t>
            </a:r>
          </a:p>
          <a:p>
            <a:r>
              <a:rPr lang="en-US" altLang="ja-JP" sz="2800" dirty="0" smtClean="0">
                <a:solidFill>
                  <a:srgbClr val="FF0000"/>
                </a:solidFill>
              </a:rPr>
              <a:t>  }</a:t>
            </a:r>
          </a:p>
          <a:p>
            <a:r>
              <a:rPr lang="en-US" altLang="ja-JP" sz="2800" dirty="0" smtClean="0"/>
              <a:t>  </a:t>
            </a:r>
            <a:r>
              <a:rPr lang="en-US" altLang="ja-JP" sz="2800" dirty="0" err="1" smtClean="0"/>
              <a:t>printf</a:t>
            </a:r>
            <a:r>
              <a:rPr lang="en-US" altLang="ja-JP" sz="2800" dirty="0" smtClean="0"/>
              <a:t> ("sum=%d\n", sum);</a:t>
            </a:r>
          </a:p>
          <a:p>
            <a:r>
              <a:rPr lang="en-US" altLang="ja-JP" sz="2800" dirty="0" smtClean="0"/>
              <a:t>  return 0;</a:t>
            </a:r>
          </a:p>
          <a:p>
            <a:r>
              <a:rPr lang="en-US" altLang="ja-JP" sz="2800" dirty="0" smtClean="0"/>
              <a:t>}</a:t>
            </a:r>
            <a:endParaRPr lang="en-US" altLang="ja-JP" sz="2800" dirty="0"/>
          </a:p>
        </p:txBody>
      </p:sp>
      <p:sp>
        <p:nvSpPr>
          <p:cNvPr id="7" name="テキスト ボックス 6"/>
          <p:cNvSpPr txBox="1"/>
          <p:nvPr/>
        </p:nvSpPr>
        <p:spPr>
          <a:xfrm>
            <a:off x="6072198" y="1571612"/>
            <a:ext cx="2357454" cy="1200329"/>
          </a:xfrm>
          <a:prstGeom prst="rect">
            <a:avLst/>
          </a:prstGeom>
          <a:noFill/>
          <a:ln>
            <a:noFill/>
          </a:ln>
        </p:spPr>
        <p:txBody>
          <a:bodyPr wrap="square" rtlCol="0">
            <a:spAutoFit/>
          </a:bodyPr>
          <a:lstStyle/>
          <a:p>
            <a:r>
              <a:rPr lang="ja-JP" altLang="en-US" sz="2400" dirty="0" smtClean="0"/>
              <a:t>配列</a:t>
            </a:r>
            <a:r>
              <a:rPr lang="en-US" altLang="ja-JP" sz="2400" dirty="0" smtClean="0"/>
              <a:t>a</a:t>
            </a:r>
            <a:r>
              <a:rPr lang="ja-JP" altLang="en-US" sz="2400" dirty="0" smtClean="0"/>
              <a:t>の要素の和を表示するプログラムである。</a:t>
            </a:r>
            <a:endParaRPr kumimoji="1" lang="ja-JP" altLang="en-US" sz="2400" dirty="0"/>
          </a:p>
        </p:txBody>
      </p:sp>
      <p:sp>
        <p:nvSpPr>
          <p:cNvPr id="8" name="テキスト ボックス 7"/>
          <p:cNvSpPr txBox="1"/>
          <p:nvPr/>
        </p:nvSpPr>
        <p:spPr>
          <a:xfrm>
            <a:off x="6000760" y="3143248"/>
            <a:ext cx="2571768" cy="1200329"/>
          </a:xfrm>
          <a:prstGeom prst="rect">
            <a:avLst/>
          </a:prstGeom>
          <a:noFill/>
          <a:ln>
            <a:solidFill>
              <a:schemeClr val="tx1"/>
            </a:solidFill>
          </a:ln>
        </p:spPr>
        <p:txBody>
          <a:bodyPr wrap="square" rtlCol="0">
            <a:spAutoFit/>
          </a:bodyPr>
          <a:lstStyle/>
          <a:p>
            <a:r>
              <a:rPr kumimoji="1" lang="ja-JP" altLang="en-US" sz="2400" dirty="0" smtClean="0"/>
              <a:t>この例では、</a:t>
            </a:r>
            <a:r>
              <a:rPr kumimoji="1" lang="en-US" altLang="ja-JP" sz="2400" dirty="0" smtClean="0"/>
              <a:t>for</a:t>
            </a:r>
            <a:r>
              <a:rPr lang="ja-JP" altLang="en-US" sz="2400" dirty="0" smtClean="0"/>
              <a:t>文の本体</a:t>
            </a:r>
            <a:r>
              <a:rPr lang="en-US" altLang="ja-JP" sz="2400" dirty="0" smtClean="0"/>
              <a:t>(</a:t>
            </a:r>
            <a:r>
              <a:rPr lang="ja-JP" altLang="en-US" sz="2400" dirty="0" smtClean="0"/>
              <a:t>赤字部分</a:t>
            </a:r>
            <a:r>
              <a:rPr lang="en-US" altLang="ja-JP" sz="2400" dirty="0" smtClean="0"/>
              <a:t>)</a:t>
            </a:r>
            <a:r>
              <a:rPr lang="ja-JP" altLang="en-US" sz="2400" dirty="0" smtClean="0"/>
              <a:t>が複合文である。</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while</a:t>
            </a:r>
            <a:r>
              <a:rPr lang="ja-JP" altLang="en-US" dirty="0" smtClean="0"/>
              <a:t>文を使った場合</a:t>
            </a:r>
            <a:endParaRPr kumimoji="1" lang="ja-JP" altLang="en-US" dirty="0"/>
          </a:p>
        </p:txBody>
      </p:sp>
      <p:sp>
        <p:nvSpPr>
          <p:cNvPr id="4" name="正方形/長方形 3"/>
          <p:cNvSpPr/>
          <p:nvPr/>
        </p:nvSpPr>
        <p:spPr>
          <a:xfrm>
            <a:off x="571472" y="1452169"/>
            <a:ext cx="4714908"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sum=0, a[5]={1,2,3,4,5};</a:t>
            </a:r>
          </a:p>
          <a:p>
            <a:r>
              <a:rPr lang="en-US" altLang="ja-JP" sz="2400" dirty="0" smtClean="0"/>
              <a:t>  </a:t>
            </a:r>
            <a:r>
              <a:rPr lang="en-US" altLang="ja-JP" sz="2400" dirty="0" err="1" smtClean="0"/>
              <a:t>i</a:t>
            </a:r>
            <a:r>
              <a:rPr lang="en-US" altLang="ja-JP" sz="2400" dirty="0" smtClean="0"/>
              <a:t>=0;  </a:t>
            </a:r>
          </a:p>
          <a:p>
            <a:r>
              <a:rPr lang="en-US" altLang="ja-JP" sz="2400" dirty="0" smtClean="0"/>
              <a:t>  while (</a:t>
            </a:r>
            <a:r>
              <a:rPr lang="en-US" altLang="ja-JP" sz="2400" dirty="0" err="1" smtClean="0"/>
              <a:t>i</a:t>
            </a:r>
            <a:r>
              <a:rPr lang="en-US" altLang="ja-JP" sz="2400" dirty="0" smtClean="0"/>
              <a:t>&lt;5) {</a:t>
            </a:r>
          </a:p>
          <a:p>
            <a:r>
              <a:rPr lang="en-US" altLang="ja-JP" sz="2400" dirty="0" smtClean="0">
                <a:solidFill>
                  <a:srgbClr val="FF0000"/>
                </a:solidFill>
              </a:rPr>
              <a:t>    {</a:t>
            </a:r>
          </a:p>
          <a:p>
            <a:r>
              <a:rPr lang="en-US" altLang="ja-JP" sz="2400" dirty="0" smtClean="0">
                <a:solidFill>
                  <a:srgbClr val="FF0000"/>
                </a:solidFill>
              </a:rPr>
              <a:t>        </a:t>
            </a:r>
            <a:r>
              <a:rPr lang="en-US" altLang="ja-JP" sz="2400" dirty="0" err="1" smtClean="0">
                <a:solidFill>
                  <a:srgbClr val="FF0000"/>
                </a:solidFill>
              </a:rPr>
              <a:t>printf</a:t>
            </a:r>
            <a:r>
              <a:rPr lang="en-US" altLang="ja-JP" sz="2400" dirty="0" smtClean="0">
                <a:solidFill>
                  <a:srgbClr val="FF0000"/>
                </a:solidFill>
              </a:rPr>
              <a:t> ("a[%d]=%d\n", </a:t>
            </a:r>
            <a:r>
              <a:rPr lang="en-US" altLang="ja-JP" sz="2400" dirty="0" err="1" smtClean="0">
                <a:solidFill>
                  <a:srgbClr val="FF0000"/>
                </a:solidFill>
              </a:rPr>
              <a:t>i</a:t>
            </a:r>
            <a:r>
              <a:rPr lang="en-US" altLang="ja-JP" sz="2400" dirty="0" smtClean="0">
                <a:solidFill>
                  <a:srgbClr val="FF0000"/>
                </a:solidFill>
              </a:rPr>
              <a:t>, a[</a:t>
            </a:r>
            <a:r>
              <a:rPr lang="en-US" altLang="ja-JP" sz="2400" dirty="0" err="1" smtClean="0">
                <a:solidFill>
                  <a:srgbClr val="FF0000"/>
                </a:solidFill>
              </a:rPr>
              <a:t>i</a:t>
            </a:r>
            <a:r>
              <a:rPr lang="en-US" altLang="ja-JP" sz="2400" dirty="0" smtClean="0">
                <a:solidFill>
                  <a:srgbClr val="FF0000"/>
                </a:solidFill>
              </a:rPr>
              <a:t>]);</a:t>
            </a:r>
          </a:p>
          <a:p>
            <a:r>
              <a:rPr lang="en-US" altLang="ja-JP" sz="2400" dirty="0" smtClean="0">
                <a:solidFill>
                  <a:srgbClr val="FF0000"/>
                </a:solidFill>
              </a:rPr>
              <a:t>        sum = sum + a[</a:t>
            </a:r>
            <a:r>
              <a:rPr lang="en-US" altLang="ja-JP" sz="2400" dirty="0" err="1" smtClean="0">
                <a:solidFill>
                  <a:srgbClr val="FF0000"/>
                </a:solidFill>
              </a:rPr>
              <a:t>i</a:t>
            </a:r>
            <a:r>
              <a:rPr lang="en-US" altLang="ja-JP" sz="2400" dirty="0" smtClean="0">
                <a:solidFill>
                  <a:srgbClr val="FF0000"/>
                </a:solidFill>
              </a:rPr>
              <a:t>];</a:t>
            </a:r>
          </a:p>
          <a:p>
            <a:r>
              <a:rPr lang="en-US" altLang="ja-JP" sz="2400" dirty="0" smtClean="0">
                <a:solidFill>
                  <a:srgbClr val="FF0000"/>
                </a:solidFill>
              </a:rPr>
              <a:t>    }</a:t>
            </a:r>
          </a:p>
          <a:p>
            <a:r>
              <a:rPr lang="en-US" altLang="ja-JP" sz="2400" dirty="0" smtClean="0">
                <a:solidFill>
                  <a:srgbClr val="FF0000"/>
                </a:solidFill>
              </a:rPr>
              <a:t>    </a:t>
            </a:r>
            <a:r>
              <a:rPr lang="en-US" altLang="ja-JP" sz="2400" dirty="0" err="1" smtClean="0"/>
              <a:t>i</a:t>
            </a:r>
            <a:r>
              <a:rPr lang="en-US" altLang="ja-JP" sz="2400" dirty="0" smtClean="0"/>
              <a:t>=i+1;</a:t>
            </a:r>
          </a:p>
          <a:p>
            <a:r>
              <a:rPr lang="en-US" altLang="ja-JP" sz="2400" dirty="0" smtClean="0"/>
              <a:t>  }</a:t>
            </a:r>
          </a:p>
          <a:p>
            <a:r>
              <a:rPr lang="en-US" altLang="ja-JP" sz="2400" dirty="0" smtClean="0"/>
              <a:t>  </a:t>
            </a:r>
            <a:r>
              <a:rPr lang="en-US" altLang="ja-JP" sz="2400" dirty="0" err="1" smtClean="0"/>
              <a:t>printf</a:t>
            </a:r>
            <a:r>
              <a:rPr lang="en-US" altLang="ja-JP" sz="2400" dirty="0" smtClean="0"/>
              <a:t> ("sum=%d\n", sum);</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5572132" y="1571612"/>
            <a:ext cx="2928958" cy="1938992"/>
          </a:xfrm>
          <a:prstGeom prst="rect">
            <a:avLst/>
          </a:prstGeom>
          <a:noFill/>
        </p:spPr>
        <p:txBody>
          <a:bodyPr wrap="square" rtlCol="0">
            <a:spAutoFit/>
          </a:bodyPr>
          <a:lstStyle/>
          <a:p>
            <a:r>
              <a:rPr lang="ja-JP" altLang="en-US" sz="2400" dirty="0" smtClean="0"/>
              <a:t>前ページの</a:t>
            </a:r>
            <a:r>
              <a:rPr kumimoji="1" lang="ja-JP" altLang="en-US" sz="2400" dirty="0" smtClean="0"/>
              <a:t>プログラムをさきほどの説明の通り</a:t>
            </a:r>
            <a:r>
              <a:rPr kumimoji="1" lang="en-US" altLang="ja-JP" sz="2400" dirty="0" smtClean="0"/>
              <a:t>while</a:t>
            </a:r>
            <a:r>
              <a:rPr lang="ja-JP" altLang="en-US" sz="2400" dirty="0" smtClean="0"/>
              <a:t>文で置き換えると左のプログラムになる。</a:t>
            </a:r>
            <a:endParaRPr lang="en-US" altLang="ja-JP" sz="2400" dirty="0" smtClean="0"/>
          </a:p>
        </p:txBody>
      </p:sp>
      <p:sp>
        <p:nvSpPr>
          <p:cNvPr id="6" name="テキスト ボックス 5"/>
          <p:cNvSpPr txBox="1"/>
          <p:nvPr/>
        </p:nvSpPr>
        <p:spPr>
          <a:xfrm>
            <a:off x="5500694" y="4002480"/>
            <a:ext cx="3175762" cy="1200329"/>
          </a:xfrm>
          <a:prstGeom prst="rect">
            <a:avLst/>
          </a:prstGeom>
          <a:noFill/>
          <a:ln>
            <a:solidFill>
              <a:schemeClr val="tx1"/>
            </a:solidFill>
          </a:ln>
        </p:spPr>
        <p:txBody>
          <a:bodyPr wrap="square" rtlCol="0">
            <a:spAutoFit/>
          </a:bodyPr>
          <a:lstStyle/>
          <a:p>
            <a:r>
              <a:rPr kumimoji="1" lang="ja-JP" altLang="en-US" sz="2400" dirty="0" smtClean="0"/>
              <a:t>（注）赤字の複合文の中括弧 </a:t>
            </a:r>
            <a:r>
              <a:rPr kumimoji="1" lang="en-US" altLang="ja-JP" sz="2400" dirty="0" smtClean="0"/>
              <a:t>{ } </a:t>
            </a:r>
            <a:r>
              <a:rPr kumimoji="1" lang="ja-JP" altLang="en-US" sz="2400" dirty="0" smtClean="0"/>
              <a:t>を取り除いても同じ意味である。</a:t>
            </a:r>
            <a:endParaRPr kumimoji="1" lang="ja-JP" alt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f</a:t>
            </a:r>
            <a:r>
              <a:rPr kumimoji="1" lang="en-US" altLang="ja-JP" dirty="0" smtClean="0"/>
              <a:t>or</a:t>
            </a:r>
            <a:r>
              <a:rPr kumimoji="1" lang="ja-JP" altLang="en-US" dirty="0" smtClean="0"/>
              <a:t>文の構文</a:t>
            </a:r>
            <a:endParaRPr kumimoji="1" lang="ja-JP" altLang="en-US" dirty="0"/>
          </a:p>
        </p:txBody>
      </p:sp>
      <p:sp>
        <p:nvSpPr>
          <p:cNvPr id="4" name="Text Box 5"/>
          <p:cNvSpPr txBox="1">
            <a:spLocks noChangeArrowheads="1"/>
          </p:cNvSpPr>
          <p:nvPr/>
        </p:nvSpPr>
        <p:spPr bwMode="auto">
          <a:xfrm>
            <a:off x="2000232" y="2714620"/>
            <a:ext cx="3398110" cy="584775"/>
          </a:xfrm>
          <a:prstGeom prst="rect">
            <a:avLst/>
          </a:prstGeom>
          <a:solidFill>
            <a:srgbClr val="FFFF00"/>
          </a:solidFill>
          <a:ln w="9525">
            <a:solidFill>
              <a:schemeClr val="tx1"/>
            </a:solidFill>
            <a:miter lim="800000"/>
            <a:headEnd/>
            <a:tailEnd/>
          </a:ln>
        </p:spPr>
        <p:txBody>
          <a:bodyPr wrap="none">
            <a:spAutoFit/>
          </a:bodyPr>
          <a:lstStyle/>
          <a:p>
            <a:r>
              <a:rPr lang="en-US" altLang="ja-JP" sz="3200" dirty="0">
                <a:ea typeface="ＭＳ Ｐゴシック" charset="-128"/>
              </a:rPr>
              <a:t> </a:t>
            </a:r>
            <a:r>
              <a:rPr lang="en-US" altLang="ja-JP" sz="3200" dirty="0" smtClean="0">
                <a:ea typeface="ＭＳ Ｐゴシック" charset="-128"/>
              </a:rPr>
              <a:t>for</a:t>
            </a:r>
            <a:r>
              <a:rPr lang="ja-JP" altLang="en-US" sz="3200" dirty="0" smtClean="0">
                <a:ea typeface="ＭＳ Ｐゴシック" charset="-128"/>
              </a:rPr>
              <a:t> </a:t>
            </a:r>
            <a:r>
              <a:rPr lang="ja-JP" altLang="en-US" sz="3200" dirty="0">
                <a:ea typeface="ＭＳ Ｐゴシック" charset="-128"/>
              </a:rPr>
              <a:t>（</a:t>
            </a:r>
            <a:r>
              <a:rPr lang="ja-JP" altLang="en-US" sz="3200" dirty="0" smtClean="0">
                <a:ea typeface="ＭＳ Ｐゴシック" charset="-128"/>
              </a:rPr>
              <a:t>式</a:t>
            </a:r>
            <a:r>
              <a:rPr lang="en-US" altLang="ja-JP" sz="3200" dirty="0" smtClean="0">
                <a:ea typeface="ＭＳ Ｐゴシック" charset="-128"/>
              </a:rPr>
              <a:t>; </a:t>
            </a:r>
            <a:r>
              <a:rPr lang="ja-JP" altLang="en-US" sz="3200" dirty="0" smtClean="0">
                <a:ea typeface="ＭＳ Ｐゴシック" charset="-128"/>
              </a:rPr>
              <a:t>式</a:t>
            </a:r>
            <a:r>
              <a:rPr lang="en-US" altLang="ja-JP" sz="3200" dirty="0" smtClean="0">
                <a:ea typeface="ＭＳ Ｐゴシック" charset="-128"/>
              </a:rPr>
              <a:t>; </a:t>
            </a:r>
            <a:r>
              <a:rPr lang="ja-JP" altLang="en-US" sz="3200" dirty="0" smtClean="0">
                <a:ea typeface="ＭＳ Ｐゴシック" charset="-128"/>
              </a:rPr>
              <a:t>式） </a:t>
            </a:r>
            <a:r>
              <a:rPr lang="ja-JP" altLang="en-US" sz="3200" dirty="0">
                <a:ea typeface="ＭＳ Ｐゴシック" charset="-128"/>
              </a:rPr>
              <a:t>文</a:t>
            </a:r>
          </a:p>
        </p:txBody>
      </p:sp>
      <p:sp>
        <p:nvSpPr>
          <p:cNvPr id="5" name="テキスト ボックス 4"/>
          <p:cNvSpPr txBox="1"/>
          <p:nvPr/>
        </p:nvSpPr>
        <p:spPr>
          <a:xfrm>
            <a:off x="928662" y="1643050"/>
            <a:ext cx="7501221" cy="954107"/>
          </a:xfrm>
          <a:prstGeom prst="rect">
            <a:avLst/>
          </a:prstGeom>
          <a:noFill/>
        </p:spPr>
        <p:txBody>
          <a:bodyPr wrap="none" rtlCol="0">
            <a:spAutoFit/>
          </a:bodyPr>
          <a:lstStyle/>
          <a:p>
            <a:r>
              <a:rPr lang="ja-JP" altLang="en-US" sz="2800" dirty="0" smtClean="0"/>
              <a:t>さきほど</a:t>
            </a:r>
            <a:r>
              <a:rPr lang="en-US" altLang="ja-JP" sz="2800" dirty="0" smtClean="0"/>
              <a:t>for</a:t>
            </a:r>
            <a:r>
              <a:rPr lang="ja-JP" altLang="en-US" sz="2800" dirty="0" smtClean="0"/>
              <a:t>文の構文を以下のように定義したが、</a:t>
            </a:r>
            <a:endParaRPr lang="en-US" altLang="ja-JP" sz="2800" dirty="0" smtClean="0"/>
          </a:p>
          <a:p>
            <a:r>
              <a:rPr kumimoji="1" lang="ja-JP" altLang="en-US" sz="2800" dirty="0" smtClean="0"/>
              <a:t>括弧内の３つの式はそれぞれ省略可能である。</a:t>
            </a:r>
            <a:endParaRPr kumimoji="1" lang="ja-JP" altLang="en-US" sz="2800" dirty="0"/>
          </a:p>
        </p:txBody>
      </p:sp>
      <p:sp>
        <p:nvSpPr>
          <p:cNvPr id="7" name="テキスト ボックス 6"/>
          <p:cNvSpPr txBox="1"/>
          <p:nvPr/>
        </p:nvSpPr>
        <p:spPr>
          <a:xfrm>
            <a:off x="642910" y="3714752"/>
            <a:ext cx="7858180" cy="2677656"/>
          </a:xfrm>
          <a:prstGeom prst="rect">
            <a:avLst/>
          </a:prstGeom>
          <a:noFill/>
        </p:spPr>
        <p:txBody>
          <a:bodyPr wrap="square" rtlCol="0">
            <a:spAutoFit/>
          </a:bodyPr>
          <a:lstStyle/>
          <a:p>
            <a:r>
              <a:rPr lang="ja-JP" altLang="en-US" sz="2800" dirty="0" smtClean="0"/>
              <a:t>１番目の式がない場合は、繰り返しの実行前に何もしないということである。</a:t>
            </a:r>
            <a:endParaRPr lang="en-US" altLang="ja-JP" sz="2800" dirty="0" smtClean="0"/>
          </a:p>
          <a:p>
            <a:r>
              <a:rPr lang="ja-JP" altLang="en-US" sz="2800" dirty="0" smtClean="0"/>
              <a:t>３番目の式がない場合は、各繰り返しにおいて、</a:t>
            </a:r>
            <a:r>
              <a:rPr lang="en-US" altLang="ja-JP" sz="2800" dirty="0" smtClean="0"/>
              <a:t>for</a:t>
            </a:r>
            <a:r>
              <a:rPr lang="ja-JP" altLang="en-US" sz="2800" dirty="0" smtClean="0"/>
              <a:t>文の本体の実行後、何もしないということである。</a:t>
            </a:r>
            <a:endParaRPr lang="en-US" altLang="ja-JP" sz="2800" dirty="0" smtClean="0"/>
          </a:p>
          <a:p>
            <a:r>
              <a:rPr kumimoji="1" lang="ja-JP" altLang="en-US" sz="2800" dirty="0" smtClean="0"/>
              <a:t>２番目の式がない場合は、繰り返しの条件が真という意味である。</a:t>
            </a:r>
            <a:endParaRPr kumimoji="1"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714348" y="1643050"/>
            <a:ext cx="3429024" cy="2677656"/>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for (;;)</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714349" y="4572008"/>
            <a:ext cx="7858180" cy="1815882"/>
          </a:xfrm>
          <a:prstGeom prst="rect">
            <a:avLst/>
          </a:prstGeom>
          <a:noFill/>
        </p:spPr>
        <p:txBody>
          <a:bodyPr wrap="square" rtlCol="0">
            <a:spAutoFit/>
          </a:bodyPr>
          <a:lstStyle/>
          <a:p>
            <a:r>
              <a:rPr kumimoji="1" lang="ja-JP" altLang="en-US" sz="2800" dirty="0" smtClean="0"/>
              <a:t>式を３つとも省略すると、</a:t>
            </a:r>
            <a:r>
              <a:rPr lang="en-US" altLang="ja-JP" sz="2800" dirty="0" smtClean="0"/>
              <a:t>w</a:t>
            </a:r>
            <a:r>
              <a:rPr kumimoji="1" lang="en-US" altLang="ja-JP" sz="2800" dirty="0" smtClean="0"/>
              <a:t>hile(1)</a:t>
            </a:r>
            <a:r>
              <a:rPr kumimoji="1" lang="ja-JP" altLang="en-US" sz="2800" dirty="0" smtClean="0"/>
              <a:t>で置き換えたプログラムと同じ意味である。</a:t>
            </a:r>
            <a:endParaRPr kumimoji="1" lang="en-US" altLang="ja-JP" sz="2800" dirty="0" smtClean="0"/>
          </a:p>
          <a:p>
            <a:r>
              <a:rPr lang="ja-JP" altLang="en-US" sz="2800" dirty="0" smtClean="0"/>
              <a:t>（無限に</a:t>
            </a:r>
            <a:r>
              <a:rPr lang="en-US" altLang="ja-JP" sz="2800" dirty="0" smtClean="0"/>
              <a:t>hello</a:t>
            </a:r>
            <a:r>
              <a:rPr lang="ja-JP" altLang="en-US" sz="2800" dirty="0" smtClean="0"/>
              <a:t>と出力し続けるので、</a:t>
            </a:r>
            <a:r>
              <a:rPr lang="en-US" altLang="ja-JP" sz="2800" dirty="0" smtClean="0"/>
              <a:t>Ctrl-C</a:t>
            </a:r>
            <a:r>
              <a:rPr lang="ja-JP" altLang="en-US" sz="2800" dirty="0" smtClean="0"/>
              <a:t>で終了させる。）</a:t>
            </a:r>
            <a:endParaRPr kumimoji="1" lang="ja-JP" altLang="en-US" sz="2800" dirty="0"/>
          </a:p>
        </p:txBody>
      </p:sp>
      <p:sp>
        <p:nvSpPr>
          <p:cNvPr id="6" name="正方形/長方形 5"/>
          <p:cNvSpPr/>
          <p:nvPr/>
        </p:nvSpPr>
        <p:spPr>
          <a:xfrm>
            <a:off x="4500562" y="1643050"/>
            <a:ext cx="4143372" cy="2677656"/>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while (1)</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コンマ演算子</a:t>
            </a:r>
            <a:endParaRPr kumimoji="1" lang="ja-JP" altLang="en-US" dirty="0"/>
          </a:p>
        </p:txBody>
      </p:sp>
      <p:sp>
        <p:nvSpPr>
          <p:cNvPr id="4" name="テキスト ボックス 3"/>
          <p:cNvSpPr txBox="1"/>
          <p:nvPr/>
        </p:nvSpPr>
        <p:spPr>
          <a:xfrm>
            <a:off x="1071538" y="1643050"/>
            <a:ext cx="7143800" cy="1384995"/>
          </a:xfrm>
          <a:prstGeom prst="rect">
            <a:avLst/>
          </a:prstGeom>
          <a:noFill/>
        </p:spPr>
        <p:txBody>
          <a:bodyPr wrap="square" rtlCol="0">
            <a:spAutoFit/>
          </a:bodyPr>
          <a:lstStyle/>
          <a:p>
            <a:r>
              <a:rPr lang="en-US" altLang="ja-JP" sz="2800" dirty="0" smtClean="0"/>
              <a:t>f</a:t>
            </a:r>
            <a:r>
              <a:rPr kumimoji="1" lang="en-US" altLang="ja-JP" sz="2800" dirty="0" smtClean="0"/>
              <a:t>or</a:t>
            </a:r>
            <a:r>
              <a:rPr kumimoji="1" lang="ja-JP" altLang="en-US" sz="2800" dirty="0" smtClean="0"/>
              <a:t>文の括弧内など、式が１つしか書けないところに２つ以上の式を書きたい場合に、コンマ演算子を用いて１つの式にする。</a:t>
            </a:r>
            <a:endParaRPr kumimoji="1"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コンマ演算子</a:t>
            </a:r>
            <a:endParaRPr kumimoji="1" lang="ja-JP" altLang="en-US" dirty="0"/>
          </a:p>
        </p:txBody>
      </p:sp>
      <p:sp>
        <p:nvSpPr>
          <p:cNvPr id="4" name="テキスト ボックス 3"/>
          <p:cNvSpPr txBox="1"/>
          <p:nvPr/>
        </p:nvSpPr>
        <p:spPr>
          <a:xfrm>
            <a:off x="714348" y="1287836"/>
            <a:ext cx="4905510" cy="523220"/>
          </a:xfrm>
          <a:prstGeom prst="rect">
            <a:avLst/>
          </a:prstGeom>
          <a:noFill/>
        </p:spPr>
        <p:txBody>
          <a:bodyPr wrap="none" rtlCol="0">
            <a:spAutoFit/>
          </a:bodyPr>
          <a:lstStyle/>
          <a:p>
            <a:r>
              <a:rPr lang="ja-JP" altLang="en-US" sz="2800" dirty="0" smtClean="0"/>
              <a:t>コンマ演算子を使った式の構文</a:t>
            </a:r>
            <a:endParaRPr kumimoji="1" lang="ja-JP" altLang="en-US" sz="2800" dirty="0"/>
          </a:p>
        </p:txBody>
      </p:sp>
      <p:sp>
        <p:nvSpPr>
          <p:cNvPr id="5" name="Text Box 5"/>
          <p:cNvSpPr txBox="1">
            <a:spLocks noChangeArrowheads="1"/>
          </p:cNvSpPr>
          <p:nvPr/>
        </p:nvSpPr>
        <p:spPr bwMode="auto">
          <a:xfrm>
            <a:off x="1428728" y="1859340"/>
            <a:ext cx="1156086"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a:t>
            </a:r>
            <a:endParaRPr lang="ja-JP" altLang="en-US" sz="2800" dirty="0">
              <a:ea typeface="ＭＳ Ｐゴシック" charset="-128"/>
            </a:endParaRPr>
          </a:p>
        </p:txBody>
      </p:sp>
      <p:sp>
        <p:nvSpPr>
          <p:cNvPr id="6" name="テキスト ボックス 11"/>
          <p:cNvSpPr txBox="1">
            <a:spLocks noChangeArrowheads="1"/>
          </p:cNvSpPr>
          <p:nvPr/>
        </p:nvSpPr>
        <p:spPr bwMode="auto">
          <a:xfrm>
            <a:off x="642909" y="3000372"/>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a:t>の意味</a:t>
            </a:r>
            <a:endParaRPr kumimoji="1" lang="en-US" altLang="ja-JP" sz="2800" dirty="0"/>
          </a:p>
        </p:txBody>
      </p:sp>
      <p:sp>
        <p:nvSpPr>
          <p:cNvPr id="7" name="テキスト ボックス 6"/>
          <p:cNvSpPr txBox="1"/>
          <p:nvPr/>
        </p:nvSpPr>
        <p:spPr>
          <a:xfrm>
            <a:off x="1428728" y="3643314"/>
            <a:ext cx="6643734" cy="954107"/>
          </a:xfrm>
          <a:prstGeom prst="rect">
            <a:avLst/>
          </a:prstGeom>
          <a:solidFill>
            <a:srgbClr val="92D050"/>
          </a:solidFill>
          <a:ln>
            <a:solidFill>
              <a:schemeClr val="tx1"/>
            </a:solidFill>
          </a:ln>
        </p:spPr>
        <p:txBody>
          <a:bodyPr wrap="square" rtlCol="0">
            <a:spAutoFit/>
          </a:bodyPr>
          <a:lstStyle/>
          <a:p>
            <a:r>
              <a:rPr lang="ja-JP" altLang="en-US" sz="2800" dirty="0" smtClean="0"/>
              <a:t>まず式</a:t>
            </a:r>
            <a:r>
              <a:rPr lang="en-US" altLang="ja-JP" sz="2800" dirty="0" smtClean="0"/>
              <a:t>e</a:t>
            </a:r>
            <a:r>
              <a:rPr lang="en-US" altLang="ja-JP" sz="2800" baseline="-25000" dirty="0" smtClean="0"/>
              <a:t>1</a:t>
            </a:r>
            <a:r>
              <a:rPr lang="ja-JP" altLang="en-US" sz="2800" dirty="0" err="1" smtClean="0"/>
              <a:t>を評</a:t>
            </a:r>
            <a:r>
              <a:rPr lang="ja-JP" altLang="en-US" sz="2800" dirty="0" smtClean="0"/>
              <a:t>価し、次に</a:t>
            </a:r>
            <a:r>
              <a:rPr lang="en-US" altLang="ja-JP" sz="2800" dirty="0" smtClean="0"/>
              <a:t>e</a:t>
            </a:r>
            <a:r>
              <a:rPr lang="en-US" altLang="ja-JP" sz="2800" baseline="-25000" dirty="0" smtClean="0"/>
              <a:t>2</a:t>
            </a:r>
            <a:r>
              <a:rPr lang="ja-JP" altLang="en-US" sz="2800" dirty="0" err="1" smtClean="0"/>
              <a:t>を評</a:t>
            </a:r>
            <a:r>
              <a:rPr lang="ja-JP" altLang="en-US" sz="2800" dirty="0" smtClean="0"/>
              <a:t>価する。式</a:t>
            </a:r>
            <a:r>
              <a:rPr lang="en-US" altLang="ja-JP" sz="2800" dirty="0" smtClean="0"/>
              <a:t>e</a:t>
            </a:r>
            <a:r>
              <a:rPr lang="en-US" altLang="ja-JP" sz="2800" baseline="-25000" dirty="0" smtClean="0"/>
              <a:t>1</a:t>
            </a:r>
            <a:r>
              <a:rPr lang="en-US" altLang="ja-JP" sz="2800" dirty="0" smtClean="0"/>
              <a:t>,e</a:t>
            </a:r>
            <a:r>
              <a:rPr lang="en-US" altLang="ja-JP" sz="2800" baseline="-25000" dirty="0" smtClean="0"/>
              <a:t>2</a:t>
            </a:r>
            <a:r>
              <a:rPr lang="ja-JP" altLang="en-US" sz="2800" dirty="0" smtClean="0"/>
              <a:t>の値は、式</a:t>
            </a:r>
            <a:r>
              <a:rPr lang="en-US" altLang="ja-JP" sz="2800" dirty="0" smtClean="0"/>
              <a:t>e</a:t>
            </a:r>
            <a:r>
              <a:rPr lang="en-US" altLang="ja-JP" sz="2800" baseline="-25000" dirty="0" smtClean="0"/>
              <a:t>2</a:t>
            </a:r>
            <a:r>
              <a:rPr lang="ja-JP" altLang="en-US" sz="2800" dirty="0" smtClean="0"/>
              <a:t>の評価結果である。</a:t>
            </a:r>
            <a:endParaRPr lang="en-US" altLang="ja-JP" sz="2800" dirty="0" smtClean="0"/>
          </a:p>
        </p:txBody>
      </p:sp>
      <p:sp>
        <p:nvSpPr>
          <p:cNvPr id="10" name="テキスト ボックス 9"/>
          <p:cNvSpPr txBox="1"/>
          <p:nvPr/>
        </p:nvSpPr>
        <p:spPr>
          <a:xfrm>
            <a:off x="2857488" y="1787902"/>
            <a:ext cx="6072230" cy="1200329"/>
          </a:xfrm>
          <a:prstGeom prst="rect">
            <a:avLst/>
          </a:prstGeom>
          <a:noFill/>
        </p:spPr>
        <p:txBody>
          <a:bodyPr wrap="square" rtlCol="0">
            <a:spAutoFit/>
          </a:bodyPr>
          <a:lstStyle/>
          <a:p>
            <a:r>
              <a:rPr lang="ja-JP" altLang="en-US" sz="2400" dirty="0" smtClean="0"/>
              <a:t>式をコンマで繋いで得られたものも式である。よって式を３つ以上コンマで区切ったものも式である。（コンマ演算子は左結合）</a:t>
            </a:r>
            <a:endParaRPr kumimoji="1" lang="en-US" altLang="ja-JP" sz="2400" dirty="0" smtClean="0"/>
          </a:p>
        </p:txBody>
      </p:sp>
      <p:sp>
        <p:nvSpPr>
          <p:cNvPr id="12" name="テキスト ボックス 11"/>
          <p:cNvSpPr txBox="1">
            <a:spLocks noChangeArrowheads="1"/>
          </p:cNvSpPr>
          <p:nvPr/>
        </p:nvSpPr>
        <p:spPr bwMode="auto">
          <a:xfrm>
            <a:off x="642911" y="5406110"/>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a:t>
            </a:r>
            <a:endParaRPr kumimoji="1" lang="en-US" altLang="ja-JP" sz="2800" dirty="0"/>
          </a:p>
        </p:txBody>
      </p:sp>
      <p:sp>
        <p:nvSpPr>
          <p:cNvPr id="13" name="テキスト ボックス 12"/>
          <p:cNvSpPr txBox="1">
            <a:spLocks noChangeArrowheads="1"/>
          </p:cNvSpPr>
          <p:nvPr/>
        </p:nvSpPr>
        <p:spPr bwMode="auto">
          <a:xfrm>
            <a:off x="1571604" y="5906176"/>
            <a:ext cx="614366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の型は式</a:t>
            </a:r>
            <a:r>
              <a:rPr kumimoji="1" lang="en-US" altLang="ja-JP" sz="2800" dirty="0" smtClean="0"/>
              <a:t>e</a:t>
            </a:r>
            <a:r>
              <a:rPr kumimoji="1" lang="en-US" altLang="ja-JP" sz="2800" baseline="-25000" dirty="0" smtClean="0"/>
              <a:t>2</a:t>
            </a:r>
            <a:r>
              <a:rPr kumimoji="1" lang="ja-JP" altLang="en-US" sz="2800" dirty="0" smtClean="0"/>
              <a:t>の型である。</a:t>
            </a:r>
            <a:endParaRPr kumimoji="1" lang="en-US" altLang="ja-JP" sz="2800" dirty="0"/>
          </a:p>
        </p:txBody>
      </p:sp>
      <p:sp>
        <p:nvSpPr>
          <p:cNvPr id="15" name="テキスト ボックス 14"/>
          <p:cNvSpPr txBox="1"/>
          <p:nvPr/>
        </p:nvSpPr>
        <p:spPr>
          <a:xfrm>
            <a:off x="1643042" y="4714884"/>
            <a:ext cx="6500858" cy="646331"/>
          </a:xfrm>
          <a:prstGeom prst="rect">
            <a:avLst/>
          </a:prstGeom>
          <a:noFill/>
        </p:spPr>
        <p:txBody>
          <a:bodyPr wrap="square" rtlCol="0">
            <a:spAutoFit/>
          </a:bodyPr>
          <a:lstStyle/>
          <a:p>
            <a:r>
              <a:rPr lang="ja-JP" altLang="en-US" dirty="0" smtClean="0"/>
              <a:t>（補足）つまり、</a:t>
            </a:r>
            <a:r>
              <a:rPr lang="en-US" altLang="ja-JP" dirty="0" smtClean="0"/>
              <a:t>e1</a:t>
            </a:r>
            <a:r>
              <a:rPr lang="ja-JP" altLang="en-US" dirty="0" smtClean="0"/>
              <a:t>の評価結果は捨てられるので、</a:t>
            </a:r>
            <a:r>
              <a:rPr lang="en-US" altLang="ja-JP" dirty="0" smtClean="0"/>
              <a:t>e1</a:t>
            </a:r>
            <a:r>
              <a:rPr lang="ja-JP" altLang="en-US" dirty="0" smtClean="0"/>
              <a:t>に副作用（代入など）がないと無意味である。</a:t>
            </a:r>
            <a:endParaRPr kumimoji="1" lang="ja-JP"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785786" y="1571612"/>
            <a:ext cx="5857916" cy="3108543"/>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err="1" smtClean="0"/>
              <a:t>i</a:t>
            </a:r>
            <a:r>
              <a:rPr lang="en-US" altLang="ja-JP" sz="2800" dirty="0" smtClean="0"/>
              <a:t>, j;</a:t>
            </a:r>
          </a:p>
          <a:p>
            <a:r>
              <a:rPr lang="en-US" altLang="ja-JP" sz="2800" dirty="0" smtClean="0"/>
              <a:t>  a = (</a:t>
            </a:r>
            <a:r>
              <a:rPr lang="en-US" altLang="ja-JP" sz="2800" dirty="0" err="1" smtClean="0">
                <a:solidFill>
                  <a:srgbClr val="FF0000"/>
                </a:solidFill>
              </a:rPr>
              <a:t>i</a:t>
            </a:r>
            <a:r>
              <a:rPr lang="en-US" altLang="ja-JP" sz="2800" dirty="0" smtClean="0">
                <a:solidFill>
                  <a:srgbClr val="FF0000"/>
                </a:solidFill>
              </a:rPr>
              <a:t>=3, j=4</a:t>
            </a:r>
            <a:r>
              <a:rPr lang="en-US" altLang="ja-JP" sz="2800" dirty="0" smtClean="0"/>
              <a:t>);</a:t>
            </a:r>
          </a:p>
          <a:p>
            <a:r>
              <a:rPr lang="en-US" altLang="ja-JP" sz="2800" dirty="0" smtClean="0"/>
              <a:t>  </a:t>
            </a:r>
            <a:r>
              <a:rPr lang="en-US" altLang="ja-JP" sz="2800" dirty="0" err="1" smtClean="0"/>
              <a:t>printf</a:t>
            </a:r>
            <a:r>
              <a:rPr lang="en-US" altLang="ja-JP" sz="2800" dirty="0" smtClean="0"/>
              <a:t> ("a=%d, </a:t>
            </a:r>
            <a:r>
              <a:rPr lang="en-US" altLang="ja-JP" sz="2800" dirty="0" err="1" smtClean="0"/>
              <a:t>i</a:t>
            </a:r>
            <a:r>
              <a:rPr lang="en-US" altLang="ja-JP" sz="2800" dirty="0" smtClean="0"/>
              <a:t>=%d, j=%d\n", a,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5" name="テキスト ボックス 4"/>
          <p:cNvSpPr txBox="1"/>
          <p:nvPr/>
        </p:nvSpPr>
        <p:spPr>
          <a:xfrm>
            <a:off x="714348" y="4929198"/>
            <a:ext cx="6397905" cy="1200329"/>
          </a:xfrm>
          <a:prstGeom prst="rect">
            <a:avLst/>
          </a:prstGeom>
          <a:noFill/>
        </p:spPr>
        <p:txBody>
          <a:bodyPr wrap="none" rtlCol="0">
            <a:spAutoFit/>
          </a:bodyPr>
          <a:lstStyle/>
          <a:p>
            <a:r>
              <a:rPr kumimoji="1" lang="ja-JP" altLang="en-US" sz="2400" dirty="0" smtClean="0"/>
              <a:t>赤字の部分がコンマ演算子を使った式である。</a:t>
            </a:r>
            <a:endParaRPr kumimoji="1" lang="en-US" altLang="ja-JP" sz="2400" dirty="0" smtClean="0"/>
          </a:p>
          <a:p>
            <a:r>
              <a:rPr lang="ja-JP" altLang="en-US" sz="2400" dirty="0" smtClean="0"/>
              <a:t>赤字の式の値は、式</a:t>
            </a:r>
            <a:r>
              <a:rPr lang="en-US" altLang="ja-JP" sz="2400" dirty="0" smtClean="0"/>
              <a:t>j=4</a:t>
            </a:r>
            <a:r>
              <a:rPr lang="ja-JP" altLang="en-US" sz="2400" dirty="0" smtClean="0"/>
              <a:t>の値、すなわち</a:t>
            </a:r>
            <a:r>
              <a:rPr lang="en-US" altLang="ja-JP" sz="2400" dirty="0" smtClean="0"/>
              <a:t>4</a:t>
            </a:r>
            <a:r>
              <a:rPr lang="ja-JP" altLang="en-US" sz="2400" dirty="0" smtClean="0"/>
              <a:t>である。</a:t>
            </a:r>
            <a:endParaRPr lang="en-US" altLang="ja-JP" sz="2400" dirty="0" smtClean="0"/>
          </a:p>
          <a:p>
            <a:r>
              <a:rPr kumimoji="1" lang="ja-JP" altLang="en-US" sz="2400" dirty="0" smtClean="0"/>
              <a:t>これが</a:t>
            </a:r>
            <a:r>
              <a:rPr kumimoji="1" lang="en-US" altLang="ja-JP" sz="2400" dirty="0" smtClean="0"/>
              <a:t>a</a:t>
            </a:r>
            <a:r>
              <a:rPr kumimoji="1" lang="ja-JP" altLang="en-US" sz="2400" dirty="0" smtClean="0"/>
              <a:t>に代入されるので、</a:t>
            </a:r>
            <a:r>
              <a:rPr kumimoji="1" lang="en-US" altLang="ja-JP" sz="2400" dirty="0" smtClean="0"/>
              <a:t>a</a:t>
            </a:r>
            <a:r>
              <a:rPr kumimoji="1" lang="ja-JP" altLang="en-US" sz="2400" dirty="0" smtClean="0"/>
              <a:t>の値は</a:t>
            </a:r>
            <a:r>
              <a:rPr kumimoji="1" lang="en-US" altLang="ja-JP" sz="2400" dirty="0" smtClean="0"/>
              <a:t>4</a:t>
            </a:r>
            <a:r>
              <a:rPr kumimoji="1" lang="ja-JP" altLang="en-US" sz="2400" dirty="0" smtClean="0"/>
              <a:t>となる。</a:t>
            </a:r>
            <a:endParaRPr kumimoji="1" lang="ja-JP"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smtClean="0"/>
              <a:t>f</a:t>
            </a:r>
            <a:r>
              <a:rPr kumimoji="1" lang="en-US" altLang="ja-JP" dirty="0" smtClean="0"/>
              <a:t>or</a:t>
            </a:r>
            <a:r>
              <a:rPr kumimoji="1" lang="ja-JP" altLang="en-US" dirty="0" smtClean="0"/>
              <a:t>文に入れた例（打ち込んで確認）</a:t>
            </a:r>
            <a:endParaRPr kumimoji="1" lang="ja-JP" altLang="en-US" dirty="0"/>
          </a:p>
        </p:txBody>
      </p:sp>
      <p:sp>
        <p:nvSpPr>
          <p:cNvPr id="5" name="正方形/長方形 4"/>
          <p:cNvSpPr/>
          <p:nvPr/>
        </p:nvSpPr>
        <p:spPr>
          <a:xfrm>
            <a:off x="785786" y="1643050"/>
            <a:ext cx="4572000" cy="3108543"/>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j;</a:t>
            </a:r>
          </a:p>
          <a:p>
            <a:r>
              <a:rPr lang="en-US" altLang="ja-JP" sz="2800" dirty="0" smtClean="0"/>
              <a:t>  for (</a:t>
            </a:r>
            <a:r>
              <a:rPr lang="en-US" altLang="ja-JP" sz="2800" dirty="0" err="1" smtClean="0">
                <a:solidFill>
                  <a:srgbClr val="FF0000"/>
                </a:solidFill>
              </a:rPr>
              <a:t>i</a:t>
            </a:r>
            <a:r>
              <a:rPr lang="en-US" altLang="ja-JP" sz="2800" dirty="0" smtClean="0">
                <a:solidFill>
                  <a:srgbClr val="FF0000"/>
                </a:solidFill>
              </a:rPr>
              <a:t>=0, j=0</a:t>
            </a:r>
            <a:r>
              <a:rPr lang="en-US" altLang="ja-JP" sz="2800" dirty="0" smtClean="0"/>
              <a:t>; </a:t>
            </a:r>
            <a:r>
              <a:rPr lang="en-US" altLang="ja-JP" sz="2800" dirty="0" err="1" smtClean="0"/>
              <a:t>i</a:t>
            </a:r>
            <a:r>
              <a:rPr lang="en-US" altLang="ja-JP" sz="2800" dirty="0" smtClean="0"/>
              <a:t>&lt;4; </a:t>
            </a:r>
            <a:r>
              <a:rPr lang="en-US" altLang="ja-JP" sz="2800" dirty="0" err="1" smtClean="0">
                <a:solidFill>
                  <a:srgbClr val="FF0000"/>
                </a:solidFill>
              </a:rPr>
              <a:t>i</a:t>
            </a:r>
            <a:r>
              <a:rPr lang="en-US" altLang="ja-JP" sz="2800" dirty="0" smtClean="0">
                <a:solidFill>
                  <a:srgbClr val="FF0000"/>
                </a:solidFill>
              </a:rPr>
              <a:t>=i+1, j=j+1</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en-US" altLang="ja-JP" sz="2800" dirty="0" err="1" smtClean="0"/>
              <a:t>i</a:t>
            </a:r>
            <a:r>
              <a:rPr lang="en-US" altLang="ja-JP" sz="2800" dirty="0" smtClean="0"/>
              <a:t>=%d, j=%d\n",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6" name="テキスト ボックス 5"/>
          <p:cNvSpPr txBox="1"/>
          <p:nvPr/>
        </p:nvSpPr>
        <p:spPr>
          <a:xfrm>
            <a:off x="5572132" y="2000240"/>
            <a:ext cx="3071834" cy="1200329"/>
          </a:xfrm>
          <a:prstGeom prst="rect">
            <a:avLst/>
          </a:prstGeom>
          <a:noFill/>
        </p:spPr>
        <p:txBody>
          <a:bodyPr wrap="square" rtlCol="0">
            <a:spAutoFit/>
          </a:bodyPr>
          <a:lstStyle/>
          <a:p>
            <a:r>
              <a:rPr lang="ja-JP" altLang="en-US" sz="2400" dirty="0" smtClean="0"/>
              <a:t>赤字の部分が、コンマ演算子を使った式の例である。</a:t>
            </a:r>
            <a:endParaRPr lang="en-US" altLang="ja-JP" sz="24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子（前置）</a:t>
            </a:r>
            <a:endParaRPr kumimoji="1" lang="ja-JP" altLang="en-US" dirty="0"/>
          </a:p>
        </p:txBody>
      </p:sp>
      <p:sp>
        <p:nvSpPr>
          <p:cNvPr id="4" name="テキスト ボックス 3"/>
          <p:cNvSpPr txBox="1"/>
          <p:nvPr/>
        </p:nvSpPr>
        <p:spPr>
          <a:xfrm>
            <a:off x="785786" y="1334144"/>
            <a:ext cx="5601213" cy="523220"/>
          </a:xfrm>
          <a:prstGeom prst="rect">
            <a:avLst/>
          </a:prstGeom>
          <a:noFill/>
        </p:spPr>
        <p:txBody>
          <a:bodyPr wrap="none" rtlCol="0">
            <a:spAutoFit/>
          </a:bodyPr>
          <a:lstStyle/>
          <a:p>
            <a:r>
              <a:rPr lang="ja-JP" altLang="en-US" sz="2800" dirty="0" smtClean="0"/>
              <a:t>前置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987193"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en-US" altLang="ja-JP" sz="2800" dirty="0" smtClean="0">
                <a:ea typeface="ＭＳ Ｐゴシック" charset="-128"/>
              </a:rPr>
              <a:t>++</a:t>
            </a:r>
            <a:r>
              <a:rPr lang="ja-JP" altLang="en-US" sz="2800" dirty="0" smtClean="0">
                <a:ea typeface="ＭＳ Ｐゴシック" charset="-128"/>
              </a:rPr>
              <a:t>式</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905780"/>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501008"/>
            <a:ext cx="7391744"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が一度だけ評価されるという点以外、代入式</a:t>
            </a:r>
            <a:r>
              <a:rPr lang="en-US" altLang="ja-JP" sz="2800" dirty="0" smtClean="0"/>
              <a:t>e=e+1</a:t>
            </a:r>
            <a:r>
              <a:rPr lang="ja-JP" altLang="en-US" sz="2800" dirty="0" smtClean="0"/>
              <a:t>と同じ意味である。</a:t>
            </a:r>
            <a:endParaRPr lang="en-US" altLang="ja-JP" sz="2800" dirty="0" smtClean="0"/>
          </a:p>
        </p:txBody>
      </p:sp>
      <p:sp>
        <p:nvSpPr>
          <p:cNvPr id="10" name="テキスト ボックス 9"/>
          <p:cNvSpPr txBox="1">
            <a:spLocks noChangeArrowheads="1"/>
          </p:cNvSpPr>
          <p:nvPr/>
        </p:nvSpPr>
        <p:spPr bwMode="auto">
          <a:xfrm>
            <a:off x="642910" y="4653136"/>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229200"/>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4" name="テキスト ボックス 13"/>
          <p:cNvSpPr txBox="1"/>
          <p:nvPr/>
        </p:nvSpPr>
        <p:spPr>
          <a:xfrm>
            <a:off x="785786" y="5803908"/>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典型例</a:t>
            </a:r>
            <a:endParaRPr kumimoji="1" lang="ja-JP" altLang="en-US" dirty="0"/>
          </a:p>
        </p:txBody>
      </p:sp>
      <p:sp>
        <p:nvSpPr>
          <p:cNvPr id="4" name="正方形/長方形 3"/>
          <p:cNvSpPr/>
          <p:nvPr/>
        </p:nvSpPr>
        <p:spPr>
          <a:xfrm>
            <a:off x="357158"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solidFill>
                  <a:srgbClr val="FF0000"/>
                </a:solidFill>
              </a:rPr>
              <a:t>i</a:t>
            </a:r>
            <a:r>
              <a:rPr lang="en-US" altLang="ja-JP" sz="2400" dirty="0" smtClean="0">
                <a:solidFill>
                  <a:srgbClr val="FF0000"/>
                </a:solidFill>
              </a:rPr>
              <a:t>=i+1</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5" name="正方形/長方形 4"/>
          <p:cNvSpPr/>
          <p:nvPr/>
        </p:nvSpPr>
        <p:spPr>
          <a:xfrm>
            <a:off x="4714876"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smtClean="0">
                <a:solidFill>
                  <a:srgbClr val="FF0000"/>
                </a:solidFill>
              </a:rPr>
              <a:t>++</a:t>
            </a:r>
            <a:r>
              <a:rPr lang="en-US" altLang="ja-JP" sz="2400" dirty="0" err="1" smtClean="0">
                <a:solidFill>
                  <a:srgbClr val="FF0000"/>
                </a:solidFill>
              </a:rPr>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71472" y="4643446"/>
            <a:ext cx="8072493" cy="1569660"/>
          </a:xfrm>
          <a:prstGeom prst="rect">
            <a:avLst/>
          </a:prstGeom>
          <a:noFill/>
        </p:spPr>
        <p:txBody>
          <a:bodyPr wrap="square" rtlCol="0">
            <a:spAutoFit/>
          </a:bodyPr>
          <a:lstStyle/>
          <a:p>
            <a:r>
              <a:rPr lang="en-US" altLang="ja-JP" sz="2400" dirty="0" smtClean="0"/>
              <a:t>f</a:t>
            </a:r>
            <a:r>
              <a:rPr kumimoji="1" lang="en-US" altLang="ja-JP" sz="2400" dirty="0" smtClean="0"/>
              <a:t>or</a:t>
            </a:r>
            <a:r>
              <a:rPr lang="ja-JP" altLang="en-US" sz="2400" dirty="0" smtClean="0"/>
              <a:t>文</a:t>
            </a:r>
            <a:r>
              <a:rPr kumimoji="1" lang="ja-JP" altLang="en-US" sz="2400" dirty="0" smtClean="0"/>
              <a:t>においてよく使われる。</a:t>
            </a:r>
            <a:r>
              <a:rPr kumimoji="1" lang="en-US" altLang="ja-JP" sz="2400" dirty="0" err="1" smtClean="0"/>
              <a:t>i</a:t>
            </a:r>
            <a:r>
              <a:rPr kumimoji="1" lang="en-US" altLang="ja-JP" sz="2400" dirty="0" smtClean="0"/>
              <a:t>=i+1</a:t>
            </a:r>
            <a:r>
              <a:rPr kumimoji="1" lang="ja-JP" altLang="en-US" sz="2400" dirty="0" smtClean="0"/>
              <a:t>の代りに</a:t>
            </a:r>
            <a:r>
              <a:rPr kumimoji="1" lang="en-US" altLang="ja-JP" sz="2400" dirty="0" smtClean="0"/>
              <a:t>++</a:t>
            </a:r>
            <a:r>
              <a:rPr kumimoji="1" lang="en-US" altLang="ja-JP" sz="2400" dirty="0" err="1" smtClean="0"/>
              <a:t>i</a:t>
            </a:r>
            <a:r>
              <a:rPr kumimoji="1" lang="en-US" altLang="ja-JP" sz="2400" dirty="0" smtClean="0"/>
              <a:t> </a:t>
            </a:r>
            <a:r>
              <a:rPr lang="ja-JP" altLang="en-US" sz="2400" dirty="0" smtClean="0"/>
              <a:t>あるいは </a:t>
            </a:r>
            <a:r>
              <a:rPr kumimoji="1" lang="en-US" altLang="ja-JP" sz="2400" dirty="0" err="1" smtClean="0"/>
              <a:t>i</a:t>
            </a:r>
            <a:r>
              <a:rPr kumimoji="1" lang="en-US" altLang="ja-JP" sz="2400" dirty="0" smtClean="0"/>
              <a:t>++ </a:t>
            </a:r>
            <a:r>
              <a:rPr kumimoji="1" lang="ja-JP" altLang="en-US" sz="2400" dirty="0" smtClean="0"/>
              <a:t>（後述）</a:t>
            </a:r>
            <a:r>
              <a:rPr lang="ja-JP" altLang="en-US" sz="2400" dirty="0" smtClean="0"/>
              <a:t>と書くと、キーボードを打つ回数が若干減るので便利。（この例では式</a:t>
            </a:r>
            <a:r>
              <a:rPr lang="en-US" altLang="ja-JP" sz="2400" dirty="0" smtClean="0"/>
              <a:t>++</a:t>
            </a:r>
            <a:r>
              <a:rPr lang="en-US" altLang="ja-JP" sz="2400" dirty="0" err="1" smtClean="0"/>
              <a:t>i</a:t>
            </a:r>
            <a:r>
              <a:rPr lang="ja-JP" altLang="en-US" sz="2400" dirty="0" smtClean="0"/>
              <a:t>の値は使われないので、</a:t>
            </a:r>
            <a:r>
              <a:rPr lang="en-US" altLang="ja-JP" sz="2400" dirty="0" smtClean="0"/>
              <a:t>++</a:t>
            </a:r>
            <a:r>
              <a:rPr lang="en-US" altLang="ja-JP" sz="2400" dirty="0" err="1" smtClean="0"/>
              <a:t>i</a:t>
            </a:r>
            <a:r>
              <a:rPr lang="ja-JP" altLang="en-US" sz="2400" dirty="0" smtClean="0"/>
              <a:t>でも</a:t>
            </a:r>
            <a:r>
              <a:rPr lang="en-US" altLang="ja-JP" sz="2400" dirty="0" err="1" smtClean="0"/>
              <a:t>i</a:t>
            </a:r>
            <a:r>
              <a:rPr lang="en-US" altLang="ja-JP" sz="2400" dirty="0" smtClean="0"/>
              <a:t>++</a:t>
            </a:r>
            <a:r>
              <a:rPr lang="ja-JP" altLang="en-US" sz="2400" dirty="0" smtClean="0"/>
              <a:t>でも同じ。）</a:t>
            </a:r>
            <a:endParaRPr lang="en-US" altLang="ja-JP" sz="24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28694"/>
          </a:xfrm>
        </p:spPr>
        <p:txBody>
          <a:bodyPr>
            <a:normAutofit fontScale="90000"/>
          </a:bodyPr>
          <a:lstStyle/>
          <a:p>
            <a:r>
              <a:rPr lang="ja-JP" altLang="en-US" dirty="0" smtClean="0"/>
              <a:t>（参考） </a:t>
            </a:r>
            <a:r>
              <a:rPr lang="en-US" altLang="ja-JP" dirty="0" smtClean="0"/>
              <a:t>++e </a:t>
            </a:r>
            <a:r>
              <a:rPr lang="ja-JP" altLang="en-US" dirty="0" smtClean="0"/>
              <a:t>と </a:t>
            </a:r>
            <a:r>
              <a:rPr lang="en-US" altLang="ja-JP" dirty="0" smtClean="0"/>
              <a:t>e=e+1 </a:t>
            </a:r>
            <a:r>
              <a:rPr lang="ja-JP" altLang="en-US" dirty="0" smtClean="0"/>
              <a:t>の違いについて</a:t>
            </a:r>
            <a:endParaRPr kumimoji="1" lang="ja-JP" altLang="en-US" dirty="0"/>
          </a:p>
        </p:txBody>
      </p:sp>
      <p:sp>
        <p:nvSpPr>
          <p:cNvPr id="5" name="テキスト ボックス 4"/>
          <p:cNvSpPr txBox="1"/>
          <p:nvPr/>
        </p:nvSpPr>
        <p:spPr>
          <a:xfrm>
            <a:off x="428596" y="5699485"/>
            <a:ext cx="8358214" cy="1015663"/>
          </a:xfrm>
          <a:prstGeom prst="rect">
            <a:avLst/>
          </a:prstGeom>
          <a:noFill/>
        </p:spPr>
        <p:txBody>
          <a:bodyPr wrap="square" rtlCol="0">
            <a:spAutoFit/>
          </a:bodyPr>
          <a:lstStyle/>
          <a:p>
            <a:r>
              <a:rPr lang="ja-JP" altLang="en-US" sz="2000" dirty="0" smtClean="0"/>
              <a:t>（注意）代入式において、左辺と右辺のどちらを先に評価するかは未規定である。したがって、</a:t>
            </a:r>
            <a:r>
              <a:rPr lang="en-US" altLang="ja-JP" sz="2000" dirty="0" smtClean="0"/>
              <a:t>*(++p)=*(++p)+1</a:t>
            </a:r>
            <a:r>
              <a:rPr lang="ja-JP" altLang="en-US" sz="2000" dirty="0" smtClean="0"/>
              <a:t>のように、左辺、右辺に関連のある副作用のある式を書くのは避けるべき。</a:t>
            </a:r>
            <a:r>
              <a:rPr lang="en-US" altLang="ja-JP" sz="2000" dirty="0" smtClean="0"/>
              <a:t>++(*(++p)) </a:t>
            </a:r>
            <a:r>
              <a:rPr lang="ja-JP" altLang="en-US" sz="2000" dirty="0" smtClean="0"/>
              <a:t>については、意味は一意である。</a:t>
            </a:r>
            <a:endParaRPr lang="en-US" altLang="ja-JP" sz="2000" dirty="0" smtClean="0"/>
          </a:p>
        </p:txBody>
      </p:sp>
      <p:sp>
        <p:nvSpPr>
          <p:cNvPr id="7" name="正方形/長方形 6"/>
          <p:cNvSpPr/>
          <p:nvPr/>
        </p:nvSpPr>
        <p:spPr>
          <a:xfrm>
            <a:off x="4786314" y="1142984"/>
            <a:ext cx="4143404"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 = </a:t>
            </a:r>
            <a:r>
              <a:rPr lang="en-US" altLang="ja-JP" sz="2400" dirty="0" smtClean="0">
                <a:solidFill>
                  <a:srgbClr val="FF0000"/>
                </a:solidFill>
              </a:rPr>
              <a:t>*(++p)</a:t>
            </a:r>
            <a:r>
              <a:rPr lang="en-US" altLang="ja-JP" sz="2400" dirty="0" smtClean="0"/>
              <a:t> + 1;</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8" name="正方形/長方形 7"/>
          <p:cNvSpPr/>
          <p:nvPr/>
        </p:nvSpPr>
        <p:spPr>
          <a:xfrm>
            <a:off x="214282" y="1142984"/>
            <a:ext cx="4357686"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9" name="テキスト ボックス 8"/>
          <p:cNvSpPr txBox="1"/>
          <p:nvPr/>
        </p:nvSpPr>
        <p:spPr>
          <a:xfrm>
            <a:off x="224391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0" name="テキスト ボックス 9"/>
          <p:cNvSpPr txBox="1"/>
          <p:nvPr/>
        </p:nvSpPr>
        <p:spPr>
          <a:xfrm>
            <a:off x="653019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1" name="テキスト ボックス 10"/>
          <p:cNvSpPr txBox="1"/>
          <p:nvPr/>
        </p:nvSpPr>
        <p:spPr>
          <a:xfrm>
            <a:off x="428596" y="5078568"/>
            <a:ext cx="7929618" cy="707886"/>
          </a:xfrm>
          <a:prstGeom prst="rect">
            <a:avLst/>
          </a:prstGeom>
          <a:noFill/>
        </p:spPr>
        <p:txBody>
          <a:bodyPr wrap="square" rtlCol="0">
            <a:spAutoFit/>
          </a:bodyPr>
          <a:lstStyle/>
          <a:p>
            <a:r>
              <a:rPr lang="ja-JP" altLang="en-US" sz="2000" dirty="0" smtClean="0"/>
              <a:t>左のプログラムでは、ポインタ</a:t>
            </a:r>
            <a:r>
              <a:rPr lang="en-US" altLang="ja-JP" sz="2000" dirty="0" smtClean="0"/>
              <a:t>p</a:t>
            </a:r>
            <a:r>
              <a:rPr lang="ja-JP" altLang="en-US" sz="2000" dirty="0" smtClean="0"/>
              <a:t>の値は１回だけ</a:t>
            </a:r>
            <a:r>
              <a:rPr lang="en-US" altLang="ja-JP" sz="2000" dirty="0" smtClean="0"/>
              <a:t>1</a:t>
            </a:r>
            <a:r>
              <a:rPr lang="ja-JP" altLang="en-US" sz="2000" dirty="0" smtClean="0"/>
              <a:t>足されるが、右のプログラムでは２回、</a:t>
            </a:r>
            <a:r>
              <a:rPr lang="en-US" altLang="ja-JP" sz="2000" dirty="0" smtClean="0"/>
              <a:t>1</a:t>
            </a:r>
            <a:r>
              <a:rPr lang="ja-JP" altLang="en-US" sz="2000" dirty="0" smtClean="0"/>
              <a:t>足される。</a:t>
            </a:r>
            <a:endParaRPr kumimoji="1" lang="ja-JP" alt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子（後置）</a:t>
            </a:r>
            <a:endParaRPr kumimoji="1" lang="ja-JP" altLang="en-US" dirty="0"/>
          </a:p>
        </p:txBody>
      </p:sp>
      <p:sp>
        <p:nvSpPr>
          <p:cNvPr id="4" name="テキスト ボックス 3"/>
          <p:cNvSpPr txBox="1"/>
          <p:nvPr/>
        </p:nvSpPr>
        <p:spPr>
          <a:xfrm>
            <a:off x="785786" y="1334144"/>
            <a:ext cx="5421677" cy="523220"/>
          </a:xfrm>
          <a:prstGeom prst="rect">
            <a:avLst/>
          </a:prstGeom>
          <a:noFill/>
        </p:spPr>
        <p:txBody>
          <a:bodyPr wrap="none" rtlCol="0">
            <a:spAutoFit/>
          </a:bodyPr>
          <a:lstStyle/>
          <a:p>
            <a:r>
              <a:rPr lang="ja-JP" altLang="en-US" sz="2800" dirty="0" smtClean="0"/>
              <a:t>後置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1068947"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 </a:t>
            </a:r>
            <a:r>
              <a:rPr lang="en-US" altLang="ja-JP" sz="2800" dirty="0" smtClean="0">
                <a:ea typeface="ＭＳ Ｐゴシック" charset="-128"/>
              </a:rPr>
              <a:t>++</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857496"/>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475025"/>
            <a:ext cx="7175720"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式の値は</a:t>
            </a:r>
            <a:r>
              <a:rPr lang="en-US" altLang="ja-JP" sz="2800" dirty="0" smtClean="0"/>
              <a:t>1</a:t>
            </a:r>
            <a:r>
              <a:rPr lang="ja-JP" altLang="en-US" sz="2800" dirty="0" smtClean="0"/>
              <a:t>を足す前の</a:t>
            </a:r>
            <a:r>
              <a:rPr lang="en-US" altLang="ja-JP" sz="2800" dirty="0" smtClean="0"/>
              <a:t>e</a:t>
            </a:r>
            <a:r>
              <a:rPr lang="ja-JP" altLang="en-US" sz="2800" dirty="0" smtClean="0"/>
              <a:t>の値であり、その後</a:t>
            </a:r>
            <a:r>
              <a:rPr lang="en-US" altLang="ja-JP" sz="2800" dirty="0" smtClean="0"/>
              <a:t>1</a:t>
            </a:r>
            <a:r>
              <a:rPr lang="ja-JP" altLang="en-US" sz="2800" dirty="0" smtClean="0"/>
              <a:t>が足される。</a:t>
            </a:r>
            <a:endParaRPr lang="en-US" altLang="ja-JP" sz="2800" dirty="0" smtClean="0"/>
          </a:p>
        </p:txBody>
      </p:sp>
      <p:sp>
        <p:nvSpPr>
          <p:cNvPr id="10" name="テキスト ボックス 9"/>
          <p:cNvSpPr txBox="1">
            <a:spLocks noChangeArrowheads="1"/>
          </p:cNvSpPr>
          <p:nvPr/>
        </p:nvSpPr>
        <p:spPr bwMode="auto">
          <a:xfrm>
            <a:off x="642910" y="4725144"/>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301208"/>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 </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3" name="テキスト ボックス 12"/>
          <p:cNvSpPr txBox="1"/>
          <p:nvPr/>
        </p:nvSpPr>
        <p:spPr>
          <a:xfrm>
            <a:off x="785786" y="5930116"/>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ファイル処理</a:t>
            </a:r>
            <a:endParaRPr kumimoji="1" lang="ja-JP" altLang="en-US" dirty="0"/>
          </a:p>
        </p:txBody>
      </p:sp>
      <p:sp>
        <p:nvSpPr>
          <p:cNvPr id="4" name="テキスト ボックス 3"/>
          <p:cNvSpPr txBox="1"/>
          <p:nvPr/>
        </p:nvSpPr>
        <p:spPr>
          <a:xfrm>
            <a:off x="571472" y="1428736"/>
            <a:ext cx="8215338" cy="5262979"/>
          </a:xfrm>
          <a:prstGeom prst="rect">
            <a:avLst/>
          </a:prstGeom>
          <a:noFill/>
        </p:spPr>
        <p:txBody>
          <a:bodyPr wrap="square" rtlCol="0">
            <a:spAutoFit/>
          </a:bodyPr>
          <a:lstStyle/>
          <a:p>
            <a:r>
              <a:rPr kumimoji="1" lang="ja-JP" altLang="en-US" sz="2400" dirty="0" smtClean="0"/>
              <a:t>これまでファイルの</a:t>
            </a:r>
            <a:r>
              <a:rPr lang="ja-JP" altLang="en-US" sz="2400" dirty="0" smtClean="0"/>
              <a:t>操作は</a:t>
            </a:r>
            <a:r>
              <a:rPr lang="en-US" altLang="ja-JP" sz="2400" dirty="0" err="1" smtClean="0"/>
              <a:t>emacs</a:t>
            </a:r>
            <a:r>
              <a:rPr lang="ja-JP" altLang="en-US" sz="2400" dirty="0" smtClean="0"/>
              <a:t>あるいは</a:t>
            </a:r>
            <a:r>
              <a:rPr lang="en-US" altLang="ja-JP" sz="2400" dirty="0" smtClean="0"/>
              <a:t>cp, </a:t>
            </a:r>
            <a:r>
              <a:rPr lang="en-US" altLang="ja-JP" sz="2400" dirty="0" err="1" smtClean="0"/>
              <a:t>mv</a:t>
            </a:r>
            <a:r>
              <a:rPr lang="ja-JP" altLang="en-US" sz="2400" dirty="0" smtClean="0"/>
              <a:t>などのコマンドで行っていたが、</a:t>
            </a:r>
            <a:r>
              <a:rPr lang="en-US" altLang="ja-JP" sz="2400" dirty="0" smtClean="0"/>
              <a:t>C</a:t>
            </a:r>
            <a:r>
              <a:rPr lang="ja-JP" altLang="en-US" sz="2400" dirty="0" smtClean="0"/>
              <a:t>言語のプログラムでファイルを操作することができる。ファイルを操作するためのライブラリ関数が提供されている。</a:t>
            </a:r>
            <a:endParaRPr lang="en-US" altLang="ja-JP" sz="2400" dirty="0" smtClean="0"/>
          </a:p>
          <a:p>
            <a:r>
              <a:rPr lang="en-US" altLang="ja-JP" sz="2400" dirty="0" smtClean="0"/>
              <a:t>    </a:t>
            </a:r>
            <a:r>
              <a:rPr lang="en-US" altLang="ja-JP" sz="2400" dirty="0" err="1" smtClean="0"/>
              <a:t>fopen</a:t>
            </a:r>
            <a:r>
              <a:rPr lang="en-US" altLang="ja-JP" sz="2400" dirty="0" smtClean="0"/>
              <a:t> --- </a:t>
            </a:r>
            <a:r>
              <a:rPr lang="ja-JP" altLang="en-US" sz="2400" dirty="0" smtClean="0"/>
              <a:t>ファイルを開く（ファイルをプログラムから扱えるように準備する）</a:t>
            </a:r>
            <a:endParaRPr lang="en-US" altLang="ja-JP" sz="2400" dirty="0" smtClean="0"/>
          </a:p>
          <a:p>
            <a:r>
              <a:rPr lang="en-US" altLang="ja-JP" sz="2400" dirty="0" smtClean="0"/>
              <a:t>    </a:t>
            </a:r>
            <a:r>
              <a:rPr lang="en-US" altLang="ja-JP" sz="2400" dirty="0" err="1" smtClean="0"/>
              <a:t>fclose</a:t>
            </a:r>
            <a:r>
              <a:rPr lang="en-US" altLang="ja-JP" sz="2400" dirty="0" smtClean="0"/>
              <a:t> --- </a:t>
            </a:r>
            <a:r>
              <a:rPr lang="ja-JP" altLang="en-US" sz="2400" dirty="0" smtClean="0"/>
              <a:t>ファイルを閉じる（ファイルを扱える状態においては、プロセスにおけるファイル用の表のエントリを１つ分占めている。それが解放される。）</a:t>
            </a:r>
            <a:endParaRPr lang="en-US" altLang="ja-JP" sz="2400" dirty="0" smtClean="0"/>
          </a:p>
          <a:p>
            <a:r>
              <a:rPr lang="en-US" altLang="ja-JP" sz="2400" dirty="0" smtClean="0"/>
              <a:t>    </a:t>
            </a:r>
            <a:r>
              <a:rPr lang="en-US" altLang="ja-JP" sz="2400" dirty="0" err="1" smtClean="0"/>
              <a:t>fprintf</a:t>
            </a:r>
            <a:r>
              <a:rPr lang="en-US" altLang="ja-JP" sz="2400" dirty="0" smtClean="0"/>
              <a:t>  --- </a:t>
            </a:r>
            <a:r>
              <a:rPr lang="ja-JP" altLang="en-US" sz="2400" dirty="0" smtClean="0"/>
              <a:t>ファイルへの書き込み</a:t>
            </a:r>
            <a:endParaRPr lang="en-US" altLang="ja-JP" sz="2400" dirty="0" smtClean="0"/>
          </a:p>
          <a:p>
            <a:r>
              <a:rPr lang="en-US" altLang="ja-JP" sz="2400" dirty="0" smtClean="0"/>
              <a:t>    </a:t>
            </a:r>
            <a:r>
              <a:rPr lang="en-US" altLang="ja-JP" sz="2400" dirty="0" err="1" smtClean="0"/>
              <a:t>fscanf</a:t>
            </a:r>
            <a:r>
              <a:rPr lang="en-US" altLang="ja-JP" sz="2400" dirty="0" smtClean="0"/>
              <a:t> --- </a:t>
            </a:r>
            <a:r>
              <a:rPr lang="ja-JP" altLang="en-US" sz="2400" dirty="0" smtClean="0"/>
              <a:t>ファイルからの読み取り</a:t>
            </a:r>
            <a:endParaRPr lang="en-US" altLang="ja-JP" sz="2400" dirty="0" smtClean="0"/>
          </a:p>
          <a:p>
            <a:r>
              <a:rPr lang="ja-JP" altLang="en-US" sz="2400" dirty="0" smtClean="0"/>
              <a:t>などのライブラリがある。</a:t>
            </a:r>
            <a:endParaRPr lang="en-US" altLang="ja-JP" sz="2400" dirty="0" smtClean="0"/>
          </a:p>
          <a:p>
            <a:r>
              <a:rPr lang="ja-JP" altLang="en-US" sz="2400" dirty="0" smtClean="0"/>
              <a:t>これらのライブラリ関数を使う場合は、</a:t>
            </a:r>
            <a:r>
              <a:rPr lang="en-US" altLang="ja-JP" sz="2400" dirty="0" err="1" smtClean="0"/>
              <a:t>stdio.h</a:t>
            </a:r>
            <a:r>
              <a:rPr lang="ja-JP" altLang="en-US" sz="2400" dirty="0" smtClean="0"/>
              <a:t>をインクルードする。（</a:t>
            </a:r>
            <a:r>
              <a:rPr lang="en-US" altLang="ja-JP" sz="2400" dirty="0" err="1" smtClean="0"/>
              <a:t>printf</a:t>
            </a:r>
            <a:r>
              <a:rPr lang="ja-JP" altLang="en-US" sz="2400" dirty="0" smtClean="0"/>
              <a:t>を使う場合と同じ）</a:t>
            </a:r>
            <a:r>
              <a:rPr lang="en-US" altLang="ja-JP" sz="2400" dirty="0" smtClean="0"/>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例（入力して確認）</a:t>
            </a:r>
            <a:endParaRPr kumimoji="1" lang="ja-JP" altLang="en-US" dirty="0"/>
          </a:p>
        </p:txBody>
      </p:sp>
      <p:sp>
        <p:nvSpPr>
          <p:cNvPr id="4" name="正方形/長方形 3"/>
          <p:cNvSpPr/>
          <p:nvPr/>
        </p:nvSpPr>
        <p:spPr>
          <a:xfrm>
            <a:off x="285720" y="1500174"/>
            <a:ext cx="5429288"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"r");</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オープン失敗</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ファイルをオープンしました</a:t>
            </a:r>
            <a:r>
              <a:rPr lang="en-US" altLang="ja-JP" sz="2400" dirty="0" smtClean="0"/>
              <a:t>\n");</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ファイルをクローズしました</a:t>
            </a:r>
            <a:r>
              <a:rPr lang="en-US" altLang="ja-JP" sz="2400" dirty="0" smtClean="0"/>
              <a:t>\n");</a:t>
            </a:r>
          </a:p>
          <a:p>
            <a:r>
              <a:rPr lang="en-US" altLang="ja-JP" sz="2400" dirty="0" smtClean="0"/>
              <a:t>  return 0;</a:t>
            </a:r>
          </a:p>
          <a:p>
            <a:r>
              <a:rPr lang="en-US" altLang="ja-JP" sz="2400" dirty="0" smtClean="0"/>
              <a:t>}</a:t>
            </a:r>
          </a:p>
        </p:txBody>
      </p:sp>
      <p:sp>
        <p:nvSpPr>
          <p:cNvPr id="5" name="テキスト ボックス 4"/>
          <p:cNvSpPr txBox="1"/>
          <p:nvPr/>
        </p:nvSpPr>
        <p:spPr>
          <a:xfrm>
            <a:off x="6072198" y="4643446"/>
            <a:ext cx="2428892" cy="1015663"/>
          </a:xfrm>
          <a:prstGeom prst="rect">
            <a:avLst/>
          </a:prstGeom>
          <a:noFill/>
        </p:spPr>
        <p:txBody>
          <a:bodyPr wrap="square" rtlCol="0">
            <a:spAutoFit/>
          </a:bodyPr>
          <a:lstStyle/>
          <a:p>
            <a:r>
              <a:rPr lang="en-US" altLang="ja-JP" sz="2000" dirty="0" smtClean="0"/>
              <a:t>t</a:t>
            </a:r>
            <a:r>
              <a:rPr kumimoji="1" lang="en-US" altLang="ja-JP" sz="2000" dirty="0" smtClean="0"/>
              <a:t>est</a:t>
            </a:r>
            <a:r>
              <a:rPr kumimoji="1" lang="ja-JP" altLang="en-US" sz="2000" dirty="0" smtClean="0"/>
              <a:t>という名前のファイルを自分で作って</a:t>
            </a:r>
            <a:r>
              <a:rPr lang="ja-JP" altLang="en-US" sz="2000" dirty="0" smtClean="0"/>
              <a:t>から実行してください。</a:t>
            </a:r>
            <a:endParaRPr kumimoji="1" lang="ja-JP" altLang="en-US" sz="2000" dirty="0"/>
          </a:p>
        </p:txBody>
      </p:sp>
      <p:sp>
        <p:nvSpPr>
          <p:cNvPr id="6" name="テキスト ボックス 5"/>
          <p:cNvSpPr txBox="1"/>
          <p:nvPr/>
        </p:nvSpPr>
        <p:spPr>
          <a:xfrm>
            <a:off x="5929322" y="1500174"/>
            <a:ext cx="2857520" cy="1015663"/>
          </a:xfrm>
          <a:prstGeom prst="rect">
            <a:avLst/>
          </a:prstGeom>
          <a:noFill/>
        </p:spPr>
        <p:txBody>
          <a:bodyPr wrap="square" rtlCol="0">
            <a:spAutoFit/>
          </a:bodyPr>
          <a:lstStyle/>
          <a:p>
            <a:r>
              <a:rPr lang="en-US" altLang="ja-JP" sz="2000" dirty="0" smtClean="0"/>
              <a:t>test</a:t>
            </a:r>
            <a:r>
              <a:rPr lang="ja-JP" altLang="en-US" sz="2000" dirty="0" smtClean="0"/>
              <a:t>という名前のファイルをオープンしてクローズするだけのプログラム。</a:t>
            </a:r>
            <a:endParaRPr lang="en-US" altLang="ja-JP" sz="2000" dirty="0" smtClean="0"/>
          </a:p>
        </p:txBody>
      </p:sp>
      <p:sp>
        <p:nvSpPr>
          <p:cNvPr id="7" name="正方形/長方形 6"/>
          <p:cNvSpPr/>
          <p:nvPr/>
        </p:nvSpPr>
        <p:spPr>
          <a:xfrm>
            <a:off x="6000760" y="2857496"/>
            <a:ext cx="2714644" cy="1323439"/>
          </a:xfrm>
          <a:prstGeom prst="rect">
            <a:avLst/>
          </a:prstGeom>
        </p:spPr>
        <p:txBody>
          <a:bodyPr wrap="square">
            <a:spAutoFit/>
          </a:bodyPr>
          <a:lstStyle/>
          <a:p>
            <a:pPr lvl="0"/>
            <a:r>
              <a:rPr lang="en-US" altLang="ja-JP" sz="2000" dirty="0" smtClean="0">
                <a:solidFill>
                  <a:prstClr val="black"/>
                </a:solidFill>
              </a:rPr>
              <a:t>test</a:t>
            </a:r>
            <a:r>
              <a:rPr lang="ja-JP" altLang="en-US" sz="2000" dirty="0" smtClean="0">
                <a:solidFill>
                  <a:prstClr val="black"/>
                </a:solidFill>
              </a:rPr>
              <a:t>という名前のファイルがない場合には「ファイルをオープンできません」と出力して終了。</a:t>
            </a:r>
            <a:endParaRPr lang="ja-JP" altLang="en-US" sz="2000" dirty="0">
              <a:solidFill>
                <a:prstClr val="black"/>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FILE</a:t>
            </a:r>
            <a:r>
              <a:rPr kumimoji="1" lang="ja-JP" altLang="en-US" dirty="0" smtClean="0"/>
              <a:t>型</a:t>
            </a:r>
            <a:endParaRPr kumimoji="1" lang="ja-JP" altLang="en-US" dirty="0"/>
          </a:p>
        </p:txBody>
      </p:sp>
      <p:sp>
        <p:nvSpPr>
          <p:cNvPr id="4" name="テキスト ボックス 3"/>
          <p:cNvSpPr txBox="1"/>
          <p:nvPr/>
        </p:nvSpPr>
        <p:spPr>
          <a:xfrm>
            <a:off x="714348" y="1428736"/>
            <a:ext cx="7643866" cy="1938992"/>
          </a:xfrm>
          <a:prstGeom prst="rect">
            <a:avLst/>
          </a:prstGeom>
          <a:noFill/>
        </p:spPr>
        <p:txBody>
          <a:bodyPr wrap="square" rtlCol="0">
            <a:spAutoFit/>
          </a:bodyPr>
          <a:lstStyle/>
          <a:p>
            <a:r>
              <a:rPr lang="ja-JP" altLang="en-US" sz="2400" dirty="0" smtClean="0"/>
              <a:t>ライブラリ関数</a:t>
            </a:r>
            <a:r>
              <a:rPr lang="en-US" altLang="ja-JP" sz="2400" dirty="0" err="1" smtClean="0"/>
              <a:t>f</a:t>
            </a:r>
            <a:r>
              <a:rPr kumimoji="1" lang="en-US" altLang="ja-JP" sz="2400" dirty="0" err="1" smtClean="0"/>
              <a:t>open</a:t>
            </a:r>
            <a:r>
              <a:rPr kumimoji="1" lang="en-US" altLang="ja-JP" sz="2400" dirty="0" smtClean="0"/>
              <a:t>, </a:t>
            </a:r>
            <a:r>
              <a:rPr kumimoji="1" lang="en-US" altLang="ja-JP" sz="2400" dirty="0" err="1" smtClean="0"/>
              <a:t>fprintf</a:t>
            </a:r>
            <a:r>
              <a:rPr kumimoji="1" lang="en-US" altLang="ja-JP" sz="2400" dirty="0" smtClean="0"/>
              <a:t>, </a:t>
            </a:r>
            <a:r>
              <a:rPr kumimoji="1" lang="en-US" altLang="ja-JP" sz="2400" dirty="0" err="1" smtClean="0"/>
              <a:t>fscanf</a:t>
            </a:r>
            <a:r>
              <a:rPr kumimoji="1" lang="en-US" altLang="ja-JP" sz="2400" dirty="0" smtClean="0"/>
              <a:t>, </a:t>
            </a:r>
            <a:r>
              <a:rPr kumimoji="1" lang="en-US" altLang="ja-JP" sz="2400" dirty="0" err="1" smtClean="0"/>
              <a:t>fclose</a:t>
            </a:r>
            <a:r>
              <a:rPr kumimoji="1" lang="ja-JP" altLang="en-US" sz="2400" dirty="0" smtClean="0"/>
              <a:t>においては、</a:t>
            </a:r>
            <a:r>
              <a:rPr kumimoji="1" lang="en-US" altLang="ja-JP" sz="2400" dirty="0" smtClean="0"/>
              <a:t>FILE</a:t>
            </a:r>
            <a:r>
              <a:rPr kumimoji="1" lang="ja-JP" altLang="en-US" sz="2400" dirty="0" smtClean="0"/>
              <a:t>型のオブジェクトを介してファイルへのアクセスを行う。</a:t>
            </a:r>
            <a:r>
              <a:rPr kumimoji="1" lang="en-US" altLang="ja-JP" sz="2400" dirty="0" smtClean="0"/>
              <a:t>FILE</a:t>
            </a:r>
            <a:r>
              <a:rPr kumimoji="1" lang="ja-JP" altLang="en-US" sz="2400" dirty="0" smtClean="0"/>
              <a:t>型のオブジェクトにファイルへのアクセスに必要な情報が格納されている。</a:t>
            </a:r>
            <a:r>
              <a:rPr kumimoji="1" lang="en-US" altLang="ja-JP" sz="2400" dirty="0" smtClean="0"/>
              <a:t>FILE</a:t>
            </a:r>
            <a:r>
              <a:rPr kumimoji="1" lang="ja-JP" altLang="en-US" sz="2400" dirty="0" smtClean="0"/>
              <a:t>型の具体的なデータ構造は処理系によって異なる。</a:t>
            </a:r>
            <a:endParaRPr kumimoji="1" lang="ja-JP"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fopen</a:t>
            </a:r>
            <a:endParaRPr kumimoji="1" lang="ja-JP" altLang="en-US" dirty="0"/>
          </a:p>
        </p:txBody>
      </p:sp>
      <p:sp>
        <p:nvSpPr>
          <p:cNvPr id="4" name="テキスト ボックス 3"/>
          <p:cNvSpPr txBox="1"/>
          <p:nvPr/>
        </p:nvSpPr>
        <p:spPr>
          <a:xfrm>
            <a:off x="857224" y="1500174"/>
            <a:ext cx="7518363" cy="4154984"/>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は、ファイル名とモードを引数にとり、</a:t>
            </a:r>
            <a:r>
              <a:rPr lang="en-US" altLang="ja-JP" sz="2400" dirty="0" smtClean="0"/>
              <a:t>FILE</a:t>
            </a:r>
            <a:r>
              <a:rPr lang="ja-JP" altLang="en-US" sz="2400" dirty="0" smtClean="0"/>
              <a:t>型へのポインタを返り値として返す。オープンに失敗した場合は</a:t>
            </a:r>
            <a:r>
              <a:rPr lang="en-US" altLang="ja-JP" sz="2400" dirty="0" smtClean="0"/>
              <a:t>NULL</a:t>
            </a:r>
            <a:r>
              <a:rPr lang="ja-JP" altLang="en-US" sz="2400" dirty="0" smtClean="0"/>
              <a:t>ポインタを返す。</a:t>
            </a:r>
            <a:endParaRPr lang="en-US" altLang="ja-JP" sz="2400" dirty="0" smtClean="0"/>
          </a:p>
          <a:p>
            <a:endParaRPr lang="en-US" altLang="ja-JP" sz="2400" dirty="0" smtClean="0"/>
          </a:p>
          <a:p>
            <a:r>
              <a:rPr kumimoji="1" lang="en-US" altLang="ja-JP" sz="2400" dirty="0" smtClean="0"/>
              <a:t>[</a:t>
            </a:r>
            <a:r>
              <a:rPr kumimoji="1" lang="ja-JP" altLang="en-US" sz="2400" dirty="0" smtClean="0"/>
              <a:t>モード</a:t>
            </a:r>
            <a:r>
              <a:rPr kumimoji="1" lang="en-US" altLang="ja-JP" sz="2400" dirty="0" smtClean="0"/>
              <a:t>]</a:t>
            </a:r>
          </a:p>
          <a:p>
            <a:r>
              <a:rPr lang="en-US" altLang="ja-JP" sz="2400" dirty="0" smtClean="0"/>
              <a:t>   r --- </a:t>
            </a:r>
            <a:r>
              <a:rPr lang="ja-JP" altLang="en-US" sz="2400" dirty="0" smtClean="0"/>
              <a:t>読み取りモードでオープン</a:t>
            </a:r>
            <a:endParaRPr lang="en-US" altLang="ja-JP" sz="2400" dirty="0" smtClean="0"/>
          </a:p>
          <a:p>
            <a:r>
              <a:rPr kumimoji="1" lang="en-US" altLang="ja-JP" sz="2400" dirty="0" smtClean="0"/>
              <a:t>   w --- </a:t>
            </a:r>
            <a:r>
              <a:rPr kumimoji="1" lang="ja-JP" altLang="en-US" sz="2400" dirty="0" smtClean="0"/>
              <a:t>指定されたファイルがない場合は、書き込みモードでファイルを新たに生成してオープン。ある場合は、ファイルをオープンして、既存の内容を全部消す。</a:t>
            </a:r>
            <a:endParaRPr kumimoji="1" lang="en-US" altLang="ja-JP" sz="2400" dirty="0" smtClean="0"/>
          </a:p>
          <a:p>
            <a:endParaRPr lang="en-US" altLang="ja-JP" sz="2400" dirty="0" smtClean="0"/>
          </a:p>
          <a:p>
            <a:r>
              <a:rPr lang="ja-JP" altLang="en-US" sz="2400" dirty="0" smtClean="0"/>
              <a:t>他にもいくつかモードがある。詳しくは</a:t>
            </a:r>
            <a:r>
              <a:rPr lang="en-US" altLang="ja-JP" sz="2400" dirty="0" smtClean="0"/>
              <a:t>man </a:t>
            </a:r>
            <a:r>
              <a:rPr lang="en-US" altLang="ja-JP" sz="2400" dirty="0" err="1" smtClean="0"/>
              <a:t>fopen</a:t>
            </a:r>
            <a:r>
              <a:rPr lang="ja-JP" altLang="en-US" sz="2400" dirty="0" smtClean="0"/>
              <a:t>で確認。</a:t>
            </a:r>
            <a:endParaRPr lang="en-US" altLang="ja-JP" sz="24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fclose</a:t>
            </a:r>
            <a:endParaRPr kumimoji="1" lang="ja-JP" altLang="en-US" dirty="0"/>
          </a:p>
        </p:txBody>
      </p:sp>
      <p:sp>
        <p:nvSpPr>
          <p:cNvPr id="4" name="テキスト ボックス 3"/>
          <p:cNvSpPr txBox="1"/>
          <p:nvPr/>
        </p:nvSpPr>
        <p:spPr>
          <a:xfrm>
            <a:off x="1000100" y="1526433"/>
            <a:ext cx="7000924" cy="830997"/>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a:t>
            </a:r>
            <a:r>
              <a:rPr lang="en-US" altLang="ja-JP" sz="2400" dirty="0" smtClean="0"/>
              <a:t>FILE</a:t>
            </a:r>
            <a:r>
              <a:rPr lang="ja-JP" altLang="en-US" sz="2400" dirty="0" smtClean="0"/>
              <a:t>型へのポインタを引数として受け取り、そのファイルを閉じる。</a:t>
            </a:r>
            <a:endParaRPr lang="en-US" altLang="ja-JP" sz="24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fprintf</a:t>
            </a:r>
            <a:endParaRPr kumimoji="1" lang="ja-JP" altLang="en-US" dirty="0"/>
          </a:p>
        </p:txBody>
      </p:sp>
      <p:sp>
        <p:nvSpPr>
          <p:cNvPr id="4" name="テキスト ボックス 3"/>
          <p:cNvSpPr txBox="1"/>
          <p:nvPr/>
        </p:nvSpPr>
        <p:spPr>
          <a:xfrm>
            <a:off x="1071538" y="1643050"/>
            <a:ext cx="7143800" cy="1938992"/>
          </a:xfrm>
          <a:prstGeom prst="rect">
            <a:avLst/>
          </a:prstGeom>
          <a:noFill/>
        </p:spPr>
        <p:txBody>
          <a:bodyPr wrap="square" rtlCol="0">
            <a:spAutoFit/>
          </a:bodyPr>
          <a:lstStyle/>
          <a:p>
            <a:r>
              <a:rPr lang="ja-JP" altLang="en-US" sz="2400" dirty="0" smtClean="0"/>
              <a:t>第１引数に</a:t>
            </a:r>
            <a:r>
              <a:rPr lang="en-US" altLang="ja-JP" sz="2400" dirty="0" smtClean="0"/>
              <a:t>FILE</a:t>
            </a:r>
            <a:r>
              <a:rPr lang="ja-JP" altLang="en-US" sz="2400" dirty="0" smtClean="0"/>
              <a:t>型へのポインタを受け取り、そこへ書き込む。第２引数以降は</a:t>
            </a:r>
            <a:r>
              <a:rPr lang="en-US" altLang="ja-JP" sz="2400" dirty="0" err="1" smtClean="0"/>
              <a:t>printf</a:t>
            </a:r>
            <a:r>
              <a:rPr lang="ja-JP" altLang="en-US" sz="2400" dirty="0" smtClean="0"/>
              <a:t>と同じ形式である。</a:t>
            </a:r>
            <a:endParaRPr lang="en-US" altLang="ja-JP" sz="2400" dirty="0" smtClean="0"/>
          </a:p>
          <a:p>
            <a:r>
              <a:rPr lang="en-US" altLang="ja-JP" sz="2400" dirty="0" err="1" smtClean="0"/>
              <a:t>printf</a:t>
            </a:r>
            <a:r>
              <a:rPr lang="ja-JP" altLang="en-US" sz="2400" dirty="0" smtClean="0"/>
              <a:t>関数は、</a:t>
            </a:r>
            <a:r>
              <a:rPr lang="en-US" altLang="ja-JP" sz="2400" dirty="0" err="1" smtClean="0"/>
              <a:t>fprintf</a:t>
            </a:r>
            <a:r>
              <a:rPr lang="ja-JP" altLang="en-US" sz="2400" dirty="0" smtClean="0"/>
              <a:t>関数の第一引数に</a:t>
            </a:r>
            <a:r>
              <a:rPr lang="en-US" altLang="ja-JP" sz="2400" dirty="0" err="1" smtClean="0"/>
              <a:t>stdout</a:t>
            </a:r>
            <a:r>
              <a:rPr lang="ja-JP" altLang="en-US" sz="2400" dirty="0" smtClean="0"/>
              <a:t>を指定した場合と同じ意味である。（</a:t>
            </a:r>
            <a:r>
              <a:rPr lang="en-US" altLang="ja-JP" sz="2400" dirty="0" err="1" smtClean="0"/>
              <a:t>stdout</a:t>
            </a:r>
            <a:r>
              <a:rPr lang="ja-JP" altLang="en-US" sz="2400" dirty="0" smtClean="0"/>
              <a:t>は標準出力を表す</a:t>
            </a:r>
            <a:r>
              <a:rPr lang="en-US" altLang="ja-JP" sz="2400" dirty="0" smtClean="0"/>
              <a:t>FILE</a:t>
            </a:r>
            <a:r>
              <a:rPr lang="ja-JP" altLang="en-US" sz="2400" dirty="0" smtClean="0"/>
              <a:t>型へのポインタ。）</a:t>
            </a:r>
            <a:endParaRPr lang="en-US" altLang="ja-JP" sz="24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357158" y="1428736"/>
            <a:ext cx="5857916"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"w");</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ファイルをオープンできません</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fprintf</a:t>
            </a:r>
            <a:r>
              <a:rPr lang="en-US" altLang="ja-JP" sz="2400" dirty="0" smtClean="0"/>
              <a:t> (</a:t>
            </a:r>
            <a:r>
              <a:rPr lang="en-US" altLang="ja-JP" sz="2400" dirty="0" err="1" smtClean="0"/>
              <a:t>fp</a:t>
            </a:r>
            <a:r>
              <a:rPr lang="en-US" altLang="ja-JP" sz="2400" dirty="0" smtClean="0"/>
              <a:t>, "%d+%d=%d\n", 1, 1, 2);</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return 0;</a:t>
            </a:r>
          </a:p>
          <a:p>
            <a:r>
              <a:rPr lang="en-US" altLang="ja-JP" sz="2400" dirty="0" smtClean="0"/>
              <a:t>}</a:t>
            </a:r>
          </a:p>
        </p:txBody>
      </p:sp>
      <p:sp>
        <p:nvSpPr>
          <p:cNvPr id="5" name="テキスト ボックス 4"/>
          <p:cNvSpPr txBox="1"/>
          <p:nvPr/>
        </p:nvSpPr>
        <p:spPr>
          <a:xfrm flipH="1">
            <a:off x="6357950" y="1500174"/>
            <a:ext cx="2286016" cy="4708981"/>
          </a:xfrm>
          <a:prstGeom prst="rect">
            <a:avLst/>
          </a:prstGeom>
          <a:noFill/>
        </p:spPr>
        <p:txBody>
          <a:bodyPr wrap="square" rtlCol="0">
            <a:spAutoFit/>
          </a:bodyPr>
          <a:lstStyle/>
          <a:p>
            <a:r>
              <a:rPr lang="en-US" altLang="ja-JP" sz="2000" dirty="0" smtClean="0"/>
              <a:t>te</a:t>
            </a:r>
            <a:r>
              <a:rPr kumimoji="1" lang="en-US" altLang="ja-JP" sz="2000" dirty="0" smtClean="0"/>
              <a:t>st</a:t>
            </a:r>
            <a:r>
              <a:rPr kumimoji="1" lang="ja-JP" altLang="en-US" sz="2000" dirty="0" smtClean="0"/>
              <a:t>というファイル</a:t>
            </a:r>
            <a:r>
              <a:rPr lang="ja-JP" altLang="en-US" sz="2000" dirty="0" smtClean="0"/>
              <a:t>に</a:t>
            </a:r>
            <a:r>
              <a:rPr lang="en-US" altLang="ja-JP" sz="2000" dirty="0" smtClean="0"/>
              <a:t>1+1=2</a:t>
            </a:r>
            <a:r>
              <a:rPr lang="ja-JP" altLang="en-US" sz="2000" dirty="0" smtClean="0"/>
              <a:t>と書きこむプログラム。</a:t>
            </a:r>
            <a:endParaRPr lang="en-US" altLang="ja-JP" sz="2000" dirty="0" smtClean="0"/>
          </a:p>
          <a:p>
            <a:endParaRPr lang="en-US" altLang="ja-JP" sz="2000" dirty="0" smtClean="0"/>
          </a:p>
          <a:p>
            <a:r>
              <a:rPr lang="en-US" altLang="ja-JP" sz="2000" dirty="0" smtClean="0"/>
              <a:t>t</a:t>
            </a:r>
            <a:r>
              <a:rPr kumimoji="1" lang="en-US" altLang="ja-JP" sz="2000" dirty="0" smtClean="0"/>
              <a:t>est</a:t>
            </a:r>
            <a:r>
              <a:rPr kumimoji="1" lang="ja-JP" altLang="en-US" sz="2000" dirty="0" smtClean="0"/>
              <a:t>というファイルがあったら、その内容は消されてから</a:t>
            </a:r>
            <a:r>
              <a:rPr lang="en-US" altLang="ja-JP" sz="2000" dirty="0" smtClean="0"/>
              <a:t>1+1=2</a:t>
            </a:r>
            <a:r>
              <a:rPr kumimoji="1" lang="ja-JP" altLang="en-US" sz="2000" dirty="0" smtClean="0"/>
              <a:t>と書きこまれる。</a:t>
            </a:r>
            <a:endParaRPr kumimoji="1" lang="en-US" altLang="ja-JP" sz="2000" dirty="0" smtClean="0"/>
          </a:p>
          <a:p>
            <a:endParaRPr kumimoji="1" lang="en-US" altLang="ja-JP" sz="2000" dirty="0" smtClean="0"/>
          </a:p>
          <a:p>
            <a:r>
              <a:rPr lang="en-US" altLang="ja-JP" sz="2000" dirty="0" smtClean="0"/>
              <a:t>test</a:t>
            </a:r>
            <a:r>
              <a:rPr lang="ja-JP" altLang="en-US" sz="2000" dirty="0" smtClean="0"/>
              <a:t>というファイルがなければ、新たに作成されてから</a:t>
            </a:r>
            <a:r>
              <a:rPr lang="en-US" altLang="ja-JP" sz="2000" dirty="0" smtClean="0"/>
              <a:t>1+1=2</a:t>
            </a:r>
            <a:r>
              <a:rPr lang="ja-JP" altLang="en-US" sz="2000" dirty="0" smtClean="0"/>
              <a:t>と書きこまれる。</a:t>
            </a:r>
            <a:endParaRPr kumimoji="1" lang="en-US" altLang="ja-JP" sz="20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fscanf</a:t>
            </a:r>
            <a:endParaRPr kumimoji="1" lang="ja-JP" altLang="en-US" dirty="0"/>
          </a:p>
        </p:txBody>
      </p:sp>
      <p:sp>
        <p:nvSpPr>
          <p:cNvPr id="4" name="テキスト ボックス 3"/>
          <p:cNvSpPr txBox="1"/>
          <p:nvPr/>
        </p:nvSpPr>
        <p:spPr>
          <a:xfrm>
            <a:off x="827584" y="1406381"/>
            <a:ext cx="7315746" cy="5262979"/>
          </a:xfrm>
          <a:prstGeom prst="rect">
            <a:avLst/>
          </a:prstGeom>
          <a:noFill/>
        </p:spPr>
        <p:txBody>
          <a:bodyPr wrap="square" rtlCol="0">
            <a:spAutoFit/>
          </a:bodyPr>
          <a:lstStyle/>
          <a:p>
            <a:r>
              <a:rPr lang="ja-JP" altLang="en-US" sz="2400" dirty="0" smtClean="0"/>
              <a:t>第１引数に</a:t>
            </a:r>
            <a:r>
              <a:rPr lang="en-US" altLang="ja-JP" sz="2400" dirty="0" smtClean="0"/>
              <a:t>FILE</a:t>
            </a:r>
            <a:r>
              <a:rPr lang="ja-JP" altLang="en-US" sz="2400" dirty="0" smtClean="0"/>
              <a:t>型へのポインタを受け取り、そこから読み取る。第２引数以降は</a:t>
            </a:r>
            <a:r>
              <a:rPr lang="en-US" altLang="ja-JP" sz="2400" dirty="0" err="1" smtClean="0"/>
              <a:t>scanf</a:t>
            </a:r>
            <a:r>
              <a:rPr lang="ja-JP" altLang="en-US" sz="2400" dirty="0" smtClean="0"/>
              <a:t>と同じ形式である。</a:t>
            </a:r>
            <a:endParaRPr lang="en-US" altLang="ja-JP" sz="2400" dirty="0" smtClean="0"/>
          </a:p>
          <a:p>
            <a:r>
              <a:rPr lang="en-US" altLang="ja-JP" sz="2400" dirty="0" err="1" smtClean="0"/>
              <a:t>scanf</a:t>
            </a:r>
            <a:r>
              <a:rPr lang="ja-JP" altLang="en-US" sz="2400" dirty="0" smtClean="0"/>
              <a:t>関数は、</a:t>
            </a:r>
            <a:r>
              <a:rPr lang="en-US" altLang="ja-JP" sz="2400" dirty="0" err="1" smtClean="0"/>
              <a:t>fscanf</a:t>
            </a:r>
            <a:r>
              <a:rPr lang="ja-JP" altLang="en-US" sz="2400" dirty="0" smtClean="0"/>
              <a:t>関数の第一引数に</a:t>
            </a:r>
            <a:r>
              <a:rPr lang="en-US" altLang="ja-JP" sz="2400" dirty="0" err="1" smtClean="0"/>
              <a:t>stdin</a:t>
            </a:r>
            <a:r>
              <a:rPr lang="ja-JP" altLang="en-US" sz="2400" dirty="0" smtClean="0"/>
              <a:t>を指定した場合と同じ意味である。（</a:t>
            </a:r>
            <a:r>
              <a:rPr lang="en-US" altLang="ja-JP" sz="2400" dirty="0" err="1" smtClean="0"/>
              <a:t>stdin</a:t>
            </a:r>
            <a:r>
              <a:rPr lang="ja-JP" altLang="en-US" sz="2400" dirty="0" smtClean="0"/>
              <a:t>は標準入力を表す</a:t>
            </a:r>
            <a:r>
              <a:rPr lang="en-US" altLang="ja-JP" sz="2400" dirty="0" smtClean="0"/>
              <a:t>FILE</a:t>
            </a:r>
            <a:r>
              <a:rPr lang="ja-JP" altLang="en-US" sz="2400" dirty="0" smtClean="0"/>
              <a:t>型へのポインタ。）</a:t>
            </a:r>
            <a:endParaRPr lang="en-US" altLang="ja-JP" sz="2400" dirty="0" smtClean="0"/>
          </a:p>
          <a:p>
            <a:endParaRPr lang="en-US" altLang="ja-JP" sz="2400" dirty="0" smtClean="0"/>
          </a:p>
          <a:p>
            <a:r>
              <a:rPr lang="en-US" altLang="ja-JP" sz="2400" dirty="0" smtClean="0"/>
              <a:t>[</a:t>
            </a:r>
            <a:r>
              <a:rPr lang="ja-JP" altLang="en-US" sz="2400" dirty="0" smtClean="0"/>
              <a:t>少し詳しい説明</a:t>
            </a:r>
            <a:r>
              <a:rPr lang="en-US" altLang="ja-JP" sz="2400" dirty="0" smtClean="0"/>
              <a:t>]</a:t>
            </a:r>
          </a:p>
          <a:p>
            <a:r>
              <a:rPr lang="en-US" altLang="ja-JP" sz="2400" dirty="0" err="1" smtClean="0"/>
              <a:t>fscanf</a:t>
            </a:r>
            <a:r>
              <a:rPr lang="ja-JP" altLang="en-US" sz="2400" dirty="0" smtClean="0"/>
              <a:t>は、第２引数によって指定されるフォーマットに従ってファイルから入力を読み取って変換し、第３引数以降に受け取ったポインタの指す先に（変換指定での照合が成功したら）順次代入する。変換指定と合わなかった時点で読み取りが終了する（合わなかった部分以降はストリーム上に残る。詳細は</a:t>
            </a:r>
            <a:r>
              <a:rPr lang="en-US" altLang="ja-JP" sz="2400" dirty="0" smtClean="0"/>
              <a:t>man </a:t>
            </a:r>
            <a:r>
              <a:rPr lang="en-US" altLang="ja-JP" sz="2400" dirty="0" err="1" smtClean="0"/>
              <a:t>scanf</a:t>
            </a:r>
            <a:r>
              <a:rPr lang="ja-JP" altLang="en-US" sz="2400" dirty="0" smtClean="0"/>
              <a:t>でマニュアルを参照）。行われた代入の個数が返り値として返される。</a:t>
            </a:r>
            <a:endParaRPr lang="en-US" altLang="ja-JP" sz="24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kumimoji="1" lang="ja-JP" altLang="en-US" dirty="0" smtClean="0"/>
              <a:t>例（打ち込んで確認）</a:t>
            </a:r>
            <a:endParaRPr kumimoji="1" lang="ja-JP" altLang="en-US" dirty="0"/>
          </a:p>
        </p:txBody>
      </p:sp>
      <p:sp>
        <p:nvSpPr>
          <p:cNvPr id="4" name="正方形/長方形 3"/>
          <p:cNvSpPr/>
          <p:nvPr/>
        </p:nvSpPr>
        <p:spPr>
          <a:xfrm>
            <a:off x="142844" y="1214422"/>
            <a:ext cx="3429024" cy="3785652"/>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FILE * </a:t>
            </a:r>
            <a:r>
              <a:rPr lang="en-US" altLang="ja-JP" sz="2000" dirty="0" err="1" smtClean="0"/>
              <a:t>fp</a:t>
            </a:r>
            <a:r>
              <a:rPr lang="en-US" altLang="ja-JP" sz="2000" dirty="0" smtClean="0"/>
              <a:t>;</a:t>
            </a:r>
          </a:p>
          <a:p>
            <a:r>
              <a:rPr lang="en-US" altLang="ja-JP" sz="2000" dirty="0" smtClean="0"/>
              <a:t>  </a:t>
            </a:r>
            <a:r>
              <a:rPr lang="en-US" altLang="ja-JP" sz="2000" dirty="0" err="1" smtClean="0"/>
              <a:t>int</a:t>
            </a:r>
            <a:r>
              <a:rPr lang="en-US" altLang="ja-JP" sz="2000" dirty="0" smtClean="0"/>
              <a:t> num=0;</a:t>
            </a:r>
          </a:p>
          <a:p>
            <a:r>
              <a:rPr lang="en-US" altLang="ja-JP" sz="2000" dirty="0" smtClean="0"/>
              <a:t>  char name [100];</a:t>
            </a:r>
          </a:p>
          <a:p>
            <a:r>
              <a:rPr lang="en-US" altLang="ja-JP" sz="2000" dirty="0" smtClean="0"/>
              <a:t>  double height, weight;</a:t>
            </a:r>
          </a:p>
          <a:p>
            <a:r>
              <a:rPr lang="en-US" altLang="ja-JP" sz="2000" dirty="0" smtClean="0"/>
              <a:t>  double </a:t>
            </a:r>
            <a:r>
              <a:rPr lang="en-US" altLang="ja-JP" sz="2000" dirty="0" err="1" smtClean="0"/>
              <a:t>hsum</a:t>
            </a:r>
            <a:r>
              <a:rPr lang="en-US" altLang="ja-JP" sz="2000" dirty="0" smtClean="0"/>
              <a:t>=0.0, </a:t>
            </a:r>
            <a:r>
              <a:rPr lang="en-US" altLang="ja-JP" sz="2000" dirty="0" err="1" smtClean="0"/>
              <a:t>wsum</a:t>
            </a:r>
            <a:r>
              <a:rPr lang="en-US" altLang="ja-JP" sz="2000" dirty="0" smtClean="0"/>
              <a:t>=0.0;</a:t>
            </a:r>
          </a:p>
          <a:p>
            <a:r>
              <a:rPr lang="en-US" altLang="ja-JP" sz="2000" dirty="0" smtClean="0"/>
              <a:t>  </a:t>
            </a:r>
            <a:r>
              <a:rPr lang="en-US" altLang="ja-JP" sz="2000" dirty="0" err="1" smtClean="0"/>
              <a:t>fp</a:t>
            </a:r>
            <a:r>
              <a:rPr lang="en-US" altLang="ja-JP" sz="2000" dirty="0" smtClean="0"/>
              <a:t> = </a:t>
            </a:r>
            <a:r>
              <a:rPr lang="en-US" altLang="ja-JP" sz="2000" dirty="0" err="1" smtClean="0"/>
              <a:t>fopen</a:t>
            </a:r>
            <a:r>
              <a:rPr lang="en-US" altLang="ja-JP" sz="2000" dirty="0" smtClean="0"/>
              <a:t> ("data", "r");</a:t>
            </a:r>
          </a:p>
          <a:p>
            <a:r>
              <a:rPr lang="en-US" altLang="ja-JP" sz="2000" dirty="0" smtClean="0"/>
              <a:t>  if (</a:t>
            </a:r>
            <a:r>
              <a:rPr lang="en-US" altLang="ja-JP" sz="2000" dirty="0" err="1" smtClean="0"/>
              <a:t>fp</a:t>
            </a:r>
            <a:r>
              <a:rPr lang="en-US" altLang="ja-JP" sz="2000" dirty="0" smtClean="0"/>
              <a:t>==NULL) {</a:t>
            </a:r>
          </a:p>
          <a:p>
            <a:r>
              <a:rPr lang="en-US" altLang="ja-JP" sz="2000" dirty="0" smtClean="0"/>
              <a:t>    </a:t>
            </a:r>
            <a:r>
              <a:rPr lang="en-US" altLang="ja-JP" sz="2000" dirty="0" err="1" smtClean="0"/>
              <a:t>printf</a:t>
            </a:r>
            <a:r>
              <a:rPr lang="en-US" altLang="ja-JP" sz="2000" dirty="0" smtClean="0"/>
              <a:t> ("</a:t>
            </a:r>
            <a:r>
              <a:rPr lang="ja-JP" altLang="en-US" sz="2000" dirty="0" smtClean="0"/>
              <a:t>オープン失敗</a:t>
            </a:r>
            <a:r>
              <a:rPr lang="en-US" altLang="ja-JP" sz="2000" dirty="0" smtClean="0"/>
              <a:t>\n");</a:t>
            </a:r>
          </a:p>
          <a:p>
            <a:r>
              <a:rPr lang="en-US" altLang="ja-JP" sz="2000" dirty="0" smtClean="0"/>
              <a:t>    return 0;</a:t>
            </a:r>
          </a:p>
          <a:p>
            <a:r>
              <a:rPr lang="en-US" altLang="ja-JP" sz="2000" dirty="0" smtClean="0"/>
              <a:t>  }</a:t>
            </a:r>
          </a:p>
        </p:txBody>
      </p:sp>
      <p:sp>
        <p:nvSpPr>
          <p:cNvPr id="5" name="正方形/長方形 4"/>
          <p:cNvSpPr/>
          <p:nvPr/>
        </p:nvSpPr>
        <p:spPr>
          <a:xfrm>
            <a:off x="3714744" y="1214422"/>
            <a:ext cx="5214974" cy="3785652"/>
          </a:xfrm>
          <a:prstGeom prst="rect">
            <a:avLst/>
          </a:prstGeom>
          <a:ln>
            <a:solidFill>
              <a:schemeClr val="tx1"/>
            </a:solidFill>
          </a:ln>
        </p:spPr>
        <p:txBody>
          <a:bodyPr wrap="square">
            <a:spAutoFit/>
          </a:bodyPr>
          <a:lstStyle/>
          <a:p>
            <a:r>
              <a:rPr lang="en-US" altLang="ja-JP" sz="2000" dirty="0" smtClean="0"/>
              <a:t>/* </a:t>
            </a:r>
            <a:r>
              <a:rPr lang="ja-JP" altLang="en-US" sz="2000" dirty="0" smtClean="0"/>
              <a:t>続き</a:t>
            </a:r>
            <a:r>
              <a:rPr lang="en-US" altLang="ja-JP" sz="2000" dirty="0" smtClean="0"/>
              <a:t>*/</a:t>
            </a:r>
          </a:p>
          <a:p>
            <a:r>
              <a:rPr lang="en-US" altLang="ja-JP" sz="2000" dirty="0" smtClean="0"/>
              <a:t> while (</a:t>
            </a:r>
            <a:r>
              <a:rPr lang="en-US" altLang="ja-JP" sz="2000" dirty="0" err="1" smtClean="0"/>
              <a:t>fscanf</a:t>
            </a:r>
            <a:r>
              <a:rPr lang="en-US" altLang="ja-JP" sz="2000" dirty="0" smtClean="0"/>
              <a:t> (</a:t>
            </a:r>
            <a:r>
              <a:rPr lang="en-US" altLang="ja-JP" sz="2000" dirty="0" err="1" smtClean="0"/>
              <a:t>fp</a:t>
            </a:r>
            <a:r>
              <a:rPr lang="en-US" altLang="ja-JP" sz="2000" dirty="0" smtClean="0"/>
              <a:t>, "%</a:t>
            </a:r>
            <a:r>
              <a:rPr lang="en-US" altLang="ja-JP" sz="2000" dirty="0" err="1" smtClean="0"/>
              <a:t>s%lf%lf</a:t>
            </a:r>
            <a:r>
              <a:rPr lang="en-US" altLang="ja-JP" sz="2000" dirty="0" smtClean="0"/>
              <a:t>", name,</a:t>
            </a:r>
          </a:p>
          <a:p>
            <a:r>
              <a:rPr lang="en-US" altLang="ja-JP" sz="2000" dirty="0" smtClean="0"/>
              <a:t>                 &amp;height, &amp;weight) == 3) {</a:t>
            </a:r>
          </a:p>
          <a:p>
            <a:r>
              <a:rPr lang="en-US" altLang="ja-JP" sz="2000" dirty="0" smtClean="0"/>
              <a:t>    num++;</a:t>
            </a:r>
          </a:p>
          <a:p>
            <a:r>
              <a:rPr lang="en-US" altLang="ja-JP" sz="2000" dirty="0" smtClean="0"/>
              <a:t>    </a:t>
            </a:r>
            <a:r>
              <a:rPr lang="en-US" altLang="ja-JP" sz="2000" dirty="0" err="1" smtClean="0"/>
              <a:t>hsum</a:t>
            </a:r>
            <a:r>
              <a:rPr lang="en-US" altLang="ja-JP" sz="2000" dirty="0" smtClean="0"/>
              <a:t> = </a:t>
            </a:r>
            <a:r>
              <a:rPr lang="en-US" altLang="ja-JP" sz="2000" dirty="0" err="1" smtClean="0"/>
              <a:t>hsum</a:t>
            </a:r>
            <a:r>
              <a:rPr lang="en-US" altLang="ja-JP" sz="2000" dirty="0" smtClean="0"/>
              <a:t> + height;</a:t>
            </a:r>
          </a:p>
          <a:p>
            <a:r>
              <a:rPr lang="en-US" altLang="ja-JP" sz="2000" dirty="0" smtClean="0"/>
              <a:t>    </a:t>
            </a:r>
            <a:r>
              <a:rPr lang="en-US" altLang="ja-JP" sz="2000" dirty="0" err="1" smtClean="0"/>
              <a:t>wsum</a:t>
            </a:r>
            <a:r>
              <a:rPr lang="en-US" altLang="ja-JP" sz="2000" dirty="0" smtClean="0"/>
              <a:t> = </a:t>
            </a:r>
            <a:r>
              <a:rPr lang="en-US" altLang="ja-JP" sz="2000" dirty="0" err="1" smtClean="0"/>
              <a:t>wsum</a:t>
            </a:r>
            <a:r>
              <a:rPr lang="en-US" altLang="ja-JP" sz="2000" dirty="0" smtClean="0"/>
              <a:t> + weight;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平均身長</a:t>
            </a:r>
            <a:r>
              <a:rPr lang="en-US" altLang="ja-JP" sz="2000" dirty="0" smtClean="0"/>
              <a:t>: %5.1fcm\n", </a:t>
            </a:r>
            <a:r>
              <a:rPr lang="en-US" altLang="ja-JP" sz="2000" dirty="0" err="1" smtClean="0"/>
              <a:t>hsum</a:t>
            </a:r>
            <a:r>
              <a:rPr lang="en-US" altLang="ja-JP" sz="2000" dirty="0" smtClean="0"/>
              <a:t> / num);</a:t>
            </a:r>
          </a:p>
          <a:p>
            <a:r>
              <a:rPr lang="en-US" altLang="ja-JP" sz="2000" dirty="0" smtClean="0"/>
              <a:t>  </a:t>
            </a:r>
            <a:r>
              <a:rPr lang="en-US" altLang="ja-JP" sz="2000" dirty="0" err="1" smtClean="0"/>
              <a:t>printf</a:t>
            </a:r>
            <a:r>
              <a:rPr lang="en-US" altLang="ja-JP" sz="2000" dirty="0" smtClean="0"/>
              <a:t> ("</a:t>
            </a:r>
            <a:r>
              <a:rPr lang="ja-JP" altLang="en-US" sz="2000" dirty="0" smtClean="0"/>
              <a:t>平均体重</a:t>
            </a:r>
            <a:r>
              <a:rPr lang="en-US" altLang="ja-JP" sz="2000" dirty="0" smtClean="0"/>
              <a:t>: %5.1fkg\n", </a:t>
            </a:r>
            <a:r>
              <a:rPr lang="en-US" altLang="ja-JP" sz="2000" dirty="0" err="1" smtClean="0"/>
              <a:t>wsum</a:t>
            </a:r>
            <a:r>
              <a:rPr lang="en-US" altLang="ja-JP" sz="2000" dirty="0" smtClean="0"/>
              <a:t> / num);</a:t>
            </a:r>
          </a:p>
          <a:p>
            <a:r>
              <a:rPr lang="en-US" altLang="ja-JP" sz="2000" dirty="0" smtClean="0"/>
              <a:t>  </a:t>
            </a:r>
            <a:r>
              <a:rPr lang="en-US" altLang="ja-JP" sz="2000" dirty="0" err="1" smtClean="0"/>
              <a:t>fclose</a:t>
            </a:r>
            <a:r>
              <a:rPr lang="en-US" altLang="ja-JP" sz="2000" dirty="0" smtClean="0"/>
              <a:t> (</a:t>
            </a:r>
            <a:r>
              <a:rPr lang="en-US" altLang="ja-JP" sz="2000" dirty="0" err="1" smtClean="0"/>
              <a:t>fp</a:t>
            </a:r>
            <a:r>
              <a:rPr lang="en-US" altLang="ja-JP" sz="2000" dirty="0" smtClean="0"/>
              <a:t>);</a:t>
            </a:r>
          </a:p>
          <a:p>
            <a:r>
              <a:rPr lang="en-US" altLang="ja-JP" sz="2000" dirty="0" smtClean="0"/>
              <a:t>  return 0;</a:t>
            </a:r>
          </a:p>
          <a:p>
            <a:r>
              <a:rPr lang="en-US" altLang="ja-JP" sz="2000" dirty="0" smtClean="0"/>
              <a:t>}</a:t>
            </a:r>
            <a:endParaRPr lang="ja-JP" altLang="en-US" sz="2000" dirty="0"/>
          </a:p>
        </p:txBody>
      </p:sp>
      <p:sp>
        <p:nvSpPr>
          <p:cNvPr id="6" name="正方形/長方形 5"/>
          <p:cNvSpPr/>
          <p:nvPr/>
        </p:nvSpPr>
        <p:spPr>
          <a:xfrm>
            <a:off x="285720" y="5143512"/>
            <a:ext cx="3214710" cy="1569660"/>
          </a:xfrm>
          <a:prstGeom prst="rect">
            <a:avLst/>
          </a:prstGeom>
          <a:ln>
            <a:solidFill>
              <a:schemeClr val="tx1"/>
            </a:solidFill>
          </a:ln>
        </p:spPr>
        <p:txBody>
          <a:bodyPr wrap="square">
            <a:spAutoFit/>
          </a:bodyPr>
          <a:lstStyle/>
          <a:p>
            <a:r>
              <a:rPr lang="en-US" altLang="ja-JP" sz="2400" dirty="0" smtClean="0">
                <a:latin typeface="ＭＳ ゴシック" pitchFamily="49" charset="-128"/>
                <a:ea typeface="ＭＳ ゴシック" pitchFamily="49" charset="-128"/>
              </a:rPr>
              <a:t>Taro   160.0 59.3</a:t>
            </a:r>
          </a:p>
          <a:p>
            <a:r>
              <a:rPr lang="en-US" altLang="ja-JP" sz="2400" dirty="0" err="1" smtClean="0">
                <a:latin typeface="ＭＳ ゴシック" pitchFamily="49" charset="-128"/>
                <a:ea typeface="ＭＳ ゴシック" pitchFamily="49" charset="-128"/>
              </a:rPr>
              <a:t>Jiro</a:t>
            </a:r>
            <a:r>
              <a:rPr lang="en-US" altLang="ja-JP" sz="2400" dirty="0" smtClean="0">
                <a:latin typeface="ＭＳ ゴシック" pitchFamily="49" charset="-128"/>
                <a:ea typeface="ＭＳ ゴシック" pitchFamily="49" charset="-128"/>
              </a:rPr>
              <a:t>   162.0 51.6</a:t>
            </a:r>
          </a:p>
          <a:p>
            <a:r>
              <a:rPr lang="en-US" altLang="ja-JP" sz="2400" dirty="0" err="1" smtClean="0">
                <a:latin typeface="ＭＳ ゴシック" pitchFamily="49" charset="-128"/>
                <a:ea typeface="ＭＳ ゴシック" pitchFamily="49" charset="-128"/>
              </a:rPr>
              <a:t>Saburo</a:t>
            </a:r>
            <a:r>
              <a:rPr lang="en-US" altLang="ja-JP" sz="2400" dirty="0" smtClean="0">
                <a:latin typeface="ＭＳ ゴシック" pitchFamily="49" charset="-128"/>
                <a:ea typeface="ＭＳ ゴシック" pitchFamily="49" charset="-128"/>
              </a:rPr>
              <a:t> 182.0 76.5</a:t>
            </a:r>
          </a:p>
          <a:p>
            <a:r>
              <a:rPr lang="en-US" altLang="ja-JP" sz="2400" dirty="0" err="1" smtClean="0">
                <a:latin typeface="ＭＳ ゴシック" pitchFamily="49" charset="-128"/>
                <a:ea typeface="ＭＳ ゴシック" pitchFamily="49" charset="-128"/>
              </a:rPr>
              <a:t>Shiro</a:t>
            </a:r>
            <a:r>
              <a:rPr lang="en-US" altLang="ja-JP" sz="2400" dirty="0" smtClean="0">
                <a:latin typeface="ＭＳ ゴシック" pitchFamily="49" charset="-128"/>
                <a:ea typeface="ＭＳ ゴシック" pitchFamily="49" charset="-128"/>
              </a:rPr>
              <a:t>  170.0 60.7</a:t>
            </a:r>
          </a:p>
        </p:txBody>
      </p:sp>
      <p:sp>
        <p:nvSpPr>
          <p:cNvPr id="7" name="テキスト ボックス 6"/>
          <p:cNvSpPr txBox="1"/>
          <p:nvPr/>
        </p:nvSpPr>
        <p:spPr>
          <a:xfrm>
            <a:off x="3786182" y="5143512"/>
            <a:ext cx="4786346" cy="1569660"/>
          </a:xfrm>
          <a:prstGeom prst="rect">
            <a:avLst/>
          </a:prstGeom>
          <a:noFill/>
        </p:spPr>
        <p:txBody>
          <a:bodyPr wrap="square" rtlCol="0">
            <a:spAutoFit/>
          </a:bodyPr>
          <a:lstStyle/>
          <a:p>
            <a:r>
              <a:rPr lang="ja-JP" altLang="en-US" sz="2400" dirty="0" smtClean="0"/>
              <a:t>左のような内容のファイルを</a:t>
            </a:r>
            <a:r>
              <a:rPr lang="en-US" altLang="ja-JP" sz="2400" dirty="0" smtClean="0"/>
              <a:t>data</a:t>
            </a:r>
            <a:r>
              <a:rPr lang="ja-JP" altLang="en-US" sz="2400" dirty="0" smtClean="0"/>
              <a:t>という名前で作成し、上記プログラムを実行すると、平均身長、平均体重が表示される。</a:t>
            </a:r>
            <a:endParaRPr lang="en-US" altLang="ja-JP" sz="24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基本課題１</a:t>
            </a:r>
            <a:endParaRPr kumimoji="1" lang="ja-JP" altLang="en-US" dirty="0"/>
          </a:p>
        </p:txBody>
      </p:sp>
      <p:sp>
        <p:nvSpPr>
          <p:cNvPr id="3" name="テキスト ボックス 2"/>
          <p:cNvSpPr txBox="1"/>
          <p:nvPr/>
        </p:nvSpPr>
        <p:spPr>
          <a:xfrm>
            <a:off x="857224" y="1556792"/>
            <a:ext cx="7143800" cy="2677656"/>
          </a:xfrm>
          <a:prstGeom prst="rect">
            <a:avLst/>
          </a:prstGeom>
          <a:noFill/>
        </p:spPr>
        <p:txBody>
          <a:bodyPr wrap="square" rtlCol="0">
            <a:spAutoFit/>
          </a:bodyPr>
          <a:lstStyle/>
          <a:p>
            <a:r>
              <a:rPr kumimoji="1" lang="ja-JP" altLang="en-US" sz="2400" dirty="0" smtClean="0"/>
              <a:t>さきほどのプログラムは、身長、体重データをファイルから読み取って平均値を表示するプログラムであった。</a:t>
            </a:r>
            <a:endParaRPr kumimoji="1" lang="en-US" altLang="ja-JP" sz="2400" dirty="0" smtClean="0"/>
          </a:p>
          <a:p>
            <a:r>
              <a:rPr kumimoji="1" lang="ja-JP" altLang="en-US" sz="2400" dirty="0" smtClean="0"/>
              <a:t>同じ形式のファイルからデータを読み取り、身長、体重の最大値を表示するプログラムを作成せよ。</a:t>
            </a:r>
            <a:endParaRPr kumimoji="1" lang="en-US" altLang="ja-JP" sz="2400" dirty="0" smtClean="0"/>
          </a:p>
          <a:p>
            <a:endParaRPr lang="en-US" altLang="ja-JP" sz="2400" dirty="0" smtClean="0"/>
          </a:p>
          <a:p>
            <a:r>
              <a:rPr kumimoji="1" lang="ja-JP" altLang="en-US" sz="2400" dirty="0" smtClean="0"/>
              <a:t>（さきほどのデータでの実行例）</a:t>
            </a:r>
            <a:endParaRPr kumimoji="1" lang="en-US" altLang="ja-JP" sz="2400" dirty="0" smtClean="0"/>
          </a:p>
          <a:p>
            <a:r>
              <a:rPr lang="ja-JP" altLang="en-US" sz="2400" dirty="0" smtClean="0"/>
              <a:t>身長の最大値は</a:t>
            </a:r>
            <a:r>
              <a:rPr lang="en-US" altLang="ja-JP" sz="2400" dirty="0" smtClean="0"/>
              <a:t>182.0, </a:t>
            </a:r>
            <a:r>
              <a:rPr kumimoji="1" lang="ja-JP" altLang="en-US" sz="2400" dirty="0" smtClean="0"/>
              <a:t>体重の最大値は</a:t>
            </a:r>
            <a:r>
              <a:rPr kumimoji="1" lang="en-US" altLang="ja-JP" sz="2400" dirty="0" smtClean="0"/>
              <a:t>76.5</a:t>
            </a:r>
            <a:r>
              <a:rPr lang="ja-JP" altLang="en-US" sz="2400" dirty="0" smtClean="0"/>
              <a:t>です。</a:t>
            </a:r>
            <a:endParaRPr kumimoji="1" lang="ja-JP" alt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基本課題２</a:t>
            </a:r>
            <a:endParaRPr kumimoji="1" lang="ja-JP" altLang="en-US" dirty="0"/>
          </a:p>
        </p:txBody>
      </p:sp>
      <p:sp>
        <p:nvSpPr>
          <p:cNvPr id="3" name="テキスト ボックス 2"/>
          <p:cNvSpPr txBox="1"/>
          <p:nvPr/>
        </p:nvSpPr>
        <p:spPr>
          <a:xfrm>
            <a:off x="755576" y="1196752"/>
            <a:ext cx="7316886" cy="1569660"/>
          </a:xfrm>
          <a:prstGeom prst="rect">
            <a:avLst/>
          </a:prstGeom>
          <a:noFill/>
        </p:spPr>
        <p:txBody>
          <a:bodyPr wrap="square" rtlCol="0">
            <a:spAutoFit/>
          </a:bodyPr>
          <a:lstStyle/>
          <a:p>
            <a:r>
              <a:rPr kumimoji="1" lang="ja-JP" altLang="en-US" sz="2400" dirty="0" smtClean="0"/>
              <a:t>掛け算の九九の表をファイルに書き込むプログラムを作成せよ</a:t>
            </a:r>
            <a:r>
              <a:rPr lang="ja-JP" altLang="en-US" sz="2400" dirty="0" smtClean="0"/>
              <a:t>。ファイル名は自由とする。形式は以下のようにせよ。（空白の個数を調整し、表示位置がそろうようにせよ。例えば、</a:t>
            </a:r>
            <a:r>
              <a:rPr lang="en-US" altLang="ja-JP" sz="2400" dirty="0" err="1" smtClean="0"/>
              <a:t>printf</a:t>
            </a:r>
            <a:r>
              <a:rPr lang="ja-JP" altLang="en-US" sz="2400" dirty="0" smtClean="0"/>
              <a:t>の変換指定で</a:t>
            </a:r>
            <a:r>
              <a:rPr lang="en-US" altLang="ja-JP" sz="2400" dirty="0" smtClean="0"/>
              <a:t>%3d</a:t>
            </a:r>
            <a:r>
              <a:rPr lang="ja-JP" altLang="en-US" sz="2400" dirty="0" smtClean="0"/>
              <a:t>を用いればよい。）</a:t>
            </a:r>
            <a:endParaRPr lang="en-US" altLang="ja-JP" sz="2400" dirty="0" smtClean="0"/>
          </a:p>
        </p:txBody>
      </p:sp>
      <p:sp>
        <p:nvSpPr>
          <p:cNvPr id="4" name="正方形/長方形 3"/>
          <p:cNvSpPr/>
          <p:nvPr/>
        </p:nvSpPr>
        <p:spPr>
          <a:xfrm>
            <a:off x="1403648" y="2852936"/>
            <a:ext cx="4286280" cy="3416320"/>
          </a:xfrm>
          <a:prstGeom prst="rect">
            <a:avLst/>
          </a:prstGeom>
          <a:ln>
            <a:solidFill>
              <a:schemeClr val="tx1"/>
            </a:solidFill>
          </a:ln>
        </p:spPr>
        <p:txBody>
          <a:bodyPr wrap="square">
            <a:spAutoFit/>
          </a:bodyPr>
          <a:lstStyle/>
          <a:p>
            <a:r>
              <a:rPr lang="ja-JP" altLang="en-US" sz="2400" dirty="0" smtClean="0">
                <a:latin typeface="ＭＳ ゴシック" pitchFamily="49" charset="-128"/>
                <a:ea typeface="ＭＳ ゴシック" pitchFamily="49" charset="-128"/>
              </a:rPr>
              <a:t> </a:t>
            </a:r>
            <a:r>
              <a:rPr lang="en-US" altLang="ja-JP" sz="2400" dirty="0" smtClean="0">
                <a:latin typeface="ＭＳ ゴシック" pitchFamily="49" charset="-128"/>
                <a:ea typeface="ＭＳ ゴシック" pitchFamily="49" charset="-128"/>
              </a:rPr>
              <a:t>1  2  3  4  5  6  7  8  9</a:t>
            </a:r>
          </a:p>
          <a:p>
            <a:r>
              <a:rPr lang="en-US" altLang="ja-JP" sz="2400" dirty="0" smtClean="0">
                <a:latin typeface="ＭＳ ゴシック" pitchFamily="49" charset="-128"/>
                <a:ea typeface="ＭＳ ゴシック" pitchFamily="49" charset="-128"/>
              </a:rPr>
              <a:t> 2  4  6  8 10 12 14 16 18</a:t>
            </a:r>
          </a:p>
          <a:p>
            <a:r>
              <a:rPr lang="en-US" altLang="ja-JP" sz="2400" dirty="0" smtClean="0">
                <a:latin typeface="ＭＳ ゴシック" pitchFamily="49" charset="-128"/>
                <a:ea typeface="ＭＳ ゴシック" pitchFamily="49" charset="-128"/>
              </a:rPr>
              <a:t> 3  6  9 12 15 18 21 24 27</a:t>
            </a:r>
          </a:p>
          <a:p>
            <a:r>
              <a:rPr lang="en-US" altLang="ja-JP" sz="2400" dirty="0" smtClean="0">
                <a:latin typeface="ＭＳ ゴシック" pitchFamily="49" charset="-128"/>
                <a:ea typeface="ＭＳ ゴシック" pitchFamily="49" charset="-128"/>
              </a:rPr>
              <a:t> 4  8 12 16 20 24 28 32 36</a:t>
            </a:r>
          </a:p>
          <a:p>
            <a:r>
              <a:rPr lang="en-US" altLang="ja-JP" sz="2400" dirty="0" smtClean="0">
                <a:latin typeface="ＭＳ ゴシック" pitchFamily="49" charset="-128"/>
                <a:ea typeface="ＭＳ ゴシック" pitchFamily="49" charset="-128"/>
              </a:rPr>
              <a:t> 5 10 15 20 25 30 35 40 45</a:t>
            </a:r>
          </a:p>
          <a:p>
            <a:r>
              <a:rPr lang="en-US" altLang="ja-JP" sz="2400" dirty="0" smtClean="0">
                <a:latin typeface="ＭＳ ゴシック" pitchFamily="49" charset="-128"/>
                <a:ea typeface="ＭＳ ゴシック" pitchFamily="49" charset="-128"/>
              </a:rPr>
              <a:t> 6 12 18 24 30 36 42 48 54</a:t>
            </a:r>
          </a:p>
          <a:p>
            <a:r>
              <a:rPr lang="en-US" altLang="ja-JP" sz="2400" dirty="0" smtClean="0">
                <a:latin typeface="ＭＳ ゴシック" pitchFamily="49" charset="-128"/>
                <a:ea typeface="ＭＳ ゴシック" pitchFamily="49" charset="-128"/>
              </a:rPr>
              <a:t> 7 14 21 28 35 42 49 56 63</a:t>
            </a:r>
          </a:p>
          <a:p>
            <a:r>
              <a:rPr lang="en-US" altLang="ja-JP" sz="2400" dirty="0" smtClean="0">
                <a:latin typeface="ＭＳ ゴシック" pitchFamily="49" charset="-128"/>
                <a:ea typeface="ＭＳ ゴシック" pitchFamily="49" charset="-128"/>
              </a:rPr>
              <a:t> 8 16 24 32 40 48 56 64 72</a:t>
            </a:r>
          </a:p>
          <a:p>
            <a:r>
              <a:rPr lang="en-US" altLang="ja-JP" sz="2400" dirty="0" smtClean="0">
                <a:latin typeface="ＭＳ ゴシック" pitchFamily="49" charset="-128"/>
                <a:ea typeface="ＭＳ ゴシック" pitchFamily="49" charset="-128"/>
              </a:rPr>
              <a:t> 9 18 27 36 45 54 63 72 81</a:t>
            </a:r>
            <a:endParaRPr lang="en-US" altLang="ja-JP" sz="2400" dirty="0">
              <a:latin typeface="ＭＳ ゴシック" pitchFamily="49" charset="-128"/>
              <a:ea typeface="ＭＳ ゴシック" pitchFamily="49" charset="-128"/>
            </a:endParaRPr>
          </a:p>
        </p:txBody>
      </p:sp>
      <p:sp>
        <p:nvSpPr>
          <p:cNvPr id="5" name="テキスト ボックス 4"/>
          <p:cNvSpPr txBox="1"/>
          <p:nvPr/>
        </p:nvSpPr>
        <p:spPr>
          <a:xfrm>
            <a:off x="5868144" y="3429000"/>
            <a:ext cx="2865523" cy="1323439"/>
          </a:xfrm>
          <a:prstGeom prst="rect">
            <a:avLst/>
          </a:prstGeom>
          <a:noFill/>
        </p:spPr>
        <p:txBody>
          <a:bodyPr wrap="square" rtlCol="0">
            <a:spAutoFit/>
          </a:bodyPr>
          <a:lstStyle/>
          <a:p>
            <a:r>
              <a:rPr lang="ja-JP" altLang="en-US" sz="2000" dirty="0" smtClean="0"/>
              <a:t>（注意）九九のかけ算をプログラム中で</a:t>
            </a:r>
            <a:r>
              <a:rPr kumimoji="1" lang="ja-JP" altLang="en-US" sz="2000" dirty="0" smtClean="0"/>
              <a:t>行ってください。二重ループで書いてください。</a:t>
            </a:r>
            <a:endParaRPr kumimoji="1" lang="ja-JP" altLang="en-US" sz="20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発展課題１</a:t>
            </a:r>
            <a:endParaRPr kumimoji="1" lang="ja-JP" altLang="en-US" dirty="0"/>
          </a:p>
        </p:txBody>
      </p:sp>
      <p:sp>
        <p:nvSpPr>
          <p:cNvPr id="5" name="正方形/長方形 4"/>
          <p:cNvSpPr/>
          <p:nvPr/>
        </p:nvSpPr>
        <p:spPr>
          <a:xfrm>
            <a:off x="1475656" y="3645024"/>
            <a:ext cx="2952328" cy="1569660"/>
          </a:xfrm>
          <a:prstGeom prst="rect">
            <a:avLst/>
          </a:prstGeom>
          <a:ln>
            <a:solidFill>
              <a:schemeClr val="tx1"/>
            </a:solidFill>
          </a:ln>
        </p:spPr>
        <p:txBody>
          <a:bodyPr wrap="square">
            <a:spAutoFit/>
          </a:bodyPr>
          <a:lstStyle/>
          <a:p>
            <a:r>
              <a:rPr lang="en-US" altLang="ja-JP" sz="2400" dirty="0" smtClean="0">
                <a:latin typeface="ＭＳ ゴシック" pitchFamily="49" charset="-128"/>
                <a:ea typeface="ＭＳ ゴシック" pitchFamily="49" charset="-128"/>
              </a:rPr>
              <a:t>Taro   160.0 59.3</a:t>
            </a:r>
          </a:p>
          <a:p>
            <a:r>
              <a:rPr lang="en-US" altLang="ja-JP" sz="2400" dirty="0" err="1" smtClean="0">
                <a:latin typeface="ＭＳ ゴシック" pitchFamily="49" charset="-128"/>
                <a:ea typeface="ＭＳ ゴシック" pitchFamily="49" charset="-128"/>
              </a:rPr>
              <a:t>Jiro</a:t>
            </a:r>
            <a:r>
              <a:rPr lang="en-US" altLang="ja-JP" sz="2400" dirty="0" smtClean="0">
                <a:latin typeface="ＭＳ ゴシック" pitchFamily="49" charset="-128"/>
                <a:ea typeface="ＭＳ ゴシック" pitchFamily="49" charset="-128"/>
              </a:rPr>
              <a:t>   162.0 51.6</a:t>
            </a:r>
          </a:p>
          <a:p>
            <a:r>
              <a:rPr lang="en-US" altLang="ja-JP" sz="2400" dirty="0" err="1" smtClean="0">
                <a:latin typeface="ＭＳ ゴシック" pitchFamily="49" charset="-128"/>
                <a:ea typeface="ＭＳ ゴシック" pitchFamily="49" charset="-128"/>
              </a:rPr>
              <a:t>Saburo</a:t>
            </a:r>
            <a:r>
              <a:rPr lang="en-US" altLang="ja-JP" sz="2400" dirty="0" smtClean="0">
                <a:latin typeface="ＭＳ ゴシック" pitchFamily="49" charset="-128"/>
                <a:ea typeface="ＭＳ ゴシック" pitchFamily="49" charset="-128"/>
              </a:rPr>
              <a:t> 182.0 76.5</a:t>
            </a:r>
          </a:p>
          <a:p>
            <a:r>
              <a:rPr lang="en-US" altLang="ja-JP" sz="2400" dirty="0" err="1" smtClean="0">
                <a:latin typeface="ＭＳ ゴシック" pitchFamily="49" charset="-128"/>
                <a:ea typeface="ＭＳ ゴシック" pitchFamily="49" charset="-128"/>
              </a:rPr>
              <a:t>Shiro</a:t>
            </a:r>
            <a:r>
              <a:rPr lang="en-US" altLang="ja-JP" sz="2400" dirty="0" smtClean="0">
                <a:latin typeface="ＭＳ ゴシック" pitchFamily="49" charset="-128"/>
                <a:ea typeface="ＭＳ ゴシック" pitchFamily="49" charset="-128"/>
              </a:rPr>
              <a:t>  170.0 60.7</a:t>
            </a:r>
          </a:p>
        </p:txBody>
      </p:sp>
      <p:sp>
        <p:nvSpPr>
          <p:cNvPr id="6" name="正方形/長方形 5"/>
          <p:cNvSpPr/>
          <p:nvPr/>
        </p:nvSpPr>
        <p:spPr>
          <a:xfrm>
            <a:off x="827584" y="1484784"/>
            <a:ext cx="7488832" cy="1569660"/>
          </a:xfrm>
          <a:prstGeom prst="rect">
            <a:avLst/>
          </a:prstGeom>
        </p:spPr>
        <p:txBody>
          <a:bodyPr wrap="square">
            <a:spAutoFit/>
          </a:bodyPr>
          <a:lstStyle/>
          <a:p>
            <a:r>
              <a:rPr lang="ja-JP" altLang="en-US" sz="2400" dirty="0" smtClean="0"/>
              <a:t>以下のような、４人分の名前、身長、体重のデータを内容とするファイルを</a:t>
            </a:r>
            <a:r>
              <a:rPr lang="en-US" altLang="ja-JP" sz="2400" dirty="0" smtClean="0"/>
              <a:t>data</a:t>
            </a:r>
            <a:r>
              <a:rPr lang="ja-JP" altLang="en-US" sz="2400" dirty="0" smtClean="0"/>
              <a:t>という名前で作成し、</a:t>
            </a:r>
            <a:r>
              <a:rPr lang="en-US" altLang="ja-JP" sz="2400" dirty="0" smtClean="0"/>
              <a:t> </a:t>
            </a:r>
            <a:r>
              <a:rPr lang="en-US" altLang="ja-JP" sz="2400" dirty="0" err="1" smtClean="0"/>
              <a:t>Jiro</a:t>
            </a:r>
            <a:r>
              <a:rPr lang="ja-JP" altLang="en-US" sz="2400" dirty="0" smtClean="0"/>
              <a:t>の身長を</a:t>
            </a:r>
            <a:r>
              <a:rPr lang="en-US" altLang="ja-JP" sz="2400" dirty="0" smtClean="0"/>
              <a:t>175.0</a:t>
            </a:r>
            <a:r>
              <a:rPr lang="ja-JP" altLang="en-US" sz="2400" dirty="0" err="1" smtClean="0"/>
              <a:t>、</a:t>
            </a:r>
            <a:r>
              <a:rPr lang="en-US" altLang="ja-JP" sz="2400" dirty="0" err="1" smtClean="0"/>
              <a:t>Saburo</a:t>
            </a:r>
            <a:r>
              <a:rPr lang="ja-JP" altLang="en-US" sz="2400" dirty="0" smtClean="0"/>
              <a:t>の体重を</a:t>
            </a:r>
            <a:r>
              <a:rPr lang="en-US" altLang="ja-JP" sz="2400" dirty="0" smtClean="0"/>
              <a:t>80.0</a:t>
            </a:r>
            <a:r>
              <a:rPr lang="ja-JP" altLang="en-US" sz="2400" dirty="0" smtClean="0"/>
              <a:t>に変更して、 </a:t>
            </a:r>
            <a:r>
              <a:rPr lang="en-US" altLang="ja-JP" sz="2400" dirty="0" smtClean="0"/>
              <a:t>data2</a:t>
            </a:r>
            <a:r>
              <a:rPr lang="ja-JP" altLang="en-US" sz="2400" dirty="0" smtClean="0"/>
              <a:t>という名前のファイルに書き込むプログラムを作成せよ。</a:t>
            </a:r>
            <a:endParaRPr lang="en-US" altLang="ja-JP" sz="24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発展課題１の補足</a:t>
            </a:r>
            <a:endParaRPr kumimoji="1" lang="ja-JP" altLang="en-US" dirty="0"/>
          </a:p>
        </p:txBody>
      </p:sp>
      <p:sp>
        <p:nvSpPr>
          <p:cNvPr id="4" name="テキスト ボックス 3"/>
          <p:cNvSpPr txBox="1"/>
          <p:nvPr/>
        </p:nvSpPr>
        <p:spPr>
          <a:xfrm>
            <a:off x="539552" y="1412776"/>
            <a:ext cx="7632848" cy="4893647"/>
          </a:xfrm>
          <a:prstGeom prst="rect">
            <a:avLst/>
          </a:prstGeom>
          <a:noFill/>
        </p:spPr>
        <p:txBody>
          <a:bodyPr wrap="square" rtlCol="0">
            <a:spAutoFit/>
          </a:bodyPr>
          <a:lstStyle/>
          <a:p>
            <a:r>
              <a:rPr kumimoji="1" lang="ja-JP" altLang="en-US" sz="2400" dirty="0" smtClean="0"/>
              <a:t>名前が</a:t>
            </a:r>
            <a:r>
              <a:rPr kumimoji="1" lang="en-US" altLang="ja-JP" sz="2400" dirty="0" smtClean="0"/>
              <a:t>”</a:t>
            </a:r>
            <a:r>
              <a:rPr kumimoji="1" lang="en-US" altLang="ja-JP" sz="2400" dirty="0" err="1" smtClean="0"/>
              <a:t>Jiro</a:t>
            </a:r>
            <a:r>
              <a:rPr kumimoji="1" lang="en-US" altLang="ja-JP" sz="2400" dirty="0" smtClean="0"/>
              <a:t>”</a:t>
            </a:r>
            <a:r>
              <a:rPr kumimoji="1" lang="ja-JP" altLang="en-US" sz="2400" dirty="0" smtClean="0"/>
              <a:t>や</a:t>
            </a:r>
            <a:r>
              <a:rPr kumimoji="1" lang="en-US" altLang="ja-JP" sz="2400" dirty="0" smtClean="0"/>
              <a:t>”</a:t>
            </a:r>
            <a:r>
              <a:rPr kumimoji="1" lang="en-US" altLang="ja-JP" sz="2400" dirty="0" err="1" smtClean="0"/>
              <a:t>Saburo</a:t>
            </a:r>
            <a:r>
              <a:rPr kumimoji="1" lang="en-US" altLang="ja-JP" sz="2400" dirty="0" smtClean="0"/>
              <a:t>”</a:t>
            </a:r>
            <a:r>
              <a:rPr kumimoji="1" lang="ja-JP" altLang="en-US" sz="2400" dirty="0" smtClean="0"/>
              <a:t>と等しいことを確認してから身長や体重を変更することになりますが</a:t>
            </a:r>
            <a:r>
              <a:rPr kumimoji="1" lang="ja-JP" altLang="en-US" sz="2400" dirty="0" smtClean="0"/>
              <a:t>、文字列</a:t>
            </a:r>
            <a:r>
              <a:rPr kumimoji="1" lang="ja-JP" altLang="en-US" sz="2400" dirty="0" smtClean="0"/>
              <a:t>の等しさの判定をどのように行うかについての補足です。</a:t>
            </a:r>
            <a:endParaRPr kumimoji="1" lang="en-US" altLang="ja-JP" sz="2400" dirty="0" smtClean="0"/>
          </a:p>
          <a:p>
            <a:endParaRPr lang="en-US" altLang="ja-JP" sz="2400" dirty="0" smtClean="0"/>
          </a:p>
          <a:p>
            <a:r>
              <a:rPr lang="en-US" altLang="ja-JP" sz="2400" dirty="0" smtClean="0"/>
              <a:t>“</a:t>
            </a:r>
            <a:r>
              <a:rPr lang="en-US" altLang="ja-JP" sz="2400" dirty="0" err="1" smtClean="0"/>
              <a:t>Jiro</a:t>
            </a:r>
            <a:r>
              <a:rPr lang="en-US" altLang="ja-JP" sz="2400" dirty="0" smtClean="0"/>
              <a:t>”</a:t>
            </a:r>
            <a:r>
              <a:rPr lang="ja-JP" altLang="en-US" sz="2400" dirty="0" smtClean="0"/>
              <a:t>や</a:t>
            </a:r>
            <a:r>
              <a:rPr lang="en-US" altLang="ja-JP" sz="2400" dirty="0" smtClean="0"/>
              <a:t>”</a:t>
            </a:r>
            <a:r>
              <a:rPr lang="en-US" altLang="ja-JP" sz="2400" dirty="0" err="1" smtClean="0"/>
              <a:t>Saburo</a:t>
            </a:r>
            <a:r>
              <a:rPr lang="en-US" altLang="ja-JP" sz="2400" dirty="0" smtClean="0"/>
              <a:t>”</a:t>
            </a:r>
            <a:r>
              <a:rPr lang="ja-JP" altLang="en-US" sz="2400" dirty="0" smtClean="0"/>
              <a:t>は、第７回に説明したように文字列リテラルと言われるものです。文字列リテラルは、最後にヌル文字を加えた</a:t>
            </a:r>
            <a:r>
              <a:rPr lang="en-US" altLang="ja-JP" sz="2400" dirty="0" smtClean="0"/>
              <a:t>char</a:t>
            </a:r>
            <a:r>
              <a:rPr lang="ja-JP" altLang="en-US" sz="2400" dirty="0" smtClean="0"/>
              <a:t>型の配列です。つまり、文字列比較関数などに文字列リテラルを渡すときには、その配列の先頭要素へのポインタ</a:t>
            </a:r>
            <a:r>
              <a:rPr lang="en-US" altLang="ja-JP" sz="2400" dirty="0" smtClean="0"/>
              <a:t>(char*</a:t>
            </a:r>
            <a:r>
              <a:rPr lang="ja-JP" altLang="en-US" sz="2400" dirty="0" smtClean="0"/>
              <a:t>型</a:t>
            </a:r>
            <a:r>
              <a:rPr lang="en-US" altLang="ja-JP" sz="2400" dirty="0" smtClean="0"/>
              <a:t>)</a:t>
            </a:r>
            <a:r>
              <a:rPr lang="ja-JP" altLang="en-US" sz="2400" dirty="0" smtClean="0"/>
              <a:t>に変換されます。文字列比較関数は</a:t>
            </a:r>
            <a:r>
              <a:rPr lang="en-US" altLang="ja-JP" sz="2400" dirty="0" err="1" smtClean="0"/>
              <a:t>strcmp</a:t>
            </a:r>
            <a:r>
              <a:rPr lang="ja-JP" altLang="en-US" sz="2400" dirty="0" smtClean="0"/>
              <a:t>という関数がライブラリ関数にあり、それを使ってください。もちろん自分で書いてもいいですが。ライブラリ関数</a:t>
            </a:r>
            <a:r>
              <a:rPr lang="en-US" altLang="ja-JP" sz="2400" dirty="0" err="1" smtClean="0"/>
              <a:t>strcmp</a:t>
            </a:r>
            <a:r>
              <a:rPr lang="ja-JP" altLang="en-US" sz="2400" dirty="0" smtClean="0"/>
              <a:t>を使うときは、</a:t>
            </a:r>
            <a:r>
              <a:rPr lang="en-US" altLang="ja-JP" sz="2400" dirty="0" err="1" smtClean="0"/>
              <a:t>string.h</a:t>
            </a:r>
            <a:r>
              <a:rPr lang="ja-JP" altLang="en-US" sz="2400" dirty="0" smtClean="0"/>
              <a:t>を</a:t>
            </a:r>
            <a:r>
              <a:rPr lang="en-US" altLang="ja-JP" sz="2400" dirty="0" smtClean="0"/>
              <a:t>include</a:t>
            </a:r>
            <a:r>
              <a:rPr lang="ja-JP" altLang="en-US" sz="2400" dirty="0" smtClean="0"/>
              <a:t>してください。使い方</a:t>
            </a:r>
            <a:r>
              <a:rPr lang="ja-JP" altLang="en-US" sz="2400" dirty="0" smtClean="0"/>
              <a:t>は、</a:t>
            </a:r>
            <a:r>
              <a:rPr lang="en-US" altLang="ja-JP" sz="2400" dirty="0" smtClean="0"/>
              <a:t>man</a:t>
            </a:r>
            <a:r>
              <a:rPr lang="ja-JP" altLang="en-US" sz="2400" dirty="0" smtClean="0"/>
              <a:t>コマンドで調べてください。</a:t>
            </a:r>
            <a:endParaRPr lang="en-US" altLang="ja-JP" sz="24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a:t>
            </a:r>
            <a:r>
              <a:rPr kumimoji="1" lang="ja-JP" altLang="en-US" dirty="0" smtClean="0"/>
              <a:t>課題２</a:t>
            </a:r>
            <a:endParaRPr kumimoji="1" lang="ja-JP" altLang="en-US" dirty="0"/>
          </a:p>
        </p:txBody>
      </p:sp>
      <p:sp>
        <p:nvSpPr>
          <p:cNvPr id="5" name="テキスト ボックス 4"/>
          <p:cNvSpPr txBox="1"/>
          <p:nvPr/>
        </p:nvSpPr>
        <p:spPr>
          <a:xfrm>
            <a:off x="785786" y="1500174"/>
            <a:ext cx="7358114" cy="1938992"/>
          </a:xfrm>
          <a:prstGeom prst="rect">
            <a:avLst/>
          </a:prstGeom>
          <a:noFill/>
        </p:spPr>
        <p:txBody>
          <a:bodyPr wrap="square" rtlCol="0">
            <a:spAutoFit/>
          </a:bodyPr>
          <a:lstStyle/>
          <a:p>
            <a:r>
              <a:rPr kumimoji="1" lang="ja-JP" altLang="en-US" sz="2400" dirty="0" smtClean="0"/>
              <a:t>さきほどのファイル（名前、身長、体重のデータ）を、名前、体重、身長の順に並べ替えて新たなファイル（ファイル名自由）に書き出すプログラムを書け。</a:t>
            </a:r>
            <a:endParaRPr kumimoji="1" lang="en-US" altLang="ja-JP" sz="2400" dirty="0" smtClean="0"/>
          </a:p>
          <a:p>
            <a:r>
              <a:rPr kumimoji="1" lang="ja-JP" altLang="en-US" sz="2400" dirty="0" smtClean="0"/>
              <a:t>名前、身長、体重のデータ間の空白などについて、入力ファイルと同一でなくてよい。</a:t>
            </a:r>
            <a:endParaRPr kumimoji="1" lang="ja-JP" altLang="en-US" sz="2400" dirty="0"/>
          </a:p>
        </p:txBody>
      </p:sp>
      <p:sp>
        <p:nvSpPr>
          <p:cNvPr id="4" name="正方形/長方形 3"/>
          <p:cNvSpPr/>
          <p:nvPr/>
        </p:nvSpPr>
        <p:spPr>
          <a:xfrm>
            <a:off x="825697" y="4010288"/>
            <a:ext cx="7706743" cy="1938992"/>
          </a:xfrm>
          <a:prstGeom prst="rect">
            <a:avLst/>
          </a:prstGeom>
        </p:spPr>
        <p:txBody>
          <a:bodyPr wrap="square">
            <a:spAutoFit/>
          </a:bodyPr>
          <a:lstStyle/>
          <a:p>
            <a:r>
              <a:rPr lang="ja-JP" altLang="en-US" sz="2400" dirty="0" smtClean="0"/>
              <a:t>（ヒント）</a:t>
            </a:r>
            <a:r>
              <a:rPr lang="en-US" altLang="ja-JP" sz="2400" dirty="0" err="1" smtClean="0"/>
              <a:t>fprintf</a:t>
            </a:r>
            <a:r>
              <a:rPr lang="ja-JP" altLang="en-US" sz="2400" dirty="0" smtClean="0"/>
              <a:t>の出力形式の例（各行）： </a:t>
            </a:r>
            <a:endParaRPr lang="en-US" altLang="ja-JP" sz="2400" dirty="0" smtClean="0"/>
          </a:p>
          <a:p>
            <a:r>
              <a:rPr lang="en-US" altLang="ja-JP" sz="2400" dirty="0" smtClean="0"/>
              <a:t>         </a:t>
            </a:r>
            <a:r>
              <a:rPr lang="ja-JP" altLang="en-US" sz="2400" dirty="0" smtClean="0"/>
              <a:t> </a:t>
            </a:r>
            <a:r>
              <a:rPr lang="en-US" altLang="ja-JP" sz="2400" dirty="0" smtClean="0"/>
              <a:t>"%-6s %3.1f %3.1f\n"</a:t>
            </a:r>
          </a:p>
          <a:p>
            <a:r>
              <a:rPr lang="en-US" altLang="ja-JP" sz="2400" dirty="0" smtClean="0"/>
              <a:t>%-6s</a:t>
            </a:r>
            <a:r>
              <a:rPr lang="ja-JP" altLang="en-US" sz="2400" dirty="0" smtClean="0"/>
              <a:t>におけるマイナスは左詰めを表す。</a:t>
            </a:r>
            <a:endParaRPr lang="en-US" altLang="ja-JP" sz="2400" dirty="0" smtClean="0"/>
          </a:p>
          <a:p>
            <a:r>
              <a:rPr lang="ja-JP" altLang="en-US" sz="2400" dirty="0" smtClean="0"/>
              <a:t>（名前の長さ等によって、最小フィールド幅の指定を変更すればよい。）</a:t>
            </a:r>
            <a:endParaRPr lang="en-US" altLang="ja-JP" sz="24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本演習で扱わなかった内容</a:t>
            </a:r>
            <a:endParaRPr kumimoji="1" lang="ja-JP" altLang="en-US" dirty="0"/>
          </a:p>
        </p:txBody>
      </p:sp>
      <p:sp>
        <p:nvSpPr>
          <p:cNvPr id="3" name="コンテンツ プレースホルダ 2"/>
          <p:cNvSpPr>
            <a:spLocks noGrp="1"/>
          </p:cNvSpPr>
          <p:nvPr>
            <p:ph idx="1"/>
          </p:nvPr>
        </p:nvSpPr>
        <p:spPr>
          <a:xfrm>
            <a:off x="571472" y="1000108"/>
            <a:ext cx="8229600" cy="4857784"/>
          </a:xfrm>
        </p:spPr>
        <p:txBody>
          <a:bodyPr>
            <a:noAutofit/>
          </a:bodyPr>
          <a:lstStyle/>
          <a:p>
            <a:r>
              <a:rPr kumimoji="1" lang="ja-JP" altLang="en-US" sz="2400" dirty="0" smtClean="0"/>
              <a:t>共用体（</a:t>
            </a:r>
            <a:r>
              <a:rPr lang="ja-JP" altLang="en-US" sz="2400" dirty="0" smtClean="0"/>
              <a:t>実践編 </a:t>
            </a:r>
            <a:r>
              <a:rPr lang="en-US" altLang="ja-JP" sz="2400" dirty="0" smtClean="0"/>
              <a:t>p.162-165</a:t>
            </a:r>
            <a:r>
              <a:rPr lang="ja-JP" altLang="en-US" sz="2400" dirty="0" smtClean="0"/>
              <a:t>）</a:t>
            </a:r>
            <a:endParaRPr lang="en-US" altLang="ja-JP" sz="2400" dirty="0" smtClean="0"/>
          </a:p>
          <a:p>
            <a:r>
              <a:rPr lang="ja-JP" altLang="en-US" sz="2400" dirty="0" smtClean="0"/>
              <a:t>列挙体（教科書 </a:t>
            </a:r>
            <a:r>
              <a:rPr lang="en-US" altLang="ja-JP" sz="2400" dirty="0" smtClean="0"/>
              <a:t>p.190-193</a:t>
            </a:r>
            <a:r>
              <a:rPr lang="ja-JP" altLang="en-US" sz="2400" dirty="0" smtClean="0"/>
              <a:t>）</a:t>
            </a:r>
            <a:endParaRPr kumimoji="1" lang="en-US" altLang="ja-JP" sz="2400" dirty="0" smtClean="0"/>
          </a:p>
          <a:p>
            <a:r>
              <a:rPr lang="ja-JP" altLang="en-US" sz="2400" dirty="0" smtClean="0"/>
              <a:t>ビット演算（教科書 </a:t>
            </a:r>
            <a:r>
              <a:rPr lang="en-US" altLang="ja-JP" sz="2400" dirty="0" smtClean="0"/>
              <a:t>p.164-171</a:t>
            </a:r>
            <a:r>
              <a:rPr lang="ja-JP" altLang="en-US" sz="2400" dirty="0" smtClean="0"/>
              <a:t>）</a:t>
            </a:r>
            <a:endParaRPr lang="en-US" altLang="ja-JP" sz="2400" dirty="0" smtClean="0"/>
          </a:p>
          <a:p>
            <a:r>
              <a:rPr lang="ja-JP" altLang="en-US" sz="2400" dirty="0" smtClean="0"/>
              <a:t>関数へのポインタ（ポインタの極意 第９章）</a:t>
            </a:r>
            <a:endParaRPr lang="en-US" altLang="ja-JP" sz="2400" dirty="0" smtClean="0"/>
          </a:p>
          <a:p>
            <a:r>
              <a:rPr lang="en-US" altLang="ja-JP" sz="2400" dirty="0" smtClean="0"/>
              <a:t>switch</a:t>
            </a:r>
            <a:r>
              <a:rPr lang="ja-JP" altLang="en-US" sz="2400" dirty="0" smtClean="0"/>
              <a:t>文（教科書 </a:t>
            </a:r>
            <a:r>
              <a:rPr lang="en-US" altLang="ja-JP" sz="2400" dirty="0" smtClean="0"/>
              <a:t>p.54-57</a:t>
            </a:r>
            <a:r>
              <a:rPr lang="ja-JP" altLang="en-US" sz="2400" dirty="0" smtClean="0"/>
              <a:t>）</a:t>
            </a:r>
            <a:endParaRPr lang="en-US" altLang="ja-JP" sz="2400" dirty="0" smtClean="0"/>
          </a:p>
          <a:p>
            <a:r>
              <a:rPr lang="en-US" altLang="ja-JP" sz="2400" dirty="0" smtClean="0"/>
              <a:t>do while</a:t>
            </a:r>
            <a:r>
              <a:rPr lang="ja-JP" altLang="en-US" sz="2400" dirty="0" smtClean="0"/>
              <a:t>文（教科書 </a:t>
            </a:r>
            <a:r>
              <a:rPr lang="en-US" altLang="ja-JP" sz="2400" dirty="0" smtClean="0"/>
              <a:t>p.60-67</a:t>
            </a:r>
            <a:r>
              <a:rPr lang="ja-JP" altLang="en-US" sz="2400" dirty="0" smtClean="0"/>
              <a:t>）</a:t>
            </a:r>
            <a:endParaRPr lang="en-US" altLang="ja-JP" sz="2400" dirty="0" smtClean="0"/>
          </a:p>
          <a:p>
            <a:r>
              <a:rPr lang="ja-JP" altLang="en-US" sz="2400" dirty="0" smtClean="0"/>
              <a:t>マクロ（教科書</a:t>
            </a:r>
            <a:r>
              <a:rPr lang="en-US" altLang="ja-JP" sz="2400" dirty="0" smtClean="0"/>
              <a:t> p.96-97</a:t>
            </a:r>
            <a:r>
              <a:rPr lang="ja-JP" altLang="en-US" sz="2400" dirty="0" smtClean="0"/>
              <a:t>）</a:t>
            </a:r>
            <a:endParaRPr lang="en-US" altLang="ja-JP" sz="2400" dirty="0" smtClean="0"/>
          </a:p>
          <a:p>
            <a:r>
              <a:rPr lang="ja-JP" altLang="en-US" sz="2400" dirty="0" smtClean="0"/>
              <a:t>不完全型（実践編 </a:t>
            </a:r>
            <a:r>
              <a:rPr lang="en-US" altLang="ja-JP" sz="2400" dirty="0" smtClean="0"/>
              <a:t>p.27</a:t>
            </a:r>
            <a:r>
              <a:rPr lang="ja-JP" altLang="en-US" sz="2400" dirty="0" smtClean="0"/>
              <a:t>）</a:t>
            </a:r>
            <a:endParaRPr lang="en-US" altLang="ja-JP" sz="2400" dirty="0" smtClean="0"/>
          </a:p>
          <a:p>
            <a:r>
              <a:rPr lang="ja-JP" altLang="en-US" sz="2400" dirty="0" smtClean="0"/>
              <a:t>変数の記憶域期間（教科書</a:t>
            </a:r>
            <a:r>
              <a:rPr lang="en-US" altLang="ja-JP" sz="2400" dirty="0" smtClean="0"/>
              <a:t> p.142-145</a:t>
            </a:r>
            <a:r>
              <a:rPr lang="ja-JP" altLang="en-US" sz="2400" dirty="0" smtClean="0"/>
              <a:t>）</a:t>
            </a:r>
            <a:endParaRPr lang="en-US" altLang="ja-JP" sz="2400" dirty="0" smtClean="0"/>
          </a:p>
          <a:p>
            <a:r>
              <a:rPr lang="en-US" altLang="ja-JP" sz="2400" dirty="0" smtClean="0"/>
              <a:t>const</a:t>
            </a:r>
            <a:r>
              <a:rPr lang="ja-JP" altLang="en-US" sz="2400" dirty="0" smtClean="0"/>
              <a:t>型修飾子</a:t>
            </a:r>
            <a:r>
              <a:rPr lang="en-US" altLang="ja-JP" sz="2400" dirty="0" smtClean="0"/>
              <a:t>(</a:t>
            </a:r>
            <a:r>
              <a:rPr lang="ja-JP" altLang="en-US" sz="2400" dirty="0" smtClean="0"/>
              <a:t>教科書 </a:t>
            </a:r>
            <a:r>
              <a:rPr lang="en-US" altLang="ja-JP" sz="2400" dirty="0" smtClean="0"/>
              <a:t>p.133)</a:t>
            </a:r>
          </a:p>
          <a:p>
            <a:r>
              <a:rPr lang="ja-JP" altLang="en-US" sz="2400" dirty="0" smtClean="0"/>
              <a:t>複合代入演算子（教科書 </a:t>
            </a:r>
            <a:r>
              <a:rPr lang="en-US" altLang="ja-JP" sz="2400" dirty="0" smtClean="0"/>
              <a:t>p. 66</a:t>
            </a:r>
            <a:r>
              <a:rPr lang="ja-JP" altLang="en-US" sz="2400" dirty="0" smtClean="0"/>
              <a:t>）</a:t>
            </a:r>
            <a:endParaRPr lang="en-US" altLang="ja-JP" sz="2400" dirty="0" smtClean="0"/>
          </a:p>
        </p:txBody>
      </p:sp>
      <p:sp>
        <p:nvSpPr>
          <p:cNvPr id="4" name="テキスト ボックス 3"/>
          <p:cNvSpPr txBox="1"/>
          <p:nvPr/>
        </p:nvSpPr>
        <p:spPr>
          <a:xfrm>
            <a:off x="642910" y="5812713"/>
            <a:ext cx="7858180" cy="830997"/>
          </a:xfrm>
          <a:prstGeom prst="rect">
            <a:avLst/>
          </a:prstGeom>
          <a:noFill/>
        </p:spPr>
        <p:txBody>
          <a:bodyPr wrap="square" rtlCol="0">
            <a:spAutoFit/>
          </a:bodyPr>
          <a:lstStyle/>
          <a:p>
            <a:r>
              <a:rPr kumimoji="1" lang="ja-JP" altLang="en-US" sz="2400" dirty="0" smtClean="0"/>
              <a:t>これらについては、各自上記の教科書、参考書を参照してください。最終的には規格書を参照することになります。</a:t>
            </a:r>
            <a:endParaRPr kumimoji="1" lang="en-US" altLang="ja-JP" sz="2400"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確認事項</a:t>
            </a:r>
            <a:endParaRPr kumimoji="1" lang="ja-JP" altLang="en-US" dirty="0"/>
          </a:p>
        </p:txBody>
      </p:sp>
      <p:sp>
        <p:nvSpPr>
          <p:cNvPr id="3" name="テキスト ボックス 2"/>
          <p:cNvSpPr txBox="1"/>
          <p:nvPr/>
        </p:nvSpPr>
        <p:spPr>
          <a:xfrm>
            <a:off x="785786" y="1571612"/>
            <a:ext cx="7500990" cy="1569660"/>
          </a:xfrm>
          <a:prstGeom prst="rect">
            <a:avLst/>
          </a:prstGeom>
          <a:noFill/>
        </p:spPr>
        <p:txBody>
          <a:bodyPr wrap="square" rtlCol="0">
            <a:spAutoFit/>
          </a:bodyPr>
          <a:lstStyle/>
          <a:p>
            <a:r>
              <a:rPr kumimoji="1" lang="ja-JP" altLang="en-US" sz="2400" dirty="0" smtClean="0"/>
              <a:t>演習の１回目にもアナウンスしましたが、これまでに解けていない</a:t>
            </a:r>
            <a:r>
              <a:rPr lang="ja-JP" altLang="en-US" sz="2400" dirty="0" smtClean="0"/>
              <a:t>基本</a:t>
            </a:r>
            <a:r>
              <a:rPr kumimoji="1" lang="ja-JP" altLang="en-US" sz="2400" dirty="0" smtClean="0"/>
              <a:t>課題（各回２問ずつ）がある人は</a:t>
            </a:r>
            <a:r>
              <a:rPr lang="ja-JP" altLang="en-US" sz="2400" dirty="0" smtClean="0"/>
              <a:t>１４回目の</a:t>
            </a:r>
            <a:r>
              <a:rPr lang="en-US" altLang="ja-JP" sz="2400" dirty="0" smtClean="0"/>
              <a:t>16:10</a:t>
            </a:r>
            <a:r>
              <a:rPr lang="ja-JP" altLang="en-US" sz="2400" dirty="0" err="1" smtClean="0"/>
              <a:t>までに</a:t>
            </a:r>
            <a:r>
              <a:rPr lang="en-US" altLang="ja-JP" sz="2400" dirty="0" smtClean="0"/>
              <a:t>TA</a:t>
            </a:r>
            <a:r>
              <a:rPr lang="ja-JP" altLang="en-US" sz="2400" dirty="0" smtClean="0"/>
              <a:t>に確認してもらってください。</a:t>
            </a:r>
            <a:r>
              <a:rPr kumimoji="1" lang="ja-JP" altLang="en-US" sz="2400" dirty="0" smtClean="0"/>
              <a:t>それ以降は受け付けま</a:t>
            </a:r>
            <a:r>
              <a:rPr lang="ja-JP" altLang="en-US" sz="2400" dirty="0" smtClean="0"/>
              <a:t>せん。</a:t>
            </a:r>
            <a:endParaRPr kumimoji="1" lang="ja-JP" alt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825</TotalTime>
  <Words>3460</Words>
  <Application>Microsoft Office PowerPoint</Application>
  <PresentationFormat>画面に合わせる (4:3)</PresentationFormat>
  <Paragraphs>336</Paragraphs>
  <Slides>33</Slides>
  <Notes>1</Notes>
  <HiddenSlides>0</HiddenSlides>
  <MMClips>0</MMClips>
  <ScaleCrop>false</ScaleCrop>
  <HeadingPairs>
    <vt:vector size="4" baseType="variant">
      <vt:variant>
        <vt:lpstr>テーマ</vt:lpstr>
      </vt:variant>
      <vt:variant>
        <vt:i4>1</vt:i4>
      </vt:variant>
      <vt:variant>
        <vt:lpstr>スライド タイトル</vt:lpstr>
      </vt:variant>
      <vt:variant>
        <vt:i4>33</vt:i4>
      </vt:variant>
    </vt:vector>
  </HeadingPairs>
  <TitlesOfParts>
    <vt:vector size="34" baseType="lpstr">
      <vt:lpstr>Office テーマ</vt:lpstr>
      <vt:lpstr>プログラミング入門</vt:lpstr>
      <vt:lpstr>今日の内容</vt:lpstr>
      <vt:lpstr>for文</vt:lpstr>
      <vt:lpstr>for文の例（打ち込んで確認）</vt:lpstr>
      <vt:lpstr>for文の構文（基本形）</vt:lpstr>
      <vt:lpstr>例（打ち込んで確認）</vt:lpstr>
      <vt:lpstr>while文を使った場合</vt:lpstr>
      <vt:lpstr>for文の構文</vt:lpstr>
      <vt:lpstr>例（打ち込んで確認）</vt:lpstr>
      <vt:lpstr>コンマ演算子</vt:lpstr>
      <vt:lpstr>コンマ演算子</vt:lpstr>
      <vt:lpstr>例（打ち込んで確認）</vt:lpstr>
      <vt:lpstr>for文に入れた例（打ち込んで確認）</vt:lpstr>
      <vt:lpstr>増分演算子（前置）</vt:lpstr>
      <vt:lpstr>典型例</vt:lpstr>
      <vt:lpstr>（参考） ++e と e=e+1 の違いについて</vt:lpstr>
      <vt:lpstr>増分演算子（後置）</vt:lpstr>
      <vt:lpstr>ファイル処理</vt:lpstr>
      <vt:lpstr>例（入力して確認）</vt:lpstr>
      <vt:lpstr>FILE型</vt:lpstr>
      <vt:lpstr>ライブラリ関数fopen</vt:lpstr>
      <vt:lpstr>ライブラリ関数fclose</vt:lpstr>
      <vt:lpstr>ライブラリ関数fprintf</vt:lpstr>
      <vt:lpstr>例（打ち込んで確認）</vt:lpstr>
      <vt:lpstr>ライブラリ関数fscanf</vt:lpstr>
      <vt:lpstr>例（打ち込んで確認）</vt:lpstr>
      <vt:lpstr>基本課題１</vt:lpstr>
      <vt:lpstr>基本課題２</vt:lpstr>
      <vt:lpstr>発展課題１</vt:lpstr>
      <vt:lpstr>発展課題１の補足</vt:lpstr>
      <vt:lpstr>発展課題２</vt:lpstr>
      <vt:lpstr>本演習で扱わなかった内容</vt:lpstr>
      <vt:lpstr>確認事項</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dc:title>
  <dc:creator>sasano</dc:creator>
  <cp:lastModifiedBy>sasano</cp:lastModifiedBy>
  <cp:revision>519</cp:revision>
  <dcterms:created xsi:type="dcterms:W3CDTF">2009-12-12T09:36:31Z</dcterms:created>
  <dcterms:modified xsi:type="dcterms:W3CDTF">2010-12-13T06:19:42Z</dcterms:modified>
</cp:coreProperties>
</file>