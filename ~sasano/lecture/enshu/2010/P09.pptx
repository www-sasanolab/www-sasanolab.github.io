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98" r:id="rId4"/>
    <p:sldId id="257" r:id="rId5"/>
    <p:sldId id="269" r:id="rId6"/>
    <p:sldId id="270" r:id="rId7"/>
    <p:sldId id="271" r:id="rId8"/>
    <p:sldId id="272" r:id="rId9"/>
    <p:sldId id="273" r:id="rId10"/>
    <p:sldId id="281" r:id="rId11"/>
    <p:sldId id="267" r:id="rId12"/>
    <p:sldId id="259" r:id="rId13"/>
    <p:sldId id="275" r:id="rId14"/>
    <p:sldId id="276" r:id="rId15"/>
    <p:sldId id="274" r:id="rId16"/>
    <p:sldId id="279" r:id="rId17"/>
    <p:sldId id="278" r:id="rId18"/>
    <p:sldId id="282" r:id="rId19"/>
    <p:sldId id="283" r:id="rId20"/>
    <p:sldId id="284" r:id="rId21"/>
    <p:sldId id="280" r:id="rId22"/>
    <p:sldId id="286" r:id="rId23"/>
    <p:sldId id="285" r:id="rId24"/>
    <p:sldId id="287" r:id="rId25"/>
    <p:sldId id="264" r:id="rId26"/>
    <p:sldId id="289" r:id="rId27"/>
    <p:sldId id="290" r:id="rId28"/>
    <p:sldId id="291" r:id="rId29"/>
    <p:sldId id="288" r:id="rId30"/>
    <p:sldId id="292" r:id="rId31"/>
    <p:sldId id="293" r:id="rId32"/>
    <p:sldId id="294" r:id="rId33"/>
    <p:sldId id="296" r:id="rId34"/>
    <p:sldId id="297" r:id="rId35"/>
    <p:sldId id="295" r:id="rId36"/>
    <p:sldId id="299" r:id="rId37"/>
    <p:sldId id="300" r:id="rId38"/>
    <p:sldId id="266" r:id="rId39"/>
    <p:sldId id="277" r:id="rId4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95" autoAdjust="0"/>
  </p:normalViewPr>
  <p:slideViewPr>
    <p:cSldViewPr>
      <p:cViewPr varScale="1">
        <p:scale>
          <a:sx n="103" d="100"/>
          <a:sy n="103" d="100"/>
        </p:scale>
        <p:origin x="-2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2010/11/22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870079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プログラミング入門２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第９回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ポインタ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751570" y="497748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前回の補足</a:t>
            </a:r>
            <a:endParaRPr kumimoji="1" lang="en-US" altLang="ja-JP" dirty="0" smtClean="0"/>
          </a:p>
          <a:p>
            <a:r>
              <a:rPr lang="ja-JP" altLang="en-US" dirty="0" smtClean="0"/>
              <a:t>ポインタ</a:t>
            </a:r>
            <a:endParaRPr kumimoji="1"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前回の基本課題１について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配列を使って一旦文字列を格納するようにしてください。</a:t>
            </a:r>
            <a:endParaRPr lang="en-US" altLang="ja-JP" dirty="0" smtClean="0"/>
          </a:p>
          <a:p>
            <a:r>
              <a:rPr kumimoji="1" lang="ja-JP" altLang="en-US" dirty="0" smtClean="0"/>
              <a:t>ループに入る前に</a:t>
            </a:r>
            <a:r>
              <a:rPr kumimoji="1" lang="en-US" altLang="ja-JP" dirty="0" err="1" smtClean="0"/>
              <a:t>scanf</a:t>
            </a:r>
            <a:r>
              <a:rPr kumimoji="1" lang="ja-JP" altLang="en-US" dirty="0" smtClean="0"/>
              <a:t>で一文字読み取れば配列に格納しなくても可能ですが、不自然です。ヒントが不適切でした。</a:t>
            </a:r>
            <a:endParaRPr kumimoji="1" lang="en-US" altLang="ja-JP" dirty="0" smtClean="0"/>
          </a:p>
          <a:p>
            <a:r>
              <a:rPr lang="ja-JP" altLang="en-US" dirty="0" smtClean="0"/>
              <a:t>修正版のファイルを講義用ページの第</a:t>
            </a:r>
            <a:r>
              <a:rPr lang="en-US" altLang="ja-JP" dirty="0" smtClean="0"/>
              <a:t>7</a:t>
            </a:r>
            <a:r>
              <a:rPr lang="ja-JP" altLang="en-US" dirty="0" smtClean="0"/>
              <a:t>回のところに置いています。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642934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前回の補足：文字列について</a:t>
            </a: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285852" y="1214422"/>
          <a:ext cx="4959840" cy="7096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26640"/>
                <a:gridCol w="826640"/>
                <a:gridCol w="826640"/>
                <a:gridCol w="826640"/>
                <a:gridCol w="826640"/>
                <a:gridCol w="826640"/>
              </a:tblGrid>
              <a:tr h="70961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‘L’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kumimoji="1" lang="en-US" altLang="ja-JP" sz="3200" b="0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‘n’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‘\0’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‘u’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‘x’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/>
        </p:nvGraphicFramePr>
        <p:xfrm>
          <a:off x="1285854" y="2143116"/>
          <a:ext cx="5813269" cy="7143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30467"/>
                <a:gridCol w="830467"/>
                <a:gridCol w="830467"/>
                <a:gridCol w="830467"/>
                <a:gridCol w="830467"/>
                <a:gridCol w="830467"/>
                <a:gridCol w="830467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‘L’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kumimoji="1" lang="en-US" altLang="ja-JP" sz="3200" b="0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‘n’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‘\0’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‘u’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‘x’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‘\0’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1285852" y="3143248"/>
          <a:ext cx="6643736" cy="7096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30467"/>
                <a:gridCol w="830467"/>
                <a:gridCol w="830467"/>
                <a:gridCol w="830467"/>
                <a:gridCol w="830467"/>
                <a:gridCol w="830467"/>
                <a:gridCol w="830467"/>
                <a:gridCol w="830467"/>
              </a:tblGrid>
              <a:tr h="70961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‘\0’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‘L’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kumimoji="1" lang="en-US" altLang="ja-JP" sz="3200" b="0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‘n’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‘\0’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‘u’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‘x’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0" dirty="0" smtClean="0">
                          <a:solidFill>
                            <a:sysClr val="windowText" lastClr="000000"/>
                          </a:solidFill>
                        </a:rPr>
                        <a:t>‘\0’</a:t>
                      </a:r>
                      <a:endParaRPr kumimoji="1" lang="ja-JP" altLang="en-US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857224" y="4000504"/>
            <a:ext cx="7572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文字列は、</a:t>
            </a:r>
            <a:r>
              <a:rPr lang="en-US" altLang="ja-JP" sz="2400" dirty="0" smtClean="0"/>
              <a:t>char</a:t>
            </a:r>
            <a:r>
              <a:rPr lang="ja-JP" altLang="en-US" sz="2400" dirty="0" smtClean="0"/>
              <a:t>型の並びで最後が</a:t>
            </a:r>
            <a:r>
              <a:rPr lang="en-US" altLang="ja-JP" sz="2400" dirty="0" smtClean="0"/>
              <a:t>’\0’</a:t>
            </a:r>
            <a:r>
              <a:rPr lang="ja-JP" altLang="en-US" sz="2400" dirty="0" smtClean="0"/>
              <a:t>のものである。</a:t>
            </a:r>
            <a:endParaRPr lang="en-US" altLang="ja-JP" sz="24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857224" y="4643446"/>
            <a:ext cx="7572428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（補足）</a:t>
            </a:r>
            <a:r>
              <a:rPr lang="en-US" altLang="ja-JP" sz="2400" dirty="0" smtClean="0"/>
              <a:t>’L’</a:t>
            </a:r>
            <a:r>
              <a:rPr lang="ja-JP" altLang="en-US" sz="2400" dirty="0" smtClean="0"/>
              <a:t>や</a:t>
            </a:r>
            <a:r>
              <a:rPr lang="en-US" altLang="ja-JP" sz="2400" dirty="0" smtClean="0"/>
              <a:t>’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’</a:t>
            </a:r>
            <a:r>
              <a:rPr lang="ja-JP" altLang="en-US" sz="2400" dirty="0" smtClean="0"/>
              <a:t>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型である。これらを</a:t>
            </a:r>
            <a:r>
              <a:rPr lang="en-US" altLang="ja-JP" sz="2400" dirty="0" smtClean="0"/>
              <a:t>char</a:t>
            </a:r>
            <a:r>
              <a:rPr lang="ja-JP" altLang="en-US" sz="2400" dirty="0" smtClean="0"/>
              <a:t>型の変数や</a:t>
            </a:r>
            <a:r>
              <a:rPr lang="en-US" altLang="ja-JP" sz="2400" dirty="0" smtClean="0"/>
              <a:t>char</a:t>
            </a:r>
            <a:r>
              <a:rPr lang="ja-JP" altLang="en-US" sz="2400" dirty="0" smtClean="0"/>
              <a:t>型の配列の要素に代入する場合、暗黙の型変換がなされ、</a:t>
            </a:r>
            <a:r>
              <a:rPr lang="en-US" altLang="ja-JP" sz="2400" dirty="0" smtClean="0"/>
              <a:t>char</a:t>
            </a:r>
            <a:r>
              <a:rPr lang="ja-JP" altLang="en-US" sz="2400" dirty="0" smtClean="0"/>
              <a:t>型になってから配列の各要素に代入される。</a:t>
            </a:r>
            <a:r>
              <a:rPr lang="en-US" altLang="ja-JP" sz="2400" dirty="0" smtClean="0"/>
              <a:t>’L’</a:t>
            </a:r>
            <a:r>
              <a:rPr lang="ja-JP" altLang="en-US" sz="2400" dirty="0" smtClean="0"/>
              <a:t>や</a:t>
            </a:r>
            <a:r>
              <a:rPr lang="en-US" altLang="ja-JP" sz="2400" dirty="0" smtClean="0"/>
              <a:t>’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’</a:t>
            </a:r>
            <a:r>
              <a:rPr lang="ja-JP" altLang="en-US" sz="2400" dirty="0" smtClean="0"/>
              <a:t>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型だが、これらの値は</a:t>
            </a:r>
            <a:r>
              <a:rPr lang="en-US" altLang="ja-JP" sz="2400" dirty="0" smtClean="0"/>
              <a:t>char</a:t>
            </a:r>
            <a:r>
              <a:rPr lang="ja-JP" altLang="en-US" sz="2400" dirty="0" smtClean="0"/>
              <a:t>型で表現可能な範囲に入っている。このような場合、型変換は値を変えない。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アドレス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1357298"/>
            <a:ext cx="79296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一般に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などの命令型言語では、変数というのは直接的にはアドレスを表す。間接的に、そのアドレスの中身の値を表している。中身の値は代入によって変化し得る。（変数の値は中身の値である。）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 smtClean="0"/>
              <a:t>変数だけでなく、配列、配列の各要素もアドレスを持つ。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アドレス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357298"/>
            <a:ext cx="249594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char x = 10;</a:t>
            </a:r>
          </a:p>
          <a:p>
            <a:r>
              <a:rPr kumimoji="1" lang="en-US" altLang="ja-JP" sz="2800" dirty="0" smtClean="0"/>
              <a:t>  x = x + 1;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kumimoji="1" lang="en-US" altLang="ja-JP" sz="28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00034" y="4857760"/>
            <a:ext cx="8286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例えば、変数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用の領域が</a:t>
            </a:r>
            <a:r>
              <a:rPr lang="en-US" altLang="ja-JP" sz="2800" dirty="0" smtClean="0"/>
              <a:t>101</a:t>
            </a:r>
            <a:r>
              <a:rPr lang="ja-JP" altLang="en-US" sz="2800" dirty="0" smtClean="0"/>
              <a:t>番地だったとする。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そのとき、</a:t>
            </a:r>
            <a:r>
              <a:rPr kumimoji="1" lang="en-US" altLang="ja-JP" sz="2800" dirty="0" smtClean="0"/>
              <a:t>101</a:t>
            </a:r>
            <a:r>
              <a:rPr kumimoji="1" lang="ja-JP" altLang="en-US" sz="2800" dirty="0" smtClean="0"/>
              <a:t>が、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のアドレスである。また、初期状態では</a:t>
            </a:r>
            <a:r>
              <a:rPr lang="en-US" altLang="ja-JP" sz="2800" dirty="0" smtClean="0"/>
              <a:t>10</a:t>
            </a:r>
            <a:r>
              <a:rPr lang="ja-JP" altLang="en-US" sz="2800" dirty="0" smtClean="0"/>
              <a:t>が式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の値である。変数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の値は代入式によって</a:t>
            </a:r>
            <a:r>
              <a:rPr lang="en-US" altLang="ja-JP" sz="2800" dirty="0" smtClean="0"/>
              <a:t>11</a:t>
            </a:r>
            <a:r>
              <a:rPr lang="ja-JP" altLang="en-US" sz="2800" dirty="0" smtClean="0"/>
              <a:t>に変わる。</a:t>
            </a:r>
            <a:endParaRPr kumimoji="1" lang="ja-JP" altLang="en-US" sz="2800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/>
        </p:nvGraphicFramePr>
        <p:xfrm>
          <a:off x="5286380" y="1285860"/>
          <a:ext cx="3000396" cy="32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396"/>
              </a:tblGrid>
              <a:tr h="657230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10</a:t>
                      </a:r>
                      <a:endParaRPr kumimoji="1" lang="ja-JP" altLang="en-US" sz="28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4500562" y="1428736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100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500562" y="2071678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101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00562" y="2714620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102</a:t>
            </a:r>
            <a:endParaRPr kumimoji="1" lang="ja-JP" altLang="en-US" sz="24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492364" y="3357562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103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492364" y="4071942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104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アドレス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357298"/>
            <a:ext cx="249594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char x[3] = {0};</a:t>
            </a:r>
          </a:p>
          <a:p>
            <a:r>
              <a:rPr kumimoji="1" lang="en-US" altLang="ja-JP" sz="2800" dirty="0" smtClean="0"/>
              <a:t>  x [2] = 1;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kumimoji="1" lang="en-US" altLang="ja-JP" sz="28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71472" y="4704718"/>
            <a:ext cx="77153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lang="en-US" altLang="ja-JP" sz="2400" dirty="0" smtClean="0"/>
              <a:t>x</a:t>
            </a:r>
            <a:r>
              <a:rPr lang="ja-JP" altLang="en-US" sz="2400" dirty="0" smtClean="0"/>
              <a:t>用の領域が</a:t>
            </a:r>
            <a:r>
              <a:rPr lang="en-US" altLang="ja-JP" sz="2400" dirty="0" smtClean="0"/>
              <a:t>101</a:t>
            </a:r>
            <a:r>
              <a:rPr lang="ja-JP" altLang="en-US" sz="2400" dirty="0" smtClean="0"/>
              <a:t>から</a:t>
            </a:r>
            <a:r>
              <a:rPr lang="en-US" altLang="ja-JP" sz="2400" dirty="0" smtClean="0"/>
              <a:t>103</a:t>
            </a:r>
            <a:r>
              <a:rPr lang="ja-JP" altLang="en-US" sz="2400" dirty="0" smtClean="0"/>
              <a:t>番地だったとする。</a:t>
            </a:r>
            <a:r>
              <a:rPr kumimoji="1" lang="ja-JP" altLang="en-US" sz="2400" dirty="0" smtClean="0"/>
              <a:t>そのとき、</a:t>
            </a:r>
            <a:r>
              <a:rPr lang="ja-JP" altLang="en-US" sz="2400" dirty="0" smtClean="0"/>
              <a:t>式</a:t>
            </a:r>
            <a:r>
              <a:rPr lang="en-US" altLang="ja-JP" sz="2400" dirty="0" smtClean="0"/>
              <a:t>x[0]</a:t>
            </a:r>
            <a:r>
              <a:rPr lang="ja-JP" altLang="en-US" sz="2400" dirty="0" smtClean="0"/>
              <a:t>のアドレスは</a:t>
            </a:r>
            <a:r>
              <a:rPr lang="en-US" altLang="ja-JP" sz="2400" dirty="0" smtClean="0"/>
              <a:t>101, </a:t>
            </a:r>
            <a:r>
              <a:rPr lang="ja-JP" altLang="en-US" sz="2400" dirty="0" smtClean="0"/>
              <a:t>式</a:t>
            </a:r>
            <a:r>
              <a:rPr lang="en-US" altLang="ja-JP" sz="2400" dirty="0" smtClean="0"/>
              <a:t>x[1]</a:t>
            </a:r>
            <a:r>
              <a:rPr lang="ja-JP" altLang="en-US" sz="2400" dirty="0" smtClean="0"/>
              <a:t>のアドレスは</a:t>
            </a:r>
            <a:r>
              <a:rPr lang="en-US" altLang="ja-JP" sz="2400" dirty="0" smtClean="0"/>
              <a:t>102, </a:t>
            </a:r>
            <a:r>
              <a:rPr lang="ja-JP" altLang="en-US" sz="2400" dirty="0" smtClean="0"/>
              <a:t>式</a:t>
            </a:r>
            <a:r>
              <a:rPr lang="en-US" altLang="ja-JP" sz="2400" dirty="0" smtClean="0"/>
              <a:t>x[2]</a:t>
            </a:r>
            <a:r>
              <a:rPr lang="ja-JP" altLang="en-US" sz="2400" dirty="0" smtClean="0"/>
              <a:t>のアドレスは</a:t>
            </a:r>
            <a:r>
              <a:rPr lang="en-US" altLang="ja-JP" sz="2400" dirty="0" smtClean="0"/>
              <a:t>103</a:t>
            </a:r>
            <a:r>
              <a:rPr lang="ja-JP" altLang="en-US" sz="2400" dirty="0" smtClean="0"/>
              <a:t>である。また、初期状態では式</a:t>
            </a:r>
            <a:r>
              <a:rPr lang="en-US" altLang="ja-JP" sz="2400" dirty="0" smtClean="0"/>
              <a:t>x[0], x[1], x[2]</a:t>
            </a:r>
            <a:r>
              <a:rPr lang="ja-JP" altLang="en-US" sz="2400" dirty="0" smtClean="0"/>
              <a:t>の値は</a:t>
            </a:r>
            <a:r>
              <a:rPr lang="en-US" altLang="ja-JP" sz="2400" dirty="0" smtClean="0"/>
              <a:t>0</a:t>
            </a:r>
            <a:r>
              <a:rPr lang="ja-JP" altLang="en-US" sz="2400" dirty="0" err="1" smtClean="0"/>
              <a:t>、</a:t>
            </a:r>
            <a:r>
              <a:rPr lang="ja-JP" altLang="en-US" sz="2400" dirty="0" smtClean="0"/>
              <a:t>代入後は</a:t>
            </a:r>
            <a:r>
              <a:rPr lang="en-US" altLang="ja-JP" sz="2400" dirty="0" smtClean="0"/>
              <a:t>x[2]</a:t>
            </a:r>
            <a:r>
              <a:rPr lang="ja-JP" altLang="en-US" sz="2400" dirty="0" smtClean="0"/>
              <a:t>の値は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である。</a:t>
            </a:r>
            <a:endParaRPr kumimoji="1" lang="ja-JP" altLang="en-US" sz="2400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/>
        </p:nvGraphicFramePr>
        <p:xfrm>
          <a:off x="5286380" y="1285860"/>
          <a:ext cx="3000396" cy="32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396"/>
              </a:tblGrid>
              <a:tr h="657230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230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4500562" y="1428736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100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500562" y="2071678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101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00562" y="2714620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102</a:t>
            </a:r>
            <a:endParaRPr kumimoji="1" lang="ja-JP" altLang="en-US" sz="24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492364" y="3357562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103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492364" y="4071942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104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kumimoji="1" lang="ja-JP" altLang="en-US" dirty="0" smtClean="0"/>
              <a:t>＆演算子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1463465"/>
            <a:ext cx="80724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変数や配列の要素のアドレスを取得する演算子が＆演算子である。例えば、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x;</a:t>
            </a:r>
          </a:p>
          <a:p>
            <a:r>
              <a:rPr lang="ja-JP" altLang="en-US" sz="2800" dirty="0" smtClean="0"/>
              <a:t>という宣言の下で、</a:t>
            </a:r>
            <a:r>
              <a:rPr lang="en-US" altLang="ja-JP" sz="2800" dirty="0" smtClean="0"/>
              <a:t>&amp;</a:t>
            </a:r>
            <a:r>
              <a:rPr lang="ja-JP" altLang="en-US" sz="2800" dirty="0" smtClean="0"/>
              <a:t>を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に適用することによって、変数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の領域のアドレスを取得できる。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en-US" altLang="ja-JP" sz="2800" dirty="0" smtClean="0"/>
              <a:t>&amp;</a:t>
            </a:r>
            <a:r>
              <a:rPr lang="ja-JP" altLang="en-US" sz="2800" dirty="0" smtClean="0"/>
              <a:t>演算子をアドレス演算子とも言う。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 smtClean="0"/>
              <a:t>（他の例）</a:t>
            </a:r>
            <a:endParaRPr lang="en-US" altLang="ja-JP" sz="2800" dirty="0" smtClean="0"/>
          </a:p>
          <a:p>
            <a:r>
              <a:rPr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[5];</a:t>
            </a:r>
          </a:p>
          <a:p>
            <a:r>
              <a:rPr lang="ja-JP" altLang="en-US" sz="2800" dirty="0" smtClean="0"/>
              <a:t>という宣言下で、</a:t>
            </a:r>
            <a:r>
              <a:rPr lang="en-US" altLang="ja-JP" sz="2800" dirty="0" smtClean="0"/>
              <a:t>&amp; </a:t>
            </a:r>
            <a:r>
              <a:rPr lang="ja-JP" altLang="en-US" sz="2800" dirty="0" smtClean="0"/>
              <a:t>を </a:t>
            </a:r>
            <a:r>
              <a:rPr lang="en-US" altLang="ja-JP" sz="2800" dirty="0" smtClean="0"/>
              <a:t>a[2]</a:t>
            </a:r>
            <a:r>
              <a:rPr lang="ja-JP" altLang="en-US" sz="2800" dirty="0" smtClean="0"/>
              <a:t>に適用すると、配列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番目（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から数えて）の領域のアドレスが得られる。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285860"/>
            <a:ext cx="3493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変数のアドレスを表示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42910" y="5857892"/>
            <a:ext cx="7858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（補足）アドレスは、実際の物理メモリ上のアドレスを表しているとは限らない。</a:t>
            </a:r>
            <a:endParaRPr kumimoji="1" lang="ja-JP" altLang="en-US" sz="2400" dirty="0"/>
          </a:p>
        </p:txBody>
      </p:sp>
      <p:sp>
        <p:nvSpPr>
          <p:cNvPr id="6" name="正方形/長方形 5"/>
          <p:cNvSpPr/>
          <p:nvPr/>
        </p:nvSpPr>
        <p:spPr>
          <a:xfrm>
            <a:off x="642910" y="5000636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（注意）関数呼び出しの系列によって、あるいはプログラムの実行毎に、変数用の領域の場所は変わる。</a:t>
            </a:r>
            <a:endParaRPr lang="en-US" altLang="ja-JP" sz="24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500826" y="3214686"/>
            <a:ext cx="214314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err="1" smtClean="0"/>
              <a:t>printf</a:t>
            </a:r>
            <a:r>
              <a:rPr lang="ja-JP" altLang="en-US" sz="2400" dirty="0" smtClean="0"/>
              <a:t>の変換指定には</a:t>
            </a:r>
            <a:r>
              <a:rPr lang="en-US" altLang="ja-JP" sz="2400" dirty="0" smtClean="0"/>
              <a:t>%p</a:t>
            </a:r>
            <a:r>
              <a:rPr lang="ja-JP" altLang="en-US" sz="2400" dirty="0" smtClean="0"/>
              <a:t>を用いる。</a:t>
            </a:r>
            <a:endParaRPr kumimoji="1"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1000100" y="1857364"/>
            <a:ext cx="535785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lang="en-US" altLang="ja-JP" sz="2400" dirty="0" smtClean="0"/>
              <a:t>  double y;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address of x is </a:t>
            </a:r>
            <a:r>
              <a:rPr lang="en-US" altLang="ja-JP" sz="2400" dirty="0" smtClean="0">
                <a:solidFill>
                  <a:srgbClr val="FF0000"/>
                </a:solidFill>
              </a:rPr>
              <a:t>%p</a:t>
            </a:r>
            <a:r>
              <a:rPr lang="en-US" altLang="ja-JP" sz="2400" dirty="0" smtClean="0"/>
              <a:t>.\n", &amp;x);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address of y is </a:t>
            </a:r>
            <a:r>
              <a:rPr lang="en-US" altLang="ja-JP" sz="2400" dirty="0" smtClean="0">
                <a:solidFill>
                  <a:srgbClr val="FF0000"/>
                </a:solidFill>
              </a:rPr>
              <a:t>%p</a:t>
            </a:r>
            <a:r>
              <a:rPr lang="en-US" altLang="ja-JP" sz="2400" dirty="0" smtClean="0"/>
              <a:t>.\n", &amp;y);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28662" y="1714488"/>
            <a:ext cx="7429536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[5];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a[0] is %p.\n", &amp;a[0]);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a[1] is %p.\n", &amp;a[1]);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a[2] is %p.\n", &amp;a[2]);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a[3] is %p.\n", &amp;a[3]);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a[4] is %p.\n", &amp;a[4]);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ポインタ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642910" y="1071546"/>
            <a:ext cx="778674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&amp;</a:t>
            </a:r>
            <a:r>
              <a:rPr lang="ja-JP" altLang="en-US" sz="2800" dirty="0" smtClean="0"/>
              <a:t>演算子の適用対象の式の型が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型のとき、式</a:t>
            </a:r>
            <a:r>
              <a:rPr lang="en-US" altLang="ja-JP" sz="2800" dirty="0" smtClean="0"/>
              <a:t>&amp;e</a:t>
            </a:r>
            <a:r>
              <a:rPr lang="ja-JP" altLang="en-US" sz="2800" dirty="0" smtClean="0"/>
              <a:t>の型は</a:t>
            </a:r>
            <a:r>
              <a:rPr lang="en-US" altLang="ja-JP" sz="2800" dirty="0" smtClean="0"/>
              <a:t>t * </a:t>
            </a:r>
            <a:r>
              <a:rPr lang="ja-JP" altLang="en-US" sz="2800" dirty="0" smtClean="0"/>
              <a:t>型（型</a:t>
            </a:r>
            <a:r>
              <a:rPr lang="en-US" altLang="ja-JP" sz="2800" dirty="0" smtClean="0"/>
              <a:t>t</a:t>
            </a:r>
            <a:r>
              <a:rPr lang="ja-JP" altLang="en-US" sz="2800" dirty="0" err="1" smtClean="0"/>
              <a:t>への</a:t>
            </a:r>
            <a:r>
              <a:rPr lang="ja-JP" altLang="en-US" sz="2800" dirty="0" smtClean="0"/>
              <a:t>ポインタ型と読む）である。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また、式</a:t>
            </a:r>
            <a:r>
              <a:rPr lang="en-US" altLang="ja-JP" sz="2800" dirty="0" smtClean="0"/>
              <a:t>&amp;e</a:t>
            </a:r>
            <a:r>
              <a:rPr lang="ja-JP" altLang="en-US" sz="2800" dirty="0" smtClean="0"/>
              <a:t>の値（アドレス）を、通常、「</a:t>
            </a:r>
            <a:r>
              <a:rPr lang="en-US" altLang="ja-JP" sz="2800" dirty="0" smtClean="0"/>
              <a:t>e</a:t>
            </a:r>
            <a:r>
              <a:rPr lang="ja-JP" altLang="en-US" sz="2800" dirty="0" err="1" smtClean="0"/>
              <a:t>への</a:t>
            </a:r>
            <a:r>
              <a:rPr lang="ja-JP" altLang="en-US" sz="2800" dirty="0" smtClean="0"/>
              <a:t>ポインタ」と表現する。</a:t>
            </a:r>
            <a:endParaRPr lang="en-US" altLang="ja-JP" sz="2800" dirty="0" smtClean="0"/>
          </a:p>
          <a:p>
            <a:r>
              <a:rPr lang="ja-JP" altLang="en-US" sz="2800" dirty="0" smtClean="0"/>
              <a:t>例えば、</a:t>
            </a:r>
            <a:endParaRPr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y;</a:t>
            </a:r>
          </a:p>
          <a:p>
            <a:r>
              <a:rPr lang="ja-JP" altLang="en-US" sz="2800" dirty="0" smtClean="0"/>
              <a:t>という宣言下で、</a:t>
            </a:r>
            <a:r>
              <a:rPr lang="en-US" altLang="ja-JP" sz="2800" dirty="0" smtClean="0"/>
              <a:t>&amp;y</a:t>
            </a:r>
            <a:r>
              <a:rPr lang="ja-JP" altLang="en-US" sz="2800" dirty="0" smtClean="0"/>
              <a:t>という式の型は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* </a:t>
            </a:r>
            <a:r>
              <a:rPr lang="ja-JP" altLang="en-US" sz="2800" dirty="0" smtClean="0"/>
              <a:t>型である。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また、式</a:t>
            </a:r>
            <a:r>
              <a:rPr lang="en-US" altLang="ja-JP" sz="2800" dirty="0" smtClean="0"/>
              <a:t>&amp;y</a:t>
            </a:r>
            <a:r>
              <a:rPr lang="ja-JP" altLang="en-US" sz="2800" dirty="0" smtClean="0"/>
              <a:t>の値は、変数</a:t>
            </a:r>
            <a:r>
              <a:rPr lang="en-US" altLang="ja-JP" sz="2800" dirty="0" smtClean="0"/>
              <a:t>y</a:t>
            </a:r>
            <a:r>
              <a:rPr lang="ja-JP" altLang="en-US" sz="2800" dirty="0" err="1" smtClean="0"/>
              <a:t>への</a:t>
            </a:r>
            <a:r>
              <a:rPr lang="ja-JP" altLang="en-US" sz="2800" dirty="0" smtClean="0"/>
              <a:t>ポインタである。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 smtClean="0"/>
              <a:t>ポインタの型によって、ポインタが指している先の型情報が分かる（のでコンパイル時に型に関する整合性の検査ができる）。また、ポインタに対する足し算、引き算（後述）の意味が型によって異なる。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アドレス演算子＆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1428736"/>
            <a:ext cx="4621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アドレス演算子適用式の構文</a:t>
            </a:r>
            <a:endParaRPr lang="en-US" altLang="ja-JP" sz="28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643042" y="1928802"/>
            <a:ext cx="788999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&amp;</a:t>
            </a:r>
            <a:r>
              <a:rPr kumimoji="1" lang="ja-JP" altLang="en-US" sz="2800" dirty="0" smtClean="0"/>
              <a:t>式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85786" y="2500306"/>
            <a:ext cx="5290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アドレス演算子適用式 </a:t>
            </a:r>
            <a:r>
              <a:rPr kumimoji="1" lang="en-US" altLang="ja-JP" sz="2800" dirty="0" smtClean="0"/>
              <a:t>&amp;e </a:t>
            </a:r>
            <a:r>
              <a:rPr kumimoji="1" lang="ja-JP" altLang="en-US" sz="2800" dirty="0" smtClean="0"/>
              <a:t>の意味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71604" y="3115575"/>
            <a:ext cx="6072230" cy="138499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式</a:t>
            </a:r>
            <a:r>
              <a:rPr kumimoji="1" lang="en-US" altLang="ja-JP" sz="2800" dirty="0" smtClean="0"/>
              <a:t>&amp;e</a:t>
            </a:r>
            <a:r>
              <a:rPr kumimoji="1" lang="ja-JP" altLang="en-US" sz="2800" dirty="0" smtClean="0"/>
              <a:t>の評価結果は式</a:t>
            </a:r>
            <a:r>
              <a:rPr kumimoji="1" lang="en-US" altLang="ja-JP" sz="2800" dirty="0" smtClean="0"/>
              <a:t>e</a:t>
            </a:r>
            <a:r>
              <a:rPr kumimoji="1" lang="ja-JP" altLang="en-US" sz="2800" dirty="0" smtClean="0"/>
              <a:t>のアドレスである。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e</a:t>
            </a:r>
            <a:r>
              <a:rPr lang="ja-JP" altLang="en-US" sz="2800" dirty="0" smtClean="0"/>
              <a:t>がアドレスを持たない式の場合、コンパイル時にエラーとなる。</a:t>
            </a:r>
            <a:endParaRPr lang="en-US" altLang="ja-JP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57224" y="4643446"/>
            <a:ext cx="4931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アドレス演算子適用式 </a:t>
            </a:r>
            <a:r>
              <a:rPr kumimoji="1" lang="en-US" altLang="ja-JP" sz="2800" dirty="0" smtClean="0"/>
              <a:t>&amp;e </a:t>
            </a:r>
            <a:r>
              <a:rPr kumimoji="1" lang="ja-JP" altLang="en-US" sz="2800" dirty="0" smtClean="0"/>
              <a:t>の型</a:t>
            </a:r>
            <a:endParaRPr kumimoji="1" lang="ja-JP" altLang="en-US" sz="28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571604" y="5286388"/>
            <a:ext cx="6286543" cy="95410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式</a:t>
            </a:r>
            <a:r>
              <a:rPr kumimoji="1" lang="en-US" altLang="ja-JP" sz="2800" dirty="0" smtClean="0"/>
              <a:t>e</a:t>
            </a:r>
            <a:r>
              <a:rPr lang="ja-JP" altLang="en-US" sz="2800" dirty="0" smtClean="0"/>
              <a:t>の型が</a:t>
            </a:r>
            <a:r>
              <a:rPr kumimoji="1" lang="en-US" altLang="ja-JP" sz="2800" dirty="0" smtClean="0"/>
              <a:t>t</a:t>
            </a:r>
            <a:r>
              <a:rPr lang="ja-JP" altLang="en-US" sz="2800" dirty="0" smtClean="0"/>
              <a:t>型</a:t>
            </a:r>
            <a:r>
              <a:rPr kumimoji="1" lang="ja-JP" altLang="en-US" sz="2800" dirty="0" smtClean="0"/>
              <a:t>のとき、式</a:t>
            </a:r>
            <a:r>
              <a:rPr kumimoji="1" lang="en-US" altLang="ja-JP" sz="2800" dirty="0" smtClean="0"/>
              <a:t>&amp;e</a:t>
            </a:r>
            <a:r>
              <a:rPr kumimoji="1" lang="ja-JP" altLang="en-US" sz="2800" dirty="0" smtClean="0"/>
              <a:t>の型は</a:t>
            </a:r>
            <a:r>
              <a:rPr kumimoji="1" lang="en-US" altLang="ja-JP" sz="2800" dirty="0" smtClean="0"/>
              <a:t>t * </a:t>
            </a:r>
            <a:r>
              <a:rPr kumimoji="1" lang="ja-JP" altLang="en-US" sz="2800" dirty="0" smtClean="0"/>
              <a:t>型である。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ポインタ型の変数の宣言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500174"/>
            <a:ext cx="66223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ポインタ型の変数を宣言することができる。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t *</a:t>
            </a:r>
            <a:r>
              <a:rPr lang="ja-JP" altLang="en-US" sz="2800" dirty="0" smtClean="0"/>
              <a:t>型の変数の宣言は以下の形で行う。</a:t>
            </a:r>
            <a:endParaRPr lang="en-US" altLang="ja-JP" sz="28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57356" y="2643182"/>
            <a:ext cx="1903085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t * </a:t>
            </a:r>
            <a:r>
              <a:rPr lang="ja-JP" altLang="en-US" sz="2800" dirty="0" smtClean="0"/>
              <a:t>変数名</a:t>
            </a:r>
            <a:r>
              <a:rPr lang="en-US" altLang="ja-JP" sz="2800" dirty="0" smtClean="0"/>
              <a:t>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28662" y="3500438"/>
            <a:ext cx="72666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例えば、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型へのポインタ型の変数の宣言は、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*x;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行う。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1285852" y="1357298"/>
            <a:ext cx="6858000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x;</a:t>
            </a:r>
          </a:p>
          <a:p>
            <a:r>
              <a:rPr lang="en-US" altLang="ja-JP" sz="2800" dirty="0" smtClean="0"/>
              <a:t>  double y;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*</a:t>
            </a:r>
            <a:r>
              <a:rPr lang="en-US" altLang="ja-JP" sz="2800" dirty="0" err="1" smtClean="0"/>
              <a:t>px</a:t>
            </a:r>
            <a:r>
              <a:rPr lang="en-US" altLang="ja-JP" sz="2800" dirty="0" smtClean="0"/>
              <a:t>;</a:t>
            </a:r>
          </a:p>
          <a:p>
            <a:r>
              <a:rPr lang="en-US" altLang="ja-JP" sz="2800" dirty="0" smtClean="0"/>
              <a:t>  double *</a:t>
            </a:r>
            <a:r>
              <a:rPr lang="en-US" altLang="ja-JP" sz="2800" dirty="0" err="1" smtClean="0"/>
              <a:t>py</a:t>
            </a:r>
            <a:r>
              <a:rPr lang="en-US" altLang="ja-JP" sz="2800" dirty="0" smtClean="0"/>
              <a:t>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px</a:t>
            </a:r>
            <a:r>
              <a:rPr lang="en-US" altLang="ja-JP" sz="2800" dirty="0" smtClean="0"/>
              <a:t> = &amp;x;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py</a:t>
            </a:r>
            <a:r>
              <a:rPr lang="en-US" altLang="ja-JP" sz="2800" dirty="0" smtClean="0"/>
              <a:t> = &amp;y;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x is %p.\n", </a:t>
            </a:r>
            <a:r>
              <a:rPr lang="en-US" altLang="ja-JP" sz="2800" dirty="0" err="1" smtClean="0"/>
              <a:t>px</a:t>
            </a:r>
            <a:r>
              <a:rPr lang="en-US" altLang="ja-JP" sz="2800" dirty="0" smtClean="0"/>
              <a:t>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address of y is %p.\n", </a:t>
            </a:r>
            <a:r>
              <a:rPr lang="en-US" altLang="ja-JP" sz="2800" dirty="0" err="1" smtClean="0"/>
              <a:t>py</a:t>
            </a:r>
            <a:r>
              <a:rPr lang="en-US" altLang="ja-JP" sz="2800" dirty="0" smtClean="0"/>
              <a:t>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間接演算子 </a:t>
            </a:r>
            <a:r>
              <a:rPr lang="en-US" altLang="ja-JP" dirty="0" smtClean="0"/>
              <a:t>*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9" y="1428736"/>
            <a:ext cx="77867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あるアドレスに格納されている値を取り出したいとする。そのとき、間接演算子</a:t>
            </a:r>
            <a:r>
              <a:rPr lang="en-US" altLang="ja-JP" sz="2800" dirty="0" smtClean="0"/>
              <a:t>*</a:t>
            </a:r>
            <a:r>
              <a:rPr lang="ja-JP" altLang="en-US" sz="2800" dirty="0" smtClean="0"/>
              <a:t>を用いる。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例えば、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= 5;</a:t>
            </a:r>
          </a:p>
          <a:p>
            <a:r>
              <a:rPr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*p;</a:t>
            </a:r>
          </a:p>
          <a:p>
            <a:r>
              <a:rPr kumimoji="1" lang="en-US" altLang="ja-JP" sz="2800" dirty="0" smtClean="0"/>
              <a:t>   p = &amp;x;</a:t>
            </a:r>
          </a:p>
          <a:p>
            <a:r>
              <a:rPr lang="ja-JP" altLang="en-US" sz="2800" dirty="0" smtClean="0"/>
              <a:t>という状況で、式</a:t>
            </a:r>
            <a:r>
              <a:rPr lang="en-US" altLang="ja-JP" sz="2800" dirty="0" smtClean="0"/>
              <a:t>*p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5</a:t>
            </a:r>
            <a:r>
              <a:rPr lang="ja-JP" altLang="en-US" sz="2800" dirty="0" smtClean="0"/>
              <a:t>という値を持つ。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式</a:t>
            </a:r>
            <a:r>
              <a:rPr kumimoji="1" lang="en-US" altLang="ja-JP" sz="2800" dirty="0" smtClean="0"/>
              <a:t>*p</a:t>
            </a:r>
            <a:r>
              <a:rPr kumimoji="1" lang="ja-JP" altLang="en-US" sz="2800" dirty="0" smtClean="0"/>
              <a:t>は、</a:t>
            </a:r>
            <a:r>
              <a:rPr kumimoji="1" lang="en-US" altLang="ja-JP" sz="2800" dirty="0" smtClean="0"/>
              <a:t>p</a:t>
            </a:r>
            <a:r>
              <a:rPr kumimoji="1" lang="ja-JP" altLang="en-US" sz="2800" dirty="0" smtClean="0"/>
              <a:t>が変数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err="1" smtClean="0"/>
              <a:t>への</a:t>
            </a:r>
            <a:r>
              <a:rPr kumimoji="1" lang="ja-JP" altLang="en-US" sz="2800" dirty="0" smtClean="0"/>
              <a:t>ポインタの場合は、</a:t>
            </a:r>
            <a:r>
              <a:rPr kumimoji="1" lang="en-US" altLang="ja-JP" sz="2800" dirty="0" smtClean="0"/>
              <a:t>x</a:t>
            </a:r>
            <a:r>
              <a:rPr lang="ja-JP" altLang="en-US" sz="2800" dirty="0" smtClean="0"/>
              <a:t>の別名である。</a:t>
            </a:r>
            <a:r>
              <a:rPr lang="en-US" altLang="ja-JP" sz="2800" dirty="0" smtClean="0"/>
              <a:t>  (x</a:t>
            </a:r>
            <a:r>
              <a:rPr lang="ja-JP" altLang="en-US" sz="2800" dirty="0" smtClean="0"/>
              <a:t>と置き換えても同じ意味。</a:t>
            </a:r>
            <a:r>
              <a:rPr lang="en-US" altLang="ja-JP" sz="2800" dirty="0" smtClean="0"/>
              <a:t>)</a:t>
            </a:r>
          </a:p>
          <a:p>
            <a:r>
              <a:rPr lang="ja-JP" altLang="en-US" sz="2800" dirty="0" smtClean="0"/>
              <a:t>ただし、</a:t>
            </a:r>
            <a:r>
              <a:rPr lang="en-US" altLang="ja-JP" sz="2800" dirty="0" smtClean="0"/>
              <a:t>p</a:t>
            </a:r>
            <a:r>
              <a:rPr lang="ja-JP" altLang="en-US" sz="2800" dirty="0" smtClean="0"/>
              <a:t>の値を変えると（代入によって変更可能、後述）、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と同じ意味ではなくなる。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57290" y="1357298"/>
            <a:ext cx="6357966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x = 5;</a:t>
            </a:r>
          </a:p>
          <a:p>
            <a:r>
              <a:rPr lang="en-US" altLang="ja-JP" sz="2800" dirty="0" smtClean="0"/>
              <a:t>  double y = 5.5;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*</a:t>
            </a:r>
            <a:r>
              <a:rPr lang="en-US" altLang="ja-JP" sz="2800" dirty="0" err="1" smtClean="0"/>
              <a:t>px</a:t>
            </a:r>
            <a:r>
              <a:rPr lang="en-US" altLang="ja-JP" sz="2800" dirty="0" smtClean="0"/>
              <a:t>;</a:t>
            </a:r>
          </a:p>
          <a:p>
            <a:r>
              <a:rPr lang="en-US" altLang="ja-JP" sz="2800" dirty="0" smtClean="0"/>
              <a:t>  double *</a:t>
            </a:r>
            <a:r>
              <a:rPr lang="en-US" altLang="ja-JP" sz="2800" dirty="0" err="1" smtClean="0"/>
              <a:t>py</a:t>
            </a:r>
            <a:r>
              <a:rPr lang="en-US" altLang="ja-JP" sz="2800" dirty="0" smtClean="0"/>
              <a:t>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px</a:t>
            </a:r>
            <a:r>
              <a:rPr lang="en-US" altLang="ja-JP" sz="2800" dirty="0" smtClean="0"/>
              <a:t> = &amp;x;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py</a:t>
            </a:r>
            <a:r>
              <a:rPr lang="en-US" altLang="ja-JP" sz="2800" dirty="0" smtClean="0"/>
              <a:t> = &amp;y;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x is %d.\n", *</a:t>
            </a:r>
            <a:r>
              <a:rPr lang="en-US" altLang="ja-JP" sz="2800" dirty="0" err="1" smtClean="0"/>
              <a:t>px</a:t>
            </a:r>
            <a:r>
              <a:rPr lang="en-US" altLang="ja-JP" sz="2800" dirty="0" smtClean="0"/>
              <a:t>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y is %f.\n", *</a:t>
            </a:r>
            <a:r>
              <a:rPr lang="en-US" altLang="ja-JP" sz="2800" dirty="0" err="1" smtClean="0"/>
              <a:t>py</a:t>
            </a:r>
            <a:r>
              <a:rPr lang="en-US" altLang="ja-JP" sz="2800" dirty="0" smtClean="0"/>
              <a:t>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配列とポインタ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2571736" y="2214554"/>
          <a:ext cx="1928826" cy="2590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a[0]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a[1]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a[2]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a[3]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a[4]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左中かっこ 4"/>
          <p:cNvSpPr/>
          <p:nvPr/>
        </p:nvSpPr>
        <p:spPr>
          <a:xfrm>
            <a:off x="1714512" y="2285992"/>
            <a:ext cx="785786" cy="250033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42910" y="3253087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2910" y="1428736"/>
            <a:ext cx="6713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配列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が、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 [5];</a:t>
            </a:r>
            <a:r>
              <a:rPr kumimoji="1" lang="ja-JP" altLang="en-US" sz="2800" dirty="0" smtClean="0"/>
              <a:t>で宣言されているとする。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2910" y="5143512"/>
            <a:ext cx="75724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a </a:t>
            </a:r>
            <a:r>
              <a:rPr lang="en-US" altLang="ja-JP" sz="2800" dirty="0" smtClean="0"/>
              <a:t>[0]</a:t>
            </a:r>
            <a:r>
              <a:rPr lang="ja-JP" altLang="en-US" sz="2800" dirty="0" smtClean="0"/>
              <a:t>の領域のアドレスが</a:t>
            </a:r>
            <a:r>
              <a:rPr lang="en-US" altLang="ja-JP" sz="2800" dirty="0" smtClean="0"/>
              <a:t>100</a:t>
            </a:r>
            <a:r>
              <a:rPr lang="ja-JP" altLang="en-US" sz="2800" dirty="0" smtClean="0"/>
              <a:t>番地から始まる場合、</a:t>
            </a:r>
            <a:r>
              <a:rPr lang="en-US" altLang="ja-JP" sz="2800" dirty="0" smtClean="0"/>
              <a:t>a[1]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104</a:t>
            </a:r>
            <a:r>
              <a:rPr lang="ja-JP" altLang="en-US" sz="2800" dirty="0" smtClean="0"/>
              <a:t>番地、</a:t>
            </a:r>
            <a:r>
              <a:rPr lang="en-US" altLang="ja-JP" sz="2800" dirty="0" smtClean="0"/>
              <a:t>a[2]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108</a:t>
            </a:r>
            <a:r>
              <a:rPr lang="ja-JP" altLang="en-US" sz="2800" dirty="0" smtClean="0"/>
              <a:t>番地、</a:t>
            </a:r>
            <a:r>
              <a:rPr lang="en-US" altLang="ja-JP" sz="2800" dirty="0" smtClean="0"/>
              <a:t>a[3]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112</a:t>
            </a:r>
            <a:r>
              <a:rPr lang="ja-JP" altLang="en-US" sz="2800" dirty="0" smtClean="0"/>
              <a:t>番地、</a:t>
            </a:r>
            <a:r>
              <a:rPr lang="en-US" altLang="ja-JP" sz="2800" dirty="0" smtClean="0"/>
              <a:t>a[4]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116</a:t>
            </a:r>
            <a:r>
              <a:rPr lang="ja-JP" altLang="en-US" sz="2800" dirty="0" smtClean="0"/>
              <a:t>番地から始まる。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型が</a:t>
            </a:r>
            <a:r>
              <a:rPr lang="en-US" altLang="ja-JP" sz="2800" dirty="0" smtClean="0"/>
              <a:t>4byte</a:t>
            </a:r>
            <a:r>
              <a:rPr lang="ja-JP" altLang="en-US" sz="2800" dirty="0" smtClean="0"/>
              <a:t>の場合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72000" y="2191400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100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72000" y="2714620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104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572000" y="3214686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108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72000" y="3714752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112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572000" y="4286256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116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配列とポインタ（２）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2571736" y="1571612"/>
          <a:ext cx="1928826" cy="2590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a[0]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a[1]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a[2]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a[3]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a[4]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左中かっこ 4"/>
          <p:cNvSpPr/>
          <p:nvPr/>
        </p:nvSpPr>
        <p:spPr>
          <a:xfrm>
            <a:off x="1714512" y="1643050"/>
            <a:ext cx="785786" cy="250033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42910" y="2610145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1560" y="4365104"/>
            <a:ext cx="784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a </a:t>
            </a:r>
            <a:r>
              <a:rPr lang="en-US" altLang="ja-JP" sz="2400" dirty="0" smtClean="0"/>
              <a:t>[0]</a:t>
            </a:r>
            <a:r>
              <a:rPr lang="ja-JP" altLang="en-US" sz="2400" dirty="0" smtClean="0"/>
              <a:t>の領域が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番地の場合、</a:t>
            </a:r>
            <a:r>
              <a:rPr lang="en-US" altLang="ja-JP" sz="2400" dirty="0" smtClean="0"/>
              <a:t>&amp;a[0]</a:t>
            </a:r>
            <a:r>
              <a:rPr lang="ja-JP" altLang="en-US" sz="2400" dirty="0" smtClean="0"/>
              <a:t>の値は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である。この状況において、</a:t>
            </a:r>
            <a:endParaRPr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*p;</a:t>
            </a:r>
          </a:p>
          <a:p>
            <a:r>
              <a:rPr lang="ja-JP" altLang="en-US" sz="2400" dirty="0" smtClean="0"/>
              <a:t>で宣言された変数</a:t>
            </a:r>
            <a:r>
              <a:rPr lang="en-US" altLang="ja-JP" sz="2400" dirty="0" smtClean="0"/>
              <a:t>p</a:t>
            </a:r>
            <a:r>
              <a:rPr lang="ja-JP" altLang="en-US" sz="2400" dirty="0" smtClean="0"/>
              <a:t>に対して以下の代入を実行すると、</a:t>
            </a:r>
            <a:r>
              <a:rPr lang="en-US" altLang="ja-JP" sz="2400" dirty="0" smtClean="0"/>
              <a:t>p</a:t>
            </a:r>
            <a:r>
              <a:rPr lang="ja-JP" altLang="en-US" sz="2400" dirty="0" smtClean="0"/>
              <a:t>の値は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になる。</a:t>
            </a:r>
            <a:endParaRPr lang="en-US" altLang="ja-JP" sz="2400" dirty="0" smtClean="0"/>
          </a:p>
          <a:p>
            <a:r>
              <a:rPr lang="en-US" altLang="ja-JP" sz="2400" dirty="0" smtClean="0"/>
              <a:t>    p = &amp;a[0];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572000" y="1556792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100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72000" y="2080012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104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72000" y="2580078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108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572000" y="3080144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112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72000" y="3651648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116</a:t>
            </a:r>
            <a:r>
              <a:rPr kumimoji="1" lang="ja-JP" altLang="en-US" sz="2800" dirty="0" smtClean="0"/>
              <a:t>番地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kumimoji="1" lang="ja-JP" altLang="en-US" dirty="0" smtClean="0"/>
              <a:t>配列とポインタ（３）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2571736" y="1214422"/>
          <a:ext cx="1928826" cy="228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a[3]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a[4]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左中かっこ 4"/>
          <p:cNvSpPr/>
          <p:nvPr/>
        </p:nvSpPr>
        <p:spPr>
          <a:xfrm>
            <a:off x="1714512" y="1285860"/>
            <a:ext cx="785786" cy="221457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14348" y="2143116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4282" y="3680302"/>
            <a:ext cx="87868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*p;</a:t>
            </a:r>
          </a:p>
          <a:p>
            <a:r>
              <a:rPr lang="ja-JP" altLang="en-US" sz="2400" dirty="0" smtClean="0"/>
              <a:t>で宣言された変数</a:t>
            </a:r>
            <a:r>
              <a:rPr lang="en-US" altLang="ja-JP" sz="2400" dirty="0" smtClean="0"/>
              <a:t>p</a:t>
            </a:r>
            <a:r>
              <a:rPr lang="ja-JP" altLang="en-US" sz="2400" dirty="0" smtClean="0"/>
              <a:t>に対して</a:t>
            </a:r>
            <a:endParaRPr lang="en-US" altLang="ja-JP" sz="2400" dirty="0" smtClean="0"/>
          </a:p>
          <a:p>
            <a:r>
              <a:rPr lang="en-US" altLang="ja-JP" sz="2400" dirty="0" smtClean="0"/>
              <a:t>    p = &amp;a[0];</a:t>
            </a:r>
          </a:p>
          <a:p>
            <a:r>
              <a:rPr lang="ja-JP" altLang="en-US" sz="2400" dirty="0" smtClean="0"/>
              <a:t>を実行すると、</a:t>
            </a:r>
            <a:r>
              <a:rPr lang="en-US" altLang="ja-JP" sz="2400" dirty="0" smtClean="0"/>
              <a:t>&amp;a[0]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の場合、</a:t>
            </a:r>
            <a:r>
              <a:rPr lang="en-US" altLang="ja-JP" sz="2400" dirty="0" smtClean="0"/>
              <a:t>p</a:t>
            </a:r>
            <a:r>
              <a:rPr lang="ja-JP" altLang="en-US" sz="2400" dirty="0" err="1" smtClean="0"/>
              <a:t>には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が代入される。その状況で、式</a:t>
            </a:r>
            <a:r>
              <a:rPr lang="en-US" altLang="ja-JP" sz="2400" dirty="0" smtClean="0"/>
              <a:t>p + 1</a:t>
            </a:r>
            <a:r>
              <a:rPr lang="ja-JP" altLang="en-US" sz="2400" dirty="0" smtClean="0"/>
              <a:t>の値は</a:t>
            </a:r>
            <a:r>
              <a:rPr lang="en-US" altLang="ja-JP" sz="2400" dirty="0" smtClean="0"/>
              <a:t>104</a:t>
            </a:r>
            <a:r>
              <a:rPr lang="ja-JP" altLang="en-US" sz="2400" dirty="0" smtClean="0"/>
              <a:t>である（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型が</a:t>
            </a:r>
            <a:r>
              <a:rPr lang="en-US" altLang="ja-JP" sz="2400" dirty="0" smtClean="0"/>
              <a:t>4byte</a:t>
            </a:r>
            <a:r>
              <a:rPr lang="ja-JP" altLang="en-US" sz="2400" dirty="0" smtClean="0"/>
              <a:t>の場合）。</a:t>
            </a:r>
            <a:endParaRPr lang="en-US" altLang="ja-JP" sz="2400" dirty="0" smtClean="0"/>
          </a:p>
          <a:p>
            <a:r>
              <a:rPr lang="en-US" altLang="ja-JP" sz="2400" dirty="0" smtClean="0"/>
              <a:t>C</a:t>
            </a:r>
            <a:r>
              <a:rPr lang="ja-JP" altLang="en-US" sz="2400" dirty="0" smtClean="0"/>
              <a:t>言語の規格で、</a:t>
            </a:r>
            <a:r>
              <a:rPr lang="en-US" altLang="ja-JP" sz="2400" dirty="0" smtClean="0"/>
              <a:t>p + 1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p</a:t>
            </a:r>
            <a:r>
              <a:rPr lang="ja-JP" altLang="en-US" sz="2400" dirty="0" smtClean="0"/>
              <a:t>が指す配列の要素の次の要素を指すということが定められている（次ページ参照）。</a:t>
            </a:r>
            <a:endParaRPr lang="en-US" altLang="ja-JP" sz="24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572000" y="1196752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100</a:t>
            </a:r>
            <a:r>
              <a:rPr kumimoji="1" lang="ja-JP" altLang="en-US" sz="2400" dirty="0" smtClean="0"/>
              <a:t>番地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72000" y="1673278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104</a:t>
            </a:r>
            <a:r>
              <a:rPr kumimoji="1" lang="ja-JP" altLang="en-US" sz="2400" dirty="0" smtClean="0"/>
              <a:t>番地</a:t>
            </a:r>
            <a:endParaRPr kumimoji="1" lang="ja-JP" altLang="en-US" sz="24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72000" y="2132856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108</a:t>
            </a:r>
            <a:r>
              <a:rPr kumimoji="1" lang="ja-JP" altLang="en-US" sz="2400" dirty="0" smtClean="0"/>
              <a:t>番地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572000" y="2564904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112</a:t>
            </a:r>
            <a:r>
              <a:rPr kumimoji="1" lang="ja-JP" altLang="en-US" sz="2400" dirty="0" smtClean="0"/>
              <a:t>番地</a:t>
            </a:r>
            <a:endParaRPr kumimoji="1" lang="ja-JP" altLang="en-US" sz="24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72000" y="3068960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116</a:t>
            </a:r>
            <a:r>
              <a:rPr kumimoji="1" lang="ja-JP" altLang="en-US" sz="2400" dirty="0" smtClean="0"/>
              <a:t>番地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ポインタ型と</a:t>
            </a:r>
            <a:r>
              <a:rPr kumimoji="1" lang="en-US" altLang="ja-JP" dirty="0" err="1" smtClean="0"/>
              <a:t>int</a:t>
            </a:r>
            <a:r>
              <a:rPr kumimoji="1" lang="ja-JP" altLang="en-US" dirty="0" smtClean="0"/>
              <a:t>型の足し算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1500174"/>
            <a:ext cx="7242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ポインタ型と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型は足し算を行うことができる。</a:t>
            </a:r>
            <a:r>
              <a:rPr lang="en-US" altLang="ja-JP" sz="2800" dirty="0" smtClean="0"/>
              <a:t> 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714348" y="2071678"/>
            <a:ext cx="69764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t * </a:t>
            </a:r>
            <a:r>
              <a:rPr lang="ja-JP" altLang="en-US" sz="2800" dirty="0" smtClean="0"/>
              <a:t>型の式</a:t>
            </a:r>
            <a:r>
              <a:rPr lang="en-US" altLang="ja-JP" sz="2800" dirty="0" smtClean="0"/>
              <a:t>e1</a:t>
            </a:r>
            <a:r>
              <a:rPr lang="ja-JP" altLang="en-US" sz="2800" dirty="0" smtClean="0"/>
              <a:t>と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型の式</a:t>
            </a:r>
            <a:r>
              <a:rPr lang="en-US" altLang="ja-JP" sz="2800" dirty="0" smtClean="0"/>
              <a:t>e2</a:t>
            </a:r>
            <a:r>
              <a:rPr lang="ja-JP" altLang="en-US" sz="2800" dirty="0" smtClean="0"/>
              <a:t>の足し算式の意味</a:t>
            </a:r>
            <a:endParaRPr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214414" y="2643182"/>
            <a:ext cx="6858048" cy="267765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e1</a:t>
            </a:r>
            <a:r>
              <a:rPr lang="ja-JP" altLang="en-US" sz="2800" dirty="0" smtClean="0"/>
              <a:t>がある配列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err="1" smtClean="0"/>
              <a:t>i</a:t>
            </a:r>
            <a:r>
              <a:rPr lang="ja-JP" altLang="en-US" sz="2800" dirty="0" smtClean="0"/>
              <a:t>番目の要素を指している場合、</a:t>
            </a:r>
            <a:r>
              <a:rPr lang="en-US" altLang="ja-JP" sz="2800" dirty="0" smtClean="0"/>
              <a:t>e2</a:t>
            </a:r>
            <a:r>
              <a:rPr lang="ja-JP" altLang="en-US" sz="2800" dirty="0" smtClean="0"/>
              <a:t>の値が</a:t>
            </a:r>
            <a:r>
              <a:rPr lang="en-US" altLang="ja-JP" sz="2800" dirty="0" smtClean="0"/>
              <a:t>n</a:t>
            </a:r>
            <a:r>
              <a:rPr lang="ja-JP" altLang="en-US" sz="2800" dirty="0" smtClean="0"/>
              <a:t>のとき、</a:t>
            </a:r>
            <a:r>
              <a:rPr lang="en-US" altLang="ja-JP" sz="2800" dirty="0" smtClean="0"/>
              <a:t>e1 + e2</a:t>
            </a:r>
            <a:r>
              <a:rPr lang="ja-JP" altLang="en-US" sz="2800" dirty="0" err="1" smtClean="0"/>
              <a:t>、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e2 + e1</a:t>
            </a:r>
            <a:r>
              <a:rPr lang="ja-JP" altLang="en-US" sz="2800" dirty="0" smtClean="0"/>
              <a:t>は、配列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 (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+ n)</a:t>
            </a:r>
            <a:r>
              <a:rPr lang="ja-JP" altLang="en-US" sz="2800" dirty="0" smtClean="0"/>
              <a:t>番目の要素を指す。ただし、その要素が存在しない場合は、（配列の最後の要素</a:t>
            </a:r>
            <a:r>
              <a:rPr lang="en-US" altLang="ja-JP" sz="2800" dirty="0" smtClean="0"/>
              <a:t>+ 1</a:t>
            </a:r>
            <a:r>
              <a:rPr lang="ja-JP" altLang="en-US" sz="2800" dirty="0" smtClean="0"/>
              <a:t>番目を除いて）動作が未定義である。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0034" y="5429264"/>
            <a:ext cx="8215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引き算も同様である。ポインタ同士の引き算もできる（双方とも配列の範囲内か最後の要素</a:t>
            </a:r>
            <a:r>
              <a:rPr kumimoji="1" lang="en-US" altLang="ja-JP" sz="2800" dirty="0" smtClean="0"/>
              <a:t>+1</a:t>
            </a:r>
            <a:r>
              <a:rPr kumimoji="1" lang="ja-JP" altLang="en-US" sz="2800" dirty="0" smtClean="0"/>
              <a:t>番目を指している場合）。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57224" y="1357298"/>
            <a:ext cx="6858048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[5] = {10,20,30,40,50};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*p;</a:t>
            </a:r>
          </a:p>
          <a:p>
            <a:r>
              <a:rPr lang="en-US" altLang="ja-JP" sz="2800" dirty="0" smtClean="0"/>
              <a:t>  p = &amp;a[0];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a[0] is %d.\n", *p);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a[1] is %d.\n", *(p+1));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a[2] is %d.\n", *(p+2));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a[3] is %d.\n", *(p+3));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("The value of a[4] is %d.\n", *(p+4));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ポインタ型変数の値の変更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1500174"/>
            <a:ext cx="7383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ポインタ型変数の値を代入によって変更できる。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67544" y="2357430"/>
            <a:ext cx="80648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*p;</a:t>
            </a:r>
          </a:p>
          <a:p>
            <a:r>
              <a:rPr lang="ja-JP" altLang="en-US" sz="2400" dirty="0" smtClean="0"/>
              <a:t>で宣言された変数</a:t>
            </a:r>
            <a:r>
              <a:rPr lang="en-US" altLang="ja-JP" sz="2400" dirty="0" smtClean="0"/>
              <a:t>p</a:t>
            </a:r>
            <a:r>
              <a:rPr lang="ja-JP" altLang="en-US" sz="2400" dirty="0" smtClean="0"/>
              <a:t>に対して</a:t>
            </a:r>
            <a:endParaRPr lang="en-US" altLang="ja-JP" sz="2400" dirty="0" smtClean="0"/>
          </a:p>
          <a:p>
            <a:r>
              <a:rPr lang="en-US" altLang="ja-JP" sz="2400" dirty="0" smtClean="0"/>
              <a:t>    p = &amp;a[0];</a:t>
            </a:r>
          </a:p>
          <a:p>
            <a:r>
              <a:rPr lang="ja-JP" altLang="en-US" sz="2400" dirty="0" smtClean="0"/>
              <a:t>を実行すると、</a:t>
            </a:r>
            <a:r>
              <a:rPr lang="en-US" altLang="ja-JP" sz="2400" dirty="0" smtClean="0"/>
              <a:t>&amp;a[0]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の場合、</a:t>
            </a:r>
            <a:r>
              <a:rPr lang="en-US" altLang="ja-JP" sz="2400" dirty="0" smtClean="0"/>
              <a:t>p</a:t>
            </a:r>
            <a:r>
              <a:rPr lang="ja-JP" altLang="en-US" sz="2400" dirty="0" err="1" smtClean="0"/>
              <a:t>には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が代入される。その状況下で</a:t>
            </a:r>
            <a:endParaRPr lang="en-US" altLang="ja-JP" sz="2400" dirty="0" smtClean="0"/>
          </a:p>
          <a:p>
            <a:r>
              <a:rPr lang="en-US" altLang="ja-JP" sz="2400" dirty="0" smtClean="0"/>
              <a:t>    p = p + 1;</a:t>
            </a:r>
          </a:p>
          <a:p>
            <a:r>
              <a:rPr lang="ja-JP" altLang="en-US" sz="2400" dirty="0" smtClean="0"/>
              <a:t>が実行されると、</a:t>
            </a:r>
            <a:r>
              <a:rPr lang="en-US" altLang="ja-JP" sz="2400" dirty="0" smtClean="0"/>
              <a:t>p</a:t>
            </a:r>
            <a:r>
              <a:rPr lang="ja-JP" altLang="en-US" sz="2400" dirty="0" err="1" smtClean="0"/>
              <a:t>には</a:t>
            </a:r>
            <a:r>
              <a:rPr lang="en-US" altLang="ja-JP" sz="2400" dirty="0" smtClean="0"/>
              <a:t>104</a:t>
            </a:r>
            <a:r>
              <a:rPr lang="ja-JP" altLang="en-US" sz="2400" dirty="0" smtClean="0"/>
              <a:t>が代入される。</a:t>
            </a:r>
            <a:endParaRPr lang="en-US" altLang="ja-JP" sz="2400" dirty="0" smtClean="0"/>
          </a:p>
          <a:p>
            <a:endParaRPr lang="en-US" altLang="ja-JP" sz="2400" dirty="0" smtClean="0"/>
          </a:p>
          <a:p>
            <a:r>
              <a:rPr lang="ja-JP" altLang="en-US" sz="2400" dirty="0" smtClean="0"/>
              <a:t>（規格により、</a:t>
            </a:r>
            <a:r>
              <a:rPr lang="en-US" altLang="ja-JP" sz="2400" dirty="0" smtClean="0"/>
              <a:t>p=&amp;a[0]; p=p+1;</a:t>
            </a:r>
            <a:r>
              <a:rPr lang="ja-JP" altLang="en-US" sz="2400" dirty="0" smtClean="0"/>
              <a:t> を実行すると、</a:t>
            </a:r>
            <a:r>
              <a:rPr lang="en-US" altLang="ja-JP" sz="2400" dirty="0" smtClean="0"/>
              <a:t>p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a[1]</a:t>
            </a:r>
            <a:r>
              <a:rPr lang="ja-JP" altLang="en-US" sz="2400" dirty="0" smtClean="0"/>
              <a:t>を指すようになるということが言える。）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54032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642910" y="785794"/>
            <a:ext cx="7572428" cy="60016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*p;</a:t>
            </a:r>
          </a:p>
          <a:p>
            <a:r>
              <a:rPr lang="en-US" altLang="ja-JP" sz="2400" dirty="0" smtClean="0"/>
              <a:t>  p = &amp;a[0];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value of a[0] is %d.\n", *p);</a:t>
            </a:r>
          </a:p>
          <a:p>
            <a:r>
              <a:rPr lang="en-US" altLang="ja-JP" sz="2400" dirty="0" smtClean="0"/>
              <a:t>  p = p+1;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value of a[1] is %d.\n", *p);</a:t>
            </a:r>
          </a:p>
          <a:p>
            <a:r>
              <a:rPr lang="en-US" altLang="ja-JP" sz="2400" dirty="0" smtClean="0"/>
              <a:t>  p = p+1;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value of a[2] is %d.\n", *p);</a:t>
            </a:r>
          </a:p>
          <a:p>
            <a:r>
              <a:rPr lang="en-US" altLang="ja-JP" sz="2400" dirty="0" smtClean="0"/>
              <a:t>  p = p+1;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value of a[3] is %d.\n", *p);</a:t>
            </a:r>
          </a:p>
          <a:p>
            <a:r>
              <a:rPr lang="en-US" altLang="ja-JP" sz="2400" dirty="0" smtClean="0"/>
              <a:t>  p = p+1;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("The value of a[4] is %d.\n", *p);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例：配列の要素の和の計算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71604" y="1643050"/>
            <a:ext cx="4572000" cy="489364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sum=0,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p = &amp;a[0];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/>
              <a:t>    sum = sum + *(p +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 = %d\n", sum);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868346"/>
          </a:xfrm>
        </p:spPr>
        <p:txBody>
          <a:bodyPr/>
          <a:lstStyle/>
          <a:p>
            <a:r>
              <a:rPr kumimoji="1" lang="ja-JP" altLang="en-US" dirty="0" smtClean="0"/>
              <a:t>配列を関数に渡したい場合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643050"/>
            <a:ext cx="8072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配列は関数には渡せない</a:t>
            </a:r>
            <a:r>
              <a:rPr lang="ja-JP" altLang="en-US" sz="2800" dirty="0" smtClean="0"/>
              <a:t>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配列の先頭要素へのポインタを関数に渡す。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00166" y="1225689"/>
            <a:ext cx="6000792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*p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sum=0,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/>
              <a:t>    sum = sum + *(p +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sum;</a:t>
            </a:r>
          </a:p>
          <a:p>
            <a:r>
              <a:rPr lang="en-US" altLang="ja-JP" sz="2400" dirty="0" smtClean="0"/>
              <a:t>}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 = %d\n", sum (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&amp;a[0]</a:t>
            </a:r>
            <a:r>
              <a:rPr lang="en-US" altLang="ja-JP" sz="2400" dirty="0" smtClean="0"/>
              <a:t>));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配列の長さ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99592" y="1714488"/>
            <a:ext cx="74168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関数に配列の先頭要素へのポインタだけを渡すと、配列の長さの情報は呼ばれた関数側では分からない。配列を受け取る関数に長さ情報も渡したい場合は、</a:t>
            </a:r>
            <a:r>
              <a:rPr kumimoji="1" lang="en-US" altLang="ja-JP" sz="2800" dirty="0" err="1" smtClean="0"/>
              <a:t>int</a:t>
            </a:r>
            <a:r>
              <a:rPr kumimoji="1" lang="ja-JP" altLang="en-US" sz="2800" dirty="0" smtClean="0"/>
              <a:t>型の引数</a:t>
            </a:r>
            <a:r>
              <a:rPr lang="ja-JP" altLang="en-US" sz="2800" dirty="0" smtClean="0"/>
              <a:t>で</a:t>
            </a:r>
            <a:r>
              <a:rPr kumimoji="1" lang="ja-JP" altLang="en-US" sz="2800" dirty="0" smtClean="0"/>
              <a:t>長さ情報を渡す。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00166" y="1309293"/>
            <a:ext cx="5643602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 (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*p,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size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sum=0,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</a:t>
            </a:r>
            <a:r>
              <a:rPr lang="en-US" altLang="ja-JP" sz="2400" dirty="0" smtClean="0">
                <a:solidFill>
                  <a:srgbClr val="FF0000"/>
                </a:solidFill>
              </a:rPr>
              <a:t>size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  sum = sum + *(p +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sum;</a:t>
            </a:r>
          </a:p>
          <a:p>
            <a:r>
              <a:rPr lang="en-US" altLang="ja-JP" sz="2400" dirty="0" smtClean="0"/>
              <a:t>}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 = %d\n", sum (&amp;a[0], </a:t>
            </a:r>
            <a:r>
              <a:rPr lang="en-US" altLang="ja-JP" sz="2400" dirty="0" smtClean="0">
                <a:solidFill>
                  <a:srgbClr val="FF0000"/>
                </a:solidFill>
              </a:rPr>
              <a:t>5</a:t>
            </a:r>
            <a:r>
              <a:rPr lang="en-US" altLang="ja-JP" sz="2400" dirty="0" smtClean="0"/>
              <a:t>));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[ ] </a:t>
            </a:r>
            <a:r>
              <a:rPr lang="ja-JP" altLang="en-US" dirty="0" smtClean="0"/>
              <a:t>の意味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428736"/>
            <a:ext cx="82153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言語では、</a:t>
            </a:r>
            <a:r>
              <a:rPr kumimoji="1" lang="en-US" altLang="ja-JP" sz="2800" dirty="0" smtClean="0"/>
              <a:t>[ ] </a:t>
            </a:r>
            <a:r>
              <a:rPr kumimoji="1" lang="ja-JP" altLang="en-US" sz="2800" dirty="0" smtClean="0"/>
              <a:t>の意味はポインタを使って定義されている。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714620"/>
            <a:ext cx="739805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e1 [ e2 ]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*(e1 + e2) 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syntax sugar</a:t>
            </a:r>
            <a:r>
              <a:rPr lang="ja-JP" altLang="en-US" sz="2800" dirty="0" smtClean="0"/>
              <a:t>である。</a:t>
            </a:r>
            <a:endParaRPr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57224" y="3786190"/>
            <a:ext cx="7715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Syntax sugar</a:t>
            </a:r>
            <a:r>
              <a:rPr kumimoji="1" lang="ja-JP" altLang="en-US" sz="2400" dirty="0" smtClean="0"/>
              <a:t>とは、ある構文の別の書き方という意味である。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e1 [e2]</a:t>
            </a:r>
            <a:r>
              <a:rPr lang="ja-JP" altLang="en-US" sz="2400" dirty="0" smtClean="0"/>
              <a:t>の形の式はコンパイル時に </a:t>
            </a:r>
            <a:r>
              <a:rPr lang="en-US" altLang="ja-JP" sz="2400" dirty="0" smtClean="0"/>
              <a:t>*(e1 + e2) </a:t>
            </a:r>
            <a:r>
              <a:rPr lang="ja-JP" altLang="en-US" sz="2400" dirty="0" smtClean="0"/>
              <a:t>に変換されてから処理される。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714348" y="1071546"/>
            <a:ext cx="5214974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 (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*p,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size)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sum=0,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&lt;size) {</a:t>
            </a:r>
          </a:p>
          <a:p>
            <a:r>
              <a:rPr lang="en-US" altLang="ja-JP" sz="2400" dirty="0" smtClean="0"/>
              <a:t>    sum = sum + </a:t>
            </a:r>
            <a:r>
              <a:rPr lang="en-US" altLang="ja-JP" sz="2400" dirty="0" smtClean="0">
                <a:solidFill>
                  <a:srgbClr val="FF0000"/>
                </a:solidFill>
              </a:rPr>
              <a:t>p[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sum;</a:t>
            </a:r>
          </a:p>
          <a:p>
            <a:r>
              <a:rPr lang="en-US" altLang="ja-JP" sz="2400" dirty="0" smtClean="0"/>
              <a:t>}</a:t>
            </a:r>
          </a:p>
          <a:p>
            <a:endParaRPr lang="en-US" altLang="ja-JP" sz="2400" dirty="0" smtClean="0"/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 = %d\n", sum (&amp;a[0], 5));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072198" y="2285992"/>
            <a:ext cx="2857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p[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]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*(</a:t>
            </a:r>
            <a:r>
              <a:rPr lang="en-US" altLang="ja-JP" sz="2800" dirty="0" err="1" smtClean="0"/>
              <a:t>p+i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ポインタ型の仮引数表記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1785926"/>
            <a:ext cx="7786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関数定義において、ポインタ型の仮引数の便利な表記法</a:t>
            </a:r>
            <a:r>
              <a:rPr lang="ja-JP" altLang="en-US" sz="2800" dirty="0" smtClean="0"/>
              <a:t>がある。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f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* p) { … }</a:t>
            </a:r>
          </a:p>
          <a:p>
            <a:r>
              <a:rPr lang="ja-JP" altLang="en-US" sz="2800" dirty="0" err="1" smtClean="0"/>
              <a:t>のような</a:t>
            </a:r>
            <a:r>
              <a:rPr lang="ja-JP" altLang="en-US" sz="2800" dirty="0" smtClean="0"/>
              <a:t>関数定義は、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f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p [ ]) {… }</a:t>
            </a:r>
          </a:p>
          <a:p>
            <a:r>
              <a:rPr kumimoji="1" lang="ja-JP" altLang="en-US" sz="2800" dirty="0" smtClean="0"/>
              <a:t>と書いても良い。</a:t>
            </a:r>
            <a:endParaRPr kumimoji="1"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395536" y="1000108"/>
            <a:ext cx="5214974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p[ ]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size)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sum=0,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&lt;size) {</a:t>
            </a:r>
          </a:p>
          <a:p>
            <a:r>
              <a:rPr lang="en-US" altLang="ja-JP" sz="2400" dirty="0" smtClean="0"/>
              <a:t>    sum = sum + p[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sum;</a:t>
            </a:r>
          </a:p>
          <a:p>
            <a:r>
              <a:rPr lang="en-US" altLang="ja-JP" sz="2400" dirty="0" smtClean="0"/>
              <a:t>}</a:t>
            </a:r>
          </a:p>
          <a:p>
            <a:endParaRPr lang="en-US" altLang="ja-JP" sz="2400" dirty="0" smtClean="0"/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 = %d\n", sum (&amp;a[0], 5));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796136" y="1214422"/>
            <a:ext cx="306157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/>
              <a:t>仮引数の</a:t>
            </a:r>
            <a:r>
              <a:rPr kumimoji="1" lang="en-US" altLang="ja-JP" sz="2000" dirty="0" err="1" smtClean="0"/>
              <a:t>int</a:t>
            </a:r>
            <a:r>
              <a:rPr kumimoji="1" lang="en-US" altLang="ja-JP" sz="2000" dirty="0" smtClean="0"/>
              <a:t> p [ ] </a:t>
            </a:r>
            <a:r>
              <a:rPr kumimoji="1" lang="ja-JP" altLang="en-US" sz="2000" dirty="0" smtClean="0"/>
              <a:t>という表記は</a:t>
            </a:r>
            <a:r>
              <a:rPr kumimoji="1" lang="en-US" altLang="ja-JP" sz="2000" dirty="0" err="1" smtClean="0"/>
              <a:t>int</a:t>
            </a:r>
            <a:r>
              <a:rPr kumimoji="1" lang="en-US" altLang="ja-JP" sz="2000" dirty="0" smtClean="0"/>
              <a:t> * p</a:t>
            </a:r>
            <a:r>
              <a:rPr kumimoji="1" lang="ja-JP" altLang="en-US" sz="2000" dirty="0" smtClean="0"/>
              <a:t>と同じ意味である。</a:t>
            </a:r>
            <a:r>
              <a:rPr lang="ja-JP" altLang="en-US" sz="2000" dirty="0" smtClean="0"/>
              <a:t>配列を受け取っているかのように見えるので、プログラムが読みやすくなる効果がある。</a:t>
            </a:r>
            <a:endParaRPr lang="en-US" altLang="ja-JP" sz="2000" dirty="0" smtClean="0"/>
          </a:p>
          <a:p>
            <a:endParaRPr kumimoji="1" lang="en-US" altLang="ja-JP" sz="2000" dirty="0" smtClean="0"/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p [ ] </a:t>
            </a:r>
            <a:r>
              <a:rPr lang="ja-JP" altLang="en-US" sz="2000" dirty="0" smtClean="0"/>
              <a:t>を、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p [5]</a:t>
            </a:r>
            <a:r>
              <a:rPr lang="ja-JP" altLang="en-US" sz="2000" dirty="0" err="1" smtClean="0"/>
              <a:t>のように</a:t>
            </a:r>
            <a:r>
              <a:rPr lang="ja-JP" altLang="en-US" sz="2000" dirty="0" smtClean="0"/>
              <a:t>書くことも許されているが、</a:t>
            </a:r>
            <a:r>
              <a:rPr lang="en-US" altLang="ja-JP" sz="2000" dirty="0" smtClean="0"/>
              <a:t>5</a:t>
            </a:r>
            <a:r>
              <a:rPr lang="ja-JP" altLang="en-US" sz="2000" dirty="0" smtClean="0"/>
              <a:t>は無視される。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p [ ]</a:t>
            </a:r>
            <a:r>
              <a:rPr lang="ja-JP" altLang="en-US" sz="2000" dirty="0" smtClean="0"/>
              <a:t>も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p [5]</a:t>
            </a:r>
            <a:r>
              <a:rPr lang="ja-JP" altLang="en-US" sz="2000" dirty="0" smtClean="0"/>
              <a:t>もポインタ型の仮引数の別記法であり、</a:t>
            </a:r>
            <a:r>
              <a:rPr lang="en-US" altLang="ja-JP" sz="2000" dirty="0" smtClean="0"/>
              <a:t>p</a:t>
            </a:r>
            <a:r>
              <a:rPr lang="ja-JP" altLang="en-US" sz="2000" dirty="0" smtClean="0"/>
              <a:t>は配列ではない。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428736"/>
            <a:ext cx="75724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[5];</a:t>
            </a:r>
          </a:p>
          <a:p>
            <a:r>
              <a:rPr lang="ja-JP" altLang="en-US" sz="2800" dirty="0" smtClean="0"/>
              <a:t>という宣言下において、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は長さ５の配列であるが、（少数の例外を除いて）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は配列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の先頭要素へのポインタ、すなわち</a:t>
            </a:r>
            <a:r>
              <a:rPr lang="en-US" altLang="ja-JP" sz="2800" dirty="0" smtClean="0"/>
              <a:t>&amp;a[0]</a:t>
            </a:r>
            <a:r>
              <a:rPr lang="ja-JP" altLang="en-US" sz="2800" dirty="0" smtClean="0"/>
              <a:t>と同じ意味である。</a:t>
            </a:r>
            <a:r>
              <a:rPr lang="en-US" altLang="ja-JP" sz="2800" dirty="0" smtClean="0"/>
              <a:t>    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8" y="3861048"/>
            <a:ext cx="75009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（例外） </a:t>
            </a:r>
            <a:r>
              <a:rPr lang="en-US" altLang="ja-JP" sz="2800" dirty="0" err="1" smtClean="0"/>
              <a:t>sizeof</a:t>
            </a:r>
            <a:r>
              <a:rPr lang="ja-JP" altLang="en-US" sz="2800" dirty="0" smtClean="0"/>
              <a:t>の引数、</a:t>
            </a:r>
            <a:r>
              <a:rPr lang="en-US" altLang="ja-JP" sz="2800" dirty="0" smtClean="0"/>
              <a:t>&amp;</a:t>
            </a:r>
            <a:r>
              <a:rPr lang="ja-JP" altLang="en-US" sz="2800" dirty="0" smtClean="0"/>
              <a:t>の引数は例外である。</a:t>
            </a:r>
            <a:endParaRPr lang="en-US" altLang="ja-JP" sz="2800" dirty="0" smtClean="0"/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a[5];</a:t>
            </a:r>
          </a:p>
          <a:p>
            <a:r>
              <a:rPr lang="en-US" altLang="ja-JP" sz="2800" dirty="0" smtClean="0"/>
              <a:t> </a:t>
            </a:r>
            <a:r>
              <a:rPr lang="ja-JP" altLang="en-US" sz="2800" dirty="0" smtClean="0"/>
              <a:t>という宣言下において、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(a)</a:t>
            </a:r>
            <a:r>
              <a:rPr lang="ja-JP" altLang="en-US" sz="2800" dirty="0" smtClean="0"/>
              <a:t>は配列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全体のサイズ（演習室では</a:t>
            </a:r>
            <a:r>
              <a:rPr lang="en-US" altLang="ja-JP" sz="2800" dirty="0" smtClean="0"/>
              <a:t>20</a:t>
            </a:r>
            <a:r>
              <a:rPr lang="ja-JP" altLang="en-US" sz="2800" dirty="0" smtClean="0"/>
              <a:t>）、</a:t>
            </a:r>
            <a:r>
              <a:rPr lang="en-US" altLang="ja-JP" sz="2800" dirty="0" smtClean="0"/>
              <a:t>&amp;a</a:t>
            </a:r>
            <a:r>
              <a:rPr lang="ja-JP" altLang="en-US" sz="2800" dirty="0" smtClean="0"/>
              <a:t>は配列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全体へのポインタ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(*) [5] </a:t>
            </a:r>
            <a:r>
              <a:rPr lang="ja-JP" altLang="en-US" sz="2800" dirty="0" smtClean="0"/>
              <a:t>型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これらの説明は今日はしない。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857224" y="1285860"/>
            <a:ext cx="4929222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 (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p[ ],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size)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sum=0,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&lt;size) {</a:t>
            </a:r>
          </a:p>
          <a:p>
            <a:r>
              <a:rPr lang="en-US" altLang="ja-JP" sz="2400" dirty="0" smtClean="0"/>
              <a:t>    sum = sum + p[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sum;</a:t>
            </a:r>
          </a:p>
          <a:p>
            <a:r>
              <a:rPr lang="en-US" altLang="ja-JP" sz="2400" dirty="0" smtClean="0"/>
              <a:t>}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{10,20,30,40,50};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 = %d\n", sum (</a:t>
            </a:r>
            <a:r>
              <a:rPr lang="en-US" altLang="ja-JP" sz="2400" dirty="0" smtClean="0">
                <a:solidFill>
                  <a:srgbClr val="FF0000"/>
                </a:solidFill>
              </a:rPr>
              <a:t>a</a:t>
            </a:r>
            <a:r>
              <a:rPr lang="en-US" altLang="ja-JP" sz="2400" dirty="0" smtClean="0"/>
              <a:t>, 5));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929322" y="4857760"/>
            <a:ext cx="28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a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の先頭要素へのポインタ</a:t>
            </a:r>
            <a:r>
              <a:rPr lang="en-US" altLang="ja-JP" sz="2400" dirty="0" smtClean="0"/>
              <a:t>(&amp;a[0])</a:t>
            </a:r>
            <a:r>
              <a:rPr lang="ja-JP" altLang="en-US" sz="2400" dirty="0" smtClean="0"/>
              <a:t>の意味である。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（補足）</a:t>
            </a:r>
            <a:r>
              <a:rPr kumimoji="1" lang="en-US" altLang="ja-JP" dirty="0" smtClean="0"/>
              <a:t>[ ] </a:t>
            </a:r>
            <a:r>
              <a:rPr kumimoji="1" lang="ja-JP" altLang="en-US" dirty="0" smtClean="0"/>
              <a:t>記法について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1560" y="1476067"/>
            <a:ext cx="78581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29</a:t>
            </a:r>
            <a:r>
              <a:rPr lang="ja-JP" altLang="en-US" sz="2800" dirty="0" smtClean="0"/>
              <a:t>ページで書いた通り、</a:t>
            </a:r>
            <a:r>
              <a:rPr lang="en-US" altLang="ja-JP" sz="2800" dirty="0" smtClean="0"/>
              <a:t>a [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] </a:t>
            </a:r>
            <a:r>
              <a:rPr lang="ja-JP" altLang="en-US" sz="2800" dirty="0" smtClean="0"/>
              <a:t>は </a:t>
            </a:r>
            <a:r>
              <a:rPr lang="en-US" altLang="ja-JP" sz="2800" dirty="0" smtClean="0"/>
              <a:t>*(a +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の別記法であり、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[a] </a:t>
            </a:r>
            <a:r>
              <a:rPr lang="ja-JP" altLang="en-US" sz="2800" dirty="0" smtClean="0"/>
              <a:t>は </a:t>
            </a:r>
            <a:r>
              <a:rPr lang="en-US" altLang="ja-JP" sz="2800" dirty="0" smtClean="0"/>
              <a:t>*(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+ a)</a:t>
            </a:r>
            <a:r>
              <a:rPr lang="ja-JP" altLang="en-US" sz="2800" dirty="0" smtClean="0"/>
              <a:t>の別記法である。</a:t>
            </a:r>
            <a:endParaRPr lang="en-US" altLang="ja-JP" sz="2800" dirty="0" smtClean="0"/>
          </a:p>
          <a:p>
            <a:r>
              <a:rPr lang="en-US" altLang="ja-JP" sz="2800" dirty="0" smtClean="0"/>
              <a:t>a + </a:t>
            </a:r>
            <a:r>
              <a:rPr lang="en-US" altLang="ja-JP" sz="2800" dirty="0" err="1" smtClean="0"/>
              <a:t>i</a:t>
            </a:r>
            <a:r>
              <a:rPr lang="ja-JP" altLang="en-US" sz="2800" dirty="0" smtClean="0"/>
              <a:t>と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+ a</a:t>
            </a:r>
            <a:r>
              <a:rPr lang="ja-JP" altLang="en-US" sz="2800" dirty="0" smtClean="0"/>
              <a:t>の評価結果は同じなので、</a:t>
            </a:r>
            <a:r>
              <a:rPr lang="en-US" altLang="ja-JP" sz="2800" dirty="0" smtClean="0"/>
              <a:t>a[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]</a:t>
            </a:r>
            <a:r>
              <a:rPr lang="ja-JP" altLang="en-US" sz="2800" dirty="0" smtClean="0"/>
              <a:t>と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[a]</a:t>
            </a:r>
            <a:r>
              <a:rPr lang="ja-JP" altLang="en-US" sz="2800" dirty="0" smtClean="0"/>
              <a:t>の評価結果も同じである。たとえば、</a:t>
            </a:r>
            <a:endParaRPr lang="en-US" altLang="ja-JP" sz="2800" dirty="0" smtClean="0"/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[5];</a:t>
            </a:r>
          </a:p>
          <a:p>
            <a:r>
              <a:rPr kumimoji="1" lang="ja-JP" altLang="en-US" sz="2800" dirty="0" smtClean="0"/>
              <a:t>という宣言下において、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0[a]</a:t>
            </a:r>
            <a:r>
              <a:rPr kumimoji="1" lang="ja-JP" altLang="en-US" sz="2800" dirty="0" smtClean="0"/>
              <a:t>で置き換えてもよく、</a:t>
            </a:r>
            <a:r>
              <a:rPr kumimoji="1" lang="en-US" altLang="ja-JP" sz="2800" dirty="0" smtClean="0"/>
              <a:t>a[1]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1[a]</a:t>
            </a:r>
            <a:r>
              <a:rPr kumimoji="1" lang="ja-JP" altLang="en-US" sz="2800" dirty="0" smtClean="0"/>
              <a:t>で置き換えてよく、</a:t>
            </a:r>
            <a:r>
              <a:rPr kumimoji="1" lang="en-US" altLang="ja-JP" sz="2800" dirty="0" smtClean="0"/>
              <a:t>……</a:t>
            </a:r>
            <a:r>
              <a:rPr kumimoji="1" lang="ja-JP" altLang="en-US" sz="2800" dirty="0" err="1" smtClean="0"/>
              <a:t>、</a:t>
            </a:r>
            <a:r>
              <a:rPr lang="en-US" altLang="ja-JP" sz="2800" dirty="0" smtClean="0"/>
              <a:t>a[4]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4[a]</a:t>
            </a:r>
            <a:r>
              <a:rPr lang="ja-JP" altLang="en-US" sz="2800" dirty="0" smtClean="0"/>
              <a:t>で置き換えてよい。</a:t>
            </a:r>
            <a:endParaRPr lang="en-US" altLang="ja-JP" sz="2800" dirty="0" smtClean="0"/>
          </a:p>
          <a:p>
            <a:r>
              <a:rPr lang="ja-JP" altLang="en-US" sz="2800" dirty="0" smtClean="0"/>
              <a:t>定義上は許されているが、</a:t>
            </a:r>
            <a:r>
              <a:rPr lang="en-US" altLang="ja-JP" sz="2800" dirty="0" smtClean="0"/>
              <a:t>0[a], 1[a]</a:t>
            </a:r>
            <a:r>
              <a:rPr lang="ja-JP" altLang="en-US" sz="2800" dirty="0" err="1" smtClean="0"/>
              <a:t>のような</a:t>
            </a:r>
            <a:r>
              <a:rPr lang="ja-JP" altLang="en-US" sz="2800" dirty="0" smtClean="0"/>
              <a:t>書き方はプログラムの可読性を著しく低下させるので避けるべき。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22114"/>
          </a:xfrm>
        </p:spPr>
        <p:txBody>
          <a:bodyPr/>
          <a:lstStyle/>
          <a:p>
            <a:r>
              <a:rPr kumimoji="1" lang="ja-JP" altLang="en-US" dirty="0" smtClean="0"/>
              <a:t>基本課題１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395536" y="1268760"/>
            <a:ext cx="849694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文字列</a:t>
            </a:r>
            <a:r>
              <a:rPr lang="en-US" altLang="ja-JP" sz="2000" dirty="0" smtClean="0"/>
              <a:t>(char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*</a:t>
            </a:r>
            <a:r>
              <a:rPr lang="ja-JP" altLang="en-US" sz="2000" dirty="0" smtClean="0"/>
              <a:t>型</a:t>
            </a:r>
            <a:r>
              <a:rPr lang="en-US" altLang="ja-JP" sz="2000" dirty="0" smtClean="0"/>
              <a:t>)</a:t>
            </a:r>
            <a:r>
              <a:rPr lang="ja-JP" altLang="en-US" sz="2000" dirty="0" smtClean="0"/>
              <a:t>を受け取り、その中</a:t>
            </a:r>
            <a:r>
              <a:rPr lang="ja-JP" altLang="en-US" sz="2000" dirty="0" smtClean="0"/>
              <a:t>の</a:t>
            </a:r>
            <a:r>
              <a:rPr lang="ja-JP" altLang="en-US" sz="2000" dirty="0" smtClean="0"/>
              <a:t>空白</a:t>
            </a:r>
            <a:r>
              <a:rPr lang="ja-JP" altLang="en-US" sz="2000" dirty="0" smtClean="0"/>
              <a:t>の</a:t>
            </a:r>
            <a:r>
              <a:rPr lang="ja-JP" altLang="en-US" sz="2000" dirty="0" smtClean="0"/>
              <a:t>数を返す関数</a:t>
            </a:r>
            <a:r>
              <a:rPr lang="en-US" altLang="ja-JP" sz="2000" dirty="0" err="1" smtClean="0"/>
              <a:t>countSpaces</a:t>
            </a:r>
            <a:r>
              <a:rPr lang="ja-JP" altLang="en-US" sz="2000" dirty="0" smtClean="0"/>
              <a:t>を定義せよ。</a:t>
            </a:r>
            <a:endParaRPr lang="en-US" altLang="ja-JP" sz="2000" dirty="0" smtClean="0"/>
          </a:p>
          <a:p>
            <a:r>
              <a:rPr lang="ja-JP" altLang="en-US" sz="2000" dirty="0" smtClean="0"/>
              <a:t>    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countSpaces</a:t>
            </a:r>
            <a:r>
              <a:rPr lang="en-US" altLang="ja-JP" sz="2000" dirty="0" smtClean="0"/>
              <a:t> (char *</a:t>
            </a:r>
            <a:r>
              <a:rPr lang="en-US" altLang="ja-JP" sz="2000" dirty="0" err="1" smtClean="0"/>
              <a:t>str</a:t>
            </a:r>
            <a:r>
              <a:rPr lang="en-US" altLang="ja-JP" sz="2000" dirty="0" smtClean="0"/>
              <a:t>) { ... }</a:t>
            </a:r>
            <a:endParaRPr lang="ja-JP" altLang="en-US" sz="2000" dirty="0" smtClean="0"/>
          </a:p>
          <a:p>
            <a:r>
              <a:rPr lang="ja-JP" altLang="en-US" sz="2000" dirty="0" smtClean="0"/>
              <a:t>また、</a:t>
            </a:r>
            <a:r>
              <a:rPr lang="en-US" altLang="ja-JP" sz="2000" dirty="0" err="1" smtClean="0"/>
              <a:t>countSpaces</a:t>
            </a:r>
            <a:r>
              <a:rPr lang="ja-JP" altLang="en-US" sz="2000" dirty="0" smtClean="0"/>
              <a:t>が正常に動作することを以下のように確認せよ。</a:t>
            </a:r>
          </a:p>
          <a:p>
            <a:r>
              <a:rPr lang="ja-JP" altLang="en-US" sz="2000" dirty="0" smtClean="0"/>
              <a:t>文字列は</a:t>
            </a:r>
            <a:r>
              <a:rPr lang="en-US" altLang="ja-JP" sz="2000" dirty="0" smtClean="0"/>
              <a:t>main</a:t>
            </a:r>
            <a:r>
              <a:rPr lang="ja-JP" altLang="en-US" sz="2000" dirty="0" smtClean="0"/>
              <a:t>関数中において</a:t>
            </a:r>
            <a:r>
              <a:rPr lang="en-US" altLang="ja-JP" sz="2000" dirty="0" smtClean="0"/>
              <a:t>gets</a:t>
            </a:r>
            <a:r>
              <a:rPr lang="ja-JP" altLang="en-US" sz="2000" dirty="0" smtClean="0"/>
              <a:t>関数でキーボードから受け取り、それを関数</a:t>
            </a:r>
            <a:r>
              <a:rPr lang="en-US" altLang="ja-JP" sz="2000" dirty="0" err="1" smtClean="0"/>
              <a:t>countSpaces</a:t>
            </a:r>
            <a:r>
              <a:rPr lang="ja-JP" altLang="en-US" sz="2000" dirty="0" smtClean="0"/>
              <a:t>に渡して返り値として空白の数を受け取り、それを</a:t>
            </a:r>
            <a:r>
              <a:rPr lang="en-US" altLang="ja-JP" sz="2000" dirty="0" smtClean="0"/>
              <a:t>main</a:t>
            </a:r>
            <a:r>
              <a:rPr lang="ja-JP" altLang="en-US" sz="2000" dirty="0" smtClean="0"/>
              <a:t>関数中で画面に表示するようにプログラムを作成せよ。</a:t>
            </a:r>
            <a:endParaRPr lang="en-US" altLang="ja-JP" sz="2000" dirty="0" smtClean="0"/>
          </a:p>
          <a:p>
            <a:endParaRPr lang="en-US" altLang="ja-JP" sz="2000" dirty="0" smtClean="0"/>
          </a:p>
          <a:p>
            <a:r>
              <a:rPr lang="ja-JP" altLang="en-US" sz="2000" dirty="0" smtClean="0"/>
              <a:t>（実行例）</a:t>
            </a:r>
          </a:p>
          <a:p>
            <a:r>
              <a:rPr lang="en-US" altLang="ja-JP" sz="2000" dirty="0" smtClean="0"/>
              <a:t>$ ./kihon9-1</a:t>
            </a:r>
          </a:p>
          <a:p>
            <a:r>
              <a:rPr lang="ja-JP" altLang="en-US" sz="2000" dirty="0" smtClean="0"/>
              <a:t>文字列を入力してください</a:t>
            </a:r>
            <a:r>
              <a:rPr lang="en-US" altLang="ja-JP" sz="2000" dirty="0" smtClean="0"/>
              <a:t>:  </a:t>
            </a:r>
            <a:r>
              <a:rPr lang="en-US" altLang="ja-JP" sz="2000" dirty="0" smtClean="0">
                <a:solidFill>
                  <a:srgbClr val="FF0000"/>
                </a:solidFill>
              </a:rPr>
              <a:t>I am a student.</a:t>
            </a:r>
          </a:p>
          <a:p>
            <a:r>
              <a:rPr lang="ja-JP" altLang="en-US" sz="2000" dirty="0" smtClean="0"/>
              <a:t>文字列</a:t>
            </a:r>
            <a:r>
              <a:rPr lang="en-US" altLang="ja-JP" sz="2000" dirty="0" smtClean="0"/>
              <a:t>“I am a student.”</a:t>
            </a:r>
            <a:r>
              <a:rPr lang="ja-JP" altLang="en-US" sz="2000" dirty="0" smtClean="0"/>
              <a:t>中</a:t>
            </a:r>
            <a:r>
              <a:rPr lang="ja-JP" altLang="en-US" sz="2000" dirty="0" smtClean="0"/>
              <a:t>の</a:t>
            </a:r>
            <a:r>
              <a:rPr lang="ja-JP" altLang="en-US" sz="2000" dirty="0" smtClean="0"/>
              <a:t>空白</a:t>
            </a:r>
            <a:r>
              <a:rPr lang="ja-JP" altLang="en-US" sz="2000" dirty="0" smtClean="0"/>
              <a:t>の</a:t>
            </a:r>
            <a:r>
              <a:rPr lang="ja-JP" altLang="en-US" sz="2000" dirty="0" smtClean="0"/>
              <a:t>数は</a:t>
            </a:r>
            <a:r>
              <a:rPr lang="en-US" altLang="ja-JP" sz="2000" dirty="0" smtClean="0"/>
              <a:t>3</a:t>
            </a:r>
            <a:r>
              <a:rPr lang="ja-JP" altLang="en-US" sz="2000" dirty="0" smtClean="0"/>
              <a:t>個です。</a:t>
            </a:r>
            <a:endParaRPr lang="en-US" altLang="ja-JP" sz="2000" dirty="0" smtClean="0"/>
          </a:p>
          <a:p>
            <a:endParaRPr lang="en-US" altLang="ja-JP" sz="2000" dirty="0" smtClean="0"/>
          </a:p>
          <a:p>
            <a:r>
              <a:rPr lang="ja-JP" altLang="en-US" sz="2000" dirty="0" smtClean="0"/>
              <a:t>（ヒント）空白（に対応する</a:t>
            </a:r>
            <a:r>
              <a:rPr lang="en-US" altLang="ja-JP" sz="2000" dirty="0" err="1" smtClean="0"/>
              <a:t>int</a:t>
            </a:r>
            <a:r>
              <a:rPr lang="ja-JP" altLang="en-US" sz="2000" dirty="0" smtClean="0"/>
              <a:t>型の値）は </a:t>
            </a:r>
            <a:r>
              <a:rPr lang="en-US" altLang="ja-JP" sz="2000" dirty="0" smtClean="0"/>
              <a:t>' ' </a:t>
            </a:r>
            <a:r>
              <a:rPr lang="ja-JP" altLang="en-US" sz="2000" dirty="0" smtClean="0"/>
              <a:t>（</a:t>
            </a:r>
            <a:r>
              <a:rPr lang="ja-JP" altLang="en-US" sz="2000" dirty="0" smtClean="0"/>
              <a:t>空白</a:t>
            </a:r>
            <a:r>
              <a:rPr lang="ja-JP" altLang="en-US" sz="2000" dirty="0" smtClean="0"/>
              <a:t>を</a:t>
            </a:r>
            <a:r>
              <a:rPr lang="ja-JP" altLang="en-US" sz="2000" dirty="0" smtClean="0"/>
              <a:t>クォート</a:t>
            </a:r>
            <a:r>
              <a:rPr lang="en-US" altLang="ja-JP" sz="2000" dirty="0" smtClean="0"/>
              <a:t>'</a:t>
            </a:r>
            <a:r>
              <a:rPr lang="ja-JP" altLang="en-US" sz="2000" dirty="0" smtClean="0"/>
              <a:t>で囲んだもの）で表される。</a:t>
            </a:r>
            <a:endParaRPr lang="en-US" altLang="ja-JP" sz="2000" dirty="0" smtClean="0"/>
          </a:p>
          <a:p>
            <a:r>
              <a:rPr lang="ja-JP" altLang="en-US" sz="2000" dirty="0" smtClean="0"/>
              <a:t>（注意）前回言った通り</a:t>
            </a:r>
            <a:r>
              <a:rPr lang="en-US" altLang="ja-JP" sz="2000" dirty="0" smtClean="0"/>
              <a:t>gets</a:t>
            </a:r>
            <a:r>
              <a:rPr lang="ja-JP" altLang="en-US" sz="2000" dirty="0" smtClean="0"/>
              <a:t>関数は使うべきではないが、ここでは使っていいことにする。（ただし、文字列格納用の配列は十分な長さで宣言する。）</a:t>
            </a:r>
            <a:endParaRPr lang="ja-JP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78098"/>
          </a:xfrm>
        </p:spPr>
        <p:txBody>
          <a:bodyPr/>
          <a:lstStyle/>
          <a:p>
            <a:r>
              <a:rPr kumimoji="1" lang="ja-JP" altLang="en-US" dirty="0" smtClean="0"/>
              <a:t>基本課題２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611560" y="1124744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err="1" smtClean="0"/>
              <a:t>int</a:t>
            </a:r>
            <a:r>
              <a:rPr lang="ja-JP" altLang="en-US" sz="2000" dirty="0" smtClean="0"/>
              <a:t>型の同じ長さの配列（の先頭要素へのポインタ）２つ、およびそれらの配列の長さを受け取り、１番目の配列から２番目の配列に中身をコピーする関数</a:t>
            </a:r>
            <a:r>
              <a:rPr lang="en-US" altLang="ja-JP" sz="2000" dirty="0" err="1" smtClean="0"/>
              <a:t>copyArray</a:t>
            </a:r>
            <a:r>
              <a:rPr lang="ja-JP" altLang="en-US" sz="2000" dirty="0" smtClean="0"/>
              <a:t>を定義せよ。</a:t>
            </a:r>
            <a:endParaRPr lang="en-US" altLang="ja-JP" sz="2000" dirty="0" smtClean="0"/>
          </a:p>
          <a:p>
            <a:r>
              <a:rPr lang="en-US" altLang="ja-JP" sz="2000" dirty="0" smtClean="0"/>
              <a:t>     void </a:t>
            </a:r>
            <a:r>
              <a:rPr lang="en-US" altLang="ja-JP" sz="2000" dirty="0" err="1" smtClean="0"/>
              <a:t>copyArray</a:t>
            </a:r>
            <a:r>
              <a:rPr lang="en-US" altLang="ja-JP" sz="2000" dirty="0" smtClean="0"/>
              <a:t> (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*from,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*to,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size) { ... }</a:t>
            </a:r>
          </a:p>
          <a:p>
            <a:r>
              <a:rPr lang="ja-JP" altLang="en-US" sz="2000" dirty="0" smtClean="0"/>
              <a:t>また、</a:t>
            </a:r>
            <a:r>
              <a:rPr lang="en-US" altLang="ja-JP" sz="2000" dirty="0" err="1" smtClean="0"/>
              <a:t>copyArray</a:t>
            </a:r>
            <a:r>
              <a:rPr lang="ja-JP" altLang="en-US" sz="2000" dirty="0" smtClean="0"/>
              <a:t>が正常に動作することを、</a:t>
            </a:r>
            <a:r>
              <a:rPr lang="en-US" altLang="ja-JP" sz="2000" dirty="0" err="1" smtClean="0"/>
              <a:t>copyArray</a:t>
            </a:r>
            <a:r>
              <a:rPr lang="ja-JP" altLang="en-US" sz="2000" dirty="0" smtClean="0"/>
              <a:t>を呼び出すプログラムを作成して確認せよ。</a:t>
            </a:r>
            <a:endParaRPr lang="en-US" altLang="ja-JP" sz="2000" dirty="0" smtClean="0"/>
          </a:p>
          <a:p>
            <a:endParaRPr lang="ja-JP" altLang="en-US" sz="2000" dirty="0" smtClean="0"/>
          </a:p>
          <a:p>
            <a:r>
              <a:rPr lang="ja-JP" altLang="en-US" sz="2000" dirty="0" smtClean="0"/>
              <a:t>（長さ</a:t>
            </a:r>
            <a:r>
              <a:rPr lang="en-US" altLang="ja-JP" sz="2000" dirty="0" smtClean="0"/>
              <a:t>3</a:t>
            </a:r>
            <a:r>
              <a:rPr lang="ja-JP" altLang="en-US" sz="2000" dirty="0" smtClean="0"/>
              <a:t>の配列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から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へコピーする場合）</a:t>
            </a:r>
          </a:p>
          <a:p>
            <a:r>
              <a:rPr lang="en-US" altLang="ja-JP" sz="2000" dirty="0" smtClean="0"/>
              <a:t>$ ./kihon9-2</a:t>
            </a:r>
          </a:p>
          <a:p>
            <a:r>
              <a:rPr lang="ja-JP" altLang="en-US" sz="2000" dirty="0" smtClean="0"/>
              <a:t>配列</a:t>
            </a:r>
            <a:r>
              <a:rPr lang="en-US" altLang="ja-JP" sz="2000" dirty="0" smtClean="0"/>
              <a:t>a[0]</a:t>
            </a:r>
            <a:r>
              <a:rPr lang="ja-JP" altLang="en-US" sz="2000" dirty="0" smtClean="0"/>
              <a:t>の値を整数で入力して下さい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</a:t>
            </a:r>
          </a:p>
          <a:p>
            <a:r>
              <a:rPr lang="ja-JP" altLang="en-US" sz="2000" dirty="0" smtClean="0"/>
              <a:t>配列</a:t>
            </a:r>
            <a:r>
              <a:rPr lang="en-US" altLang="ja-JP" sz="2000" dirty="0" smtClean="0"/>
              <a:t>a[1]</a:t>
            </a:r>
            <a:r>
              <a:rPr lang="ja-JP" altLang="en-US" sz="2000" dirty="0" smtClean="0"/>
              <a:t>の値を整数で入力して下さい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ja-JP" altLang="en-US" sz="2000" dirty="0" smtClean="0"/>
              <a:t>配列</a:t>
            </a:r>
            <a:r>
              <a:rPr lang="en-US" altLang="ja-JP" sz="2000" dirty="0" smtClean="0"/>
              <a:t>a[2]</a:t>
            </a:r>
            <a:r>
              <a:rPr lang="ja-JP" altLang="en-US" sz="2000" dirty="0" smtClean="0"/>
              <a:t>の値を整数で入力して下さい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7</a:t>
            </a:r>
          </a:p>
          <a:p>
            <a:r>
              <a:rPr lang="en-US" altLang="ja-JP" sz="2000" dirty="0" smtClean="0"/>
              <a:t>b[0] = 5</a:t>
            </a:r>
          </a:p>
          <a:p>
            <a:r>
              <a:rPr lang="en-US" altLang="ja-JP" sz="2000" dirty="0" smtClean="0"/>
              <a:t>b[1] = 3</a:t>
            </a:r>
          </a:p>
          <a:p>
            <a:r>
              <a:rPr lang="en-US" altLang="ja-JP" sz="2000" dirty="0" smtClean="0"/>
              <a:t>b[2] = 7</a:t>
            </a:r>
          </a:p>
          <a:p>
            <a:endParaRPr lang="en-US" altLang="ja-JP" sz="2000" dirty="0" smtClean="0"/>
          </a:p>
          <a:p>
            <a:r>
              <a:rPr lang="ja-JP" altLang="en-US" sz="2000" dirty="0" smtClean="0"/>
              <a:t>（注意）配列の長さは自分で決め、その長さの配列を２つ</a:t>
            </a:r>
            <a:r>
              <a:rPr lang="en-US" altLang="ja-JP" sz="2000" dirty="0" smtClean="0"/>
              <a:t>main</a:t>
            </a:r>
            <a:r>
              <a:rPr lang="ja-JP" altLang="en-US" sz="2000" dirty="0" smtClean="0"/>
              <a:t>関数中で宣言するようにしてください。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発展</a:t>
            </a:r>
            <a:r>
              <a:rPr kumimoji="1" lang="ja-JP" altLang="en-US" dirty="0" smtClean="0"/>
              <a:t>課題１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5720" y="1021282"/>
            <a:ext cx="871540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2 </a:t>
            </a:r>
            <a:r>
              <a:rPr lang="ja-JP" altLang="en-US" sz="2800" dirty="0" err="1" smtClean="0"/>
              <a:t>つの</a:t>
            </a:r>
            <a:r>
              <a:rPr lang="en-US" altLang="ja-JP" sz="2800" dirty="0" smtClean="0"/>
              <a:t>n</a:t>
            </a:r>
            <a:r>
              <a:rPr lang="ja-JP" altLang="en-US" sz="2800" dirty="0" smtClean="0"/>
              <a:t>次元ベクトルの内積を求める関数</a:t>
            </a:r>
            <a:r>
              <a:rPr lang="en-US" altLang="ja-JP" sz="2800" dirty="0" err="1" smtClean="0"/>
              <a:t>innerProd</a:t>
            </a:r>
            <a:r>
              <a:rPr lang="ja-JP" altLang="en-US" sz="2800" dirty="0" smtClean="0"/>
              <a:t>を定義せよ。ただし、</a:t>
            </a:r>
            <a:r>
              <a:rPr lang="en-US" altLang="ja-JP" sz="2800" dirty="0" smtClean="0"/>
              <a:t>n</a:t>
            </a:r>
            <a:r>
              <a:rPr lang="ja-JP" altLang="en-US" sz="2800" dirty="0" smtClean="0"/>
              <a:t>次元ベクトルは、長さ</a:t>
            </a:r>
            <a:r>
              <a:rPr lang="en-US" altLang="ja-JP" sz="2800" dirty="0" smtClean="0"/>
              <a:t>n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double </a:t>
            </a:r>
            <a:r>
              <a:rPr lang="ja-JP" altLang="en-US" sz="2800" dirty="0" smtClean="0"/>
              <a:t>型の配列で表すものとする。関数</a:t>
            </a:r>
            <a:r>
              <a:rPr lang="en-US" altLang="ja-JP" sz="2800" dirty="0" err="1" smtClean="0"/>
              <a:t>innerProd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を、配列の先頭要素へのポインタ２つと、配列の長さ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型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を引数にとり、結果を</a:t>
            </a:r>
            <a:r>
              <a:rPr lang="en-US" altLang="ja-JP" sz="2800" dirty="0" smtClean="0"/>
              <a:t>double</a:t>
            </a:r>
            <a:r>
              <a:rPr lang="ja-JP" altLang="en-US" sz="2800" dirty="0" smtClean="0"/>
              <a:t>型の値で返す関数として定義せよ。</a:t>
            </a:r>
            <a:endParaRPr lang="fr-FR" altLang="ja-JP" sz="2800" dirty="0" smtClean="0"/>
          </a:p>
          <a:p>
            <a:r>
              <a:rPr lang="ja-JP" altLang="en-US" sz="2800" dirty="0" smtClean="0"/>
              <a:t>    </a:t>
            </a:r>
            <a:r>
              <a:rPr lang="fr-FR" altLang="ja-JP" sz="2800" dirty="0" smtClean="0"/>
              <a:t>double innerProd (double *a, double *b, int size) {</a:t>
            </a:r>
          </a:p>
          <a:p>
            <a:r>
              <a:rPr lang="en-US" altLang="ja-JP" sz="2800" dirty="0" smtClean="0"/>
              <a:t>        …</a:t>
            </a:r>
          </a:p>
          <a:p>
            <a:r>
              <a:rPr lang="en-US" altLang="ja-JP" sz="2800" dirty="0" smtClean="0"/>
              <a:t>    }</a:t>
            </a:r>
            <a:r>
              <a:rPr lang="fr-FR" altLang="ja-JP" sz="2800" dirty="0" smtClean="0"/>
              <a:t> </a:t>
            </a:r>
          </a:p>
          <a:p>
            <a:r>
              <a:rPr lang="fr-FR" altLang="ja-JP" sz="2800" dirty="0" smtClean="0"/>
              <a:t>main</a:t>
            </a:r>
            <a:r>
              <a:rPr lang="ja-JP" altLang="en-US" sz="2800" dirty="0" smtClean="0"/>
              <a:t>関数で２つの配列を（長さは自分で決めて）定義し、</a:t>
            </a:r>
            <a:r>
              <a:rPr lang="en-US" altLang="ja-JP" sz="2800" dirty="0" err="1" smtClean="0"/>
              <a:t>innerProd</a:t>
            </a:r>
            <a:r>
              <a:rPr lang="ja-JP" altLang="en-US" sz="2800" dirty="0" smtClean="0"/>
              <a:t>関数を呼び出して正しく内積が計算されることを確認すること。</a:t>
            </a:r>
            <a:endParaRPr lang="fr-FR" altLang="ja-JP" sz="2800" dirty="0" smtClean="0"/>
          </a:p>
          <a:p>
            <a:r>
              <a:rPr lang="ja-JP" altLang="en-US" sz="2800" dirty="0" smtClean="0"/>
              <a:t>仮引数の</a:t>
            </a:r>
            <a:r>
              <a:rPr lang="en-US" altLang="ja-JP" sz="2800" dirty="0" smtClean="0"/>
              <a:t>double *a, double *b</a:t>
            </a:r>
            <a:r>
              <a:rPr lang="ja-JP" altLang="en-US" sz="2800" dirty="0" smtClean="0"/>
              <a:t>の部分は</a:t>
            </a:r>
            <a:r>
              <a:rPr lang="fr-FR" altLang="ja-JP" sz="2800" dirty="0" smtClean="0"/>
              <a:t>double a[ ], double b[ ]</a:t>
            </a:r>
            <a:r>
              <a:rPr lang="ja-JP" altLang="en-US" sz="2800" dirty="0" smtClean="0"/>
              <a:t>と書いても同じ意味である。</a:t>
            </a:r>
            <a:endParaRPr lang="fr-FR" altLang="ja-JP" sz="28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ja-JP" altLang="en-US" dirty="0" smtClean="0"/>
              <a:t>発展</a:t>
            </a:r>
            <a:r>
              <a:rPr kumimoji="1" lang="ja-JP" altLang="en-US" dirty="0" smtClean="0"/>
              <a:t>課題２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785786" y="1082837"/>
            <a:ext cx="764386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ja-JP" altLang="en-US" sz="2400" dirty="0" smtClean="0"/>
              <a:t>型の配列中に、ある値が格納されているかどうかを検査する関数</a:t>
            </a:r>
            <a:r>
              <a:rPr lang="en-US" altLang="ja-JP" sz="2400" dirty="0" smtClean="0"/>
              <a:t>search </a:t>
            </a:r>
            <a:r>
              <a:rPr lang="ja-JP" altLang="en-US" sz="2400" dirty="0" smtClean="0"/>
              <a:t>を定義したい。それを以下の形で定義せよ。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search(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*p,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size,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value) {</a:t>
            </a:r>
          </a:p>
          <a:p>
            <a:r>
              <a:rPr lang="en-US" altLang="ja-JP" sz="2400" dirty="0" smtClean="0"/>
              <a:t>        …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ja-JP" altLang="en-US" sz="2400" dirty="0" smtClean="0"/>
              <a:t>関数</a:t>
            </a:r>
            <a:r>
              <a:rPr lang="en-US" altLang="ja-JP" sz="2400" dirty="0" smtClean="0"/>
              <a:t>search</a:t>
            </a:r>
            <a:r>
              <a:rPr lang="ja-JP" altLang="en-US" sz="2400" dirty="0" smtClean="0"/>
              <a:t>は、配列の先頭要素へのポインタ</a:t>
            </a:r>
            <a:r>
              <a:rPr lang="en-US" altLang="ja-JP" sz="2400" dirty="0" smtClean="0"/>
              <a:t>p, </a:t>
            </a:r>
            <a:r>
              <a:rPr lang="ja-JP" altLang="en-US" sz="2400" dirty="0" smtClean="0"/>
              <a:t>配列の要素数</a:t>
            </a:r>
            <a:r>
              <a:rPr lang="en-US" altLang="ja-JP" sz="2400" dirty="0" smtClean="0"/>
              <a:t>size, </a:t>
            </a:r>
            <a:r>
              <a:rPr lang="ja-JP" altLang="en-US" sz="2400" dirty="0" smtClean="0"/>
              <a:t>調べたい値</a:t>
            </a:r>
            <a:r>
              <a:rPr lang="en-US" altLang="ja-JP" sz="2400" dirty="0" smtClean="0"/>
              <a:t>value </a:t>
            </a:r>
            <a:r>
              <a:rPr lang="ja-JP" altLang="en-US" sz="2400" dirty="0" smtClean="0"/>
              <a:t>の３つを引数として受け取り、第３引数</a:t>
            </a:r>
            <a:r>
              <a:rPr lang="en-US" altLang="ja-JP" sz="2400" dirty="0" smtClean="0"/>
              <a:t>value </a:t>
            </a:r>
            <a:r>
              <a:rPr lang="ja-JP" altLang="en-US" sz="2400" dirty="0" smtClean="0"/>
              <a:t>で受け取った値が配列の中にあれば、その値が格納されている場所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配列の</a:t>
            </a:r>
            <a:r>
              <a:rPr lang="en-US" altLang="ja-JP" sz="2400" dirty="0" smtClean="0"/>
              <a:t>index</a:t>
            </a:r>
            <a:r>
              <a:rPr lang="ja-JP" altLang="en-US" sz="2400" dirty="0" err="1" smtClean="0"/>
              <a:t>、</a:t>
            </a:r>
            <a:r>
              <a:rPr lang="ja-JP" altLang="en-US" sz="2400" dirty="0" smtClean="0"/>
              <a:t>もし複数個所にあればどれでも可</a:t>
            </a:r>
            <a:r>
              <a:rPr lang="en-US" altLang="ja-JP" sz="2400" dirty="0" smtClean="0"/>
              <a:t>) </a:t>
            </a:r>
            <a:r>
              <a:rPr lang="ja-JP" altLang="en-US" sz="2400" dirty="0" smtClean="0"/>
              <a:t>を結果として返し、なければ</a:t>
            </a:r>
            <a:r>
              <a:rPr lang="en-US" altLang="ja-JP" sz="2400" dirty="0" smtClean="0"/>
              <a:t>-1 </a:t>
            </a:r>
            <a:r>
              <a:rPr lang="ja-JP" altLang="en-US" sz="2400" dirty="0" smtClean="0"/>
              <a:t>を返す関数として定義せよ。</a:t>
            </a:r>
            <a:endParaRPr lang="en-US" altLang="ja-JP" sz="2400" dirty="0" smtClean="0"/>
          </a:p>
          <a:p>
            <a:r>
              <a:rPr lang="en-US" altLang="ja-JP" sz="2400" dirty="0" smtClean="0"/>
              <a:t>main</a:t>
            </a:r>
            <a:r>
              <a:rPr lang="ja-JP" altLang="en-US" sz="2400" dirty="0" smtClean="0"/>
              <a:t>関数で配列を（長さは自分で決めて）定義し、</a:t>
            </a:r>
            <a:r>
              <a:rPr lang="en-US" altLang="ja-JP" sz="2400" dirty="0" smtClean="0"/>
              <a:t>search</a:t>
            </a:r>
            <a:r>
              <a:rPr lang="ja-JP" altLang="en-US" sz="2400" dirty="0" smtClean="0"/>
              <a:t>を呼び出して、正しく動作することを確認すること。</a:t>
            </a:r>
            <a:endParaRPr lang="en-US" altLang="ja-JP" sz="2400" dirty="0" smtClean="0"/>
          </a:p>
          <a:p>
            <a:r>
              <a:rPr lang="ja-JP" altLang="en-US" sz="2400" dirty="0" smtClean="0"/>
              <a:t>上記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* p</a:t>
            </a:r>
            <a:r>
              <a:rPr lang="ja-JP" altLang="en-US" sz="2400" dirty="0" smtClean="0"/>
              <a:t>の部分は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p [ ] </a:t>
            </a:r>
            <a:r>
              <a:rPr lang="ja-JP" altLang="en-US" sz="2400" dirty="0" smtClean="0"/>
              <a:t>と書いても同じ意味である。</a:t>
            </a:r>
            <a:endParaRPr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4074</Words>
  <Application>Microsoft Office PowerPoint</Application>
  <PresentationFormat>画面に合わせる (4:3)</PresentationFormat>
  <Paragraphs>419</Paragraphs>
  <Slides>39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39</vt:i4>
      </vt:variant>
    </vt:vector>
  </HeadingPairs>
  <TitlesOfParts>
    <vt:vector size="40" baseType="lpstr">
      <vt:lpstr>Office テーマ</vt:lpstr>
      <vt:lpstr>プログラミング入門２ 第９回 ポインタ</vt:lpstr>
      <vt:lpstr>今日の内容</vt:lpstr>
      <vt:lpstr>前回の基本課題１について</vt:lpstr>
      <vt:lpstr>前回の補足：文字列について</vt:lpstr>
      <vt:lpstr>アドレス</vt:lpstr>
      <vt:lpstr>アドレス</vt:lpstr>
      <vt:lpstr>アドレス</vt:lpstr>
      <vt:lpstr>＆演算子</vt:lpstr>
      <vt:lpstr>例（打ち込んで確認）</vt:lpstr>
      <vt:lpstr>例（打ち込んで確認）</vt:lpstr>
      <vt:lpstr>ポインタ</vt:lpstr>
      <vt:lpstr>アドレス演算子＆</vt:lpstr>
      <vt:lpstr>ポインタ型の変数の宣言</vt:lpstr>
      <vt:lpstr>例（打ち込んで確認）</vt:lpstr>
      <vt:lpstr>間接演算子 *</vt:lpstr>
      <vt:lpstr>例（打ち込んで確認）</vt:lpstr>
      <vt:lpstr>配列とポインタ</vt:lpstr>
      <vt:lpstr>配列とポインタ（２）</vt:lpstr>
      <vt:lpstr>配列とポインタ（３）</vt:lpstr>
      <vt:lpstr>ポインタ型とint型の足し算</vt:lpstr>
      <vt:lpstr>例（打ち込んで確認）</vt:lpstr>
      <vt:lpstr>ポインタ型変数の値の変更</vt:lpstr>
      <vt:lpstr>例（打ち込んで確認）</vt:lpstr>
      <vt:lpstr>例：配列の要素の和の計算 （打ち込んで確認）</vt:lpstr>
      <vt:lpstr>配列を関数に渡したい場合</vt:lpstr>
      <vt:lpstr>例（打ち込んで確認）</vt:lpstr>
      <vt:lpstr>配列の長さ</vt:lpstr>
      <vt:lpstr>例（打ち込んで確認）</vt:lpstr>
      <vt:lpstr>[ ] の意味</vt:lpstr>
      <vt:lpstr>例（打ち込んで確認）</vt:lpstr>
      <vt:lpstr>ポインタ型の仮引数表記</vt:lpstr>
      <vt:lpstr>例（打ち込んで確認）</vt:lpstr>
      <vt:lpstr>配列について</vt:lpstr>
      <vt:lpstr>例（打ち込んで確認）</vt:lpstr>
      <vt:lpstr>（補足）[ ] 記法について</vt:lpstr>
      <vt:lpstr>基本課題１</vt:lpstr>
      <vt:lpstr>基本課題２</vt:lpstr>
      <vt:lpstr>発展課題１</vt:lpstr>
      <vt:lpstr>発展課題２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第９回</dc:title>
  <dc:creator>sasano</dc:creator>
  <cp:lastModifiedBy>sasano</cp:lastModifiedBy>
  <cp:revision>521</cp:revision>
  <dcterms:created xsi:type="dcterms:W3CDTF">2009-11-18T15:33:34Z</dcterms:created>
  <dcterms:modified xsi:type="dcterms:W3CDTF">2010-11-22T06:02:12Z</dcterms:modified>
</cp:coreProperties>
</file>