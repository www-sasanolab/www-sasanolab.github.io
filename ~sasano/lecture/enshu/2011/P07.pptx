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57" r:id="rId3"/>
    <p:sldId id="258" r:id="rId4"/>
    <p:sldId id="288" r:id="rId5"/>
    <p:sldId id="291" r:id="rId6"/>
    <p:sldId id="290" r:id="rId7"/>
    <p:sldId id="292" r:id="rId8"/>
    <p:sldId id="293" r:id="rId9"/>
    <p:sldId id="294" r:id="rId10"/>
    <p:sldId id="295" r:id="rId11"/>
    <p:sldId id="297" r:id="rId12"/>
    <p:sldId id="260" r:id="rId13"/>
    <p:sldId id="307" r:id="rId14"/>
    <p:sldId id="323" r:id="rId15"/>
    <p:sldId id="306" r:id="rId16"/>
    <p:sldId id="302" r:id="rId17"/>
    <p:sldId id="301" r:id="rId18"/>
    <p:sldId id="303" r:id="rId19"/>
    <p:sldId id="281" r:id="rId20"/>
    <p:sldId id="282" r:id="rId21"/>
    <p:sldId id="298" r:id="rId22"/>
    <p:sldId id="300" r:id="rId23"/>
    <p:sldId id="283" r:id="rId24"/>
    <p:sldId id="317" r:id="rId25"/>
    <p:sldId id="264" r:id="rId26"/>
    <p:sldId id="263" r:id="rId27"/>
    <p:sldId id="272" r:id="rId28"/>
    <p:sldId id="273" r:id="rId29"/>
    <p:sldId id="276" r:id="rId30"/>
    <p:sldId id="284" r:id="rId31"/>
    <p:sldId id="269" r:id="rId32"/>
    <p:sldId id="278" r:id="rId33"/>
    <p:sldId id="324" r:id="rId34"/>
    <p:sldId id="325" r:id="rId35"/>
    <p:sldId id="326" r:id="rId36"/>
    <p:sldId id="279" r:id="rId37"/>
    <p:sldId id="280" r:id="rId38"/>
    <p:sldId id="327" r:id="rId39"/>
    <p:sldId id="329" r:id="rId40"/>
    <p:sldId id="309" r:id="rId41"/>
    <p:sldId id="310" r:id="rId42"/>
    <p:sldId id="320" r:id="rId43"/>
    <p:sldId id="311" r:id="rId44"/>
    <p:sldId id="312" r:id="rId45"/>
    <p:sldId id="318" r:id="rId46"/>
    <p:sldId id="322" r:id="rId47"/>
    <p:sldId id="328" r:id="rId48"/>
    <p:sldId id="330" r:id="rId49"/>
    <p:sldId id="314" r:id="rId50"/>
    <p:sldId id="267" r:id="rId51"/>
    <p:sldId id="308" r:id="rId52"/>
    <p:sldId id="313" r:id="rId53"/>
    <p:sldId id="319" r:id="rId54"/>
    <p:sldId id="321" r:id="rId55"/>
    <p:sldId id="331" r:id="rId56"/>
    <p:sldId id="271" r:id="rId57"/>
    <p:sldId id="332" r:id="rId5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450" y="-1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CB013-1BCF-4E3C-9FB7-214F93471AFE}" type="datetimeFigureOut">
              <a:rPr kumimoji="1" lang="ja-JP" altLang="en-US" smtClean="0"/>
              <a:pPr/>
              <a:t>2011/11/14</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8B94CD-062B-4D2A-90C9-B96C38A6BB1A}"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27</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28</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29</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36</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37</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44</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2011/11/14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2011/11/14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2011/11/14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2011/11/14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プログラミング入門２</a:t>
            </a:r>
            <a:r>
              <a:rPr kumimoji="1" lang="en-US" altLang="ja-JP" dirty="0" smtClean="0"/>
              <a:t/>
            </a:r>
            <a:br>
              <a:rPr kumimoji="1" lang="en-US" altLang="ja-JP" dirty="0" smtClean="0"/>
            </a:br>
            <a:r>
              <a:rPr lang="ja-JP" altLang="en-US" dirty="0" smtClean="0"/>
              <a:t>第７回</a:t>
            </a:r>
            <a:endParaRPr kumimoji="1" lang="ja-JP" altLang="en-US" dirty="0"/>
          </a:p>
        </p:txBody>
      </p:sp>
      <p:sp>
        <p:nvSpPr>
          <p:cNvPr id="4" name="テキスト ボックス 3"/>
          <p:cNvSpPr txBox="1"/>
          <p:nvPr/>
        </p:nvSpPr>
        <p:spPr>
          <a:xfrm>
            <a:off x="2428860" y="5058803"/>
            <a:ext cx="4019049" cy="584775"/>
          </a:xfrm>
          <a:prstGeom prst="rect">
            <a:avLst/>
          </a:prstGeom>
          <a:noFill/>
        </p:spPr>
        <p:txBody>
          <a:bodyPr wrap="none" rtlCol="0">
            <a:spAutoFit/>
          </a:bodyPr>
          <a:lstStyle/>
          <a:p>
            <a:r>
              <a:rPr kumimoji="1" lang="ja-JP" altLang="en-US" sz="3200" dirty="0" smtClean="0"/>
              <a:t>情報工学科   篠埜　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中間試験について</a:t>
            </a:r>
            <a:endParaRPr kumimoji="1" lang="en-US" altLang="ja-JP" dirty="0" smtClean="0"/>
          </a:p>
          <a:p>
            <a:r>
              <a:rPr kumimoji="1" lang="ja-JP" altLang="en-US" dirty="0" smtClean="0"/>
              <a:t>基本型、文字列について</a:t>
            </a:r>
            <a:endParaRPr kumimoji="1"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中間試験について</a:t>
            </a:r>
            <a:endParaRPr kumimoji="1" lang="ja-JP" altLang="en-US" dirty="0"/>
          </a:p>
        </p:txBody>
      </p:sp>
      <p:sp>
        <p:nvSpPr>
          <p:cNvPr id="3" name="コンテンツ プレースホルダ 2"/>
          <p:cNvSpPr>
            <a:spLocks noGrp="1"/>
          </p:cNvSpPr>
          <p:nvPr>
            <p:ph idx="1"/>
          </p:nvPr>
        </p:nvSpPr>
        <p:spPr>
          <a:xfrm>
            <a:off x="428596" y="1428736"/>
            <a:ext cx="8229600" cy="4686320"/>
          </a:xfrm>
        </p:spPr>
        <p:txBody>
          <a:bodyPr>
            <a:normAutofit fontScale="85000" lnSpcReduction="10000"/>
          </a:bodyPr>
          <a:lstStyle/>
          <a:p>
            <a:r>
              <a:rPr lang="ja-JP" altLang="en-US" dirty="0" smtClean="0"/>
              <a:t>演習室ではなく、通常教室で行います。</a:t>
            </a:r>
            <a:endParaRPr lang="en-US" altLang="ja-JP" dirty="0" smtClean="0"/>
          </a:p>
          <a:p>
            <a:r>
              <a:rPr lang="ja-JP" altLang="en-US" dirty="0" smtClean="0"/>
              <a:t>記述式にします。穴埋めや選択ではなく、白紙の答案用紙にプログラムが書けるようにしておいてください。これまでに講義で説明した構文のみを組み合わせて書ける問題のみを出題します。（まだ説明していない構文を使っても構いませんが。）</a:t>
            </a:r>
            <a:endParaRPr lang="en-US" altLang="ja-JP" dirty="0" smtClean="0"/>
          </a:p>
          <a:p>
            <a:r>
              <a:rPr lang="ja-JP" altLang="en-US" dirty="0" smtClean="0"/>
              <a:t>最低限、各回の基本課題のプログラムを何も見ずに書けるようにしておいてください。基本課題以外の予想問題を次ページ以下に置いています。</a:t>
            </a:r>
            <a:endParaRPr lang="en-US" altLang="ja-JP" dirty="0" smtClean="0"/>
          </a:p>
          <a:p>
            <a:r>
              <a:rPr lang="ja-JP" altLang="en-US" dirty="0" smtClean="0"/>
              <a:t>試験範囲は今日の内容まで。</a:t>
            </a:r>
            <a:endParaRPr lang="en-US" altLang="ja-JP" dirty="0" smtClean="0"/>
          </a:p>
          <a:p>
            <a:r>
              <a:rPr lang="ja-JP" altLang="en-US" dirty="0" smtClean="0"/>
              <a:t>持ち込み不可。</a:t>
            </a:r>
            <a:endParaRPr lang="en-US" altLang="ja-JP"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中間試験問題例１</a:t>
            </a:r>
            <a:endParaRPr kumimoji="1" lang="ja-JP" altLang="en-US" dirty="0"/>
          </a:p>
        </p:txBody>
      </p:sp>
      <p:sp>
        <p:nvSpPr>
          <p:cNvPr id="5" name="正方形/長方形 4"/>
          <p:cNvSpPr/>
          <p:nvPr/>
        </p:nvSpPr>
        <p:spPr>
          <a:xfrm>
            <a:off x="500034" y="1285860"/>
            <a:ext cx="8215370" cy="5262979"/>
          </a:xfrm>
          <a:prstGeom prst="rect">
            <a:avLst/>
          </a:prstGeom>
        </p:spPr>
        <p:txBody>
          <a:bodyPr wrap="square">
            <a:spAutoFit/>
          </a:bodyPr>
          <a:lstStyle/>
          <a:p>
            <a:r>
              <a:rPr lang="ja-JP" altLang="en-US" sz="2800" dirty="0" smtClean="0"/>
              <a:t>整数</a:t>
            </a:r>
            <a:r>
              <a:rPr lang="en-US" altLang="ja-JP" sz="2800" dirty="0" smtClean="0"/>
              <a:t>1 </a:t>
            </a:r>
            <a:r>
              <a:rPr lang="ja-JP" altLang="en-US" sz="2800" dirty="0" smtClean="0"/>
              <a:t>から</a:t>
            </a:r>
            <a:r>
              <a:rPr lang="en-US" altLang="ja-JP" sz="2800" dirty="0" smtClean="0"/>
              <a:t>n </a:t>
            </a:r>
            <a:r>
              <a:rPr lang="ja-JP" altLang="en-US" sz="2800" dirty="0" err="1" smtClean="0"/>
              <a:t>までの</a:t>
            </a:r>
            <a:r>
              <a:rPr lang="ja-JP" altLang="en-US" sz="2800" dirty="0" smtClean="0"/>
              <a:t>和を計算する関数を</a:t>
            </a:r>
            <a:r>
              <a:rPr lang="en-US" altLang="ja-JP" sz="2800" dirty="0" smtClean="0"/>
              <a:t>C </a:t>
            </a:r>
            <a:r>
              <a:rPr lang="ja-JP" altLang="en-US" sz="2800" dirty="0" smtClean="0"/>
              <a:t>言語で定義せよ。</a:t>
            </a:r>
            <a:r>
              <a:rPr lang="en-US" altLang="ja-JP" sz="2800" dirty="0" smtClean="0"/>
              <a:t>(</a:t>
            </a:r>
            <a:r>
              <a:rPr lang="ja-JP" altLang="en-US" sz="2800" dirty="0" smtClean="0"/>
              <a:t>例えば、</a:t>
            </a:r>
            <a:r>
              <a:rPr lang="en-US" altLang="ja-JP" sz="2800" dirty="0" smtClean="0"/>
              <a:t>n </a:t>
            </a:r>
            <a:r>
              <a:rPr lang="ja-JP" altLang="en-US" sz="2800" dirty="0" smtClean="0"/>
              <a:t>が</a:t>
            </a:r>
            <a:r>
              <a:rPr lang="en-US" altLang="ja-JP" sz="2800" dirty="0" smtClean="0"/>
              <a:t>4 </a:t>
            </a:r>
            <a:r>
              <a:rPr lang="ja-JP" altLang="en-US" sz="2800" dirty="0" smtClean="0"/>
              <a:t>の場合は、</a:t>
            </a:r>
            <a:r>
              <a:rPr lang="en-US" altLang="ja-JP" sz="2800" dirty="0" smtClean="0"/>
              <a:t>1,2,3,4 </a:t>
            </a:r>
            <a:r>
              <a:rPr lang="ja-JP" altLang="en-US" sz="2800" dirty="0" smtClean="0"/>
              <a:t>の和で、</a:t>
            </a:r>
            <a:r>
              <a:rPr lang="en-US" altLang="ja-JP" sz="2800" dirty="0" smtClean="0"/>
              <a:t>10 </a:t>
            </a:r>
            <a:r>
              <a:rPr lang="ja-JP" altLang="en-US" sz="2800" dirty="0" smtClean="0"/>
              <a:t>が結果となる。</a:t>
            </a:r>
            <a:r>
              <a:rPr lang="en-US" altLang="ja-JP" sz="2800" dirty="0" smtClean="0"/>
              <a:t>) </a:t>
            </a:r>
            <a:r>
              <a:rPr lang="ja-JP" altLang="en-US" sz="2800" dirty="0" smtClean="0"/>
              <a:t>関数名は</a:t>
            </a:r>
            <a:r>
              <a:rPr lang="en-US" altLang="ja-JP" sz="2800" dirty="0" smtClean="0"/>
              <a:t>sum </a:t>
            </a:r>
            <a:r>
              <a:rPr lang="ja-JP" altLang="en-US" sz="2800" dirty="0" smtClean="0"/>
              <a:t>とする。ただし、関数</a:t>
            </a:r>
            <a:r>
              <a:rPr lang="en-US" altLang="ja-JP" sz="2800" dirty="0" smtClean="0"/>
              <a:t>sum </a:t>
            </a:r>
            <a:r>
              <a:rPr lang="ja-JP" altLang="en-US" sz="2800" dirty="0" smtClean="0"/>
              <a:t>は、</a:t>
            </a:r>
            <a:r>
              <a:rPr lang="en-US" altLang="ja-JP" sz="2800" dirty="0" smtClean="0"/>
              <a:t>n </a:t>
            </a:r>
            <a:r>
              <a:rPr lang="ja-JP" altLang="en-US" sz="2800" dirty="0" smtClean="0"/>
              <a:t>を</a:t>
            </a:r>
            <a:r>
              <a:rPr lang="en-US" altLang="ja-JP" sz="2800" dirty="0" err="1" smtClean="0"/>
              <a:t>int</a:t>
            </a:r>
            <a:r>
              <a:rPr lang="ja-JP" altLang="en-US" sz="2800" dirty="0" smtClean="0"/>
              <a:t>型の引数として受け取り、計算結果を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ja-JP" altLang="en-US" sz="2800" dirty="0" smtClean="0"/>
              <a:t>        </a:t>
            </a:r>
            <a:r>
              <a:rPr lang="en-US" altLang="ja-JP" sz="2800" dirty="0" smtClean="0"/>
              <a:t>…</a:t>
            </a:r>
            <a:endParaRPr lang="ja-JP" altLang="en-US" sz="2800" dirty="0" smtClean="0"/>
          </a:p>
          <a:p>
            <a:r>
              <a:rPr lang="en-US" altLang="ja-JP" sz="2800" dirty="0" smtClean="0"/>
              <a:t>    }</a:t>
            </a:r>
          </a:p>
          <a:p>
            <a:r>
              <a:rPr lang="ja-JP" altLang="en-US" sz="2800" dirty="0" smtClean="0"/>
              <a:t>引数に</a:t>
            </a:r>
            <a:r>
              <a:rPr lang="en-US" altLang="ja-JP" sz="2800" dirty="0" smtClean="0"/>
              <a:t>0 </a:t>
            </a:r>
            <a:r>
              <a:rPr lang="ja-JP" altLang="en-US" sz="2800" dirty="0" smtClean="0"/>
              <a:t>以下の値が与えられた場合は</a:t>
            </a:r>
            <a:r>
              <a:rPr lang="en-US" altLang="ja-JP" sz="2800" dirty="0" smtClean="0"/>
              <a:t>0 </a:t>
            </a:r>
            <a:r>
              <a:rPr lang="ja-JP" altLang="en-US" sz="2800" dirty="0" smtClean="0"/>
              <a:t>を結果として返すようにせよ。効率のよい計算方法</a:t>
            </a:r>
            <a:r>
              <a:rPr lang="en-US" altLang="ja-JP" sz="2800" dirty="0" smtClean="0"/>
              <a:t>((1+n)n/2 </a:t>
            </a:r>
            <a:r>
              <a:rPr lang="ja-JP" altLang="en-US" sz="2800" dirty="0" smtClean="0"/>
              <a:t>など</a:t>
            </a:r>
            <a:r>
              <a:rPr lang="en-US" altLang="ja-JP" sz="2800" dirty="0" smtClean="0"/>
              <a:t>) </a:t>
            </a:r>
            <a:r>
              <a:rPr lang="ja-JP" altLang="en-US" sz="2800" dirty="0" smtClean="0"/>
              <a:t>は使わず、最も素朴な、</a:t>
            </a:r>
            <a:r>
              <a:rPr lang="en-US" altLang="ja-JP" sz="2800" dirty="0" smtClean="0"/>
              <a:t>1 </a:t>
            </a:r>
            <a:r>
              <a:rPr lang="ja-JP" altLang="en-US" sz="2800" dirty="0" smtClean="0"/>
              <a:t>から順に</a:t>
            </a:r>
            <a:r>
              <a:rPr lang="en-US" altLang="ja-JP" sz="2800" dirty="0" smtClean="0"/>
              <a:t>n </a:t>
            </a:r>
            <a:r>
              <a:rPr lang="ja-JP" altLang="en-US" sz="2800" dirty="0" err="1" smtClean="0"/>
              <a:t>まで</a:t>
            </a:r>
            <a:r>
              <a:rPr lang="ja-JP" altLang="en-US" sz="2800" dirty="0" smtClean="0"/>
              <a:t>足していく方法で定義せよ。</a:t>
            </a:r>
            <a:r>
              <a:rPr lang="en-US" altLang="ja-JP" sz="2800" dirty="0" smtClean="0"/>
              <a:t>main </a:t>
            </a:r>
            <a:r>
              <a:rPr lang="ja-JP" altLang="en-US" sz="2800" dirty="0" smtClean="0"/>
              <a:t>関数の定義は不要である。</a:t>
            </a:r>
            <a:endParaRPr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819609" y="2132856"/>
            <a:ext cx="3362267" cy="2677656"/>
          </a:xfrm>
          <a:prstGeom prst="rect">
            <a:avLst/>
          </a:prstGeom>
          <a:noFill/>
          <a:ln>
            <a:solidFill>
              <a:schemeClr val="tx1"/>
            </a:solidFill>
          </a:ln>
        </p:spPr>
        <p:txBody>
          <a:bodyPr wrap="none" rtlCol="0">
            <a:spAutoFit/>
          </a:bodyPr>
          <a:lstStyle/>
          <a:p>
            <a:r>
              <a:rPr lang="nn-NO" altLang="ja-JP" sz="2800" dirty="0" smtClean="0"/>
              <a:t>int sum (int n) {</a:t>
            </a:r>
          </a:p>
          <a:p>
            <a:r>
              <a:rPr lang="nn-NO" altLang="ja-JP" sz="2800" dirty="0" smtClean="0"/>
              <a:t>    int sum=0, i;</a:t>
            </a:r>
          </a:p>
          <a:p>
            <a:r>
              <a:rPr lang="nn-NO" altLang="ja-JP" sz="2800" dirty="0" smtClean="0"/>
              <a:t>    for (i=0; i&lt;=n; i=i+1)</a:t>
            </a:r>
          </a:p>
          <a:p>
            <a:r>
              <a:rPr lang="nn-NO" altLang="ja-JP" sz="2800" dirty="0" smtClean="0"/>
              <a:t>        sum = sum + i;</a:t>
            </a:r>
          </a:p>
          <a:p>
            <a:r>
              <a:rPr lang="nn-NO" altLang="ja-JP" sz="2800" dirty="0" smtClean="0"/>
              <a:t>    return sum;</a:t>
            </a:r>
          </a:p>
          <a:p>
            <a:r>
              <a:rPr lang="nn-NO" altLang="ja-JP" sz="2800" dirty="0" smtClean="0"/>
              <a:t>}</a:t>
            </a:r>
          </a:p>
        </p:txBody>
      </p:sp>
      <p:sp>
        <p:nvSpPr>
          <p:cNvPr id="5" name="テキスト ボックス 4"/>
          <p:cNvSpPr txBox="1"/>
          <p:nvPr/>
        </p:nvSpPr>
        <p:spPr>
          <a:xfrm>
            <a:off x="4418666" y="2119496"/>
            <a:ext cx="3949864" cy="2677656"/>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en-US" altLang="ja-JP" sz="2800" dirty="0" smtClean="0"/>
              <a:t>    if (n&lt;=0)</a:t>
            </a:r>
          </a:p>
          <a:p>
            <a:r>
              <a:rPr lang="en-US" altLang="ja-JP" sz="2800" dirty="0" smtClean="0"/>
              <a:t>        return 0;</a:t>
            </a:r>
          </a:p>
          <a:p>
            <a:r>
              <a:rPr lang="en-US" altLang="ja-JP" sz="2800" dirty="0" smtClean="0"/>
              <a:t>    else</a:t>
            </a:r>
          </a:p>
          <a:p>
            <a:r>
              <a:rPr lang="en-US" altLang="ja-JP" sz="2800" dirty="0" smtClean="0"/>
              <a:t>        return </a:t>
            </a:r>
            <a:r>
              <a:rPr lang="ja-JP" altLang="en-US" sz="2800" dirty="0" smtClean="0"/>
              <a:t> </a:t>
            </a:r>
            <a:r>
              <a:rPr lang="en-US" altLang="ja-JP" sz="2800" dirty="0" smtClean="0"/>
              <a:t>n + sum (n-1);</a:t>
            </a:r>
          </a:p>
          <a:p>
            <a:r>
              <a:rPr lang="en-US" altLang="ja-JP" sz="2800" dirty="0" smtClean="0"/>
              <a:t>}</a:t>
            </a:r>
          </a:p>
        </p:txBody>
      </p:sp>
      <p:sp>
        <p:nvSpPr>
          <p:cNvPr id="6" name="テキスト ボックス 5"/>
          <p:cNvSpPr txBox="1"/>
          <p:nvPr/>
        </p:nvSpPr>
        <p:spPr>
          <a:xfrm>
            <a:off x="1709417" y="1477020"/>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357818" y="1477020"/>
            <a:ext cx="1507144" cy="523220"/>
          </a:xfrm>
          <a:prstGeom prst="rect">
            <a:avLst/>
          </a:prstGeom>
          <a:noFill/>
        </p:spPr>
        <p:txBody>
          <a:bodyPr wrap="none" rtlCol="0">
            <a:spAutoFit/>
          </a:bodyPr>
          <a:lstStyle/>
          <a:p>
            <a:r>
              <a:rPr kumimoji="1" lang="ja-JP" altLang="en-US" sz="2800" dirty="0" smtClean="0"/>
              <a:t>解答例</a:t>
            </a:r>
            <a:r>
              <a:rPr lang="ja-JP" altLang="en-US" sz="2800" dirty="0" smtClean="0"/>
              <a:t>２</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a:t>
            </a:r>
            <a:r>
              <a:rPr lang="ja-JP" altLang="en-US" dirty="0" smtClean="0"/>
              <a:t>２</a:t>
            </a:r>
            <a:endParaRPr kumimoji="1" lang="ja-JP" altLang="en-US" dirty="0"/>
          </a:p>
        </p:txBody>
      </p:sp>
      <p:sp>
        <p:nvSpPr>
          <p:cNvPr id="4" name="正方形/長方形 3"/>
          <p:cNvSpPr/>
          <p:nvPr/>
        </p:nvSpPr>
        <p:spPr>
          <a:xfrm>
            <a:off x="714348" y="1500174"/>
            <a:ext cx="7715304" cy="3539430"/>
          </a:xfrm>
          <a:prstGeom prst="rect">
            <a:avLst/>
          </a:prstGeom>
        </p:spPr>
        <p:txBody>
          <a:bodyPr wrap="square">
            <a:spAutoFit/>
          </a:bodyPr>
          <a:lstStyle/>
          <a:p>
            <a:r>
              <a:rPr lang="ja-JP" altLang="en-US" sz="2800" dirty="0" smtClean="0"/>
              <a:t>３つの整数の最大値を求める関数を定義せよ。関数名は</a:t>
            </a:r>
            <a:r>
              <a:rPr lang="en-US" altLang="ja-JP" sz="2800" dirty="0" smtClean="0"/>
              <a:t>max3 </a:t>
            </a:r>
            <a:r>
              <a:rPr lang="ja-JP" altLang="en-US" sz="2800" dirty="0" smtClean="0"/>
              <a:t>とする。ただし、関数</a:t>
            </a:r>
            <a:r>
              <a:rPr lang="en-US" altLang="ja-JP" sz="2800" dirty="0" smtClean="0"/>
              <a:t>max3 </a:t>
            </a:r>
            <a:r>
              <a:rPr lang="ja-JP" altLang="en-US" sz="2800" dirty="0" smtClean="0"/>
              <a:t>は、３つの</a:t>
            </a:r>
            <a:r>
              <a:rPr lang="en-US" altLang="ja-JP" sz="2800" dirty="0" err="1" smtClean="0"/>
              <a:t>int</a:t>
            </a:r>
            <a:r>
              <a:rPr lang="en-US" altLang="ja-JP" sz="2800" dirty="0" smtClean="0"/>
              <a:t> </a:t>
            </a:r>
            <a:r>
              <a:rPr lang="ja-JP" altLang="en-US" sz="2800" dirty="0" smtClean="0"/>
              <a:t>型の引数</a:t>
            </a:r>
            <a:r>
              <a:rPr lang="en-US" altLang="ja-JP" sz="2800" dirty="0" smtClean="0"/>
              <a:t>n1, n2, n3 </a:t>
            </a:r>
            <a:r>
              <a:rPr lang="ja-JP" altLang="en-US" sz="2800" dirty="0" smtClean="0"/>
              <a:t>を受け取り、そのうちの最大値を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max3 (</a:t>
            </a:r>
            <a:r>
              <a:rPr lang="en-US" altLang="ja-JP" sz="2800" dirty="0" err="1" smtClean="0"/>
              <a:t>int</a:t>
            </a:r>
            <a:r>
              <a:rPr lang="en-US" altLang="ja-JP" sz="2800" dirty="0" smtClean="0"/>
              <a:t> n1, </a:t>
            </a:r>
            <a:r>
              <a:rPr lang="en-US" altLang="ja-JP" sz="2800" dirty="0" err="1" smtClean="0"/>
              <a:t>int</a:t>
            </a:r>
            <a:r>
              <a:rPr lang="en-US" altLang="ja-JP" sz="2800" dirty="0" smtClean="0"/>
              <a:t> n2, </a:t>
            </a:r>
            <a:r>
              <a:rPr lang="en-US" altLang="ja-JP" sz="2800" dirty="0" err="1" smtClean="0"/>
              <a:t>int</a:t>
            </a:r>
            <a:r>
              <a:rPr lang="en-US" altLang="ja-JP" sz="2800" dirty="0" smtClean="0"/>
              <a:t> n3) {</a:t>
            </a:r>
          </a:p>
          <a:p>
            <a:r>
              <a:rPr lang="ja-JP" altLang="en-US" sz="2800" dirty="0" smtClean="0"/>
              <a:t>        </a:t>
            </a:r>
            <a:r>
              <a:rPr lang="en-US" altLang="ja-JP" sz="2800" dirty="0" smtClean="0"/>
              <a:t>…</a:t>
            </a:r>
            <a:endParaRPr lang="ja-JP" altLang="en-US" sz="2800" dirty="0" smtClean="0"/>
          </a:p>
          <a:p>
            <a:r>
              <a:rPr lang="en-US" altLang="ja-JP" sz="2800" dirty="0" smtClean="0"/>
              <a:t>    }</a:t>
            </a:r>
          </a:p>
          <a:p>
            <a:r>
              <a:rPr lang="en-US" altLang="ja-JP" sz="2800" dirty="0" smtClean="0"/>
              <a:t>main </a:t>
            </a:r>
            <a:r>
              <a:rPr lang="ja-JP" altLang="en-US" sz="2800" dirty="0" smtClean="0"/>
              <a:t>関数の定義は不要である。</a:t>
            </a:r>
            <a:endParaRPr lang="ja-JP" alt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214282" y="2227258"/>
            <a:ext cx="4131259" cy="3416320"/>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kumimoji="1" lang="en-US" altLang="ja-JP" sz="2400" dirty="0" smtClean="0"/>
              <a:t>    </a:t>
            </a:r>
            <a:r>
              <a:rPr kumimoji="1" lang="en-US" altLang="ja-JP" sz="2400" dirty="0" err="1" smtClean="0"/>
              <a:t>int</a:t>
            </a:r>
            <a:r>
              <a:rPr kumimoji="1" lang="en-US" altLang="ja-JP" sz="2400" dirty="0" smtClean="0"/>
              <a:t> max;</a:t>
            </a:r>
          </a:p>
          <a:p>
            <a:r>
              <a:rPr lang="en-US" altLang="ja-JP" sz="2400" dirty="0" smtClean="0"/>
              <a:t>    max = n1;</a:t>
            </a:r>
            <a:endParaRPr kumimoji="1" lang="en-US" altLang="ja-JP" sz="2400" dirty="0" smtClean="0"/>
          </a:p>
          <a:p>
            <a:r>
              <a:rPr lang="en-US" altLang="ja-JP" sz="2400" dirty="0" smtClean="0"/>
              <a:t>    if (max &lt; n2)</a:t>
            </a:r>
          </a:p>
          <a:p>
            <a:r>
              <a:rPr kumimoji="1" lang="en-US" altLang="ja-JP" sz="2400" dirty="0" smtClean="0"/>
              <a:t>        max = n2;</a:t>
            </a:r>
          </a:p>
          <a:p>
            <a:r>
              <a:rPr lang="en-US" altLang="ja-JP" sz="2400" dirty="0" smtClean="0"/>
              <a:t>    if (max &lt; n3)</a:t>
            </a:r>
          </a:p>
          <a:p>
            <a:r>
              <a:rPr kumimoji="1" lang="en-US" altLang="ja-JP" sz="2400" dirty="0" smtClean="0"/>
              <a:t>        max = n3;</a:t>
            </a:r>
          </a:p>
          <a:p>
            <a:r>
              <a:rPr lang="en-US" altLang="ja-JP" sz="2400" dirty="0" smtClean="0"/>
              <a:t>    return max;</a:t>
            </a:r>
          </a:p>
          <a:p>
            <a:r>
              <a:rPr kumimoji="1" lang="en-US" altLang="ja-JP" sz="2400" dirty="0" smtClean="0"/>
              <a:t>}</a:t>
            </a:r>
          </a:p>
        </p:txBody>
      </p:sp>
      <p:sp>
        <p:nvSpPr>
          <p:cNvPr id="5" name="テキスト ボックス 4"/>
          <p:cNvSpPr txBox="1"/>
          <p:nvPr/>
        </p:nvSpPr>
        <p:spPr>
          <a:xfrm>
            <a:off x="4500562" y="2215116"/>
            <a:ext cx="4510915" cy="3416320"/>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max2 (</a:t>
            </a:r>
            <a:r>
              <a:rPr lang="en-US" altLang="ja-JP" sz="2400" dirty="0" err="1" smtClean="0"/>
              <a:t>int</a:t>
            </a:r>
            <a:r>
              <a:rPr lang="en-US" altLang="ja-JP" sz="2400" dirty="0" smtClean="0"/>
              <a:t> n1, </a:t>
            </a:r>
            <a:r>
              <a:rPr lang="en-US" altLang="ja-JP" sz="2400" dirty="0" err="1" smtClean="0"/>
              <a:t>int</a:t>
            </a:r>
            <a:r>
              <a:rPr lang="en-US" altLang="ja-JP" sz="2400" dirty="0" smtClean="0"/>
              <a:t> n2) {</a:t>
            </a:r>
          </a:p>
          <a:p>
            <a:r>
              <a:rPr lang="en-US" altLang="ja-JP" sz="2400" dirty="0" smtClean="0"/>
              <a:t>    if (n1 &gt; n2)</a:t>
            </a:r>
          </a:p>
          <a:p>
            <a:r>
              <a:rPr lang="en-US" altLang="ja-JP" sz="2400" dirty="0" smtClean="0"/>
              <a:t>        return n1;</a:t>
            </a:r>
          </a:p>
          <a:p>
            <a:r>
              <a:rPr lang="en-US" altLang="ja-JP" sz="2400" dirty="0" smtClean="0"/>
              <a:t>    else</a:t>
            </a:r>
          </a:p>
          <a:p>
            <a:r>
              <a:rPr lang="en-US" altLang="ja-JP" sz="2400" dirty="0" smtClean="0"/>
              <a:t>        return n2;</a:t>
            </a:r>
          </a:p>
          <a:p>
            <a:r>
              <a:rPr lang="en-US" altLang="ja-JP" sz="2400" dirty="0" smtClean="0"/>
              <a:t>}</a:t>
            </a:r>
          </a:p>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lang="en-US" altLang="ja-JP" sz="2400" dirty="0" smtClean="0"/>
              <a:t>    return max2 (n1, max2 (n2, n3));</a:t>
            </a:r>
          </a:p>
          <a:p>
            <a:r>
              <a:rPr kumimoji="1" lang="en-US" altLang="ja-JP" sz="2400" dirty="0" smtClean="0"/>
              <a:t>}</a:t>
            </a:r>
          </a:p>
        </p:txBody>
      </p:sp>
      <p:sp>
        <p:nvSpPr>
          <p:cNvPr id="6" name="テキスト ボックス 5"/>
          <p:cNvSpPr txBox="1"/>
          <p:nvPr/>
        </p:nvSpPr>
        <p:spPr>
          <a:xfrm>
            <a:off x="1493220" y="1500174"/>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572132" y="1500174"/>
            <a:ext cx="1507144" cy="523220"/>
          </a:xfrm>
          <a:prstGeom prst="rect">
            <a:avLst/>
          </a:prstGeom>
          <a:noFill/>
        </p:spPr>
        <p:txBody>
          <a:bodyPr wrap="none" rtlCol="0">
            <a:spAutoFit/>
          </a:bodyPr>
          <a:lstStyle/>
          <a:p>
            <a:r>
              <a:rPr kumimoji="1" lang="ja-JP" altLang="en-US" sz="2800" dirty="0" smtClean="0"/>
              <a:t>解答例２</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88952"/>
            <a:ext cx="8229600" cy="796908"/>
          </a:xfrm>
        </p:spPr>
        <p:txBody>
          <a:bodyPr>
            <a:normAutofit/>
          </a:bodyPr>
          <a:lstStyle/>
          <a:p>
            <a:r>
              <a:rPr kumimoji="1" lang="ja-JP" altLang="en-US" dirty="0" smtClean="0"/>
              <a:t>中間試験問題例３</a:t>
            </a:r>
            <a:endParaRPr kumimoji="1" lang="ja-JP" altLang="en-US" dirty="0"/>
          </a:p>
        </p:txBody>
      </p:sp>
      <p:sp>
        <p:nvSpPr>
          <p:cNvPr id="4" name="正方形/長方形 3"/>
          <p:cNvSpPr/>
          <p:nvPr/>
        </p:nvSpPr>
        <p:spPr>
          <a:xfrm>
            <a:off x="1071538" y="1714488"/>
            <a:ext cx="6643734" cy="954107"/>
          </a:xfrm>
          <a:prstGeom prst="rect">
            <a:avLst/>
          </a:prstGeom>
        </p:spPr>
        <p:txBody>
          <a:bodyPr wrap="square">
            <a:spAutoFit/>
          </a:bodyPr>
          <a:lstStyle/>
          <a:p>
            <a:r>
              <a:rPr lang="ja-JP" altLang="en-US" sz="2800" dirty="0" smtClean="0"/>
              <a:t>配列を使う</a:t>
            </a:r>
            <a:r>
              <a:rPr lang="en-US" altLang="ja-JP" sz="2800" dirty="0" smtClean="0"/>
              <a:t>C </a:t>
            </a:r>
            <a:r>
              <a:rPr lang="ja-JP" altLang="en-US" sz="2800" dirty="0" smtClean="0"/>
              <a:t>言語のプログラムを自由に定義し、その意味を説明せよ。</a:t>
            </a:r>
            <a:endParaRPr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42942"/>
          </a:xfrm>
        </p:spPr>
        <p:txBody>
          <a:bodyPr>
            <a:normAutofit fontScale="90000"/>
          </a:bodyPr>
          <a:lstStyle/>
          <a:p>
            <a:r>
              <a:rPr kumimoji="1" lang="ja-JP" altLang="en-US" dirty="0" smtClean="0"/>
              <a:t>解答例</a:t>
            </a:r>
            <a:endParaRPr kumimoji="1" lang="ja-JP" altLang="en-US" dirty="0"/>
          </a:p>
        </p:txBody>
      </p:sp>
      <p:sp>
        <p:nvSpPr>
          <p:cNvPr id="4" name="テキスト ボックス 3"/>
          <p:cNvSpPr txBox="1"/>
          <p:nvPr/>
        </p:nvSpPr>
        <p:spPr>
          <a:xfrm>
            <a:off x="642910" y="928670"/>
            <a:ext cx="4246547" cy="4832092"/>
          </a:xfrm>
          <a:prstGeom prst="rect">
            <a:avLst/>
          </a:prstGeom>
          <a:noFill/>
          <a:ln>
            <a:solidFill>
              <a:schemeClr val="tx1"/>
            </a:solidFill>
          </a:ln>
        </p:spPr>
        <p:txBody>
          <a:bodyPr wrap="non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a[3];</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 sum=0;</a:t>
            </a:r>
          </a:p>
          <a:p>
            <a:r>
              <a:rPr lang="en-US" altLang="ja-JP" sz="2800" dirty="0" smtClean="0"/>
              <a:t>  for (</a:t>
            </a:r>
            <a:r>
              <a:rPr lang="en-US" altLang="ja-JP" sz="2800" dirty="0" err="1" smtClean="0"/>
              <a:t>i</a:t>
            </a:r>
            <a:r>
              <a:rPr lang="en-US" altLang="ja-JP" sz="2800" dirty="0" smtClean="0"/>
              <a:t>=0; </a:t>
            </a:r>
            <a:r>
              <a:rPr lang="en-US" altLang="ja-JP" sz="2800" dirty="0" err="1" smtClean="0"/>
              <a:t>i</a:t>
            </a:r>
            <a:r>
              <a:rPr lang="en-US" altLang="ja-JP" sz="2800" dirty="0" smtClean="0"/>
              <a:t>&lt;3; </a:t>
            </a:r>
            <a:r>
              <a:rPr lang="en-US" altLang="ja-JP" sz="2800" dirty="0" err="1" smtClean="0"/>
              <a:t>i</a:t>
            </a:r>
            <a:r>
              <a:rPr lang="en-US" altLang="ja-JP" sz="2800" dirty="0" smtClean="0"/>
              <a:t>=i+1)</a:t>
            </a:r>
          </a:p>
          <a:p>
            <a:r>
              <a:rPr lang="en-US" altLang="ja-JP" sz="2800" dirty="0" smtClean="0"/>
              <a:t>    </a:t>
            </a:r>
            <a:r>
              <a:rPr lang="en-US" altLang="ja-JP" sz="2800" dirty="0" err="1" smtClean="0"/>
              <a:t>scanf</a:t>
            </a:r>
            <a:r>
              <a:rPr lang="en-US" altLang="ja-JP" sz="2800" dirty="0" smtClean="0"/>
              <a:t> ("%d", &amp;a[</a:t>
            </a:r>
            <a:r>
              <a:rPr lang="en-US" altLang="ja-JP" sz="2800" dirty="0" err="1" smtClean="0"/>
              <a:t>i</a:t>
            </a:r>
            <a:r>
              <a:rPr lang="en-US" altLang="ja-JP" sz="2800" dirty="0" smtClean="0"/>
              <a:t>]);</a:t>
            </a:r>
          </a:p>
          <a:p>
            <a:r>
              <a:rPr lang="en-US" altLang="ja-JP" sz="2800" dirty="0" smtClean="0"/>
              <a:t>  for (</a:t>
            </a:r>
            <a:r>
              <a:rPr lang="en-US" altLang="ja-JP" sz="2800" dirty="0" err="1" smtClean="0"/>
              <a:t>i</a:t>
            </a:r>
            <a:r>
              <a:rPr lang="en-US" altLang="ja-JP" sz="2800" dirty="0" smtClean="0"/>
              <a:t>=0; </a:t>
            </a:r>
            <a:r>
              <a:rPr lang="en-US" altLang="ja-JP" sz="2800" dirty="0" err="1" smtClean="0"/>
              <a:t>i</a:t>
            </a:r>
            <a:r>
              <a:rPr lang="en-US" altLang="ja-JP" sz="2800" dirty="0" smtClean="0"/>
              <a:t>&lt;3; </a:t>
            </a:r>
            <a:r>
              <a:rPr lang="en-US" altLang="ja-JP" sz="2800" dirty="0" err="1" smtClean="0"/>
              <a:t>i</a:t>
            </a:r>
            <a:r>
              <a:rPr lang="en-US" altLang="ja-JP" sz="2800" dirty="0" smtClean="0"/>
              <a:t>=i+1)</a:t>
            </a:r>
          </a:p>
          <a:p>
            <a:r>
              <a:rPr lang="en-US" altLang="ja-JP" sz="2800" dirty="0" smtClean="0"/>
              <a:t>    sum = sum + a[</a:t>
            </a:r>
            <a:r>
              <a:rPr lang="en-US" altLang="ja-JP" sz="2800" dirty="0" err="1" smtClean="0"/>
              <a:t>i</a:t>
            </a:r>
            <a:r>
              <a:rPr lang="en-US" altLang="ja-JP" sz="2800" dirty="0" smtClean="0"/>
              <a:t>];</a:t>
            </a:r>
          </a:p>
          <a:p>
            <a:r>
              <a:rPr lang="en-US" altLang="ja-JP" sz="2800" dirty="0" smtClean="0"/>
              <a:t>  </a:t>
            </a:r>
            <a:r>
              <a:rPr lang="en-US" altLang="ja-JP" sz="2800" dirty="0" err="1" smtClean="0"/>
              <a:t>printf</a:t>
            </a:r>
            <a:r>
              <a:rPr lang="en-US" altLang="ja-JP" sz="2800" dirty="0" smtClean="0"/>
              <a:t> ("sum=%d\n", sum);</a:t>
            </a:r>
          </a:p>
          <a:p>
            <a:r>
              <a:rPr lang="en-US" altLang="ja-JP" sz="2800" dirty="0" smtClean="0"/>
              <a:t>  return 0;</a:t>
            </a:r>
          </a:p>
          <a:p>
            <a:r>
              <a:rPr lang="en-US" altLang="ja-JP" sz="2800" dirty="0" smtClean="0"/>
              <a:t>}</a:t>
            </a:r>
          </a:p>
        </p:txBody>
      </p:sp>
      <p:sp>
        <p:nvSpPr>
          <p:cNvPr id="5" name="テキスト ボックス 4"/>
          <p:cNvSpPr txBox="1"/>
          <p:nvPr/>
        </p:nvSpPr>
        <p:spPr>
          <a:xfrm>
            <a:off x="5286380" y="1000108"/>
            <a:ext cx="3357586" cy="2677656"/>
          </a:xfrm>
          <a:prstGeom prst="rect">
            <a:avLst/>
          </a:prstGeom>
          <a:noFill/>
        </p:spPr>
        <p:txBody>
          <a:bodyPr wrap="square" rtlCol="0">
            <a:spAutoFit/>
          </a:bodyPr>
          <a:lstStyle/>
          <a:p>
            <a:r>
              <a:rPr kumimoji="1" lang="ja-JP" altLang="en-US" sz="2800" dirty="0" smtClean="0"/>
              <a:t>（説明）</a:t>
            </a:r>
            <a:endParaRPr kumimoji="1" lang="en-US" altLang="ja-JP" sz="2800" dirty="0" smtClean="0"/>
          </a:p>
          <a:p>
            <a:r>
              <a:rPr kumimoji="1" lang="ja-JP" altLang="en-US" sz="2800" dirty="0" smtClean="0"/>
              <a:t>これは、キーボードから３つの</a:t>
            </a:r>
            <a:r>
              <a:rPr lang="ja-JP" altLang="en-US" sz="2800" dirty="0" smtClean="0"/>
              <a:t>整数を受け取り、それらの和を計算して表示するプログラムである。</a:t>
            </a:r>
            <a:endParaRPr kumimoji="1"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中間試験問題例４</a:t>
            </a:r>
            <a:endParaRPr kumimoji="1" lang="ja-JP" altLang="en-US" dirty="0"/>
          </a:p>
        </p:txBody>
      </p:sp>
      <p:sp>
        <p:nvSpPr>
          <p:cNvPr id="5" name="テキスト ボックス 4"/>
          <p:cNvSpPr txBox="1"/>
          <p:nvPr/>
        </p:nvSpPr>
        <p:spPr>
          <a:xfrm>
            <a:off x="323528" y="1340768"/>
            <a:ext cx="3384376" cy="1569660"/>
          </a:xfrm>
          <a:prstGeom prst="rect">
            <a:avLst/>
          </a:prstGeom>
          <a:noFill/>
        </p:spPr>
        <p:txBody>
          <a:bodyPr wrap="square" rtlCol="0">
            <a:spAutoFit/>
          </a:bodyPr>
          <a:lstStyle/>
          <a:p>
            <a:r>
              <a:rPr kumimoji="1" lang="ja-JP" altLang="en-US" sz="2400" dirty="0" smtClean="0"/>
              <a:t>以下のプログラムを</a:t>
            </a:r>
            <a:r>
              <a:rPr lang="ja-JP" altLang="en-US" sz="2400" dirty="0" smtClean="0"/>
              <a:t>、</a:t>
            </a:r>
            <a:r>
              <a:rPr lang="en-US" altLang="ja-JP" sz="2400" dirty="0" smtClean="0"/>
              <a:t>continue</a:t>
            </a:r>
            <a:r>
              <a:rPr lang="ja-JP" altLang="en-US" sz="2400" dirty="0" smtClean="0"/>
              <a:t>文を使うことにより、</a:t>
            </a:r>
            <a:r>
              <a:rPr lang="en-US" altLang="ja-JP" sz="2400" dirty="0" err="1" smtClean="0"/>
              <a:t>goto</a:t>
            </a:r>
            <a:r>
              <a:rPr lang="ja-JP" altLang="en-US" sz="2400" dirty="0" smtClean="0"/>
              <a:t>文を使わないプログラムに書き換えよ。</a:t>
            </a:r>
            <a:endParaRPr kumimoji="1" lang="en-US" altLang="ja-JP" sz="2400" dirty="0" smtClean="0"/>
          </a:p>
        </p:txBody>
      </p:sp>
      <p:sp>
        <p:nvSpPr>
          <p:cNvPr id="6" name="正方形/長方形 5"/>
          <p:cNvSpPr/>
          <p:nvPr/>
        </p:nvSpPr>
        <p:spPr>
          <a:xfrm>
            <a:off x="3923928" y="1436578"/>
            <a:ext cx="4572000" cy="5016758"/>
          </a:xfrm>
          <a:prstGeom prst="rect">
            <a:avLst/>
          </a:prstGeom>
          <a:ln>
            <a:solidFill>
              <a:schemeClr val="tx1"/>
            </a:solidFill>
          </a:ln>
        </p:spPr>
        <p:txBody>
          <a:bodyPr>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x;</a:t>
            </a:r>
          </a:p>
          <a:p>
            <a:r>
              <a:rPr lang="en-US" altLang="ja-JP" sz="2000" dirty="0" smtClean="0"/>
              <a:t>    x = 1;</a:t>
            </a:r>
          </a:p>
          <a:p>
            <a:r>
              <a:rPr lang="en-US" altLang="ja-JP" sz="2000" dirty="0" smtClean="0"/>
              <a:t>    while (x &lt;= 10) {</a:t>
            </a:r>
          </a:p>
          <a:p>
            <a:r>
              <a:rPr lang="en-US" altLang="ja-JP" sz="2000" dirty="0" smtClean="0"/>
              <a:t>        if (x == 5) {</a:t>
            </a:r>
          </a:p>
          <a:p>
            <a:r>
              <a:rPr lang="en-US" altLang="ja-JP" sz="2000" dirty="0" smtClean="0"/>
              <a:t>             x=x+1;</a:t>
            </a:r>
          </a:p>
          <a:p>
            <a:r>
              <a:rPr lang="en-US" altLang="ja-JP" sz="2000" dirty="0" smtClean="0"/>
              <a:t>             </a:t>
            </a:r>
            <a:r>
              <a:rPr lang="en-US" altLang="ja-JP" sz="2000" dirty="0" err="1" smtClean="0"/>
              <a:t>goto</a:t>
            </a:r>
            <a:r>
              <a:rPr lang="en-US" altLang="ja-JP" sz="2000" dirty="0" smtClean="0"/>
              <a:t> </a:t>
            </a:r>
            <a:r>
              <a:rPr lang="en-US" altLang="ja-JP" sz="2000" dirty="0" err="1" smtClean="0"/>
              <a:t>aaa</a:t>
            </a:r>
            <a:r>
              <a:rPr lang="en-US" altLang="ja-JP" sz="2000" dirty="0" smtClean="0"/>
              <a:t>;</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羊が</a:t>
            </a:r>
            <a:r>
              <a:rPr lang="en-US" altLang="ja-JP" sz="2000" dirty="0" smtClean="0"/>
              <a:t>%d</a:t>
            </a:r>
            <a:r>
              <a:rPr lang="ja-JP" altLang="en-US" sz="2000" dirty="0" smtClean="0"/>
              <a:t>匹</a:t>
            </a:r>
            <a:r>
              <a:rPr lang="en-US" altLang="ja-JP" sz="2000" dirty="0" smtClean="0"/>
              <a:t>\n", x);</a:t>
            </a:r>
          </a:p>
          <a:p>
            <a:r>
              <a:rPr lang="en-US" altLang="ja-JP" sz="2000" dirty="0" smtClean="0"/>
              <a:t>        x=x+1;</a:t>
            </a:r>
          </a:p>
          <a:p>
            <a:r>
              <a:rPr lang="en-US" altLang="ja-JP" sz="2000" dirty="0" smtClean="0"/>
              <a:t>     </a:t>
            </a:r>
            <a:r>
              <a:rPr lang="en-US" altLang="ja-JP" sz="2000" dirty="0" err="1" smtClean="0"/>
              <a:t>aaa</a:t>
            </a:r>
            <a:r>
              <a:rPr lang="en-US" altLang="ja-JP" sz="2000" dirty="0" smtClean="0"/>
              <a:t>:  </a:t>
            </a:r>
          </a:p>
          <a:p>
            <a:r>
              <a:rPr lang="en-US" altLang="ja-JP" sz="2000" dirty="0" smtClean="0"/>
              <a:t>        ; </a:t>
            </a:r>
          </a:p>
          <a:p>
            <a:r>
              <a:rPr lang="en-US" altLang="ja-JP" sz="2000" dirty="0" smtClean="0"/>
              <a:t>    }</a:t>
            </a:r>
          </a:p>
          <a:p>
            <a:r>
              <a:rPr lang="en-US" altLang="ja-JP" sz="2000" dirty="0" smtClean="0"/>
              <a:t>    return 0;</a:t>
            </a:r>
          </a:p>
          <a:p>
            <a:r>
              <a:rPr lang="en-US" altLang="ja-JP" sz="2000" dirty="0" smtClean="0"/>
              <a:t>}</a:t>
            </a:r>
            <a:endParaRPr lang="en-US" altLang="ja-JP"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解答例</a:t>
            </a:r>
            <a:endParaRPr kumimoji="1" lang="ja-JP" altLang="en-US" dirty="0"/>
          </a:p>
        </p:txBody>
      </p:sp>
      <p:sp>
        <p:nvSpPr>
          <p:cNvPr id="6" name="正方形/長方形 5"/>
          <p:cNvSpPr/>
          <p:nvPr/>
        </p:nvSpPr>
        <p:spPr>
          <a:xfrm>
            <a:off x="1571636" y="1428736"/>
            <a:ext cx="4572000" cy="5262979"/>
          </a:xfrm>
          <a:prstGeom prst="rect">
            <a:avLst/>
          </a:prstGeom>
          <a:ln>
            <a:solidFill>
              <a:schemeClr val="tx1"/>
            </a:solidFill>
          </a:ln>
        </p:spPr>
        <p:txBody>
          <a:bodyPr>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x = 1;</a:t>
            </a:r>
          </a:p>
          <a:p>
            <a:r>
              <a:rPr lang="en-US" altLang="ja-JP" sz="2400" dirty="0" smtClean="0"/>
              <a:t>    while (x &lt;= 10) {</a:t>
            </a:r>
          </a:p>
          <a:p>
            <a:r>
              <a:rPr lang="en-US" altLang="ja-JP" sz="2400" dirty="0" smtClean="0"/>
              <a:t>        if (x == 5) {</a:t>
            </a:r>
          </a:p>
          <a:p>
            <a:r>
              <a:rPr lang="en-US" altLang="ja-JP" sz="2400" dirty="0" smtClean="0"/>
              <a:t>             x=x+1;</a:t>
            </a:r>
          </a:p>
          <a:p>
            <a:r>
              <a:rPr lang="en-US" altLang="ja-JP" sz="2400" dirty="0" smtClean="0"/>
              <a:t>             continue;</a:t>
            </a:r>
            <a:endParaRPr lang="en-US" altLang="ja-JP" sz="2400" dirty="0" smtClean="0">
              <a:solidFill>
                <a:srgbClr val="FF0000"/>
              </a:solidFill>
            </a:endParaRPr>
          </a:p>
          <a:p>
            <a:r>
              <a:rPr lang="en-US" altLang="ja-JP" sz="2400" dirty="0" smtClean="0"/>
              <a:t>        }</a:t>
            </a:r>
          </a:p>
          <a:p>
            <a:r>
              <a:rPr lang="en-US" altLang="ja-JP" sz="2400" dirty="0" smtClean="0"/>
              <a:t>        </a:t>
            </a:r>
            <a:r>
              <a:rPr lang="en-US" altLang="ja-JP" sz="2400" dirty="0" err="1" smtClean="0"/>
              <a:t>printf</a:t>
            </a:r>
            <a:r>
              <a:rPr lang="en-US" altLang="ja-JP" sz="2400" dirty="0" smtClean="0"/>
              <a:t> (“</a:t>
            </a:r>
            <a:r>
              <a:rPr lang="ja-JP" altLang="en-US" sz="2400" dirty="0" smtClean="0"/>
              <a:t>羊が</a:t>
            </a:r>
            <a:r>
              <a:rPr lang="en-US" altLang="ja-JP" sz="2400" dirty="0" smtClean="0"/>
              <a:t>%d</a:t>
            </a:r>
            <a:r>
              <a:rPr lang="ja-JP" altLang="en-US" sz="2400" dirty="0" smtClean="0"/>
              <a:t>匹</a:t>
            </a:r>
            <a:r>
              <a:rPr lang="en-US" altLang="ja-JP" sz="2400" dirty="0" smtClean="0"/>
              <a:t>\n", x);</a:t>
            </a:r>
          </a:p>
          <a:p>
            <a:r>
              <a:rPr lang="en-US" altLang="ja-JP" sz="2400" dirty="0" smtClean="0"/>
              <a:t>        x=x+1;</a:t>
            </a:r>
          </a:p>
          <a:p>
            <a:r>
              <a:rPr lang="en-US" altLang="ja-JP" sz="2400" dirty="0" smtClean="0"/>
              <a:t>    }</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基本型</a:t>
            </a:r>
            <a:endParaRPr kumimoji="1" lang="ja-JP" altLang="en-US" dirty="0"/>
          </a:p>
        </p:txBody>
      </p:sp>
      <p:sp>
        <p:nvSpPr>
          <p:cNvPr id="3" name="コンテンツ プレースホルダ 2"/>
          <p:cNvSpPr>
            <a:spLocks noGrp="1"/>
          </p:cNvSpPr>
          <p:nvPr>
            <p:ph idx="1"/>
          </p:nvPr>
        </p:nvSpPr>
        <p:spPr>
          <a:xfrm>
            <a:off x="457200" y="1600201"/>
            <a:ext cx="8229600" cy="2471742"/>
          </a:xfrm>
        </p:spPr>
        <p:txBody>
          <a:bodyPr/>
          <a:lstStyle/>
          <a:p>
            <a:r>
              <a:rPr kumimoji="1" lang="ja-JP" altLang="en-US" dirty="0" smtClean="0"/>
              <a:t>これまでに紹介した基本型は</a:t>
            </a:r>
            <a:r>
              <a:rPr kumimoji="1" lang="en-US" altLang="ja-JP" dirty="0" err="1" smtClean="0"/>
              <a:t>int</a:t>
            </a:r>
            <a:r>
              <a:rPr lang="ja-JP" altLang="en-US" dirty="0" smtClean="0"/>
              <a:t>型、</a:t>
            </a:r>
            <a:r>
              <a:rPr lang="en-US" altLang="ja-JP" dirty="0" smtClean="0"/>
              <a:t>double</a:t>
            </a:r>
            <a:r>
              <a:rPr lang="ja-JP" altLang="en-US" dirty="0" smtClean="0"/>
              <a:t>型である。その他にもさまざまな基本型があり、整数型、浮動小数点型に分類できる。</a:t>
            </a:r>
            <a:endParaRPr lang="en-US" altLang="ja-JP"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整数型</a:t>
            </a:r>
            <a:endParaRPr kumimoji="1" lang="ja-JP" altLang="en-US" dirty="0"/>
          </a:p>
        </p:txBody>
      </p:sp>
      <p:sp>
        <p:nvSpPr>
          <p:cNvPr id="4" name="テキスト ボックス 3"/>
          <p:cNvSpPr txBox="1"/>
          <p:nvPr/>
        </p:nvSpPr>
        <p:spPr>
          <a:xfrm>
            <a:off x="570332" y="1262365"/>
            <a:ext cx="7962108" cy="5262979"/>
          </a:xfrm>
          <a:prstGeom prst="rect">
            <a:avLst/>
          </a:prstGeom>
          <a:noFill/>
        </p:spPr>
        <p:txBody>
          <a:bodyPr wrap="square" rtlCol="0">
            <a:spAutoFit/>
          </a:bodyPr>
          <a:lstStyle/>
          <a:p>
            <a:r>
              <a:rPr lang="ja-JP" altLang="en-US" sz="2800" dirty="0" smtClean="0"/>
              <a:t>整数型は</a:t>
            </a:r>
            <a:r>
              <a:rPr lang="en-US" altLang="ja-JP" sz="2800" dirty="0" smtClean="0"/>
              <a:t> </a:t>
            </a:r>
            <a:r>
              <a:rPr lang="ja-JP" altLang="en-US" sz="2800" dirty="0" err="1" smtClean="0"/>
              <a:t>、</a:t>
            </a:r>
            <a:r>
              <a:rPr lang="en-US" altLang="ja-JP" sz="2800" dirty="0" smtClean="0"/>
              <a:t>char</a:t>
            </a:r>
            <a:r>
              <a:rPr lang="ja-JP" altLang="en-US" sz="2800" dirty="0" smtClean="0"/>
              <a:t>型</a:t>
            </a:r>
            <a:r>
              <a:rPr lang="en-US" altLang="ja-JP" sz="2800" dirty="0" smtClean="0"/>
              <a:t>, short </a:t>
            </a:r>
            <a:r>
              <a:rPr lang="en-US" altLang="ja-JP" sz="2800" dirty="0" err="1" smtClean="0"/>
              <a:t>int</a:t>
            </a:r>
            <a:r>
              <a:rPr lang="ja-JP" altLang="en-US" sz="2800" dirty="0" smtClean="0"/>
              <a:t>型</a:t>
            </a:r>
            <a:r>
              <a:rPr lang="en-US" altLang="ja-JP" sz="2800" dirty="0" smtClean="0"/>
              <a:t>, </a:t>
            </a:r>
            <a:r>
              <a:rPr lang="en-US" altLang="ja-JP" sz="2800" dirty="0" err="1" smtClean="0"/>
              <a:t>int</a:t>
            </a:r>
            <a:r>
              <a:rPr lang="ja-JP" altLang="en-US" sz="2800" dirty="0" smtClean="0"/>
              <a:t>型</a:t>
            </a:r>
            <a:r>
              <a:rPr lang="en-US" altLang="ja-JP" sz="2800" dirty="0" smtClean="0"/>
              <a:t>, long </a:t>
            </a:r>
            <a:r>
              <a:rPr lang="en-US" altLang="ja-JP" sz="2800" dirty="0" err="1" smtClean="0"/>
              <a:t>int</a:t>
            </a:r>
            <a:r>
              <a:rPr lang="ja-JP" altLang="en-US" sz="2800" dirty="0" smtClean="0"/>
              <a:t>型</a:t>
            </a:r>
            <a:r>
              <a:rPr kumimoji="1" lang="ja-JP" altLang="en-US" sz="2800" dirty="0" smtClean="0"/>
              <a:t>の</a:t>
            </a:r>
            <a:r>
              <a:rPr lang="ja-JP" altLang="en-US" sz="2800" dirty="0" smtClean="0"/>
              <a:t>４</a:t>
            </a:r>
            <a:r>
              <a:rPr kumimoji="1" lang="ja-JP" altLang="en-US" sz="2800" dirty="0" smtClean="0"/>
              <a:t>種類に分かれる</a:t>
            </a:r>
            <a:r>
              <a:rPr kumimoji="1" lang="en-US" altLang="ja-JP" sz="2800" dirty="0" smtClean="0"/>
              <a:t>(C99</a:t>
            </a:r>
            <a:r>
              <a:rPr kumimoji="1" lang="ja-JP" altLang="en-US" sz="2800" dirty="0" smtClean="0"/>
              <a:t>では</a:t>
            </a:r>
            <a:r>
              <a:rPr kumimoji="1" lang="en-US" altLang="ja-JP" sz="2800" dirty="0" smtClean="0"/>
              <a:t>long </a:t>
            </a:r>
            <a:r>
              <a:rPr kumimoji="1" lang="en-US" altLang="ja-JP" sz="2800" dirty="0" err="1" smtClean="0"/>
              <a:t>long</a:t>
            </a:r>
            <a:r>
              <a:rPr kumimoji="1" lang="en-US" altLang="ja-JP" sz="2800" dirty="0" smtClean="0"/>
              <a:t> </a:t>
            </a:r>
            <a:r>
              <a:rPr kumimoji="1" lang="en-US" altLang="ja-JP" sz="2800" dirty="0" err="1" smtClean="0"/>
              <a:t>int</a:t>
            </a:r>
            <a:r>
              <a:rPr kumimoji="1" lang="ja-JP" altLang="en-US" sz="2800" dirty="0" smtClean="0"/>
              <a:t>型が加わり、５種類</a:t>
            </a:r>
            <a:r>
              <a:rPr kumimoji="1" lang="en-US" altLang="ja-JP" sz="2800" dirty="0" smtClean="0"/>
              <a:t>)</a:t>
            </a:r>
            <a:r>
              <a:rPr kumimoji="1" lang="ja-JP" altLang="en-US" sz="2800" dirty="0" err="1" smtClean="0"/>
              <a:t>。</a:t>
            </a:r>
            <a:r>
              <a:rPr lang="en-US" altLang="ja-JP" sz="2800" dirty="0" smtClean="0"/>
              <a:t>char</a:t>
            </a:r>
            <a:r>
              <a:rPr lang="ja-JP" altLang="en-US" sz="2800" dirty="0" smtClean="0"/>
              <a:t>型が一番小さく、</a:t>
            </a:r>
            <a:r>
              <a:rPr lang="en-US" altLang="ja-JP" sz="2800" dirty="0" smtClean="0"/>
              <a:t>long </a:t>
            </a:r>
            <a:r>
              <a:rPr lang="en-US" altLang="ja-JP" sz="2800" dirty="0" err="1" smtClean="0"/>
              <a:t>int</a:t>
            </a:r>
            <a:r>
              <a:rPr lang="ja-JP" altLang="en-US" sz="2800" dirty="0" smtClean="0"/>
              <a:t>型が一番大きい（具体的に何バイトかは定められておらず、処理系によって異なる）。</a:t>
            </a:r>
            <a:endParaRPr lang="en-US" altLang="ja-JP" sz="2800" dirty="0" smtClean="0"/>
          </a:p>
          <a:p>
            <a:r>
              <a:rPr lang="ja-JP" altLang="en-US" sz="2800" dirty="0" smtClean="0"/>
              <a:t>それぞれの型は、符号付きと符号無しでそれぞれ２つずつある。</a:t>
            </a:r>
            <a:r>
              <a:rPr lang="en-US" altLang="ja-JP" sz="2800" dirty="0" smtClean="0"/>
              <a:t> </a:t>
            </a:r>
            <a:r>
              <a:rPr lang="ja-JP" altLang="en-US" sz="2800" dirty="0" smtClean="0"/>
              <a:t>型指定子</a:t>
            </a:r>
            <a:r>
              <a:rPr lang="en-US" altLang="ja-JP" sz="2800" dirty="0" smtClean="0"/>
              <a:t>(signed</a:t>
            </a:r>
            <a:r>
              <a:rPr lang="ja-JP" altLang="en-US" sz="2800" dirty="0" smtClean="0"/>
              <a:t>か</a:t>
            </a:r>
            <a:r>
              <a:rPr lang="en-US" altLang="ja-JP" sz="2800" dirty="0" smtClean="0"/>
              <a:t>unsigned)</a:t>
            </a:r>
            <a:r>
              <a:rPr lang="ja-JP" altLang="en-US" sz="2800" dirty="0" smtClean="0"/>
              <a:t>で指定する。</a:t>
            </a:r>
            <a:r>
              <a:rPr lang="en-US" altLang="ja-JP" sz="2800" dirty="0" smtClean="0"/>
              <a:t>char</a:t>
            </a:r>
            <a:r>
              <a:rPr lang="ja-JP" altLang="en-US" sz="2800" dirty="0" smtClean="0"/>
              <a:t>型以外は、型指定子を与えない場合は符号付きになる。</a:t>
            </a:r>
            <a:r>
              <a:rPr lang="en-US" altLang="ja-JP" sz="2800" dirty="0" smtClean="0"/>
              <a:t>char</a:t>
            </a:r>
            <a:r>
              <a:rPr lang="ja-JP" altLang="en-US" sz="2800" dirty="0" smtClean="0"/>
              <a:t>型は、型指定子を与えない場合は、符号付きか符号無しかのいずれかである（処理系依存）。</a:t>
            </a:r>
            <a:endParaRPr lang="en-US" altLang="ja-JP" sz="2800" dirty="0" smtClean="0"/>
          </a:p>
          <a:p>
            <a:r>
              <a:rPr kumimoji="1" lang="ja-JP" altLang="en-US" sz="2800" dirty="0" smtClean="0"/>
              <a:t>扱う数の範囲に</a:t>
            </a:r>
            <a:r>
              <a:rPr lang="ja-JP" altLang="en-US" sz="2800" dirty="0" smtClean="0"/>
              <a:t>応じて適切な型を選択して用いる。</a:t>
            </a:r>
            <a:endParaRPr kumimoji="1" lang="en-US" altLang="ja-JP"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en-US" altLang="ja-JP" dirty="0" smtClean="0"/>
              <a:t>char</a:t>
            </a:r>
            <a:r>
              <a:rPr kumimoji="1" lang="ja-JP" altLang="en-US" dirty="0" smtClean="0"/>
              <a:t>型が符号付きかどうか判定</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1331640" y="1772816"/>
            <a:ext cx="5363841" cy="4832092"/>
          </a:xfrm>
          <a:prstGeom prst="rect">
            <a:avLst/>
          </a:prstGeom>
          <a:noFill/>
          <a:ln>
            <a:solidFill>
              <a:schemeClr val="tx1"/>
            </a:solidFill>
          </a:ln>
        </p:spPr>
        <p:txBody>
          <a:bodyPr wrap="non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smtClean="0"/>
              <a:t>#include &lt;</a:t>
            </a:r>
            <a:r>
              <a:rPr lang="en-US" altLang="ja-JP" sz="2800" dirty="0" err="1" smtClean="0"/>
              <a:t>limits.h</a:t>
            </a:r>
            <a:r>
              <a:rPr lang="en-US" altLang="ja-JP" sz="2800" dirty="0" smtClean="0"/>
              <a:t>&gt;</a:t>
            </a:r>
          </a:p>
          <a:p>
            <a:endParaRPr lang="en-US" altLang="ja-JP" sz="2800" dirty="0" smtClean="0"/>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ja-JP" altLang="en-US" sz="2800" dirty="0" smtClean="0"/>
              <a:t>この処理系の</a:t>
            </a:r>
            <a:r>
              <a:rPr lang="en-US" altLang="ja-JP" sz="2800" dirty="0" smtClean="0"/>
              <a:t>char</a:t>
            </a:r>
            <a:r>
              <a:rPr lang="ja-JP" altLang="en-US" sz="2800" dirty="0" smtClean="0"/>
              <a:t>型は</a:t>
            </a:r>
            <a:r>
              <a:rPr lang="en-US" altLang="ja-JP" sz="2800" dirty="0" smtClean="0"/>
              <a:t>");</a:t>
            </a:r>
          </a:p>
          <a:p>
            <a:r>
              <a:rPr lang="en-US" altLang="ja-JP" sz="2800" dirty="0" smtClean="0"/>
              <a:t>  if (CHAR_MIN)</a:t>
            </a:r>
          </a:p>
          <a:p>
            <a:r>
              <a:rPr lang="en-US" altLang="ja-JP" sz="2800" dirty="0" smtClean="0"/>
              <a:t>    </a:t>
            </a:r>
            <a:r>
              <a:rPr lang="en-US" altLang="ja-JP" sz="2800" dirty="0" err="1" smtClean="0"/>
              <a:t>printf</a:t>
            </a:r>
            <a:r>
              <a:rPr lang="en-US" altLang="ja-JP" sz="2800" dirty="0" smtClean="0"/>
              <a:t>("</a:t>
            </a:r>
            <a:r>
              <a:rPr lang="ja-JP" altLang="en-US" sz="2800" dirty="0" smtClean="0"/>
              <a:t>符号つきです。</a:t>
            </a:r>
            <a:r>
              <a:rPr lang="en-US" altLang="ja-JP" sz="2800" dirty="0" smtClean="0"/>
              <a:t>\n");</a:t>
            </a:r>
          </a:p>
          <a:p>
            <a:r>
              <a:rPr lang="en-US" altLang="ja-JP" sz="2800" dirty="0" smtClean="0"/>
              <a:t>  else</a:t>
            </a:r>
          </a:p>
          <a:p>
            <a:r>
              <a:rPr lang="en-US" altLang="ja-JP" sz="2800" dirty="0" smtClean="0"/>
              <a:t>    </a:t>
            </a:r>
            <a:r>
              <a:rPr lang="en-US" altLang="ja-JP" sz="2800" dirty="0" err="1" smtClean="0"/>
              <a:t>printf</a:t>
            </a:r>
            <a:r>
              <a:rPr lang="en-US" altLang="ja-JP" sz="2800" dirty="0" smtClean="0"/>
              <a:t>("</a:t>
            </a:r>
            <a:r>
              <a:rPr lang="ja-JP" altLang="en-US" sz="2800" dirty="0" smtClean="0"/>
              <a:t>符号無しです。</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整数型</a:t>
            </a:r>
            <a:endParaRPr kumimoji="1" lang="ja-JP" altLang="en-US" dirty="0"/>
          </a:p>
        </p:txBody>
      </p:sp>
      <p:sp>
        <p:nvSpPr>
          <p:cNvPr id="3" name="コンテンツ プレースホルダ 2"/>
          <p:cNvSpPr>
            <a:spLocks noGrp="1"/>
          </p:cNvSpPr>
          <p:nvPr>
            <p:ph idx="1"/>
          </p:nvPr>
        </p:nvSpPr>
        <p:spPr>
          <a:xfrm>
            <a:off x="642910" y="1571612"/>
            <a:ext cx="8229600" cy="4525963"/>
          </a:xfrm>
        </p:spPr>
        <p:txBody>
          <a:bodyPr>
            <a:normAutofit fontScale="92500" lnSpcReduction="10000"/>
          </a:bodyPr>
          <a:lstStyle/>
          <a:p>
            <a:pPr>
              <a:buNone/>
            </a:pPr>
            <a:r>
              <a:rPr lang="ja-JP" altLang="en-US" dirty="0" smtClean="0"/>
              <a:t>整数</a:t>
            </a:r>
            <a:r>
              <a:rPr kumimoji="1" lang="ja-JP" altLang="en-US" dirty="0" smtClean="0"/>
              <a:t>型は、結局、</a:t>
            </a:r>
            <a:endParaRPr lang="en-US" altLang="ja-JP" dirty="0" smtClean="0"/>
          </a:p>
          <a:p>
            <a:pPr lvl="1"/>
            <a:r>
              <a:rPr lang="en-US" altLang="ja-JP" dirty="0" smtClean="0"/>
              <a:t>signed char</a:t>
            </a:r>
            <a:r>
              <a:rPr lang="ja-JP" altLang="en-US" dirty="0" smtClean="0"/>
              <a:t>型</a:t>
            </a:r>
            <a:endParaRPr lang="en-US" altLang="ja-JP" dirty="0" smtClean="0"/>
          </a:p>
          <a:p>
            <a:pPr lvl="1"/>
            <a:r>
              <a:rPr lang="en-US" altLang="ja-JP" dirty="0" err="1" smtClean="0"/>
              <a:t>unsinged</a:t>
            </a:r>
            <a:r>
              <a:rPr lang="en-US" altLang="ja-JP" dirty="0" smtClean="0"/>
              <a:t> char</a:t>
            </a:r>
            <a:r>
              <a:rPr lang="ja-JP" altLang="en-US" dirty="0" smtClean="0"/>
              <a:t>型</a:t>
            </a:r>
            <a:endParaRPr lang="en-US" altLang="ja-JP" dirty="0" smtClean="0"/>
          </a:p>
          <a:p>
            <a:pPr lvl="1"/>
            <a:r>
              <a:rPr lang="en-US" altLang="ja-JP" dirty="0" smtClean="0"/>
              <a:t>signed short </a:t>
            </a:r>
            <a:r>
              <a:rPr lang="en-US" altLang="ja-JP" dirty="0" err="1" smtClean="0"/>
              <a:t>int</a:t>
            </a:r>
            <a:r>
              <a:rPr lang="ja-JP" altLang="en-US" dirty="0" smtClean="0"/>
              <a:t>型</a:t>
            </a:r>
            <a:endParaRPr lang="en-US" altLang="ja-JP" dirty="0" smtClean="0"/>
          </a:p>
          <a:p>
            <a:pPr lvl="1"/>
            <a:r>
              <a:rPr lang="en-US" altLang="ja-JP" dirty="0" smtClean="0"/>
              <a:t>unsigned short </a:t>
            </a:r>
            <a:r>
              <a:rPr lang="en-US" altLang="ja-JP" dirty="0" err="1" smtClean="0"/>
              <a:t>int</a:t>
            </a:r>
            <a:r>
              <a:rPr kumimoji="1" lang="ja-JP" altLang="en-US" dirty="0" smtClean="0"/>
              <a:t>型</a:t>
            </a:r>
            <a:endParaRPr kumimoji="1" lang="en-US" altLang="ja-JP" dirty="0" smtClean="0"/>
          </a:p>
          <a:p>
            <a:pPr lvl="1"/>
            <a:r>
              <a:rPr lang="en-US" altLang="ja-JP" dirty="0" smtClean="0"/>
              <a:t>signed </a:t>
            </a:r>
            <a:r>
              <a:rPr lang="en-US" altLang="ja-JP" dirty="0" err="1" smtClean="0"/>
              <a:t>int</a:t>
            </a:r>
            <a:r>
              <a:rPr lang="ja-JP" altLang="en-US" dirty="0" smtClean="0"/>
              <a:t>型</a:t>
            </a:r>
            <a:endParaRPr lang="en-US" altLang="ja-JP" dirty="0" smtClean="0"/>
          </a:p>
          <a:p>
            <a:pPr lvl="1"/>
            <a:r>
              <a:rPr lang="en-US" altLang="ja-JP" dirty="0" smtClean="0"/>
              <a:t>unsigned </a:t>
            </a:r>
            <a:r>
              <a:rPr lang="en-US" altLang="ja-JP" dirty="0" err="1" smtClean="0"/>
              <a:t>int</a:t>
            </a:r>
            <a:r>
              <a:rPr lang="en-US" altLang="ja-JP" dirty="0" smtClean="0"/>
              <a:t> </a:t>
            </a:r>
            <a:r>
              <a:rPr lang="ja-JP" altLang="en-US" dirty="0" smtClean="0"/>
              <a:t>型</a:t>
            </a:r>
            <a:endParaRPr lang="en-US" altLang="ja-JP" dirty="0" smtClean="0"/>
          </a:p>
          <a:p>
            <a:pPr lvl="1"/>
            <a:r>
              <a:rPr lang="en-US" altLang="ja-JP" dirty="0" smtClean="0"/>
              <a:t>signed long </a:t>
            </a:r>
            <a:r>
              <a:rPr lang="en-US" altLang="ja-JP" dirty="0" err="1" smtClean="0"/>
              <a:t>int</a:t>
            </a:r>
            <a:r>
              <a:rPr lang="ja-JP" altLang="en-US" dirty="0" smtClean="0"/>
              <a:t>型</a:t>
            </a:r>
            <a:endParaRPr lang="en-US" altLang="ja-JP" dirty="0" smtClean="0"/>
          </a:p>
          <a:p>
            <a:pPr lvl="1"/>
            <a:r>
              <a:rPr lang="en-US" altLang="ja-JP" dirty="0" smtClean="0"/>
              <a:t>unsigned long </a:t>
            </a:r>
            <a:r>
              <a:rPr lang="en-US" altLang="ja-JP" dirty="0" err="1" smtClean="0"/>
              <a:t>int</a:t>
            </a:r>
            <a:r>
              <a:rPr lang="ja-JP" altLang="en-US" dirty="0" smtClean="0"/>
              <a:t>型</a:t>
            </a:r>
            <a:endParaRPr lang="en-US" altLang="ja-JP" dirty="0" smtClean="0"/>
          </a:p>
          <a:p>
            <a:pPr>
              <a:buNone/>
            </a:pPr>
            <a:r>
              <a:rPr lang="ja-JP" altLang="en-US" dirty="0" smtClean="0"/>
              <a:t>の８個となる。</a:t>
            </a:r>
            <a:r>
              <a:rPr lang="en-US" altLang="ja-JP" dirty="0" smtClean="0"/>
              <a:t>(long  </a:t>
            </a:r>
            <a:r>
              <a:rPr lang="en-US" altLang="ja-JP" dirty="0" err="1" smtClean="0"/>
              <a:t>long</a:t>
            </a:r>
            <a:r>
              <a:rPr lang="en-US" altLang="ja-JP" dirty="0" smtClean="0"/>
              <a:t>  </a:t>
            </a:r>
            <a:r>
              <a:rPr lang="en-US" altLang="ja-JP" dirty="0" err="1" smtClean="0"/>
              <a:t>int</a:t>
            </a:r>
            <a:r>
              <a:rPr lang="ja-JP" altLang="en-US" dirty="0" smtClean="0"/>
              <a:t>を入れれば１０個。</a:t>
            </a:r>
            <a:r>
              <a:rPr lang="en-US" altLang="ja-JP" dirty="0" smtClean="0"/>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357166"/>
            <a:ext cx="8572560" cy="928694"/>
          </a:xfrm>
        </p:spPr>
        <p:txBody>
          <a:bodyPr>
            <a:normAutofit/>
          </a:bodyPr>
          <a:lstStyle/>
          <a:p>
            <a:r>
              <a:rPr kumimoji="1" lang="ja-JP" altLang="en-US" dirty="0" smtClean="0"/>
              <a:t>符号について</a:t>
            </a:r>
            <a:r>
              <a:rPr lang="ja-JP" altLang="en-US" dirty="0" smtClean="0"/>
              <a:t>（１）</a:t>
            </a:r>
            <a:endParaRPr kumimoji="1" lang="ja-JP" altLang="en-US" dirty="0"/>
          </a:p>
        </p:txBody>
      </p:sp>
      <p:sp>
        <p:nvSpPr>
          <p:cNvPr id="4" name="テキスト ボックス 3"/>
          <p:cNvSpPr txBox="1"/>
          <p:nvPr/>
        </p:nvSpPr>
        <p:spPr>
          <a:xfrm>
            <a:off x="714348" y="1643050"/>
            <a:ext cx="7786742" cy="1384995"/>
          </a:xfrm>
          <a:prstGeom prst="rect">
            <a:avLst/>
          </a:prstGeom>
          <a:noFill/>
        </p:spPr>
        <p:txBody>
          <a:bodyPr wrap="square" rtlCol="0">
            <a:spAutoFit/>
          </a:bodyPr>
          <a:lstStyle/>
          <a:p>
            <a:r>
              <a:rPr kumimoji="1" lang="ja-JP" altLang="en-US" sz="2800" dirty="0" smtClean="0"/>
              <a:t>符号無し整数型</a:t>
            </a:r>
            <a:r>
              <a:rPr kumimoji="1" lang="en-US" altLang="ja-JP" sz="2800" dirty="0" smtClean="0"/>
              <a:t>(unsigned char, </a:t>
            </a:r>
            <a:r>
              <a:rPr lang="en-US" altLang="ja-JP" sz="2800" dirty="0" smtClean="0"/>
              <a:t>unsigned short </a:t>
            </a:r>
            <a:r>
              <a:rPr lang="en-US" altLang="ja-JP" sz="2800" dirty="0" err="1" smtClean="0"/>
              <a:t>int</a:t>
            </a:r>
            <a:r>
              <a:rPr lang="en-US" altLang="ja-JP" sz="2800" dirty="0" smtClean="0"/>
              <a:t>,  unsigned </a:t>
            </a:r>
            <a:r>
              <a:rPr lang="en-US" altLang="ja-JP" sz="2800" dirty="0" err="1" smtClean="0"/>
              <a:t>int</a:t>
            </a:r>
            <a:r>
              <a:rPr lang="en-US" altLang="ja-JP" sz="2800" dirty="0" smtClean="0"/>
              <a:t>, unsigned long </a:t>
            </a:r>
            <a:r>
              <a:rPr lang="en-US" altLang="ja-JP" sz="2800" dirty="0" err="1" smtClean="0"/>
              <a:t>int</a:t>
            </a:r>
            <a:r>
              <a:rPr lang="en-US" altLang="ja-JP" sz="2800" dirty="0" smtClean="0"/>
              <a:t>)</a:t>
            </a:r>
            <a:r>
              <a:rPr lang="ja-JP" altLang="en-US" sz="2800" dirty="0" smtClean="0"/>
              <a:t>においては</a:t>
            </a:r>
            <a:r>
              <a:rPr kumimoji="1" lang="ja-JP" altLang="en-US" sz="2800" dirty="0" smtClean="0"/>
              <a:t>、ビット列を普通の２進数として解釈する。</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8229600" cy="582594"/>
          </a:xfrm>
        </p:spPr>
        <p:txBody>
          <a:bodyPr>
            <a:normAutofit fontScale="90000"/>
          </a:bodyPr>
          <a:lstStyle/>
          <a:p>
            <a:r>
              <a:rPr kumimoji="1" lang="ja-JP" altLang="en-US" dirty="0" smtClean="0"/>
              <a:t>符号について（２）</a:t>
            </a:r>
            <a:endParaRPr kumimoji="1" lang="ja-JP" altLang="en-US" dirty="0"/>
          </a:p>
        </p:txBody>
      </p:sp>
      <p:sp>
        <p:nvSpPr>
          <p:cNvPr id="5" name="正方形/長方形 4"/>
          <p:cNvSpPr/>
          <p:nvPr/>
        </p:nvSpPr>
        <p:spPr>
          <a:xfrm>
            <a:off x="571472" y="1357298"/>
            <a:ext cx="8143932" cy="4401205"/>
          </a:xfrm>
          <a:prstGeom prst="rect">
            <a:avLst/>
          </a:prstGeom>
        </p:spPr>
        <p:txBody>
          <a:bodyPr wrap="square">
            <a:spAutoFit/>
          </a:bodyPr>
          <a:lstStyle/>
          <a:p>
            <a:r>
              <a:rPr lang="ja-JP" altLang="en-US" sz="2800" dirty="0" smtClean="0">
                <a:solidFill>
                  <a:prstClr val="black"/>
                </a:solidFill>
              </a:rPr>
              <a:t>符号付き整数型</a:t>
            </a:r>
            <a:r>
              <a:rPr lang="en-US" altLang="ja-JP" sz="2800" dirty="0" smtClean="0">
                <a:solidFill>
                  <a:prstClr val="black"/>
                </a:solidFill>
              </a:rPr>
              <a:t>(signed char, signed short </a:t>
            </a:r>
            <a:r>
              <a:rPr lang="en-US" altLang="ja-JP" sz="2800" dirty="0" err="1" smtClean="0">
                <a:solidFill>
                  <a:prstClr val="black"/>
                </a:solidFill>
              </a:rPr>
              <a:t>int</a:t>
            </a:r>
            <a:r>
              <a:rPr lang="en-US" altLang="ja-JP" sz="2800" dirty="0" smtClean="0">
                <a:solidFill>
                  <a:prstClr val="black"/>
                </a:solidFill>
              </a:rPr>
              <a:t>, signed </a:t>
            </a:r>
            <a:r>
              <a:rPr lang="en-US" altLang="ja-JP" sz="2800" dirty="0" err="1" smtClean="0">
                <a:solidFill>
                  <a:prstClr val="black"/>
                </a:solidFill>
              </a:rPr>
              <a:t>int</a:t>
            </a:r>
            <a:r>
              <a:rPr lang="en-US" altLang="ja-JP" sz="2800" dirty="0" smtClean="0">
                <a:solidFill>
                  <a:prstClr val="black"/>
                </a:solidFill>
              </a:rPr>
              <a:t>,  signed long </a:t>
            </a:r>
            <a:r>
              <a:rPr lang="en-US" altLang="ja-JP" sz="2800" dirty="0" err="1" smtClean="0">
                <a:solidFill>
                  <a:prstClr val="black"/>
                </a:solidFill>
              </a:rPr>
              <a:t>int</a:t>
            </a:r>
            <a:r>
              <a:rPr lang="en-US" altLang="ja-JP" sz="2800" dirty="0" smtClean="0">
                <a:solidFill>
                  <a:prstClr val="black"/>
                </a:solidFill>
              </a:rPr>
              <a:t>,)</a:t>
            </a:r>
            <a:r>
              <a:rPr lang="ja-JP" altLang="en-US" sz="2800" dirty="0" smtClean="0">
                <a:solidFill>
                  <a:prstClr val="black"/>
                </a:solidFill>
              </a:rPr>
              <a:t>においては、符号を表すために１ビットを用いる（符号ビットという）。符号ビットが</a:t>
            </a:r>
            <a:r>
              <a:rPr lang="en-US" altLang="ja-JP" sz="2800" dirty="0" smtClean="0">
                <a:solidFill>
                  <a:prstClr val="black"/>
                </a:solidFill>
              </a:rPr>
              <a:t>0</a:t>
            </a:r>
            <a:r>
              <a:rPr lang="ja-JP" altLang="en-US" sz="2800" dirty="0" smtClean="0">
                <a:solidFill>
                  <a:prstClr val="black"/>
                </a:solidFill>
              </a:rPr>
              <a:t>の場合には、残りのビットを普通の２進数として解釈する。符号ビットが</a:t>
            </a:r>
            <a:r>
              <a:rPr lang="en-US" altLang="ja-JP" sz="2800" dirty="0" smtClean="0">
                <a:solidFill>
                  <a:prstClr val="black"/>
                </a:solidFill>
              </a:rPr>
              <a:t>1</a:t>
            </a:r>
            <a:r>
              <a:rPr lang="ja-JP" altLang="en-US" sz="2800" dirty="0" smtClean="0">
                <a:solidFill>
                  <a:prstClr val="black"/>
                </a:solidFill>
              </a:rPr>
              <a:t>の場合の解釈は以下の３通りのいずれかである（処理系依存）。</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符号ビットを</a:t>
            </a:r>
            <a:r>
              <a:rPr lang="en-US" altLang="ja-JP" sz="2800" dirty="0" smtClean="0">
                <a:solidFill>
                  <a:prstClr val="black"/>
                </a:solidFill>
              </a:rPr>
              <a:t>0</a:t>
            </a:r>
            <a:r>
              <a:rPr lang="ja-JP" altLang="en-US" sz="2800" dirty="0" smtClean="0">
                <a:solidFill>
                  <a:prstClr val="black"/>
                </a:solidFill>
              </a:rPr>
              <a:t>に変えた場合のビット列が表す数にマイナスを付けた数を表す</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２の補数表現</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１の補数表現</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例外について</a:t>
            </a:r>
            <a:endParaRPr kumimoji="1" lang="ja-JP" altLang="en-US" dirty="0"/>
          </a:p>
        </p:txBody>
      </p:sp>
      <p:sp>
        <p:nvSpPr>
          <p:cNvPr id="3" name="テキスト ボックス 2"/>
          <p:cNvSpPr txBox="1"/>
          <p:nvPr/>
        </p:nvSpPr>
        <p:spPr>
          <a:xfrm>
            <a:off x="1000100" y="1643050"/>
            <a:ext cx="7000925" cy="4401205"/>
          </a:xfrm>
          <a:prstGeom prst="rect">
            <a:avLst/>
          </a:prstGeom>
          <a:noFill/>
        </p:spPr>
        <p:txBody>
          <a:bodyPr wrap="square" rtlCol="0">
            <a:spAutoFit/>
          </a:bodyPr>
          <a:lstStyle/>
          <a:p>
            <a:r>
              <a:rPr kumimoji="1" lang="ja-JP" altLang="en-US" sz="2800" dirty="0" smtClean="0"/>
              <a:t>演算の結果が</a:t>
            </a:r>
            <a:r>
              <a:rPr lang="ja-JP" altLang="en-US" sz="2800" dirty="0" smtClean="0"/>
              <a:t>、表現可能な値の範囲を超える場合（</a:t>
            </a:r>
            <a:r>
              <a:rPr lang="en-US" altLang="ja-JP" sz="2800" dirty="0" smtClean="0"/>
              <a:t>overflow</a:t>
            </a:r>
            <a:r>
              <a:rPr lang="ja-JP" altLang="en-US" sz="2800" dirty="0" smtClean="0"/>
              <a:t>）や、</a:t>
            </a:r>
            <a:r>
              <a:rPr lang="en-US" altLang="ja-JP" sz="2800" dirty="0" smtClean="0"/>
              <a:t>0</a:t>
            </a:r>
            <a:r>
              <a:rPr lang="ja-JP" altLang="en-US" sz="2800" dirty="0" err="1" smtClean="0"/>
              <a:t>での</a:t>
            </a:r>
            <a:r>
              <a:rPr lang="ja-JP" altLang="en-US" sz="2800" dirty="0" smtClean="0"/>
              <a:t>除算などの場合、例外</a:t>
            </a:r>
            <a:r>
              <a:rPr lang="en-US" altLang="ja-JP" sz="2800" dirty="0" smtClean="0"/>
              <a:t>(exception)</a:t>
            </a:r>
            <a:r>
              <a:rPr lang="ja-JP" altLang="en-US" sz="2800" dirty="0" smtClean="0"/>
              <a:t>が発生する。</a:t>
            </a:r>
            <a:endParaRPr lang="en-US" altLang="ja-JP" sz="2800" dirty="0" smtClean="0"/>
          </a:p>
          <a:p>
            <a:r>
              <a:rPr kumimoji="1" lang="ja-JP" altLang="en-US" sz="2800" dirty="0" smtClean="0"/>
              <a:t>例外が発生したときの挙動は処理系によって異なる。</a:t>
            </a:r>
            <a:endParaRPr kumimoji="1" lang="en-US" altLang="ja-JP" sz="2800" dirty="0" smtClean="0"/>
          </a:p>
          <a:p>
            <a:endParaRPr lang="en-US" altLang="ja-JP" sz="2800" dirty="0" smtClean="0"/>
          </a:p>
          <a:p>
            <a:r>
              <a:rPr lang="ja-JP" altLang="en-US" sz="2800" dirty="0" smtClean="0"/>
              <a:t>ただし、符号無し整数型の演算では、表現可能な値の範囲を超えた場合、表現可能な最大値</a:t>
            </a:r>
            <a:r>
              <a:rPr lang="en-US" altLang="ja-JP" sz="2800" dirty="0" smtClean="0"/>
              <a:t>+1</a:t>
            </a:r>
            <a:r>
              <a:rPr lang="ja-JP" altLang="en-US" sz="2800" dirty="0" smtClean="0"/>
              <a:t>で割った余りになると定められている（のでオーバーフローは発生しない）。</a:t>
            </a:r>
            <a:endParaRPr lang="en-US" altLang="ja-JP" sz="28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文字について</a:t>
            </a:r>
            <a:endParaRPr kumimoji="1" lang="ja-JP" altLang="en-US" dirty="0"/>
          </a:p>
        </p:txBody>
      </p:sp>
      <p:sp>
        <p:nvSpPr>
          <p:cNvPr id="4" name="テキスト ボックス 3"/>
          <p:cNvSpPr txBox="1"/>
          <p:nvPr/>
        </p:nvSpPr>
        <p:spPr>
          <a:xfrm>
            <a:off x="642910" y="1357298"/>
            <a:ext cx="8001056" cy="954107"/>
          </a:xfrm>
          <a:prstGeom prst="rect">
            <a:avLst/>
          </a:prstGeom>
          <a:noFill/>
        </p:spPr>
        <p:txBody>
          <a:bodyPr wrap="square" rtlCol="0">
            <a:spAutoFit/>
          </a:bodyPr>
          <a:lstStyle/>
          <a:p>
            <a:r>
              <a:rPr lang="ja-JP" altLang="en-US" sz="2800" dirty="0" smtClean="0"/>
              <a:t>プログラム中では、１</a:t>
            </a:r>
            <a:r>
              <a:rPr kumimoji="1" lang="ja-JP" altLang="en-US" sz="2800" dirty="0" smtClean="0"/>
              <a:t>文字</a:t>
            </a:r>
            <a:r>
              <a:rPr lang="ja-JP" altLang="en-US" sz="2800" dirty="0" smtClean="0"/>
              <a:t>をクォートで囲むと、その文字に対応する</a:t>
            </a:r>
            <a:r>
              <a:rPr lang="en-US" altLang="ja-JP" sz="2800" dirty="0" err="1" smtClean="0"/>
              <a:t>int</a:t>
            </a:r>
            <a:r>
              <a:rPr lang="ja-JP" altLang="en-US" sz="2800" dirty="0" smtClean="0"/>
              <a:t>型の数</a:t>
            </a:r>
            <a:r>
              <a:rPr kumimoji="1" lang="ja-JP" altLang="en-US" sz="2800" dirty="0" smtClean="0"/>
              <a:t>を表す</a:t>
            </a:r>
            <a:r>
              <a:rPr lang="ja-JP" altLang="en-US" sz="2800" dirty="0" smtClean="0"/>
              <a:t>。</a:t>
            </a:r>
            <a:endParaRPr lang="en-US" altLang="ja-JP" sz="2800" dirty="0" smtClean="0"/>
          </a:p>
        </p:txBody>
      </p:sp>
      <p:sp>
        <p:nvSpPr>
          <p:cNvPr id="5" name="正方形/長方形 4"/>
          <p:cNvSpPr/>
          <p:nvPr/>
        </p:nvSpPr>
        <p:spPr>
          <a:xfrm>
            <a:off x="928662" y="3714752"/>
            <a:ext cx="7215238" cy="3046988"/>
          </a:xfrm>
          <a:prstGeom prst="rect">
            <a:avLst/>
          </a:prstGeom>
        </p:spPr>
        <p:txBody>
          <a:bodyPr wrap="square">
            <a:spAutoFit/>
          </a:bodyPr>
          <a:lstStyle/>
          <a:p>
            <a:r>
              <a:rPr lang="ja-JP" altLang="en-US" sz="2400" dirty="0" smtClean="0"/>
              <a:t>（補足）文字は</a:t>
            </a:r>
            <a:r>
              <a:rPr lang="en-US" altLang="ja-JP" sz="2400" dirty="0" smtClean="0"/>
              <a:t>char</a:t>
            </a:r>
            <a:r>
              <a:rPr lang="ja-JP" altLang="en-US" sz="2400" dirty="0" smtClean="0"/>
              <a:t>型で表すと無駄がないが、</a:t>
            </a:r>
            <a:r>
              <a:rPr lang="en-US" altLang="ja-JP" sz="2400" dirty="0" err="1" smtClean="0"/>
              <a:t>int</a:t>
            </a:r>
            <a:r>
              <a:rPr lang="ja-JP" altLang="en-US" sz="2400" dirty="0" smtClean="0"/>
              <a:t>型で表しておくと、例えばファイルから文字を１文字ずつ読み取って変数に代入する場合、ファイルの終端に来た時に</a:t>
            </a:r>
            <a:r>
              <a:rPr lang="en-US" altLang="ja-JP" sz="2400" dirty="0" smtClean="0"/>
              <a:t>EOF(</a:t>
            </a:r>
            <a:r>
              <a:rPr lang="en-US" altLang="ja-JP" sz="2400" dirty="0" err="1" smtClean="0"/>
              <a:t>int</a:t>
            </a:r>
            <a:r>
              <a:rPr lang="ja-JP" altLang="en-US" sz="2400" dirty="0" smtClean="0"/>
              <a:t>型、値はどの文字とも異なる。普通は</a:t>
            </a:r>
            <a:r>
              <a:rPr lang="en-US" altLang="ja-JP" sz="2400" dirty="0" smtClean="0"/>
              <a:t>-1</a:t>
            </a:r>
            <a:r>
              <a:rPr lang="ja-JP" altLang="en-US" sz="2400" dirty="0" err="1" smtClean="0"/>
              <a:t>。</a:t>
            </a:r>
            <a:r>
              <a:rPr lang="en-US" altLang="ja-JP" sz="2400" dirty="0" smtClean="0"/>
              <a:t>)</a:t>
            </a:r>
            <a:r>
              <a:rPr lang="ja-JP" altLang="en-US" sz="2400" dirty="0" smtClean="0"/>
              <a:t>が返され、それを変数に代入し、その値が</a:t>
            </a:r>
            <a:r>
              <a:rPr lang="en-US" altLang="ja-JP" sz="2400" dirty="0" smtClean="0"/>
              <a:t>EOF</a:t>
            </a:r>
            <a:r>
              <a:rPr lang="ja-JP" altLang="en-US" sz="2400" dirty="0" smtClean="0"/>
              <a:t>と等しいかどうか判定するといったプログラムを書けるというメリットがある。</a:t>
            </a:r>
            <a:endParaRPr lang="en-US" altLang="ja-JP" sz="2400" dirty="0" smtClean="0"/>
          </a:p>
          <a:p>
            <a:r>
              <a:rPr lang="ja-JP" altLang="en-US" sz="2400" dirty="0" smtClean="0"/>
              <a:t>（補足）文字列は</a:t>
            </a:r>
            <a:r>
              <a:rPr lang="en-US" altLang="ja-JP" sz="2400" dirty="0" smtClean="0"/>
              <a:t>char</a:t>
            </a:r>
            <a:r>
              <a:rPr lang="ja-JP" altLang="en-US" sz="2400" dirty="0" smtClean="0"/>
              <a:t>型の並びである（後述）。</a:t>
            </a:r>
            <a:endParaRPr lang="en-US" altLang="ja-JP" sz="2400" dirty="0" smtClean="0"/>
          </a:p>
        </p:txBody>
      </p:sp>
      <p:sp>
        <p:nvSpPr>
          <p:cNvPr id="6" name="正方形/長方形 5"/>
          <p:cNvSpPr/>
          <p:nvPr/>
        </p:nvSpPr>
        <p:spPr>
          <a:xfrm>
            <a:off x="714348" y="2329757"/>
            <a:ext cx="7786742" cy="1384995"/>
          </a:xfrm>
          <a:prstGeom prst="rect">
            <a:avLst/>
          </a:prstGeom>
        </p:spPr>
        <p:txBody>
          <a:bodyPr wrap="square">
            <a:spAutoFit/>
          </a:bodyPr>
          <a:lstStyle/>
          <a:p>
            <a:pPr lvl="0"/>
            <a:r>
              <a:rPr lang="ja-JP" altLang="en-US" sz="2800" dirty="0" smtClean="0">
                <a:solidFill>
                  <a:prstClr val="black"/>
                </a:solidFill>
              </a:rPr>
              <a:t>（例） </a:t>
            </a:r>
            <a:r>
              <a:rPr lang="en-US" altLang="ja-JP" sz="2800" dirty="0" smtClean="0">
                <a:solidFill>
                  <a:prstClr val="black"/>
                </a:solidFill>
              </a:rPr>
              <a:t>‘a’ </a:t>
            </a:r>
            <a:r>
              <a:rPr lang="ja-JP" altLang="en-US" sz="2800" dirty="0" smtClean="0">
                <a:solidFill>
                  <a:prstClr val="black"/>
                </a:solidFill>
              </a:rPr>
              <a:t>は</a:t>
            </a:r>
            <a:r>
              <a:rPr lang="en-US" altLang="ja-JP" sz="2800" dirty="0" smtClean="0">
                <a:solidFill>
                  <a:prstClr val="black"/>
                </a:solidFill>
              </a:rPr>
              <a:t>a</a:t>
            </a:r>
            <a:r>
              <a:rPr lang="ja-JP" altLang="en-US" sz="2800" dirty="0" smtClean="0">
                <a:solidFill>
                  <a:prstClr val="black"/>
                </a:solidFill>
              </a:rPr>
              <a:t>という文字に対応する</a:t>
            </a:r>
            <a:r>
              <a:rPr lang="en-US" altLang="ja-JP" sz="2800" dirty="0" err="1" smtClean="0">
                <a:solidFill>
                  <a:prstClr val="black"/>
                </a:solidFill>
              </a:rPr>
              <a:t>int</a:t>
            </a:r>
            <a:r>
              <a:rPr lang="ja-JP" altLang="en-US" sz="2800" dirty="0" smtClean="0">
                <a:solidFill>
                  <a:prstClr val="black"/>
                </a:solidFill>
              </a:rPr>
              <a:t>型の数を表す。（</a:t>
            </a:r>
            <a:r>
              <a:rPr lang="en-US" altLang="ja-JP" sz="2800" dirty="0" smtClean="0">
                <a:solidFill>
                  <a:prstClr val="black"/>
                </a:solidFill>
              </a:rPr>
              <a:t>char</a:t>
            </a:r>
            <a:r>
              <a:rPr lang="ja-JP" altLang="en-US" sz="2800" dirty="0" smtClean="0">
                <a:solidFill>
                  <a:prstClr val="black"/>
                </a:solidFill>
              </a:rPr>
              <a:t>型ではないことに注意。</a:t>
            </a:r>
            <a:r>
              <a:rPr lang="en-US" altLang="ja-JP" sz="2800" dirty="0" smtClean="0">
                <a:solidFill>
                  <a:prstClr val="black"/>
                </a:solidFill>
              </a:rPr>
              <a:t>C++</a:t>
            </a:r>
            <a:r>
              <a:rPr lang="ja-JP" altLang="en-US" sz="2800" dirty="0" smtClean="0">
                <a:solidFill>
                  <a:prstClr val="black"/>
                </a:solidFill>
              </a:rPr>
              <a:t>では</a:t>
            </a:r>
            <a:r>
              <a:rPr lang="en-US" altLang="ja-JP" sz="2800" dirty="0" smtClean="0">
                <a:solidFill>
                  <a:prstClr val="black"/>
                </a:solidFill>
              </a:rPr>
              <a:t>char</a:t>
            </a:r>
            <a:r>
              <a:rPr lang="ja-JP" altLang="en-US" sz="2800" dirty="0" smtClean="0">
                <a:solidFill>
                  <a:prstClr val="black"/>
                </a:solidFill>
              </a:rPr>
              <a:t>型だが。）演習室の環境では、</a:t>
            </a:r>
            <a:r>
              <a:rPr lang="en-US" altLang="ja-JP" sz="2800" dirty="0" smtClean="0">
                <a:solidFill>
                  <a:prstClr val="black"/>
                </a:solidFill>
              </a:rPr>
              <a:t>’a’</a:t>
            </a:r>
            <a:r>
              <a:rPr lang="ja-JP" altLang="en-US" sz="2800" dirty="0" smtClean="0">
                <a:solidFill>
                  <a:prstClr val="black"/>
                </a:solidFill>
              </a:rPr>
              <a:t>は</a:t>
            </a:r>
            <a:r>
              <a:rPr lang="en-US" altLang="ja-JP" sz="2800" dirty="0" err="1" smtClean="0">
                <a:solidFill>
                  <a:prstClr val="black"/>
                </a:solidFill>
              </a:rPr>
              <a:t>int</a:t>
            </a:r>
            <a:r>
              <a:rPr lang="ja-JP" altLang="en-US" sz="2800" dirty="0" smtClean="0">
                <a:solidFill>
                  <a:prstClr val="black"/>
                </a:solidFill>
              </a:rPr>
              <a:t>型の</a:t>
            </a:r>
            <a:r>
              <a:rPr lang="en-US" altLang="ja-JP" sz="2800" dirty="0" smtClean="0">
                <a:solidFill>
                  <a:prstClr val="black"/>
                </a:solidFill>
              </a:rPr>
              <a:t>97</a:t>
            </a:r>
            <a:r>
              <a:rPr lang="ja-JP" altLang="en-US" sz="2800" dirty="0" smtClean="0">
                <a:solidFill>
                  <a:prstClr val="black"/>
                </a:solidFill>
              </a:rPr>
              <a:t>を表す。</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1143000"/>
          </a:xfrm>
        </p:spPr>
        <p:txBody>
          <a:bodyPr>
            <a:normAutofit fontScale="90000"/>
          </a:bodyPr>
          <a:lstStyle/>
          <a:p>
            <a:r>
              <a:rPr lang="en-US" altLang="ja-JP" dirty="0" err="1" smtClean="0"/>
              <a:t>printf</a:t>
            </a:r>
            <a:r>
              <a:rPr lang="ja-JP" altLang="en-US" dirty="0" err="1" smtClean="0"/>
              <a:t>での</a:t>
            </a:r>
            <a:r>
              <a:rPr lang="ja-JP" altLang="en-US" dirty="0" smtClean="0"/>
              <a:t>文字の表示方法</a:t>
            </a:r>
            <a:r>
              <a:rPr lang="en-US" altLang="ja-JP" dirty="0" smtClean="0"/>
              <a:t/>
            </a:r>
            <a:br>
              <a:rPr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357158" y="1428736"/>
            <a:ext cx="8501122" cy="1200329"/>
          </a:xfrm>
          <a:prstGeom prst="rect">
            <a:avLst/>
          </a:prstGeom>
          <a:noFill/>
        </p:spPr>
        <p:txBody>
          <a:bodyPr wrap="square" rtlCol="0">
            <a:spAutoFit/>
          </a:bodyPr>
          <a:lstStyle/>
          <a:p>
            <a:r>
              <a:rPr lang="en-US" altLang="ja-JP" sz="2400" dirty="0" err="1" smtClean="0"/>
              <a:t>p</a:t>
            </a:r>
            <a:r>
              <a:rPr kumimoji="1" lang="en-US" altLang="ja-JP" sz="2400" dirty="0" err="1" smtClean="0"/>
              <a:t>rintf</a:t>
            </a:r>
            <a:r>
              <a:rPr kumimoji="1" lang="ja-JP" altLang="en-US" sz="2400" dirty="0" smtClean="0"/>
              <a:t>関数で文字</a:t>
            </a:r>
            <a:r>
              <a:rPr lang="ja-JP" altLang="en-US" sz="2400" dirty="0" smtClean="0"/>
              <a:t>を表示する場合、変換指定を</a:t>
            </a:r>
            <a:r>
              <a:rPr lang="en-US" altLang="ja-JP" sz="2400" dirty="0" smtClean="0"/>
              <a:t>%c</a:t>
            </a:r>
            <a:r>
              <a:rPr lang="ja-JP" altLang="en-US" sz="2400" dirty="0" smtClean="0"/>
              <a:t>にする。引数には</a:t>
            </a:r>
            <a:r>
              <a:rPr lang="en-US" altLang="ja-JP" sz="2400" dirty="0" err="1" smtClean="0"/>
              <a:t>int</a:t>
            </a:r>
            <a:r>
              <a:rPr lang="ja-JP" altLang="en-US" sz="2400" dirty="0" smtClean="0"/>
              <a:t>型を受け取り、それを</a:t>
            </a:r>
            <a:r>
              <a:rPr lang="en-US" altLang="ja-JP" sz="2400" dirty="0" smtClean="0"/>
              <a:t>unsigned char</a:t>
            </a:r>
            <a:r>
              <a:rPr lang="ja-JP" altLang="en-US" sz="2400" dirty="0" smtClean="0"/>
              <a:t>型に変換（</a:t>
            </a:r>
            <a:r>
              <a:rPr lang="en-US" altLang="ja-JP" sz="2400" dirty="0" smtClean="0"/>
              <a:t>256</a:t>
            </a:r>
            <a:r>
              <a:rPr lang="ja-JP" altLang="en-US" sz="2400" dirty="0" smtClean="0"/>
              <a:t>で割った（非負の）余りに変換）し、それに対応する文字を表示する。</a:t>
            </a:r>
            <a:endParaRPr kumimoji="1" lang="ja-JP" altLang="en-US" sz="2400" dirty="0"/>
          </a:p>
        </p:txBody>
      </p:sp>
      <p:sp>
        <p:nvSpPr>
          <p:cNvPr id="6" name="正方形/長方形 5"/>
          <p:cNvSpPr/>
          <p:nvPr/>
        </p:nvSpPr>
        <p:spPr>
          <a:xfrm>
            <a:off x="1142976" y="2786058"/>
            <a:ext cx="4143404" cy="3970318"/>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'a');</a:t>
            </a:r>
          </a:p>
          <a:p>
            <a:r>
              <a:rPr lang="en-US" altLang="ja-JP" sz="2800" dirty="0" smtClean="0"/>
              <a:t>  </a:t>
            </a:r>
            <a:r>
              <a:rPr lang="en-US" altLang="ja-JP" sz="2800" dirty="0" err="1" smtClean="0"/>
              <a:t>printf</a:t>
            </a:r>
            <a:r>
              <a:rPr lang="en-US" altLang="ja-JP" sz="2800" dirty="0" smtClean="0"/>
              <a:t> ("%d\n", 'a');</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return 0;</a:t>
            </a:r>
          </a:p>
          <a:p>
            <a:r>
              <a:rPr lang="en-US" altLang="ja-JP" sz="2800" dirty="0" smtClean="0"/>
              <a:t>}</a:t>
            </a:r>
            <a:endParaRPr lang="en-US" altLang="ja-JP" sz="2800" dirty="0"/>
          </a:p>
        </p:txBody>
      </p:sp>
      <p:sp>
        <p:nvSpPr>
          <p:cNvPr id="7" name="テキスト ボックス 6"/>
          <p:cNvSpPr txBox="1"/>
          <p:nvPr/>
        </p:nvSpPr>
        <p:spPr>
          <a:xfrm>
            <a:off x="5500694" y="3643314"/>
            <a:ext cx="2444900" cy="2677656"/>
          </a:xfrm>
          <a:prstGeom prst="rect">
            <a:avLst/>
          </a:prstGeom>
          <a:noFill/>
        </p:spPr>
        <p:txBody>
          <a:bodyPr wrap="none" rtlCol="0">
            <a:spAutoFit/>
          </a:bodyPr>
          <a:lstStyle/>
          <a:p>
            <a:r>
              <a:rPr kumimoji="1" lang="en-US" altLang="ja-JP" sz="2800" dirty="0" smtClean="0"/>
              <a:t>a</a:t>
            </a:r>
          </a:p>
          <a:p>
            <a:r>
              <a:rPr lang="en-US" altLang="ja-JP" sz="2800" dirty="0" smtClean="0"/>
              <a:t>97</a:t>
            </a:r>
          </a:p>
          <a:p>
            <a:r>
              <a:rPr lang="en-US" altLang="ja-JP" sz="2800" dirty="0" smtClean="0"/>
              <a:t>a</a:t>
            </a:r>
            <a:endParaRPr kumimoji="1" lang="en-US" altLang="ja-JP" sz="2800" dirty="0" smtClean="0"/>
          </a:p>
          <a:p>
            <a:r>
              <a:rPr lang="en-US" altLang="ja-JP" sz="2800" dirty="0" smtClean="0"/>
              <a:t>a</a:t>
            </a:r>
          </a:p>
          <a:p>
            <a:r>
              <a:rPr lang="en-US" altLang="ja-JP" sz="2800" dirty="0" smtClean="0"/>
              <a:t>a</a:t>
            </a:r>
            <a:endParaRPr kumimoji="1" lang="en-US" altLang="ja-JP" sz="2800" dirty="0" smtClean="0"/>
          </a:p>
          <a:p>
            <a:r>
              <a:rPr lang="ja-JP" altLang="en-US" sz="2800" dirty="0" smtClean="0"/>
              <a:t>が表示される。</a:t>
            </a:r>
            <a:endParaRPr lang="en-US" altLang="ja-JP" sz="28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17596"/>
          </a:xfrm>
        </p:spPr>
        <p:txBody>
          <a:bodyPr>
            <a:normAutofit/>
          </a:bodyPr>
          <a:lstStyle/>
          <a:p>
            <a:r>
              <a:rPr lang="ja-JP" altLang="en-US" dirty="0" smtClean="0"/>
              <a:t>文字の８進表記</a:t>
            </a:r>
            <a:endParaRPr kumimoji="1" lang="ja-JP" altLang="en-US" dirty="0"/>
          </a:p>
        </p:txBody>
      </p:sp>
      <p:sp>
        <p:nvSpPr>
          <p:cNvPr id="4" name="テキスト ボックス 3"/>
          <p:cNvSpPr txBox="1"/>
          <p:nvPr/>
        </p:nvSpPr>
        <p:spPr>
          <a:xfrm>
            <a:off x="928662" y="1071546"/>
            <a:ext cx="7215238" cy="5693866"/>
          </a:xfrm>
          <a:prstGeom prst="rect">
            <a:avLst/>
          </a:prstGeom>
          <a:noFill/>
        </p:spPr>
        <p:txBody>
          <a:bodyPr wrap="square" rtlCol="0">
            <a:spAutoFit/>
          </a:bodyPr>
          <a:lstStyle/>
          <a:p>
            <a:r>
              <a:rPr kumimoji="1" lang="ja-JP" altLang="en-US" sz="2800" dirty="0" smtClean="0"/>
              <a:t>ある文字に対応する数が分かっているとき、</a:t>
            </a:r>
            <a:r>
              <a:rPr lang="ja-JP" altLang="en-US" sz="2800" dirty="0" smtClean="0"/>
              <a:t>その数で直接書きたい場合がある。その時に使うのが文字の８進表記である。</a:t>
            </a:r>
            <a:endParaRPr lang="en-US" altLang="ja-JP" sz="2800" dirty="0" smtClean="0"/>
          </a:p>
          <a:p>
            <a:r>
              <a:rPr lang="ja-JP" altLang="en-US" sz="2800" dirty="0" smtClean="0"/>
              <a:t>たとえば、</a:t>
            </a:r>
            <a:r>
              <a:rPr lang="en-US" altLang="ja-JP" sz="2800" dirty="0" smtClean="0"/>
              <a:t>’a’</a:t>
            </a:r>
            <a:r>
              <a:rPr lang="ja-JP" altLang="en-US" sz="2800" dirty="0" smtClean="0"/>
              <a:t>と書く代りに、（演習室の環境では）</a:t>
            </a:r>
            <a:r>
              <a:rPr lang="en-US" altLang="ja-JP" sz="2800" dirty="0" smtClean="0"/>
              <a:t>’\141’</a:t>
            </a:r>
            <a:r>
              <a:rPr lang="ja-JP" altLang="en-US" sz="2800" dirty="0" smtClean="0"/>
              <a:t>と書くことができる。ただし、プログラムの可搬性が低下するので使わない方がよい。</a:t>
            </a:r>
            <a:endParaRPr lang="en-US" altLang="ja-JP" sz="2800" dirty="0" smtClean="0"/>
          </a:p>
          <a:p>
            <a:endParaRPr lang="en-US" altLang="ja-JP" sz="2800" dirty="0" smtClean="0"/>
          </a:p>
          <a:p>
            <a:r>
              <a:rPr lang="ja-JP" altLang="en-US" sz="2800" dirty="0" smtClean="0"/>
              <a:t>よく使うのは、ヌル文字を表す場合で、</a:t>
            </a:r>
            <a:r>
              <a:rPr lang="en-US" altLang="ja-JP" sz="2800" dirty="0" smtClean="0"/>
              <a:t>’\0’</a:t>
            </a:r>
            <a:r>
              <a:rPr lang="ja-JP" altLang="en-US" sz="2800" dirty="0" smtClean="0"/>
              <a:t>と書く。</a:t>
            </a:r>
            <a:r>
              <a:rPr lang="en-US" altLang="ja-JP" sz="2800" dirty="0" smtClean="0"/>
              <a:t>’\0’</a:t>
            </a:r>
            <a:r>
              <a:rPr lang="ja-JP" altLang="en-US" sz="2800" dirty="0" smtClean="0"/>
              <a:t>は、対応する数が</a:t>
            </a:r>
            <a:r>
              <a:rPr lang="en-US" altLang="ja-JP" sz="2800" dirty="0" smtClean="0"/>
              <a:t>0</a:t>
            </a:r>
            <a:r>
              <a:rPr lang="ja-JP" altLang="en-US" sz="2800" dirty="0" smtClean="0"/>
              <a:t>である文字（ヌル文字という）に対応する数（すなわち</a:t>
            </a:r>
            <a:r>
              <a:rPr lang="en-US" altLang="ja-JP" sz="2800" dirty="0" smtClean="0"/>
              <a:t>0</a:t>
            </a:r>
            <a:r>
              <a:rPr lang="ja-JP" altLang="en-US" sz="2800" dirty="0" smtClean="0"/>
              <a:t>）を表している。</a:t>
            </a:r>
            <a:r>
              <a:rPr lang="en-US" altLang="ja-JP" sz="2800" dirty="0" smtClean="0"/>
              <a:t>0</a:t>
            </a:r>
            <a:r>
              <a:rPr lang="ja-JP" altLang="en-US" sz="2800" dirty="0" smtClean="0"/>
              <a:t>と直接書いても同じ意味だが、</a:t>
            </a:r>
            <a:r>
              <a:rPr lang="en-US" altLang="ja-JP" sz="2800" dirty="0" smtClean="0"/>
              <a:t>0</a:t>
            </a:r>
            <a:r>
              <a:rPr lang="ja-JP" altLang="en-US" sz="2800" dirty="0" smtClean="0"/>
              <a:t>よりも</a:t>
            </a:r>
            <a:r>
              <a:rPr lang="en-US" altLang="ja-JP" sz="2800" dirty="0" smtClean="0"/>
              <a:t>’\0’</a:t>
            </a:r>
            <a:r>
              <a:rPr lang="ja-JP" altLang="en-US" sz="2800" dirty="0" smtClean="0"/>
              <a:t>の方が、文字を表している数だということが見た目に分かりやすい。</a:t>
            </a:r>
            <a:endParaRPr kumimoji="1" lang="ja-JP" alt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8</a:t>
            </a:r>
            <a:r>
              <a:rPr kumimoji="1" lang="ja-JP" altLang="en-US" dirty="0" smtClean="0"/>
              <a:t>進</a:t>
            </a:r>
            <a:r>
              <a:rPr lang="ja-JP" altLang="en-US" dirty="0" smtClean="0"/>
              <a:t>逆斜線</a:t>
            </a:r>
            <a:r>
              <a:rPr kumimoji="1" lang="ja-JP" altLang="en-US" dirty="0" smtClean="0"/>
              <a:t>表記の構文</a:t>
            </a:r>
            <a:endParaRPr kumimoji="1" lang="ja-JP" altLang="en-US" dirty="0"/>
          </a:p>
        </p:txBody>
      </p:sp>
      <p:sp>
        <p:nvSpPr>
          <p:cNvPr id="4" name="テキスト ボックス 3"/>
          <p:cNvSpPr txBox="1"/>
          <p:nvPr/>
        </p:nvSpPr>
        <p:spPr>
          <a:xfrm>
            <a:off x="3857620" y="1428736"/>
            <a:ext cx="1911549" cy="523220"/>
          </a:xfrm>
          <a:prstGeom prst="rect">
            <a:avLst/>
          </a:prstGeom>
          <a:solidFill>
            <a:srgbClr val="FFFF00"/>
          </a:solidFill>
          <a:ln>
            <a:solidFill>
              <a:schemeClr val="tx1"/>
            </a:solidFill>
          </a:ln>
        </p:spPr>
        <p:txBody>
          <a:bodyPr wrap="none" rtlCol="0">
            <a:spAutoFit/>
          </a:bodyPr>
          <a:lstStyle/>
          <a:p>
            <a:r>
              <a:rPr kumimoji="1" lang="en-US" altLang="ja-JP" sz="2800" dirty="0" smtClean="0"/>
              <a:t>\ octal-digit</a:t>
            </a:r>
          </a:p>
        </p:txBody>
      </p:sp>
      <p:sp>
        <p:nvSpPr>
          <p:cNvPr id="5" name="正方形/長方形 4"/>
          <p:cNvSpPr/>
          <p:nvPr/>
        </p:nvSpPr>
        <p:spPr>
          <a:xfrm>
            <a:off x="3902392" y="2214554"/>
            <a:ext cx="345569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endParaRPr lang="en-US" altLang="ja-JP" sz="2800" dirty="0" smtClean="0">
              <a:solidFill>
                <a:prstClr val="black"/>
              </a:solidFill>
            </a:endParaRPr>
          </a:p>
        </p:txBody>
      </p:sp>
      <p:sp>
        <p:nvSpPr>
          <p:cNvPr id="6" name="正方形/長方形 5"/>
          <p:cNvSpPr/>
          <p:nvPr/>
        </p:nvSpPr>
        <p:spPr>
          <a:xfrm>
            <a:off x="3857620" y="3000372"/>
            <a:ext cx="499983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r>
              <a:rPr lang="en-US" altLang="ja-JP" sz="2800" dirty="0" smtClean="0">
                <a:solidFill>
                  <a:prstClr val="black"/>
                </a:solidFill>
              </a:rPr>
              <a:t> octal-digit</a:t>
            </a:r>
          </a:p>
        </p:txBody>
      </p:sp>
      <p:sp>
        <p:nvSpPr>
          <p:cNvPr id="7" name="テキスト ボックス 6"/>
          <p:cNvSpPr txBox="1"/>
          <p:nvPr/>
        </p:nvSpPr>
        <p:spPr>
          <a:xfrm>
            <a:off x="389240" y="1428736"/>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進逆斜線表記の構文１</a:t>
            </a:r>
            <a:endParaRPr kumimoji="1" lang="ja-JP" altLang="en-US" sz="2400" dirty="0"/>
          </a:p>
        </p:txBody>
      </p:sp>
      <p:sp>
        <p:nvSpPr>
          <p:cNvPr id="8" name="テキスト ボックス 7"/>
          <p:cNvSpPr txBox="1"/>
          <p:nvPr/>
        </p:nvSpPr>
        <p:spPr>
          <a:xfrm>
            <a:off x="357158" y="2285992"/>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進逆斜線表記の構文２</a:t>
            </a:r>
            <a:endParaRPr kumimoji="1" lang="ja-JP" altLang="en-US" sz="2400" dirty="0"/>
          </a:p>
        </p:txBody>
      </p:sp>
      <p:sp>
        <p:nvSpPr>
          <p:cNvPr id="9" name="テキスト ボックス 8"/>
          <p:cNvSpPr txBox="1"/>
          <p:nvPr/>
        </p:nvSpPr>
        <p:spPr>
          <a:xfrm>
            <a:off x="389240" y="3000372"/>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進逆斜線表記の構文３</a:t>
            </a:r>
            <a:endParaRPr kumimoji="1" lang="ja-JP" altLang="en-US" sz="2400" dirty="0"/>
          </a:p>
        </p:txBody>
      </p:sp>
      <p:sp>
        <p:nvSpPr>
          <p:cNvPr id="10" name="テキスト ボックス 9"/>
          <p:cNvSpPr txBox="1"/>
          <p:nvPr/>
        </p:nvSpPr>
        <p:spPr>
          <a:xfrm>
            <a:off x="571472" y="3643314"/>
            <a:ext cx="8143932" cy="1200329"/>
          </a:xfrm>
          <a:prstGeom prst="rect">
            <a:avLst/>
          </a:prstGeom>
          <a:noFill/>
        </p:spPr>
        <p:txBody>
          <a:bodyPr wrap="square" rtlCol="0">
            <a:spAutoFit/>
          </a:bodyPr>
          <a:lstStyle/>
          <a:p>
            <a:r>
              <a:rPr kumimoji="1" lang="ja-JP" altLang="en-US" sz="2400" dirty="0" smtClean="0"/>
              <a:t>ただし、</a:t>
            </a:r>
            <a:r>
              <a:rPr kumimoji="1" lang="en-US" altLang="ja-JP" sz="2400" dirty="0" smtClean="0"/>
              <a:t>octal-digit</a:t>
            </a:r>
            <a:r>
              <a:rPr kumimoji="1" lang="ja-JP" altLang="en-US" sz="2400" dirty="0" smtClean="0"/>
              <a:t>は</a:t>
            </a:r>
            <a:r>
              <a:rPr kumimoji="1" lang="en-US" altLang="ja-JP" sz="2400" dirty="0" smtClean="0"/>
              <a:t>0 1 2 3 4 5 6 7</a:t>
            </a:r>
            <a:r>
              <a:rPr kumimoji="1" lang="ja-JP" altLang="en-US" sz="2400" dirty="0" smtClean="0"/>
              <a:t>のいずれかを表す。</a:t>
            </a:r>
            <a:endParaRPr kumimoji="1" lang="en-US" altLang="ja-JP" sz="2400" dirty="0" smtClean="0"/>
          </a:p>
          <a:p>
            <a:r>
              <a:rPr lang="ja-JP" altLang="en-US" sz="2400" dirty="0" smtClean="0"/>
              <a:t>つまり、バックスラッシュのあとに</a:t>
            </a:r>
            <a:r>
              <a:rPr lang="en-US" altLang="ja-JP" sz="2400" dirty="0" smtClean="0"/>
              <a:t>1</a:t>
            </a:r>
            <a:r>
              <a:rPr lang="ja-JP" altLang="en-US" sz="2400" dirty="0" smtClean="0"/>
              <a:t>桁から</a:t>
            </a:r>
            <a:r>
              <a:rPr lang="en-US" altLang="ja-JP" sz="2400" dirty="0" smtClean="0"/>
              <a:t>3</a:t>
            </a:r>
            <a:r>
              <a:rPr lang="ja-JP" altLang="en-US" sz="2400" dirty="0" smtClean="0"/>
              <a:t>桁の</a:t>
            </a:r>
            <a:r>
              <a:rPr lang="en-US" altLang="ja-JP" sz="2400" dirty="0" smtClean="0"/>
              <a:t>8</a:t>
            </a:r>
            <a:r>
              <a:rPr lang="ja-JP" altLang="en-US" sz="2400" dirty="0" smtClean="0"/>
              <a:t>進数を書いたものが</a:t>
            </a:r>
            <a:r>
              <a:rPr lang="en-US" altLang="ja-JP" sz="2400" dirty="0" smtClean="0"/>
              <a:t>8</a:t>
            </a:r>
            <a:r>
              <a:rPr lang="ja-JP" altLang="en-US" sz="2400" dirty="0" smtClean="0"/>
              <a:t>進逆斜線表記である。</a:t>
            </a:r>
            <a:endParaRPr kumimoji="1" lang="ja-JP" altLang="en-US" sz="2400" dirty="0"/>
          </a:p>
        </p:txBody>
      </p:sp>
      <p:sp>
        <p:nvSpPr>
          <p:cNvPr id="11" name="テキスト ボックス 10"/>
          <p:cNvSpPr txBox="1"/>
          <p:nvPr/>
        </p:nvSpPr>
        <p:spPr>
          <a:xfrm>
            <a:off x="428597" y="4786322"/>
            <a:ext cx="8143932" cy="1938992"/>
          </a:xfrm>
          <a:prstGeom prst="rect">
            <a:avLst/>
          </a:prstGeom>
          <a:noFill/>
        </p:spPr>
        <p:txBody>
          <a:bodyPr wrap="square" rtlCol="0">
            <a:spAutoFit/>
          </a:bodyPr>
          <a:lstStyle/>
          <a:p>
            <a:r>
              <a:rPr lang="en-US" altLang="ja-JP" sz="2400" dirty="0" smtClean="0"/>
              <a:t>8</a:t>
            </a:r>
            <a:r>
              <a:rPr kumimoji="1" lang="ja-JP" altLang="en-US" sz="2400" dirty="0" smtClean="0"/>
              <a:t>進逆斜線表記は</a:t>
            </a:r>
            <a:r>
              <a:rPr lang="ja-JP" altLang="en-US" sz="2400" dirty="0" smtClean="0"/>
              <a:t>クォートおよびダブルクォートの中でのみ用いる。</a:t>
            </a:r>
            <a:r>
              <a:rPr lang="en-US" altLang="ja-JP" sz="2400" dirty="0" smtClean="0"/>
              <a:t>8</a:t>
            </a:r>
            <a:r>
              <a:rPr lang="ja-JP" altLang="en-US" sz="2400" dirty="0" smtClean="0"/>
              <a:t>進逆斜線表記をクォートで囲んだとき、それは、その</a:t>
            </a:r>
            <a:r>
              <a:rPr lang="en-US" altLang="ja-JP" sz="2400" dirty="0" smtClean="0"/>
              <a:t>8</a:t>
            </a:r>
            <a:r>
              <a:rPr lang="ja-JP" altLang="en-US" sz="2400" dirty="0" smtClean="0"/>
              <a:t>進数の表している数</a:t>
            </a:r>
            <a:r>
              <a:rPr lang="en-US" altLang="ja-JP" sz="2400" dirty="0" smtClean="0"/>
              <a:t>(</a:t>
            </a:r>
            <a:r>
              <a:rPr lang="en-US" altLang="ja-JP" sz="2400" dirty="0" err="1" smtClean="0"/>
              <a:t>int</a:t>
            </a:r>
            <a:r>
              <a:rPr lang="ja-JP" altLang="en-US" sz="2400" dirty="0" smtClean="0"/>
              <a:t>型</a:t>
            </a:r>
            <a:r>
              <a:rPr lang="en-US" altLang="ja-JP" sz="2400" dirty="0" smtClean="0"/>
              <a:t>)</a:t>
            </a:r>
            <a:r>
              <a:rPr lang="ja-JP" altLang="en-US" sz="2400" dirty="0" smtClean="0"/>
              <a:t>を表す。つまり、文字を表すための数であるということを見た目に分かりやすくするために用意されている構文である。</a:t>
            </a:r>
            <a:endParaRPr kumimoji="1" lang="ja-JP" alt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変数への格納（打ち込んで確認）</a:t>
            </a:r>
            <a:endParaRPr kumimoji="1" lang="ja-JP" altLang="en-US" dirty="0"/>
          </a:p>
        </p:txBody>
      </p:sp>
      <p:sp>
        <p:nvSpPr>
          <p:cNvPr id="5" name="正方形/長方形 4"/>
          <p:cNvSpPr/>
          <p:nvPr/>
        </p:nvSpPr>
        <p:spPr>
          <a:xfrm>
            <a:off x="928662" y="1571612"/>
            <a:ext cx="3429024" cy="4832092"/>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x = 'a';</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x = x+1;</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4644008" y="1556792"/>
            <a:ext cx="4177604" cy="2677656"/>
          </a:xfrm>
          <a:prstGeom prst="rect">
            <a:avLst/>
          </a:prstGeom>
          <a:noFill/>
        </p:spPr>
        <p:txBody>
          <a:bodyPr wrap="square" rtlCol="0">
            <a:spAutoFit/>
          </a:bodyPr>
          <a:lstStyle/>
          <a:p>
            <a:r>
              <a:rPr kumimoji="1" lang="ja-JP" altLang="en-US" sz="2400" dirty="0" smtClean="0"/>
              <a:t>文字は</a:t>
            </a:r>
            <a:r>
              <a:rPr lang="ja-JP" altLang="en-US" sz="2400" dirty="0" smtClean="0"/>
              <a:t>よく</a:t>
            </a:r>
            <a:r>
              <a:rPr kumimoji="1" lang="en-US" altLang="ja-JP" sz="2400" dirty="0" err="1" smtClean="0"/>
              <a:t>int</a:t>
            </a:r>
            <a:r>
              <a:rPr kumimoji="1" lang="ja-JP" altLang="en-US" sz="2400" dirty="0" smtClean="0"/>
              <a:t>型の変数に格納</a:t>
            </a:r>
            <a:r>
              <a:rPr lang="ja-JP" altLang="en-US" sz="2400" dirty="0" smtClean="0"/>
              <a:t>される</a:t>
            </a:r>
            <a:r>
              <a:rPr kumimoji="1" lang="en-US" altLang="ja-JP" sz="2400" dirty="0" smtClean="0"/>
              <a:t>(EOF</a:t>
            </a:r>
            <a:r>
              <a:rPr kumimoji="1" lang="ja-JP" altLang="en-US" sz="2400" dirty="0" smtClean="0"/>
              <a:t>が格納できるようにするため</a:t>
            </a:r>
            <a:r>
              <a:rPr kumimoji="1" lang="en-US" altLang="ja-JP" sz="2400" dirty="0" smtClean="0"/>
              <a:t>)</a:t>
            </a:r>
            <a:r>
              <a:rPr kumimoji="1" lang="ja-JP" altLang="en-US" sz="2400" dirty="0" err="1" smtClean="0"/>
              <a:t>。</a:t>
            </a:r>
            <a:r>
              <a:rPr lang="ja-JP" altLang="en-US" sz="2400" dirty="0" smtClean="0"/>
              <a:t>もちろん</a:t>
            </a:r>
            <a:r>
              <a:rPr lang="en-US" altLang="ja-JP" sz="2400" dirty="0" smtClean="0"/>
              <a:t>char</a:t>
            </a:r>
            <a:r>
              <a:rPr lang="ja-JP" altLang="en-US" sz="2400" dirty="0" smtClean="0"/>
              <a:t>型の変数に入れてもよい。</a:t>
            </a:r>
            <a:endParaRPr kumimoji="1" lang="en-US" altLang="ja-JP" sz="2400" dirty="0" smtClean="0"/>
          </a:p>
          <a:p>
            <a:r>
              <a:rPr lang="ja-JP" altLang="en-US" sz="2400" dirty="0" smtClean="0"/>
              <a:t>ただしあとで説明するように、文字列は</a:t>
            </a:r>
            <a:r>
              <a:rPr lang="en-US" altLang="ja-JP" sz="2400" dirty="0" smtClean="0"/>
              <a:t>char</a:t>
            </a:r>
            <a:r>
              <a:rPr lang="ja-JP" altLang="en-US" sz="2400" dirty="0" smtClean="0"/>
              <a:t>型の配列に格納される。</a:t>
            </a:r>
            <a:endParaRPr kumimoji="1" lang="en-US" altLang="ja-JP" sz="2400" dirty="0" smtClean="0"/>
          </a:p>
        </p:txBody>
      </p:sp>
      <p:sp>
        <p:nvSpPr>
          <p:cNvPr id="7" name="正方形/長方形 6"/>
          <p:cNvSpPr/>
          <p:nvPr/>
        </p:nvSpPr>
        <p:spPr>
          <a:xfrm>
            <a:off x="4675358" y="4686235"/>
            <a:ext cx="3929090" cy="830997"/>
          </a:xfrm>
          <a:prstGeom prst="rect">
            <a:avLst/>
          </a:prstGeom>
        </p:spPr>
        <p:txBody>
          <a:bodyPr wrap="square">
            <a:spAutoFit/>
          </a:bodyPr>
          <a:lstStyle/>
          <a:p>
            <a:r>
              <a:rPr lang="en-US" altLang="ja-JP" sz="2400" dirty="0" smtClean="0"/>
              <a:t>1</a:t>
            </a:r>
            <a:r>
              <a:rPr lang="ja-JP" altLang="en-US" sz="2400" dirty="0" smtClean="0"/>
              <a:t>を足したものを</a:t>
            </a:r>
            <a:r>
              <a:rPr lang="en-US" altLang="ja-JP" sz="2400" dirty="0" smtClean="0"/>
              <a:t>%c</a:t>
            </a:r>
            <a:r>
              <a:rPr lang="ja-JP" altLang="en-US" sz="2400" dirty="0" smtClean="0"/>
              <a:t>で表示すると</a:t>
            </a:r>
            <a:r>
              <a:rPr lang="en-US" altLang="ja-JP" sz="2400" dirty="0" smtClean="0"/>
              <a:t>b</a:t>
            </a:r>
            <a:r>
              <a:rPr lang="ja-JP" altLang="en-US" sz="2400" dirty="0" smtClean="0"/>
              <a:t>が表示される。</a:t>
            </a:r>
            <a:endParaRPr lang="en-US" altLang="ja-JP" sz="24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整数型の範囲について</a:t>
            </a:r>
            <a:r>
              <a:rPr lang="en-US" altLang="ja-JP" dirty="0" smtClean="0"/>
              <a:t/>
            </a:r>
            <a:br>
              <a:rPr lang="en-US" altLang="ja-JP" dirty="0" smtClean="0"/>
            </a:br>
            <a:r>
              <a:rPr lang="ja-JP" altLang="en-US" dirty="0" smtClean="0"/>
              <a:t>（打ち込んで確認）</a:t>
            </a:r>
            <a:endParaRPr kumimoji="1" lang="ja-JP" altLang="en-US" dirty="0"/>
          </a:p>
        </p:txBody>
      </p:sp>
      <p:sp>
        <p:nvSpPr>
          <p:cNvPr id="5" name="テキスト ボックス 4"/>
          <p:cNvSpPr txBox="1"/>
          <p:nvPr/>
        </p:nvSpPr>
        <p:spPr>
          <a:xfrm>
            <a:off x="714348" y="1500174"/>
            <a:ext cx="7858180" cy="954107"/>
          </a:xfrm>
          <a:prstGeom prst="rect">
            <a:avLst/>
          </a:prstGeom>
          <a:noFill/>
        </p:spPr>
        <p:txBody>
          <a:bodyPr wrap="square" rtlCol="0">
            <a:spAutoFit/>
          </a:bodyPr>
          <a:lstStyle/>
          <a:p>
            <a:r>
              <a:rPr kumimoji="1" lang="en-US" altLang="ja-JP" sz="2800" dirty="0" smtClean="0"/>
              <a:t> C</a:t>
            </a:r>
            <a:r>
              <a:rPr kumimoji="1" lang="ja-JP" altLang="en-US" sz="2800" dirty="0" smtClean="0"/>
              <a:t>言語の処理系は、</a:t>
            </a:r>
            <a:r>
              <a:rPr kumimoji="1" lang="en-US" altLang="ja-JP" sz="2800" dirty="0" err="1" smtClean="0"/>
              <a:t>limits.h</a:t>
            </a:r>
            <a:r>
              <a:rPr lang="ja-JP" altLang="en-US" sz="2800" dirty="0" smtClean="0"/>
              <a:t>において、</a:t>
            </a:r>
            <a:r>
              <a:rPr kumimoji="1" lang="ja-JP" altLang="en-US" sz="2800" dirty="0" smtClean="0"/>
              <a:t>それぞれの型の最大値、最小値をマクロ</a:t>
            </a:r>
            <a:r>
              <a:rPr lang="ja-JP" altLang="en-US" sz="2800" dirty="0" smtClean="0"/>
              <a:t>として提供する。</a:t>
            </a:r>
            <a:endParaRPr kumimoji="1" lang="ja-JP" altLang="en-US" sz="2800" dirty="0"/>
          </a:p>
        </p:txBody>
      </p:sp>
      <p:sp>
        <p:nvSpPr>
          <p:cNvPr id="6" name="テキスト ボックス 5"/>
          <p:cNvSpPr txBox="1"/>
          <p:nvPr/>
        </p:nvSpPr>
        <p:spPr>
          <a:xfrm>
            <a:off x="500034" y="2643182"/>
            <a:ext cx="8406468" cy="3416320"/>
          </a:xfrm>
          <a:prstGeom prst="rect">
            <a:avLst/>
          </a:prstGeom>
          <a:noFill/>
          <a:ln>
            <a:solidFill>
              <a:schemeClr val="tx1"/>
            </a:solidFill>
          </a:ln>
        </p:spPr>
        <p:txBody>
          <a:bodyPr wrap="non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limits.h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("char   : %d</a:t>
            </a:r>
            <a:r>
              <a:rPr lang="ja-JP" altLang="en-US" sz="2400" dirty="0" smtClean="0"/>
              <a:t>から</a:t>
            </a:r>
            <a:r>
              <a:rPr lang="en-US" altLang="ja-JP" sz="2400" dirty="0" smtClean="0"/>
              <a:t>%d</a:t>
            </a:r>
            <a:r>
              <a:rPr lang="ja-JP" altLang="en-US" sz="2400" dirty="0" smtClean="0"/>
              <a:t>まで</a:t>
            </a:r>
            <a:r>
              <a:rPr lang="en-US" altLang="ja-JP" sz="2400" dirty="0" smtClean="0"/>
              <a:t>\n", CHAR_MIN, CHAR_MAX);</a:t>
            </a:r>
          </a:p>
          <a:p>
            <a:r>
              <a:rPr lang="en-US" altLang="ja-JP" sz="2400" dirty="0" smtClean="0"/>
              <a:t>  </a:t>
            </a:r>
            <a:r>
              <a:rPr lang="en-US" altLang="ja-JP" sz="2400" dirty="0" err="1" smtClean="0"/>
              <a:t>printf</a:t>
            </a:r>
            <a:r>
              <a:rPr lang="en-US" altLang="ja-JP" sz="2400" dirty="0" smtClean="0"/>
              <a:t> (“short </a:t>
            </a:r>
            <a:r>
              <a:rPr lang="ja-JP" altLang="en-US"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SHRT_MIN, SHRT_MAX);</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INT_MIN, INT_MAX);</a:t>
            </a:r>
          </a:p>
          <a:p>
            <a:r>
              <a:rPr lang="en-US" altLang="ja-JP" sz="2400" dirty="0" smtClean="0"/>
              <a:t>  </a:t>
            </a:r>
            <a:r>
              <a:rPr lang="en-US" altLang="ja-JP" sz="2400" dirty="0" err="1" smtClean="0"/>
              <a:t>printf</a:t>
            </a:r>
            <a:r>
              <a:rPr lang="en-US" altLang="ja-JP" sz="2400" dirty="0" smtClean="0"/>
              <a:t> ("long  </a:t>
            </a:r>
            <a:r>
              <a:rPr lang="en-US" altLang="ja-JP" sz="2400" dirty="0" err="1" smtClean="0"/>
              <a:t>int</a:t>
            </a:r>
            <a:r>
              <a:rPr lang="en-US" altLang="ja-JP" sz="2400" dirty="0" smtClean="0"/>
              <a:t>  : %ld</a:t>
            </a:r>
            <a:r>
              <a:rPr lang="ja-JP" altLang="en-US" sz="2400" dirty="0" smtClean="0"/>
              <a:t>から</a:t>
            </a:r>
            <a:r>
              <a:rPr lang="en-US" altLang="ja-JP" sz="2400" dirty="0" smtClean="0"/>
              <a:t>%ld</a:t>
            </a:r>
            <a:r>
              <a:rPr lang="ja-JP" altLang="en-US" sz="2400" dirty="0" smtClean="0"/>
              <a:t>まで</a:t>
            </a:r>
            <a:r>
              <a:rPr lang="en-US" altLang="ja-JP" sz="2400" dirty="0" smtClean="0"/>
              <a:t>\n", LONG_MIN, LONG_MAX);</a:t>
            </a:r>
          </a:p>
          <a:p>
            <a:r>
              <a:rPr lang="en-US" altLang="ja-JP" sz="2400" dirty="0" smtClean="0"/>
              <a:t>  return 0;</a:t>
            </a:r>
          </a:p>
          <a:p>
            <a:r>
              <a:rPr lang="en-US" altLang="ja-JP" sz="2400" dirty="0" smtClean="0"/>
              <a:t>}</a:t>
            </a:r>
            <a:endParaRPr lang="en-US" altLang="ja-JP" sz="2400" dirty="0"/>
          </a:p>
        </p:txBody>
      </p:sp>
      <p:sp>
        <p:nvSpPr>
          <p:cNvPr id="7" name="テキスト ボックス 6"/>
          <p:cNvSpPr txBox="1"/>
          <p:nvPr/>
        </p:nvSpPr>
        <p:spPr>
          <a:xfrm>
            <a:off x="928662" y="6215082"/>
            <a:ext cx="5939318" cy="523220"/>
          </a:xfrm>
          <a:prstGeom prst="rect">
            <a:avLst/>
          </a:prstGeom>
          <a:noFill/>
        </p:spPr>
        <p:txBody>
          <a:bodyPr wrap="none" rtlCol="0">
            <a:spAutoFit/>
          </a:bodyPr>
          <a:lstStyle/>
          <a:p>
            <a:r>
              <a:rPr lang="en-US" altLang="ja-JP" sz="2800" dirty="0" smtClean="0"/>
              <a:t> long </a:t>
            </a:r>
            <a:r>
              <a:rPr lang="en-US" altLang="ja-JP" sz="2800" dirty="0" err="1" smtClean="0"/>
              <a:t>int</a:t>
            </a:r>
            <a:r>
              <a:rPr lang="ja-JP" altLang="en-US" sz="2800" dirty="0" smtClean="0"/>
              <a:t>の変換指定には</a:t>
            </a:r>
            <a:r>
              <a:rPr lang="en-US" altLang="ja-JP" sz="2800" dirty="0" smtClean="0"/>
              <a:t>%ld</a:t>
            </a:r>
            <a:r>
              <a:rPr lang="ja-JP" altLang="en-US" sz="2800" dirty="0" smtClean="0"/>
              <a:t>を用いる。</a:t>
            </a:r>
            <a:endParaRPr kumimoji="1" lang="ja-JP" altLang="en-US" sz="2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整数型のまとめ</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整数型はある一定の範囲の整数を表現するための型である。</a:t>
            </a:r>
            <a:endParaRPr kumimoji="1" lang="en-US" altLang="ja-JP" dirty="0" smtClean="0"/>
          </a:p>
          <a:p>
            <a:r>
              <a:rPr lang="ja-JP" altLang="en-US" dirty="0" smtClean="0"/>
              <a:t>扱う数値が負にならないことが分かっていれば、符号無しの型を使うと、同じビット数で、より大きな範囲の数を扱うことができる。</a:t>
            </a:r>
            <a:endParaRPr lang="en-US" altLang="ja-JP"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浮動小数点型</a:t>
            </a:r>
            <a:endParaRPr kumimoji="1" lang="ja-JP" altLang="en-US" dirty="0"/>
          </a:p>
        </p:txBody>
      </p:sp>
      <p:sp>
        <p:nvSpPr>
          <p:cNvPr id="4" name="コンテンツ プレースホルダ 2"/>
          <p:cNvSpPr>
            <a:spLocks noGrp="1"/>
          </p:cNvSpPr>
          <p:nvPr>
            <p:ph idx="1"/>
          </p:nvPr>
        </p:nvSpPr>
        <p:spPr>
          <a:xfrm>
            <a:off x="457200" y="1600201"/>
            <a:ext cx="8258204" cy="2757493"/>
          </a:xfrm>
        </p:spPr>
        <p:txBody>
          <a:bodyPr>
            <a:normAutofit/>
          </a:bodyPr>
          <a:lstStyle/>
          <a:p>
            <a:pPr>
              <a:buNone/>
            </a:pPr>
            <a:r>
              <a:rPr kumimoji="1" lang="ja-JP" altLang="en-US" dirty="0" smtClean="0"/>
              <a:t>浮動小数点型は小数を表すための型であり、</a:t>
            </a:r>
            <a:endParaRPr kumimoji="1" lang="en-US" altLang="ja-JP" dirty="0" smtClean="0"/>
          </a:p>
          <a:p>
            <a:pPr lvl="1"/>
            <a:r>
              <a:rPr lang="en-US" altLang="ja-JP" dirty="0" smtClean="0"/>
              <a:t>float</a:t>
            </a:r>
            <a:r>
              <a:rPr lang="ja-JP" altLang="en-US" dirty="0" smtClean="0"/>
              <a:t>型</a:t>
            </a:r>
            <a:endParaRPr lang="en-US" altLang="ja-JP" dirty="0" smtClean="0"/>
          </a:p>
          <a:p>
            <a:pPr lvl="1"/>
            <a:r>
              <a:rPr lang="en-US" altLang="ja-JP" dirty="0" smtClean="0"/>
              <a:t>double</a:t>
            </a:r>
            <a:r>
              <a:rPr kumimoji="1" lang="ja-JP" altLang="en-US" dirty="0" smtClean="0"/>
              <a:t>型</a:t>
            </a:r>
            <a:endParaRPr kumimoji="1" lang="en-US" altLang="ja-JP" dirty="0" smtClean="0"/>
          </a:p>
          <a:p>
            <a:pPr lvl="1"/>
            <a:r>
              <a:rPr lang="en-US" altLang="ja-JP" dirty="0" smtClean="0"/>
              <a:t>long double</a:t>
            </a:r>
            <a:r>
              <a:rPr lang="ja-JP" altLang="en-US" dirty="0" smtClean="0"/>
              <a:t>型</a:t>
            </a:r>
            <a:endParaRPr lang="en-US" altLang="ja-JP" dirty="0" smtClean="0"/>
          </a:p>
          <a:p>
            <a:pPr>
              <a:buNone/>
            </a:pPr>
            <a:r>
              <a:rPr lang="ja-JP" altLang="en-US" dirty="0" smtClean="0"/>
              <a:t>の３つがある。今回は詳しくは説明しない。</a:t>
            </a:r>
            <a:endParaRPr lang="en-US" altLang="ja-JP"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文字列とは（１）</a:t>
            </a:r>
            <a:endParaRPr kumimoji="1" lang="ja-JP" altLang="en-US" dirty="0"/>
          </a:p>
        </p:txBody>
      </p:sp>
      <p:sp>
        <p:nvSpPr>
          <p:cNvPr id="4" name="テキスト ボックス 3"/>
          <p:cNvSpPr txBox="1"/>
          <p:nvPr/>
        </p:nvSpPr>
        <p:spPr>
          <a:xfrm>
            <a:off x="748753" y="1214422"/>
            <a:ext cx="7680899" cy="1569660"/>
          </a:xfrm>
          <a:prstGeom prst="rect">
            <a:avLst/>
          </a:prstGeom>
          <a:noFill/>
        </p:spPr>
        <p:txBody>
          <a:bodyPr wrap="square" rtlCol="0">
            <a:spAutoFit/>
          </a:bodyPr>
          <a:lstStyle/>
          <a:p>
            <a:r>
              <a:rPr lang="ja-JP" altLang="en-US" sz="2400" dirty="0" smtClean="0">
                <a:latin typeface="+mn-ea"/>
              </a:rPr>
              <a:t>文字</a:t>
            </a:r>
            <a:r>
              <a:rPr lang="en-US" altLang="ja-JP" sz="2400" dirty="0" smtClean="0">
                <a:latin typeface="+mn-ea"/>
              </a:rPr>
              <a:t>(char</a:t>
            </a:r>
            <a:r>
              <a:rPr lang="ja-JP" altLang="en-US" sz="2400" dirty="0" smtClean="0">
                <a:latin typeface="+mn-ea"/>
              </a:rPr>
              <a:t>型</a:t>
            </a:r>
            <a:r>
              <a:rPr lang="en-US" altLang="ja-JP" sz="2400" dirty="0" smtClean="0">
                <a:latin typeface="+mn-ea"/>
              </a:rPr>
              <a:t>)</a:t>
            </a:r>
            <a:r>
              <a:rPr lang="ja-JP" altLang="en-US" sz="2400" dirty="0" smtClean="0">
                <a:latin typeface="+mn-ea"/>
              </a:rPr>
              <a:t>の並びであって、</a:t>
            </a:r>
            <a:r>
              <a:rPr lang="en-US" altLang="ja-JP" sz="2400" dirty="0" smtClean="0">
                <a:latin typeface="+mn-ea"/>
              </a:rPr>
              <a:t>‘\0’(</a:t>
            </a:r>
            <a:r>
              <a:rPr lang="ja-JP" altLang="en-US" sz="2400" dirty="0" smtClean="0">
                <a:latin typeface="+mn-ea"/>
              </a:rPr>
              <a:t>ヌル文字 </a:t>
            </a:r>
            <a:r>
              <a:rPr lang="en-US" altLang="ja-JP" sz="2400" dirty="0" smtClean="0">
                <a:latin typeface="+mn-ea"/>
              </a:rPr>
              <a:t>null character</a:t>
            </a:r>
            <a:r>
              <a:rPr lang="ja-JP" altLang="en-US" sz="2400" dirty="0" err="1" smtClean="0">
                <a:latin typeface="+mn-ea"/>
              </a:rPr>
              <a:t>、</a:t>
            </a:r>
            <a:r>
              <a:rPr lang="ja-JP" altLang="en-US" sz="2400" dirty="0" smtClean="0">
                <a:latin typeface="+mn-ea"/>
              </a:rPr>
              <a:t>値は</a:t>
            </a:r>
            <a:r>
              <a:rPr lang="en-US" altLang="ja-JP" sz="2400" dirty="0" smtClean="0">
                <a:latin typeface="+mn-ea"/>
              </a:rPr>
              <a:t>0</a:t>
            </a:r>
            <a:r>
              <a:rPr lang="ja-JP" altLang="en-US" sz="2400" dirty="0" err="1" smtClean="0">
                <a:latin typeface="+mn-ea"/>
              </a:rPr>
              <a:t>。</a:t>
            </a:r>
            <a:r>
              <a:rPr lang="ja-JP" altLang="en-US" sz="2400" dirty="0" smtClean="0">
                <a:latin typeface="+mn-ea"/>
              </a:rPr>
              <a:t>ナル文字と読む場合もある。</a:t>
            </a:r>
            <a:r>
              <a:rPr lang="en-US" altLang="ja-JP" sz="2400" dirty="0" smtClean="0">
                <a:latin typeface="+mn-ea"/>
              </a:rPr>
              <a:t>)</a:t>
            </a:r>
            <a:r>
              <a:rPr lang="ja-JP" altLang="en-US" sz="2400" dirty="0" err="1" smtClean="0">
                <a:latin typeface="+mn-ea"/>
              </a:rPr>
              <a:t>までを</a:t>
            </a:r>
            <a:r>
              <a:rPr lang="ja-JP" altLang="en-US" sz="2400" dirty="0" smtClean="0">
                <a:latin typeface="+mn-ea"/>
              </a:rPr>
              <a:t>文字列と呼んでいる。（</a:t>
            </a:r>
            <a:r>
              <a:rPr lang="en-US" altLang="ja-JP" sz="2400" dirty="0" smtClean="0">
                <a:latin typeface="+mn-ea"/>
              </a:rPr>
              <a:t>’L’</a:t>
            </a:r>
            <a:r>
              <a:rPr lang="ja-JP" altLang="en-US" sz="2400" dirty="0" smtClean="0">
                <a:latin typeface="+mn-ea"/>
              </a:rPr>
              <a:t>や</a:t>
            </a:r>
            <a:r>
              <a:rPr lang="en-US" altLang="ja-JP" sz="2400" dirty="0" smtClean="0">
                <a:latin typeface="+mn-ea"/>
              </a:rPr>
              <a:t>’\0’</a:t>
            </a:r>
            <a:r>
              <a:rPr lang="ja-JP" altLang="en-US" sz="2400" dirty="0" smtClean="0">
                <a:latin typeface="+mn-ea"/>
              </a:rPr>
              <a:t>などは</a:t>
            </a:r>
            <a:r>
              <a:rPr lang="en-US" altLang="ja-JP" sz="2400" dirty="0" err="1" smtClean="0">
                <a:latin typeface="+mn-ea"/>
              </a:rPr>
              <a:t>int</a:t>
            </a:r>
            <a:r>
              <a:rPr lang="ja-JP" altLang="en-US" sz="2400" dirty="0" smtClean="0">
                <a:latin typeface="+mn-ea"/>
              </a:rPr>
              <a:t>型だが、</a:t>
            </a:r>
            <a:r>
              <a:rPr lang="en-US" altLang="ja-JP" sz="2400" dirty="0" smtClean="0">
                <a:latin typeface="+mn-ea"/>
              </a:rPr>
              <a:t>char</a:t>
            </a:r>
            <a:r>
              <a:rPr lang="ja-JP" altLang="en-US" sz="2400" dirty="0" smtClean="0">
                <a:latin typeface="+mn-ea"/>
              </a:rPr>
              <a:t>型に変換されていると思って読んでください）</a:t>
            </a:r>
            <a:endParaRPr kumimoji="1" lang="ja-JP" altLang="en-US" sz="2400" dirty="0">
              <a:latin typeface="+mn-ea"/>
            </a:endParaRPr>
          </a:p>
        </p:txBody>
      </p:sp>
      <p:graphicFrame>
        <p:nvGraphicFramePr>
          <p:cNvPr id="6" name="表 5"/>
          <p:cNvGraphicFramePr>
            <a:graphicFrameLocks noGrp="1"/>
          </p:cNvGraphicFramePr>
          <p:nvPr/>
        </p:nvGraphicFramePr>
        <p:xfrm>
          <a:off x="1285852" y="2969653"/>
          <a:ext cx="4959840" cy="709610"/>
        </p:xfrm>
        <a:graphic>
          <a:graphicData uri="http://schemas.openxmlformats.org/drawingml/2006/table">
            <a:tbl>
              <a:tblPr firstRow="1" bandRow="1">
                <a:tableStyleId>{00A15C55-8517-42AA-B614-E9B94910E393}</a:tableStyleId>
              </a:tblPr>
              <a:tblGrid>
                <a:gridCol w="826640"/>
                <a:gridCol w="826640"/>
                <a:gridCol w="826640"/>
                <a:gridCol w="826640"/>
                <a:gridCol w="826640"/>
                <a:gridCol w="826640"/>
              </a:tblGrid>
              <a:tr h="70961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8" name="表 7"/>
          <p:cNvGraphicFramePr>
            <a:graphicFrameLocks noGrp="1"/>
          </p:cNvGraphicFramePr>
          <p:nvPr/>
        </p:nvGraphicFramePr>
        <p:xfrm>
          <a:off x="1285854" y="3898347"/>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0" name="表 9"/>
          <p:cNvGraphicFramePr>
            <a:graphicFrameLocks noGrp="1"/>
          </p:cNvGraphicFramePr>
          <p:nvPr/>
        </p:nvGraphicFramePr>
        <p:xfrm>
          <a:off x="1285852" y="4898479"/>
          <a:ext cx="6643736" cy="70961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gridCol w="830467"/>
              </a:tblGrid>
              <a:tr h="709610">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テキスト ボックス 10"/>
          <p:cNvSpPr txBox="1"/>
          <p:nvPr/>
        </p:nvSpPr>
        <p:spPr>
          <a:xfrm>
            <a:off x="971600" y="5910371"/>
            <a:ext cx="7100862" cy="830997"/>
          </a:xfrm>
          <a:prstGeom prst="rect">
            <a:avLst/>
          </a:prstGeom>
          <a:noFill/>
        </p:spPr>
        <p:txBody>
          <a:bodyPr wrap="square" rtlCol="0">
            <a:spAutoFit/>
          </a:bodyPr>
          <a:lstStyle/>
          <a:p>
            <a:r>
              <a:rPr kumimoji="1" lang="ja-JP" altLang="en-US" sz="2400" dirty="0" smtClean="0"/>
              <a:t>これらは文字</a:t>
            </a:r>
            <a:r>
              <a:rPr kumimoji="1" lang="en-US" altLang="ja-JP" sz="2400" dirty="0" smtClean="0"/>
              <a:t>(char</a:t>
            </a:r>
            <a:r>
              <a:rPr kumimoji="1" lang="ja-JP" altLang="en-US" sz="2400" dirty="0" smtClean="0"/>
              <a:t>型</a:t>
            </a:r>
            <a:r>
              <a:rPr kumimoji="1" lang="en-US" altLang="ja-JP" sz="2400" dirty="0" smtClean="0"/>
              <a:t>)</a:t>
            </a:r>
            <a:r>
              <a:rPr kumimoji="1" lang="ja-JP" altLang="en-US" sz="2400" dirty="0" smtClean="0"/>
              <a:t>の並びである。</a:t>
            </a:r>
            <a:r>
              <a:rPr lang="ja-JP" altLang="en-US" sz="2400" dirty="0" smtClean="0"/>
              <a:t>文字列は、文字の並びの中で、</a:t>
            </a:r>
            <a:r>
              <a:rPr lang="en-US" altLang="ja-JP" sz="2400" dirty="0" smtClean="0"/>
              <a:t>’\0’</a:t>
            </a:r>
            <a:r>
              <a:rPr lang="ja-JP" altLang="en-US" sz="2400" dirty="0" smtClean="0"/>
              <a:t>が最後（だけ）にあるものである。</a:t>
            </a:r>
            <a:endParaRPr kumimoji="1" lang="en-US" altLang="ja-JP" sz="2400"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文字列とは（２）</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142976" y="2857496"/>
            <a:ext cx="3623108"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a:t>
            </a:r>
            <a:endParaRPr kumimoji="1" lang="ja-JP" altLang="en-US" sz="2400" dirty="0"/>
          </a:p>
        </p:txBody>
      </p:sp>
      <p:sp>
        <p:nvSpPr>
          <p:cNvPr id="12" name="右中かっこ 11"/>
          <p:cNvSpPr/>
          <p:nvPr/>
        </p:nvSpPr>
        <p:spPr>
          <a:xfrm rot="16200000" flipH="1">
            <a:off x="2536019" y="964391"/>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1643042" y="4929198"/>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2893210" y="3393281"/>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500166" y="5643578"/>
            <a:ext cx="6072230" cy="830997"/>
          </a:xfrm>
          <a:prstGeom prst="rect">
            <a:avLst/>
          </a:prstGeom>
          <a:noFill/>
        </p:spPr>
        <p:txBody>
          <a:bodyPr wrap="square" rtlCol="0">
            <a:spAutoFit/>
          </a:bodyPr>
          <a:lstStyle/>
          <a:p>
            <a:r>
              <a:rPr kumimoji="1" lang="ja-JP" altLang="en-US" sz="2400" dirty="0" smtClean="0"/>
              <a:t>一番右端が</a:t>
            </a:r>
            <a:r>
              <a:rPr kumimoji="1" lang="en-US" altLang="ja-JP" sz="2400" dirty="0" smtClean="0"/>
              <a:t>’\0’</a:t>
            </a:r>
            <a:r>
              <a:rPr kumimoji="1" lang="ja-JP" altLang="en-US" sz="2400" dirty="0" smtClean="0"/>
              <a:t>であり、それ以外に</a:t>
            </a:r>
            <a:r>
              <a:rPr kumimoji="1" lang="en-US" altLang="ja-JP" sz="2400" dirty="0" smtClean="0"/>
              <a:t>’\0’</a:t>
            </a:r>
            <a:r>
              <a:rPr kumimoji="1" lang="ja-JP" altLang="en-US" sz="2400" dirty="0" smtClean="0"/>
              <a:t>を含んでいなければそれは文字列である。</a:t>
            </a:r>
            <a:endParaRPr kumimoji="1" lang="ja-JP" altLang="en-US" sz="2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a:t>
            </a:r>
            <a:r>
              <a:rPr lang="ja-JP" altLang="en-US" dirty="0" smtClean="0"/>
              <a:t>３</a:t>
            </a:r>
            <a:r>
              <a:rPr kumimoji="1" lang="ja-JP" altLang="en-US" dirty="0" smtClean="0"/>
              <a:t>）</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643042" y="2857496"/>
            <a:ext cx="5907386"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部分は文字列である（空文字列という）。</a:t>
            </a:r>
            <a:endParaRPr kumimoji="1" lang="ja-JP" altLang="en-US" sz="2400" dirty="0"/>
          </a:p>
        </p:txBody>
      </p:sp>
      <p:sp>
        <p:nvSpPr>
          <p:cNvPr id="12" name="右中かっこ 11"/>
          <p:cNvSpPr/>
          <p:nvPr/>
        </p:nvSpPr>
        <p:spPr>
          <a:xfrm rot="16200000" flipH="1">
            <a:off x="3750463" y="2178837"/>
            <a:ext cx="571506" cy="78581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3865724" y="5000636"/>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5393537" y="3464719"/>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500166" y="5643578"/>
            <a:ext cx="6072230" cy="830997"/>
          </a:xfrm>
          <a:prstGeom prst="rect">
            <a:avLst/>
          </a:prstGeom>
          <a:noFill/>
        </p:spPr>
        <p:txBody>
          <a:bodyPr wrap="square" rtlCol="0">
            <a:spAutoFit/>
          </a:bodyPr>
          <a:lstStyle/>
          <a:p>
            <a:r>
              <a:rPr kumimoji="1" lang="ja-JP" altLang="en-US" sz="2400" dirty="0" smtClean="0"/>
              <a:t>一番右端が</a:t>
            </a:r>
            <a:r>
              <a:rPr kumimoji="1" lang="en-US" altLang="ja-JP" sz="2400" dirty="0" smtClean="0"/>
              <a:t>’\0’</a:t>
            </a:r>
            <a:r>
              <a:rPr kumimoji="1" lang="ja-JP" altLang="en-US" sz="2400" dirty="0" smtClean="0"/>
              <a:t>であり、それ以外に</a:t>
            </a:r>
            <a:r>
              <a:rPr kumimoji="1" lang="en-US" altLang="ja-JP" sz="2400" dirty="0" smtClean="0"/>
              <a:t>’\0’</a:t>
            </a:r>
            <a:r>
              <a:rPr kumimoji="1" lang="ja-JP" altLang="en-US" sz="2400" dirty="0" smtClean="0"/>
              <a:t>を含んでいなければそれは文字列である。</a:t>
            </a:r>
            <a:endParaRPr kumimoji="1" lang="ja-JP" altLang="en-US" sz="2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c</a:t>
            </a:r>
            <a:r>
              <a:rPr kumimoji="1" lang="en-US" altLang="ja-JP" dirty="0" smtClean="0"/>
              <a:t>har</a:t>
            </a:r>
            <a:r>
              <a:rPr kumimoji="1" lang="ja-JP" altLang="en-US" dirty="0" smtClean="0"/>
              <a:t>型の配列</a:t>
            </a:r>
            <a:endParaRPr kumimoji="1" lang="ja-JP" altLang="en-US" dirty="0"/>
          </a:p>
        </p:txBody>
      </p:sp>
      <p:sp>
        <p:nvSpPr>
          <p:cNvPr id="4" name="テキスト ボックス 3"/>
          <p:cNvSpPr txBox="1"/>
          <p:nvPr/>
        </p:nvSpPr>
        <p:spPr>
          <a:xfrm>
            <a:off x="928662" y="1571612"/>
            <a:ext cx="7072361" cy="4832092"/>
          </a:xfrm>
          <a:prstGeom prst="rect">
            <a:avLst/>
          </a:prstGeom>
          <a:noFill/>
        </p:spPr>
        <p:txBody>
          <a:bodyPr wrap="square" rtlCol="0">
            <a:spAutoFit/>
          </a:bodyPr>
          <a:lstStyle/>
          <a:p>
            <a:r>
              <a:rPr lang="ja-JP" altLang="en-US" sz="2800" dirty="0" smtClean="0"/>
              <a:t>文字列は</a:t>
            </a:r>
            <a:r>
              <a:rPr lang="en-US" altLang="ja-JP" sz="2800" dirty="0" smtClean="0"/>
              <a:t>char</a:t>
            </a:r>
            <a:r>
              <a:rPr lang="ja-JP" altLang="en-US" sz="2800" dirty="0" smtClean="0"/>
              <a:t>型の配列を宣言し、各要素に文字を１文字ずつ格納して最後にヌル文字を格納することによって作成できる。</a:t>
            </a:r>
            <a:endParaRPr lang="en-US" altLang="ja-JP" sz="2800" dirty="0" smtClean="0"/>
          </a:p>
          <a:p>
            <a:r>
              <a:rPr lang="en-US" altLang="ja-JP" sz="2800" dirty="0" smtClean="0"/>
              <a:t>char</a:t>
            </a:r>
            <a:r>
              <a:rPr lang="ja-JP" altLang="en-US" sz="2800" dirty="0" smtClean="0"/>
              <a:t>型の配列型の変数は</a:t>
            </a:r>
            <a:endParaRPr lang="en-US" altLang="ja-JP" sz="2800" dirty="0" smtClean="0"/>
          </a:p>
          <a:p>
            <a:r>
              <a:rPr kumimoji="1" lang="en-US" altLang="ja-JP" sz="2800" dirty="0" smtClean="0"/>
              <a:t>    char a [7];</a:t>
            </a:r>
          </a:p>
          <a:p>
            <a:r>
              <a:rPr lang="ja-JP" altLang="en-US" sz="2800" dirty="0" err="1" smtClean="0"/>
              <a:t>のように</a:t>
            </a:r>
            <a:r>
              <a:rPr lang="ja-JP" altLang="en-US" sz="2800" dirty="0" smtClean="0"/>
              <a:t>宣言する。これは</a:t>
            </a:r>
            <a:r>
              <a:rPr lang="en-US" altLang="ja-JP" sz="2800" dirty="0" smtClean="0"/>
              <a:t>char</a:t>
            </a:r>
            <a:r>
              <a:rPr lang="ja-JP" altLang="en-US" sz="2800" dirty="0" smtClean="0"/>
              <a:t>型の要素を</a:t>
            </a:r>
            <a:r>
              <a:rPr lang="en-US" altLang="ja-JP" sz="2800" dirty="0" smtClean="0"/>
              <a:t>7</a:t>
            </a:r>
            <a:r>
              <a:rPr lang="ja-JP" altLang="en-US" sz="2800" dirty="0" smtClean="0"/>
              <a:t>個持つ配列</a:t>
            </a:r>
            <a:r>
              <a:rPr lang="en-US" altLang="ja-JP" sz="2800" dirty="0" smtClean="0"/>
              <a:t>a</a:t>
            </a:r>
            <a:r>
              <a:rPr lang="ja-JP" altLang="en-US" sz="2800" dirty="0" smtClean="0"/>
              <a:t>を宣言している。この宣言下で</a:t>
            </a:r>
            <a:endParaRPr kumimoji="1" lang="en-US" altLang="ja-JP" sz="2800" dirty="0" smtClean="0"/>
          </a:p>
          <a:p>
            <a:r>
              <a:rPr lang="en-US" altLang="ja-JP" sz="2800" dirty="0" smtClean="0"/>
              <a:t>   a[0] = ‘L’;</a:t>
            </a:r>
          </a:p>
          <a:p>
            <a:r>
              <a:rPr lang="ja-JP" altLang="en-US" sz="2800" dirty="0" smtClean="0"/>
              <a:t>という代入文が実行されると、</a:t>
            </a:r>
            <a:r>
              <a:rPr lang="en-US" altLang="ja-JP" sz="2800" dirty="0" smtClean="0"/>
              <a:t>’L’(</a:t>
            </a:r>
            <a:r>
              <a:rPr lang="en-US" altLang="ja-JP" sz="2800" dirty="0" err="1" smtClean="0"/>
              <a:t>int</a:t>
            </a:r>
            <a:r>
              <a:rPr lang="ja-JP" altLang="en-US" sz="2800" dirty="0" smtClean="0"/>
              <a:t>型の数</a:t>
            </a:r>
            <a:r>
              <a:rPr lang="en-US" altLang="ja-JP" sz="2800" dirty="0" smtClean="0"/>
              <a:t>)</a:t>
            </a:r>
            <a:r>
              <a:rPr lang="ja-JP" altLang="en-US" sz="2800" dirty="0" smtClean="0"/>
              <a:t>が暗黙の型変換</a:t>
            </a:r>
            <a:r>
              <a:rPr lang="en-US" altLang="ja-JP" sz="2800" dirty="0" smtClean="0"/>
              <a:t>(</a:t>
            </a:r>
            <a:r>
              <a:rPr lang="ja-JP" altLang="en-US" sz="2800" dirty="0" smtClean="0"/>
              <a:t>第</a:t>
            </a:r>
            <a:r>
              <a:rPr lang="en-US" altLang="ja-JP" sz="2800" dirty="0" smtClean="0"/>
              <a:t>2</a:t>
            </a:r>
            <a:r>
              <a:rPr lang="ja-JP" altLang="en-US" sz="2800" dirty="0" smtClean="0"/>
              <a:t>回講義スライド参照</a:t>
            </a:r>
            <a:r>
              <a:rPr lang="en-US" altLang="ja-JP" sz="2800" dirty="0" smtClean="0"/>
              <a:t>)</a:t>
            </a:r>
            <a:r>
              <a:rPr lang="ja-JP" altLang="en-US" sz="2800" dirty="0" smtClean="0"/>
              <a:t>により</a:t>
            </a:r>
            <a:r>
              <a:rPr lang="en-US" altLang="ja-JP" sz="2800" dirty="0" smtClean="0"/>
              <a:t>char</a:t>
            </a:r>
            <a:r>
              <a:rPr lang="ja-JP" altLang="en-US" sz="2800" dirty="0" smtClean="0"/>
              <a:t>型に変換されてから</a:t>
            </a:r>
            <a:r>
              <a:rPr lang="en-US" altLang="ja-JP" sz="2800" dirty="0" smtClean="0"/>
              <a:t>a[0]</a:t>
            </a:r>
            <a:r>
              <a:rPr lang="ja-JP" altLang="en-US" sz="2800" dirty="0" smtClean="0"/>
              <a:t>に代入される。</a:t>
            </a:r>
            <a:endParaRPr kumimoji="1" lang="ja-JP" altLang="en-US" sz="28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smtClean="0"/>
              <a:t>printf</a:t>
            </a:r>
            <a:r>
              <a:rPr kumimoji="1" lang="ja-JP" altLang="en-US" sz="3600" dirty="0" smtClean="0"/>
              <a:t>関数での文字列の表示方法</a:t>
            </a:r>
            <a:r>
              <a:rPr kumimoji="1" lang="en-US" altLang="ja-JP" sz="3600" dirty="0" smtClean="0"/>
              <a:t/>
            </a:r>
            <a:br>
              <a:rPr kumimoji="1" lang="en-US" altLang="ja-JP" sz="3600" dirty="0" smtClean="0"/>
            </a:br>
            <a:r>
              <a:rPr lang="ja-JP" altLang="en-US" sz="3600" dirty="0" smtClean="0"/>
              <a:t>（打ち込んで確認）</a:t>
            </a:r>
            <a:endParaRPr kumimoji="1" lang="ja-JP" altLang="en-US" sz="3600" dirty="0"/>
          </a:p>
        </p:txBody>
      </p:sp>
      <p:sp>
        <p:nvSpPr>
          <p:cNvPr id="4" name="テキスト ボックス 3"/>
          <p:cNvSpPr txBox="1"/>
          <p:nvPr/>
        </p:nvSpPr>
        <p:spPr>
          <a:xfrm>
            <a:off x="4572000" y="1142984"/>
            <a:ext cx="3857652" cy="3539430"/>
          </a:xfrm>
          <a:prstGeom prst="rect">
            <a:avLst/>
          </a:prstGeom>
          <a:noFill/>
          <a:ln>
            <a:solidFill>
              <a:schemeClr val="tx1"/>
            </a:solidFill>
          </a:ln>
        </p:spPr>
        <p:txBody>
          <a:bodyPr wrap="square" rtlCol="0">
            <a:spAutoFit/>
          </a:bodyPr>
          <a:lstStyle/>
          <a:p>
            <a:r>
              <a:rPr lang="ja-JP" altLang="en-US" sz="2800" dirty="0" smtClean="0"/>
              <a:t>文字列の表示には、変換指定として</a:t>
            </a:r>
            <a:r>
              <a:rPr kumimoji="1" lang="en-US" altLang="ja-JP" sz="2800" dirty="0" smtClean="0"/>
              <a:t>%s</a:t>
            </a:r>
            <a:r>
              <a:rPr kumimoji="1" lang="ja-JP" altLang="en-US" sz="2800" dirty="0" smtClean="0"/>
              <a:t>を用い、引数に</a:t>
            </a:r>
            <a:r>
              <a:rPr kumimoji="1" lang="en-US" altLang="ja-JP" sz="2800" dirty="0" smtClean="0">
                <a:solidFill>
                  <a:srgbClr val="FF0000"/>
                </a:solidFill>
              </a:rPr>
              <a:t>char</a:t>
            </a:r>
            <a:r>
              <a:rPr kumimoji="1" lang="ja-JP" altLang="en-US" sz="2800" dirty="0" smtClean="0">
                <a:solidFill>
                  <a:srgbClr val="FF0000"/>
                </a:solidFill>
              </a:rPr>
              <a:t>型</a:t>
            </a:r>
            <a:r>
              <a:rPr kumimoji="1" lang="ja-JP" altLang="en-US" sz="2800" dirty="0" smtClean="0"/>
              <a:t>へのポインタ（詳しくは後日説明）を与える。</a:t>
            </a:r>
            <a:r>
              <a:rPr lang="ja-JP" altLang="en-US" sz="2800" dirty="0" smtClean="0"/>
              <a:t>そのポインタが指しているところから、ヌル文字の手前までを画面に表示する。</a:t>
            </a:r>
            <a:endParaRPr kumimoji="1" lang="en-US" altLang="ja-JP" sz="2800" dirty="0" smtClean="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smtClean="0">
                <a:solidFill>
                  <a:srgbClr val="FF0000"/>
                </a:solidFill>
              </a:rPr>
              <a:t>char</a:t>
            </a:r>
            <a:r>
              <a:rPr lang="en-US" altLang="ja-JP" sz="2800" dirty="0" smtClean="0"/>
              <a:t>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&amp;a[0]</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6" name="テキスト ボックス 5"/>
          <p:cNvSpPr txBox="1"/>
          <p:nvPr/>
        </p:nvSpPr>
        <p:spPr>
          <a:xfrm>
            <a:off x="4643438" y="4857760"/>
            <a:ext cx="3571900" cy="1569660"/>
          </a:xfrm>
          <a:prstGeom prst="rect">
            <a:avLst/>
          </a:prstGeom>
          <a:noFill/>
        </p:spPr>
        <p:txBody>
          <a:bodyPr wrap="square" rtlCol="0">
            <a:spAutoFit/>
          </a:bodyPr>
          <a:lstStyle/>
          <a:p>
            <a:r>
              <a:rPr kumimoji="1" lang="en-US" altLang="ja-JP" sz="2400" dirty="0" smtClean="0"/>
              <a:t>&amp;a[0]</a:t>
            </a:r>
            <a:r>
              <a:rPr kumimoji="1" lang="ja-JP" altLang="en-US" sz="2400" dirty="0" smtClean="0"/>
              <a:t>は配列</a:t>
            </a:r>
            <a:r>
              <a:rPr kumimoji="1" lang="en-US" altLang="ja-JP" sz="2400" dirty="0" smtClean="0"/>
              <a:t>a</a:t>
            </a:r>
            <a:r>
              <a:rPr kumimoji="1" lang="ja-JP" altLang="en-US" sz="2400" dirty="0" smtClean="0"/>
              <a:t>の先頭要素</a:t>
            </a:r>
            <a:r>
              <a:rPr lang="ja-JP" altLang="en-US" sz="2400" dirty="0" smtClean="0"/>
              <a:t>へのポインタを表す。先頭要素は</a:t>
            </a:r>
            <a:r>
              <a:rPr lang="en-US" altLang="ja-JP" sz="2400" dirty="0" smtClean="0"/>
              <a:t>’L’</a:t>
            </a:r>
            <a:r>
              <a:rPr lang="ja-JP" altLang="en-US" sz="2400" dirty="0" smtClean="0"/>
              <a:t>であり、</a:t>
            </a:r>
            <a:r>
              <a:rPr lang="en-US" altLang="ja-JP" sz="2400" dirty="0" smtClean="0"/>
              <a:t>Lin</a:t>
            </a:r>
            <a:r>
              <a:rPr lang="ja-JP" altLang="en-US" sz="2400" dirty="0" smtClean="0"/>
              <a:t>が表示される。</a:t>
            </a:r>
            <a:endParaRPr lang="en-US" altLang="ja-JP" sz="2400" dirty="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smtClean="0"/>
              <a:t>printf</a:t>
            </a:r>
            <a:r>
              <a:rPr kumimoji="1" lang="ja-JP" altLang="en-US" sz="3600" dirty="0" smtClean="0"/>
              <a:t>関数での文字列の表示方法</a:t>
            </a:r>
            <a:r>
              <a:rPr kumimoji="1" lang="en-US" altLang="ja-JP" sz="3600" dirty="0" smtClean="0"/>
              <a:t/>
            </a:r>
            <a:br>
              <a:rPr kumimoji="1" lang="en-US" altLang="ja-JP" sz="3600" dirty="0" smtClean="0"/>
            </a:br>
            <a:r>
              <a:rPr lang="ja-JP" altLang="en-US" sz="3600" dirty="0" smtClean="0"/>
              <a:t>（打ち込んで確認）</a:t>
            </a:r>
            <a:endParaRPr kumimoji="1" lang="ja-JP" altLang="en-US" sz="3600" dirty="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&amp;a[1]</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7" name="テキスト ボックス 6"/>
          <p:cNvSpPr txBox="1"/>
          <p:nvPr/>
        </p:nvSpPr>
        <p:spPr>
          <a:xfrm>
            <a:off x="4572000" y="1428736"/>
            <a:ext cx="3571900" cy="2246769"/>
          </a:xfrm>
          <a:prstGeom prst="rect">
            <a:avLst/>
          </a:prstGeom>
          <a:noFill/>
        </p:spPr>
        <p:txBody>
          <a:bodyPr wrap="square" rtlCol="0">
            <a:spAutoFit/>
          </a:bodyPr>
          <a:lstStyle/>
          <a:p>
            <a:r>
              <a:rPr kumimoji="1" lang="en-US" altLang="ja-JP" sz="2800" dirty="0" smtClean="0"/>
              <a:t>&amp;a[1]</a:t>
            </a:r>
            <a:r>
              <a:rPr kumimoji="1" lang="ja-JP" altLang="en-US" sz="2800" dirty="0" smtClean="0"/>
              <a:t>は配列</a:t>
            </a:r>
            <a:r>
              <a:rPr kumimoji="1" lang="en-US" altLang="ja-JP" sz="2800" dirty="0" smtClean="0"/>
              <a:t>a</a:t>
            </a:r>
            <a:r>
              <a:rPr kumimoji="1" lang="ja-JP" altLang="en-US" sz="2800" dirty="0" smtClean="0"/>
              <a:t>の２番目要素</a:t>
            </a:r>
            <a:r>
              <a:rPr lang="ja-JP" altLang="en-US" sz="2800" dirty="0" smtClean="0"/>
              <a:t>へのポインタを表す。２番目の要素は</a:t>
            </a:r>
            <a:r>
              <a:rPr lang="en-US" altLang="ja-JP" sz="2800" dirty="0" smtClean="0"/>
              <a:t>’</a:t>
            </a:r>
            <a:r>
              <a:rPr lang="en-US" altLang="ja-JP" sz="2800" dirty="0" err="1" smtClean="0"/>
              <a:t>i</a:t>
            </a:r>
            <a:r>
              <a:rPr lang="en-US" altLang="ja-JP" sz="2800" dirty="0" smtClean="0"/>
              <a:t>’</a:t>
            </a:r>
            <a:r>
              <a:rPr lang="ja-JP" altLang="en-US" sz="2800" dirty="0" smtClean="0"/>
              <a:t>であり、</a:t>
            </a:r>
            <a:r>
              <a:rPr lang="en-US" altLang="ja-JP" sz="2800" dirty="0" smtClean="0"/>
              <a:t>in</a:t>
            </a:r>
            <a:r>
              <a:rPr kumimoji="1" lang="ja-JP" altLang="en-US" sz="2800" dirty="0" smtClean="0"/>
              <a:t>が画面に表示される。</a:t>
            </a:r>
            <a:endParaRPr kumimoji="1" lang="ja-JP" altLang="en-US" sz="28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注意</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文字列の表示には</a:t>
            </a:r>
            <a:r>
              <a:rPr kumimoji="1" lang="en-US" altLang="ja-JP" dirty="0" err="1" smtClean="0"/>
              <a:t>printf</a:t>
            </a:r>
            <a:r>
              <a:rPr lang="ja-JP" altLang="en-US" dirty="0" smtClean="0"/>
              <a:t>の変換指定で</a:t>
            </a:r>
            <a:r>
              <a:rPr lang="en-US" altLang="ja-JP" dirty="0" smtClean="0"/>
              <a:t>%s</a:t>
            </a:r>
            <a:r>
              <a:rPr lang="ja-JP" altLang="en-US" dirty="0" smtClean="0"/>
              <a:t>を使う。このとき、引数に与えられるポインタが指す先は</a:t>
            </a:r>
            <a:r>
              <a:rPr lang="en-US" altLang="ja-JP" dirty="0" smtClean="0"/>
              <a:t>char</a:t>
            </a:r>
            <a:r>
              <a:rPr lang="ja-JP" altLang="en-US" dirty="0" smtClean="0"/>
              <a:t>型の並びであることが前提なので、もし</a:t>
            </a:r>
            <a:r>
              <a:rPr lang="en-US" altLang="ja-JP" dirty="0" err="1" smtClean="0"/>
              <a:t>int</a:t>
            </a:r>
            <a:r>
              <a:rPr lang="ja-JP" altLang="en-US" dirty="0" smtClean="0"/>
              <a:t>型の配列に文字列を入れていた場合には正常に表示されなくなる。</a:t>
            </a:r>
            <a:endParaRPr lang="en-US" altLang="ja-JP" dirty="0"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a:bodyPr>
          <a:lstStyle/>
          <a:p>
            <a:r>
              <a:rPr lang="ja-JP" altLang="en-US" sz="3600" dirty="0" smtClean="0"/>
              <a:t>間違った例（打ち込んで確認）</a:t>
            </a:r>
            <a:endParaRPr kumimoji="1" lang="ja-JP" altLang="en-US" sz="3600" dirty="0"/>
          </a:p>
        </p:txBody>
      </p:sp>
      <p:sp>
        <p:nvSpPr>
          <p:cNvPr id="4" name="テキスト ボックス 3"/>
          <p:cNvSpPr txBox="1"/>
          <p:nvPr/>
        </p:nvSpPr>
        <p:spPr>
          <a:xfrm>
            <a:off x="4499992" y="1124744"/>
            <a:ext cx="3857652" cy="2246769"/>
          </a:xfrm>
          <a:prstGeom prst="rect">
            <a:avLst/>
          </a:prstGeom>
          <a:noFill/>
          <a:ln>
            <a:solidFill>
              <a:schemeClr val="tx1"/>
            </a:solidFill>
          </a:ln>
        </p:spPr>
        <p:txBody>
          <a:bodyPr wrap="square" rtlCol="0">
            <a:spAutoFit/>
          </a:bodyPr>
          <a:lstStyle/>
          <a:p>
            <a:r>
              <a:rPr kumimoji="1" lang="ja-JP" altLang="en-US" sz="2800" dirty="0" smtClean="0"/>
              <a:t>このプログラムだと、意図した通りには表示されない。（具体的にどう表示されるかは</a:t>
            </a:r>
            <a:r>
              <a:rPr kumimoji="1" lang="en-US" altLang="ja-JP" sz="2800" dirty="0" err="1" smtClean="0"/>
              <a:t>int</a:t>
            </a:r>
            <a:r>
              <a:rPr kumimoji="1" lang="ja-JP" altLang="en-US" sz="2800" dirty="0" smtClean="0"/>
              <a:t>型の表現に依存。）</a:t>
            </a:r>
            <a:endParaRPr lang="en-US" altLang="ja-JP" sz="2800" dirty="0" smtClean="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solidFill>
                  <a:srgbClr val="FF0000"/>
                </a:solidFill>
              </a:rPr>
              <a:t>int</a:t>
            </a:r>
            <a:r>
              <a:rPr lang="en-US" altLang="ja-JP" sz="2800" dirty="0" smtClean="0"/>
              <a:t>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&amp;a[0]</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7" name="正方形/長方形 6"/>
          <p:cNvSpPr/>
          <p:nvPr/>
        </p:nvSpPr>
        <p:spPr>
          <a:xfrm>
            <a:off x="4499992" y="3501008"/>
            <a:ext cx="4248472" cy="2677656"/>
          </a:xfrm>
          <a:prstGeom prst="rect">
            <a:avLst/>
          </a:prstGeom>
          <a:ln>
            <a:solidFill>
              <a:schemeClr val="tx1"/>
            </a:solidFill>
          </a:ln>
        </p:spPr>
        <p:txBody>
          <a:bodyPr wrap="square">
            <a:spAutoFit/>
          </a:bodyPr>
          <a:lstStyle/>
          <a:p>
            <a:r>
              <a:rPr lang="en-US" altLang="ja-JP" sz="2400" dirty="0" smtClean="0"/>
              <a:t>(</a:t>
            </a:r>
            <a:r>
              <a:rPr lang="ja-JP" altLang="en-US" sz="2400" dirty="0" smtClean="0"/>
              <a:t>さらに補足</a:t>
            </a:r>
            <a:r>
              <a:rPr lang="en-US" altLang="ja-JP" sz="2400" dirty="0" smtClean="0"/>
              <a:t>)</a:t>
            </a:r>
          </a:p>
          <a:p>
            <a:r>
              <a:rPr lang="en-US" altLang="ja-JP" sz="2400" dirty="0" smtClean="0"/>
              <a:t>&amp;a[0]</a:t>
            </a:r>
            <a:r>
              <a:rPr lang="ja-JP" altLang="en-US" sz="2400" dirty="0" smtClean="0"/>
              <a:t>は</a:t>
            </a:r>
            <a:r>
              <a:rPr lang="en-US" altLang="ja-JP" sz="2400" dirty="0" err="1" smtClean="0"/>
              <a:t>int</a:t>
            </a:r>
            <a:r>
              <a:rPr lang="ja-JP" altLang="en-US" sz="2400" dirty="0" err="1" smtClean="0"/>
              <a:t>への</a:t>
            </a:r>
            <a:r>
              <a:rPr lang="ja-JP" altLang="en-US" sz="2400" dirty="0" smtClean="0"/>
              <a:t>ポインタ型であり、</a:t>
            </a:r>
            <a:r>
              <a:rPr lang="en-US" altLang="ja-JP" sz="2400" dirty="0" smtClean="0"/>
              <a:t>char</a:t>
            </a:r>
            <a:r>
              <a:rPr lang="ja-JP" altLang="en-US" sz="2400" dirty="0" smtClean="0"/>
              <a:t>型へのポインタではないので、</a:t>
            </a:r>
            <a:endParaRPr lang="en-US" altLang="ja-JP" sz="2400" dirty="0" smtClean="0"/>
          </a:p>
          <a:p>
            <a:r>
              <a:rPr lang="en-US" altLang="ja-JP" sz="2400" dirty="0" smtClean="0"/>
              <a:t>$ </a:t>
            </a:r>
            <a:r>
              <a:rPr lang="en-US" altLang="ja-JP" sz="2400" dirty="0" err="1" smtClean="0"/>
              <a:t>gcc</a:t>
            </a:r>
            <a:r>
              <a:rPr lang="en-US" altLang="ja-JP" sz="2400" dirty="0" smtClean="0"/>
              <a:t> -W -Wall </a:t>
            </a:r>
            <a:r>
              <a:rPr lang="en-US" altLang="ja-JP" sz="2400" dirty="0" err="1" smtClean="0"/>
              <a:t>test.c</a:t>
            </a:r>
            <a:endParaRPr lang="en-US" altLang="ja-JP" sz="2400" dirty="0" smtClean="0"/>
          </a:p>
          <a:p>
            <a:r>
              <a:rPr lang="ja-JP" altLang="en-US" sz="2400" dirty="0" err="1" smtClean="0"/>
              <a:t>のように</a:t>
            </a:r>
            <a:r>
              <a:rPr lang="ja-JP" altLang="en-US" sz="2400" dirty="0" smtClean="0"/>
              <a:t>オプションを付けてコンパイルすれば</a:t>
            </a:r>
            <a:r>
              <a:rPr lang="en-US" altLang="ja-JP" sz="2400" dirty="0" smtClean="0"/>
              <a:t>warning</a:t>
            </a:r>
            <a:r>
              <a:rPr lang="ja-JP" altLang="en-US" sz="2400" dirty="0" smtClean="0"/>
              <a:t>が出る。</a:t>
            </a:r>
            <a:endParaRPr lang="en-US" altLang="ja-JP" sz="2400" dirty="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解説</a:t>
            </a:r>
            <a:endParaRPr kumimoji="1" lang="ja-JP" altLang="en-US" dirty="0"/>
          </a:p>
        </p:txBody>
      </p:sp>
      <p:sp>
        <p:nvSpPr>
          <p:cNvPr id="4" name="テキスト ボックス 3"/>
          <p:cNvSpPr txBox="1"/>
          <p:nvPr/>
        </p:nvSpPr>
        <p:spPr>
          <a:xfrm>
            <a:off x="1115616" y="1268760"/>
            <a:ext cx="7344816" cy="954107"/>
          </a:xfrm>
          <a:prstGeom prst="rect">
            <a:avLst/>
          </a:prstGeom>
          <a:noFill/>
        </p:spPr>
        <p:txBody>
          <a:bodyPr wrap="square" rtlCol="0">
            <a:spAutoFit/>
          </a:bodyPr>
          <a:lstStyle/>
          <a:p>
            <a:r>
              <a:rPr kumimoji="1" lang="ja-JP" altLang="en-US" sz="2800" dirty="0" smtClean="0"/>
              <a:t>この演習室の環境では、</a:t>
            </a:r>
            <a:r>
              <a:rPr kumimoji="1" lang="en-US" altLang="ja-JP" sz="2800" dirty="0" smtClean="0"/>
              <a:t>’L’</a:t>
            </a:r>
            <a:r>
              <a:rPr kumimoji="1" lang="ja-JP" altLang="en-US" sz="2800" dirty="0" smtClean="0"/>
              <a:t>は</a:t>
            </a:r>
            <a:r>
              <a:rPr kumimoji="1" lang="en-US" altLang="ja-JP" sz="2800" dirty="0" err="1" smtClean="0"/>
              <a:t>int</a:t>
            </a:r>
            <a:r>
              <a:rPr lang="ja-JP" altLang="en-US" sz="2800" dirty="0" smtClean="0"/>
              <a:t>型の</a:t>
            </a:r>
            <a:r>
              <a:rPr lang="en-US" altLang="ja-JP" sz="2800" dirty="0" smtClean="0"/>
              <a:t>76</a:t>
            </a:r>
            <a:r>
              <a:rPr lang="ja-JP" altLang="en-US" sz="2800" dirty="0" smtClean="0"/>
              <a:t>であり、さきほどの</a:t>
            </a:r>
            <a:r>
              <a:rPr lang="en-US" altLang="ja-JP" sz="2800" dirty="0" err="1" smtClean="0"/>
              <a:t>int</a:t>
            </a:r>
            <a:r>
              <a:rPr lang="ja-JP" altLang="en-US" sz="2800" dirty="0" smtClean="0"/>
              <a:t>型の配列</a:t>
            </a:r>
            <a:r>
              <a:rPr lang="en-US" altLang="ja-JP" sz="2800" dirty="0" smtClean="0"/>
              <a:t>a</a:t>
            </a:r>
            <a:r>
              <a:rPr lang="ja-JP" altLang="en-US" sz="2800" dirty="0" smtClean="0"/>
              <a:t>は、メモリ上では</a:t>
            </a:r>
            <a:endParaRPr lang="en-US" altLang="ja-JP" sz="2800" dirty="0" smtClean="0"/>
          </a:p>
        </p:txBody>
      </p:sp>
      <p:graphicFrame>
        <p:nvGraphicFramePr>
          <p:cNvPr id="5" name="表 4"/>
          <p:cNvGraphicFramePr>
            <a:graphicFrameLocks noGrp="1"/>
          </p:cNvGraphicFramePr>
          <p:nvPr/>
        </p:nvGraphicFramePr>
        <p:xfrm>
          <a:off x="539552" y="2348880"/>
          <a:ext cx="8136900" cy="714380"/>
        </p:xfrm>
        <a:graphic>
          <a:graphicData uri="http://schemas.openxmlformats.org/drawingml/2006/table">
            <a:tbl>
              <a:tblPr firstRow="1" bandRow="1">
                <a:tableStyleId>{00A15C55-8517-42AA-B614-E9B94910E393}</a:tableStyleId>
              </a:tblPr>
              <a:tblGrid>
                <a:gridCol w="813690"/>
                <a:gridCol w="813690"/>
                <a:gridCol w="813690"/>
                <a:gridCol w="813690"/>
                <a:gridCol w="813690"/>
                <a:gridCol w="813690"/>
                <a:gridCol w="813690"/>
                <a:gridCol w="813690"/>
                <a:gridCol w="813690"/>
                <a:gridCol w="813690"/>
              </a:tblGrid>
              <a:tr h="714380">
                <a:tc>
                  <a:txBody>
                    <a:bodyPr/>
                    <a:lstStyle/>
                    <a:p>
                      <a:pPr algn="ctr"/>
                      <a:r>
                        <a:rPr kumimoji="1" lang="en-US" altLang="ja-JP" sz="3200" b="0" dirty="0" smtClean="0">
                          <a:solidFill>
                            <a:sysClr val="windowText" lastClr="000000"/>
                          </a:solidFill>
                        </a:rPr>
                        <a:t>76</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105</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110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テキスト ボックス 5"/>
          <p:cNvSpPr txBox="1"/>
          <p:nvPr/>
        </p:nvSpPr>
        <p:spPr>
          <a:xfrm>
            <a:off x="1115616" y="4437112"/>
            <a:ext cx="4935967" cy="523220"/>
          </a:xfrm>
          <a:prstGeom prst="rect">
            <a:avLst/>
          </a:prstGeom>
          <a:noFill/>
        </p:spPr>
        <p:txBody>
          <a:bodyPr wrap="none" rtlCol="0">
            <a:spAutoFit/>
          </a:bodyPr>
          <a:lstStyle/>
          <a:p>
            <a:r>
              <a:rPr kumimoji="1" lang="ja-JP" altLang="en-US" sz="2800" dirty="0" err="1" smtClean="0"/>
              <a:t>のように</a:t>
            </a:r>
            <a:r>
              <a:rPr kumimoji="1" lang="ja-JP" altLang="en-US" sz="2800" dirty="0" smtClean="0"/>
              <a:t>並んでいる。すなわち、</a:t>
            </a:r>
            <a:endParaRPr kumimoji="1" lang="ja-JP" altLang="en-US" sz="2800" dirty="0"/>
          </a:p>
        </p:txBody>
      </p:sp>
      <p:sp>
        <p:nvSpPr>
          <p:cNvPr id="7" name="右中かっこ 6"/>
          <p:cNvSpPr/>
          <p:nvPr/>
        </p:nvSpPr>
        <p:spPr>
          <a:xfrm rot="16200000" flipH="1">
            <a:off x="1861154"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8" name="右中かっこ 7"/>
          <p:cNvSpPr/>
          <p:nvPr/>
        </p:nvSpPr>
        <p:spPr>
          <a:xfrm rot="16200000" flipH="1">
            <a:off x="5173522"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0" name="テキスト ボックス 9"/>
          <p:cNvSpPr txBox="1"/>
          <p:nvPr/>
        </p:nvSpPr>
        <p:spPr>
          <a:xfrm>
            <a:off x="1763688" y="3861048"/>
            <a:ext cx="760144" cy="523220"/>
          </a:xfrm>
          <a:prstGeom prst="rect">
            <a:avLst/>
          </a:prstGeom>
          <a:noFill/>
        </p:spPr>
        <p:txBody>
          <a:bodyPr wrap="none" rtlCol="0">
            <a:spAutoFit/>
          </a:bodyPr>
          <a:lstStyle/>
          <a:p>
            <a:r>
              <a:rPr kumimoji="1" lang="en-US" altLang="ja-JP" sz="2800" dirty="0" smtClean="0"/>
              <a:t>a[0]</a:t>
            </a:r>
            <a:endParaRPr kumimoji="1" lang="ja-JP" altLang="en-US" sz="2800" dirty="0"/>
          </a:p>
        </p:txBody>
      </p:sp>
      <p:sp>
        <p:nvSpPr>
          <p:cNvPr id="11" name="テキスト ボックス 10"/>
          <p:cNvSpPr txBox="1"/>
          <p:nvPr/>
        </p:nvSpPr>
        <p:spPr>
          <a:xfrm>
            <a:off x="5004048" y="3861048"/>
            <a:ext cx="760144" cy="523220"/>
          </a:xfrm>
          <a:prstGeom prst="rect">
            <a:avLst/>
          </a:prstGeom>
          <a:noFill/>
        </p:spPr>
        <p:txBody>
          <a:bodyPr wrap="none" rtlCol="0">
            <a:spAutoFit/>
          </a:bodyPr>
          <a:lstStyle/>
          <a:p>
            <a:r>
              <a:rPr kumimoji="1" lang="en-US" altLang="ja-JP" sz="2800" dirty="0" smtClean="0"/>
              <a:t>a[1]</a:t>
            </a:r>
            <a:endParaRPr kumimoji="1" lang="ja-JP" altLang="en-US" sz="2800" dirty="0"/>
          </a:p>
        </p:txBody>
      </p:sp>
      <p:sp>
        <p:nvSpPr>
          <p:cNvPr id="12" name="テキスト ボックス 11"/>
          <p:cNvSpPr txBox="1"/>
          <p:nvPr/>
        </p:nvSpPr>
        <p:spPr>
          <a:xfrm>
            <a:off x="7596336" y="3717032"/>
            <a:ext cx="415372" cy="523220"/>
          </a:xfrm>
          <a:prstGeom prst="rect">
            <a:avLst/>
          </a:prstGeom>
          <a:noFill/>
        </p:spPr>
        <p:txBody>
          <a:bodyPr wrap="square" rtlCol="0">
            <a:spAutoFit/>
          </a:bodyPr>
          <a:lstStyle/>
          <a:p>
            <a:r>
              <a:rPr kumimoji="1" lang="en-US" altLang="ja-JP" sz="2800" dirty="0" smtClean="0"/>
              <a:t>…</a:t>
            </a:r>
            <a:endParaRPr kumimoji="1" lang="ja-JP" altLang="en-US" sz="2800" dirty="0"/>
          </a:p>
        </p:txBody>
      </p:sp>
      <p:graphicFrame>
        <p:nvGraphicFramePr>
          <p:cNvPr id="13" name="表 12"/>
          <p:cNvGraphicFramePr>
            <a:graphicFrameLocks noGrp="1"/>
          </p:cNvGraphicFramePr>
          <p:nvPr/>
        </p:nvGraphicFramePr>
        <p:xfrm>
          <a:off x="539552" y="5013176"/>
          <a:ext cx="8136900" cy="714380"/>
        </p:xfrm>
        <a:graphic>
          <a:graphicData uri="http://schemas.openxmlformats.org/drawingml/2006/table">
            <a:tbl>
              <a:tblPr firstRow="1" bandRow="1">
                <a:tableStyleId>{00A15C55-8517-42AA-B614-E9B94910E393}</a:tableStyleId>
              </a:tblPr>
              <a:tblGrid>
                <a:gridCol w="813690"/>
                <a:gridCol w="813690"/>
                <a:gridCol w="813690"/>
                <a:gridCol w="813690"/>
                <a:gridCol w="813690"/>
                <a:gridCol w="813690"/>
                <a:gridCol w="813690"/>
                <a:gridCol w="813690"/>
                <a:gridCol w="813690"/>
                <a:gridCol w="813690"/>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522147" y="5859269"/>
            <a:ext cx="8226317" cy="954107"/>
          </a:xfrm>
          <a:prstGeom prst="rect">
            <a:avLst/>
          </a:prstGeom>
          <a:noFill/>
        </p:spPr>
        <p:txBody>
          <a:bodyPr wrap="square" rtlCol="0">
            <a:spAutoFit/>
          </a:bodyPr>
          <a:lstStyle/>
          <a:p>
            <a:r>
              <a:rPr kumimoji="1" lang="ja-JP" altLang="en-US" sz="2800" dirty="0" smtClean="0"/>
              <a:t>ということである。つまり、この演習室の環境では</a:t>
            </a:r>
            <a:r>
              <a:rPr kumimoji="1" lang="en-US" altLang="ja-JP" sz="2800" dirty="0" smtClean="0"/>
              <a:t>’L’</a:t>
            </a:r>
            <a:r>
              <a:rPr kumimoji="1" lang="ja-JP" altLang="en-US" sz="2800" dirty="0" smtClean="0"/>
              <a:t>しか表示されなくなる。</a:t>
            </a:r>
            <a:endParaRPr kumimoji="1" lang="ja-JP" alt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kumimoji="1" lang="ja-JP" altLang="en-US" sz="3200" dirty="0" smtClean="0"/>
              <a:t>ポインタについて</a:t>
            </a:r>
            <a:r>
              <a:rPr kumimoji="1" lang="en-US" altLang="ja-JP" sz="3200" dirty="0" smtClean="0"/>
              <a:t/>
            </a:r>
            <a:br>
              <a:rPr kumimoji="1" lang="en-US" altLang="ja-JP" sz="3200" dirty="0" smtClean="0"/>
            </a:br>
            <a:r>
              <a:rPr kumimoji="1" lang="ja-JP" altLang="en-US" sz="3200" dirty="0" smtClean="0"/>
              <a:t>（後日、ポインタの回にも説明する）</a:t>
            </a:r>
            <a:endParaRPr kumimoji="1" lang="ja-JP" altLang="en-US" sz="3200" dirty="0"/>
          </a:p>
        </p:txBody>
      </p:sp>
      <p:graphicFrame>
        <p:nvGraphicFramePr>
          <p:cNvPr id="8" name="表 7"/>
          <p:cNvGraphicFramePr>
            <a:graphicFrameLocks noGrp="1"/>
          </p:cNvGraphicFramePr>
          <p:nvPr/>
        </p:nvGraphicFramePr>
        <p:xfrm>
          <a:off x="1687689" y="225295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311021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311021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311021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311021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311021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311021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311021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1214414" y="4039751"/>
            <a:ext cx="6643734" cy="2246769"/>
          </a:xfrm>
          <a:prstGeom prst="rect">
            <a:avLst/>
          </a:prstGeom>
          <a:noFill/>
        </p:spPr>
        <p:txBody>
          <a:bodyPr wrap="square" rtlCol="0">
            <a:spAutoFit/>
          </a:bodyPr>
          <a:lstStyle/>
          <a:p>
            <a:r>
              <a:rPr kumimoji="1" lang="en-US" altLang="ja-JP" sz="2800" dirty="0" smtClean="0"/>
              <a:t>&amp;a[0]</a:t>
            </a:r>
            <a:r>
              <a:rPr kumimoji="1" lang="ja-JP" altLang="en-US" sz="2800" dirty="0" smtClean="0"/>
              <a:t>は配列</a:t>
            </a:r>
            <a:r>
              <a:rPr kumimoji="1" lang="en-US" altLang="ja-JP" sz="2800" dirty="0" smtClean="0"/>
              <a:t>a</a:t>
            </a:r>
            <a:r>
              <a:rPr kumimoji="1" lang="ja-JP" altLang="en-US" sz="2800" dirty="0" smtClean="0"/>
              <a:t>の先頭要素へのポインタ</a:t>
            </a:r>
            <a:r>
              <a:rPr lang="ja-JP" altLang="en-US" sz="2800" dirty="0" smtClean="0"/>
              <a:t>を表す。</a:t>
            </a:r>
            <a:r>
              <a:rPr lang="en-US" altLang="ja-JP" sz="2800" dirty="0" smtClean="0"/>
              <a:t>&amp;a[0]</a:t>
            </a:r>
            <a:r>
              <a:rPr lang="ja-JP" altLang="en-US" sz="2800" dirty="0" smtClean="0"/>
              <a:t>の値は、配列</a:t>
            </a:r>
            <a:r>
              <a:rPr lang="en-US" altLang="ja-JP" sz="2800" dirty="0" smtClean="0"/>
              <a:t>a</a:t>
            </a:r>
            <a:r>
              <a:rPr lang="ja-JP" altLang="en-US" sz="2800" dirty="0" smtClean="0"/>
              <a:t>の先頭要素</a:t>
            </a:r>
            <a:r>
              <a:rPr kumimoji="1" lang="ja-JP" altLang="en-US" sz="2800" dirty="0" smtClean="0"/>
              <a:t>の番地である。この場合、</a:t>
            </a:r>
            <a:r>
              <a:rPr kumimoji="1" lang="en-US" altLang="ja-JP" sz="2800" dirty="0" smtClean="0"/>
              <a:t>100</a:t>
            </a:r>
            <a:r>
              <a:rPr kumimoji="1" lang="ja-JP" altLang="en-US" sz="2800" dirty="0" smtClean="0"/>
              <a:t>である。</a:t>
            </a:r>
            <a:r>
              <a:rPr kumimoji="1" lang="en-US" altLang="ja-JP" sz="2800" dirty="0" smtClean="0"/>
              <a:t>&amp;a[1]</a:t>
            </a:r>
            <a:r>
              <a:rPr kumimoji="1" lang="ja-JP" altLang="en-US" sz="2800" dirty="0" smtClean="0"/>
              <a:t>は</a:t>
            </a:r>
            <a:r>
              <a:rPr lang="ja-JP" altLang="en-US" sz="2800" dirty="0" smtClean="0"/>
              <a:t>配列</a:t>
            </a:r>
            <a:r>
              <a:rPr lang="en-US" altLang="ja-JP" sz="2800" dirty="0" smtClean="0"/>
              <a:t>a</a:t>
            </a:r>
            <a:r>
              <a:rPr lang="ja-JP" altLang="en-US" sz="2800" dirty="0" smtClean="0"/>
              <a:t>の２番目の要素へのポインタであり、</a:t>
            </a:r>
            <a:r>
              <a:rPr lang="en-US" altLang="ja-JP" sz="2800" dirty="0" smtClean="0"/>
              <a:t>101</a:t>
            </a:r>
            <a:r>
              <a:rPr lang="ja-JP" altLang="en-US" sz="2800" dirty="0" smtClean="0"/>
              <a:t>である。</a:t>
            </a:r>
            <a:r>
              <a:rPr lang="en-US" altLang="ja-JP" sz="2800" dirty="0" smtClean="0"/>
              <a:t>&amp;a[2]</a:t>
            </a:r>
            <a:r>
              <a:rPr lang="ja-JP" altLang="en-US" sz="2800" dirty="0" smtClean="0"/>
              <a:t>は</a:t>
            </a:r>
            <a:r>
              <a:rPr lang="en-US" altLang="ja-JP" sz="2800" dirty="0" smtClean="0"/>
              <a:t>102</a:t>
            </a:r>
            <a:r>
              <a:rPr lang="ja-JP" altLang="en-US" sz="2800" dirty="0" smtClean="0"/>
              <a:t>である。以下同様。</a:t>
            </a:r>
            <a:endParaRPr kumimoji="1" lang="en-US" altLang="ja-JP" sz="2800" dirty="0" smtClean="0"/>
          </a:p>
        </p:txBody>
      </p:sp>
      <p:sp>
        <p:nvSpPr>
          <p:cNvPr id="23" name="テキスト ボックス 22"/>
          <p:cNvSpPr txBox="1"/>
          <p:nvPr/>
        </p:nvSpPr>
        <p:spPr>
          <a:xfrm>
            <a:off x="1785918" y="171448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71448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71448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71448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71448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71448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71448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75288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0034" y="357174"/>
            <a:ext cx="8229600" cy="785810"/>
          </a:xfrm>
        </p:spPr>
        <p:txBody>
          <a:bodyPr>
            <a:noAutofit/>
          </a:bodyPr>
          <a:lstStyle/>
          <a:p>
            <a:r>
              <a:rPr lang="en-US" altLang="ja-JP" sz="3600" dirty="0" err="1" smtClean="0"/>
              <a:t>p</a:t>
            </a:r>
            <a:r>
              <a:rPr kumimoji="1" lang="en-US" altLang="ja-JP" sz="3600" dirty="0" err="1" smtClean="0"/>
              <a:t>rintf</a:t>
            </a:r>
            <a:r>
              <a:rPr kumimoji="1" lang="ja-JP" altLang="en-US" sz="3600" dirty="0" smtClean="0"/>
              <a:t>関数の変換指定の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89576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75302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75302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75302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75302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75302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75302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75302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928662" y="3643314"/>
            <a:ext cx="6643734" cy="2677656"/>
          </a:xfrm>
          <a:prstGeom prst="rect">
            <a:avLst/>
          </a:prstGeom>
          <a:noFill/>
        </p:spPr>
        <p:txBody>
          <a:bodyPr wrap="square" rtlCol="0">
            <a:spAutoFit/>
          </a:bodyPr>
          <a:lstStyle/>
          <a:p>
            <a:r>
              <a:rPr lang="en-US" altLang="ja-JP" sz="2800" dirty="0" smtClean="0"/>
              <a:t> </a:t>
            </a:r>
            <a:r>
              <a:rPr lang="ja-JP" altLang="en-US" sz="2800" dirty="0" smtClean="0"/>
              <a:t>   </a:t>
            </a:r>
            <a:r>
              <a:rPr lang="en-US" altLang="ja-JP" sz="2800" dirty="0" err="1" smtClean="0"/>
              <a:t>printf</a:t>
            </a:r>
            <a:r>
              <a:rPr lang="en-US" altLang="ja-JP" sz="2800" dirty="0" smtClean="0"/>
              <a:t> (“%s”, &amp;a[1]);</a:t>
            </a:r>
          </a:p>
          <a:p>
            <a:r>
              <a:rPr kumimoji="1" lang="ja-JP" altLang="en-US" sz="2800" dirty="0" smtClean="0"/>
              <a:t>が実行されると、</a:t>
            </a:r>
            <a:r>
              <a:rPr lang="en-US" altLang="ja-JP" sz="2800" dirty="0" smtClean="0"/>
              <a:t>101</a:t>
            </a:r>
            <a:r>
              <a:rPr lang="ja-JP" altLang="en-US" sz="2800" dirty="0" smtClean="0"/>
              <a:t>番地から、ヌル文字の１つ手前までの文字が画面に出力される。つまり、</a:t>
            </a:r>
            <a:r>
              <a:rPr lang="en-US" altLang="ja-JP" sz="2800" dirty="0" smtClean="0"/>
              <a:t>in</a:t>
            </a:r>
            <a:r>
              <a:rPr lang="ja-JP" altLang="en-US" sz="2800" dirty="0" smtClean="0"/>
              <a:t>が表示される。</a:t>
            </a:r>
            <a:endParaRPr lang="en-US" altLang="ja-JP" sz="2800" dirty="0" smtClean="0"/>
          </a:p>
          <a:p>
            <a:r>
              <a:rPr lang="en-US" altLang="ja-JP" sz="2800" dirty="0" smtClean="0"/>
              <a:t>    </a:t>
            </a:r>
            <a:r>
              <a:rPr lang="en-US" altLang="ja-JP" sz="2800" dirty="0" err="1" smtClean="0"/>
              <a:t>printf</a:t>
            </a:r>
            <a:r>
              <a:rPr lang="en-US" altLang="ja-JP" sz="2800" dirty="0" smtClean="0"/>
              <a:t> (“%s”, &amp;a[4]);</a:t>
            </a:r>
          </a:p>
          <a:p>
            <a:r>
              <a:rPr lang="ja-JP" altLang="en-US" sz="2800" dirty="0" smtClean="0"/>
              <a:t>だと、</a:t>
            </a:r>
            <a:r>
              <a:rPr lang="en-US" altLang="ja-JP" sz="2800" dirty="0" err="1" smtClean="0"/>
              <a:t>ux</a:t>
            </a:r>
            <a:r>
              <a:rPr lang="ja-JP" altLang="en-US" sz="2800" dirty="0" smtClean="0"/>
              <a:t>が表示される。</a:t>
            </a:r>
            <a:endParaRPr lang="en-US" altLang="ja-JP" sz="2800" dirty="0" smtClean="0"/>
          </a:p>
        </p:txBody>
      </p:sp>
      <p:sp>
        <p:nvSpPr>
          <p:cNvPr id="23" name="テキスト ボックス 22"/>
          <p:cNvSpPr txBox="1"/>
          <p:nvPr/>
        </p:nvSpPr>
        <p:spPr>
          <a:xfrm>
            <a:off x="1785918" y="135729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35729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35729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35729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35729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35729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35729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39569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4" name="テキスト ボックス 3"/>
          <p:cNvSpPr txBox="1"/>
          <p:nvPr/>
        </p:nvSpPr>
        <p:spPr>
          <a:xfrm>
            <a:off x="683568" y="3966155"/>
            <a:ext cx="7920880" cy="830997"/>
          </a:xfrm>
          <a:prstGeom prst="rect">
            <a:avLst/>
          </a:prstGeom>
          <a:noFill/>
          <a:ln>
            <a:solidFill>
              <a:schemeClr val="bg1"/>
            </a:solidFill>
          </a:ln>
        </p:spPr>
        <p:txBody>
          <a:bodyPr wrap="square" rtlCol="0">
            <a:spAutoFit/>
          </a:bodyPr>
          <a:lstStyle/>
          <a:p>
            <a:r>
              <a:rPr lang="en-US" altLang="ja-JP" sz="2400" dirty="0" err="1" smtClean="0"/>
              <a:t>printf</a:t>
            </a:r>
            <a:r>
              <a:rPr lang="ja-JP" altLang="en-US" sz="2400" dirty="0" smtClean="0"/>
              <a:t>の変換指定で</a:t>
            </a:r>
            <a:r>
              <a:rPr lang="en-US" altLang="ja-JP" sz="2400" dirty="0" smtClean="0"/>
              <a:t>float</a:t>
            </a:r>
            <a:r>
              <a:rPr lang="ja-JP" altLang="en-US" sz="2400" dirty="0" smtClean="0"/>
              <a:t>型用のものがないのも規定の実引数拡張による（第２回のスライド参照）。</a:t>
            </a:r>
            <a:endParaRPr kumimoji="1" lang="ja-JP" altLang="en-US" sz="2400" dirty="0"/>
          </a:p>
        </p:txBody>
      </p:sp>
      <p:sp>
        <p:nvSpPr>
          <p:cNvPr id="5" name="正方形/長方形 4"/>
          <p:cNvSpPr/>
          <p:nvPr/>
        </p:nvSpPr>
        <p:spPr>
          <a:xfrm>
            <a:off x="683568" y="1562016"/>
            <a:ext cx="7632848" cy="1938992"/>
          </a:xfrm>
          <a:prstGeom prst="rect">
            <a:avLst/>
          </a:prstGeom>
        </p:spPr>
        <p:txBody>
          <a:bodyPr wrap="square">
            <a:spAutoFit/>
          </a:bodyPr>
          <a:lstStyle/>
          <a:p>
            <a:r>
              <a:rPr lang="en-US" altLang="ja-JP" sz="2400" dirty="0" err="1" smtClean="0"/>
              <a:t>printf</a:t>
            </a:r>
            <a:r>
              <a:rPr lang="ja-JP" altLang="en-US" sz="2400" dirty="0" smtClean="0"/>
              <a:t>の変換指定で</a:t>
            </a:r>
            <a:r>
              <a:rPr lang="en-US" altLang="ja-JP" sz="2400" dirty="0" smtClean="0"/>
              <a:t>%c</a:t>
            </a:r>
            <a:r>
              <a:rPr lang="ja-JP" altLang="en-US" sz="2400" dirty="0" smtClean="0"/>
              <a:t>を使う場合、引数の型は</a:t>
            </a:r>
            <a:r>
              <a:rPr lang="en-US" altLang="ja-JP" sz="2400" dirty="0" err="1" smtClean="0"/>
              <a:t>int</a:t>
            </a:r>
            <a:r>
              <a:rPr lang="ja-JP" altLang="en-US" sz="2400" dirty="0" smtClean="0"/>
              <a:t>型と書いたが、</a:t>
            </a:r>
            <a:r>
              <a:rPr lang="en-US" altLang="ja-JP" sz="2400" dirty="0" smtClean="0"/>
              <a:t>char</a:t>
            </a:r>
            <a:r>
              <a:rPr lang="ja-JP" altLang="en-US" sz="2400" dirty="0" smtClean="0"/>
              <a:t>型でもよい。もし</a:t>
            </a:r>
            <a:r>
              <a:rPr lang="en-US" altLang="ja-JP" sz="2400" dirty="0" smtClean="0"/>
              <a:t>char</a:t>
            </a:r>
            <a:r>
              <a:rPr lang="ja-JP" altLang="en-US" sz="2400" dirty="0" smtClean="0"/>
              <a:t>型の式が与えられた場合は、規定の実引数拡張</a:t>
            </a:r>
            <a:r>
              <a:rPr lang="en-US" altLang="ja-JP" sz="2400" dirty="0" smtClean="0"/>
              <a:t>(default argument promotion)</a:t>
            </a:r>
            <a:r>
              <a:rPr lang="ja-JP" altLang="en-US" sz="2400" dirty="0" smtClean="0"/>
              <a:t>により、自動的に</a:t>
            </a:r>
            <a:r>
              <a:rPr lang="en-US" altLang="ja-JP" sz="2400" dirty="0" err="1" smtClean="0"/>
              <a:t>int</a:t>
            </a:r>
            <a:r>
              <a:rPr lang="ja-JP" altLang="en-US" sz="2400" dirty="0" smtClean="0"/>
              <a:t>型に変換される</a:t>
            </a:r>
            <a:r>
              <a:rPr lang="en-US" altLang="ja-JP" sz="2400" dirty="0" smtClean="0"/>
              <a:t>(</a:t>
            </a:r>
            <a:r>
              <a:rPr lang="en-US" altLang="ja-JP" sz="2400" dirty="0" err="1" smtClean="0"/>
              <a:t>printf</a:t>
            </a:r>
            <a:r>
              <a:rPr lang="ja-JP" altLang="en-US" sz="2400" dirty="0" smtClean="0"/>
              <a:t>の引数の個数は可変なので</a:t>
            </a:r>
            <a:r>
              <a:rPr lang="en-US" altLang="ja-JP" sz="2400" dirty="0" smtClean="0"/>
              <a:t>)</a:t>
            </a:r>
            <a:r>
              <a:rPr lang="ja-JP" altLang="en-US" sz="2400" dirty="0" err="1" smtClean="0"/>
              <a:t>。</a:t>
            </a:r>
            <a:r>
              <a:rPr lang="ja-JP" altLang="en-US" sz="2400" dirty="0" smtClean="0"/>
              <a:t>これは本講義の範囲外とし、説明はしない。</a:t>
            </a:r>
            <a:endParaRPr lang="en-US" altLang="ja-JP" sz="2400"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改行文字</a:t>
            </a:r>
            <a:endParaRPr kumimoji="1" lang="ja-JP" altLang="en-US" dirty="0"/>
          </a:p>
        </p:txBody>
      </p:sp>
      <p:sp>
        <p:nvSpPr>
          <p:cNvPr id="4" name="テキスト ボックス 3"/>
          <p:cNvSpPr txBox="1"/>
          <p:nvPr/>
        </p:nvSpPr>
        <p:spPr>
          <a:xfrm>
            <a:off x="683568" y="1613118"/>
            <a:ext cx="7776864" cy="1815882"/>
          </a:xfrm>
          <a:prstGeom prst="rect">
            <a:avLst/>
          </a:prstGeom>
          <a:noFill/>
        </p:spPr>
        <p:txBody>
          <a:bodyPr wrap="square" rtlCol="0">
            <a:spAutoFit/>
          </a:bodyPr>
          <a:lstStyle/>
          <a:p>
            <a:r>
              <a:rPr lang="ja-JP" altLang="en-US" sz="2800" dirty="0" smtClean="0"/>
              <a:t>改行文字は</a:t>
            </a:r>
            <a:r>
              <a:rPr lang="en-US" altLang="ja-JP" sz="2800" dirty="0" smtClean="0"/>
              <a:t>’\n’</a:t>
            </a:r>
            <a:r>
              <a:rPr lang="ja-JP" altLang="en-US" sz="2800" dirty="0" smtClean="0"/>
              <a:t>で表す。</a:t>
            </a:r>
            <a:endParaRPr lang="en-US" altLang="ja-JP" sz="2800" dirty="0" smtClean="0"/>
          </a:p>
          <a:p>
            <a:r>
              <a:rPr lang="en-US" altLang="ja-JP" sz="2800" dirty="0" smtClean="0"/>
              <a:t>‘\n’</a:t>
            </a:r>
            <a:r>
              <a:rPr lang="ja-JP" altLang="en-US" sz="2800" dirty="0" smtClean="0"/>
              <a:t>自体は</a:t>
            </a:r>
            <a:r>
              <a:rPr lang="en-US" altLang="ja-JP" sz="2800" dirty="0" err="1" smtClean="0"/>
              <a:t>int</a:t>
            </a:r>
            <a:r>
              <a:rPr lang="ja-JP" altLang="en-US" sz="2800" dirty="0" smtClean="0"/>
              <a:t>型の数だが、</a:t>
            </a:r>
            <a:r>
              <a:rPr lang="en-US" altLang="ja-JP" sz="2800" dirty="0" smtClean="0"/>
              <a:t>char</a:t>
            </a:r>
            <a:r>
              <a:rPr lang="ja-JP" altLang="en-US" sz="2800" dirty="0" smtClean="0"/>
              <a:t>型の変数や</a:t>
            </a:r>
            <a:r>
              <a:rPr lang="en-US" altLang="ja-JP" sz="2800" dirty="0" smtClean="0"/>
              <a:t>char</a:t>
            </a:r>
            <a:r>
              <a:rPr lang="ja-JP" altLang="en-US" sz="2800" dirty="0" smtClean="0"/>
              <a:t>型の配列の要素に代入するときは自動的に</a:t>
            </a:r>
            <a:r>
              <a:rPr lang="en-US" altLang="ja-JP" sz="2800" dirty="0" smtClean="0"/>
              <a:t>char</a:t>
            </a:r>
            <a:r>
              <a:rPr lang="ja-JP" altLang="en-US" sz="2800" dirty="0" smtClean="0"/>
              <a:t>型の数に変換されてから代入される（暗黙の型変換）。</a:t>
            </a:r>
            <a:endParaRPr lang="en-US" altLang="ja-JP" sz="2800" dirty="0" smtClean="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文字列リテラル</a:t>
            </a:r>
            <a:endParaRPr kumimoji="1" lang="ja-JP" altLang="en-US" dirty="0"/>
          </a:p>
        </p:txBody>
      </p:sp>
      <p:sp>
        <p:nvSpPr>
          <p:cNvPr id="4" name="テキスト ボックス 3"/>
          <p:cNvSpPr txBox="1"/>
          <p:nvPr/>
        </p:nvSpPr>
        <p:spPr>
          <a:xfrm>
            <a:off x="500034" y="1428736"/>
            <a:ext cx="8215369" cy="1815882"/>
          </a:xfrm>
          <a:prstGeom prst="rect">
            <a:avLst/>
          </a:prstGeom>
          <a:noFill/>
        </p:spPr>
        <p:txBody>
          <a:bodyPr wrap="square" rtlCol="0">
            <a:spAutoFit/>
          </a:bodyPr>
          <a:lstStyle/>
          <a:p>
            <a:r>
              <a:rPr lang="ja-JP" altLang="en-US" sz="2800" dirty="0" smtClean="0"/>
              <a:t>ダブルクォート  </a:t>
            </a:r>
            <a:r>
              <a:rPr lang="en-US" altLang="ja-JP" sz="2800" dirty="0" smtClean="0"/>
              <a:t>” </a:t>
            </a:r>
            <a:r>
              <a:rPr lang="ja-JP" altLang="en-US" sz="2800" dirty="0" smtClean="0"/>
              <a:t>で囲んだものを文字列リテラルという。</a:t>
            </a:r>
            <a:endParaRPr lang="en-US" altLang="ja-JP" sz="2800" dirty="0" smtClean="0"/>
          </a:p>
          <a:p>
            <a:r>
              <a:rPr lang="ja-JP" altLang="en-US" sz="2800" dirty="0" smtClean="0"/>
              <a:t>（例）</a:t>
            </a:r>
            <a:r>
              <a:rPr kumimoji="1" lang="en-US" altLang="ja-JP" sz="2800" dirty="0" smtClean="0"/>
              <a:t>”</a:t>
            </a:r>
            <a:r>
              <a:rPr kumimoji="1" lang="en-US" altLang="ja-JP" sz="2800" dirty="0" err="1" smtClean="0"/>
              <a:t>abc</a:t>
            </a:r>
            <a:r>
              <a:rPr kumimoji="1" lang="en-US" altLang="ja-JP" sz="2800" dirty="0" smtClean="0"/>
              <a:t>”</a:t>
            </a:r>
            <a:r>
              <a:rPr kumimoji="1" lang="ja-JP" altLang="en-US" sz="2800" dirty="0" smtClean="0"/>
              <a:t>など。</a:t>
            </a:r>
            <a:endParaRPr kumimoji="1" lang="en-US" altLang="ja-JP" sz="2800" dirty="0" smtClean="0"/>
          </a:p>
          <a:p>
            <a:r>
              <a:rPr lang="ja-JP" altLang="en-US" sz="2800" dirty="0" smtClean="0"/>
              <a:t>これは、</a:t>
            </a:r>
            <a:r>
              <a:rPr lang="en-US" altLang="ja-JP" sz="2800" dirty="0" smtClean="0"/>
              <a:t>char</a:t>
            </a:r>
            <a:r>
              <a:rPr lang="ja-JP" altLang="en-US" sz="2800" dirty="0" smtClean="0"/>
              <a:t>型の並び（配列）であり、最後にヌル文字が追加されたものである。</a:t>
            </a:r>
            <a:endParaRPr lang="en-US" altLang="ja-JP" sz="2800" dirty="0" smtClean="0"/>
          </a:p>
        </p:txBody>
      </p:sp>
      <p:graphicFrame>
        <p:nvGraphicFramePr>
          <p:cNvPr id="5" name="表 4"/>
          <p:cNvGraphicFramePr>
            <a:graphicFrameLocks noGrp="1"/>
          </p:cNvGraphicFramePr>
          <p:nvPr/>
        </p:nvGraphicFramePr>
        <p:xfrm>
          <a:off x="1357290" y="4929198"/>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正方形/長方形 6"/>
          <p:cNvSpPr/>
          <p:nvPr/>
        </p:nvSpPr>
        <p:spPr>
          <a:xfrm>
            <a:off x="571472" y="3500438"/>
            <a:ext cx="8358214" cy="1384995"/>
          </a:xfrm>
          <a:prstGeom prst="rect">
            <a:avLst/>
          </a:prstGeom>
        </p:spPr>
        <p:txBody>
          <a:bodyPr wrap="square">
            <a:spAutoFit/>
          </a:bodyPr>
          <a:lstStyle/>
          <a:p>
            <a:pPr lvl="0"/>
            <a:r>
              <a:rPr lang="ja-JP" altLang="en-US" sz="2800" dirty="0" smtClean="0">
                <a:solidFill>
                  <a:prstClr val="black"/>
                </a:solidFill>
              </a:rPr>
              <a:t>（例）</a:t>
            </a:r>
            <a:r>
              <a:rPr lang="en-US" altLang="ja-JP" sz="2800" dirty="0" smtClean="0">
                <a:solidFill>
                  <a:prstClr val="black"/>
                </a:solidFill>
              </a:rPr>
              <a:t>“</a:t>
            </a:r>
            <a:r>
              <a:rPr lang="en-US" altLang="ja-JP" sz="2800" dirty="0" err="1" smtClean="0">
                <a:solidFill>
                  <a:prstClr val="black"/>
                </a:solidFill>
              </a:rPr>
              <a:t>abc</a:t>
            </a:r>
            <a:r>
              <a:rPr lang="en-US" altLang="ja-JP" sz="2800" dirty="0" smtClean="0">
                <a:solidFill>
                  <a:prstClr val="black"/>
                </a:solidFill>
              </a:rPr>
              <a:t>\0de”</a:t>
            </a:r>
            <a:r>
              <a:rPr lang="ja-JP" altLang="en-US" sz="2800" dirty="0" smtClean="0">
                <a:solidFill>
                  <a:prstClr val="black"/>
                </a:solidFill>
              </a:rPr>
              <a:t>は文字列リテラルである。最後にヌル文字が追加されるので、以下の</a:t>
            </a:r>
            <a:r>
              <a:rPr lang="en-US" altLang="ja-JP" sz="2800" dirty="0" smtClean="0">
                <a:solidFill>
                  <a:prstClr val="black"/>
                </a:solidFill>
              </a:rPr>
              <a:t>char</a:t>
            </a:r>
            <a:r>
              <a:rPr lang="ja-JP" altLang="en-US" sz="2800" dirty="0" smtClean="0">
                <a:solidFill>
                  <a:prstClr val="black"/>
                </a:solidFill>
              </a:rPr>
              <a:t>型の並び（長さ</a:t>
            </a:r>
            <a:r>
              <a:rPr lang="en-US" altLang="ja-JP" sz="2800" dirty="0" smtClean="0">
                <a:solidFill>
                  <a:prstClr val="black"/>
                </a:solidFill>
              </a:rPr>
              <a:t>7</a:t>
            </a:r>
            <a:r>
              <a:rPr lang="ja-JP" altLang="en-US" sz="2800" dirty="0" smtClean="0">
                <a:solidFill>
                  <a:prstClr val="black"/>
                </a:solidFill>
              </a:rPr>
              <a:t>の</a:t>
            </a:r>
            <a:r>
              <a:rPr lang="en-US" altLang="ja-JP" sz="2800" dirty="0" smtClean="0">
                <a:solidFill>
                  <a:prstClr val="black"/>
                </a:solidFill>
              </a:rPr>
              <a:t>char</a:t>
            </a:r>
            <a:r>
              <a:rPr lang="ja-JP" altLang="en-US" sz="2800" dirty="0" smtClean="0">
                <a:solidFill>
                  <a:prstClr val="black"/>
                </a:solidFill>
              </a:rPr>
              <a:t>型の配列）となる。</a:t>
            </a:r>
            <a:endParaRPr lang="ja-JP" altLang="en-US" sz="2800" dirty="0">
              <a:solidFill>
                <a:prstClr val="black"/>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5" name="正方形/長方形 4"/>
          <p:cNvSpPr/>
          <p:nvPr/>
        </p:nvSpPr>
        <p:spPr>
          <a:xfrm>
            <a:off x="1500166" y="1714488"/>
            <a:ext cx="4214842" cy="224676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err="1" smtClean="0"/>
              <a:t>abc</a:t>
            </a:r>
            <a:r>
              <a:rPr lang="en-US" altLang="ja-JP" sz="2800" dirty="0" smtClean="0"/>
              <a:t>\0de");</a:t>
            </a:r>
          </a:p>
          <a:p>
            <a:r>
              <a:rPr lang="en-US" altLang="ja-JP" sz="2800" dirty="0" smtClean="0"/>
              <a:t>    return 0;</a:t>
            </a:r>
          </a:p>
          <a:p>
            <a:r>
              <a:rPr lang="en-US" altLang="ja-JP" sz="2800" dirty="0" smtClean="0"/>
              <a:t>}</a:t>
            </a:r>
          </a:p>
        </p:txBody>
      </p:sp>
      <p:sp>
        <p:nvSpPr>
          <p:cNvPr id="6" name="正方形/長方形 5"/>
          <p:cNvSpPr/>
          <p:nvPr/>
        </p:nvSpPr>
        <p:spPr>
          <a:xfrm>
            <a:off x="785786" y="4429132"/>
            <a:ext cx="7500990" cy="954107"/>
          </a:xfrm>
          <a:prstGeom prst="rect">
            <a:avLst/>
          </a:prstGeom>
        </p:spPr>
        <p:txBody>
          <a:bodyPr wrap="square">
            <a:spAutoFit/>
          </a:bodyPr>
          <a:lstStyle/>
          <a:p>
            <a:pPr lvl="0"/>
            <a:r>
              <a:rPr lang="ja-JP" altLang="en-US" sz="2800" dirty="0" smtClean="0">
                <a:solidFill>
                  <a:prstClr val="black"/>
                </a:solidFill>
              </a:rPr>
              <a:t>これを実行すると、</a:t>
            </a:r>
            <a:r>
              <a:rPr lang="en-US" altLang="ja-JP" sz="2800" dirty="0" err="1" smtClean="0">
                <a:solidFill>
                  <a:prstClr val="black"/>
                </a:solidFill>
              </a:rPr>
              <a:t>abc</a:t>
            </a:r>
            <a:r>
              <a:rPr lang="ja-JP" altLang="en-US" sz="2800" dirty="0" smtClean="0">
                <a:solidFill>
                  <a:prstClr val="black"/>
                </a:solidFill>
              </a:rPr>
              <a:t>が表示される（</a:t>
            </a:r>
            <a:r>
              <a:rPr lang="en-US" altLang="ja-JP" sz="2800" dirty="0" smtClean="0">
                <a:solidFill>
                  <a:prstClr val="black"/>
                </a:solidFill>
              </a:rPr>
              <a:t>de</a:t>
            </a:r>
            <a:r>
              <a:rPr lang="ja-JP" altLang="en-US" sz="2800" dirty="0" smtClean="0">
                <a:solidFill>
                  <a:prstClr val="black"/>
                </a:solidFill>
              </a:rPr>
              <a:t>は表示されない）。</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文字の読み込み</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smtClean="0"/>
              <a:t>１文字の読み込みは、</a:t>
            </a:r>
            <a:r>
              <a:rPr kumimoji="1" lang="en-US" altLang="ja-JP" sz="2800" dirty="0" err="1" smtClean="0"/>
              <a:t>scanf</a:t>
            </a:r>
            <a:r>
              <a:rPr kumimoji="1" lang="ja-JP" altLang="en-US" sz="2800" dirty="0" smtClean="0"/>
              <a:t>関数で変換指定として</a:t>
            </a:r>
            <a:r>
              <a:rPr kumimoji="1" lang="en-US" altLang="ja-JP" sz="2800" dirty="0" smtClean="0"/>
              <a:t>%c</a:t>
            </a:r>
            <a:r>
              <a:rPr kumimoji="1" lang="ja-JP" altLang="en-US" sz="2800" dirty="0" smtClean="0"/>
              <a:t>を用いて行う。</a:t>
            </a:r>
            <a:endParaRPr kumimoji="1" lang="ja-JP" altLang="en-US" sz="2800" dirty="0"/>
          </a:p>
        </p:txBody>
      </p:sp>
      <p:sp>
        <p:nvSpPr>
          <p:cNvPr id="5" name="正方形/長方形 4"/>
          <p:cNvSpPr/>
          <p:nvPr/>
        </p:nvSpPr>
        <p:spPr>
          <a:xfrm>
            <a:off x="755576" y="2769890"/>
            <a:ext cx="4572000" cy="3539430"/>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a:t>
            </a:r>
          </a:p>
          <a:p>
            <a:r>
              <a:rPr lang="en-US" altLang="ja-JP" sz="2800" dirty="0" smtClean="0"/>
              <a:t>  </a:t>
            </a:r>
            <a:r>
              <a:rPr lang="en-US" altLang="ja-JP" sz="2800" dirty="0" err="1" smtClean="0"/>
              <a:t>printf</a:t>
            </a:r>
            <a:r>
              <a:rPr lang="en-US" altLang="ja-JP" sz="2800" dirty="0" smtClean="0"/>
              <a:t> ("Input characters: ");</a:t>
            </a:r>
          </a:p>
          <a:p>
            <a:r>
              <a:rPr lang="en-US" altLang="ja-JP" sz="2800" dirty="0" smtClean="0"/>
              <a:t>  </a:t>
            </a:r>
            <a:r>
              <a:rPr lang="en-US" altLang="ja-JP" sz="2800" dirty="0" err="1" smtClean="0">
                <a:solidFill>
                  <a:srgbClr val="FF0000"/>
                </a:solidFill>
              </a:rPr>
              <a:t>scanf</a:t>
            </a:r>
            <a:r>
              <a:rPr lang="en-US" altLang="ja-JP" sz="2800" dirty="0" smtClean="0">
                <a:solidFill>
                  <a:srgbClr val="FF0000"/>
                </a:solidFill>
              </a:rPr>
              <a:t> ("%c", &amp;a);</a:t>
            </a:r>
          </a:p>
          <a:p>
            <a:r>
              <a:rPr lang="en-US" altLang="ja-JP" sz="2800" dirty="0" smtClean="0"/>
              <a:t>  </a:t>
            </a:r>
            <a:r>
              <a:rPr lang="en-US" altLang="ja-JP" sz="2800" dirty="0" err="1" smtClean="0"/>
              <a:t>printf</a:t>
            </a:r>
            <a:r>
              <a:rPr lang="en-US" altLang="ja-JP" sz="2800" dirty="0" smtClean="0"/>
              <a:t> ("%c\n", a);</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652120" y="2852936"/>
            <a:ext cx="3096344" cy="1938992"/>
          </a:xfrm>
          <a:prstGeom prst="rect">
            <a:avLst/>
          </a:prstGeom>
          <a:noFill/>
        </p:spPr>
        <p:txBody>
          <a:bodyPr wrap="square" rtlCol="0">
            <a:spAutoFit/>
          </a:bodyPr>
          <a:lstStyle/>
          <a:p>
            <a:r>
              <a:rPr kumimoji="1" lang="en-US" altLang="ja-JP" sz="2400" dirty="0" smtClean="0"/>
              <a:t>%d</a:t>
            </a:r>
            <a:r>
              <a:rPr kumimoji="1" lang="ja-JP" altLang="en-US" sz="2400" dirty="0" smtClean="0"/>
              <a:t>や</a:t>
            </a:r>
            <a:r>
              <a:rPr lang="en-US" altLang="ja-JP" sz="2400" dirty="0" smtClean="0"/>
              <a:t>%s</a:t>
            </a:r>
            <a:r>
              <a:rPr kumimoji="1" lang="ja-JP" altLang="en-US" sz="2400" dirty="0" smtClean="0"/>
              <a:t>の場合と違い、</a:t>
            </a:r>
            <a:r>
              <a:rPr lang="en-US" altLang="ja-JP" sz="2400" dirty="0" smtClean="0"/>
              <a:t>%c</a:t>
            </a:r>
            <a:r>
              <a:rPr lang="ja-JP" altLang="en-US" sz="2400" dirty="0" smtClean="0"/>
              <a:t>の場合は</a:t>
            </a:r>
            <a:r>
              <a:rPr kumimoji="1" lang="ja-JP" altLang="en-US" sz="2400" dirty="0" smtClean="0"/>
              <a:t>入力文字が改行、空白、タブ</a:t>
            </a:r>
            <a:r>
              <a:rPr lang="ja-JP" altLang="en-US" sz="2400" dirty="0" smtClean="0"/>
              <a:t>などの</a:t>
            </a:r>
            <a:r>
              <a:rPr kumimoji="1" lang="ja-JP" altLang="en-US" sz="2400" dirty="0" smtClean="0"/>
              <a:t>場合も読み込まれる。</a:t>
            </a:r>
            <a:endParaRPr kumimoji="1" lang="ja-JP" alt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文字列の読み込み（打ち込んで確認）</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smtClean="0"/>
              <a:t>文字列の読み込みは、</a:t>
            </a:r>
            <a:r>
              <a:rPr kumimoji="1" lang="en-US" altLang="ja-JP" sz="2800" dirty="0" err="1" smtClean="0"/>
              <a:t>scanf</a:t>
            </a:r>
            <a:r>
              <a:rPr kumimoji="1" lang="ja-JP" altLang="en-US" sz="2800" dirty="0" smtClean="0"/>
              <a:t>関数で変換指定として</a:t>
            </a:r>
            <a:r>
              <a:rPr kumimoji="1" lang="en-US" altLang="ja-JP" sz="2800" dirty="0" smtClean="0"/>
              <a:t>%s</a:t>
            </a:r>
            <a:r>
              <a:rPr kumimoji="1" lang="ja-JP" altLang="en-US" sz="2800" dirty="0" smtClean="0"/>
              <a:t>を用いて行う。</a:t>
            </a:r>
            <a:endParaRPr kumimoji="1" lang="ja-JP" altLang="en-US" sz="2800" dirty="0"/>
          </a:p>
        </p:txBody>
      </p:sp>
      <p:sp>
        <p:nvSpPr>
          <p:cNvPr id="6" name="正方形/長方形 5"/>
          <p:cNvSpPr/>
          <p:nvPr/>
        </p:nvSpPr>
        <p:spPr>
          <a:xfrm>
            <a:off x="1259632" y="2492896"/>
            <a:ext cx="4572000" cy="3539430"/>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a[7];</a:t>
            </a:r>
          </a:p>
          <a:p>
            <a:r>
              <a:rPr lang="en-US" altLang="ja-JP" sz="2800" dirty="0" smtClean="0"/>
              <a:t>  </a:t>
            </a:r>
            <a:r>
              <a:rPr lang="en-US" altLang="ja-JP" sz="2800" dirty="0" err="1" smtClean="0"/>
              <a:t>printf</a:t>
            </a:r>
            <a:r>
              <a:rPr lang="en-US" altLang="ja-JP" sz="2800" dirty="0" smtClean="0"/>
              <a:t> ("Input characters: ");</a:t>
            </a:r>
          </a:p>
          <a:p>
            <a:r>
              <a:rPr lang="en-US" altLang="ja-JP" sz="2800" dirty="0" smtClean="0"/>
              <a:t>  </a:t>
            </a:r>
            <a:r>
              <a:rPr lang="en-US" altLang="ja-JP" sz="2800" dirty="0" err="1" smtClean="0">
                <a:solidFill>
                  <a:srgbClr val="FF0000"/>
                </a:solidFill>
              </a:rPr>
              <a:t>scanf</a:t>
            </a:r>
            <a:r>
              <a:rPr lang="en-US" altLang="ja-JP" sz="2800" dirty="0" smtClean="0">
                <a:solidFill>
                  <a:srgbClr val="FF0000"/>
                </a:solidFill>
              </a:rPr>
              <a:t> ("%s", &amp;a[0]);</a:t>
            </a:r>
          </a:p>
          <a:p>
            <a:r>
              <a:rPr lang="en-US" altLang="ja-JP" sz="2800" dirty="0" smtClean="0"/>
              <a:t>  </a:t>
            </a:r>
            <a:r>
              <a:rPr lang="en-US" altLang="ja-JP" sz="2800" dirty="0" err="1" smtClean="0"/>
              <a:t>printf</a:t>
            </a:r>
            <a:r>
              <a:rPr lang="en-US" altLang="ja-JP" sz="2800" dirty="0" smtClean="0"/>
              <a:t> ("%s\n", &amp;a[0]);</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6084168" y="3501008"/>
            <a:ext cx="2736304" cy="2677656"/>
          </a:xfrm>
          <a:prstGeom prst="rect">
            <a:avLst/>
          </a:prstGeom>
          <a:noFill/>
        </p:spPr>
        <p:txBody>
          <a:bodyPr wrap="square" rtlCol="0">
            <a:spAutoFit/>
          </a:bodyPr>
          <a:lstStyle/>
          <a:p>
            <a:r>
              <a:rPr lang="en-US" altLang="ja-JP" sz="2800" dirty="0" err="1" smtClean="0"/>
              <a:t>scanf</a:t>
            </a:r>
            <a:r>
              <a:rPr lang="ja-JP" altLang="en-US" sz="2800" dirty="0" smtClean="0"/>
              <a:t>は、入力文字中に空白文字があると、空白文字の手前までが配列に格納される。</a:t>
            </a:r>
            <a:endParaRPr kumimoji="1" lang="ja-JP" altLang="en-US" sz="28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0034" y="357174"/>
            <a:ext cx="8229600" cy="785810"/>
          </a:xfrm>
        </p:spPr>
        <p:txBody>
          <a:bodyPr>
            <a:noAutofit/>
          </a:bodyPr>
          <a:lstStyle/>
          <a:p>
            <a:r>
              <a:rPr kumimoji="1" lang="en-US" altLang="ja-JP" sz="3600" dirty="0" err="1" smtClean="0"/>
              <a:t>scanf</a:t>
            </a:r>
            <a:r>
              <a:rPr kumimoji="1" lang="ja-JP" altLang="en-US" sz="3600" dirty="0" smtClean="0"/>
              <a:t>関数の変換指定の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752889"/>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610145"/>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610145"/>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610145"/>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610145"/>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610145"/>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610145"/>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610145"/>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285720" y="3214686"/>
            <a:ext cx="8429684" cy="3539430"/>
          </a:xfrm>
          <a:prstGeom prst="rect">
            <a:avLst/>
          </a:prstGeom>
          <a:noFill/>
        </p:spPr>
        <p:txBody>
          <a:bodyPr wrap="square" rtlCol="0">
            <a:spAutoFit/>
          </a:bodyPr>
          <a:lstStyle/>
          <a:p>
            <a:r>
              <a:rPr lang="en-US" altLang="ja-JP" sz="2800" dirty="0" smtClean="0"/>
              <a:t> </a:t>
            </a:r>
            <a:r>
              <a:rPr lang="ja-JP" altLang="en-US" sz="2800" dirty="0" smtClean="0"/>
              <a:t>   </a:t>
            </a:r>
            <a:r>
              <a:rPr lang="en-US" altLang="ja-JP" sz="2800" dirty="0" err="1" smtClean="0"/>
              <a:t>scanf</a:t>
            </a:r>
            <a:r>
              <a:rPr lang="en-US" altLang="ja-JP" sz="2800" dirty="0" smtClean="0"/>
              <a:t> (“%s”, &amp;a[0]);</a:t>
            </a:r>
          </a:p>
          <a:p>
            <a:r>
              <a:rPr kumimoji="1" lang="ja-JP" altLang="en-US" sz="2800" dirty="0" smtClean="0"/>
              <a:t>が実行されると、例えば</a:t>
            </a:r>
            <a:r>
              <a:rPr kumimoji="1" lang="en-US" altLang="ja-JP" sz="2800" dirty="0" err="1" smtClean="0"/>
              <a:t>abcde</a:t>
            </a:r>
            <a:r>
              <a:rPr kumimoji="1" lang="ja-JP" altLang="en-US" sz="2800" dirty="0" smtClean="0"/>
              <a:t>を入力した場合、</a:t>
            </a:r>
            <a:r>
              <a:rPr lang="en-US" altLang="ja-JP" sz="2800" dirty="0" smtClean="0"/>
              <a:t>100</a:t>
            </a:r>
            <a:r>
              <a:rPr lang="ja-JP" altLang="en-US" sz="2800" dirty="0" smtClean="0"/>
              <a:t>番地から</a:t>
            </a:r>
            <a:r>
              <a:rPr lang="en-US" altLang="ja-JP" sz="2800" dirty="0" smtClean="0"/>
              <a:t>104</a:t>
            </a:r>
            <a:r>
              <a:rPr lang="ja-JP" altLang="en-US" sz="2800" dirty="0" smtClean="0"/>
              <a:t>番地まで</a:t>
            </a:r>
            <a:r>
              <a:rPr lang="en-US" altLang="ja-JP" sz="2800" dirty="0" err="1" smtClean="0"/>
              <a:t>a,b,c,d,e</a:t>
            </a:r>
            <a:r>
              <a:rPr lang="ja-JP" altLang="en-US" sz="2800" dirty="0" smtClean="0"/>
              <a:t>が順番に格納され、</a:t>
            </a:r>
            <a:r>
              <a:rPr lang="en-US" altLang="ja-JP" sz="2800" dirty="0" smtClean="0"/>
              <a:t>105</a:t>
            </a:r>
            <a:r>
              <a:rPr lang="ja-JP" altLang="en-US" sz="2800" dirty="0" smtClean="0"/>
              <a:t>番地にヌル文字が格納される。最後にヌル文字が格納されるので、配列のサイズ</a:t>
            </a:r>
            <a:r>
              <a:rPr lang="en-US" altLang="ja-JP" sz="2800" dirty="0" smtClean="0"/>
              <a:t>-1</a:t>
            </a:r>
            <a:r>
              <a:rPr lang="ja-JP" altLang="en-US" sz="2800" dirty="0" smtClean="0"/>
              <a:t>の長さを超えて入力してはいけない。それ以上入力したらあふれた部分も書きこまれる（バッファーオーバーフロー）。 これは攻撃の対象になるので対処が必要だが、本講義の範囲外とする。</a:t>
            </a:r>
            <a:endParaRPr lang="en-US" altLang="ja-JP" sz="2800" dirty="0" smtClean="0"/>
          </a:p>
        </p:txBody>
      </p:sp>
      <p:sp>
        <p:nvSpPr>
          <p:cNvPr id="23" name="テキスト ボックス 22"/>
          <p:cNvSpPr txBox="1"/>
          <p:nvPr/>
        </p:nvSpPr>
        <p:spPr>
          <a:xfrm>
            <a:off x="1785918" y="1214422"/>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214422"/>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214422"/>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21442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21442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214422"/>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214422"/>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252823"/>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gets</a:t>
            </a:r>
            <a:r>
              <a:rPr kumimoji="1" lang="ja-JP" altLang="en-US" dirty="0" smtClean="0"/>
              <a:t>関数</a:t>
            </a:r>
            <a:endParaRPr kumimoji="1" lang="ja-JP" altLang="en-US" dirty="0"/>
          </a:p>
        </p:txBody>
      </p:sp>
      <p:sp>
        <p:nvSpPr>
          <p:cNvPr id="4" name="テキスト ボックス 3"/>
          <p:cNvSpPr txBox="1"/>
          <p:nvPr/>
        </p:nvSpPr>
        <p:spPr>
          <a:xfrm>
            <a:off x="785786" y="1142984"/>
            <a:ext cx="7929618" cy="2677656"/>
          </a:xfrm>
          <a:prstGeom prst="rect">
            <a:avLst/>
          </a:prstGeom>
          <a:noFill/>
        </p:spPr>
        <p:txBody>
          <a:bodyPr wrap="square" rtlCol="0">
            <a:spAutoFit/>
          </a:bodyPr>
          <a:lstStyle/>
          <a:p>
            <a:r>
              <a:rPr lang="ja-JP" altLang="en-US" sz="2400" dirty="0" smtClean="0"/>
              <a:t>空白がある文字列は</a:t>
            </a:r>
            <a:r>
              <a:rPr kumimoji="1" lang="en-US" altLang="ja-JP" sz="2400" dirty="0" smtClean="0"/>
              <a:t>gets</a:t>
            </a:r>
            <a:r>
              <a:rPr kumimoji="1" lang="ja-JP" altLang="en-US" sz="2400" dirty="0" smtClean="0"/>
              <a:t>関数を用いる</a:t>
            </a:r>
            <a:r>
              <a:rPr lang="ja-JP" altLang="en-US" sz="2400" dirty="0" smtClean="0"/>
              <a:t>と読み込ませることができる。</a:t>
            </a:r>
            <a:r>
              <a:rPr lang="en-US" altLang="ja-JP" sz="2400" dirty="0" smtClean="0"/>
              <a:t>gets</a:t>
            </a:r>
            <a:r>
              <a:rPr lang="ja-JP" altLang="en-US" sz="2400" dirty="0" smtClean="0"/>
              <a:t>関数は改行まで読み込み、改行文字をヌル文字に置き換えて配列に格納する。これも配列のサイズを超えた場合にも書きこまれる。</a:t>
            </a:r>
            <a:r>
              <a:rPr lang="en-US" altLang="ja-JP" sz="2400" dirty="0" smtClean="0"/>
              <a:t>(</a:t>
            </a:r>
            <a:r>
              <a:rPr lang="en-US" altLang="ja-JP" sz="2400" dirty="0" err="1" smtClean="0"/>
              <a:t>fgets</a:t>
            </a:r>
            <a:r>
              <a:rPr lang="ja-JP" altLang="en-US" sz="2400" dirty="0" smtClean="0"/>
              <a:t>関数を用いるとこれに対処できるが、本講義の範囲外とする。）</a:t>
            </a:r>
            <a:endParaRPr lang="en-US" altLang="ja-JP" sz="2400" dirty="0" smtClean="0"/>
          </a:p>
          <a:p>
            <a:r>
              <a:rPr lang="en-US" altLang="ja-JP" sz="2400" dirty="0" smtClean="0"/>
              <a:t>g</a:t>
            </a:r>
            <a:r>
              <a:rPr kumimoji="1" lang="en-US" altLang="ja-JP" sz="2400" dirty="0" smtClean="0"/>
              <a:t>ets</a:t>
            </a:r>
            <a:r>
              <a:rPr lang="ja-JP" altLang="en-US" sz="2400" dirty="0" smtClean="0"/>
              <a:t>が使われていると</a:t>
            </a:r>
            <a:r>
              <a:rPr kumimoji="1" lang="en-US" altLang="ja-JP" sz="2400" dirty="0" err="1" smtClean="0"/>
              <a:t>gcc</a:t>
            </a:r>
            <a:r>
              <a:rPr kumimoji="1" lang="ja-JP" altLang="en-US" sz="2400" dirty="0" smtClean="0"/>
              <a:t>が警告を出すが、本講義では無視することとする。</a:t>
            </a:r>
            <a:endParaRPr kumimoji="1" lang="ja-JP" altLang="en-US" sz="2400" dirty="0"/>
          </a:p>
        </p:txBody>
      </p:sp>
      <p:sp>
        <p:nvSpPr>
          <p:cNvPr id="5" name="正方形/長方形 4"/>
          <p:cNvSpPr/>
          <p:nvPr/>
        </p:nvSpPr>
        <p:spPr>
          <a:xfrm>
            <a:off x="1547664" y="3919696"/>
            <a:ext cx="5786478"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char a[10];</a:t>
            </a:r>
          </a:p>
          <a:p>
            <a:r>
              <a:rPr lang="en-US" altLang="ja-JP" sz="2400" dirty="0" smtClean="0"/>
              <a:t>  gets (&amp;a[0]);</a:t>
            </a:r>
          </a:p>
          <a:p>
            <a:r>
              <a:rPr lang="en-US" altLang="ja-JP" sz="2400" dirty="0" smtClean="0"/>
              <a:t>  </a:t>
            </a:r>
            <a:r>
              <a:rPr lang="en-US" altLang="ja-JP" sz="2400" dirty="0" err="1" smtClean="0"/>
              <a:t>printf</a:t>
            </a:r>
            <a:r>
              <a:rPr lang="en-US" altLang="ja-JP" sz="2400" dirty="0" smtClean="0"/>
              <a:t> ("%s\n", &amp;a[0]);</a:t>
            </a:r>
          </a:p>
          <a:p>
            <a:r>
              <a:rPr lang="ja-JP" altLang="en-US" sz="2400" dirty="0" smtClean="0"/>
              <a:t>  </a:t>
            </a:r>
            <a:r>
              <a:rPr lang="en-US" altLang="ja-JP" sz="2400" dirty="0" smtClean="0"/>
              <a:t>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基本課題１</a:t>
            </a:r>
            <a:endParaRPr kumimoji="1" lang="ja-JP" altLang="en-US" dirty="0"/>
          </a:p>
        </p:txBody>
      </p:sp>
      <p:sp>
        <p:nvSpPr>
          <p:cNvPr id="67585" name="Rectangle 1"/>
          <p:cNvSpPr>
            <a:spLocks noChangeArrowheads="1"/>
          </p:cNvSpPr>
          <p:nvPr/>
        </p:nvSpPr>
        <p:spPr bwMode="auto">
          <a:xfrm>
            <a:off x="683568" y="1543432"/>
            <a:ext cx="7632848"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kumimoji="1" lang="ja-JP" sz="2800" b="0" i="0" u="none" strike="noStrike" cap="none" normalizeH="0" baseline="0" dirty="0" smtClean="0">
                <a:ln>
                  <a:noFill/>
                </a:ln>
                <a:solidFill>
                  <a:schemeClr val="tx1"/>
                </a:solidFill>
                <a:effectLst/>
                <a:latin typeface="+mn-ea"/>
                <a:cs typeface="Times New Roman" pitchFamily="18" charset="0"/>
              </a:rPr>
              <a:t>英文を</a:t>
            </a:r>
            <a:r>
              <a:rPr kumimoji="1" lang="ja-JP" altLang="en-US" sz="2800" b="0" i="0" u="none" strike="noStrike" cap="none" normalizeH="0" baseline="0" dirty="0" smtClean="0">
                <a:ln>
                  <a:noFill/>
                </a:ln>
                <a:solidFill>
                  <a:schemeClr val="tx1"/>
                </a:solidFill>
                <a:effectLst/>
                <a:latin typeface="+mn-ea"/>
                <a:cs typeface="Times New Roman" pitchFamily="18" charset="0"/>
              </a:rPr>
              <a:t>キーボードから</a:t>
            </a:r>
            <a:r>
              <a:rPr kumimoji="1" lang="ja-JP" sz="2800" b="0" i="0" u="none" strike="noStrike" cap="none" normalizeH="0" baseline="0" dirty="0" smtClean="0">
                <a:ln>
                  <a:noFill/>
                </a:ln>
                <a:solidFill>
                  <a:schemeClr val="tx1"/>
                </a:solidFill>
                <a:effectLst/>
                <a:latin typeface="+mn-ea"/>
                <a:cs typeface="Times New Roman" pitchFamily="18" charset="0"/>
              </a:rPr>
              <a:t>入力し、その英文の長さを表示するプログラムを作成せよ。ただし、空白</a:t>
            </a:r>
            <a:r>
              <a:rPr kumimoji="1" lang="ja-JP" altLang="en-US" sz="2800" b="0" i="0" u="none" strike="noStrike" cap="none" normalizeH="0" baseline="0" dirty="0" smtClean="0">
                <a:ln>
                  <a:noFill/>
                </a:ln>
                <a:solidFill>
                  <a:schemeClr val="tx1"/>
                </a:solidFill>
                <a:effectLst/>
                <a:latin typeface="+mn-ea"/>
                <a:cs typeface="Times New Roman" pitchFamily="18" charset="0"/>
              </a:rPr>
              <a:t>やピリオド等</a:t>
            </a:r>
            <a:r>
              <a:rPr kumimoji="1" lang="ja-JP" sz="2800" b="0" i="0" u="none" strike="noStrike" cap="none" normalizeH="0" baseline="0" dirty="0" smtClean="0">
                <a:ln>
                  <a:noFill/>
                </a:ln>
                <a:solidFill>
                  <a:schemeClr val="tx1"/>
                </a:solidFill>
                <a:effectLst/>
                <a:latin typeface="+mn-ea"/>
                <a:cs typeface="Times New Roman" pitchFamily="18" charset="0"/>
              </a:rPr>
              <a:t>も文字数にカウントする</a:t>
            </a:r>
            <a:r>
              <a:rPr lang="ja-JP" altLang="en-US" sz="2800" dirty="0" smtClean="0">
                <a:latin typeface="+mn-ea"/>
                <a:cs typeface="Times New Roman" pitchFamily="18" charset="0"/>
              </a:rPr>
              <a:t>。</a:t>
            </a:r>
            <a:r>
              <a:rPr lang="en-US" altLang="ja-JP" sz="2800" dirty="0" smtClean="0">
                <a:latin typeface="+mn-ea"/>
                <a:cs typeface="Times New Roman" pitchFamily="18" charset="0"/>
              </a:rPr>
              <a:t> gets</a:t>
            </a:r>
            <a:r>
              <a:rPr lang="ja-JP" altLang="en-US" sz="2800" dirty="0" smtClean="0">
                <a:latin typeface="+mn-ea"/>
                <a:cs typeface="Times New Roman" pitchFamily="18" charset="0"/>
              </a:rPr>
              <a:t>関数を使ってよいものとするが、参考課題１のようにしてもよい。配列を使う場合は十分な長さの配列を宣言して使用せよ。</a:t>
            </a:r>
            <a:endParaRPr lang="en-US" altLang="ja-JP" sz="2800" dirty="0" smtClean="0">
              <a:latin typeface="+mn-ea"/>
              <a:cs typeface="Times New Roman" pitchFamily="18" charset="0"/>
            </a:endParaRPr>
          </a:p>
        </p:txBody>
      </p:sp>
      <p:sp>
        <p:nvSpPr>
          <p:cNvPr id="4" name="正方形/長方形 3"/>
          <p:cNvSpPr/>
          <p:nvPr/>
        </p:nvSpPr>
        <p:spPr>
          <a:xfrm>
            <a:off x="683568" y="4492277"/>
            <a:ext cx="6984776" cy="1384995"/>
          </a:xfrm>
          <a:prstGeom prst="rect">
            <a:avLst/>
          </a:prstGeom>
        </p:spPr>
        <p:txBody>
          <a:bodyPr wrap="square">
            <a:spAutoFit/>
          </a:bodyPr>
          <a:lstStyle/>
          <a:p>
            <a:pPr lvl="0" fontAlgn="base">
              <a:spcBef>
                <a:spcPct val="0"/>
              </a:spcBef>
              <a:spcAft>
                <a:spcPct val="0"/>
              </a:spcAft>
            </a:pPr>
            <a:r>
              <a:rPr lang="en-US" altLang="ja-JP" sz="2800" dirty="0" smtClean="0">
                <a:solidFill>
                  <a:prstClr val="black"/>
                </a:solidFill>
                <a:latin typeface="ＭＳ Ｐゴシック"/>
                <a:cs typeface="Times New Roman" pitchFamily="18" charset="0"/>
              </a:rPr>
              <a:t>[</a:t>
            </a:r>
            <a:r>
              <a:rPr lang="ja-JP" altLang="en-US" sz="2800" dirty="0" smtClean="0">
                <a:solidFill>
                  <a:prstClr val="black"/>
                </a:solidFill>
                <a:latin typeface="ＭＳ Ｐゴシック"/>
                <a:cs typeface="Times New Roman" pitchFamily="18" charset="0"/>
              </a:rPr>
              <a:t>実行例</a:t>
            </a:r>
            <a:r>
              <a:rPr lang="en-US" altLang="ja-JP" sz="2800" dirty="0" smtClean="0">
                <a:solidFill>
                  <a:prstClr val="black"/>
                </a:solidFill>
                <a:latin typeface="ＭＳ Ｐゴシック"/>
                <a:cs typeface="Times New Roman" pitchFamily="18" charset="0"/>
              </a:rPr>
              <a:t>]</a:t>
            </a:r>
          </a:p>
          <a:p>
            <a:pPr lvl="0" fontAlgn="base">
              <a:spcBef>
                <a:spcPct val="0"/>
              </a:spcBef>
              <a:spcAft>
                <a:spcPct val="0"/>
              </a:spcAft>
            </a:pPr>
            <a:r>
              <a:rPr lang="ja-JP" altLang="en-US" sz="2800" dirty="0" smtClean="0">
                <a:solidFill>
                  <a:prstClr val="black"/>
                </a:solidFill>
                <a:latin typeface="ＭＳ Ｐゴシック"/>
                <a:cs typeface="Times New Roman" pitchFamily="18" charset="0"/>
              </a:rPr>
              <a:t>英文を入力して下さい</a:t>
            </a:r>
            <a:r>
              <a:rPr lang="en-US" altLang="ja-JP" sz="2800" dirty="0" smtClean="0">
                <a:solidFill>
                  <a:prstClr val="black"/>
                </a:solidFill>
                <a:latin typeface="ＭＳ Ｐゴシック"/>
                <a:cs typeface="Times New Roman" pitchFamily="18" charset="0"/>
              </a:rPr>
              <a:t>: </a:t>
            </a:r>
            <a:r>
              <a:rPr lang="en-US" altLang="ja-JP" sz="2800" dirty="0" smtClean="0">
                <a:solidFill>
                  <a:srgbClr val="FF0000"/>
                </a:solidFill>
                <a:latin typeface="ＭＳ Ｐゴシック"/>
                <a:cs typeface="Times New Roman" pitchFamily="18" charset="0"/>
              </a:rPr>
              <a:t>This is a pen.</a:t>
            </a:r>
          </a:p>
          <a:p>
            <a:pPr lvl="0" fontAlgn="base">
              <a:spcBef>
                <a:spcPct val="0"/>
              </a:spcBef>
              <a:spcAft>
                <a:spcPct val="0"/>
              </a:spcAft>
            </a:pPr>
            <a:r>
              <a:rPr lang="ja-JP" altLang="en-US" sz="2800" dirty="0" smtClean="0">
                <a:solidFill>
                  <a:prstClr val="black"/>
                </a:solidFill>
                <a:latin typeface="ＭＳ Ｐゴシック"/>
                <a:cs typeface="Times New Roman" pitchFamily="18" charset="0"/>
              </a:rPr>
              <a:t>あなたが入力した英文の文字数は</a:t>
            </a:r>
            <a:r>
              <a:rPr lang="en-US" altLang="ja-JP" sz="2800" dirty="0" smtClean="0">
                <a:solidFill>
                  <a:prstClr val="black"/>
                </a:solidFill>
                <a:latin typeface="ＭＳ Ｐゴシック"/>
                <a:cs typeface="Times New Roman" pitchFamily="18" charset="0"/>
              </a:rPr>
              <a:t>14</a:t>
            </a:r>
            <a:r>
              <a:rPr lang="ja-JP" altLang="en-US" sz="2800" dirty="0" smtClean="0">
                <a:solidFill>
                  <a:prstClr val="black"/>
                </a:solidFill>
                <a:latin typeface="ＭＳ Ｐゴシック"/>
                <a:cs typeface="Times New Roman" pitchFamily="18" charset="0"/>
              </a:rPr>
              <a:t>です。</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基本課題２</a:t>
            </a:r>
            <a:endParaRPr kumimoji="1" lang="ja-JP" altLang="en-US" dirty="0"/>
          </a:p>
        </p:txBody>
      </p:sp>
      <p:sp>
        <p:nvSpPr>
          <p:cNvPr id="4" name="テキスト ボックス 3"/>
          <p:cNvSpPr txBox="1"/>
          <p:nvPr/>
        </p:nvSpPr>
        <p:spPr>
          <a:xfrm>
            <a:off x="755576" y="1466781"/>
            <a:ext cx="7848872" cy="1384995"/>
          </a:xfrm>
          <a:prstGeom prst="rect">
            <a:avLst/>
          </a:prstGeom>
          <a:noFill/>
        </p:spPr>
        <p:txBody>
          <a:bodyPr wrap="square" rtlCol="0">
            <a:spAutoFit/>
          </a:bodyPr>
          <a:lstStyle/>
          <a:p>
            <a:r>
              <a:rPr lang="ja-JP" altLang="en-US" sz="2800" dirty="0" smtClean="0"/>
              <a:t>キーボードから英文を入力として受け取り、逆順に表示するプログラムを書け。</a:t>
            </a:r>
            <a:r>
              <a:rPr lang="ja-JP" altLang="en-US" sz="2800" dirty="0" smtClean="0">
                <a:latin typeface="+mn-ea"/>
                <a:cs typeface="Times New Roman" pitchFamily="18" charset="0"/>
              </a:rPr>
              <a:t>十分な長さの配列を宣言して使用せよ。</a:t>
            </a:r>
            <a:endParaRPr kumimoji="1" lang="ja-JP" altLang="en-US" sz="2800" dirty="0"/>
          </a:p>
        </p:txBody>
      </p:sp>
      <p:sp>
        <p:nvSpPr>
          <p:cNvPr id="5" name="正方形/長方形 4"/>
          <p:cNvSpPr/>
          <p:nvPr/>
        </p:nvSpPr>
        <p:spPr>
          <a:xfrm>
            <a:off x="755576" y="3054439"/>
            <a:ext cx="6840760" cy="2246769"/>
          </a:xfrm>
          <a:prstGeom prst="rect">
            <a:avLst/>
          </a:prstGeom>
        </p:spPr>
        <p:txBody>
          <a:bodyPr wrap="square">
            <a:spAutoFit/>
          </a:bodyPr>
          <a:lstStyle/>
          <a:p>
            <a:r>
              <a:rPr lang="en-US" altLang="ja-JP" sz="2800" dirty="0" smtClean="0"/>
              <a:t>[</a:t>
            </a:r>
            <a:r>
              <a:rPr lang="ja-JP" altLang="en-US" sz="2800" dirty="0" smtClean="0"/>
              <a:t>実行例</a:t>
            </a:r>
            <a:r>
              <a:rPr lang="en-US" altLang="ja-JP" sz="2800" dirty="0" smtClean="0"/>
              <a:t>]</a:t>
            </a:r>
          </a:p>
          <a:p>
            <a:r>
              <a:rPr lang="en-US" altLang="ja-JP" sz="2800" dirty="0" smtClean="0"/>
              <a:t>[</a:t>
            </a:r>
            <a:r>
              <a:rPr lang="en-US" altLang="ja-JP" sz="2800" dirty="0" err="1" smtClean="0"/>
              <a:t>sasano@localhost</a:t>
            </a:r>
            <a:r>
              <a:rPr lang="en-US" altLang="ja-JP" sz="2800" dirty="0" smtClean="0"/>
              <a:t> 2011]$ ./</a:t>
            </a:r>
            <a:r>
              <a:rPr lang="en-US" altLang="ja-JP" sz="2800" dirty="0" err="1" smtClean="0"/>
              <a:t>a.out</a:t>
            </a:r>
            <a:endParaRPr lang="en-US" altLang="ja-JP" sz="2800" dirty="0" smtClean="0"/>
          </a:p>
          <a:p>
            <a:r>
              <a:rPr lang="ja-JP" altLang="en-US" sz="2800" dirty="0" smtClean="0"/>
              <a:t>文字列を入力してください</a:t>
            </a:r>
            <a:r>
              <a:rPr lang="en-US" altLang="ja-JP" sz="2800" dirty="0" smtClean="0"/>
              <a:t>: </a:t>
            </a:r>
            <a:r>
              <a:rPr lang="en-US" altLang="ja-JP" sz="2800" dirty="0" smtClean="0">
                <a:solidFill>
                  <a:srgbClr val="FF0000"/>
                </a:solidFill>
              </a:rPr>
              <a:t>This is a pen.</a:t>
            </a:r>
          </a:p>
          <a:p>
            <a:r>
              <a:rPr lang="en-US" altLang="ja-JP" sz="2800" dirty="0" smtClean="0"/>
              <a:t>.</a:t>
            </a:r>
            <a:r>
              <a:rPr lang="en-US" altLang="ja-JP" sz="2800" dirty="0" err="1" smtClean="0"/>
              <a:t>nep</a:t>
            </a:r>
            <a:r>
              <a:rPr lang="en-US" altLang="ja-JP" sz="2800" dirty="0" smtClean="0"/>
              <a:t> a </a:t>
            </a:r>
            <a:r>
              <a:rPr lang="en-US" altLang="ja-JP" sz="2800" dirty="0" err="1" smtClean="0"/>
              <a:t>si</a:t>
            </a:r>
            <a:r>
              <a:rPr lang="en-US" altLang="ja-JP" sz="2800" dirty="0" smtClean="0"/>
              <a:t> </a:t>
            </a:r>
            <a:r>
              <a:rPr lang="en-US" altLang="ja-JP" sz="2800" dirty="0" err="1" smtClean="0"/>
              <a:t>sihT</a:t>
            </a:r>
            <a:endParaRPr lang="en-US" altLang="ja-JP" sz="2800" dirty="0" smtClean="0"/>
          </a:p>
          <a:p>
            <a:r>
              <a:rPr lang="en-US" altLang="ja-JP" sz="2800" dirty="0" smtClean="0"/>
              <a:t>[</a:t>
            </a:r>
            <a:r>
              <a:rPr lang="en-US" altLang="ja-JP" sz="2800" dirty="0" err="1" smtClean="0"/>
              <a:t>sasano@localhost</a:t>
            </a:r>
            <a:r>
              <a:rPr lang="en-US" altLang="ja-JP" sz="2800" dirty="0" smtClean="0"/>
              <a:t> 2011]$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発展課題１</a:t>
            </a:r>
            <a:endParaRPr kumimoji="1" lang="ja-JP" altLang="en-US" dirty="0"/>
          </a:p>
        </p:txBody>
      </p:sp>
      <p:sp>
        <p:nvSpPr>
          <p:cNvPr id="4" name="テキスト ボックス 3"/>
          <p:cNvSpPr txBox="1"/>
          <p:nvPr/>
        </p:nvSpPr>
        <p:spPr>
          <a:xfrm>
            <a:off x="539552" y="1772816"/>
            <a:ext cx="8064896" cy="954107"/>
          </a:xfrm>
          <a:prstGeom prst="rect">
            <a:avLst/>
          </a:prstGeom>
          <a:noFill/>
        </p:spPr>
        <p:txBody>
          <a:bodyPr wrap="square" rtlCol="0">
            <a:spAutoFit/>
          </a:bodyPr>
          <a:lstStyle/>
          <a:p>
            <a:r>
              <a:rPr lang="ja-JP" altLang="en-US" sz="2800" dirty="0" smtClean="0"/>
              <a:t>英文をキーボードから入力し、アルファベットの大文字だけを表示するプログラムを書け。</a:t>
            </a:r>
            <a:endParaRPr kumimoji="1" lang="ja-JP" altLang="en-US" sz="2800" dirty="0"/>
          </a:p>
        </p:txBody>
      </p:sp>
      <p:sp>
        <p:nvSpPr>
          <p:cNvPr id="5" name="正方形/長方形 4"/>
          <p:cNvSpPr/>
          <p:nvPr/>
        </p:nvSpPr>
        <p:spPr>
          <a:xfrm>
            <a:off x="683568" y="3068960"/>
            <a:ext cx="7272808" cy="2246769"/>
          </a:xfrm>
          <a:prstGeom prst="rect">
            <a:avLst/>
          </a:prstGeom>
        </p:spPr>
        <p:txBody>
          <a:bodyPr wrap="square">
            <a:spAutoFit/>
          </a:bodyPr>
          <a:lstStyle/>
          <a:p>
            <a:r>
              <a:rPr lang="en-US" altLang="ja-JP" sz="2800" dirty="0" smtClean="0"/>
              <a:t>[</a:t>
            </a:r>
            <a:r>
              <a:rPr lang="ja-JP" altLang="en-US" sz="2800" dirty="0" smtClean="0"/>
              <a:t>実行例</a:t>
            </a:r>
            <a:r>
              <a:rPr lang="en-US" altLang="ja-JP" sz="2800" dirty="0" smtClean="0"/>
              <a:t>]</a:t>
            </a:r>
          </a:p>
          <a:p>
            <a:r>
              <a:rPr lang="en-US" altLang="ja-JP" sz="2800" dirty="0" smtClean="0"/>
              <a:t>[</a:t>
            </a:r>
            <a:r>
              <a:rPr lang="en-US" altLang="ja-JP" sz="2800" dirty="0" err="1" smtClean="0"/>
              <a:t>sasano@localhost</a:t>
            </a:r>
            <a:r>
              <a:rPr lang="en-US" altLang="ja-JP" sz="2800" dirty="0" smtClean="0"/>
              <a:t> 2011]$ ./</a:t>
            </a:r>
            <a:r>
              <a:rPr lang="en-US" altLang="ja-JP" sz="2800" dirty="0" err="1" smtClean="0"/>
              <a:t>a.out</a:t>
            </a:r>
            <a:endParaRPr lang="en-US" altLang="ja-JP" sz="2800" dirty="0" smtClean="0"/>
          </a:p>
          <a:p>
            <a:r>
              <a:rPr lang="ja-JP" altLang="en-US" sz="2800" dirty="0" smtClean="0"/>
              <a:t>文字列を入力</a:t>
            </a:r>
            <a:r>
              <a:rPr lang="en-US" altLang="ja-JP" sz="2800" dirty="0" smtClean="0"/>
              <a:t>: </a:t>
            </a:r>
            <a:r>
              <a:rPr lang="en-US" altLang="ja-JP" sz="2800" dirty="0" smtClean="0">
                <a:solidFill>
                  <a:srgbClr val="FF0000"/>
                </a:solidFill>
              </a:rPr>
              <a:t>Unidentified Flying Object</a:t>
            </a:r>
          </a:p>
          <a:p>
            <a:r>
              <a:rPr lang="en-US" altLang="ja-JP" sz="2800" dirty="0" smtClean="0"/>
              <a:t>UFO</a:t>
            </a:r>
          </a:p>
          <a:p>
            <a:r>
              <a:rPr lang="en-US" altLang="ja-JP" sz="2800" dirty="0" smtClean="0"/>
              <a:t>[</a:t>
            </a:r>
            <a:r>
              <a:rPr lang="en-US" altLang="ja-JP" sz="2800" dirty="0" err="1" smtClean="0"/>
              <a:t>sasano@localhost</a:t>
            </a:r>
            <a:r>
              <a:rPr lang="en-US" altLang="ja-JP" sz="2800" dirty="0" smtClean="0"/>
              <a:t> 2011]$</a:t>
            </a:r>
            <a:endParaRPr lang="en-US" altLang="ja-JP"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470712"/>
            <a:ext cx="8229600" cy="654032"/>
          </a:xfrm>
        </p:spPr>
        <p:txBody>
          <a:bodyPr>
            <a:noAutofit/>
          </a:bodyPr>
          <a:lstStyle/>
          <a:p>
            <a:r>
              <a:rPr kumimoji="1" lang="ja-JP" altLang="en-US" dirty="0" smtClean="0"/>
              <a:t>発展課題２</a:t>
            </a:r>
            <a:endParaRPr kumimoji="1" lang="ja-JP" altLang="en-US" dirty="0"/>
          </a:p>
        </p:txBody>
      </p:sp>
      <p:sp>
        <p:nvSpPr>
          <p:cNvPr id="4" name="テキスト ボックス 3"/>
          <p:cNvSpPr txBox="1"/>
          <p:nvPr/>
        </p:nvSpPr>
        <p:spPr>
          <a:xfrm>
            <a:off x="539552" y="1470263"/>
            <a:ext cx="8136904" cy="2246769"/>
          </a:xfrm>
          <a:prstGeom prst="rect">
            <a:avLst/>
          </a:prstGeom>
          <a:noFill/>
        </p:spPr>
        <p:txBody>
          <a:bodyPr wrap="square" rtlCol="0">
            <a:spAutoFit/>
          </a:bodyPr>
          <a:lstStyle/>
          <a:p>
            <a:r>
              <a:rPr lang="ja-JP" altLang="en-US" sz="2800" dirty="0" smtClean="0"/>
              <a:t>キーボードから英文を入力として受け取り、それが回文であるかどうかを判定するプログラムを作成せよ。ただし、アルファベットの大文字小文字は区別せず、かつアルファベット以外の記号（空白、エクスクラメーションマーク等）は無視するものとする。</a:t>
            </a:r>
            <a:endParaRPr lang="en-US" altLang="ja-JP" sz="2800" dirty="0" smtClean="0"/>
          </a:p>
        </p:txBody>
      </p:sp>
      <p:sp>
        <p:nvSpPr>
          <p:cNvPr id="5" name="正方形/長方形 4"/>
          <p:cNvSpPr/>
          <p:nvPr/>
        </p:nvSpPr>
        <p:spPr>
          <a:xfrm>
            <a:off x="611560" y="4005064"/>
            <a:ext cx="7128792" cy="1384995"/>
          </a:xfrm>
          <a:prstGeom prst="rect">
            <a:avLst/>
          </a:prstGeom>
        </p:spPr>
        <p:txBody>
          <a:bodyPr wrap="square">
            <a:spAutoFit/>
          </a:bodyPr>
          <a:lstStyle/>
          <a:p>
            <a:pPr lvl="0"/>
            <a:r>
              <a:rPr lang="en-US" altLang="ja-JP" sz="2800" dirty="0" smtClean="0">
                <a:solidFill>
                  <a:prstClr val="black"/>
                </a:solidFill>
              </a:rPr>
              <a:t>[</a:t>
            </a:r>
            <a:r>
              <a:rPr lang="ja-JP" altLang="en-US" sz="2800" dirty="0" smtClean="0">
                <a:solidFill>
                  <a:prstClr val="black"/>
                </a:solidFill>
              </a:rPr>
              <a:t>実行例</a:t>
            </a:r>
            <a:r>
              <a:rPr lang="en-US" altLang="ja-JP" sz="2800" dirty="0" smtClean="0">
                <a:solidFill>
                  <a:prstClr val="black"/>
                </a:solidFill>
              </a:rPr>
              <a:t>]</a:t>
            </a:r>
          </a:p>
          <a:p>
            <a:pPr lvl="0"/>
            <a:r>
              <a:rPr lang="ja-JP" altLang="en-US" sz="2800" dirty="0" smtClean="0">
                <a:solidFill>
                  <a:prstClr val="black"/>
                </a:solidFill>
              </a:rPr>
              <a:t>英文を入力してください</a:t>
            </a:r>
            <a:r>
              <a:rPr lang="en-US" altLang="ja-JP" sz="2800" dirty="0" smtClean="0">
                <a:solidFill>
                  <a:prstClr val="black"/>
                </a:solidFill>
              </a:rPr>
              <a:t>: </a:t>
            </a:r>
            <a:r>
              <a:rPr lang="en-US" altLang="ja-JP" sz="2800" dirty="0" smtClean="0">
                <a:solidFill>
                  <a:srgbClr val="FF0000"/>
                </a:solidFill>
              </a:rPr>
              <a:t>So many dynamos!</a:t>
            </a:r>
          </a:p>
          <a:p>
            <a:pPr lvl="0"/>
            <a:r>
              <a:rPr lang="en-US" altLang="ja-JP" sz="2800" dirty="0" smtClean="0">
                <a:solidFill>
                  <a:prstClr val="black"/>
                </a:solidFill>
              </a:rPr>
              <a:t>So many dynamos!</a:t>
            </a:r>
            <a:r>
              <a:rPr lang="ja-JP" altLang="en-US" sz="2800" dirty="0" smtClean="0">
                <a:solidFill>
                  <a:prstClr val="black"/>
                </a:solidFill>
              </a:rPr>
              <a:t> は回文です。</a:t>
            </a:r>
            <a:endParaRPr lang="en-US" altLang="ja-JP" sz="2800" dirty="0" smtClean="0">
              <a:solidFill>
                <a:prstClr val="black"/>
              </a:solidFill>
            </a:endParaRPr>
          </a:p>
        </p:txBody>
      </p:sp>
      <p:sp>
        <p:nvSpPr>
          <p:cNvPr id="6" name="正方形/長方形 5"/>
          <p:cNvSpPr/>
          <p:nvPr/>
        </p:nvSpPr>
        <p:spPr>
          <a:xfrm>
            <a:off x="755576" y="5733256"/>
            <a:ext cx="7435080" cy="830997"/>
          </a:xfrm>
          <a:prstGeom prst="rect">
            <a:avLst/>
          </a:prstGeom>
        </p:spPr>
        <p:txBody>
          <a:bodyPr wrap="square">
            <a:spAutoFit/>
          </a:bodyPr>
          <a:lstStyle/>
          <a:p>
            <a:pPr lvl="0"/>
            <a:r>
              <a:rPr lang="ja-JP" altLang="en-US" sz="2400" dirty="0" smtClean="0">
                <a:solidFill>
                  <a:prstClr val="black"/>
                </a:solidFill>
              </a:rPr>
              <a:t>（補足）</a:t>
            </a:r>
            <a:r>
              <a:rPr lang="en-US" altLang="ja-JP" sz="2400" dirty="0" smtClean="0">
                <a:solidFill>
                  <a:prstClr val="black"/>
                </a:solidFill>
              </a:rPr>
              <a:t>dynamo</a:t>
            </a:r>
            <a:r>
              <a:rPr lang="ja-JP" altLang="en-US" sz="2400" dirty="0" smtClean="0">
                <a:solidFill>
                  <a:prstClr val="black"/>
                </a:solidFill>
              </a:rPr>
              <a:t>は発電機。</a:t>
            </a:r>
            <a:r>
              <a:rPr lang="en-US" altLang="ja-JP" sz="2400" dirty="0" smtClean="0">
                <a:solidFill>
                  <a:prstClr val="black"/>
                </a:solidFill>
              </a:rPr>
              <a:t>dynamos</a:t>
            </a:r>
            <a:r>
              <a:rPr lang="ja-JP" altLang="en-US" sz="2400" dirty="0" smtClean="0">
                <a:solidFill>
                  <a:prstClr val="black"/>
                </a:solidFill>
              </a:rPr>
              <a:t>は</a:t>
            </a:r>
            <a:r>
              <a:rPr lang="en-US" altLang="ja-JP" sz="2400" dirty="0" smtClean="0">
                <a:solidFill>
                  <a:prstClr val="black"/>
                </a:solidFill>
              </a:rPr>
              <a:t>dynamo</a:t>
            </a:r>
            <a:r>
              <a:rPr lang="ja-JP" altLang="en-US" sz="2400" dirty="0" smtClean="0">
                <a:solidFill>
                  <a:prstClr val="black"/>
                </a:solidFill>
              </a:rPr>
              <a:t>の複数形</a:t>
            </a:r>
            <a:endParaRPr lang="en-US" altLang="ja-JP" sz="2400" dirty="0" smtClean="0">
              <a:solidFill>
                <a:prstClr val="black"/>
              </a:solidFill>
            </a:endParaRPr>
          </a:p>
          <a:p>
            <a:pPr lvl="0"/>
            <a:r>
              <a:rPr lang="ja-JP" altLang="en-US" sz="2400" dirty="0" smtClean="0">
                <a:solidFill>
                  <a:prstClr val="black"/>
                </a:solidFill>
              </a:rPr>
              <a:t>（注意）十分な長さの配列を宣言して用いること。</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lang="ja-JP" altLang="en-US" dirty="0" smtClean="0"/>
              <a:t>発展課題３</a:t>
            </a:r>
            <a:endParaRPr kumimoji="1" lang="ja-JP" altLang="en-US" dirty="0"/>
          </a:p>
        </p:txBody>
      </p:sp>
      <p:sp>
        <p:nvSpPr>
          <p:cNvPr id="4" name="正方形/長方形 3"/>
          <p:cNvSpPr/>
          <p:nvPr/>
        </p:nvSpPr>
        <p:spPr>
          <a:xfrm>
            <a:off x="971600" y="3140968"/>
            <a:ext cx="6606480" cy="3539430"/>
          </a:xfrm>
          <a:prstGeom prst="rect">
            <a:avLst/>
          </a:prstGeom>
        </p:spPr>
        <p:txBody>
          <a:bodyPr wrap="square">
            <a:spAutoFit/>
          </a:bodyPr>
          <a:lstStyle/>
          <a:p>
            <a:pPr lvl="0"/>
            <a:r>
              <a:rPr lang="en-US" altLang="ja-JP" sz="2800" dirty="0" smtClean="0">
                <a:solidFill>
                  <a:prstClr val="black"/>
                </a:solidFill>
              </a:rPr>
              <a:t>[</a:t>
            </a:r>
            <a:r>
              <a:rPr lang="ja-JP" altLang="en-US" sz="2800" dirty="0" smtClean="0">
                <a:solidFill>
                  <a:prstClr val="black"/>
                </a:solidFill>
              </a:rPr>
              <a:t>実行例１</a:t>
            </a:r>
            <a:r>
              <a:rPr lang="en-US" altLang="ja-JP" sz="2800" dirty="0" smtClean="0">
                <a:solidFill>
                  <a:prstClr val="black"/>
                </a:solidFill>
              </a:rPr>
              <a:t>]</a:t>
            </a:r>
          </a:p>
          <a:p>
            <a:pPr lvl="0"/>
            <a:r>
              <a:rPr lang="en-US" altLang="ja-JP" sz="2800" dirty="0" smtClean="0">
                <a:solidFill>
                  <a:prstClr val="black"/>
                </a:solidFill>
              </a:rPr>
              <a:t>1</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smtClean="0">
                <a:solidFill>
                  <a:srgbClr val="FF0000"/>
                </a:solidFill>
              </a:rPr>
              <a:t>def</a:t>
            </a:r>
          </a:p>
          <a:p>
            <a:pPr lvl="0"/>
            <a:r>
              <a:rPr lang="en-US" altLang="ja-JP" sz="2800" dirty="0" smtClean="0">
                <a:solidFill>
                  <a:prstClr val="black"/>
                </a:solidFill>
              </a:rPr>
              <a:t>2</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err="1" smtClean="0">
                <a:solidFill>
                  <a:srgbClr val="FF0000"/>
                </a:solidFill>
              </a:rPr>
              <a:t>abcdefg</a:t>
            </a:r>
            <a:endParaRPr lang="en-US" altLang="ja-JP" sz="2800" dirty="0" smtClean="0">
              <a:solidFill>
                <a:srgbClr val="FF0000"/>
              </a:solidFill>
            </a:endParaRPr>
          </a:p>
          <a:p>
            <a:pPr lvl="0"/>
            <a:r>
              <a:rPr lang="en-US" altLang="ja-JP" sz="2800" dirty="0" smtClean="0">
                <a:solidFill>
                  <a:prstClr val="black"/>
                </a:solidFill>
              </a:rPr>
              <a:t> def</a:t>
            </a:r>
            <a:r>
              <a:rPr lang="ja-JP" altLang="en-US" sz="2800" dirty="0" smtClean="0">
                <a:solidFill>
                  <a:prstClr val="black"/>
                </a:solidFill>
              </a:rPr>
              <a:t>は</a:t>
            </a:r>
            <a:r>
              <a:rPr lang="en-US" altLang="ja-JP" sz="2800" dirty="0" err="1" smtClean="0">
                <a:solidFill>
                  <a:prstClr val="black"/>
                </a:solidFill>
              </a:rPr>
              <a:t>abcdefg</a:t>
            </a:r>
            <a:r>
              <a:rPr lang="ja-JP" altLang="en-US" sz="2800" dirty="0" smtClean="0">
                <a:solidFill>
                  <a:prstClr val="black"/>
                </a:solidFill>
              </a:rPr>
              <a:t>の部分文字列です。</a:t>
            </a:r>
            <a:endParaRPr lang="en-US" altLang="ja-JP" sz="2800" dirty="0" smtClean="0">
              <a:solidFill>
                <a:prstClr val="black"/>
              </a:solidFill>
            </a:endParaRPr>
          </a:p>
          <a:p>
            <a:pPr lvl="0"/>
            <a:r>
              <a:rPr lang="en-US" altLang="ja-JP" sz="2800" dirty="0" smtClean="0">
                <a:solidFill>
                  <a:prstClr val="black"/>
                </a:solidFill>
              </a:rPr>
              <a:t>[</a:t>
            </a:r>
            <a:r>
              <a:rPr lang="ja-JP" altLang="en-US" sz="2800" dirty="0" smtClean="0">
                <a:solidFill>
                  <a:prstClr val="black"/>
                </a:solidFill>
              </a:rPr>
              <a:t>実行例２</a:t>
            </a:r>
            <a:r>
              <a:rPr lang="en-US" altLang="ja-JP" sz="2800" dirty="0" smtClean="0">
                <a:solidFill>
                  <a:prstClr val="black"/>
                </a:solidFill>
              </a:rPr>
              <a:t>]</a:t>
            </a:r>
          </a:p>
          <a:p>
            <a:pPr lvl="0"/>
            <a:r>
              <a:rPr lang="en-US" altLang="ja-JP" sz="2800" dirty="0" smtClean="0">
                <a:solidFill>
                  <a:prstClr val="black"/>
                </a:solidFill>
              </a:rPr>
              <a:t>1</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err="1" smtClean="0">
                <a:solidFill>
                  <a:srgbClr val="FF0000"/>
                </a:solidFill>
              </a:rPr>
              <a:t>cef</a:t>
            </a:r>
            <a:endParaRPr lang="en-US" altLang="ja-JP" sz="2800" dirty="0" smtClean="0">
              <a:solidFill>
                <a:srgbClr val="FF0000"/>
              </a:solidFill>
            </a:endParaRPr>
          </a:p>
          <a:p>
            <a:pPr lvl="0"/>
            <a:r>
              <a:rPr lang="en-US" altLang="ja-JP" sz="2800" dirty="0" smtClean="0">
                <a:solidFill>
                  <a:prstClr val="black"/>
                </a:solidFill>
              </a:rPr>
              <a:t>2</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err="1" smtClean="0">
                <a:solidFill>
                  <a:srgbClr val="FF0000"/>
                </a:solidFill>
              </a:rPr>
              <a:t>abcdefg</a:t>
            </a:r>
            <a:endParaRPr lang="en-US" altLang="ja-JP" sz="2800" dirty="0" smtClean="0">
              <a:solidFill>
                <a:srgbClr val="FF0000"/>
              </a:solidFill>
            </a:endParaRPr>
          </a:p>
          <a:p>
            <a:pPr lvl="0"/>
            <a:r>
              <a:rPr lang="en-US" altLang="ja-JP" sz="2800" dirty="0" err="1" smtClean="0">
                <a:solidFill>
                  <a:prstClr val="black"/>
                </a:solidFill>
              </a:rPr>
              <a:t>cef</a:t>
            </a:r>
            <a:r>
              <a:rPr lang="ja-JP" altLang="en-US" sz="2800" dirty="0" smtClean="0">
                <a:solidFill>
                  <a:prstClr val="black"/>
                </a:solidFill>
              </a:rPr>
              <a:t>は</a:t>
            </a:r>
            <a:r>
              <a:rPr lang="en-US" altLang="ja-JP" sz="2800" dirty="0" err="1" smtClean="0">
                <a:solidFill>
                  <a:prstClr val="black"/>
                </a:solidFill>
              </a:rPr>
              <a:t>abcdefg</a:t>
            </a:r>
            <a:r>
              <a:rPr lang="ja-JP" altLang="en-US" sz="2800" dirty="0" smtClean="0">
                <a:solidFill>
                  <a:prstClr val="black"/>
                </a:solidFill>
              </a:rPr>
              <a:t>の部分文字列ではありません。</a:t>
            </a:r>
            <a:endParaRPr lang="ja-JP" altLang="en-US" sz="2800" dirty="0">
              <a:solidFill>
                <a:prstClr val="black"/>
              </a:solidFill>
            </a:endParaRPr>
          </a:p>
        </p:txBody>
      </p:sp>
      <p:sp>
        <p:nvSpPr>
          <p:cNvPr id="6" name="正方形/長方形 5"/>
          <p:cNvSpPr/>
          <p:nvPr/>
        </p:nvSpPr>
        <p:spPr>
          <a:xfrm>
            <a:off x="467544" y="1181070"/>
            <a:ext cx="8136904" cy="1815882"/>
          </a:xfrm>
          <a:prstGeom prst="rect">
            <a:avLst/>
          </a:prstGeom>
        </p:spPr>
        <p:txBody>
          <a:bodyPr wrap="square">
            <a:spAutoFit/>
          </a:bodyPr>
          <a:lstStyle/>
          <a:p>
            <a:r>
              <a:rPr lang="ja-JP" altLang="en-US" sz="2800" dirty="0" smtClean="0"/>
              <a:t>文字列を２つキーボードから受け取り、１つ目の文字列が２つ目の文字列の（連続した）部分文字列になっているかどうかを判定するプログラムを作成せよ。ただし、入力文字列中に空白やタブはないものとする。</a:t>
            </a:r>
            <a:endParaRPr lang="en-US" altLang="ja-JP" sz="2800"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smtClean="0"/>
              <a:t>アルファベットの文字の判定</a:t>
            </a:r>
            <a:endParaRPr kumimoji="1" lang="ja-JP" altLang="en-US" dirty="0"/>
          </a:p>
        </p:txBody>
      </p:sp>
      <p:sp>
        <p:nvSpPr>
          <p:cNvPr id="4" name="テキスト ボックス 3"/>
          <p:cNvSpPr txBox="1"/>
          <p:nvPr/>
        </p:nvSpPr>
        <p:spPr>
          <a:xfrm>
            <a:off x="642910" y="1142984"/>
            <a:ext cx="7286644" cy="1200329"/>
          </a:xfrm>
          <a:prstGeom prst="rect">
            <a:avLst/>
          </a:prstGeom>
          <a:noFill/>
        </p:spPr>
        <p:txBody>
          <a:bodyPr wrap="square" rtlCol="0">
            <a:spAutoFit/>
          </a:bodyPr>
          <a:lstStyle/>
          <a:p>
            <a:r>
              <a:rPr kumimoji="1" lang="ja-JP" altLang="en-US" sz="2400" dirty="0" smtClean="0"/>
              <a:t>アルファベットの文字の</a:t>
            </a:r>
            <a:r>
              <a:rPr lang="ja-JP" altLang="en-US" sz="2400" dirty="0" smtClean="0"/>
              <a:t>大小の</a:t>
            </a:r>
            <a:r>
              <a:rPr kumimoji="1" lang="ja-JP" altLang="en-US" sz="2400" dirty="0" smtClean="0"/>
              <a:t>判定は、</a:t>
            </a:r>
            <a:r>
              <a:rPr kumimoji="1" lang="en-US" altLang="ja-JP" sz="2400" dirty="0" err="1" smtClean="0"/>
              <a:t>islower</a:t>
            </a:r>
            <a:r>
              <a:rPr kumimoji="1" lang="en-US" altLang="ja-JP" sz="2400" dirty="0" smtClean="0"/>
              <a:t>, </a:t>
            </a:r>
            <a:r>
              <a:rPr kumimoji="1" lang="en-US" altLang="ja-JP" sz="2400" dirty="0" err="1" smtClean="0"/>
              <a:t>isupper</a:t>
            </a:r>
            <a:r>
              <a:rPr kumimoji="1" lang="ja-JP" altLang="en-US" sz="2400" dirty="0" smtClean="0"/>
              <a:t>関数</a:t>
            </a:r>
            <a:r>
              <a:rPr lang="ja-JP" altLang="en-US" sz="2400" dirty="0" smtClean="0"/>
              <a:t>で行う。アルファベット文字かどうかは、</a:t>
            </a:r>
            <a:r>
              <a:rPr lang="en-US" altLang="ja-JP" sz="2400" dirty="0" err="1" smtClean="0"/>
              <a:t>islower</a:t>
            </a:r>
            <a:r>
              <a:rPr lang="en-US" altLang="ja-JP" sz="2400" dirty="0" smtClean="0"/>
              <a:t>, </a:t>
            </a:r>
            <a:r>
              <a:rPr lang="en-US" altLang="ja-JP" sz="2400" dirty="0" err="1" smtClean="0"/>
              <a:t>isupper</a:t>
            </a:r>
            <a:r>
              <a:rPr lang="ja-JP" altLang="en-US" sz="2400" dirty="0" smtClean="0"/>
              <a:t>のいずれも偽になるかどうかで判定できる。</a:t>
            </a:r>
            <a:endParaRPr kumimoji="1" lang="ja-JP" altLang="en-US" sz="2400" dirty="0"/>
          </a:p>
        </p:txBody>
      </p:sp>
      <p:sp>
        <p:nvSpPr>
          <p:cNvPr id="5" name="正方形/長方形 4"/>
          <p:cNvSpPr/>
          <p:nvPr/>
        </p:nvSpPr>
        <p:spPr>
          <a:xfrm>
            <a:off x="285720" y="2973545"/>
            <a:ext cx="5786478" cy="3170099"/>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ctype.h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void </a:t>
            </a:r>
            <a:r>
              <a:rPr lang="en-US" altLang="ja-JP" sz="2000" dirty="0" err="1" smtClean="0"/>
              <a:t>hantei</a:t>
            </a:r>
            <a:r>
              <a:rPr lang="en-US" altLang="ja-JP" sz="2000" dirty="0" smtClean="0"/>
              <a:t> (</a:t>
            </a:r>
            <a:r>
              <a:rPr lang="en-US" altLang="ja-JP" sz="2000" dirty="0" err="1" smtClean="0"/>
              <a:t>int</a:t>
            </a:r>
            <a:r>
              <a:rPr lang="en-US" altLang="ja-JP" sz="2000" dirty="0" smtClean="0"/>
              <a:t> c) {</a:t>
            </a:r>
          </a:p>
          <a:p>
            <a:r>
              <a:rPr lang="en-US" altLang="ja-JP" sz="2000" dirty="0" smtClean="0"/>
              <a:t>  if (</a:t>
            </a:r>
            <a:r>
              <a:rPr lang="en-US" altLang="ja-JP" sz="2000" dirty="0" err="1" smtClean="0"/>
              <a:t>islower</a:t>
            </a:r>
            <a:r>
              <a:rPr lang="en-US" altLang="ja-JP" sz="2000" dirty="0" smtClean="0"/>
              <a:t>(c))</a:t>
            </a:r>
          </a:p>
          <a:p>
            <a:r>
              <a:rPr lang="en-US" altLang="ja-JP" sz="2000" dirty="0" smtClean="0"/>
              <a:t>    </a:t>
            </a:r>
            <a:r>
              <a:rPr lang="en-US" altLang="ja-JP" sz="2000" dirty="0" err="1" smtClean="0"/>
              <a:t>printf</a:t>
            </a:r>
            <a:r>
              <a:rPr lang="en-US" altLang="ja-JP" sz="2000" dirty="0" smtClean="0"/>
              <a:t> ("%c</a:t>
            </a:r>
            <a:r>
              <a:rPr lang="ja-JP" altLang="en-US" sz="2000" dirty="0" smtClean="0"/>
              <a:t>は小文字です</a:t>
            </a:r>
            <a:r>
              <a:rPr lang="en-US" altLang="ja-JP" sz="2000" dirty="0" smtClean="0"/>
              <a:t>\n", c);</a:t>
            </a:r>
          </a:p>
          <a:p>
            <a:r>
              <a:rPr lang="en-US" altLang="ja-JP" sz="2000" dirty="0" smtClean="0"/>
              <a:t>  else if (</a:t>
            </a:r>
            <a:r>
              <a:rPr lang="en-US" altLang="ja-JP" sz="2000" dirty="0" err="1" smtClean="0"/>
              <a:t>isupper</a:t>
            </a:r>
            <a:r>
              <a:rPr lang="en-US" altLang="ja-JP" sz="2000" dirty="0" smtClean="0"/>
              <a:t> (c))</a:t>
            </a:r>
          </a:p>
          <a:p>
            <a:r>
              <a:rPr lang="en-US" altLang="ja-JP" sz="2000" dirty="0" smtClean="0"/>
              <a:t>    </a:t>
            </a:r>
            <a:r>
              <a:rPr lang="en-US" altLang="ja-JP" sz="2000" dirty="0" err="1" smtClean="0"/>
              <a:t>printf</a:t>
            </a:r>
            <a:r>
              <a:rPr lang="en-US" altLang="ja-JP" sz="2000" dirty="0" smtClean="0"/>
              <a:t> ("%c</a:t>
            </a:r>
            <a:r>
              <a:rPr lang="ja-JP" altLang="en-US" sz="2000" dirty="0" smtClean="0"/>
              <a:t>は大文字です</a:t>
            </a:r>
            <a:r>
              <a:rPr lang="en-US" altLang="ja-JP" sz="2000" dirty="0" smtClean="0"/>
              <a:t>\n", c);</a:t>
            </a:r>
          </a:p>
          <a:p>
            <a:r>
              <a:rPr lang="en-US" altLang="ja-JP" sz="2000" dirty="0" smtClean="0"/>
              <a:t>  else</a:t>
            </a:r>
          </a:p>
          <a:p>
            <a:r>
              <a:rPr lang="en-US" altLang="ja-JP" sz="2000" dirty="0" smtClean="0"/>
              <a:t>    </a:t>
            </a:r>
            <a:r>
              <a:rPr lang="en-US" altLang="ja-JP" sz="2000" dirty="0" err="1" smtClean="0"/>
              <a:t>printf</a:t>
            </a:r>
            <a:r>
              <a:rPr lang="en-US" altLang="ja-JP" sz="2000" dirty="0" smtClean="0"/>
              <a:t> ("%c</a:t>
            </a:r>
            <a:r>
              <a:rPr lang="ja-JP" altLang="en-US" sz="2000" dirty="0" err="1" smtClean="0"/>
              <a:t>はアルファ</a:t>
            </a:r>
            <a:r>
              <a:rPr lang="ja-JP" altLang="en-US" sz="2000" dirty="0" smtClean="0"/>
              <a:t>ベットではありません。</a:t>
            </a:r>
            <a:r>
              <a:rPr lang="en-US" altLang="ja-JP" sz="2000" dirty="0" smtClean="0"/>
              <a:t>\n", c);</a:t>
            </a:r>
          </a:p>
          <a:p>
            <a:r>
              <a:rPr lang="en-US" altLang="ja-JP" sz="2000" dirty="0" smtClean="0"/>
              <a:t>}</a:t>
            </a:r>
          </a:p>
        </p:txBody>
      </p:sp>
      <p:sp>
        <p:nvSpPr>
          <p:cNvPr id="6" name="正方形/長方形 5"/>
          <p:cNvSpPr/>
          <p:nvPr/>
        </p:nvSpPr>
        <p:spPr>
          <a:xfrm>
            <a:off x="6286512" y="2973545"/>
            <a:ext cx="2214562" cy="2246769"/>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t>
            </a:r>
          </a:p>
          <a:p>
            <a:r>
              <a:rPr lang="en-US" altLang="ja-JP" sz="2000" dirty="0" smtClean="0"/>
              <a:t>  return 0;</a:t>
            </a:r>
          </a:p>
          <a:p>
            <a:r>
              <a:rPr lang="en-US" altLang="ja-JP" sz="2000" dirty="0" smtClean="0"/>
              <a:t>}</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大文字から小文字への変換</a:t>
            </a:r>
            <a:endParaRPr kumimoji="1" lang="ja-JP" altLang="en-US" dirty="0"/>
          </a:p>
        </p:txBody>
      </p:sp>
      <p:sp>
        <p:nvSpPr>
          <p:cNvPr id="4" name="テキスト ボックス 3"/>
          <p:cNvSpPr txBox="1"/>
          <p:nvPr/>
        </p:nvSpPr>
        <p:spPr>
          <a:xfrm>
            <a:off x="857224" y="1142984"/>
            <a:ext cx="7215238" cy="1938992"/>
          </a:xfrm>
          <a:prstGeom prst="rect">
            <a:avLst/>
          </a:prstGeom>
          <a:noFill/>
        </p:spPr>
        <p:txBody>
          <a:bodyPr wrap="square" rtlCol="0">
            <a:spAutoFit/>
          </a:bodyPr>
          <a:lstStyle/>
          <a:p>
            <a:r>
              <a:rPr kumimoji="1" lang="ja-JP" altLang="en-US" sz="2400" dirty="0" smtClean="0"/>
              <a:t>大文字から小文字への変換は</a:t>
            </a:r>
            <a:r>
              <a:rPr kumimoji="1" lang="en-US" altLang="ja-JP" sz="2400" dirty="0" err="1" smtClean="0"/>
              <a:t>tolower</a:t>
            </a:r>
            <a:r>
              <a:rPr kumimoji="1" lang="ja-JP" altLang="en-US" sz="2400" dirty="0" smtClean="0"/>
              <a:t>関数を用いる。</a:t>
            </a:r>
            <a:endParaRPr kumimoji="1" lang="en-US" altLang="ja-JP" sz="2400" dirty="0" smtClean="0"/>
          </a:p>
          <a:p>
            <a:r>
              <a:rPr lang="en-US" altLang="ja-JP" sz="2400" dirty="0" err="1" smtClean="0"/>
              <a:t>tolower</a:t>
            </a:r>
            <a:r>
              <a:rPr lang="ja-JP" altLang="en-US" sz="2400" dirty="0" smtClean="0"/>
              <a:t>関数は、</a:t>
            </a:r>
            <a:r>
              <a:rPr lang="en-US" altLang="ja-JP" sz="2400" dirty="0" err="1" smtClean="0"/>
              <a:t>int</a:t>
            </a:r>
            <a:r>
              <a:rPr lang="ja-JP" altLang="en-US" sz="2400" dirty="0" smtClean="0"/>
              <a:t>型を引数に受け取り、それが大文字に対応する数の場合、その小文字に対応する</a:t>
            </a:r>
            <a:r>
              <a:rPr lang="en-US" altLang="ja-JP" sz="2400" dirty="0" err="1" smtClean="0"/>
              <a:t>int</a:t>
            </a:r>
            <a:r>
              <a:rPr lang="ja-JP" altLang="en-US" sz="2400" dirty="0" smtClean="0"/>
              <a:t>型の数を返す。大文字以外の場合はそれをそのまま返す。</a:t>
            </a:r>
            <a:endParaRPr lang="en-US" altLang="ja-JP" sz="2400" dirty="0" smtClean="0"/>
          </a:p>
          <a:p>
            <a:r>
              <a:rPr kumimoji="1" lang="en-US" altLang="ja-JP" sz="2400" dirty="0" err="1" smtClean="0"/>
              <a:t>ctype.h</a:t>
            </a:r>
            <a:r>
              <a:rPr kumimoji="1" lang="ja-JP" altLang="en-US" sz="2400" dirty="0" smtClean="0"/>
              <a:t>を読み込む必要がある。</a:t>
            </a:r>
            <a:endParaRPr kumimoji="1" lang="ja-JP" altLang="en-US" sz="2400" dirty="0"/>
          </a:p>
        </p:txBody>
      </p:sp>
      <p:sp>
        <p:nvSpPr>
          <p:cNvPr id="6" name="正方形/長方形 5"/>
          <p:cNvSpPr/>
          <p:nvPr/>
        </p:nvSpPr>
        <p:spPr>
          <a:xfrm>
            <a:off x="1643042" y="3214686"/>
            <a:ext cx="5214974" cy="3539430"/>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ctype.h</a:t>
            </a:r>
            <a:r>
              <a:rPr lang="en-US" altLang="ja-JP" sz="2800" dirty="0" smtClean="0"/>
              <a:t>&gt;</a:t>
            </a:r>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（補足）</a:t>
            </a:r>
            <a:r>
              <a:rPr lang="en-US" altLang="ja-JP" dirty="0" smtClean="0"/>
              <a:t>char</a:t>
            </a:r>
            <a:r>
              <a:rPr lang="ja-JP" altLang="en-US" dirty="0" smtClean="0"/>
              <a:t>配列の初期化について</a:t>
            </a:r>
            <a:endParaRPr kumimoji="1" lang="ja-JP" altLang="en-US" dirty="0"/>
          </a:p>
        </p:txBody>
      </p:sp>
      <p:sp>
        <p:nvSpPr>
          <p:cNvPr id="4" name="テキスト ボックス 3"/>
          <p:cNvSpPr txBox="1"/>
          <p:nvPr/>
        </p:nvSpPr>
        <p:spPr>
          <a:xfrm>
            <a:off x="1043608" y="1714488"/>
            <a:ext cx="7416824" cy="3108543"/>
          </a:xfrm>
          <a:prstGeom prst="rect">
            <a:avLst/>
          </a:prstGeom>
          <a:noFill/>
        </p:spPr>
        <p:txBody>
          <a:bodyPr wrap="square" rtlCol="0">
            <a:spAutoFit/>
          </a:bodyPr>
          <a:lstStyle/>
          <a:p>
            <a:r>
              <a:rPr lang="en-US" altLang="ja-JP" sz="2800" dirty="0" smtClean="0"/>
              <a:t> char a [1000] = {‘\0’};</a:t>
            </a:r>
          </a:p>
          <a:p>
            <a:r>
              <a:rPr lang="en-US" altLang="ja-JP" sz="2800" dirty="0" smtClean="0"/>
              <a:t> char b [1000] = {‘\0’};</a:t>
            </a:r>
          </a:p>
          <a:p>
            <a:r>
              <a:rPr lang="ja-JP" altLang="en-US" sz="2800" dirty="0" err="1" smtClean="0"/>
              <a:t>のように</a:t>
            </a:r>
            <a:r>
              <a:rPr lang="en-US" altLang="ja-JP" sz="2800" dirty="0" smtClean="0"/>
              <a:t>char</a:t>
            </a:r>
            <a:r>
              <a:rPr lang="ja-JP" altLang="en-US" sz="2800" dirty="0" smtClean="0"/>
              <a:t>配列の初期化をすることによって、すべての要素がヌル文字で初期化されるので便利がよい。（文字列のコピーなどの場合に最後のヌル文字の扱いがやりやすくなるので）</a:t>
            </a:r>
            <a:endParaRPr lang="en-US" altLang="ja-JP" sz="2800" dirty="0" smtClean="0"/>
          </a:p>
          <a:p>
            <a:endParaRPr kumimoji="1" lang="ja-JP" altLang="en-US" sz="2800"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60648"/>
            <a:ext cx="8229600" cy="1143000"/>
          </a:xfrm>
        </p:spPr>
        <p:txBody>
          <a:bodyPr/>
          <a:lstStyle/>
          <a:p>
            <a:r>
              <a:rPr lang="ja-JP" altLang="en-US" dirty="0" smtClean="0"/>
              <a:t>参考課題１</a:t>
            </a:r>
            <a:endParaRPr kumimoji="1" lang="ja-JP" altLang="en-US" dirty="0"/>
          </a:p>
        </p:txBody>
      </p:sp>
      <p:sp>
        <p:nvSpPr>
          <p:cNvPr id="1027" name="Rectangle 3"/>
          <p:cNvSpPr>
            <a:spLocks noChangeArrowheads="1"/>
          </p:cNvSpPr>
          <p:nvPr/>
        </p:nvSpPr>
        <p:spPr bwMode="auto">
          <a:xfrm>
            <a:off x="467544" y="1340768"/>
            <a:ext cx="7992888"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ja-JP" altLang="en-US" sz="2800" dirty="0" smtClean="0">
                <a:latin typeface="+mn-ea"/>
                <a:cs typeface="Times New Roman" pitchFamily="18" charset="0"/>
              </a:rPr>
              <a:t>空白がある（かもしれない）</a:t>
            </a:r>
            <a:r>
              <a:rPr kumimoji="1" lang="ja-JP" sz="2800" b="0" i="0" u="none" strike="noStrike" cap="none" normalizeH="0" baseline="0" dirty="0" smtClean="0">
                <a:ln>
                  <a:noFill/>
                </a:ln>
                <a:solidFill>
                  <a:schemeClr val="tx1"/>
                </a:solidFill>
                <a:effectLst/>
                <a:latin typeface="+mn-ea"/>
                <a:cs typeface="Times New Roman" pitchFamily="18" charset="0"/>
              </a:rPr>
              <a:t>文字列を</a:t>
            </a:r>
            <a:r>
              <a:rPr kumimoji="1" lang="ja-JP" altLang="en-US" sz="2800" b="0" i="0" u="none" strike="noStrike" cap="none" normalizeH="0" baseline="0" dirty="0" smtClean="0">
                <a:ln>
                  <a:noFill/>
                </a:ln>
                <a:solidFill>
                  <a:schemeClr val="tx1"/>
                </a:solidFill>
                <a:effectLst/>
                <a:latin typeface="+mn-ea"/>
                <a:cs typeface="Times New Roman" pitchFamily="18" charset="0"/>
              </a:rPr>
              <a:t>キーボードから受け取り</a:t>
            </a:r>
            <a:r>
              <a:rPr kumimoji="1" lang="ja-JP" sz="2800" b="0" i="0" u="none" strike="noStrike" cap="none" normalizeH="0" baseline="0" dirty="0" smtClean="0">
                <a:ln>
                  <a:noFill/>
                </a:ln>
                <a:solidFill>
                  <a:schemeClr val="tx1"/>
                </a:solidFill>
                <a:effectLst/>
                <a:latin typeface="+mn-ea"/>
                <a:cs typeface="Times New Roman" pitchFamily="18" charset="0"/>
              </a:rPr>
              <a:t>、</a:t>
            </a:r>
            <a:r>
              <a:rPr kumimoji="1" lang="ja-JP" altLang="en-US" sz="2800" b="0" i="0" u="none" strike="noStrike" cap="none" normalizeH="0" baseline="0" dirty="0" smtClean="0">
                <a:ln>
                  <a:noFill/>
                </a:ln>
                <a:solidFill>
                  <a:schemeClr val="tx1"/>
                </a:solidFill>
                <a:effectLst/>
                <a:latin typeface="+mn-ea"/>
                <a:cs typeface="Times New Roman" pitchFamily="18" charset="0"/>
              </a:rPr>
              <a:t>表示するプログラムを</a:t>
            </a:r>
            <a:r>
              <a:rPr lang="en-US" altLang="ja-JP" sz="2800" dirty="0" smtClean="0">
                <a:latin typeface="+mn-ea"/>
                <a:cs typeface="Times New Roman" pitchFamily="18" charset="0"/>
              </a:rPr>
              <a:t>gets</a:t>
            </a:r>
            <a:r>
              <a:rPr lang="ja-JP" altLang="en-US" sz="2800" dirty="0" smtClean="0">
                <a:latin typeface="+mn-ea"/>
                <a:cs typeface="Times New Roman" pitchFamily="18" charset="0"/>
              </a:rPr>
              <a:t>関数を使用せずに</a:t>
            </a:r>
            <a:r>
              <a:rPr kumimoji="1" lang="ja-JP" altLang="en-US" sz="2800" b="0" i="0" u="none" strike="noStrike" cap="none" normalizeH="0" baseline="0" dirty="0" smtClean="0">
                <a:ln>
                  <a:noFill/>
                </a:ln>
                <a:solidFill>
                  <a:schemeClr val="tx1"/>
                </a:solidFill>
                <a:effectLst/>
                <a:latin typeface="+mn-ea"/>
                <a:cs typeface="Times New Roman" pitchFamily="18" charset="0"/>
              </a:rPr>
              <a:t>作成せよ。</a:t>
            </a:r>
            <a:endParaRPr lang="en-US" altLang="ja-JP" sz="2800" dirty="0" smtClean="0">
              <a:latin typeface="+mn-ea"/>
              <a:cs typeface="Times New Roman" pitchFamily="18" charset="0"/>
            </a:endParaRPr>
          </a:p>
        </p:txBody>
      </p:sp>
      <p:sp>
        <p:nvSpPr>
          <p:cNvPr id="4" name="正方形/長方形 3"/>
          <p:cNvSpPr/>
          <p:nvPr/>
        </p:nvSpPr>
        <p:spPr>
          <a:xfrm>
            <a:off x="611560" y="2780928"/>
            <a:ext cx="7704856" cy="3785652"/>
          </a:xfrm>
          <a:prstGeom prst="rect">
            <a:avLst/>
          </a:prstGeom>
        </p:spPr>
        <p:txBody>
          <a:bodyPr wrap="square">
            <a:spAutoFit/>
          </a:bodyPr>
          <a:lstStyle/>
          <a:p>
            <a:pPr lvl="0" fontAlgn="base">
              <a:spcBef>
                <a:spcPct val="0"/>
              </a:spcBef>
              <a:spcAft>
                <a:spcPct val="0"/>
              </a:spcAft>
            </a:pPr>
            <a:r>
              <a:rPr lang="en-US" altLang="ja-JP" sz="2400" dirty="0" smtClean="0">
                <a:solidFill>
                  <a:prstClr val="black"/>
                </a:solidFill>
                <a:latin typeface="ＭＳ Ｐゴシック"/>
                <a:cs typeface="Times New Roman" pitchFamily="18" charset="0"/>
              </a:rPr>
              <a:t>[</a:t>
            </a:r>
            <a:r>
              <a:rPr lang="ja-JP" altLang="en-US" sz="2400" dirty="0" smtClean="0">
                <a:solidFill>
                  <a:prstClr val="black"/>
                </a:solidFill>
                <a:latin typeface="ＭＳ Ｐゴシック"/>
                <a:cs typeface="Times New Roman" pitchFamily="18" charset="0"/>
              </a:rPr>
              <a:t>実行例</a:t>
            </a:r>
            <a:r>
              <a:rPr lang="en-US" altLang="ja-JP" sz="2400" dirty="0" smtClean="0">
                <a:solidFill>
                  <a:prstClr val="black"/>
                </a:solidFill>
                <a:latin typeface="ＭＳ Ｐゴシック"/>
                <a:cs typeface="Times New Roman" pitchFamily="18" charset="0"/>
              </a:rPr>
              <a:t>]</a:t>
            </a:r>
            <a:endParaRPr lang="en-US" altLang="ja-JP" sz="2400" dirty="0" smtClean="0">
              <a:solidFill>
                <a:prstClr val="black"/>
              </a:solidFill>
              <a:latin typeface="ＭＳ Ｐゴシック"/>
              <a:cs typeface="ＭＳ Ｐゴシック" pitchFamily="50" charset="-128"/>
            </a:endParaRPr>
          </a:p>
          <a:p>
            <a:pPr lvl="0" eaLnBrk="0" fontAlgn="base" hangingPunct="0">
              <a:spcBef>
                <a:spcPct val="0"/>
              </a:spcBef>
              <a:spcAft>
                <a:spcPct val="0"/>
              </a:spcAft>
            </a:pPr>
            <a:r>
              <a:rPr lang="en-US" altLang="ja-JP" sz="2400" dirty="0" smtClean="0">
                <a:solidFill>
                  <a:prstClr val="black"/>
                </a:solidFill>
                <a:latin typeface="ＭＳ Ｐゴシック"/>
                <a:cs typeface="Times New Roman" pitchFamily="18" charset="0"/>
              </a:rPr>
              <a:t>[</a:t>
            </a:r>
            <a:r>
              <a:rPr lang="en-US" altLang="ja-JP" sz="2400" dirty="0" err="1" smtClean="0">
                <a:solidFill>
                  <a:prstClr val="black"/>
                </a:solidFill>
                <a:latin typeface="ＭＳ Ｐゴシック"/>
                <a:cs typeface="Times New Roman" pitchFamily="18" charset="0"/>
              </a:rPr>
              <a:t>sasano@localhost</a:t>
            </a:r>
            <a:r>
              <a:rPr lang="en-US" altLang="ja-JP" sz="2400" dirty="0" smtClean="0">
                <a:solidFill>
                  <a:prstClr val="black"/>
                </a:solidFill>
                <a:latin typeface="ＭＳ Ｐゴシック"/>
                <a:cs typeface="Times New Roman" pitchFamily="18" charset="0"/>
              </a:rPr>
              <a:t> 2011]$ ./</a:t>
            </a:r>
            <a:r>
              <a:rPr lang="en-US" altLang="ja-JP" sz="2400" dirty="0" err="1" smtClean="0">
                <a:solidFill>
                  <a:prstClr val="black"/>
                </a:solidFill>
                <a:latin typeface="ＭＳ Ｐゴシック"/>
                <a:cs typeface="Times New Roman" pitchFamily="18" charset="0"/>
              </a:rPr>
              <a:t>a.out</a:t>
            </a:r>
            <a:endParaRPr lang="en-US" altLang="ja-JP" sz="2400" dirty="0" smtClean="0">
              <a:solidFill>
                <a:prstClr val="black"/>
              </a:solidFill>
              <a:latin typeface="ＭＳ Ｐゴシック"/>
              <a:cs typeface="Times New Roman" pitchFamily="18" charset="0"/>
            </a:endParaRPr>
          </a:p>
          <a:p>
            <a:pPr lvl="0" eaLnBrk="0" fontAlgn="base" hangingPunct="0">
              <a:spcBef>
                <a:spcPct val="0"/>
              </a:spcBef>
              <a:spcAft>
                <a:spcPct val="0"/>
              </a:spcAft>
            </a:pPr>
            <a:r>
              <a:rPr lang="ja-JP" altLang="en-US" sz="2400" dirty="0" smtClean="0">
                <a:solidFill>
                  <a:prstClr val="black"/>
                </a:solidFill>
                <a:latin typeface="ＭＳ Ｐゴシック"/>
                <a:cs typeface="Times New Roman" pitchFamily="18" charset="0"/>
              </a:rPr>
              <a:t>文字列を入力してください</a:t>
            </a:r>
            <a:r>
              <a:rPr lang="en-US" altLang="ja-JP" sz="2400" dirty="0" smtClean="0">
                <a:solidFill>
                  <a:prstClr val="black"/>
                </a:solidFill>
                <a:latin typeface="ＭＳ Ｐゴシック"/>
                <a:cs typeface="Times New Roman" pitchFamily="18" charset="0"/>
              </a:rPr>
              <a:t>: </a:t>
            </a:r>
            <a:r>
              <a:rPr lang="en-US" altLang="ja-JP" sz="2400" dirty="0" smtClean="0">
                <a:solidFill>
                  <a:srgbClr val="FF0000"/>
                </a:solidFill>
                <a:latin typeface="ＭＳ Ｐゴシック"/>
                <a:cs typeface="Times New Roman" pitchFamily="18" charset="0"/>
              </a:rPr>
              <a:t>This is a pen.</a:t>
            </a:r>
          </a:p>
          <a:p>
            <a:pPr lvl="0" eaLnBrk="0" fontAlgn="base" hangingPunct="0">
              <a:spcBef>
                <a:spcPct val="0"/>
              </a:spcBef>
              <a:spcAft>
                <a:spcPct val="0"/>
              </a:spcAft>
            </a:pPr>
            <a:r>
              <a:rPr lang="ja-JP" altLang="en-US" sz="2400" dirty="0" smtClean="0">
                <a:solidFill>
                  <a:prstClr val="black"/>
                </a:solidFill>
                <a:latin typeface="ＭＳ Ｐゴシック"/>
                <a:cs typeface="Times New Roman" pitchFamily="18" charset="0"/>
              </a:rPr>
              <a:t>入力した文字列は</a:t>
            </a:r>
            <a:r>
              <a:rPr lang="en-US" altLang="ja-JP" sz="2400" dirty="0" smtClean="0">
                <a:solidFill>
                  <a:prstClr val="black"/>
                </a:solidFill>
                <a:latin typeface="ＭＳ Ｐゴシック"/>
                <a:cs typeface="Times New Roman" pitchFamily="18" charset="0"/>
              </a:rPr>
              <a:t>This is a pen.</a:t>
            </a:r>
            <a:r>
              <a:rPr lang="ja-JP" altLang="en-US" sz="2400" dirty="0" smtClean="0">
                <a:solidFill>
                  <a:prstClr val="black"/>
                </a:solidFill>
                <a:latin typeface="ＭＳ Ｐゴシック"/>
                <a:cs typeface="Times New Roman" pitchFamily="18" charset="0"/>
              </a:rPr>
              <a:t>です。</a:t>
            </a:r>
          </a:p>
          <a:p>
            <a:pPr lvl="0" eaLnBrk="0" fontAlgn="base" hangingPunct="0">
              <a:spcBef>
                <a:spcPct val="0"/>
              </a:spcBef>
              <a:spcAft>
                <a:spcPct val="0"/>
              </a:spcAft>
            </a:pPr>
            <a:r>
              <a:rPr lang="en-US" altLang="ja-JP" sz="2400" dirty="0" smtClean="0">
                <a:solidFill>
                  <a:prstClr val="black"/>
                </a:solidFill>
                <a:latin typeface="ＭＳ Ｐゴシック"/>
                <a:cs typeface="Times New Roman" pitchFamily="18" charset="0"/>
              </a:rPr>
              <a:t>(</a:t>
            </a:r>
            <a:r>
              <a:rPr lang="ja-JP" altLang="en-US" sz="2400" dirty="0" smtClean="0">
                <a:solidFill>
                  <a:prstClr val="black"/>
                </a:solidFill>
                <a:latin typeface="ＭＳ Ｐゴシック"/>
                <a:cs typeface="Times New Roman" pitchFamily="18" charset="0"/>
              </a:rPr>
              <a:t>ヒント</a:t>
            </a:r>
            <a:r>
              <a:rPr lang="en-US" altLang="ja-JP" sz="2400" dirty="0" smtClean="0">
                <a:solidFill>
                  <a:prstClr val="black"/>
                </a:solidFill>
                <a:latin typeface="ＭＳ Ｐゴシック"/>
                <a:cs typeface="Times New Roman" pitchFamily="18" charset="0"/>
              </a:rPr>
              <a:t>) </a:t>
            </a:r>
          </a:p>
          <a:p>
            <a:pPr lvl="0" eaLnBrk="0" fontAlgn="base" hangingPunct="0">
              <a:spcBef>
                <a:spcPct val="0"/>
              </a:spcBef>
              <a:spcAft>
                <a:spcPct val="0"/>
              </a:spcAft>
            </a:pPr>
            <a:r>
              <a:rPr lang="ja-JP" altLang="en-US" sz="2400" dirty="0" smtClean="0">
                <a:solidFill>
                  <a:prstClr val="black"/>
                </a:solidFill>
                <a:latin typeface="ＭＳ Ｐゴシック"/>
                <a:cs typeface="Times New Roman" pitchFamily="18" charset="0"/>
              </a:rPr>
              <a:t>配列を使って、</a:t>
            </a:r>
            <a:r>
              <a:rPr lang="en-US" altLang="ja-JP" sz="2400" dirty="0" err="1" smtClean="0">
                <a:solidFill>
                  <a:prstClr val="black"/>
                </a:solidFill>
                <a:latin typeface="ＭＳ Ｐゴシック"/>
                <a:cs typeface="Times New Roman" pitchFamily="18" charset="0"/>
              </a:rPr>
              <a:t>scanf</a:t>
            </a:r>
            <a:r>
              <a:rPr lang="ja-JP" altLang="en-US" sz="2400" dirty="0" smtClean="0">
                <a:solidFill>
                  <a:prstClr val="black"/>
                </a:solidFill>
                <a:latin typeface="ＭＳ Ｐゴシック"/>
                <a:cs typeface="Times New Roman" pitchFamily="18" charset="0"/>
              </a:rPr>
              <a:t>で変換指定を</a:t>
            </a:r>
            <a:r>
              <a:rPr lang="en-US" altLang="ja-JP" sz="2400" dirty="0" smtClean="0">
                <a:solidFill>
                  <a:prstClr val="black"/>
                </a:solidFill>
                <a:latin typeface="ＭＳ Ｐゴシック"/>
                <a:cs typeface="Times New Roman" pitchFamily="18" charset="0"/>
              </a:rPr>
              <a:t>%c</a:t>
            </a:r>
            <a:r>
              <a:rPr lang="ja-JP" altLang="en-US" sz="2400" dirty="0" smtClean="0">
                <a:solidFill>
                  <a:prstClr val="black"/>
                </a:solidFill>
                <a:latin typeface="ＭＳ Ｐゴシック"/>
                <a:cs typeface="Times New Roman" pitchFamily="18" charset="0"/>
              </a:rPr>
              <a:t>として</a:t>
            </a:r>
            <a:r>
              <a:rPr lang="en-US" altLang="ja-JP" sz="2400" dirty="0" smtClean="0">
                <a:solidFill>
                  <a:prstClr val="black"/>
                </a:solidFill>
                <a:latin typeface="ＭＳ Ｐゴシック"/>
                <a:cs typeface="Times New Roman" pitchFamily="18" charset="0"/>
              </a:rPr>
              <a:t>while</a:t>
            </a:r>
            <a:r>
              <a:rPr lang="ja-JP" altLang="en-US" sz="2400" dirty="0" smtClean="0">
                <a:solidFill>
                  <a:prstClr val="black"/>
                </a:solidFill>
                <a:latin typeface="ＭＳ Ｐゴシック"/>
                <a:cs typeface="Times New Roman" pitchFamily="18" charset="0"/>
              </a:rPr>
              <a:t>文の中で</a:t>
            </a:r>
            <a:r>
              <a:rPr lang="en-US" altLang="ja-JP" sz="2400" dirty="0" smtClean="0">
                <a:solidFill>
                  <a:prstClr val="black"/>
                </a:solidFill>
                <a:latin typeface="ＭＳ Ｐゴシック"/>
                <a:cs typeface="Times New Roman" pitchFamily="18" charset="0"/>
              </a:rPr>
              <a:t>k</a:t>
            </a:r>
            <a:r>
              <a:rPr lang="ja-JP" altLang="en-US" sz="2400" dirty="0" smtClean="0">
                <a:solidFill>
                  <a:prstClr val="black"/>
                </a:solidFill>
                <a:latin typeface="ＭＳ Ｐゴシック"/>
                <a:cs typeface="Times New Roman" pitchFamily="18" charset="0"/>
              </a:rPr>
              <a:t>改行文字を読むまで１文字ずつ順番に配列の各要素に格納し、改行文字をヌル文字に置き換えればよい。その後、</a:t>
            </a:r>
            <a:r>
              <a:rPr lang="en-US" altLang="ja-JP" sz="2400" dirty="0" err="1" smtClean="0">
                <a:solidFill>
                  <a:prstClr val="black"/>
                </a:solidFill>
                <a:latin typeface="ＭＳ Ｐゴシック"/>
                <a:cs typeface="Times New Roman" pitchFamily="18" charset="0"/>
              </a:rPr>
              <a:t>printf</a:t>
            </a:r>
            <a:r>
              <a:rPr lang="ja-JP" altLang="en-US" sz="2400" dirty="0" smtClean="0">
                <a:solidFill>
                  <a:prstClr val="black"/>
                </a:solidFill>
                <a:latin typeface="ＭＳ Ｐゴシック"/>
                <a:cs typeface="Times New Roman" pitchFamily="18" charset="0"/>
              </a:rPr>
              <a:t>で変換指定</a:t>
            </a:r>
            <a:r>
              <a:rPr lang="en-US" altLang="ja-JP" sz="2400" dirty="0" smtClean="0">
                <a:solidFill>
                  <a:prstClr val="black"/>
                </a:solidFill>
                <a:latin typeface="ＭＳ Ｐゴシック"/>
                <a:cs typeface="Times New Roman" pitchFamily="18" charset="0"/>
              </a:rPr>
              <a:t>%s</a:t>
            </a:r>
            <a:r>
              <a:rPr lang="ja-JP" altLang="en-US" sz="2400" dirty="0" smtClean="0">
                <a:solidFill>
                  <a:prstClr val="black"/>
                </a:solidFill>
                <a:latin typeface="ＭＳ Ｐゴシック"/>
                <a:cs typeface="Times New Roman" pitchFamily="18" charset="0"/>
              </a:rPr>
              <a:t>を使って表示させればよい。（表示部分も一文字ずつ</a:t>
            </a:r>
            <a:r>
              <a:rPr lang="en-US" altLang="ja-JP" sz="2400" dirty="0" smtClean="0">
                <a:solidFill>
                  <a:prstClr val="black"/>
                </a:solidFill>
                <a:latin typeface="ＭＳ Ｐゴシック"/>
                <a:cs typeface="Times New Roman" pitchFamily="18" charset="0"/>
              </a:rPr>
              <a:t>while</a:t>
            </a:r>
            <a:r>
              <a:rPr lang="ja-JP" altLang="en-US" sz="2400" dirty="0" smtClean="0">
                <a:solidFill>
                  <a:prstClr val="black"/>
                </a:solidFill>
                <a:latin typeface="ＭＳ Ｐゴシック"/>
                <a:cs typeface="Times New Roman" pitchFamily="18" charset="0"/>
              </a:rPr>
              <a:t>文で表示させることもできる。）</a:t>
            </a:r>
            <a:endParaRPr lang="ja-JP" altLang="en-US" sz="2400" dirty="0" smtClean="0">
              <a:solidFill>
                <a:prstClr val="black"/>
              </a:solidFill>
              <a:latin typeface="ＭＳ Ｐゴシック"/>
              <a:cs typeface="ＭＳ Ｐゴシック" pitchFamily="50" charset="-128"/>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参考課題１　解答例</a:t>
            </a:r>
            <a:endParaRPr kumimoji="1" lang="ja-JP" altLang="en-US" dirty="0"/>
          </a:p>
        </p:txBody>
      </p:sp>
      <p:sp>
        <p:nvSpPr>
          <p:cNvPr id="4" name="正方形/長方形 3"/>
          <p:cNvSpPr/>
          <p:nvPr/>
        </p:nvSpPr>
        <p:spPr>
          <a:xfrm>
            <a:off x="1403648" y="1340768"/>
            <a:ext cx="6624736"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char s[100], c;</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a:t>
            </a:r>
            <a:r>
              <a:rPr lang="ja-JP" altLang="en-US" sz="2400" dirty="0" smtClean="0"/>
              <a:t>文字列を入力してください</a:t>
            </a:r>
            <a:r>
              <a:rPr lang="en-US" altLang="ja-JP" sz="2400" dirty="0" smtClean="0"/>
              <a:t>: ");</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&lt;99; </a:t>
            </a:r>
            <a:r>
              <a:rPr lang="en-US" altLang="ja-JP" sz="2400" dirty="0" err="1" smtClean="0"/>
              <a:t>i</a:t>
            </a:r>
            <a:r>
              <a:rPr lang="en-US" altLang="ja-JP" sz="2400" dirty="0" smtClean="0"/>
              <a:t>=i+1) {</a:t>
            </a:r>
          </a:p>
          <a:p>
            <a:r>
              <a:rPr lang="en-US" altLang="ja-JP" sz="2400" dirty="0" smtClean="0"/>
              <a:t>    </a:t>
            </a:r>
            <a:r>
              <a:rPr lang="en-US" altLang="ja-JP" sz="2400" dirty="0" err="1" smtClean="0"/>
              <a:t>scanf</a:t>
            </a:r>
            <a:r>
              <a:rPr lang="en-US" altLang="ja-JP" sz="2400" dirty="0" smtClean="0"/>
              <a:t> ("%c", &amp;s[</a:t>
            </a:r>
            <a:r>
              <a:rPr lang="en-US" altLang="ja-JP" sz="2400" dirty="0" err="1" smtClean="0"/>
              <a:t>i</a:t>
            </a:r>
            <a:r>
              <a:rPr lang="en-US" altLang="ja-JP" sz="2400" dirty="0" smtClean="0"/>
              <a:t>]);</a:t>
            </a:r>
          </a:p>
          <a:p>
            <a:r>
              <a:rPr lang="en-US" altLang="ja-JP" sz="2400" dirty="0" smtClean="0"/>
              <a:t>    if (s[</a:t>
            </a:r>
            <a:r>
              <a:rPr lang="en-US" altLang="ja-JP" sz="2400" dirty="0" err="1" smtClean="0"/>
              <a:t>i</a:t>
            </a:r>
            <a:r>
              <a:rPr lang="en-US" altLang="ja-JP" sz="2400" dirty="0" smtClean="0"/>
              <a:t>] == '\n')</a:t>
            </a:r>
          </a:p>
          <a:p>
            <a:r>
              <a:rPr lang="en-US" altLang="ja-JP" sz="2400" dirty="0" smtClean="0"/>
              <a:t>        break;</a:t>
            </a:r>
          </a:p>
          <a:p>
            <a:r>
              <a:rPr lang="en-US" altLang="ja-JP" sz="2400" dirty="0" smtClean="0"/>
              <a:t>  }</a:t>
            </a:r>
          </a:p>
          <a:p>
            <a:r>
              <a:rPr lang="en-US" altLang="ja-JP" sz="2400" dirty="0" smtClean="0"/>
              <a:t>  s[</a:t>
            </a:r>
            <a:r>
              <a:rPr lang="en-US" altLang="ja-JP" sz="2400" dirty="0" err="1" smtClean="0"/>
              <a:t>i</a:t>
            </a:r>
            <a:r>
              <a:rPr lang="en-US" altLang="ja-JP" sz="2400" dirty="0" smtClean="0"/>
              <a:t>] = '\0';</a:t>
            </a:r>
          </a:p>
          <a:p>
            <a:r>
              <a:rPr lang="en-US" altLang="ja-JP" sz="2400" dirty="0" smtClean="0"/>
              <a:t>  </a:t>
            </a:r>
            <a:r>
              <a:rPr lang="en-US" altLang="ja-JP" sz="2400" dirty="0" err="1" smtClean="0"/>
              <a:t>printf</a:t>
            </a:r>
            <a:r>
              <a:rPr lang="en-US" altLang="ja-JP" sz="2400" dirty="0" smtClean="0"/>
              <a:t> ("</a:t>
            </a:r>
            <a:r>
              <a:rPr lang="ja-JP" altLang="en-US" sz="2400" dirty="0" smtClean="0"/>
              <a:t>入力した文字列は</a:t>
            </a:r>
            <a:r>
              <a:rPr lang="en-US" altLang="ja-JP" sz="2400" dirty="0" smtClean="0"/>
              <a:t>%s</a:t>
            </a:r>
            <a:r>
              <a:rPr lang="ja-JP" altLang="en-US" sz="2400" dirty="0" smtClean="0"/>
              <a:t>です。</a:t>
            </a:r>
            <a:r>
              <a:rPr lang="en-US" altLang="ja-JP" sz="2400" dirty="0" smtClean="0"/>
              <a:t>\n", &amp;s[0]);</a:t>
            </a:r>
          </a:p>
          <a:p>
            <a:r>
              <a:rPr lang="en-US" altLang="ja-JP" sz="2400" dirty="0" smtClean="0"/>
              <a:t>  return 0;</a:t>
            </a:r>
          </a:p>
          <a:p>
            <a:r>
              <a:rPr lang="en-US" altLang="ja-JP" sz="2400" dirty="0" smtClean="0"/>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357166"/>
            <a:ext cx="8229600" cy="654032"/>
          </a:xfrm>
        </p:spPr>
        <p:txBody>
          <a:bodyPr>
            <a:normAutofit fontScale="90000"/>
          </a:bodyPr>
          <a:lstStyle/>
          <a:p>
            <a:r>
              <a:rPr lang="ja-JP" altLang="en-US" dirty="0" smtClean="0"/>
              <a:t>参考</a:t>
            </a:r>
            <a:r>
              <a:rPr kumimoji="1" lang="ja-JP" altLang="en-US" dirty="0" smtClean="0"/>
              <a:t>課題</a:t>
            </a:r>
            <a:r>
              <a:rPr lang="ja-JP" altLang="en-US" dirty="0" smtClean="0"/>
              <a:t>２</a:t>
            </a:r>
            <a:endParaRPr kumimoji="1" lang="ja-JP" altLang="en-US" dirty="0"/>
          </a:p>
        </p:txBody>
      </p:sp>
      <p:sp>
        <p:nvSpPr>
          <p:cNvPr id="4" name="テキスト ボックス 3"/>
          <p:cNvSpPr txBox="1"/>
          <p:nvPr/>
        </p:nvSpPr>
        <p:spPr>
          <a:xfrm>
            <a:off x="1000100" y="1428736"/>
            <a:ext cx="7215238" cy="4832092"/>
          </a:xfrm>
          <a:prstGeom prst="rect">
            <a:avLst/>
          </a:prstGeom>
          <a:noFill/>
        </p:spPr>
        <p:txBody>
          <a:bodyPr wrap="square" rtlCol="0">
            <a:spAutoFit/>
          </a:bodyPr>
          <a:lstStyle/>
          <a:p>
            <a:r>
              <a:rPr lang="ja-JP" altLang="en-US" sz="2800" dirty="0" smtClean="0"/>
              <a:t>キーボードから英語の文字列を１つ入力として受け取り、その中に英語の大文字をすべて小文字に変換したものを画面に表示するプログラムを作成せよ。英語の大文字以外の文字はそのまま表示せよ。</a:t>
            </a:r>
            <a:endParaRPr lang="en-US" altLang="ja-JP" sz="2800" dirty="0" smtClean="0"/>
          </a:p>
          <a:p>
            <a:endParaRPr lang="en-US" altLang="ja-JP" sz="2800" dirty="0" smtClean="0"/>
          </a:p>
          <a:p>
            <a:r>
              <a:rPr lang="en-US" altLang="ja-JP" sz="2800" dirty="0" smtClean="0"/>
              <a:t>[</a:t>
            </a:r>
            <a:r>
              <a:rPr lang="ja-JP" altLang="en-US" sz="2800" dirty="0" smtClean="0"/>
              <a:t>実行例</a:t>
            </a:r>
            <a:r>
              <a:rPr lang="en-US" altLang="ja-JP" sz="2800" dirty="0" smtClean="0"/>
              <a:t>]</a:t>
            </a:r>
          </a:p>
          <a:p>
            <a:r>
              <a:rPr lang="ja-JP" altLang="en-US" sz="2800" dirty="0" smtClean="0"/>
              <a:t>文字列を入力してください</a:t>
            </a:r>
            <a:r>
              <a:rPr lang="en-US" altLang="ja-JP" sz="2800" dirty="0" smtClean="0"/>
              <a:t>: </a:t>
            </a:r>
            <a:r>
              <a:rPr lang="en-US" altLang="ja-JP" sz="2800" dirty="0" smtClean="0">
                <a:solidFill>
                  <a:srgbClr val="FF0000"/>
                </a:solidFill>
              </a:rPr>
              <a:t>This is a pen.</a:t>
            </a:r>
          </a:p>
          <a:p>
            <a:r>
              <a:rPr lang="en-US" altLang="ja-JP" sz="2800" dirty="0" smtClean="0"/>
              <a:t>this is a pen.</a:t>
            </a:r>
          </a:p>
          <a:p>
            <a:endParaRPr lang="en-US" altLang="ja-JP" sz="2800" dirty="0" smtClean="0"/>
          </a:p>
          <a:p>
            <a:r>
              <a:rPr lang="ja-JP" altLang="en-US" sz="2800" dirty="0" smtClean="0"/>
              <a:t>（注意）十分な長さの配列を宣言して用いること。</a:t>
            </a:r>
            <a:endParaRPr lang="en-US" altLang="ja-JP" sz="2800" dirty="0" smtClean="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参考課題２　解答例</a:t>
            </a:r>
            <a:endParaRPr kumimoji="1" lang="ja-JP" altLang="en-US" dirty="0"/>
          </a:p>
        </p:txBody>
      </p:sp>
      <p:sp>
        <p:nvSpPr>
          <p:cNvPr id="4" name="正方形/長方形 3"/>
          <p:cNvSpPr/>
          <p:nvPr/>
        </p:nvSpPr>
        <p:spPr>
          <a:xfrm>
            <a:off x="1331640" y="1412776"/>
            <a:ext cx="6480720" cy="501675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char s[100], c;</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a:t>
            </a:r>
          </a:p>
          <a:p>
            <a:r>
              <a:rPr lang="en-US" altLang="ja-JP" sz="2000" dirty="0" smtClean="0"/>
              <a:t>  </a:t>
            </a:r>
            <a:r>
              <a:rPr lang="en-US" altLang="ja-JP" sz="2000" dirty="0" err="1" smtClean="0"/>
              <a:t>printf</a:t>
            </a:r>
            <a:r>
              <a:rPr lang="en-US" altLang="ja-JP" sz="2000" dirty="0" smtClean="0"/>
              <a:t>("</a:t>
            </a:r>
            <a:r>
              <a:rPr lang="ja-JP" altLang="en-US" sz="2000" dirty="0" smtClean="0"/>
              <a:t>文字列を入力してください</a:t>
            </a:r>
            <a:r>
              <a:rPr lang="en-US" altLang="ja-JP" sz="2000" dirty="0" smtClean="0"/>
              <a:t>: ");</a:t>
            </a:r>
          </a:p>
          <a:p>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&lt;99; </a:t>
            </a:r>
            <a:r>
              <a:rPr lang="en-US" altLang="ja-JP" sz="2000" dirty="0" err="1" smtClean="0"/>
              <a:t>i</a:t>
            </a:r>
            <a:r>
              <a:rPr lang="en-US" altLang="ja-JP" sz="2000" dirty="0" smtClean="0"/>
              <a:t>=i+1) {</a:t>
            </a:r>
          </a:p>
          <a:p>
            <a:r>
              <a:rPr lang="en-US" altLang="ja-JP" sz="2000" dirty="0" smtClean="0"/>
              <a:t>    </a:t>
            </a:r>
            <a:r>
              <a:rPr lang="en-US" altLang="ja-JP" sz="2000" dirty="0" err="1" smtClean="0"/>
              <a:t>scanf</a:t>
            </a:r>
            <a:r>
              <a:rPr lang="en-US" altLang="ja-JP" sz="2000" dirty="0" smtClean="0"/>
              <a:t> ("%c", &amp;s[</a:t>
            </a:r>
            <a:r>
              <a:rPr lang="en-US" altLang="ja-JP" sz="2000" dirty="0" err="1" smtClean="0"/>
              <a:t>i</a:t>
            </a:r>
            <a:r>
              <a:rPr lang="en-US" altLang="ja-JP" sz="2000" dirty="0" smtClean="0"/>
              <a:t>]);</a:t>
            </a:r>
          </a:p>
          <a:p>
            <a:r>
              <a:rPr lang="en-US" altLang="ja-JP" sz="2000" dirty="0" smtClean="0"/>
              <a:t>    if (s[</a:t>
            </a:r>
            <a:r>
              <a:rPr lang="en-US" altLang="ja-JP" sz="2000" dirty="0" err="1" smtClean="0"/>
              <a:t>i</a:t>
            </a:r>
            <a:r>
              <a:rPr lang="en-US" altLang="ja-JP" sz="2000" dirty="0" smtClean="0"/>
              <a:t>] == '\n')</a:t>
            </a:r>
          </a:p>
          <a:p>
            <a:r>
              <a:rPr lang="en-US" altLang="ja-JP" sz="2000" dirty="0" smtClean="0"/>
              <a:t>        break;</a:t>
            </a:r>
          </a:p>
          <a:p>
            <a:r>
              <a:rPr lang="en-US" altLang="ja-JP" sz="2000" dirty="0" smtClean="0"/>
              <a:t>    if (</a:t>
            </a:r>
            <a:r>
              <a:rPr lang="en-US" altLang="ja-JP" sz="2000" dirty="0" err="1" smtClean="0"/>
              <a:t>isupper</a:t>
            </a:r>
            <a:r>
              <a:rPr lang="en-US" altLang="ja-JP" sz="2000" dirty="0" smtClean="0"/>
              <a:t>(s[</a:t>
            </a:r>
            <a:r>
              <a:rPr lang="en-US" altLang="ja-JP" sz="2000" dirty="0" err="1" smtClean="0"/>
              <a:t>i</a:t>
            </a:r>
            <a:r>
              <a:rPr lang="en-US" altLang="ja-JP" sz="2000" dirty="0" smtClean="0"/>
              <a:t>]))</a:t>
            </a:r>
          </a:p>
          <a:p>
            <a:r>
              <a:rPr lang="en-US" altLang="ja-JP" sz="2000" dirty="0" smtClean="0"/>
              <a:t>      s[</a:t>
            </a:r>
            <a:r>
              <a:rPr lang="en-US" altLang="ja-JP" sz="2000" dirty="0" err="1" smtClean="0"/>
              <a:t>i</a:t>
            </a:r>
            <a:r>
              <a:rPr lang="en-US" altLang="ja-JP" sz="2000" dirty="0" smtClean="0"/>
              <a:t>] = </a:t>
            </a:r>
            <a:r>
              <a:rPr lang="en-US" altLang="ja-JP" sz="2000" dirty="0" err="1" smtClean="0"/>
              <a:t>tolower</a:t>
            </a:r>
            <a:r>
              <a:rPr lang="en-US" altLang="ja-JP" sz="2000" dirty="0" smtClean="0"/>
              <a:t> (s[</a:t>
            </a:r>
            <a:r>
              <a:rPr lang="en-US" altLang="ja-JP" sz="2000" dirty="0" err="1" smtClean="0"/>
              <a:t>i</a:t>
            </a:r>
            <a:r>
              <a:rPr lang="en-US" altLang="ja-JP" sz="2000" dirty="0" smtClean="0"/>
              <a:t>]);</a:t>
            </a:r>
          </a:p>
          <a:p>
            <a:r>
              <a:rPr lang="en-US" altLang="ja-JP" sz="2000" dirty="0" smtClean="0"/>
              <a:t>  }</a:t>
            </a:r>
          </a:p>
          <a:p>
            <a:r>
              <a:rPr lang="en-US" altLang="ja-JP" sz="2000" dirty="0" smtClean="0"/>
              <a:t>  s[</a:t>
            </a:r>
            <a:r>
              <a:rPr lang="en-US" altLang="ja-JP" sz="2000" dirty="0" err="1" smtClean="0"/>
              <a:t>i</a:t>
            </a:r>
            <a:r>
              <a:rPr lang="en-US" altLang="ja-JP" sz="2000" dirty="0" smtClean="0"/>
              <a:t>] = '\0';</a:t>
            </a:r>
          </a:p>
          <a:p>
            <a:r>
              <a:rPr lang="en-US" altLang="ja-JP" sz="2000" dirty="0" smtClean="0"/>
              <a:t>  </a:t>
            </a:r>
            <a:r>
              <a:rPr lang="en-US" altLang="ja-JP" sz="2000" dirty="0" err="1" smtClean="0"/>
              <a:t>printf</a:t>
            </a:r>
            <a:r>
              <a:rPr lang="en-US" altLang="ja-JP" sz="2000" dirty="0" smtClean="0"/>
              <a:t> ("%s\n", &amp;s[0]);</a:t>
            </a:r>
          </a:p>
          <a:p>
            <a:r>
              <a:rPr lang="en-US" altLang="ja-JP" sz="2000" dirty="0" smtClean="0"/>
              <a:t>  return 0;</a:t>
            </a:r>
          </a:p>
          <a:p>
            <a:r>
              <a:rPr lang="en-US" altLang="ja-JP" sz="2000" dirty="0" smtClean="0"/>
              <a:t>}</a:t>
            </a:r>
            <a:endParaRPr lang="en-US" altLang="ja-JP" sz="2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1521</TotalTime>
  <Words>5542</Words>
  <Application>Microsoft Office PowerPoint</Application>
  <PresentationFormat>画面に合わせる (4:3)</PresentationFormat>
  <Paragraphs>625</Paragraphs>
  <Slides>57</Slides>
  <Notes>6</Notes>
  <HiddenSlides>0</HiddenSlides>
  <MMClips>0</MMClips>
  <ScaleCrop>false</ScaleCrop>
  <HeadingPairs>
    <vt:vector size="4" baseType="variant">
      <vt:variant>
        <vt:lpstr>テーマ</vt:lpstr>
      </vt:variant>
      <vt:variant>
        <vt:i4>1</vt:i4>
      </vt:variant>
      <vt:variant>
        <vt:lpstr>スライド タイトル</vt:lpstr>
      </vt:variant>
      <vt:variant>
        <vt:i4>57</vt:i4>
      </vt:variant>
    </vt:vector>
  </HeadingPairs>
  <TitlesOfParts>
    <vt:vector size="58" baseType="lpstr">
      <vt:lpstr>Office テーマ</vt:lpstr>
      <vt:lpstr>プログラミング入門２ 第７回</vt:lpstr>
      <vt:lpstr>今日の内容</vt:lpstr>
      <vt:lpstr>中間試験について</vt:lpstr>
      <vt:lpstr>中間試験問題例１</vt:lpstr>
      <vt:lpstr>解答例</vt:lpstr>
      <vt:lpstr>中間試験問題例２</vt:lpstr>
      <vt:lpstr>解答例</vt:lpstr>
      <vt:lpstr>中間試験問題例３</vt:lpstr>
      <vt:lpstr>解答例</vt:lpstr>
      <vt:lpstr>中間試験問題例４</vt:lpstr>
      <vt:lpstr>解答例</vt:lpstr>
      <vt:lpstr>基本型</vt:lpstr>
      <vt:lpstr>整数型</vt:lpstr>
      <vt:lpstr>char型が符号付きかどうか判定 （打ち込んで確認）</vt:lpstr>
      <vt:lpstr>整数型</vt:lpstr>
      <vt:lpstr>符号について（１）</vt:lpstr>
      <vt:lpstr>符号について（２）</vt:lpstr>
      <vt:lpstr>例外について</vt:lpstr>
      <vt:lpstr>文字について</vt:lpstr>
      <vt:lpstr>printfでの文字の表示方法 （打ち込んで確認）</vt:lpstr>
      <vt:lpstr>文字の８進表記</vt:lpstr>
      <vt:lpstr>8進逆斜線表記の構文</vt:lpstr>
      <vt:lpstr>変数への格納（打ち込んで確認）</vt:lpstr>
      <vt:lpstr>整数型の範囲について （打ち込んで確認）</vt:lpstr>
      <vt:lpstr>整数型のまとめ</vt:lpstr>
      <vt:lpstr>浮動小数点型</vt:lpstr>
      <vt:lpstr>文字列とは（１）</vt:lpstr>
      <vt:lpstr>文字列とは（２）</vt:lpstr>
      <vt:lpstr>文字列とは（３）</vt:lpstr>
      <vt:lpstr>char型の配列</vt:lpstr>
      <vt:lpstr>printf関数での文字列の表示方法 （打ち込んで確認）</vt:lpstr>
      <vt:lpstr>printf関数での文字列の表示方法 （打ち込んで確認）</vt:lpstr>
      <vt:lpstr>注意</vt:lpstr>
      <vt:lpstr>間違った例（打ち込んで確認）</vt:lpstr>
      <vt:lpstr>解説</vt:lpstr>
      <vt:lpstr>ポインタについて （後日、ポインタの回にも説明する）</vt:lpstr>
      <vt:lpstr>printf関数の変換指定の%sについて</vt:lpstr>
      <vt:lpstr>補足</vt:lpstr>
      <vt:lpstr>改行文字</vt:lpstr>
      <vt:lpstr>文字列リテラル</vt:lpstr>
      <vt:lpstr>例（打ち込んで確認）</vt:lpstr>
      <vt:lpstr>文字の読み込み</vt:lpstr>
      <vt:lpstr>文字列の読み込み（打ち込んで確認）</vt:lpstr>
      <vt:lpstr>scanf関数の変換指定の%sについて</vt:lpstr>
      <vt:lpstr>gets関数</vt:lpstr>
      <vt:lpstr>基本課題１</vt:lpstr>
      <vt:lpstr>基本課題２</vt:lpstr>
      <vt:lpstr>発展課題１</vt:lpstr>
      <vt:lpstr>発展課題２</vt:lpstr>
      <vt:lpstr>発展課題３</vt:lpstr>
      <vt:lpstr>アルファベットの文字の判定</vt:lpstr>
      <vt:lpstr>大文字から小文字への変換</vt:lpstr>
      <vt:lpstr>（補足）char配列の初期化について</vt:lpstr>
      <vt:lpstr>参考課題１</vt:lpstr>
      <vt:lpstr>参考課題１　解答例</vt:lpstr>
      <vt:lpstr>参考課題２</vt:lpstr>
      <vt:lpstr>参考課題２　解答例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第７回</dc:title>
  <dc:creator>sasano</dc:creator>
  <cp:lastModifiedBy>sasano</cp:lastModifiedBy>
  <cp:revision>764</cp:revision>
  <dcterms:created xsi:type="dcterms:W3CDTF">2009-10-26T06:53:54Z</dcterms:created>
  <dcterms:modified xsi:type="dcterms:W3CDTF">2011-11-14T06:45:20Z</dcterms:modified>
</cp:coreProperties>
</file>