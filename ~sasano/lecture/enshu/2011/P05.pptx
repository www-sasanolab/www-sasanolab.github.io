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8" r:id="rId3"/>
    <p:sldId id="259" r:id="rId4"/>
    <p:sldId id="260" r:id="rId5"/>
    <p:sldId id="262" r:id="rId6"/>
    <p:sldId id="264" r:id="rId7"/>
    <p:sldId id="276" r:id="rId8"/>
    <p:sldId id="265" r:id="rId9"/>
    <p:sldId id="266" r:id="rId10"/>
    <p:sldId id="267" r:id="rId11"/>
    <p:sldId id="268" r:id="rId12"/>
    <p:sldId id="269" r:id="rId13"/>
    <p:sldId id="270" r:id="rId14"/>
    <p:sldId id="261" r:id="rId15"/>
    <p:sldId id="271" r:id="rId16"/>
    <p:sldId id="273" r:id="rId17"/>
    <p:sldId id="272" r:id="rId18"/>
    <p:sldId id="280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74" r:id="rId27"/>
    <p:sldId id="275" r:id="rId28"/>
    <p:sldId id="277" r:id="rId29"/>
    <p:sldId id="283" r:id="rId30"/>
    <p:sldId id="278" r:id="rId31"/>
    <p:sldId id="279" r:id="rId32"/>
    <p:sldId id="281" r:id="rId33"/>
    <p:sldId id="282" r:id="rId34"/>
    <p:sldId id="284" r:id="rId35"/>
    <p:sldId id="296" r:id="rId36"/>
    <p:sldId id="285" r:id="rId37"/>
    <p:sldId id="286" r:id="rId38"/>
    <p:sldId id="294" r:id="rId39"/>
    <p:sldId id="297" r:id="rId40"/>
    <p:sldId id="298" r:id="rId41"/>
    <p:sldId id="299" r:id="rId4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2D61F-AA85-411F-B823-1B19AE9269A4}" type="datetimeFigureOut">
              <a:rPr kumimoji="1" lang="ja-JP" altLang="en-US" smtClean="0"/>
              <a:pPr/>
              <a:t>2011/10/23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7D714-A019-4AFD-8B32-1CA20942078A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7D714-A019-4AFD-8B32-1CA20942078A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210E9-32C0-4038-8A44-8E520BD51458}" type="slidenum">
              <a:rPr kumimoji="1" lang="ja-JP" altLang="en-US" smtClean="0"/>
              <a:pPr/>
              <a:t>25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2011/10/23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2011/10/23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2011/10/23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2011/10/23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2011/10/23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2011/10/23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2011/10/23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85786" y="928670"/>
            <a:ext cx="7818662" cy="4156514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プログラミング入門２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第５回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配列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>for</a:t>
            </a:r>
            <a:r>
              <a:rPr lang="ja-JP" altLang="en-US" dirty="0" smtClean="0"/>
              <a:t>文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変数宣言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初期化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571736" y="5570076"/>
            <a:ext cx="35413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   篠埜　功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今日の内容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80727"/>
          </a:xfrm>
        </p:spPr>
        <p:txBody>
          <a:bodyPr>
            <a:normAutofit/>
          </a:bodyPr>
          <a:lstStyle/>
          <a:p>
            <a:r>
              <a:rPr kumimoji="1" lang="ja-JP" altLang="en-US" dirty="0" smtClean="0"/>
              <a:t>配列</a:t>
            </a:r>
            <a:endParaRPr kumimoji="1" lang="en-US" altLang="ja-JP" dirty="0" smtClean="0"/>
          </a:p>
          <a:p>
            <a:r>
              <a:rPr kumimoji="1" lang="en-US" altLang="ja-JP" dirty="0" smtClean="0"/>
              <a:t>for</a:t>
            </a:r>
            <a:r>
              <a:rPr kumimoji="1" lang="ja-JP" altLang="en-US" dirty="0" smtClean="0"/>
              <a:t>文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27584" y="3356992"/>
            <a:ext cx="7286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配列とは、同じ型のデータを格納する</a:t>
            </a:r>
            <a:r>
              <a:rPr lang="ja-JP" altLang="en-US" sz="2400" dirty="0" smtClean="0"/>
              <a:t>箱（領域）</a:t>
            </a:r>
            <a:r>
              <a:rPr kumimoji="1" lang="ja-JP" altLang="en-US" sz="2400" dirty="0" smtClean="0"/>
              <a:t>を一列に並</a:t>
            </a:r>
            <a:r>
              <a:rPr lang="ja-JP" altLang="en-US" sz="2400" dirty="0" smtClean="0"/>
              <a:t>べて添え字でアクセスできるようにしたもの。</a:t>
            </a:r>
            <a:endParaRPr kumimoji="1"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配列の必要性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28596" y="1928802"/>
            <a:ext cx="8143932" cy="4893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m09001;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m09002;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m09003;</a:t>
            </a:r>
          </a:p>
          <a:p>
            <a:r>
              <a:rPr lang="en-US" altLang="ja-JP" sz="2400" dirty="0" smtClean="0"/>
              <a:t>    double average;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&amp;m09001);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&amp;m09002);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&amp;m09003);</a:t>
            </a:r>
          </a:p>
          <a:p>
            <a:r>
              <a:rPr lang="en-US" altLang="ja-JP" sz="2400" dirty="0" smtClean="0"/>
              <a:t>   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average = (double) (m09001 + m09002 + m09003) / 3;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</a:t>
            </a:r>
            <a:r>
              <a:rPr lang="ja-JP" altLang="en-US" sz="2400" dirty="0" smtClean="0"/>
              <a:t>平均点は</a:t>
            </a:r>
            <a:r>
              <a:rPr lang="en-US" altLang="ja-JP" sz="2400" dirty="0" smtClean="0"/>
              <a:t>%f</a:t>
            </a:r>
            <a:r>
              <a:rPr lang="ja-JP" altLang="en-US" sz="2400" dirty="0" smtClean="0"/>
              <a:t>点です。</a:t>
            </a:r>
            <a:r>
              <a:rPr lang="en-US" altLang="ja-JP" sz="2400" dirty="0" smtClean="0"/>
              <a:t>\n”, average);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428596" y="714356"/>
            <a:ext cx="82868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M</a:t>
            </a:r>
            <a:r>
              <a:rPr lang="ja-JP" altLang="en-US" sz="2400" dirty="0" smtClean="0"/>
              <a:t>学科に、３人の学生（学籍番号</a:t>
            </a:r>
            <a:r>
              <a:rPr lang="en-US" altLang="ja-JP" sz="2400" dirty="0" smtClean="0"/>
              <a:t>M09001, M09002, M09003</a:t>
            </a:r>
            <a:r>
              <a:rPr lang="ja-JP" altLang="en-US" sz="2400" dirty="0" smtClean="0"/>
              <a:t>）がいたとする。</a:t>
            </a:r>
            <a:r>
              <a:rPr lang="en-US" altLang="ja-JP" sz="2400" dirty="0" smtClean="0"/>
              <a:t>M</a:t>
            </a:r>
            <a:r>
              <a:rPr lang="ja-JP" altLang="en-US" sz="2400" dirty="0" smtClean="0"/>
              <a:t>学科のある科目の成績を入力し、平均点を計算したいとする。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配列の必要性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357298"/>
            <a:ext cx="75724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学生が</a:t>
            </a:r>
            <a:r>
              <a:rPr kumimoji="1" lang="en-US" altLang="ja-JP" sz="2400" dirty="0" smtClean="0"/>
              <a:t>100</a:t>
            </a:r>
            <a:r>
              <a:rPr kumimoji="1" lang="ja-JP" altLang="en-US" sz="2400" dirty="0" smtClean="0"/>
              <a:t>人いた場合、これまでに講義で説明した範囲だと、</a:t>
            </a:r>
            <a:r>
              <a:rPr kumimoji="1" lang="en-US" altLang="ja-JP" sz="2400" dirty="0" smtClean="0"/>
              <a:t>100</a:t>
            </a:r>
            <a:r>
              <a:rPr lang="ja-JP" altLang="en-US" sz="2400" dirty="0" smtClean="0"/>
              <a:t>個の変数を宣言しなければならない。</a:t>
            </a:r>
            <a:endParaRPr kumimoji="1" lang="ja-JP" altLang="en-US" sz="2400" dirty="0"/>
          </a:p>
        </p:txBody>
      </p:sp>
      <p:sp>
        <p:nvSpPr>
          <p:cNvPr id="5" name="右矢印 4"/>
          <p:cNvSpPr/>
          <p:nvPr/>
        </p:nvSpPr>
        <p:spPr>
          <a:xfrm>
            <a:off x="1142976" y="250030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428860" y="2500306"/>
            <a:ext cx="3810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一度にまとめて宣言したい。</a:t>
            </a:r>
            <a:endParaRPr lang="en-US" altLang="ja-JP" sz="24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785786" y="3429000"/>
            <a:ext cx="77867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配列を使うと、</a:t>
            </a:r>
            <a:endParaRPr lang="en-US" altLang="ja-JP" sz="2400" dirty="0" smtClean="0"/>
          </a:p>
          <a:p>
            <a:r>
              <a:rPr lang="en-US" altLang="ja-JP" sz="2400" dirty="0" smtClean="0"/>
              <a:t>  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 m [100];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宣言することにより、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人分の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型のデータ格納場所が用意される。</a:t>
            </a:r>
            <a:endParaRPr lang="en-US" altLang="ja-JP" sz="2400" dirty="0" smtClean="0"/>
          </a:p>
          <a:p>
            <a:r>
              <a:rPr lang="en-US" altLang="ja-JP" sz="2400" dirty="0" smtClean="0"/>
              <a:t> m[0], m[1], m[2], … m[99]</a:t>
            </a:r>
          </a:p>
          <a:p>
            <a:r>
              <a:rPr lang="ja-JP" altLang="en-US" sz="2400" dirty="0" smtClean="0"/>
              <a:t>の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個分のデータ格納場所が用意される。</a:t>
            </a:r>
            <a:endParaRPr lang="en-US" altLang="ja-JP" sz="2400" dirty="0" smtClean="0"/>
          </a:p>
          <a:p>
            <a:r>
              <a:rPr lang="ja-JP" altLang="en-US" sz="2400" dirty="0" smtClean="0"/>
              <a:t>添え字が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から始まることに注意。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 smtClean="0"/>
              <a:t>プログラム例１（打ち込んで確認）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00100" y="1428736"/>
            <a:ext cx="5456943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/* </a:t>
            </a:r>
            <a:r>
              <a:rPr kumimoji="1" lang="ja-JP" altLang="en-US" sz="2400" dirty="0" smtClean="0"/>
              <a:t>長さ３の配列に数値を代入して表示 </a:t>
            </a:r>
            <a:r>
              <a:rPr kumimoji="1" lang="en-US" altLang="ja-JP" sz="2400" dirty="0" smtClean="0"/>
              <a:t>*/</a:t>
            </a:r>
          </a:p>
          <a:p>
            <a:r>
              <a:rPr kumimoji="1" lang="en-US" altLang="ja-JP" sz="2400" dirty="0" smtClean="0"/>
              <a:t>#include &lt;</a:t>
            </a:r>
            <a:r>
              <a:rPr kumimoji="1"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  <a:endParaRPr kumimoji="1" lang="en-US" altLang="ja-JP" sz="2400" dirty="0" smtClean="0"/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m[3];</a:t>
            </a:r>
          </a:p>
          <a:p>
            <a:r>
              <a:rPr kumimoji="1" lang="en-US" altLang="ja-JP" sz="2400" dirty="0" smtClean="0"/>
              <a:t>    m[0] = 10;</a:t>
            </a:r>
          </a:p>
          <a:p>
            <a:r>
              <a:rPr lang="en-US" altLang="ja-JP" sz="2400" dirty="0" smtClean="0"/>
              <a:t>    m[1] = 5;</a:t>
            </a:r>
          </a:p>
          <a:p>
            <a:r>
              <a:rPr kumimoji="1" lang="en-US" altLang="ja-JP" sz="2400" dirty="0" smtClean="0"/>
              <a:t>    m[2] = 7;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(“m[0] = %d\n”, m[0]);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(“m[1] = %d\n”, m[1]);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(“m[2] = %d\n”, m[2]);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 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9"/>
          <p:cNvGrpSpPr>
            <a:grpSpLocks/>
          </p:cNvGrpSpPr>
          <p:nvPr/>
        </p:nvGrpSpPr>
        <p:grpSpPr bwMode="auto">
          <a:xfrm>
            <a:off x="4214810" y="5003805"/>
            <a:ext cx="1439862" cy="566738"/>
            <a:chOff x="2789" y="2614"/>
            <a:chExt cx="907" cy="357"/>
          </a:xfrm>
        </p:grpSpPr>
        <p:sp>
          <p:nvSpPr>
            <p:cNvPr id="7219" name="AutoShape 70"/>
            <p:cNvSpPr>
              <a:spLocks noChangeArrowheads="1"/>
            </p:cNvSpPr>
            <p:nvPr/>
          </p:nvSpPr>
          <p:spPr bwMode="auto">
            <a:xfrm>
              <a:off x="2789" y="2614"/>
              <a:ext cx="907" cy="318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 sz="2400"/>
            </a:p>
          </p:txBody>
        </p:sp>
        <p:sp>
          <p:nvSpPr>
            <p:cNvPr id="7220" name="Text Box 71"/>
            <p:cNvSpPr txBox="1">
              <a:spLocks noChangeArrowheads="1"/>
            </p:cNvSpPr>
            <p:nvPr/>
          </p:nvSpPr>
          <p:spPr bwMode="auto">
            <a:xfrm>
              <a:off x="2941" y="2680"/>
              <a:ext cx="56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 a [2</a:t>
              </a:r>
              <a:r>
                <a:rPr lang="en-US" altLang="ja-JP" sz="2400" b="1" dirty="0">
                  <a:ea typeface="ＭＳ Ｐゴシック" charset="-128"/>
                </a:rPr>
                <a:t>]</a:t>
              </a:r>
            </a:p>
          </p:txBody>
        </p:sp>
      </p:grpSp>
      <p:grpSp>
        <p:nvGrpSpPr>
          <p:cNvPr id="5" name="Group 63"/>
          <p:cNvGrpSpPr>
            <a:grpSpLocks/>
          </p:cNvGrpSpPr>
          <p:nvPr/>
        </p:nvGrpSpPr>
        <p:grpSpPr bwMode="auto">
          <a:xfrm>
            <a:off x="4214810" y="4638680"/>
            <a:ext cx="1439862" cy="566738"/>
            <a:chOff x="2789" y="2614"/>
            <a:chExt cx="907" cy="357"/>
          </a:xfrm>
        </p:grpSpPr>
        <p:sp>
          <p:nvSpPr>
            <p:cNvPr id="7217" name="AutoShape 64"/>
            <p:cNvSpPr>
              <a:spLocks noChangeArrowheads="1"/>
            </p:cNvSpPr>
            <p:nvPr/>
          </p:nvSpPr>
          <p:spPr bwMode="auto">
            <a:xfrm>
              <a:off x="2789" y="2614"/>
              <a:ext cx="907" cy="318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 sz="2400"/>
            </a:p>
          </p:txBody>
        </p:sp>
        <p:sp>
          <p:nvSpPr>
            <p:cNvPr id="7218" name="Text Box 65"/>
            <p:cNvSpPr txBox="1">
              <a:spLocks noChangeArrowheads="1"/>
            </p:cNvSpPr>
            <p:nvPr/>
          </p:nvSpPr>
          <p:spPr bwMode="auto">
            <a:xfrm>
              <a:off x="2941" y="2680"/>
              <a:ext cx="56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 a [1</a:t>
              </a:r>
              <a:r>
                <a:rPr lang="en-US" altLang="ja-JP" sz="2400" b="1" dirty="0">
                  <a:ea typeface="ＭＳ Ｐゴシック" charset="-128"/>
                </a:rPr>
                <a:t>]</a:t>
              </a:r>
            </a:p>
          </p:txBody>
        </p:sp>
      </p:grpSp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85728"/>
            <a:ext cx="7620000" cy="685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kumimoji="0" lang="ja-JP" altLang="en-US" sz="3600" dirty="0" smtClean="0">
                <a:ea typeface="ＭＳ Ｐゴシック" pitchFamily="-108" charset="-128"/>
              </a:rPr>
              <a:t>配列の宣言</a:t>
            </a:r>
          </a:p>
        </p:txBody>
      </p:sp>
      <p:sp>
        <p:nvSpPr>
          <p:cNvPr id="71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351837" cy="719138"/>
          </a:xfrm>
        </p:spPr>
        <p:txBody>
          <a:bodyPr/>
          <a:lstStyle/>
          <a:p>
            <a:pPr eaLnBrk="1" hangingPunct="1"/>
            <a:r>
              <a:rPr kumimoji="0" lang="ja-JP" altLang="en-US" sz="2600" dirty="0" smtClean="0">
                <a:ea typeface="ＭＳ Ｐゴシック" charset="-128"/>
              </a:rPr>
              <a:t>３人分の点数を格納する</a:t>
            </a:r>
            <a:r>
              <a:rPr kumimoji="0" lang="en-US" altLang="ja-JP" sz="2600" dirty="0" err="1" smtClean="0">
                <a:ea typeface="ＭＳ Ｐゴシック" charset="-128"/>
              </a:rPr>
              <a:t>int</a:t>
            </a:r>
            <a:r>
              <a:rPr kumimoji="0" lang="ja-JP" altLang="en-US" sz="2600" dirty="0" smtClean="0">
                <a:ea typeface="ＭＳ Ｐゴシック" charset="-128"/>
              </a:rPr>
              <a:t>型の変数を用意したい場合</a:t>
            </a:r>
          </a:p>
        </p:txBody>
      </p:sp>
      <p:sp>
        <p:nvSpPr>
          <p:cNvPr id="7212" name="Text Box 6"/>
          <p:cNvSpPr txBox="1">
            <a:spLocks noChangeArrowheads="1"/>
          </p:cNvSpPr>
          <p:nvPr/>
        </p:nvSpPr>
        <p:spPr bwMode="auto">
          <a:xfrm>
            <a:off x="714348" y="2571744"/>
            <a:ext cx="69215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ja-JP" altLang="en-US" sz="2000" dirty="0">
                <a:ea typeface="ＭＳ Ｐゴシック" charset="-128"/>
              </a:rPr>
              <a:t>型名</a:t>
            </a:r>
          </a:p>
        </p:txBody>
      </p:sp>
      <p:sp>
        <p:nvSpPr>
          <p:cNvPr id="7213" name="Text Box 7"/>
          <p:cNvSpPr txBox="1">
            <a:spLocks noChangeArrowheads="1"/>
          </p:cNvSpPr>
          <p:nvPr/>
        </p:nvSpPr>
        <p:spPr bwMode="auto">
          <a:xfrm>
            <a:off x="1554148" y="2603497"/>
            <a:ext cx="94615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ja-JP" altLang="en-US" sz="2000" dirty="0">
                <a:ea typeface="ＭＳ Ｐゴシック" charset="-128"/>
              </a:rPr>
              <a:t>変数名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357158" y="1886249"/>
            <a:ext cx="2677656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 dirty="0" err="1" smtClean="0">
                <a:ea typeface="ＭＳ Ｐゴシック" charset="-128"/>
              </a:rPr>
              <a:t>int</a:t>
            </a:r>
            <a:r>
              <a:rPr lang="ja-JP" altLang="en-US" sz="2400" dirty="0" smtClean="0">
                <a:ea typeface="ＭＳ Ｐゴシック" charset="-128"/>
              </a:rPr>
              <a:t>型の変数</a:t>
            </a:r>
            <a:r>
              <a:rPr lang="ja-JP" altLang="en-US" sz="2400" dirty="0">
                <a:ea typeface="ＭＳ Ｐゴシック" charset="-128"/>
              </a:rPr>
              <a:t>の宣言</a:t>
            </a: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846121" y="4286256"/>
            <a:ext cx="1439863" cy="527133"/>
            <a:chOff x="1111" y="3158"/>
            <a:chExt cx="907" cy="428"/>
          </a:xfrm>
        </p:grpSpPr>
        <p:sp>
          <p:nvSpPr>
            <p:cNvPr id="7209" name="AutoShape 15"/>
            <p:cNvSpPr>
              <a:spLocks noChangeArrowheads="1"/>
            </p:cNvSpPr>
            <p:nvPr/>
          </p:nvSpPr>
          <p:spPr bwMode="auto">
            <a:xfrm>
              <a:off x="1111" y="3158"/>
              <a:ext cx="907" cy="409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7210" name="Text Box 16"/>
            <p:cNvSpPr txBox="1">
              <a:spLocks noChangeArrowheads="1"/>
            </p:cNvSpPr>
            <p:nvPr/>
          </p:nvSpPr>
          <p:spPr bwMode="auto">
            <a:xfrm>
              <a:off x="1411" y="3211"/>
              <a:ext cx="330" cy="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x</a:t>
              </a:r>
              <a:endParaRPr lang="en-US" altLang="ja-JP" sz="2400" b="1" dirty="0">
                <a:ea typeface="ＭＳ Ｐゴシック" charset="-128"/>
              </a:endParaRPr>
            </a:p>
          </p:txBody>
        </p:sp>
      </p:grpSp>
      <p:sp>
        <p:nvSpPr>
          <p:cNvPr id="7207" name="AutoShape 21"/>
          <p:cNvSpPr>
            <a:spLocks noChangeArrowheads="1"/>
          </p:cNvSpPr>
          <p:nvPr/>
        </p:nvSpPr>
        <p:spPr bwMode="auto">
          <a:xfrm rot="5400000">
            <a:off x="1322364" y="3535364"/>
            <a:ext cx="433387" cy="649288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335896" name="Text Box 24"/>
          <p:cNvSpPr txBox="1">
            <a:spLocks noChangeArrowheads="1"/>
          </p:cNvSpPr>
          <p:nvPr/>
        </p:nvSpPr>
        <p:spPr bwMode="auto">
          <a:xfrm>
            <a:off x="3813146" y="1886249"/>
            <a:ext cx="4046621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 dirty="0" err="1" smtClean="0">
                <a:ea typeface="ＭＳ Ｐゴシック" charset="-128"/>
              </a:rPr>
              <a:t>int</a:t>
            </a:r>
            <a:r>
              <a:rPr lang="ja-JP" altLang="en-US" sz="2400" dirty="0" smtClean="0">
                <a:ea typeface="ＭＳ Ｐゴシック" charset="-128"/>
              </a:rPr>
              <a:t>型を要素とする配列</a:t>
            </a:r>
            <a:r>
              <a:rPr lang="ja-JP" altLang="en-US" sz="2400" dirty="0">
                <a:ea typeface="ＭＳ Ｐゴシック" charset="-128"/>
              </a:rPr>
              <a:t>の宣言</a:t>
            </a:r>
          </a:p>
        </p:txBody>
      </p:sp>
      <p:sp>
        <p:nvSpPr>
          <p:cNvPr id="335952" name="Text Box 80"/>
          <p:cNvSpPr txBox="1">
            <a:spLocks noChangeArrowheads="1"/>
          </p:cNvSpPr>
          <p:nvPr/>
        </p:nvSpPr>
        <p:spPr bwMode="auto">
          <a:xfrm>
            <a:off x="5797548" y="4295607"/>
            <a:ext cx="3071802" cy="1200329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2400" dirty="0">
                <a:ea typeface="ＭＳ Ｐゴシック" pitchFamily="-108" charset="-128"/>
              </a:rPr>
              <a:t> </a:t>
            </a:r>
            <a:r>
              <a:rPr lang="en-US" altLang="ja-JP" sz="2400" dirty="0" smtClean="0">
                <a:ea typeface="ＭＳ Ｐゴシック" pitchFamily="-108" charset="-128"/>
              </a:rPr>
              <a:t>a[0</a:t>
            </a:r>
            <a:r>
              <a:rPr lang="en-US" altLang="ja-JP" sz="2400" dirty="0">
                <a:ea typeface="ＭＳ Ｐゴシック" pitchFamily="-108" charset="-128"/>
              </a:rPr>
              <a:t>] </a:t>
            </a:r>
            <a:r>
              <a:rPr lang="ja-JP" altLang="en-US" sz="2400" dirty="0" smtClean="0">
                <a:ea typeface="ＭＳ Ｐゴシック" pitchFamily="-108" charset="-128"/>
              </a:rPr>
              <a:t>～</a:t>
            </a:r>
            <a:r>
              <a:rPr lang="en-US" altLang="ja-JP" sz="2400" dirty="0" smtClean="0">
                <a:ea typeface="ＭＳ Ｐゴシック" pitchFamily="-108" charset="-128"/>
              </a:rPr>
              <a:t>a[2]</a:t>
            </a:r>
            <a:r>
              <a:rPr lang="ja-JP" altLang="en-US" sz="2400" dirty="0" err="1" smtClean="0">
                <a:ea typeface="ＭＳ Ｐゴシック" pitchFamily="-108" charset="-128"/>
              </a:rPr>
              <a:t>までの</a:t>
            </a:r>
            <a:r>
              <a:rPr lang="en-US" altLang="ja-JP" sz="2400" dirty="0" smtClean="0">
                <a:ea typeface="ＭＳ Ｐゴシック" pitchFamily="-108" charset="-128"/>
              </a:rPr>
              <a:t>3</a:t>
            </a:r>
            <a:r>
              <a:rPr lang="ja-JP" altLang="en-US" sz="2400" dirty="0" smtClean="0">
                <a:ea typeface="ＭＳ Ｐゴシック" pitchFamily="-108" charset="-128"/>
              </a:rPr>
              <a:t>個</a:t>
            </a:r>
            <a:r>
              <a:rPr lang="ja-JP" altLang="en-US" sz="2400" dirty="0">
                <a:ea typeface="ＭＳ Ｐゴシック" pitchFamily="-108" charset="-128"/>
              </a:rPr>
              <a:t>の</a:t>
            </a:r>
            <a:r>
              <a:rPr lang="en-US" altLang="ja-JP" sz="2400" dirty="0" err="1">
                <a:ea typeface="ＭＳ Ｐゴシック" pitchFamily="-108" charset="-128"/>
              </a:rPr>
              <a:t>int</a:t>
            </a:r>
            <a:r>
              <a:rPr lang="ja-JP" altLang="en-US" sz="2400" dirty="0" smtClean="0">
                <a:ea typeface="ＭＳ Ｐゴシック" pitchFamily="-108" charset="-128"/>
              </a:rPr>
              <a:t>型のデータの格納場所が用意される。</a:t>
            </a:r>
            <a:endParaRPr lang="ja-JP" altLang="en-US" sz="2400" dirty="0">
              <a:ea typeface="ＭＳ Ｐゴシック" pitchFamily="-108" charset="-128"/>
            </a:endParaRPr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4482285" y="2857496"/>
            <a:ext cx="32587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dirty="0" err="1" smtClean="0"/>
              <a:t>i</a:t>
            </a:r>
            <a:r>
              <a:rPr kumimoji="1" lang="en-US" altLang="ja-JP" sz="4400" dirty="0" err="1" smtClean="0"/>
              <a:t>nt</a:t>
            </a:r>
            <a:r>
              <a:rPr kumimoji="1" lang="en-US" altLang="ja-JP" sz="4400" dirty="0" smtClean="0"/>
              <a:t>    a    [3]   ;</a:t>
            </a:r>
            <a:endParaRPr kumimoji="1" lang="ja-JP" altLang="en-US" sz="4400" dirty="0"/>
          </a:p>
        </p:txBody>
      </p:sp>
      <p:sp>
        <p:nvSpPr>
          <p:cNvPr id="64" name="AutoShape 21"/>
          <p:cNvSpPr>
            <a:spLocks noChangeArrowheads="1"/>
          </p:cNvSpPr>
          <p:nvPr/>
        </p:nvSpPr>
        <p:spPr bwMode="auto">
          <a:xfrm rot="5400000">
            <a:off x="4894264" y="3535364"/>
            <a:ext cx="433387" cy="649288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65" name="Text Box 80"/>
          <p:cNvSpPr txBox="1">
            <a:spLocks noChangeArrowheads="1"/>
          </p:cNvSpPr>
          <p:nvPr/>
        </p:nvSpPr>
        <p:spPr bwMode="auto">
          <a:xfrm>
            <a:off x="285720" y="5000636"/>
            <a:ext cx="3429024" cy="83099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2400" dirty="0" err="1" smtClean="0">
                <a:ea typeface="ＭＳ Ｐゴシック" pitchFamily="-108" charset="-128"/>
              </a:rPr>
              <a:t>int</a:t>
            </a:r>
            <a:r>
              <a:rPr lang="ja-JP" altLang="en-US" sz="2400" dirty="0" smtClean="0">
                <a:ea typeface="ＭＳ Ｐゴシック" pitchFamily="-108" charset="-128"/>
              </a:rPr>
              <a:t>型のデータの格納場所が１つ用意される。</a:t>
            </a:r>
            <a:endParaRPr lang="ja-JP" altLang="en-US" sz="2400" dirty="0">
              <a:ea typeface="ＭＳ Ｐゴシック" pitchFamily="-108" charset="-128"/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4259221" y="5677213"/>
            <a:ext cx="418153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[ ]</a:t>
            </a:r>
            <a:r>
              <a:rPr lang="ja-JP" altLang="en-US" sz="2400" dirty="0" smtClean="0"/>
              <a:t>内に書く番号</a:t>
            </a:r>
            <a:r>
              <a:rPr lang="en-US" altLang="ja-JP" sz="2400" dirty="0" smtClean="0"/>
              <a:t>(</a:t>
            </a:r>
            <a:r>
              <a:rPr lang="ja-JP" altLang="en-US" sz="2400" dirty="0" smtClean="0"/>
              <a:t>添え字という</a:t>
            </a:r>
            <a:r>
              <a:rPr lang="en-US" altLang="ja-JP" sz="2400" dirty="0" smtClean="0"/>
              <a:t>)</a:t>
            </a:r>
            <a:r>
              <a:rPr lang="ja-JP" altLang="en-US" sz="2400" dirty="0" smtClean="0"/>
              <a:t>は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から始まる。</a:t>
            </a:r>
            <a:endParaRPr kumimoji="1" lang="ja-JP" altLang="en-US" sz="2400" dirty="0"/>
          </a:p>
        </p:txBody>
      </p:sp>
      <p:grpSp>
        <p:nvGrpSpPr>
          <p:cNvPr id="67" name="Group 63"/>
          <p:cNvGrpSpPr>
            <a:grpSpLocks/>
          </p:cNvGrpSpPr>
          <p:nvPr/>
        </p:nvGrpSpPr>
        <p:grpSpPr bwMode="auto">
          <a:xfrm>
            <a:off x="4214810" y="4286256"/>
            <a:ext cx="1439862" cy="566738"/>
            <a:chOff x="2789" y="2614"/>
            <a:chExt cx="907" cy="357"/>
          </a:xfrm>
        </p:grpSpPr>
        <p:sp>
          <p:nvSpPr>
            <p:cNvPr id="68" name="AutoShape 64"/>
            <p:cNvSpPr>
              <a:spLocks noChangeArrowheads="1"/>
            </p:cNvSpPr>
            <p:nvPr/>
          </p:nvSpPr>
          <p:spPr bwMode="auto">
            <a:xfrm>
              <a:off x="2789" y="2614"/>
              <a:ext cx="907" cy="318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 sz="2400"/>
            </a:p>
          </p:txBody>
        </p:sp>
        <p:sp>
          <p:nvSpPr>
            <p:cNvPr id="69" name="Text Box 65"/>
            <p:cNvSpPr txBox="1">
              <a:spLocks noChangeArrowheads="1"/>
            </p:cNvSpPr>
            <p:nvPr/>
          </p:nvSpPr>
          <p:spPr bwMode="auto">
            <a:xfrm>
              <a:off x="2941" y="2680"/>
              <a:ext cx="56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 a [0]</a:t>
              </a:r>
              <a:endParaRPr lang="en-US" altLang="ja-JP" sz="2400" b="1" dirty="0">
                <a:ea typeface="ＭＳ Ｐゴシック" charset="-128"/>
              </a:endParaRPr>
            </a:p>
          </p:txBody>
        </p:sp>
      </p:grpSp>
      <p:sp>
        <p:nvSpPr>
          <p:cNvPr id="70" name="Text Box 6"/>
          <p:cNvSpPr txBox="1">
            <a:spLocks noChangeArrowheads="1"/>
          </p:cNvSpPr>
          <p:nvPr/>
        </p:nvSpPr>
        <p:spPr bwMode="auto">
          <a:xfrm>
            <a:off x="4161866" y="2571744"/>
            <a:ext cx="1338828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ja-JP" altLang="en-US" dirty="0" smtClean="0">
                <a:ea typeface="ＭＳ Ｐゴシック" charset="-128"/>
              </a:rPr>
              <a:t>要素の型名</a:t>
            </a:r>
            <a:endParaRPr lang="ja-JP" altLang="en-US" dirty="0">
              <a:ea typeface="ＭＳ Ｐゴシック" charset="-128"/>
            </a:endParaRP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5488659" y="2571744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変数名   </a:t>
            </a:r>
            <a:r>
              <a:rPr kumimoji="1" lang="en-US" altLang="ja-JP" dirty="0" smtClean="0"/>
              <a:t>[ </a:t>
            </a:r>
            <a:r>
              <a:rPr kumimoji="1" lang="ja-JP" altLang="en-US" dirty="0" smtClean="0"/>
              <a:t>要素数 </a:t>
            </a:r>
            <a:r>
              <a:rPr kumimoji="1" lang="en-US" altLang="ja-JP" dirty="0" smtClean="0"/>
              <a:t>]</a:t>
            </a:r>
            <a:endParaRPr kumimoji="1" lang="ja-JP" altLang="en-US" dirty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571472" y="2786058"/>
            <a:ext cx="20869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 smtClean="0"/>
              <a:t> </a:t>
            </a:r>
            <a:r>
              <a:rPr kumimoji="1" lang="en-US" altLang="ja-JP" sz="4400" dirty="0" err="1" smtClean="0"/>
              <a:t>int</a:t>
            </a:r>
            <a:r>
              <a:rPr kumimoji="1" lang="en-US" altLang="ja-JP" sz="4400" dirty="0" smtClean="0"/>
              <a:t>   x   ;</a:t>
            </a:r>
            <a:endParaRPr kumimoji="1" lang="ja-JP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配列の各要素への</a:t>
            </a:r>
            <a:r>
              <a:rPr lang="ja-JP" altLang="en-US" dirty="0" smtClean="0"/>
              <a:t>アクセス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2258319"/>
            <a:ext cx="341035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x;</a:t>
            </a:r>
          </a:p>
          <a:p>
            <a:r>
              <a:rPr lang="en-US" altLang="ja-JP" sz="2800" dirty="0" smtClean="0"/>
              <a:t> x = 3;</a:t>
            </a:r>
          </a:p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printf</a:t>
            </a:r>
            <a:r>
              <a:rPr kumimoji="1" lang="en-US" altLang="ja-JP" sz="2800" dirty="0" smtClean="0"/>
              <a:t> (“%d\n”, x + 2);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786314" y="2214554"/>
            <a:ext cx="389606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 [10];</a:t>
            </a:r>
          </a:p>
          <a:p>
            <a:r>
              <a:rPr lang="en-US" altLang="ja-JP" sz="2800" dirty="0" smtClean="0"/>
              <a:t> </a:t>
            </a:r>
            <a:r>
              <a:rPr lang="en-US" altLang="ja-JP" sz="2800" dirty="0" smtClean="0">
                <a:solidFill>
                  <a:srgbClr val="FF0000"/>
                </a:solidFill>
              </a:rPr>
              <a:t>x[0]</a:t>
            </a:r>
            <a:r>
              <a:rPr lang="en-US" altLang="ja-JP" sz="2800" dirty="0" smtClean="0"/>
              <a:t> = 3;</a:t>
            </a:r>
          </a:p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printf</a:t>
            </a:r>
            <a:r>
              <a:rPr kumimoji="1" lang="en-US" altLang="ja-JP" sz="2800" dirty="0" smtClean="0"/>
              <a:t> (“%d\n”, 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x[0]</a:t>
            </a:r>
            <a:r>
              <a:rPr kumimoji="1" lang="en-US" altLang="ja-JP" sz="2800" dirty="0" smtClean="0"/>
              <a:t> + 2);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14348" y="171448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変数の場合の例</a:t>
            </a:r>
            <a:endParaRPr kumimoji="1" lang="ja-JP" altLang="en-US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86314" y="1681451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配列</a:t>
            </a:r>
            <a:r>
              <a:rPr kumimoji="1" lang="ja-JP" altLang="en-US" sz="2400" dirty="0" smtClean="0"/>
              <a:t>の場合の例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00034" y="5429264"/>
            <a:ext cx="81439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変数の場合と同様に、配列の各要素が</a:t>
            </a:r>
            <a:r>
              <a:rPr kumimoji="1" lang="en-US" altLang="ja-JP" sz="2400" dirty="0" err="1" smtClean="0"/>
              <a:t>int</a:t>
            </a:r>
            <a:r>
              <a:rPr kumimoji="1" lang="ja-JP" altLang="en-US" sz="2400" dirty="0" smtClean="0"/>
              <a:t>型や</a:t>
            </a:r>
            <a:r>
              <a:rPr kumimoji="1" lang="en-US" altLang="ja-JP" sz="2400" dirty="0" smtClean="0"/>
              <a:t>double</a:t>
            </a:r>
            <a:r>
              <a:rPr kumimoji="1" lang="ja-JP" altLang="en-US" sz="2400" dirty="0" smtClean="0"/>
              <a:t>型の場合には、そこへ値を代入したり、そこに格納されている値を参照したりできる。</a:t>
            </a:r>
            <a:endParaRPr kumimoji="1" lang="ja-JP" altLang="en-US" sz="24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00034" y="4014621"/>
            <a:ext cx="807249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配列の各要素は、</a:t>
            </a:r>
            <a:r>
              <a:rPr kumimoji="1" lang="en-US" altLang="ja-JP" sz="2400" dirty="0" smtClean="0"/>
              <a:t>x[0]</a:t>
            </a:r>
            <a:r>
              <a:rPr kumimoji="1" lang="ja-JP" altLang="en-US" sz="2400" dirty="0" smtClean="0"/>
              <a:t>のように、配列名に続けて添え字を</a:t>
            </a:r>
            <a:r>
              <a:rPr kumimoji="1" lang="en-US" altLang="ja-JP" sz="2400" dirty="0" smtClean="0"/>
              <a:t>[ ]</a:t>
            </a:r>
            <a:r>
              <a:rPr kumimoji="1" lang="ja-JP" altLang="en-US" sz="2400" dirty="0" smtClean="0"/>
              <a:t>内に入れて表す</a:t>
            </a:r>
            <a:r>
              <a:rPr lang="ja-JP" altLang="en-US" sz="2400" dirty="0" smtClean="0"/>
              <a:t>。添え字は数字でなくても変数などの式でも構わない。ポインタの回にもう一度説明する。</a:t>
            </a:r>
            <a:endParaRPr kumimoji="1"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変数宣言の記法について</a:t>
            </a:r>
            <a:r>
              <a:rPr lang="ja-JP" altLang="en-US" dirty="0" smtClean="0"/>
              <a:t>（１）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42976" y="1500174"/>
            <a:ext cx="6929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これまで変数宣言は１つずつ</a:t>
            </a:r>
            <a:r>
              <a:rPr lang="ja-JP" altLang="en-US" sz="2400" dirty="0" smtClean="0"/>
              <a:t>書いてきたが、同じ型の変数はまとめて宣言することができる。</a:t>
            </a:r>
            <a:endParaRPr lang="en-US" altLang="ja-JP" sz="24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00100" y="2500306"/>
            <a:ext cx="647645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（例）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y;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z;</a:t>
            </a:r>
          </a:p>
          <a:p>
            <a:r>
              <a:rPr lang="en-US" altLang="ja-JP" sz="2400" dirty="0" smtClean="0"/>
              <a:t>    double a;</a:t>
            </a:r>
          </a:p>
          <a:p>
            <a:r>
              <a:rPr lang="en-US" altLang="ja-JP" sz="2400" dirty="0" smtClean="0"/>
              <a:t>    double b;</a:t>
            </a:r>
          </a:p>
          <a:p>
            <a:r>
              <a:rPr kumimoji="1" lang="ja-JP" altLang="en-US" sz="2400" dirty="0" smtClean="0"/>
              <a:t>は、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x,y,z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dirty="0" smtClean="0"/>
              <a:t>    double a, b;</a:t>
            </a:r>
          </a:p>
          <a:p>
            <a:r>
              <a:rPr kumimoji="1" lang="ja-JP" altLang="en-US" sz="2400" dirty="0" smtClean="0"/>
              <a:t>のように</a:t>
            </a:r>
            <a:r>
              <a:rPr lang="ja-JP" altLang="en-US" sz="2400" dirty="0" smtClean="0"/>
              <a:t>、コンマで区切って一度に宣言してよい。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変数宣言の記法について</a:t>
            </a:r>
            <a:r>
              <a:rPr lang="ja-JP" altLang="en-US" dirty="0" smtClean="0"/>
              <a:t>（２）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71538" y="1500174"/>
            <a:ext cx="6929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配列の宣言もまとめて書いてよい。</a:t>
            </a:r>
            <a:endParaRPr lang="en-US" altLang="ja-JP" sz="24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14348" y="2143116"/>
            <a:ext cx="73580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（例）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a[3];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b[10];</a:t>
            </a:r>
          </a:p>
          <a:p>
            <a:r>
              <a:rPr lang="en-US" altLang="ja-JP" sz="2400" dirty="0" smtClean="0"/>
              <a:t>    double y;</a:t>
            </a:r>
          </a:p>
          <a:p>
            <a:r>
              <a:rPr lang="en-US" altLang="ja-JP" sz="2400" dirty="0" smtClean="0"/>
              <a:t>    double c[20];</a:t>
            </a:r>
          </a:p>
          <a:p>
            <a:r>
              <a:rPr kumimoji="1" lang="ja-JP" altLang="en-US" sz="2400" dirty="0" smtClean="0"/>
              <a:t>は、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x, a[3], b[10];</a:t>
            </a:r>
          </a:p>
          <a:p>
            <a:r>
              <a:rPr lang="en-US" altLang="ja-JP" sz="2400" dirty="0" smtClean="0"/>
              <a:t>    double y, c[20];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lang="ja-JP" altLang="en-US" sz="2400" dirty="0" smtClean="0"/>
              <a:t>コンマで区切って一度に宣言してよい。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変数宣言</a:t>
            </a:r>
            <a:r>
              <a:rPr lang="ja-JP" altLang="en-US" dirty="0" smtClean="0"/>
              <a:t>と初期化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42976" y="1500174"/>
            <a:ext cx="6929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変数宣言時に、変数の初期値を書くことができる。</a:t>
            </a:r>
            <a:endParaRPr lang="en-US" altLang="ja-JP" sz="24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42976" y="2357430"/>
            <a:ext cx="65722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（例）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y;</a:t>
            </a:r>
          </a:p>
          <a:p>
            <a:r>
              <a:rPr lang="en-US" altLang="ja-JP" sz="2400" dirty="0" smtClean="0"/>
              <a:t>    x=3;</a:t>
            </a:r>
          </a:p>
          <a:p>
            <a:r>
              <a:rPr lang="en-US" altLang="ja-JP" sz="2400" dirty="0" smtClean="0"/>
              <a:t>    y=10;</a:t>
            </a:r>
          </a:p>
          <a:p>
            <a:r>
              <a:rPr lang="ja-JP" altLang="en-US" sz="2400" dirty="0" smtClean="0"/>
              <a:t>は、</a:t>
            </a:r>
            <a:endParaRPr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x=3, y=10;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まとめて書いてよい。</a:t>
            </a:r>
            <a:endParaRPr lang="en-US" altLang="ja-JP" sz="24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500166" y="5715016"/>
            <a:ext cx="6000792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2000" dirty="0" smtClean="0"/>
              <a:t>変数宣言時に初期化をすることによって、その変数の値を代入前に参照するという状況が起こらなくなる。</a:t>
            </a:r>
            <a:endParaRPr lang="en-US" altLang="ja-JP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配列の初期化（１）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2" y="1643050"/>
            <a:ext cx="624882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変数と同様、配列も宣言時に初期化できる。</a:t>
            </a:r>
            <a:endParaRPr kumimoji="1" lang="en-US" altLang="ja-JP" sz="2400" dirty="0" smtClean="0"/>
          </a:p>
          <a:p>
            <a:r>
              <a:rPr lang="ja-JP" altLang="en-US" sz="2400" dirty="0" smtClean="0"/>
              <a:t>宣言時に、右辺に中括弧で囲んで値を並べる。</a:t>
            </a:r>
            <a:endParaRPr kumimoji="1" lang="en-US" altLang="ja-JP" sz="2400" dirty="0" smtClean="0"/>
          </a:p>
          <a:p>
            <a:endParaRPr lang="en-US" altLang="ja-JP" sz="2400" dirty="0" smtClean="0"/>
          </a:p>
          <a:p>
            <a:r>
              <a:rPr lang="ja-JP" altLang="en-US" sz="2400" dirty="0" smtClean="0"/>
              <a:t>例えば、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a[3];</a:t>
            </a:r>
          </a:p>
          <a:p>
            <a:r>
              <a:rPr kumimoji="1" lang="en-US" altLang="ja-JP" sz="2400" dirty="0" smtClean="0"/>
              <a:t>    a[0] = 10;</a:t>
            </a:r>
          </a:p>
          <a:p>
            <a:r>
              <a:rPr lang="en-US" altLang="ja-JP" sz="2400" dirty="0" smtClean="0"/>
              <a:t>    a[1] = 5;</a:t>
            </a:r>
          </a:p>
          <a:p>
            <a:r>
              <a:rPr kumimoji="1" lang="en-US" altLang="ja-JP" sz="2400" dirty="0" smtClean="0"/>
              <a:t>    a[2] = 7;</a:t>
            </a:r>
          </a:p>
          <a:p>
            <a:r>
              <a:rPr lang="ja-JP" altLang="en-US" sz="2400" dirty="0" smtClean="0"/>
              <a:t>は、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[3] = {10, 5, 7};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kumimoji="1" lang="ja-JP" altLang="en-US" sz="2400" dirty="0" smtClean="0"/>
              <a:t>まとめて書くことができる。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配列の要素数について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85786" y="1500174"/>
            <a:ext cx="73581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配列を宣言する際、要素数は定数でなければならない。</a:t>
            </a:r>
            <a:endParaRPr lang="en-US" altLang="ja-JP" sz="2400" dirty="0" smtClean="0"/>
          </a:p>
          <a:p>
            <a:r>
              <a:rPr lang="ja-JP" altLang="en-US" sz="2400" dirty="0" smtClean="0"/>
              <a:t>（教科書 </a:t>
            </a:r>
            <a:r>
              <a:rPr lang="en-US" altLang="ja-JP" sz="2400" dirty="0" smtClean="0"/>
              <a:t>p. 89 </a:t>
            </a:r>
            <a:r>
              <a:rPr lang="ja-JP" altLang="en-US" sz="2400" dirty="0" smtClean="0"/>
              <a:t>参照）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例えば、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n = 5;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a[n];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要素数を変数で指定することは</a:t>
            </a:r>
            <a:r>
              <a:rPr lang="en-US" altLang="ja-JP" sz="2400" dirty="0" smtClean="0"/>
              <a:t>(1990</a:t>
            </a:r>
            <a:r>
              <a:rPr lang="ja-JP" altLang="en-US" sz="2400" dirty="0" smtClean="0"/>
              <a:t>年の</a:t>
            </a:r>
            <a:r>
              <a:rPr lang="en-US" altLang="ja-JP" sz="2400" dirty="0" smtClean="0"/>
              <a:t>ISO</a:t>
            </a:r>
            <a:r>
              <a:rPr lang="ja-JP" altLang="en-US" sz="2400" dirty="0" smtClean="0"/>
              <a:t>規格</a:t>
            </a:r>
            <a:r>
              <a:rPr lang="en-US" altLang="ja-JP" sz="2400" dirty="0" smtClean="0"/>
              <a:t>(C89)</a:t>
            </a:r>
            <a:r>
              <a:rPr lang="ja-JP" altLang="en-US" sz="2400" dirty="0" smtClean="0"/>
              <a:t>では</a:t>
            </a:r>
            <a:r>
              <a:rPr lang="en-US" altLang="ja-JP" sz="2400" dirty="0" smtClean="0"/>
              <a:t>)</a:t>
            </a:r>
            <a:r>
              <a:rPr lang="ja-JP" altLang="en-US" sz="2400" dirty="0" smtClean="0"/>
              <a:t>許されていない。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ただし、</a:t>
            </a:r>
            <a:r>
              <a:rPr kumimoji="1" lang="en-US" altLang="ja-JP" sz="2400" dirty="0" smtClean="0"/>
              <a:t>1999</a:t>
            </a:r>
            <a:r>
              <a:rPr kumimoji="1" lang="ja-JP" altLang="en-US" sz="2400" dirty="0" smtClean="0"/>
              <a:t>年の</a:t>
            </a:r>
            <a:r>
              <a:rPr kumimoji="1" lang="en-US" altLang="ja-JP" sz="2400" dirty="0" smtClean="0"/>
              <a:t>ISO</a:t>
            </a:r>
            <a:r>
              <a:rPr lang="ja-JP" altLang="en-US" sz="2400" dirty="0" smtClean="0"/>
              <a:t>規格</a:t>
            </a:r>
            <a:r>
              <a:rPr lang="en-US" altLang="ja-JP" sz="2400" dirty="0" smtClean="0"/>
              <a:t>(C99)</a:t>
            </a:r>
            <a:r>
              <a:rPr lang="ja-JP" altLang="en-US" sz="2400" dirty="0" smtClean="0"/>
              <a:t>では定数でなくてもよくなったので、上記のような宣言は許されている。</a:t>
            </a:r>
            <a:endParaRPr lang="en-US" altLang="ja-JP" sz="2400" dirty="0" smtClean="0"/>
          </a:p>
          <a:p>
            <a:r>
              <a:rPr lang="ja-JP" altLang="en-US" sz="2400" dirty="0" smtClean="0"/>
              <a:t>講義では</a:t>
            </a:r>
            <a:r>
              <a:rPr lang="en-US" altLang="ja-JP" sz="2400" dirty="0" smtClean="0"/>
              <a:t>1990</a:t>
            </a:r>
            <a:r>
              <a:rPr lang="ja-JP" altLang="en-US" sz="2400" dirty="0" smtClean="0"/>
              <a:t>年の</a:t>
            </a:r>
            <a:r>
              <a:rPr lang="en-US" altLang="ja-JP" sz="2400" dirty="0" smtClean="0"/>
              <a:t>ISO</a:t>
            </a:r>
            <a:r>
              <a:rPr lang="ja-JP" altLang="en-US" sz="2400" dirty="0" smtClean="0"/>
              <a:t>規格</a:t>
            </a:r>
            <a:r>
              <a:rPr lang="en-US" altLang="ja-JP" sz="2400" dirty="0" smtClean="0"/>
              <a:t>(C89)</a:t>
            </a:r>
            <a:r>
              <a:rPr lang="ja-JP" altLang="en-US" sz="2400" dirty="0" smtClean="0"/>
              <a:t>に従うが、試験ではどちらでもよいことにする。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71414"/>
            <a:ext cx="8229600" cy="725470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プログラム例２（打ち込んで確認）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42976" y="784943"/>
            <a:ext cx="6929486" cy="6001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/* </a:t>
            </a:r>
            <a:r>
              <a:rPr lang="ja-JP" altLang="en-US" sz="2400" dirty="0" smtClean="0"/>
              <a:t>長さ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の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型配列の各要素に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を代入 *</a:t>
            </a:r>
            <a:r>
              <a:rPr lang="en-US" altLang="ja-JP" sz="2400" dirty="0" smtClean="0"/>
              <a:t>/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a[10];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&lt;10) {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smtClean="0">
                <a:solidFill>
                  <a:srgbClr val="FF0000"/>
                </a:solidFill>
              </a:rPr>
              <a:t>a[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</a:t>
            </a:r>
            <a:r>
              <a:rPr lang="en-US" altLang="ja-JP" sz="2400" dirty="0" smtClean="0"/>
              <a:t> = 0;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&lt;10) {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 = 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</a:t>
            </a:r>
            <a:r>
              <a:rPr lang="en-US" altLang="ja-JP" sz="2400" dirty="0" smtClean="0">
                <a:solidFill>
                  <a:srgbClr val="FF0000"/>
                </a:solidFill>
              </a:rPr>
              <a:t>a[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</a:t>
            </a:r>
            <a:r>
              <a:rPr lang="en-US" altLang="ja-JP" sz="2400" dirty="0" smtClean="0"/>
              <a:t>);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786182" y="3071810"/>
            <a:ext cx="385765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</a:t>
            </a:r>
            <a:r>
              <a:rPr lang="ja-JP" altLang="en-US" sz="2400" dirty="0" smtClean="0"/>
              <a:t>においては、変数式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</a:t>
            </a:r>
            <a:r>
              <a:rPr lang="ja-JP" altLang="en-US" sz="2400" dirty="0" smtClean="0"/>
              <a:t>が添え字になっている。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642942"/>
          </a:xfrm>
        </p:spPr>
        <p:txBody>
          <a:bodyPr>
            <a:normAutofit fontScale="90000"/>
          </a:bodyPr>
          <a:lstStyle/>
          <a:p>
            <a:r>
              <a:rPr kumimoji="1" lang="ja-JP" altLang="en-US" sz="4000" dirty="0" smtClean="0"/>
              <a:t>プログラム例</a:t>
            </a:r>
            <a:r>
              <a:rPr lang="ja-JP" altLang="en-US" sz="4000" dirty="0" smtClean="0"/>
              <a:t>３（打ち込んで確認）</a:t>
            </a:r>
            <a:endParaRPr kumimoji="1" lang="ja-JP" altLang="en-US" sz="4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28596" y="980728"/>
            <a:ext cx="8143932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/* </a:t>
            </a:r>
            <a:r>
              <a:rPr lang="ja-JP" altLang="en-US" sz="2400" dirty="0" smtClean="0"/>
              <a:t>配列にキーボードからの入力値を格納 </a:t>
            </a:r>
            <a:r>
              <a:rPr lang="en-US" altLang="ja-JP" sz="2400" dirty="0" smtClean="0"/>
              <a:t>*/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m[3];</a:t>
            </a:r>
          </a:p>
          <a:p>
            <a:r>
              <a:rPr lang="en-US" altLang="ja-JP" sz="2400" dirty="0" smtClean="0"/>
              <a:t>    double average;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(“M09001</a:t>
            </a:r>
            <a:r>
              <a:rPr lang="ja-JP" altLang="en-US" sz="2400" dirty="0" smtClean="0"/>
              <a:t>の成績を入力してください</a:t>
            </a:r>
            <a:r>
              <a:rPr lang="en-US" altLang="ja-JP" sz="2400" dirty="0" smtClean="0"/>
              <a:t>: “);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</a:t>
            </a:r>
            <a:r>
              <a:rPr lang="en-US" altLang="ja-JP" sz="2400" dirty="0" smtClean="0">
                <a:solidFill>
                  <a:srgbClr val="FF0000"/>
                </a:solidFill>
              </a:rPr>
              <a:t>&amp;m[0]</a:t>
            </a:r>
            <a:r>
              <a:rPr lang="en-US" altLang="ja-JP" sz="2400" dirty="0" smtClean="0"/>
              <a:t>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(“M09002</a:t>
            </a:r>
            <a:r>
              <a:rPr lang="ja-JP" altLang="en-US" sz="2400" dirty="0" smtClean="0"/>
              <a:t>の成績を入力してください</a:t>
            </a:r>
            <a:r>
              <a:rPr lang="en-US" altLang="ja-JP" sz="2400" dirty="0" smtClean="0"/>
              <a:t>: “);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</a:t>
            </a:r>
            <a:r>
              <a:rPr lang="en-US" altLang="ja-JP" sz="2400" dirty="0" smtClean="0">
                <a:solidFill>
                  <a:srgbClr val="FF0000"/>
                </a:solidFill>
              </a:rPr>
              <a:t>&amp;m[1]</a:t>
            </a:r>
            <a:r>
              <a:rPr lang="en-US" altLang="ja-JP" sz="2400" dirty="0" smtClean="0"/>
              <a:t>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(“M09003</a:t>
            </a:r>
            <a:r>
              <a:rPr lang="ja-JP" altLang="en-US" sz="2400" dirty="0" smtClean="0"/>
              <a:t>の成績を入力してください</a:t>
            </a:r>
            <a:r>
              <a:rPr lang="en-US" altLang="ja-JP" sz="2400" dirty="0" smtClean="0"/>
              <a:t>: “);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</a:t>
            </a:r>
            <a:r>
              <a:rPr lang="en-US" altLang="ja-JP" sz="2400" dirty="0" smtClean="0">
                <a:solidFill>
                  <a:srgbClr val="FF0000"/>
                </a:solidFill>
              </a:rPr>
              <a:t>&amp;m[2]</a:t>
            </a:r>
            <a:r>
              <a:rPr lang="en-US" altLang="ja-JP" sz="2400" dirty="0" smtClean="0"/>
              <a:t>);</a:t>
            </a:r>
          </a:p>
          <a:p>
            <a:r>
              <a:rPr lang="en-US" altLang="ja-JP" sz="2400" dirty="0" smtClean="0"/>
              <a:t>    average = (double) (m[0] + m[1] + m[2]) / 3;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</a:t>
            </a:r>
            <a:r>
              <a:rPr lang="ja-JP" altLang="en-US" sz="2400" dirty="0" smtClean="0"/>
              <a:t>平均点は</a:t>
            </a:r>
            <a:r>
              <a:rPr lang="en-US" altLang="ja-JP" sz="2400" dirty="0" smtClean="0"/>
              <a:t>%f</a:t>
            </a:r>
            <a:r>
              <a:rPr lang="ja-JP" altLang="en-US" sz="2400" dirty="0" smtClean="0"/>
              <a:t>点です。</a:t>
            </a:r>
            <a:r>
              <a:rPr lang="en-US" altLang="ja-JP" sz="2400" dirty="0" smtClean="0"/>
              <a:t>\n”, average);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491880" y="1412776"/>
            <a:ext cx="468052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2000" dirty="0" smtClean="0"/>
              <a:t>変数と同じように、</a:t>
            </a:r>
            <a:r>
              <a:rPr lang="en-US" altLang="ja-JP" sz="2000" dirty="0" smtClean="0"/>
              <a:t>&amp;</a:t>
            </a:r>
            <a:r>
              <a:rPr lang="ja-JP" altLang="en-US" sz="2000" dirty="0" smtClean="0"/>
              <a:t>を左側につける。詳しくはポインタの回に説明する。</a:t>
            </a:r>
            <a:r>
              <a:rPr lang="en-US" altLang="ja-JP" sz="2000" dirty="0" smtClean="0"/>
              <a:t> &amp;(m[0])</a:t>
            </a:r>
            <a:r>
              <a:rPr lang="ja-JP" altLang="en-US" sz="2000" dirty="0" smtClean="0"/>
              <a:t>を</a:t>
            </a:r>
            <a:r>
              <a:rPr lang="en-US" altLang="ja-JP" sz="2000" dirty="0" smtClean="0">
                <a:solidFill>
                  <a:srgbClr val="FF0000"/>
                </a:solidFill>
              </a:rPr>
              <a:t>&amp;m[0]</a:t>
            </a:r>
            <a:r>
              <a:rPr lang="ja-JP" altLang="en-US" sz="2000" dirty="0" err="1" smtClean="0"/>
              <a:t>のように</a:t>
            </a:r>
            <a:r>
              <a:rPr lang="ja-JP" altLang="en-US" sz="2000" dirty="0" smtClean="0"/>
              <a:t>括弧を省略して書いている。</a:t>
            </a:r>
            <a:endParaRPr kumimoji="1" lang="ja-JP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25470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プログラム例４（打ち込んで確認）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071546"/>
            <a:ext cx="8072494" cy="5324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smtClean="0"/>
              <a:t>/* M</a:t>
            </a:r>
            <a:r>
              <a:rPr lang="ja-JP" altLang="en-US" sz="2000" dirty="0" smtClean="0"/>
              <a:t>学科</a:t>
            </a:r>
            <a:r>
              <a:rPr lang="en-US" altLang="ja-JP" sz="2000" dirty="0" smtClean="0"/>
              <a:t>10</a:t>
            </a:r>
            <a:r>
              <a:rPr lang="ja-JP" altLang="en-US" sz="2000" dirty="0" smtClean="0"/>
              <a:t>人分の点数をキーボードから入力し、平均点を出力する *</a:t>
            </a:r>
            <a:r>
              <a:rPr lang="en-US" altLang="ja-JP" sz="2000" dirty="0" smtClean="0"/>
              <a:t>/</a:t>
            </a:r>
          </a:p>
          <a:p>
            <a:r>
              <a:rPr lang="en-US" altLang="ja-JP" sz="2000" dirty="0" smtClean="0"/>
              <a:t>#include &lt;</a:t>
            </a:r>
            <a:r>
              <a:rPr lang="en-US" altLang="ja-JP" sz="2000" dirty="0" err="1" smtClean="0"/>
              <a:t>stdio.h</a:t>
            </a:r>
            <a:r>
              <a:rPr lang="en-US" altLang="ja-JP" sz="2000" dirty="0" smtClean="0"/>
              <a:t>&gt;</a:t>
            </a:r>
          </a:p>
          <a:p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main (void) {</a:t>
            </a:r>
          </a:p>
          <a:p>
            <a:r>
              <a:rPr lang="en-US" altLang="ja-JP" sz="2000" dirty="0" smtClean="0"/>
              <a:t>    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m[10],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=0, sum=0;</a:t>
            </a:r>
          </a:p>
          <a:p>
            <a:r>
              <a:rPr lang="en-US" altLang="ja-JP" sz="2000" dirty="0" smtClean="0"/>
              <a:t>    while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&lt;10) {</a:t>
            </a:r>
          </a:p>
          <a:p>
            <a:r>
              <a:rPr lang="en-US" altLang="ja-JP" sz="2000" dirty="0" smtClean="0"/>
              <a:t>      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 (“M090</a:t>
            </a:r>
            <a:r>
              <a:rPr lang="en-US" altLang="ja-JP" sz="2000" dirty="0" smtClean="0">
                <a:solidFill>
                  <a:srgbClr val="FF0000"/>
                </a:solidFill>
              </a:rPr>
              <a:t>%02d</a:t>
            </a:r>
            <a:r>
              <a:rPr lang="en-US" altLang="ja-JP" sz="2000" dirty="0" smtClean="0"/>
              <a:t>: “,  i+1);</a:t>
            </a:r>
          </a:p>
          <a:p>
            <a:r>
              <a:rPr lang="en-US" altLang="ja-JP" sz="2000" dirty="0" smtClean="0"/>
              <a:t>        </a:t>
            </a:r>
            <a:r>
              <a:rPr lang="en-US" altLang="ja-JP" sz="2000" dirty="0" err="1" smtClean="0"/>
              <a:t>scanf</a:t>
            </a:r>
            <a:r>
              <a:rPr lang="en-US" altLang="ja-JP" sz="2000" dirty="0" smtClean="0"/>
              <a:t> (“%d”, &amp;m[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);</a:t>
            </a:r>
          </a:p>
          <a:p>
            <a:r>
              <a:rPr lang="en-US" altLang="ja-JP" sz="2000" dirty="0" smtClean="0"/>
              <a:t>       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=i+1;</a:t>
            </a:r>
          </a:p>
          <a:p>
            <a:r>
              <a:rPr lang="en-US" altLang="ja-JP" sz="2000" dirty="0" smtClean="0"/>
              <a:t>    }</a:t>
            </a:r>
          </a:p>
          <a:p>
            <a:r>
              <a:rPr lang="en-US" altLang="ja-JP" sz="2000" dirty="0" smtClean="0"/>
              <a:t>   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</a:t>
            </a:r>
          </a:p>
          <a:p>
            <a:r>
              <a:rPr lang="en-US" altLang="ja-JP" sz="2000" dirty="0" smtClean="0"/>
              <a:t>    while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&lt;10) {</a:t>
            </a:r>
          </a:p>
          <a:p>
            <a:r>
              <a:rPr lang="en-US" altLang="ja-JP" sz="2000" dirty="0" smtClean="0"/>
              <a:t>        sum = sum + m[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];</a:t>
            </a:r>
          </a:p>
          <a:p>
            <a:r>
              <a:rPr lang="en-US" altLang="ja-JP" sz="2000" dirty="0" smtClean="0"/>
              <a:t>       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=i+1;</a:t>
            </a:r>
          </a:p>
          <a:p>
            <a:r>
              <a:rPr lang="en-US" altLang="ja-JP" sz="2000" dirty="0" smtClean="0"/>
              <a:t>    }</a:t>
            </a:r>
          </a:p>
          <a:p>
            <a:r>
              <a:rPr lang="en-US" altLang="ja-JP" sz="2000" dirty="0" smtClean="0"/>
              <a:t>  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 (“</a:t>
            </a:r>
            <a:r>
              <a:rPr lang="ja-JP" altLang="en-US" sz="2000" dirty="0" smtClean="0"/>
              <a:t>平均点は</a:t>
            </a:r>
            <a:r>
              <a:rPr lang="en-US" altLang="ja-JP" sz="2000" dirty="0" smtClean="0"/>
              <a:t>%f</a:t>
            </a:r>
            <a:r>
              <a:rPr lang="ja-JP" altLang="en-US" sz="2000" dirty="0" smtClean="0"/>
              <a:t>点です。</a:t>
            </a:r>
            <a:r>
              <a:rPr lang="en-US" altLang="ja-JP" sz="2000" dirty="0" smtClean="0"/>
              <a:t>\n”, (double) sum / 10);</a:t>
            </a:r>
          </a:p>
          <a:p>
            <a:r>
              <a:rPr lang="en-US" altLang="ja-JP" sz="2000" dirty="0" smtClean="0"/>
              <a:t>    return 0;</a:t>
            </a:r>
          </a:p>
          <a:p>
            <a:r>
              <a:rPr lang="en-US" altLang="ja-JP" sz="20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357686" y="2143116"/>
            <a:ext cx="4143404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000" dirty="0" smtClean="0">
                <a:solidFill>
                  <a:srgbClr val="FF0000"/>
                </a:solidFill>
              </a:rPr>
              <a:t>%02d</a:t>
            </a:r>
            <a:r>
              <a:rPr lang="ja-JP" altLang="en-US" sz="2000" dirty="0" smtClean="0"/>
              <a:t>の場合</a:t>
            </a:r>
            <a:r>
              <a:rPr kumimoji="1" lang="ja-JP" altLang="en-US" sz="2000" dirty="0" smtClean="0"/>
              <a:t>、表示する数が</a:t>
            </a:r>
            <a:r>
              <a:rPr kumimoji="1" lang="en-US" altLang="ja-JP" sz="2000" dirty="0" smtClean="0"/>
              <a:t>2</a:t>
            </a:r>
            <a:r>
              <a:rPr kumimoji="1" lang="ja-JP" altLang="en-US" sz="2000" dirty="0" smtClean="0"/>
              <a:t>桁未満のとき、左側に</a:t>
            </a:r>
            <a:r>
              <a:rPr kumimoji="1" lang="en-US" altLang="ja-JP" sz="2000" dirty="0" smtClean="0"/>
              <a:t>0</a:t>
            </a:r>
            <a:r>
              <a:rPr kumimoji="1" lang="ja-JP" altLang="en-US" sz="2000" dirty="0" smtClean="0"/>
              <a:t>を埋めて表示する。</a:t>
            </a:r>
            <a:endParaRPr kumimoji="1" lang="en-US" altLang="ja-JP" sz="2000" dirty="0" smtClean="0"/>
          </a:p>
          <a:p>
            <a:r>
              <a:rPr lang="en-US" altLang="ja-JP" sz="2000" dirty="0" smtClean="0">
                <a:solidFill>
                  <a:srgbClr val="FF0000"/>
                </a:solidFill>
              </a:rPr>
              <a:t>%2d</a:t>
            </a:r>
            <a:r>
              <a:rPr lang="ja-JP" altLang="en-US" sz="2000" dirty="0" smtClean="0"/>
              <a:t>の場合は、</a:t>
            </a:r>
            <a:r>
              <a:rPr lang="en-US" altLang="ja-JP" sz="2000" dirty="0" smtClean="0"/>
              <a:t>0</a:t>
            </a:r>
            <a:r>
              <a:rPr lang="ja-JP" altLang="en-US" sz="2000" dirty="0" smtClean="0"/>
              <a:t>ではなく空白を埋めて表示する。</a:t>
            </a:r>
            <a:endParaRPr kumimoji="1" lang="en-US" altLang="ja-JP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配列の初期化（</a:t>
            </a:r>
            <a:r>
              <a:rPr lang="en-US" altLang="ja-JP" dirty="0" smtClean="0"/>
              <a:t>2</a:t>
            </a:r>
            <a:r>
              <a:rPr lang="ja-JP" altLang="en-US" dirty="0" smtClean="0"/>
              <a:t>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3" y="1643050"/>
            <a:ext cx="70009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配列の初期化において、右辺の要素数が少ないときは、足りない</a:t>
            </a:r>
            <a:r>
              <a:rPr lang="ja-JP" altLang="en-US" sz="2400" dirty="0" smtClean="0"/>
              <a:t>部分は</a:t>
            </a:r>
            <a:r>
              <a:rPr kumimoji="1" lang="en-US" altLang="ja-JP" sz="2400" dirty="0" smtClean="0"/>
              <a:t>0 (double</a:t>
            </a:r>
            <a:r>
              <a:rPr kumimoji="1" lang="ja-JP" altLang="en-US" sz="2400" dirty="0" smtClean="0"/>
              <a:t>型の場合は</a:t>
            </a:r>
            <a:r>
              <a:rPr kumimoji="1" lang="en-US" altLang="ja-JP" sz="2400" dirty="0" smtClean="0"/>
              <a:t>0.0) </a:t>
            </a:r>
            <a:r>
              <a:rPr kumimoji="1" lang="ja-JP" altLang="en-US" sz="2400" dirty="0" smtClean="0"/>
              <a:t>で初期化される。</a:t>
            </a:r>
            <a:r>
              <a:rPr lang="ja-JP" altLang="en-US" sz="2400" dirty="0" smtClean="0"/>
              <a:t>たとえば、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[3] = {10, 5};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kumimoji="1" lang="ja-JP" altLang="en-US" sz="2400" dirty="0" smtClean="0"/>
              <a:t>書くと、</a:t>
            </a:r>
            <a:r>
              <a:rPr kumimoji="1" lang="en-US" altLang="ja-JP" sz="2400" dirty="0" smtClean="0"/>
              <a:t>a[0]</a:t>
            </a:r>
            <a:r>
              <a:rPr kumimoji="1" lang="ja-JP" altLang="en-US" sz="2400" dirty="0" smtClean="0"/>
              <a:t>が</a:t>
            </a:r>
            <a:r>
              <a:rPr kumimoji="1" lang="en-US" altLang="ja-JP" sz="2400" dirty="0" smtClean="0"/>
              <a:t>10, a[1]</a:t>
            </a:r>
            <a:r>
              <a:rPr kumimoji="1" lang="ja-JP" altLang="en-US" sz="2400" dirty="0" smtClean="0"/>
              <a:t>が</a:t>
            </a:r>
            <a:r>
              <a:rPr kumimoji="1" lang="en-US" altLang="ja-JP" sz="2400" dirty="0" smtClean="0"/>
              <a:t>5, a[2]</a:t>
            </a:r>
            <a:r>
              <a:rPr kumimoji="1" lang="ja-JP" altLang="en-US" sz="2400" dirty="0" smtClean="0"/>
              <a:t>が</a:t>
            </a:r>
            <a:r>
              <a:rPr kumimoji="1" lang="en-US" altLang="ja-JP" sz="2400" dirty="0" smtClean="0"/>
              <a:t>0</a:t>
            </a:r>
            <a:r>
              <a:rPr kumimoji="1" lang="ja-JP" altLang="en-US" sz="2400" dirty="0" smtClean="0"/>
              <a:t>で初期化される。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725470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プログラム例５（打ち込んで確認）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57224" y="1571612"/>
            <a:ext cx="6858048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/* </a:t>
            </a:r>
            <a:r>
              <a:rPr lang="ja-JP" altLang="en-US" sz="2400" dirty="0" smtClean="0"/>
              <a:t>長さ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の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型配列の各要素を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で初期化 *</a:t>
            </a:r>
            <a:r>
              <a:rPr lang="en-US" altLang="ja-JP" sz="2400" dirty="0" smtClean="0"/>
              <a:t>/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int</a:t>
            </a:r>
            <a:r>
              <a:rPr lang="en-US" altLang="ja-JP" sz="2400" dirty="0" smtClean="0">
                <a:solidFill>
                  <a:srgbClr val="FF0000"/>
                </a:solidFill>
              </a:rPr>
              <a:t> a[10]</a:t>
            </a:r>
            <a:r>
              <a:rPr lang="ja-JP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ja-JP" sz="2400" dirty="0" smtClean="0">
                <a:solidFill>
                  <a:srgbClr val="FF0000"/>
                </a:solidFill>
              </a:rPr>
              <a:t>= {0};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&lt;10) {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 = 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]);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786182" y="2357430"/>
            <a:ext cx="342902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 a[0]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で初期化され、</a:t>
            </a:r>
            <a:r>
              <a:rPr lang="en-US" altLang="ja-JP" sz="2400" dirty="0" smtClean="0"/>
              <a:t>a[1]</a:t>
            </a:r>
            <a:r>
              <a:rPr lang="ja-JP" altLang="en-US" sz="2400" dirty="0" smtClean="0"/>
              <a:t>から</a:t>
            </a:r>
            <a:r>
              <a:rPr lang="en-US" altLang="ja-JP" sz="2400" dirty="0" smtClean="0"/>
              <a:t>a[9]</a:t>
            </a:r>
            <a:r>
              <a:rPr lang="ja-JP" altLang="en-US" sz="2400" dirty="0" smtClean="0"/>
              <a:t>も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で初期化される。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配列の初期化（</a:t>
            </a:r>
            <a:r>
              <a:rPr lang="en-US" altLang="ja-JP" dirty="0" smtClean="0"/>
              <a:t>3</a:t>
            </a:r>
            <a:r>
              <a:rPr lang="ja-JP" altLang="en-US" dirty="0" smtClean="0"/>
              <a:t>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3" y="1643050"/>
            <a:ext cx="70009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配列の初期化において、右辺に初期化子がある場合、要素数を省略できる。例えば、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 ] = {10, 5, 7};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kumimoji="1" lang="ja-JP" altLang="en-US" sz="2400" dirty="0" smtClean="0"/>
              <a:t>書くと、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[3] = {10, 5, 7};</a:t>
            </a:r>
          </a:p>
          <a:p>
            <a:r>
              <a:rPr lang="ja-JP" altLang="en-US" sz="2400" dirty="0" smtClean="0"/>
              <a:t>と書いたのと同じ意味になる。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857256"/>
          </a:xfrm>
        </p:spPr>
        <p:txBody>
          <a:bodyPr/>
          <a:lstStyle/>
          <a:p>
            <a:r>
              <a:rPr kumimoji="1" lang="en-US" altLang="ja-JP" dirty="0" smtClean="0"/>
              <a:t>for</a:t>
            </a:r>
            <a:r>
              <a:rPr kumimoji="1" lang="ja-JP" altLang="en-US" dirty="0" smtClean="0"/>
              <a:t>文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71472" y="1214422"/>
            <a:ext cx="8143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これまでは繰り返しのための構文としては</a:t>
            </a:r>
            <a:r>
              <a:rPr kumimoji="1" lang="en-US" altLang="ja-JP" sz="2800" dirty="0" smtClean="0"/>
              <a:t>while</a:t>
            </a:r>
            <a:r>
              <a:rPr kumimoji="1" lang="ja-JP" altLang="en-US" sz="2800" dirty="0" smtClean="0"/>
              <a:t>文を使用していた。繰り返し構文は配列を扱う場合によく使われる。</a:t>
            </a:r>
            <a:endParaRPr kumimoji="1" lang="en-US" altLang="ja-JP" sz="2800" dirty="0" smtClean="0"/>
          </a:p>
        </p:txBody>
      </p:sp>
      <p:sp>
        <p:nvSpPr>
          <p:cNvPr id="5" name="正方形/長方形 4"/>
          <p:cNvSpPr/>
          <p:nvPr/>
        </p:nvSpPr>
        <p:spPr>
          <a:xfrm>
            <a:off x="1714480" y="3325371"/>
            <a:ext cx="4585712" cy="22467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 = 0;</a:t>
            </a:r>
          </a:p>
          <a:p>
            <a:r>
              <a:rPr lang="en-US" altLang="ja-JP" sz="2800" dirty="0" smtClean="0"/>
              <a:t> while (</a:t>
            </a:r>
            <a:r>
              <a:rPr lang="ja-JP" altLang="en-US" sz="2800" dirty="0" smtClean="0"/>
              <a:t>条件式</a:t>
            </a:r>
            <a:r>
              <a:rPr lang="en-US" altLang="ja-JP" sz="2800" dirty="0" smtClean="0"/>
              <a:t>) {</a:t>
            </a:r>
          </a:p>
          <a:p>
            <a:r>
              <a:rPr lang="en-US" altLang="ja-JP" sz="2800" dirty="0" smtClean="0"/>
              <a:t>      … </a:t>
            </a:r>
            <a:r>
              <a:rPr lang="ja-JP" altLang="en-US" sz="2800" dirty="0" smtClean="0"/>
              <a:t>配列に関する計算 </a:t>
            </a:r>
            <a:r>
              <a:rPr lang="en-US" altLang="ja-JP" sz="2800" dirty="0" smtClean="0"/>
              <a:t>…</a:t>
            </a:r>
          </a:p>
          <a:p>
            <a:r>
              <a:rPr lang="en-US" altLang="ja-JP" sz="2800" dirty="0" smtClean="0"/>
              <a:t>     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 =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 + 1;</a:t>
            </a:r>
          </a:p>
          <a:p>
            <a:r>
              <a:rPr lang="en-US" altLang="ja-JP" sz="2800" dirty="0" smtClean="0"/>
              <a:t> }</a:t>
            </a:r>
            <a:endParaRPr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928662" y="2714620"/>
            <a:ext cx="41953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 dirty="0" smtClean="0"/>
              <a:t>配列の処理の典型的な形</a:t>
            </a:r>
            <a:r>
              <a:rPr lang="en-US" altLang="ja-JP" sz="2800" dirty="0" smtClean="0"/>
              <a:t>: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28596" y="5761041"/>
            <a:ext cx="83582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このような形のプログラムを見やすく書くための構文として</a:t>
            </a:r>
            <a:r>
              <a:rPr lang="en-US" altLang="ja-JP" sz="2800" dirty="0" smtClean="0"/>
              <a:t>for</a:t>
            </a:r>
            <a:r>
              <a:rPr lang="ja-JP" altLang="en-US" sz="2800" dirty="0" smtClean="0"/>
              <a:t>文がある。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for</a:t>
            </a:r>
            <a:r>
              <a:rPr lang="ja-JP" altLang="en-US" dirty="0" smtClean="0"/>
              <a:t>文</a:t>
            </a:r>
            <a:r>
              <a:rPr kumimoji="1" lang="ja-JP" altLang="en-US" dirty="0" smtClean="0"/>
              <a:t>の例（打ち込んで確認）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285720" y="1772816"/>
            <a:ext cx="4143404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a[5]={1,2,3,4,5};</a:t>
            </a:r>
          </a:p>
          <a:p>
            <a:r>
              <a:rPr lang="en-US" altLang="ja-JP" sz="2400" dirty="0" smtClean="0"/>
              <a:t>  for (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=0</a:t>
            </a:r>
            <a:r>
              <a:rPr lang="en-US" altLang="ja-JP" sz="2400" dirty="0" smtClean="0"/>
              <a:t>; </a:t>
            </a:r>
            <a:r>
              <a:rPr lang="en-US" altLang="ja-JP" sz="2400" dirty="0" err="1" smtClean="0">
                <a:solidFill>
                  <a:srgbClr val="00B050"/>
                </a:solidFill>
              </a:rPr>
              <a:t>i</a:t>
            </a:r>
            <a:r>
              <a:rPr lang="en-US" altLang="ja-JP" sz="2400" dirty="0" smtClean="0">
                <a:solidFill>
                  <a:srgbClr val="00B050"/>
                </a:solidFill>
              </a:rPr>
              <a:t>&lt;5</a:t>
            </a:r>
            <a:r>
              <a:rPr lang="en-US" altLang="ja-JP" sz="2400" dirty="0" smtClean="0"/>
              <a:t>; </a:t>
            </a:r>
            <a:r>
              <a:rPr lang="en-US" altLang="ja-JP" sz="2400" dirty="0" err="1" smtClean="0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US" altLang="ja-JP" sz="2400" dirty="0" smtClean="0">
                <a:solidFill>
                  <a:schemeClr val="accent2">
                    <a:lumMod val="75000"/>
                  </a:schemeClr>
                </a:solidFill>
              </a:rPr>
              <a:t>=i+1</a:t>
            </a:r>
            <a:r>
              <a:rPr lang="en-US" altLang="ja-JP" sz="2400" dirty="0" smtClean="0"/>
              <a:t>)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("a[%d]=%d\n",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]);</a:t>
            </a:r>
          </a:p>
          <a:p>
            <a:r>
              <a:rPr lang="en-US" altLang="ja-JP" sz="2400" dirty="0" smtClean="0"/>
              <a:t>  return 0;</a:t>
            </a:r>
          </a:p>
          <a:p>
            <a:r>
              <a:rPr lang="en-US" altLang="ja-JP" sz="2400" dirty="0" smtClean="0"/>
              <a:t>}</a:t>
            </a:r>
            <a:endParaRPr lang="en-US" altLang="ja-JP" sz="2400" dirty="0"/>
          </a:p>
        </p:txBody>
      </p:sp>
      <p:sp>
        <p:nvSpPr>
          <p:cNvPr id="6" name="正方形/長方形 5"/>
          <p:cNvSpPr/>
          <p:nvPr/>
        </p:nvSpPr>
        <p:spPr>
          <a:xfrm>
            <a:off x="4644008" y="1700808"/>
            <a:ext cx="4143404" cy="37856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a[5]={1,2,3,4,5};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=0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dirty="0" smtClean="0"/>
              <a:t>  while (</a:t>
            </a:r>
            <a:r>
              <a:rPr lang="en-US" altLang="ja-JP" sz="2400" dirty="0" err="1" smtClean="0">
                <a:solidFill>
                  <a:srgbClr val="00B050"/>
                </a:solidFill>
              </a:rPr>
              <a:t>i</a:t>
            </a:r>
            <a:r>
              <a:rPr lang="en-US" altLang="ja-JP" sz="2400" dirty="0" smtClean="0">
                <a:solidFill>
                  <a:srgbClr val="00B050"/>
                </a:solidFill>
              </a:rPr>
              <a:t>&lt;5</a:t>
            </a:r>
            <a:r>
              <a:rPr lang="en-US" altLang="ja-JP" sz="2400" dirty="0" smtClean="0"/>
              <a:t>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("a[%d]=%d\n",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US" altLang="ja-JP" sz="2400" dirty="0" smtClean="0">
                <a:solidFill>
                  <a:schemeClr val="accent2">
                    <a:lumMod val="75000"/>
                  </a:schemeClr>
                </a:solidFill>
              </a:rPr>
              <a:t>=i+1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dirty="0" smtClean="0"/>
              <a:t>  }</a:t>
            </a:r>
          </a:p>
          <a:p>
            <a:r>
              <a:rPr lang="en-US" altLang="ja-JP" sz="2400" dirty="0" smtClean="0"/>
              <a:t>  return 0;</a:t>
            </a:r>
          </a:p>
          <a:p>
            <a:r>
              <a:rPr lang="en-US" altLang="ja-JP" sz="2400" dirty="0" smtClean="0"/>
              <a:t>}</a:t>
            </a:r>
            <a:endParaRPr lang="en-US" altLang="ja-JP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785918" y="6000768"/>
            <a:ext cx="6066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左と右のプログラムは同じ意味である。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f</a:t>
            </a:r>
            <a:r>
              <a:rPr kumimoji="1" lang="en-US" altLang="ja-JP" dirty="0" smtClean="0"/>
              <a:t>or</a:t>
            </a:r>
            <a:r>
              <a:rPr lang="ja-JP" altLang="en-US" dirty="0" smtClean="0"/>
              <a:t>文</a:t>
            </a:r>
            <a:r>
              <a:rPr kumimoji="1" lang="ja-JP" altLang="en-US" dirty="0" smtClean="0"/>
              <a:t>の構文（基本形）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357298"/>
            <a:ext cx="20365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f</a:t>
            </a:r>
            <a:r>
              <a:rPr kumimoji="1" lang="en-US" altLang="ja-JP" sz="2800" dirty="0" smtClean="0"/>
              <a:t>or</a:t>
            </a:r>
            <a:r>
              <a:rPr kumimoji="1" lang="ja-JP" altLang="en-US" sz="2800" dirty="0" smtClean="0"/>
              <a:t>文の構文</a:t>
            </a:r>
            <a:endParaRPr kumimoji="1" lang="ja-JP" altLang="en-US" sz="2800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643042" y="2143116"/>
            <a:ext cx="2996782" cy="52322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dirty="0">
                <a:ea typeface="ＭＳ Ｐゴシック" charset="-128"/>
              </a:rPr>
              <a:t> </a:t>
            </a:r>
            <a:r>
              <a:rPr lang="en-US" altLang="ja-JP" sz="2800" dirty="0" smtClean="0">
                <a:ea typeface="ＭＳ Ｐゴシック" charset="-128"/>
              </a:rPr>
              <a:t>for</a:t>
            </a:r>
            <a:r>
              <a:rPr lang="ja-JP" altLang="en-US" sz="2800" dirty="0" smtClean="0">
                <a:ea typeface="ＭＳ Ｐゴシック" charset="-128"/>
              </a:rPr>
              <a:t> </a:t>
            </a:r>
            <a:r>
              <a:rPr lang="ja-JP" altLang="en-US" sz="2800" dirty="0">
                <a:ea typeface="ＭＳ Ｐゴシック" charset="-128"/>
              </a:rPr>
              <a:t>（</a:t>
            </a:r>
            <a:r>
              <a:rPr lang="ja-JP" altLang="en-US" sz="2800" dirty="0" smtClean="0">
                <a:ea typeface="ＭＳ Ｐゴシック" charset="-128"/>
              </a:rPr>
              <a:t>式</a:t>
            </a:r>
            <a:r>
              <a:rPr lang="en-US" altLang="ja-JP" sz="2800" dirty="0" smtClean="0">
                <a:ea typeface="ＭＳ Ｐゴシック" charset="-128"/>
              </a:rPr>
              <a:t>; </a:t>
            </a:r>
            <a:r>
              <a:rPr lang="ja-JP" altLang="en-US" sz="2800" dirty="0" smtClean="0">
                <a:ea typeface="ＭＳ Ｐゴシック" charset="-128"/>
              </a:rPr>
              <a:t>式</a:t>
            </a:r>
            <a:r>
              <a:rPr lang="en-US" altLang="ja-JP" sz="2800" dirty="0" smtClean="0">
                <a:ea typeface="ＭＳ Ｐゴシック" charset="-128"/>
              </a:rPr>
              <a:t>; </a:t>
            </a:r>
            <a:r>
              <a:rPr lang="ja-JP" altLang="en-US" sz="2800" dirty="0" smtClean="0">
                <a:ea typeface="ＭＳ Ｐゴシック" charset="-128"/>
              </a:rPr>
              <a:t>式） </a:t>
            </a:r>
            <a:r>
              <a:rPr lang="ja-JP" altLang="en-US" sz="2800" dirty="0">
                <a:ea typeface="ＭＳ Ｐゴシック" charset="-128"/>
              </a:rPr>
              <a:t>文</a:t>
            </a:r>
          </a:p>
        </p:txBody>
      </p:sp>
      <p:sp>
        <p:nvSpPr>
          <p:cNvPr id="6" name="テキスト ボックス 11"/>
          <p:cNvSpPr txBox="1">
            <a:spLocks noChangeArrowheads="1"/>
          </p:cNvSpPr>
          <p:nvPr/>
        </p:nvSpPr>
        <p:spPr bwMode="auto">
          <a:xfrm>
            <a:off x="642910" y="2928934"/>
            <a:ext cx="48214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 for</a:t>
            </a:r>
            <a:r>
              <a:rPr kumimoji="1" lang="ja-JP" altLang="en-US" sz="2800" dirty="0" smtClean="0"/>
              <a:t>文  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for </a:t>
            </a:r>
            <a:r>
              <a:rPr kumimoji="1" lang="en-US" altLang="ja-JP" sz="2800" dirty="0">
                <a:solidFill>
                  <a:srgbClr val="FF0000"/>
                </a:solidFill>
              </a:rPr>
              <a:t>(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e1; e2; e3) </a:t>
            </a:r>
            <a:r>
              <a:rPr kumimoji="1" lang="en-US" altLang="ja-JP" sz="2800" dirty="0">
                <a:solidFill>
                  <a:srgbClr val="FF0000"/>
                </a:solidFill>
              </a:rPr>
              <a:t>s  </a:t>
            </a:r>
            <a:r>
              <a:rPr kumimoji="1" lang="ja-JP" altLang="en-US" sz="2800" dirty="0"/>
              <a:t>の意味</a:t>
            </a:r>
            <a:endParaRPr kumimoji="1" lang="en-US" altLang="ja-JP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643042" y="3571876"/>
            <a:ext cx="3071834" cy="2677656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e1;</a:t>
            </a:r>
          </a:p>
          <a:p>
            <a:r>
              <a:rPr lang="en-US" altLang="ja-JP" sz="2800" dirty="0" smtClean="0"/>
              <a:t>while (e2) { </a:t>
            </a:r>
          </a:p>
          <a:p>
            <a:r>
              <a:rPr lang="en-US" altLang="ja-JP" sz="2800" dirty="0" smtClean="0"/>
              <a:t>    s</a:t>
            </a:r>
          </a:p>
          <a:p>
            <a:r>
              <a:rPr lang="en-US" altLang="ja-JP" sz="2800" dirty="0" smtClean="0"/>
              <a:t>    e3;</a:t>
            </a:r>
          </a:p>
          <a:p>
            <a:r>
              <a:rPr lang="en-US" altLang="ja-JP" sz="2800" dirty="0" smtClean="0"/>
              <a:t>}</a:t>
            </a:r>
          </a:p>
          <a:p>
            <a:r>
              <a:rPr lang="ja-JP" altLang="en-US" sz="2800" dirty="0" smtClean="0"/>
              <a:t>と同じ意味である。</a:t>
            </a:r>
            <a:endParaRPr lang="en-US" altLang="ja-JP" sz="2800" dirty="0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572132" y="3714752"/>
            <a:ext cx="32146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 smtClean="0"/>
              <a:t>（注意）</a:t>
            </a:r>
            <a:r>
              <a:rPr lang="en-US" altLang="ja-JP" sz="2000" dirty="0" smtClean="0"/>
              <a:t>1999</a:t>
            </a:r>
            <a:r>
              <a:rPr lang="ja-JP" altLang="en-US" sz="2000" dirty="0" smtClean="0"/>
              <a:t>年の</a:t>
            </a:r>
            <a:r>
              <a:rPr lang="en-US" altLang="ja-JP" sz="2000" dirty="0" smtClean="0"/>
              <a:t>ISO</a:t>
            </a:r>
            <a:r>
              <a:rPr lang="ja-JP" altLang="en-US" sz="2000" dirty="0" smtClean="0"/>
              <a:t>規格</a:t>
            </a:r>
            <a:r>
              <a:rPr lang="en-US" altLang="ja-JP" sz="2000" dirty="0" smtClean="0"/>
              <a:t>(C99)</a:t>
            </a:r>
            <a:r>
              <a:rPr lang="ja-JP" altLang="en-US" sz="2000" dirty="0" smtClean="0"/>
              <a:t>においては</a:t>
            </a:r>
            <a:r>
              <a:rPr lang="en-US" altLang="ja-JP" sz="2000" dirty="0" smtClean="0"/>
              <a:t>e1</a:t>
            </a:r>
            <a:r>
              <a:rPr lang="ja-JP" altLang="en-US" sz="2000" dirty="0" smtClean="0"/>
              <a:t>のところに変数</a:t>
            </a:r>
            <a:r>
              <a:rPr kumimoji="1" lang="ja-JP" altLang="en-US" sz="2000" dirty="0" smtClean="0"/>
              <a:t>宣言（</a:t>
            </a:r>
            <a:r>
              <a:rPr kumimoji="1" lang="en-US" altLang="ja-JP" sz="2000" dirty="0" smtClean="0"/>
              <a:t>for</a:t>
            </a:r>
            <a:r>
              <a:rPr kumimoji="1" lang="ja-JP" altLang="en-US" sz="2000" dirty="0" smtClean="0"/>
              <a:t>文内部でのみ有効）が書ける</a:t>
            </a:r>
            <a:r>
              <a:rPr lang="ja-JP" altLang="en-US" sz="2000" dirty="0" smtClean="0"/>
              <a:t>ように</a:t>
            </a:r>
            <a:r>
              <a:rPr lang="en-US" altLang="ja-JP" sz="2000" dirty="0" smtClean="0"/>
              <a:t>for</a:t>
            </a:r>
            <a:r>
              <a:rPr lang="ja-JP" altLang="en-US" sz="2000" dirty="0" smtClean="0"/>
              <a:t>文の定義が拡張されている</a:t>
            </a:r>
            <a:r>
              <a:rPr kumimoji="1" lang="ja-JP" altLang="en-US" sz="2000" dirty="0" smtClean="0"/>
              <a:t>。</a:t>
            </a:r>
            <a:endParaRPr lang="en-US" altLang="ja-JP" sz="2000" dirty="0" smtClean="0"/>
          </a:p>
          <a:p>
            <a:r>
              <a:rPr lang="en-US" altLang="ja-JP" sz="2000" dirty="0" smtClean="0"/>
              <a:t>e1</a:t>
            </a:r>
            <a:r>
              <a:rPr lang="ja-JP" altLang="en-US" sz="2000" dirty="0" smtClean="0"/>
              <a:t>のところが変数宣言の場合は、左の置き換えはできない（変数の有効範囲が変わってしまうので）。</a:t>
            </a:r>
            <a:endParaRPr kumimoji="1" lang="ja-JP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 smtClean="0"/>
              <a:t>例（打ち込んで確認）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500034" y="1571612"/>
            <a:ext cx="5357850" cy="440120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#include &lt;</a:t>
            </a:r>
            <a:r>
              <a:rPr lang="en-US" altLang="ja-JP" sz="2800" dirty="0" err="1" smtClean="0"/>
              <a:t>stdio.h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main (void) {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, sum=0, a[5]={1,2,3,4,5};</a:t>
            </a:r>
          </a:p>
          <a:p>
            <a:r>
              <a:rPr lang="en-US" altLang="ja-JP" sz="2800" dirty="0" smtClean="0"/>
              <a:t>  for (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=0;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&lt;5;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=i+1) </a:t>
            </a:r>
            <a:r>
              <a:rPr lang="en-US" altLang="ja-JP" sz="2800" dirty="0" smtClean="0">
                <a:solidFill>
                  <a:srgbClr val="FF0000"/>
                </a:solidFill>
              </a:rPr>
              <a:t>{</a:t>
            </a:r>
          </a:p>
          <a:p>
            <a:r>
              <a:rPr lang="en-US" altLang="ja-JP" sz="2800" dirty="0" smtClean="0">
                <a:solidFill>
                  <a:srgbClr val="FF0000"/>
                </a:solidFill>
              </a:rPr>
              <a:t>    </a:t>
            </a:r>
            <a:r>
              <a:rPr lang="en-US" altLang="ja-JP" sz="2800" dirty="0" err="1" smtClean="0">
                <a:solidFill>
                  <a:srgbClr val="FF0000"/>
                </a:solidFill>
              </a:rPr>
              <a:t>printf</a:t>
            </a:r>
            <a:r>
              <a:rPr lang="en-US" altLang="ja-JP" sz="2800" dirty="0" smtClean="0">
                <a:solidFill>
                  <a:srgbClr val="FF0000"/>
                </a:solidFill>
              </a:rPr>
              <a:t> ("a[%d]=%d\n", </a:t>
            </a:r>
            <a:r>
              <a:rPr lang="en-US" altLang="ja-JP" sz="28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800" dirty="0" smtClean="0">
                <a:solidFill>
                  <a:srgbClr val="FF0000"/>
                </a:solidFill>
              </a:rPr>
              <a:t>, a[</a:t>
            </a:r>
            <a:r>
              <a:rPr lang="en-US" altLang="ja-JP" sz="28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800" dirty="0" smtClean="0">
                <a:solidFill>
                  <a:srgbClr val="FF0000"/>
                </a:solidFill>
              </a:rPr>
              <a:t>]);</a:t>
            </a:r>
          </a:p>
          <a:p>
            <a:r>
              <a:rPr lang="en-US" altLang="ja-JP" sz="2800" dirty="0" smtClean="0">
                <a:solidFill>
                  <a:srgbClr val="FF0000"/>
                </a:solidFill>
              </a:rPr>
              <a:t>    sum = sum + a[</a:t>
            </a:r>
            <a:r>
              <a:rPr lang="en-US" altLang="ja-JP" sz="28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800" dirty="0" smtClean="0">
                <a:solidFill>
                  <a:srgbClr val="FF0000"/>
                </a:solidFill>
              </a:rPr>
              <a:t>];</a:t>
            </a:r>
          </a:p>
          <a:p>
            <a:r>
              <a:rPr lang="en-US" altLang="ja-JP" sz="2800" dirty="0" smtClean="0">
                <a:solidFill>
                  <a:srgbClr val="FF0000"/>
                </a:solidFill>
              </a:rPr>
              <a:t>  }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("sum=%d\n", sum);</a:t>
            </a:r>
          </a:p>
          <a:p>
            <a:r>
              <a:rPr lang="en-US" altLang="ja-JP" sz="2800" dirty="0" smtClean="0"/>
              <a:t>  return 0;</a:t>
            </a:r>
          </a:p>
          <a:p>
            <a:r>
              <a:rPr lang="en-US" altLang="ja-JP" sz="2800" dirty="0" smtClean="0"/>
              <a:t>}</a:t>
            </a:r>
            <a:endParaRPr lang="en-US" altLang="ja-JP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072198" y="1571612"/>
            <a:ext cx="2357454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配列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の要素の和を表示するプログラムである。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000760" y="3143248"/>
            <a:ext cx="257176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この例では、</a:t>
            </a:r>
            <a:r>
              <a:rPr kumimoji="1" lang="en-US" altLang="ja-JP" sz="2400" dirty="0" smtClean="0"/>
              <a:t>for</a:t>
            </a:r>
            <a:r>
              <a:rPr lang="ja-JP" altLang="en-US" sz="2400" dirty="0" smtClean="0"/>
              <a:t>文の本体</a:t>
            </a:r>
            <a:r>
              <a:rPr lang="en-US" altLang="ja-JP" sz="2400" dirty="0" smtClean="0"/>
              <a:t>(</a:t>
            </a:r>
            <a:r>
              <a:rPr lang="ja-JP" altLang="en-US" sz="2400" dirty="0" smtClean="0"/>
              <a:t>赤字部分</a:t>
            </a:r>
            <a:r>
              <a:rPr lang="en-US" altLang="ja-JP" sz="2400" dirty="0" smtClean="0"/>
              <a:t>)</a:t>
            </a:r>
            <a:r>
              <a:rPr lang="ja-JP" altLang="en-US" sz="2400" dirty="0" smtClean="0"/>
              <a:t>が複合文である。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while</a:t>
            </a:r>
            <a:r>
              <a:rPr lang="ja-JP" altLang="en-US" dirty="0" smtClean="0"/>
              <a:t>文を使った場合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571472" y="1452169"/>
            <a:ext cx="4714908" cy="5262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sum=0, a[5]={1,2,3,4,5};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  </a:t>
            </a:r>
          </a:p>
          <a:p>
            <a:r>
              <a:rPr lang="en-US" altLang="ja-JP" sz="2400" dirty="0" smtClean="0"/>
              <a:t>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&lt;5) {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{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   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printf</a:t>
            </a:r>
            <a:r>
              <a:rPr lang="en-US" altLang="ja-JP" sz="2400" dirty="0" smtClean="0">
                <a:solidFill>
                  <a:srgbClr val="FF0000"/>
                </a:solidFill>
              </a:rPr>
              <a:t> ("a[%d]=%d\n",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, a[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]);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    sum = sum + a[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];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}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=i+1;</a:t>
            </a:r>
          </a:p>
          <a:p>
            <a:r>
              <a:rPr lang="en-US" altLang="ja-JP" sz="2400" dirty="0" smtClean="0"/>
              <a:t>  }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("sum=%d\n", sum);</a:t>
            </a:r>
          </a:p>
          <a:p>
            <a:r>
              <a:rPr lang="en-US" altLang="ja-JP" sz="2400" dirty="0" smtClean="0"/>
              <a:t>  return 0;</a:t>
            </a:r>
          </a:p>
          <a:p>
            <a:r>
              <a:rPr lang="en-US" altLang="ja-JP" sz="2400" dirty="0" smtClean="0"/>
              <a:t>}</a:t>
            </a:r>
            <a:endParaRPr lang="en-US" altLang="ja-JP" sz="2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572132" y="1571612"/>
            <a:ext cx="29289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前ページの</a:t>
            </a:r>
            <a:r>
              <a:rPr kumimoji="1" lang="ja-JP" altLang="en-US" sz="2400" dirty="0" smtClean="0"/>
              <a:t>プログラムをさきほどの説明の通り</a:t>
            </a:r>
            <a:r>
              <a:rPr kumimoji="1" lang="en-US" altLang="ja-JP" sz="2400" dirty="0" smtClean="0"/>
              <a:t>while</a:t>
            </a:r>
            <a:r>
              <a:rPr lang="ja-JP" altLang="en-US" sz="2400" dirty="0" smtClean="0"/>
              <a:t>文で置き換えると左のプログラムになる。</a:t>
            </a:r>
            <a:endParaRPr lang="en-US" altLang="ja-JP" sz="24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500694" y="4002480"/>
            <a:ext cx="317576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（注）赤字の複合文の中括弧 </a:t>
            </a:r>
            <a:r>
              <a:rPr kumimoji="1" lang="en-US" altLang="ja-JP" sz="2400" dirty="0" smtClean="0"/>
              <a:t>{ } </a:t>
            </a:r>
            <a:r>
              <a:rPr kumimoji="1" lang="ja-JP" altLang="en-US" sz="2400" dirty="0" smtClean="0"/>
              <a:t>を取り除いても同じ意味である。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f</a:t>
            </a:r>
            <a:r>
              <a:rPr kumimoji="1" lang="en-US" altLang="ja-JP" dirty="0" smtClean="0"/>
              <a:t>or</a:t>
            </a:r>
            <a:r>
              <a:rPr kumimoji="1" lang="ja-JP" altLang="en-US" dirty="0" smtClean="0"/>
              <a:t>文の構文</a:t>
            </a:r>
            <a:endParaRPr kumimoji="1" lang="ja-JP" altLang="en-US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000232" y="2714620"/>
            <a:ext cx="3398110" cy="5847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3200" dirty="0">
                <a:ea typeface="ＭＳ Ｐゴシック" charset="-128"/>
              </a:rPr>
              <a:t> </a:t>
            </a:r>
            <a:r>
              <a:rPr lang="en-US" altLang="ja-JP" sz="3200" dirty="0" smtClean="0">
                <a:ea typeface="ＭＳ Ｐゴシック" charset="-128"/>
              </a:rPr>
              <a:t>for</a:t>
            </a:r>
            <a:r>
              <a:rPr lang="ja-JP" altLang="en-US" sz="3200" dirty="0" smtClean="0">
                <a:ea typeface="ＭＳ Ｐゴシック" charset="-128"/>
              </a:rPr>
              <a:t> </a:t>
            </a:r>
            <a:r>
              <a:rPr lang="ja-JP" altLang="en-US" sz="3200" dirty="0">
                <a:ea typeface="ＭＳ Ｐゴシック" charset="-128"/>
              </a:rPr>
              <a:t>（</a:t>
            </a:r>
            <a:r>
              <a:rPr lang="ja-JP" altLang="en-US" sz="3200" dirty="0" smtClean="0">
                <a:ea typeface="ＭＳ Ｐゴシック" charset="-128"/>
              </a:rPr>
              <a:t>式</a:t>
            </a:r>
            <a:r>
              <a:rPr lang="en-US" altLang="ja-JP" sz="3200" dirty="0" smtClean="0">
                <a:ea typeface="ＭＳ Ｐゴシック" charset="-128"/>
              </a:rPr>
              <a:t>; </a:t>
            </a:r>
            <a:r>
              <a:rPr lang="ja-JP" altLang="en-US" sz="3200" dirty="0" smtClean="0">
                <a:ea typeface="ＭＳ Ｐゴシック" charset="-128"/>
              </a:rPr>
              <a:t>式</a:t>
            </a:r>
            <a:r>
              <a:rPr lang="en-US" altLang="ja-JP" sz="3200" dirty="0" smtClean="0">
                <a:ea typeface="ＭＳ Ｐゴシック" charset="-128"/>
              </a:rPr>
              <a:t>; </a:t>
            </a:r>
            <a:r>
              <a:rPr lang="ja-JP" altLang="en-US" sz="3200" dirty="0" smtClean="0">
                <a:ea typeface="ＭＳ Ｐゴシック" charset="-128"/>
              </a:rPr>
              <a:t>式） </a:t>
            </a:r>
            <a:r>
              <a:rPr lang="ja-JP" altLang="en-US" sz="3200" dirty="0">
                <a:ea typeface="ＭＳ Ｐゴシック" charset="-128"/>
              </a:rPr>
              <a:t>文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28662" y="1643050"/>
            <a:ext cx="75012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さきほど</a:t>
            </a:r>
            <a:r>
              <a:rPr lang="en-US" altLang="ja-JP" sz="2800" dirty="0" smtClean="0"/>
              <a:t>for</a:t>
            </a:r>
            <a:r>
              <a:rPr lang="ja-JP" altLang="en-US" sz="2800" dirty="0" smtClean="0"/>
              <a:t>文の構文を以下のように定義したが、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括弧内の３つの式はそれぞれ省略可能である。</a:t>
            </a:r>
            <a:endParaRPr kumimoji="1" lang="ja-JP" altLang="en-US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42910" y="3714752"/>
            <a:ext cx="78581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１番目の式がない場合は、繰り返しの実行前に何もしないということである。</a:t>
            </a:r>
            <a:endParaRPr lang="en-US" altLang="ja-JP" sz="2800" dirty="0" smtClean="0"/>
          </a:p>
          <a:p>
            <a:r>
              <a:rPr lang="ja-JP" altLang="en-US" sz="2800" dirty="0" smtClean="0"/>
              <a:t>３番目の式がない場合は、各繰り返しにおいて、</a:t>
            </a:r>
            <a:r>
              <a:rPr lang="en-US" altLang="ja-JP" sz="2800" dirty="0" smtClean="0"/>
              <a:t>for</a:t>
            </a:r>
            <a:r>
              <a:rPr lang="ja-JP" altLang="en-US" sz="2800" dirty="0" smtClean="0"/>
              <a:t>文の本体の実行後、何もしないということである。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２番目の式がない場合は、繰り返しの条件が真という意味である。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例（打ち込んで確認）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714348" y="1643050"/>
            <a:ext cx="3429024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#include &lt;</a:t>
            </a:r>
            <a:r>
              <a:rPr lang="en-US" altLang="ja-JP" sz="2800" dirty="0" err="1" smtClean="0"/>
              <a:t>stdio.h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main (void) {</a:t>
            </a:r>
          </a:p>
          <a:p>
            <a:r>
              <a:rPr lang="en-US" altLang="ja-JP" sz="2800" dirty="0" smtClean="0"/>
              <a:t>  for (;;)</a:t>
            </a:r>
          </a:p>
          <a:p>
            <a:r>
              <a:rPr lang="en-US" altLang="ja-JP" sz="2800" dirty="0" smtClean="0"/>
              <a:t>  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("hello\n");</a:t>
            </a:r>
          </a:p>
          <a:p>
            <a:r>
              <a:rPr lang="en-US" altLang="ja-JP" sz="2800" dirty="0" smtClean="0"/>
              <a:t>  return 0;</a:t>
            </a:r>
          </a:p>
          <a:p>
            <a:r>
              <a:rPr lang="en-US" altLang="ja-JP" sz="2800" dirty="0" smtClean="0"/>
              <a:t>}</a:t>
            </a:r>
            <a:endParaRPr lang="en-US" altLang="ja-JP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14349" y="4572008"/>
            <a:ext cx="78581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式を３つとも省略すると、</a:t>
            </a:r>
            <a:r>
              <a:rPr lang="en-US" altLang="ja-JP" sz="2800" dirty="0" smtClean="0"/>
              <a:t>w</a:t>
            </a:r>
            <a:r>
              <a:rPr kumimoji="1" lang="en-US" altLang="ja-JP" sz="2800" dirty="0" smtClean="0"/>
              <a:t>hile(1)</a:t>
            </a:r>
            <a:r>
              <a:rPr kumimoji="1" lang="ja-JP" altLang="en-US" sz="2800" dirty="0" smtClean="0"/>
              <a:t>で置き換えたプログラムと同じ意味である。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（無限に</a:t>
            </a:r>
            <a:r>
              <a:rPr lang="en-US" altLang="ja-JP" sz="2800" dirty="0" smtClean="0"/>
              <a:t>hello</a:t>
            </a:r>
            <a:r>
              <a:rPr lang="ja-JP" altLang="en-US" sz="2800" dirty="0" smtClean="0"/>
              <a:t>と出力し続けるので、</a:t>
            </a:r>
            <a:r>
              <a:rPr lang="en-US" altLang="ja-JP" sz="2800" dirty="0" smtClean="0"/>
              <a:t>Ctrl-C</a:t>
            </a:r>
            <a:r>
              <a:rPr lang="ja-JP" altLang="en-US" sz="2800" dirty="0" smtClean="0"/>
              <a:t>で終了させる。）</a:t>
            </a:r>
            <a:endParaRPr kumimoji="1"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4500562" y="1643050"/>
            <a:ext cx="4143372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#include &lt;</a:t>
            </a:r>
            <a:r>
              <a:rPr lang="en-US" altLang="ja-JP" sz="2800" dirty="0" err="1" smtClean="0"/>
              <a:t>stdio.h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main (void) {</a:t>
            </a:r>
          </a:p>
          <a:p>
            <a:r>
              <a:rPr lang="en-US" altLang="ja-JP" sz="2800" dirty="0" smtClean="0"/>
              <a:t>  while (1)</a:t>
            </a:r>
          </a:p>
          <a:p>
            <a:r>
              <a:rPr lang="en-US" altLang="ja-JP" sz="2800" dirty="0" smtClean="0"/>
              <a:t>  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("hello\n");</a:t>
            </a:r>
          </a:p>
          <a:p>
            <a:r>
              <a:rPr lang="en-US" altLang="ja-JP" sz="2800" dirty="0" smtClean="0"/>
              <a:t>  return 0;</a:t>
            </a:r>
          </a:p>
          <a:p>
            <a:r>
              <a:rPr lang="en-US" altLang="ja-JP" sz="2800" dirty="0" smtClean="0"/>
              <a:t>}</a:t>
            </a:r>
            <a:endParaRPr lang="en-US" altLang="ja-JP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配列のコピー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85852" y="1785926"/>
            <a:ext cx="602245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配列のコピーを行う場合は、各要素をコピーする必要がある。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57290" y="3286124"/>
            <a:ext cx="2833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u="sng" dirty="0" smtClean="0"/>
              <a:t>間違った例</a:t>
            </a:r>
            <a:endParaRPr kumimoji="1" lang="en-US" altLang="ja-JP" sz="2400" u="sng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a[3] = {10, 5, 7};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b[3];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smtClean="0">
                <a:solidFill>
                  <a:srgbClr val="FF0000"/>
                </a:solidFill>
              </a:rPr>
              <a:t>b=a</a:t>
            </a:r>
            <a:r>
              <a:rPr lang="en-US" altLang="ja-JP" sz="2400" dirty="0" smtClean="0"/>
              <a:t>;</a:t>
            </a:r>
            <a:endParaRPr kumimoji="1" lang="ja-JP" altLang="en-US" sz="2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500166" y="5214950"/>
            <a:ext cx="609333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 b=a</a:t>
            </a:r>
            <a:r>
              <a:rPr lang="ja-JP" altLang="en-US" sz="2400" dirty="0" smtClean="0"/>
              <a:t>の代入式はコンパイル時にエラーになる。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詳しくはポインタの回に説明する。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337786"/>
            <a:ext cx="8258204" cy="642942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配列のコピー（打ち込んで確認）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43608" y="1290240"/>
            <a:ext cx="7026148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#include &lt;</a:t>
            </a:r>
            <a:r>
              <a:rPr kumimoji="1"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a[5] = {3,4,5,6,7};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b[5];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for (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=0;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&lt;5;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=i+1)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    b[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 = a[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]; </a:t>
            </a:r>
          </a:p>
          <a:p>
            <a:r>
              <a:rPr lang="en-US" altLang="ja-JP" sz="2400" dirty="0" smtClean="0"/>
              <a:t>    for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&lt;5;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=i+1)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(“a[%d]=%d, b[%d]=%d\n”,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b[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]);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779913" y="3102059"/>
            <a:ext cx="403244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 b[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 =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</a:t>
            </a:r>
            <a:r>
              <a:rPr lang="ja-JP" altLang="en-US" sz="2400" dirty="0" smtClean="0"/>
              <a:t>の代入式によって各要素ごとに代入を行っている。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多次元配列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500174"/>
            <a:ext cx="750099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配列の要素は配列でもよい。</a:t>
            </a:r>
            <a:endParaRPr kumimoji="1" lang="en-US" altLang="ja-JP" sz="2800" dirty="0" smtClean="0"/>
          </a:p>
          <a:p>
            <a:r>
              <a:rPr kumimoji="1" lang="ja-JP" altLang="en-US" sz="2800" dirty="0" smtClean="0"/>
              <a:t>例えば、</a:t>
            </a:r>
            <a:r>
              <a:rPr lang="en-US" altLang="ja-JP" sz="2800" dirty="0" err="1" smtClean="0"/>
              <a:t>int</a:t>
            </a:r>
            <a:r>
              <a:rPr lang="ja-JP" altLang="en-US" sz="2800" dirty="0" smtClean="0"/>
              <a:t>型を要素にもつ長さ</a:t>
            </a:r>
            <a:r>
              <a:rPr lang="en-US" altLang="ja-JP" sz="2800" dirty="0" smtClean="0"/>
              <a:t>3</a:t>
            </a:r>
            <a:r>
              <a:rPr lang="ja-JP" altLang="en-US" sz="2800" dirty="0" smtClean="0"/>
              <a:t>の配列を要素にもつ長さ</a:t>
            </a:r>
            <a:r>
              <a:rPr lang="en-US" altLang="ja-JP" sz="2800" dirty="0" smtClean="0"/>
              <a:t>2</a:t>
            </a:r>
            <a:r>
              <a:rPr lang="ja-JP" altLang="en-US" sz="2800" dirty="0" smtClean="0"/>
              <a:t>の配列は、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a [2] [3]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;</a:t>
            </a:r>
          </a:p>
          <a:p>
            <a:r>
              <a:rPr kumimoji="1" lang="ja-JP" altLang="en-US" sz="2800" dirty="0" err="1" smtClean="0"/>
              <a:t>のように</a:t>
            </a:r>
            <a:r>
              <a:rPr kumimoji="1" lang="ja-JP" altLang="en-US" sz="2800" dirty="0" smtClean="0"/>
              <a:t>宣言する。</a:t>
            </a:r>
            <a:r>
              <a:rPr lang="ja-JP" altLang="en-US" sz="2800" dirty="0" smtClean="0"/>
              <a:t>これは２次元配列である。（３次元以上も同様に宣言できる。２次元以上の配列を多次元配列と呼ぶ。）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各要素は、</a:t>
            </a:r>
            <a:r>
              <a:rPr lang="en-US" altLang="ja-JP" sz="2800" dirty="0" smtClean="0"/>
              <a:t>a[0][1]</a:t>
            </a:r>
            <a:r>
              <a:rPr lang="ja-JP" altLang="en-US" sz="2800" dirty="0" smtClean="0"/>
              <a:t>のように、</a:t>
            </a:r>
            <a:r>
              <a:rPr lang="en-US" altLang="ja-JP" sz="2800" dirty="0" smtClean="0"/>
              <a:t>[ ] </a:t>
            </a:r>
            <a:r>
              <a:rPr lang="ja-JP" altLang="en-US" sz="2800" dirty="0" smtClean="0"/>
              <a:t>を並べて書くことによって表す。これは</a:t>
            </a:r>
            <a:r>
              <a:rPr lang="en-US" altLang="ja-JP" sz="2800" dirty="0" smtClean="0"/>
              <a:t>(a[0])[1]</a:t>
            </a:r>
            <a:r>
              <a:rPr lang="ja-JP" altLang="en-US" sz="2800" dirty="0" smtClean="0"/>
              <a:t>を括弧を省略して書いたものである。</a:t>
            </a:r>
            <a:r>
              <a:rPr kumimoji="1" lang="en-US" altLang="ja-JP" sz="2800" dirty="0" smtClean="0"/>
              <a:t>a[0]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smtClean="0"/>
              <a:t>a</a:t>
            </a:r>
            <a:r>
              <a:rPr kumimoji="1" lang="ja-JP" altLang="en-US" sz="2800" dirty="0" smtClean="0"/>
              <a:t>の</a:t>
            </a:r>
            <a:r>
              <a:rPr lang="en-US" altLang="ja-JP" sz="2800" dirty="0" smtClean="0"/>
              <a:t>0</a:t>
            </a:r>
            <a:r>
              <a:rPr kumimoji="1" lang="ja-JP" altLang="en-US" sz="2800" dirty="0" smtClean="0"/>
              <a:t>番目の要素（</a:t>
            </a:r>
            <a:r>
              <a:rPr kumimoji="1" lang="en-US" altLang="ja-JP" sz="2800" dirty="0" err="1" smtClean="0"/>
              <a:t>int</a:t>
            </a:r>
            <a:r>
              <a:rPr kumimoji="1" lang="ja-JP" altLang="en-US" sz="2800" dirty="0" smtClean="0"/>
              <a:t>型を要素にもつ長さ</a:t>
            </a:r>
            <a:r>
              <a:rPr kumimoji="1" lang="en-US" altLang="ja-JP" sz="2800" dirty="0" smtClean="0"/>
              <a:t>3</a:t>
            </a:r>
            <a:r>
              <a:rPr kumimoji="1" lang="ja-JP" altLang="en-US" sz="2800" dirty="0" smtClean="0"/>
              <a:t>の配列）を表し、</a:t>
            </a:r>
            <a:r>
              <a:rPr kumimoji="1" lang="en-US" altLang="ja-JP" sz="2800" dirty="0" smtClean="0"/>
              <a:t>a[0][</a:t>
            </a:r>
            <a:r>
              <a:rPr lang="en-US" altLang="ja-JP" sz="2800" dirty="0" smtClean="0"/>
              <a:t>1</a:t>
            </a:r>
            <a:r>
              <a:rPr kumimoji="1" lang="en-US" altLang="ja-JP" sz="2800" dirty="0" smtClean="0"/>
              <a:t>]</a:t>
            </a:r>
            <a:r>
              <a:rPr kumimoji="1" lang="ja-JP" altLang="en-US" sz="2800" dirty="0" smtClean="0"/>
              <a:t>は、配列</a:t>
            </a:r>
            <a:r>
              <a:rPr kumimoji="1" lang="en-US" altLang="ja-JP" sz="2800" dirty="0" smtClean="0"/>
              <a:t>a[0]</a:t>
            </a:r>
            <a:r>
              <a:rPr kumimoji="1" lang="ja-JP" altLang="en-US" sz="2800" dirty="0" smtClean="0"/>
              <a:t>の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smtClean="0"/>
              <a:t>番目の要素を表す。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多次元配列のメモリ上での配置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000100" y="1500174"/>
            <a:ext cx="66437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[2] [3]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宣言された２次元配列の各要素は以下のようにメモリ上に配置される。</a:t>
            </a:r>
            <a:endParaRPr lang="en-US" altLang="ja-JP" sz="2400" dirty="0" smtClean="0"/>
          </a:p>
        </p:txBody>
      </p:sp>
      <p:graphicFrame>
        <p:nvGraphicFramePr>
          <p:cNvPr id="7" name="表 6"/>
          <p:cNvGraphicFramePr>
            <a:graphicFrameLocks noGrp="1"/>
          </p:cNvGraphicFramePr>
          <p:nvPr/>
        </p:nvGraphicFramePr>
        <p:xfrm>
          <a:off x="3857620" y="3286124"/>
          <a:ext cx="1928826" cy="2743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882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a[0][0]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a[0][1]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a[0][2]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a[1][0]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a[1][1]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a[1][2]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左中かっこ 7"/>
          <p:cNvSpPr/>
          <p:nvPr/>
        </p:nvSpPr>
        <p:spPr>
          <a:xfrm>
            <a:off x="3143240" y="3357562"/>
            <a:ext cx="642942" cy="121444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785918" y="3714752"/>
            <a:ext cx="1361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配列 </a:t>
            </a:r>
            <a:r>
              <a:rPr lang="en-US" altLang="ja-JP" sz="2400" dirty="0" smtClean="0"/>
              <a:t>a[0]</a:t>
            </a:r>
          </a:p>
        </p:txBody>
      </p:sp>
      <p:sp>
        <p:nvSpPr>
          <p:cNvPr id="12" name="左中かっこ 11"/>
          <p:cNvSpPr/>
          <p:nvPr/>
        </p:nvSpPr>
        <p:spPr>
          <a:xfrm>
            <a:off x="3143240" y="4714884"/>
            <a:ext cx="642942" cy="121444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785918" y="5072074"/>
            <a:ext cx="1361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配列 </a:t>
            </a:r>
            <a:r>
              <a:rPr lang="en-US" altLang="ja-JP" sz="2400" dirty="0" smtClean="0"/>
              <a:t>a[1]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多次元配列の例（打ち込んで確認）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39552" y="1268760"/>
            <a:ext cx="7958688" cy="4893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/* 2*3</a:t>
            </a:r>
            <a:r>
              <a:rPr lang="ja-JP" altLang="en-US" sz="2400" dirty="0" smtClean="0"/>
              <a:t>の配列の各要素に</a:t>
            </a:r>
            <a:r>
              <a:rPr lang="en-US" altLang="ja-JP" sz="2400" dirty="0" smtClean="0"/>
              <a:t>1</a:t>
            </a:r>
            <a:r>
              <a:rPr lang="ja-JP" altLang="en-US" sz="2400" dirty="0" smtClean="0"/>
              <a:t>を代入し、各要素の値を表示  *</a:t>
            </a:r>
            <a:r>
              <a:rPr lang="en-US" altLang="ja-JP" sz="2400" dirty="0" smtClean="0"/>
              <a:t>/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j;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a[2][3];</a:t>
            </a:r>
          </a:p>
          <a:p>
            <a:r>
              <a:rPr lang="en-US" altLang="ja-JP" sz="2400" dirty="0" smtClean="0"/>
              <a:t>    for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&lt; 2;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=i+1)</a:t>
            </a:r>
          </a:p>
          <a:p>
            <a:r>
              <a:rPr lang="en-US" altLang="ja-JP" sz="2400" dirty="0" smtClean="0"/>
              <a:t>        for (j=0; j &lt; 3; j=j+1)</a:t>
            </a:r>
          </a:p>
          <a:p>
            <a:r>
              <a:rPr lang="en-US" altLang="ja-JP" sz="2400" dirty="0" smtClean="0"/>
              <a:t>           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][j] = 1;</a:t>
            </a:r>
          </a:p>
          <a:p>
            <a:r>
              <a:rPr lang="en-US" altLang="ja-JP" sz="2400" dirty="0" smtClean="0"/>
              <a:t>    for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&lt; 2;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=i+1)</a:t>
            </a:r>
          </a:p>
          <a:p>
            <a:r>
              <a:rPr lang="en-US" altLang="ja-JP" sz="2400" dirty="0" smtClean="0"/>
              <a:t>        for (j=0; j &lt; 3; j=j+1)</a:t>
            </a:r>
          </a:p>
          <a:p>
            <a:r>
              <a:rPr lang="en-US" altLang="ja-JP" sz="2400" dirty="0" smtClean="0"/>
              <a:t>    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("a[%d][%d] = %d\n“,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j,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][j] );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多次元配列の初期化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43608" y="1527175"/>
            <a:ext cx="4698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１次元配列と同様に初期化できる。</a:t>
            </a:r>
            <a:endParaRPr kumimoji="1" lang="ja-JP" altLang="en-US" sz="2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00100" y="2285992"/>
            <a:ext cx="67151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（例）</a:t>
            </a:r>
            <a:endParaRPr lang="en-US" altLang="ja-JP" sz="2400" dirty="0" smtClean="0"/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a [2][3] = { {1,2,3}, {4,5,6} };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宣言、初期化すると、配列 </a:t>
            </a:r>
            <a:r>
              <a:rPr lang="en-US" altLang="ja-JP" sz="2400" dirty="0" smtClean="0"/>
              <a:t>a[0] 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{1,2,3}</a:t>
            </a:r>
            <a:r>
              <a:rPr lang="ja-JP" altLang="en-US" sz="2400" dirty="0" smtClean="0"/>
              <a:t>で初期化され、配列 </a:t>
            </a:r>
            <a:r>
              <a:rPr lang="en-US" altLang="ja-JP" sz="2400" dirty="0" smtClean="0"/>
              <a:t>a[1] 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{4,5,6}</a:t>
            </a:r>
            <a:r>
              <a:rPr lang="ja-JP" altLang="en-US" sz="2400" dirty="0" smtClean="0"/>
              <a:t>で初期化される。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409794"/>
            <a:ext cx="7929618" cy="642942"/>
          </a:xfrm>
        </p:spPr>
        <p:txBody>
          <a:bodyPr>
            <a:normAutofit fontScale="90000"/>
          </a:bodyPr>
          <a:lstStyle/>
          <a:p>
            <a:r>
              <a:rPr kumimoji="1" lang="ja-JP" altLang="en-US" sz="4000" dirty="0" smtClean="0"/>
              <a:t>プログラム例（打ち込んで確認）</a:t>
            </a:r>
            <a:endParaRPr kumimoji="1" lang="ja-JP" altLang="en-US" sz="4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15616" y="1628800"/>
            <a:ext cx="5822748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/*  </a:t>
            </a:r>
            <a:r>
              <a:rPr lang="ja-JP" altLang="en-US" sz="2400" dirty="0" smtClean="0"/>
              <a:t>初期化した値を表示して確認  </a:t>
            </a:r>
            <a:r>
              <a:rPr lang="en-US" altLang="ja-JP" sz="2400" dirty="0" smtClean="0"/>
              <a:t>*/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>
                <a:solidFill>
                  <a:srgbClr val="FF0000"/>
                </a:solidFill>
              </a:rPr>
              <a:t>int</a:t>
            </a:r>
            <a:r>
              <a:rPr kumimoji="1" lang="en-US" altLang="ja-JP" sz="2400" dirty="0" smtClean="0">
                <a:solidFill>
                  <a:srgbClr val="FF0000"/>
                </a:solidFill>
              </a:rPr>
              <a:t> a</a:t>
            </a:r>
            <a:r>
              <a:rPr lang="en-US" altLang="ja-JP" sz="2400" dirty="0" smtClean="0">
                <a:solidFill>
                  <a:srgbClr val="FF0000"/>
                </a:solidFill>
              </a:rPr>
              <a:t>[2][3] = { {1,2,3}, {4,5,6} };</a:t>
            </a:r>
          </a:p>
          <a:p>
            <a:r>
              <a:rPr lang="en-US" altLang="ja-JP" sz="2400" dirty="0" smtClean="0"/>
              <a:t> </a:t>
            </a:r>
            <a:r>
              <a:rPr lang="ja-JP" altLang="en-US" sz="2400" dirty="0" smtClean="0"/>
              <a:t>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j;</a:t>
            </a:r>
          </a:p>
          <a:p>
            <a:r>
              <a:rPr lang="en-US" altLang="ja-JP" sz="2400" dirty="0" smtClean="0"/>
              <a:t>    for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&lt; 2;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=i+1)</a:t>
            </a:r>
          </a:p>
          <a:p>
            <a:r>
              <a:rPr lang="en-US" altLang="ja-JP" sz="2400" dirty="0" smtClean="0"/>
              <a:t>        for (j=0; j &lt; 3; j=j+1)</a:t>
            </a:r>
          </a:p>
          <a:p>
            <a:r>
              <a:rPr lang="en-US" altLang="ja-JP" sz="2400" dirty="0" smtClean="0"/>
              <a:t>    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("a[%d][%d] = 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j,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][j]);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基本課題１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39552" y="1412776"/>
            <a:ext cx="7848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キーボードから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人分の点数（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点満点</a:t>
            </a:r>
            <a:r>
              <a:rPr lang="ja-JP" altLang="en-US" sz="2400" dirty="0" smtClean="0"/>
              <a:t>）を受け取り、</a:t>
            </a:r>
            <a:r>
              <a:rPr lang="en-US" altLang="ja-JP" sz="2400" dirty="0" smtClean="0"/>
              <a:t>80</a:t>
            </a:r>
            <a:r>
              <a:rPr lang="ja-JP" altLang="en-US" sz="2400" dirty="0" smtClean="0"/>
              <a:t>点以上の人数を表示するプログラムを書け。</a:t>
            </a:r>
            <a:endParaRPr lang="en-US" altLang="ja-JP" sz="2400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187624" y="2492896"/>
            <a:ext cx="457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ja-JP" sz="2000" dirty="0" smtClean="0"/>
              <a:t>[</a:t>
            </a:r>
            <a:r>
              <a:rPr lang="ja-JP" altLang="ja-JP" sz="2000" dirty="0" smtClean="0"/>
              <a:t>実行例</a:t>
            </a:r>
            <a:r>
              <a:rPr lang="en-US" altLang="ja-JP" sz="2000" dirty="0" smtClean="0"/>
              <a:t>]</a:t>
            </a:r>
            <a:endParaRPr lang="ja-JP" altLang="ja-JP" sz="2000" dirty="0" smtClean="0"/>
          </a:p>
          <a:p>
            <a:r>
              <a:rPr lang="en-US" altLang="ja-JP" sz="2000" dirty="0" smtClean="0"/>
              <a:t>1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10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2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50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3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38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4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80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5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60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6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90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7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23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8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100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9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45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10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87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80</a:t>
            </a:r>
            <a:r>
              <a:rPr lang="ja-JP" altLang="ja-JP" sz="2000" dirty="0" smtClean="0"/>
              <a:t>点以上の人は</a:t>
            </a:r>
            <a:r>
              <a:rPr lang="en-US" altLang="ja-JP" sz="2000" dirty="0" smtClean="0"/>
              <a:t>4</a:t>
            </a:r>
            <a:r>
              <a:rPr lang="ja-JP" altLang="ja-JP" sz="2000" dirty="0" smtClean="0"/>
              <a:t>人です</a:t>
            </a:r>
            <a:endParaRPr lang="ja-JP" altLang="ja-JP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792088"/>
          </a:xfrm>
        </p:spPr>
        <p:txBody>
          <a:bodyPr/>
          <a:lstStyle/>
          <a:p>
            <a:r>
              <a:rPr lang="ja-JP" altLang="en-US" dirty="0" smtClean="0"/>
              <a:t>基本課題２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539552" y="1148551"/>
            <a:ext cx="79928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キーボードから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人分の点数を受け取り、</a:t>
            </a:r>
            <a:r>
              <a:rPr lang="en-US" altLang="ja-JP" sz="2400" dirty="0" smtClean="0"/>
              <a:t>60</a:t>
            </a:r>
            <a:r>
              <a:rPr lang="ja-JP" altLang="en-US" sz="2400" dirty="0" smtClean="0"/>
              <a:t>点以上と</a:t>
            </a:r>
            <a:r>
              <a:rPr lang="en-US" altLang="ja-JP" sz="2400" dirty="0" smtClean="0"/>
              <a:t>60</a:t>
            </a:r>
            <a:r>
              <a:rPr lang="ja-JP" altLang="en-US" sz="2400" dirty="0" smtClean="0"/>
              <a:t>点未満に分けて表示するプログラムを書け。</a:t>
            </a:r>
            <a:r>
              <a:rPr lang="ja-JP" altLang="en-US" sz="2400" dirty="0" smtClean="0"/>
              <a:t>ただし、点数の表示の順番は自由とする。</a:t>
            </a:r>
            <a:endParaRPr lang="en-US" altLang="ja-JP" sz="2400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2376264" y="2647940"/>
            <a:ext cx="4572000" cy="40934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altLang="ja-JP" sz="2000" dirty="0" smtClean="0"/>
              <a:t>10</a:t>
            </a:r>
            <a:r>
              <a:rPr lang="ja-JP" altLang="en-US" sz="2000" dirty="0" smtClean="0"/>
              <a:t>人分の点数を入力してください</a:t>
            </a:r>
          </a:p>
          <a:p>
            <a:r>
              <a:rPr lang="en-US" altLang="ja-JP" sz="2000" dirty="0" smtClean="0"/>
              <a:t>1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10</a:t>
            </a:r>
          </a:p>
          <a:p>
            <a:r>
              <a:rPr lang="en-US" altLang="ja-JP" sz="2000" dirty="0" smtClean="0"/>
              <a:t>2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50</a:t>
            </a:r>
          </a:p>
          <a:p>
            <a:r>
              <a:rPr lang="en-US" altLang="ja-JP" sz="2000" dirty="0" smtClean="0"/>
              <a:t>3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38</a:t>
            </a:r>
          </a:p>
          <a:p>
            <a:r>
              <a:rPr lang="en-US" altLang="ja-JP" sz="2000" dirty="0" smtClean="0"/>
              <a:t>4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80</a:t>
            </a:r>
          </a:p>
          <a:p>
            <a:r>
              <a:rPr lang="en-US" altLang="ja-JP" sz="2000" dirty="0" smtClean="0"/>
              <a:t>5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60</a:t>
            </a:r>
          </a:p>
          <a:p>
            <a:r>
              <a:rPr lang="en-US" altLang="ja-JP" sz="2000" dirty="0" smtClean="0"/>
              <a:t>6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90</a:t>
            </a:r>
          </a:p>
          <a:p>
            <a:r>
              <a:rPr lang="en-US" altLang="ja-JP" sz="2000" dirty="0" smtClean="0"/>
              <a:t>7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38</a:t>
            </a:r>
          </a:p>
          <a:p>
            <a:r>
              <a:rPr lang="en-US" altLang="ja-JP" sz="2000" dirty="0" smtClean="0"/>
              <a:t>8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100</a:t>
            </a:r>
          </a:p>
          <a:p>
            <a:r>
              <a:rPr lang="en-US" altLang="ja-JP" sz="2000" dirty="0" smtClean="0"/>
              <a:t>9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45</a:t>
            </a:r>
          </a:p>
          <a:p>
            <a:r>
              <a:rPr lang="en-US" altLang="ja-JP" sz="2000" dirty="0" smtClean="0"/>
              <a:t>10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87</a:t>
            </a:r>
          </a:p>
          <a:p>
            <a:r>
              <a:rPr lang="en-US" altLang="ja-JP" sz="2000" dirty="0" smtClean="0"/>
              <a:t>60</a:t>
            </a:r>
            <a:r>
              <a:rPr lang="ja-JP" altLang="en-US" sz="2000" dirty="0" smtClean="0"/>
              <a:t>点以上</a:t>
            </a:r>
            <a:r>
              <a:rPr lang="en-US" altLang="ja-JP" sz="2000" dirty="0" smtClean="0"/>
              <a:t>: 80 60 90 100 87</a:t>
            </a:r>
          </a:p>
          <a:p>
            <a:r>
              <a:rPr lang="en-US" altLang="ja-JP" sz="2000" dirty="0" smtClean="0"/>
              <a:t>60</a:t>
            </a:r>
            <a:r>
              <a:rPr lang="ja-JP" altLang="en-US" sz="2000" dirty="0" smtClean="0"/>
              <a:t>点未満</a:t>
            </a:r>
            <a:r>
              <a:rPr lang="en-US" altLang="ja-JP" sz="2000" dirty="0" smtClean="0"/>
              <a:t>: 10 50 38 38 45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99592" y="2679303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[</a:t>
            </a:r>
            <a:r>
              <a:rPr kumimoji="1" lang="ja-JP" altLang="en-US" sz="2400" dirty="0" smtClean="0"/>
              <a:t>実行例</a:t>
            </a:r>
            <a:r>
              <a:rPr kumimoji="1" lang="en-US" altLang="ja-JP" sz="2400" dirty="0" smtClean="0"/>
              <a:t>]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ja-JP" altLang="en-US" dirty="0" smtClean="0"/>
              <a:t>発展課題１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11560" y="980728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キーボードから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人分の点数（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点満点</a:t>
            </a:r>
            <a:r>
              <a:rPr lang="ja-JP" altLang="en-US" sz="2400" dirty="0" smtClean="0"/>
              <a:t>）を受け取り、</a:t>
            </a:r>
            <a:r>
              <a:rPr lang="ja-JP" altLang="en-US" sz="2400" dirty="0" smtClean="0"/>
              <a:t>点数の高い順に空白で区切って表示するプログラムを書け。同じ点数の人がいた場合はその人数分表示せよ。</a:t>
            </a:r>
            <a:endParaRPr lang="en-US" altLang="ja-JP" sz="2400" dirty="0" smtClean="0"/>
          </a:p>
        </p:txBody>
      </p:sp>
      <p:sp>
        <p:nvSpPr>
          <p:cNvPr id="5" name="正方形/長方形 4"/>
          <p:cNvSpPr/>
          <p:nvPr/>
        </p:nvSpPr>
        <p:spPr>
          <a:xfrm>
            <a:off x="1979712" y="2276872"/>
            <a:ext cx="3960440" cy="440120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10</a:t>
            </a:r>
            <a:r>
              <a:rPr lang="ja-JP" altLang="en-US" sz="2000" dirty="0" smtClean="0"/>
              <a:t>人分の点数を入力してください</a:t>
            </a:r>
          </a:p>
          <a:p>
            <a:r>
              <a:rPr lang="en-US" altLang="ja-JP" sz="2000" dirty="0" smtClean="0"/>
              <a:t>1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10</a:t>
            </a:r>
          </a:p>
          <a:p>
            <a:r>
              <a:rPr lang="en-US" altLang="ja-JP" sz="2000" dirty="0" smtClean="0"/>
              <a:t>2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50</a:t>
            </a:r>
          </a:p>
          <a:p>
            <a:r>
              <a:rPr lang="en-US" altLang="ja-JP" sz="2000" dirty="0" smtClean="0"/>
              <a:t>3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38</a:t>
            </a:r>
          </a:p>
          <a:p>
            <a:r>
              <a:rPr lang="en-US" altLang="ja-JP" sz="2000" dirty="0" smtClean="0"/>
              <a:t>4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80</a:t>
            </a:r>
          </a:p>
          <a:p>
            <a:r>
              <a:rPr lang="en-US" altLang="ja-JP" sz="2000" dirty="0" smtClean="0"/>
              <a:t>5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60</a:t>
            </a:r>
          </a:p>
          <a:p>
            <a:r>
              <a:rPr lang="en-US" altLang="ja-JP" sz="2000" dirty="0" smtClean="0"/>
              <a:t>6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90</a:t>
            </a:r>
          </a:p>
          <a:p>
            <a:r>
              <a:rPr lang="en-US" altLang="ja-JP" sz="2000" dirty="0" smtClean="0"/>
              <a:t>7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38</a:t>
            </a:r>
          </a:p>
          <a:p>
            <a:r>
              <a:rPr lang="en-US" altLang="ja-JP" sz="2000" dirty="0" smtClean="0"/>
              <a:t>8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100</a:t>
            </a:r>
          </a:p>
          <a:p>
            <a:r>
              <a:rPr lang="en-US" altLang="ja-JP" sz="2000" dirty="0" smtClean="0"/>
              <a:t>9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45</a:t>
            </a:r>
          </a:p>
          <a:p>
            <a:r>
              <a:rPr lang="en-US" altLang="ja-JP" sz="2000" dirty="0" smtClean="0"/>
              <a:t>10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87</a:t>
            </a:r>
          </a:p>
          <a:p>
            <a:r>
              <a:rPr lang="ja-JP" altLang="en-US" sz="2000" dirty="0" smtClean="0"/>
              <a:t>点数の高い順に表示すると</a:t>
            </a:r>
          </a:p>
          <a:p>
            <a:r>
              <a:rPr lang="en-US" altLang="ja-JP" sz="2000" dirty="0" smtClean="0"/>
              <a:t>100 90 87 80 60 50 45 38 38 10</a:t>
            </a:r>
          </a:p>
          <a:p>
            <a:r>
              <a:rPr lang="ja-JP" altLang="en-US" sz="2000" dirty="0" smtClean="0"/>
              <a:t>となる。</a:t>
            </a:r>
            <a:endParaRPr lang="ja-JP" altLang="en-US" sz="2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83568" y="2276872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[</a:t>
            </a:r>
            <a:r>
              <a:rPr kumimoji="1" lang="ja-JP" altLang="en-US" sz="2400" dirty="0" smtClean="0"/>
              <a:t>実行例</a:t>
            </a:r>
            <a:r>
              <a:rPr kumimoji="1" lang="en-US" altLang="ja-JP" sz="2400" dirty="0" smtClean="0"/>
              <a:t>]</a:t>
            </a:r>
            <a:endParaRPr kumimoji="1" lang="ja-JP" alt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発展</a:t>
            </a:r>
            <a:r>
              <a:rPr lang="ja-JP" altLang="en-US" dirty="0" smtClean="0"/>
              <a:t>課題</a:t>
            </a:r>
            <a:r>
              <a:rPr lang="ja-JP" altLang="en-US" dirty="0" smtClean="0"/>
              <a:t>２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11560" y="1196752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2</a:t>
            </a:r>
            <a:r>
              <a:rPr lang="ja-JP" altLang="en-US" sz="2400" dirty="0" smtClean="0"/>
              <a:t>次元配列を３つ使って、</a:t>
            </a:r>
            <a:r>
              <a:rPr lang="en-US" altLang="ja-JP" sz="2400" dirty="0" smtClean="0"/>
              <a:t>2*2</a:t>
            </a:r>
            <a:r>
              <a:rPr lang="ja-JP" altLang="en-US" sz="2400" dirty="0" smtClean="0"/>
              <a:t>の行列の積を計算して表示するプログラムを書け。行列の各要素の値は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型とし、キーボードから読み込むようにせよ。</a:t>
            </a:r>
            <a:endParaRPr lang="en-US" altLang="ja-JP" sz="2400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971600" y="2636912"/>
            <a:ext cx="338437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[</a:t>
            </a:r>
            <a:r>
              <a:rPr lang="ja-JP" altLang="en-US" sz="2000" dirty="0" smtClean="0"/>
              <a:t>実行例</a:t>
            </a:r>
            <a:r>
              <a:rPr lang="en-US" altLang="ja-JP" sz="2000" dirty="0" smtClean="0"/>
              <a:t>]</a:t>
            </a:r>
          </a:p>
          <a:p>
            <a:r>
              <a:rPr lang="en-US" altLang="ja-JP" sz="2000" dirty="0" smtClean="0"/>
              <a:t>$ ./</a:t>
            </a:r>
            <a:r>
              <a:rPr lang="en-US" altLang="ja-JP" sz="2000" dirty="0" smtClean="0"/>
              <a:t>hatten5-3</a:t>
            </a:r>
            <a:endParaRPr lang="en-US" altLang="ja-JP" sz="2000" dirty="0" smtClean="0"/>
          </a:p>
          <a:p>
            <a:r>
              <a:rPr lang="ja-JP" altLang="en-US" sz="2000" dirty="0" smtClean="0"/>
              <a:t>行列</a:t>
            </a:r>
            <a:r>
              <a:rPr lang="en-US" altLang="ja-JP" sz="2000" dirty="0" smtClean="0"/>
              <a:t>a</a:t>
            </a:r>
            <a:r>
              <a:rPr lang="ja-JP" altLang="en-US" sz="2000" dirty="0" smtClean="0"/>
              <a:t>を入力してください</a:t>
            </a:r>
            <a:r>
              <a:rPr lang="en-US" altLang="ja-JP" sz="2000" dirty="0" smtClean="0"/>
              <a:t>:</a:t>
            </a:r>
          </a:p>
          <a:p>
            <a:r>
              <a:rPr lang="en-US" altLang="ja-JP" sz="2000" dirty="0" smtClean="0"/>
              <a:t>a[0][0]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000" dirty="0" smtClean="0"/>
              <a:t>a[0][1] = </a:t>
            </a:r>
            <a:r>
              <a:rPr lang="en-US" altLang="ja-JP" sz="2000" dirty="0" smtClean="0">
                <a:solidFill>
                  <a:srgbClr val="FF0000"/>
                </a:solidFill>
              </a:rPr>
              <a:t>2</a:t>
            </a:r>
          </a:p>
          <a:p>
            <a:r>
              <a:rPr lang="en-US" altLang="ja-JP" sz="2000" dirty="0" smtClean="0"/>
              <a:t>a[1][0] = </a:t>
            </a:r>
            <a:r>
              <a:rPr lang="en-US" altLang="ja-JP" sz="2000" dirty="0" smtClean="0">
                <a:solidFill>
                  <a:srgbClr val="FF0000"/>
                </a:solidFill>
              </a:rPr>
              <a:t>3</a:t>
            </a:r>
          </a:p>
          <a:p>
            <a:r>
              <a:rPr lang="en-US" altLang="ja-JP" sz="2000" dirty="0" smtClean="0"/>
              <a:t>a[1][1] = </a:t>
            </a:r>
            <a:r>
              <a:rPr lang="en-US" altLang="ja-JP" sz="2000" dirty="0" smtClean="0">
                <a:solidFill>
                  <a:srgbClr val="FF0000"/>
                </a:solidFill>
              </a:rPr>
              <a:t>4</a:t>
            </a:r>
          </a:p>
          <a:p>
            <a:r>
              <a:rPr lang="ja-JP" altLang="en-US" sz="2000" dirty="0" smtClean="0"/>
              <a:t>行列</a:t>
            </a:r>
            <a:r>
              <a:rPr lang="en-US" altLang="ja-JP" sz="2000" dirty="0" smtClean="0"/>
              <a:t>b</a:t>
            </a:r>
            <a:r>
              <a:rPr lang="ja-JP" altLang="en-US" sz="2000" dirty="0" smtClean="0"/>
              <a:t>を入力してください</a:t>
            </a:r>
            <a:r>
              <a:rPr lang="en-US" altLang="ja-JP" sz="2000" dirty="0" smtClean="0"/>
              <a:t>:</a:t>
            </a:r>
          </a:p>
          <a:p>
            <a:r>
              <a:rPr lang="en-US" altLang="ja-JP" sz="2000" dirty="0" smtClean="0"/>
              <a:t>b[0][0]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000" dirty="0" smtClean="0"/>
              <a:t>b[0][1]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000" dirty="0" smtClean="0"/>
              <a:t>b[1][0]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000" dirty="0" smtClean="0"/>
              <a:t>b[1][1]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4716016" y="2924944"/>
            <a:ext cx="381642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000" dirty="0" smtClean="0"/>
              <a:t>行列</a:t>
            </a:r>
            <a:r>
              <a:rPr lang="en-US" altLang="ja-JP" sz="2000" dirty="0" err="1" smtClean="0"/>
              <a:t>a,b</a:t>
            </a:r>
            <a:r>
              <a:rPr lang="ja-JP" altLang="en-US" sz="2000" dirty="0" smtClean="0"/>
              <a:t>の積は</a:t>
            </a:r>
          </a:p>
          <a:p>
            <a:r>
              <a:rPr lang="en-US" altLang="ja-JP" sz="2000" dirty="0" smtClean="0"/>
              <a:t>p[0][0] = 3</a:t>
            </a:r>
          </a:p>
          <a:p>
            <a:r>
              <a:rPr lang="en-US" altLang="ja-JP" sz="2000" dirty="0" smtClean="0"/>
              <a:t>p[0][1] = 3</a:t>
            </a:r>
          </a:p>
          <a:p>
            <a:r>
              <a:rPr lang="en-US" altLang="ja-JP" sz="2000" dirty="0" smtClean="0"/>
              <a:t>p[1][0] = 7</a:t>
            </a:r>
          </a:p>
          <a:p>
            <a:r>
              <a:rPr lang="en-US" altLang="ja-JP" sz="2000" dirty="0" smtClean="0"/>
              <a:t>p[1][1] = 7</a:t>
            </a:r>
          </a:p>
          <a:p>
            <a:r>
              <a:rPr lang="ja-JP" altLang="en-US" sz="2000" dirty="0" smtClean="0"/>
              <a:t>です。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発展</a:t>
            </a:r>
            <a:r>
              <a:rPr lang="ja-JP" altLang="en-US" dirty="0" smtClean="0"/>
              <a:t>課題３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43608" y="1700808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2*2</a:t>
            </a:r>
            <a:r>
              <a:rPr kumimoji="1" lang="ja-JP" altLang="en-US" sz="2400" dirty="0" smtClean="0"/>
              <a:t>の</a:t>
            </a:r>
            <a:r>
              <a:rPr kumimoji="1" lang="en-US" altLang="ja-JP" sz="2400" dirty="0" err="1" smtClean="0"/>
              <a:t>int</a:t>
            </a:r>
            <a:r>
              <a:rPr kumimoji="1" lang="ja-JP" altLang="en-US" sz="2400" dirty="0" smtClean="0"/>
              <a:t>型の行列の</a:t>
            </a:r>
            <a:r>
              <a:rPr kumimoji="1" lang="en-US" altLang="ja-JP" sz="2400" dirty="0" smtClean="0"/>
              <a:t>n</a:t>
            </a:r>
            <a:r>
              <a:rPr kumimoji="1" lang="ja-JP" altLang="en-US" sz="2400" dirty="0" smtClean="0"/>
              <a:t>乗を計算</a:t>
            </a:r>
            <a:r>
              <a:rPr lang="ja-JP" altLang="en-US" sz="2400" dirty="0" smtClean="0"/>
              <a:t>し、表示する</a:t>
            </a:r>
            <a:r>
              <a:rPr kumimoji="1" lang="ja-JP" altLang="en-US" sz="2400" dirty="0" smtClean="0"/>
              <a:t>プログラムを書け。行列の値および</a:t>
            </a:r>
            <a:r>
              <a:rPr kumimoji="1" lang="en-US" altLang="ja-JP" sz="2400" dirty="0" smtClean="0"/>
              <a:t>n</a:t>
            </a:r>
            <a:r>
              <a:rPr kumimoji="1" lang="ja-JP" altLang="en-US" sz="2400" dirty="0" smtClean="0"/>
              <a:t>はキーボードから読み込むようにせよ。</a:t>
            </a:r>
            <a:endParaRPr kumimoji="1" lang="en-US" altLang="ja-JP" sz="2400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971600" y="3068960"/>
            <a:ext cx="3600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 [</a:t>
            </a:r>
            <a:r>
              <a:rPr lang="ja-JP" altLang="en-US" sz="2400" dirty="0" smtClean="0"/>
              <a:t>実行例</a:t>
            </a:r>
            <a:r>
              <a:rPr lang="en-US" altLang="ja-JP" sz="2400" dirty="0" smtClean="0"/>
              <a:t>] </a:t>
            </a:r>
          </a:p>
          <a:p>
            <a:r>
              <a:rPr lang="en-US" altLang="ja-JP" sz="2400" dirty="0" smtClean="0"/>
              <a:t>$ ./</a:t>
            </a:r>
            <a:r>
              <a:rPr lang="en-US" altLang="ja-JP" sz="2400" dirty="0" smtClean="0"/>
              <a:t>hatten5-3</a:t>
            </a:r>
            <a:endParaRPr lang="en-US" altLang="ja-JP" sz="2400" dirty="0" smtClean="0"/>
          </a:p>
          <a:p>
            <a:r>
              <a:rPr lang="ja-JP" altLang="en-US" sz="2400" dirty="0" smtClean="0"/>
              <a:t>行列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を入力してください</a:t>
            </a:r>
            <a:r>
              <a:rPr lang="en-US" altLang="ja-JP" sz="2400" dirty="0" smtClean="0"/>
              <a:t>:</a:t>
            </a:r>
          </a:p>
          <a:p>
            <a:r>
              <a:rPr lang="en-US" altLang="ja-JP" sz="2400" dirty="0" smtClean="0"/>
              <a:t>a[0][0]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400" dirty="0" smtClean="0"/>
              <a:t>a[0][1]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2</a:t>
            </a:r>
          </a:p>
          <a:p>
            <a:r>
              <a:rPr lang="en-US" altLang="ja-JP" sz="2400" dirty="0" smtClean="0"/>
              <a:t>a[1][0]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3</a:t>
            </a:r>
          </a:p>
          <a:p>
            <a:r>
              <a:rPr lang="en-US" altLang="ja-JP" sz="2400" dirty="0" smtClean="0"/>
              <a:t>a[1][1]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4</a:t>
            </a:r>
          </a:p>
          <a:p>
            <a:r>
              <a:rPr lang="ja-JP" altLang="en-US" sz="2400" dirty="0" smtClean="0"/>
              <a:t>何乗しますか</a:t>
            </a:r>
            <a:r>
              <a:rPr lang="en-US" altLang="ja-JP" sz="2400" dirty="0" smtClean="0"/>
              <a:t>: </a:t>
            </a:r>
            <a:r>
              <a:rPr lang="en-US" altLang="ja-JP" sz="2400" dirty="0" smtClean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5004048" y="3429000"/>
            <a:ext cx="27363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行列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の</a:t>
            </a:r>
            <a:r>
              <a:rPr lang="en-US" altLang="ja-JP" sz="2400" dirty="0" smtClean="0"/>
              <a:t>3</a:t>
            </a:r>
            <a:r>
              <a:rPr lang="ja-JP" altLang="en-US" sz="2400" dirty="0" smtClean="0"/>
              <a:t>乗は</a:t>
            </a:r>
          </a:p>
          <a:p>
            <a:r>
              <a:rPr lang="en-US" altLang="ja-JP" sz="2400" dirty="0" smtClean="0"/>
              <a:t>p[0][0] = 37</a:t>
            </a:r>
          </a:p>
          <a:p>
            <a:r>
              <a:rPr lang="en-US" altLang="ja-JP" sz="2400" dirty="0" smtClean="0"/>
              <a:t>p[0][1] = 54</a:t>
            </a:r>
          </a:p>
          <a:p>
            <a:r>
              <a:rPr lang="en-US" altLang="ja-JP" sz="2400" dirty="0" smtClean="0"/>
              <a:t>p[1][0] = 81</a:t>
            </a:r>
          </a:p>
          <a:p>
            <a:r>
              <a:rPr lang="en-US" altLang="ja-JP" sz="2400" dirty="0" smtClean="0"/>
              <a:t>p[1][1] = 118</a:t>
            </a:r>
          </a:p>
          <a:p>
            <a:r>
              <a:rPr lang="ja-JP" altLang="en-US" sz="2400" dirty="0" smtClean="0"/>
              <a:t>です。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参考課題</a:t>
            </a:r>
            <a:r>
              <a:rPr lang="ja-JP" altLang="en-US" dirty="0" smtClean="0"/>
              <a:t>１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39552" y="1148551"/>
            <a:ext cx="8064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キーボードから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人分の点数（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点満点）を</a:t>
            </a:r>
            <a:r>
              <a:rPr lang="ja-JP" altLang="en-US" sz="2400" dirty="0" smtClean="0"/>
              <a:t>受け取って長さ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の配列に格納し、最高点</a:t>
            </a:r>
            <a:r>
              <a:rPr lang="ja-JP" altLang="en-US" sz="2400" dirty="0" smtClean="0"/>
              <a:t>、最低点、平均点を</a:t>
            </a:r>
            <a:r>
              <a:rPr lang="ja-JP" altLang="en-US" sz="2400" dirty="0" smtClean="0"/>
              <a:t>計算して表示するプログラムを書け。</a:t>
            </a:r>
            <a:r>
              <a:rPr lang="ja-JP" altLang="en-US" sz="2400" dirty="0" smtClean="0"/>
              <a:t>平均点は</a:t>
            </a:r>
            <a:r>
              <a:rPr lang="en-US" altLang="ja-JP" sz="2400" dirty="0" smtClean="0"/>
              <a:t>double</a:t>
            </a:r>
            <a:r>
              <a:rPr lang="ja-JP" altLang="en-US" sz="2400" dirty="0" smtClean="0"/>
              <a:t>型で計算し、表示せよ</a:t>
            </a:r>
            <a:r>
              <a:rPr lang="ja-JP" altLang="en-US" sz="2400" dirty="0" smtClean="0"/>
              <a:t>。</a:t>
            </a:r>
            <a:endParaRPr lang="en-US" altLang="ja-JP" sz="2400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907704" y="2708920"/>
            <a:ext cx="6696744" cy="37856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2000" dirty="0" smtClean="0"/>
              <a:t>点数を</a:t>
            </a:r>
            <a:r>
              <a:rPr lang="en-US" altLang="ja-JP" sz="2000" dirty="0" smtClean="0"/>
              <a:t>10</a:t>
            </a:r>
            <a:r>
              <a:rPr lang="ja-JP" altLang="en-US" sz="2000" dirty="0" smtClean="0"/>
              <a:t>人分入力してください</a:t>
            </a:r>
            <a:r>
              <a:rPr lang="en-US" altLang="ja-JP" sz="2000" dirty="0" smtClean="0"/>
              <a:t>:</a:t>
            </a:r>
          </a:p>
          <a:p>
            <a:r>
              <a:rPr lang="en-US" altLang="ja-JP" sz="2000" dirty="0" smtClean="0"/>
              <a:t>1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10</a:t>
            </a:r>
          </a:p>
          <a:p>
            <a:r>
              <a:rPr lang="en-US" altLang="ja-JP" sz="2000" dirty="0" smtClean="0"/>
              <a:t>2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50</a:t>
            </a:r>
          </a:p>
          <a:p>
            <a:r>
              <a:rPr lang="en-US" altLang="ja-JP" sz="2000" dirty="0" smtClean="0"/>
              <a:t>3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38</a:t>
            </a:r>
          </a:p>
          <a:p>
            <a:r>
              <a:rPr lang="en-US" altLang="ja-JP" sz="2000" dirty="0" smtClean="0"/>
              <a:t>4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80</a:t>
            </a:r>
          </a:p>
          <a:p>
            <a:r>
              <a:rPr lang="en-US" altLang="ja-JP" sz="2000" dirty="0" smtClean="0"/>
              <a:t>5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60</a:t>
            </a:r>
          </a:p>
          <a:p>
            <a:r>
              <a:rPr lang="en-US" altLang="ja-JP" sz="2000" dirty="0" smtClean="0"/>
              <a:t>6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90</a:t>
            </a:r>
          </a:p>
          <a:p>
            <a:r>
              <a:rPr lang="en-US" altLang="ja-JP" sz="2000" dirty="0" smtClean="0"/>
              <a:t>7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38</a:t>
            </a:r>
          </a:p>
          <a:p>
            <a:r>
              <a:rPr lang="en-US" altLang="ja-JP" sz="2000" dirty="0" smtClean="0"/>
              <a:t>8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100</a:t>
            </a:r>
          </a:p>
          <a:p>
            <a:r>
              <a:rPr lang="en-US" altLang="ja-JP" sz="2000" dirty="0" smtClean="0"/>
              <a:t>9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45</a:t>
            </a:r>
          </a:p>
          <a:p>
            <a:r>
              <a:rPr lang="en-US" altLang="ja-JP" sz="2000" dirty="0" smtClean="0"/>
              <a:t>10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87</a:t>
            </a:r>
          </a:p>
          <a:p>
            <a:r>
              <a:rPr lang="ja-JP" altLang="en-US" sz="2000" dirty="0" smtClean="0"/>
              <a:t>最高点は</a:t>
            </a:r>
            <a:r>
              <a:rPr lang="en-US" altLang="ja-JP" sz="2000" dirty="0" smtClean="0"/>
              <a:t>100</a:t>
            </a:r>
            <a:r>
              <a:rPr lang="ja-JP" altLang="en-US" sz="2000" dirty="0" smtClean="0"/>
              <a:t>点</a:t>
            </a:r>
            <a:r>
              <a:rPr lang="en-US" altLang="ja-JP" sz="2000" dirty="0" smtClean="0"/>
              <a:t>, </a:t>
            </a:r>
            <a:r>
              <a:rPr lang="ja-JP" altLang="en-US" sz="2000" dirty="0" smtClean="0"/>
              <a:t>最低点は</a:t>
            </a:r>
            <a:r>
              <a:rPr lang="en-US" altLang="ja-JP" sz="2000" dirty="0" smtClean="0"/>
              <a:t>10</a:t>
            </a:r>
            <a:r>
              <a:rPr lang="ja-JP" altLang="en-US" sz="2000" dirty="0" smtClean="0"/>
              <a:t>点</a:t>
            </a:r>
            <a:r>
              <a:rPr lang="en-US" altLang="ja-JP" sz="2000" dirty="0" smtClean="0"/>
              <a:t>, </a:t>
            </a:r>
            <a:r>
              <a:rPr lang="ja-JP" altLang="en-US" sz="2000" dirty="0" smtClean="0"/>
              <a:t>平均点は</a:t>
            </a:r>
            <a:r>
              <a:rPr lang="en-US" altLang="ja-JP" sz="2000" dirty="0" smtClean="0"/>
              <a:t>59.800000</a:t>
            </a:r>
            <a:r>
              <a:rPr lang="ja-JP" altLang="en-US" sz="2000" dirty="0" smtClean="0"/>
              <a:t>点です。</a:t>
            </a:r>
            <a:endParaRPr lang="ja-JP" altLang="en-US" sz="20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39552" y="2708920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[</a:t>
            </a:r>
            <a:r>
              <a:rPr kumimoji="1" lang="ja-JP" altLang="en-US" sz="2400" dirty="0" smtClean="0"/>
              <a:t>実行例</a:t>
            </a:r>
            <a:r>
              <a:rPr kumimoji="1" lang="en-US" altLang="ja-JP" sz="2400" dirty="0" smtClean="0"/>
              <a:t>]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18456" cy="5314602"/>
          </a:xfrm>
        </p:spPr>
        <p:txBody>
          <a:bodyPr vert="eaVert">
            <a:normAutofit/>
          </a:bodyPr>
          <a:lstStyle/>
          <a:p>
            <a:r>
              <a:rPr kumimoji="1" lang="ja-JP" altLang="en-US" dirty="0" smtClean="0"/>
              <a:t>参考課題１解答例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1907704" y="404664"/>
            <a:ext cx="6264696" cy="62478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#include &lt;</a:t>
            </a:r>
            <a:r>
              <a:rPr lang="en-US" altLang="ja-JP" sz="2000" dirty="0" err="1" smtClean="0"/>
              <a:t>stdio.h</a:t>
            </a:r>
            <a:r>
              <a:rPr lang="en-US" altLang="ja-JP" sz="2000" dirty="0" smtClean="0"/>
              <a:t>&gt;</a:t>
            </a:r>
          </a:p>
          <a:p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main (void) {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a[10];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</a:t>
            </a:r>
            <a:r>
              <a:rPr lang="en-US" altLang="ja-JP" sz="2000" dirty="0" err="1" smtClean="0"/>
              <a:t>i,max,min,sum</a:t>
            </a:r>
            <a:r>
              <a:rPr lang="en-US" altLang="ja-JP" sz="2000" dirty="0" smtClean="0"/>
              <a:t>=0;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 ("</a:t>
            </a:r>
            <a:r>
              <a:rPr lang="ja-JP" altLang="en-US" sz="2000" dirty="0" smtClean="0"/>
              <a:t>点数を</a:t>
            </a:r>
            <a:r>
              <a:rPr lang="en-US" altLang="ja-JP" sz="2000" dirty="0" smtClean="0"/>
              <a:t>10</a:t>
            </a:r>
            <a:r>
              <a:rPr lang="ja-JP" altLang="en-US" sz="2000" dirty="0" smtClean="0"/>
              <a:t>人分入力してください</a:t>
            </a:r>
            <a:r>
              <a:rPr lang="en-US" altLang="ja-JP" sz="2000" dirty="0" smtClean="0"/>
              <a:t>: \n");</a:t>
            </a:r>
          </a:p>
          <a:p>
            <a:r>
              <a:rPr lang="en-US" altLang="ja-JP" sz="2000" dirty="0" smtClean="0"/>
              <a:t>  for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&lt;10;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=i+1) {</a:t>
            </a:r>
          </a:p>
          <a:p>
            <a:r>
              <a:rPr lang="en-US" altLang="ja-JP" sz="2000" dirty="0" smtClean="0"/>
              <a:t>  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("%d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", i+1);</a:t>
            </a:r>
          </a:p>
          <a:p>
            <a:r>
              <a:rPr lang="en-US" altLang="ja-JP" sz="2000" dirty="0" smtClean="0"/>
              <a:t>    </a:t>
            </a:r>
            <a:r>
              <a:rPr lang="en-US" altLang="ja-JP" sz="2000" dirty="0" err="1" smtClean="0"/>
              <a:t>scanf</a:t>
            </a:r>
            <a:r>
              <a:rPr lang="en-US" altLang="ja-JP" sz="2000" dirty="0" smtClean="0"/>
              <a:t> ("%d", &amp;a[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]);</a:t>
            </a:r>
          </a:p>
          <a:p>
            <a:r>
              <a:rPr lang="en-US" altLang="ja-JP" sz="2000" dirty="0" smtClean="0"/>
              <a:t>  }</a:t>
            </a:r>
          </a:p>
          <a:p>
            <a:r>
              <a:rPr lang="en-US" altLang="ja-JP" sz="2000" dirty="0" smtClean="0"/>
              <a:t>  max = min = a[0];</a:t>
            </a:r>
          </a:p>
          <a:p>
            <a:r>
              <a:rPr lang="en-US" altLang="ja-JP" sz="2000" dirty="0" smtClean="0"/>
              <a:t>  for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&lt;10;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=i+1) {</a:t>
            </a:r>
          </a:p>
          <a:p>
            <a:r>
              <a:rPr lang="en-US" altLang="ja-JP" sz="2000" dirty="0" smtClean="0"/>
              <a:t>    sum = sum + 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];</a:t>
            </a:r>
          </a:p>
          <a:p>
            <a:r>
              <a:rPr lang="en-US" altLang="ja-JP" sz="2000" dirty="0" smtClean="0"/>
              <a:t>    if (max &lt; 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]) max = 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];</a:t>
            </a:r>
          </a:p>
          <a:p>
            <a:r>
              <a:rPr lang="en-US" altLang="ja-JP" sz="2000" dirty="0" smtClean="0"/>
              <a:t>    if (min &gt; 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]) min = 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];</a:t>
            </a:r>
          </a:p>
          <a:p>
            <a:r>
              <a:rPr lang="en-US" altLang="ja-JP" sz="2000" dirty="0" smtClean="0"/>
              <a:t>  }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 ("</a:t>
            </a:r>
            <a:r>
              <a:rPr lang="ja-JP" altLang="en-US" sz="2000" dirty="0" smtClean="0"/>
              <a:t>最高点は</a:t>
            </a:r>
            <a:r>
              <a:rPr lang="en-US" altLang="ja-JP" sz="2000" dirty="0" smtClean="0"/>
              <a:t>%d</a:t>
            </a:r>
            <a:r>
              <a:rPr lang="ja-JP" altLang="en-US" sz="2000" dirty="0" smtClean="0"/>
              <a:t>点</a:t>
            </a:r>
            <a:r>
              <a:rPr lang="en-US" altLang="ja-JP" sz="2000" dirty="0" smtClean="0"/>
              <a:t>, ", max);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 ("</a:t>
            </a:r>
            <a:r>
              <a:rPr lang="ja-JP" altLang="en-US" sz="2000" dirty="0" smtClean="0"/>
              <a:t>最低点は</a:t>
            </a:r>
            <a:r>
              <a:rPr lang="en-US" altLang="ja-JP" sz="2000" dirty="0" smtClean="0"/>
              <a:t>%d</a:t>
            </a:r>
            <a:r>
              <a:rPr lang="ja-JP" altLang="en-US" sz="2000" dirty="0" smtClean="0"/>
              <a:t>点</a:t>
            </a:r>
            <a:r>
              <a:rPr lang="en-US" altLang="ja-JP" sz="2000" dirty="0" smtClean="0"/>
              <a:t>, ", min);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 ("</a:t>
            </a:r>
            <a:r>
              <a:rPr lang="ja-JP" altLang="en-US" sz="2000" dirty="0" smtClean="0"/>
              <a:t>平均点は</a:t>
            </a:r>
            <a:r>
              <a:rPr lang="en-US" altLang="ja-JP" sz="2000" dirty="0" smtClean="0"/>
              <a:t>%f</a:t>
            </a:r>
            <a:r>
              <a:rPr lang="ja-JP" altLang="en-US" sz="2000" dirty="0" smtClean="0"/>
              <a:t>点です。</a:t>
            </a:r>
            <a:r>
              <a:rPr lang="en-US" altLang="ja-JP" sz="2000" dirty="0" smtClean="0"/>
              <a:t>\n", (double)sum/10);</a:t>
            </a:r>
          </a:p>
          <a:p>
            <a:r>
              <a:rPr lang="en-US" altLang="ja-JP" sz="2000" dirty="0" smtClean="0"/>
              <a:t>  return 0;</a:t>
            </a:r>
          </a:p>
          <a:p>
            <a:r>
              <a:rPr lang="en-US" altLang="ja-JP" sz="2000" dirty="0" smtClean="0"/>
              <a:t>}</a:t>
            </a:r>
            <a:endParaRPr lang="en-US" altLang="ja-JP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参考</a:t>
            </a:r>
            <a:r>
              <a:rPr lang="ja-JP" altLang="en-US" dirty="0" smtClean="0"/>
              <a:t>課題</a:t>
            </a:r>
            <a:r>
              <a:rPr lang="ja-JP" altLang="en-US" dirty="0" smtClean="0"/>
              <a:t>２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11560" y="1196752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2</a:t>
            </a:r>
            <a:r>
              <a:rPr lang="ja-JP" altLang="en-US" sz="2400" dirty="0" smtClean="0"/>
              <a:t>次元配列を３つ使って、</a:t>
            </a:r>
            <a:r>
              <a:rPr lang="en-US" altLang="ja-JP" sz="2400" dirty="0" smtClean="0"/>
              <a:t>2*2</a:t>
            </a:r>
            <a:r>
              <a:rPr lang="ja-JP" altLang="en-US" sz="2400" dirty="0" smtClean="0"/>
              <a:t>の行列</a:t>
            </a:r>
            <a:r>
              <a:rPr lang="ja-JP" altLang="en-US" sz="2400" dirty="0" smtClean="0"/>
              <a:t>の和を</a:t>
            </a:r>
            <a:r>
              <a:rPr lang="ja-JP" altLang="en-US" sz="2400" dirty="0" smtClean="0"/>
              <a:t>計算して表示するプログラムを書け。行列の各要素の値は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型とし、キーボードから読み込むようにせよ。</a:t>
            </a:r>
            <a:endParaRPr lang="en-US" altLang="ja-JP" sz="2400" dirty="0" smtClean="0"/>
          </a:p>
        </p:txBody>
      </p:sp>
      <p:sp>
        <p:nvSpPr>
          <p:cNvPr id="7" name="正方形/長方形 6"/>
          <p:cNvSpPr/>
          <p:nvPr/>
        </p:nvSpPr>
        <p:spPr>
          <a:xfrm>
            <a:off x="827584" y="2420888"/>
            <a:ext cx="374441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[</a:t>
            </a:r>
            <a:r>
              <a:rPr lang="ja-JP" altLang="en-US" sz="2400" dirty="0" smtClean="0"/>
              <a:t>実行例</a:t>
            </a:r>
            <a:r>
              <a:rPr lang="en-US" altLang="ja-JP" sz="2400" dirty="0" smtClean="0"/>
              <a:t>]</a:t>
            </a:r>
          </a:p>
          <a:p>
            <a:r>
              <a:rPr lang="ja-JP" altLang="en-US" sz="2400" dirty="0" smtClean="0"/>
              <a:t>行列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を入力してください</a:t>
            </a:r>
            <a:r>
              <a:rPr lang="en-US" altLang="ja-JP" sz="2400" dirty="0" smtClean="0"/>
              <a:t>:</a:t>
            </a:r>
          </a:p>
          <a:p>
            <a:r>
              <a:rPr lang="en-US" altLang="ja-JP" sz="2400" dirty="0" smtClean="0"/>
              <a:t>a[0][0]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400" dirty="0" smtClean="0"/>
              <a:t>a[0][1]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2</a:t>
            </a:r>
          </a:p>
          <a:p>
            <a:r>
              <a:rPr lang="en-US" altLang="ja-JP" sz="2400" dirty="0" smtClean="0"/>
              <a:t>a[1][0]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3</a:t>
            </a:r>
          </a:p>
          <a:p>
            <a:r>
              <a:rPr lang="en-US" altLang="ja-JP" sz="2400" dirty="0" smtClean="0"/>
              <a:t>a[1][1]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4</a:t>
            </a:r>
          </a:p>
          <a:p>
            <a:r>
              <a:rPr lang="ja-JP" altLang="en-US" sz="2400" dirty="0" smtClean="0"/>
              <a:t>行列</a:t>
            </a:r>
            <a:r>
              <a:rPr lang="en-US" altLang="ja-JP" sz="2400" dirty="0" smtClean="0"/>
              <a:t>b</a:t>
            </a:r>
            <a:r>
              <a:rPr lang="ja-JP" altLang="en-US" sz="2400" dirty="0" smtClean="0"/>
              <a:t>を入力してください</a:t>
            </a:r>
            <a:r>
              <a:rPr lang="en-US" altLang="ja-JP" sz="2400" dirty="0" smtClean="0"/>
              <a:t>:</a:t>
            </a:r>
          </a:p>
          <a:p>
            <a:r>
              <a:rPr lang="en-US" altLang="ja-JP" sz="2400" dirty="0" smtClean="0"/>
              <a:t>b[0][0]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400" dirty="0" smtClean="0"/>
              <a:t>b[0][1]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400" dirty="0" smtClean="0"/>
              <a:t>b[1][0]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400" dirty="0" smtClean="0"/>
              <a:t>b[1][1]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  <a:endParaRPr lang="en-US" altLang="ja-JP" sz="2400" dirty="0" smtClean="0">
              <a:solidFill>
                <a:srgbClr val="FF0000"/>
              </a:solidFill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4932040" y="2780928"/>
            <a:ext cx="27363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行列</a:t>
            </a:r>
            <a:r>
              <a:rPr lang="en-US" altLang="ja-JP" sz="2400" dirty="0" err="1" smtClean="0"/>
              <a:t>a,b</a:t>
            </a:r>
            <a:r>
              <a:rPr lang="ja-JP" altLang="en-US" sz="2400" dirty="0" smtClean="0"/>
              <a:t>の和は</a:t>
            </a:r>
          </a:p>
          <a:p>
            <a:r>
              <a:rPr lang="en-US" altLang="ja-JP" sz="2400" dirty="0" smtClean="0"/>
              <a:t>s[0][0] = 2</a:t>
            </a:r>
          </a:p>
          <a:p>
            <a:r>
              <a:rPr lang="en-US" altLang="ja-JP" sz="2400" dirty="0" smtClean="0"/>
              <a:t>s[0][1] = 3</a:t>
            </a:r>
          </a:p>
          <a:p>
            <a:r>
              <a:rPr lang="en-US" altLang="ja-JP" sz="2400" dirty="0" smtClean="0"/>
              <a:t>s[1][0] = 4</a:t>
            </a:r>
          </a:p>
          <a:p>
            <a:r>
              <a:rPr lang="en-US" altLang="ja-JP" sz="2400" dirty="0" smtClean="0"/>
              <a:t>s[1][1] = 5</a:t>
            </a:r>
          </a:p>
          <a:p>
            <a:r>
              <a:rPr lang="ja-JP" altLang="en-US" sz="2400" dirty="0" smtClean="0"/>
              <a:t>です。</a:t>
            </a:r>
            <a:endParaRPr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参考課題</a:t>
            </a:r>
            <a:r>
              <a:rPr lang="ja-JP" altLang="en-US" dirty="0" smtClean="0"/>
              <a:t>２　解答例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79512" y="1772816"/>
            <a:ext cx="4248472" cy="46782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#include &lt;</a:t>
            </a:r>
            <a:r>
              <a:rPr lang="en-US" altLang="ja-JP" sz="2000" dirty="0" err="1" smtClean="0"/>
              <a:t>stdio.h</a:t>
            </a:r>
            <a:r>
              <a:rPr lang="en-US" altLang="ja-JP" sz="2000" dirty="0" smtClean="0"/>
              <a:t>&gt;</a:t>
            </a:r>
          </a:p>
          <a:p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main (void){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a[2][2], b[2][2], s[2][2],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, j;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</a:t>
            </a:r>
            <a:r>
              <a:rPr lang="ja-JP" altLang="en-US" sz="2000" dirty="0" smtClean="0"/>
              <a:t>行列</a:t>
            </a:r>
            <a:r>
              <a:rPr lang="en-US" altLang="ja-JP" sz="2000" dirty="0" smtClean="0"/>
              <a:t>a</a:t>
            </a:r>
            <a:r>
              <a:rPr lang="ja-JP" altLang="en-US" sz="2000" dirty="0" smtClean="0"/>
              <a:t>を入力してください</a:t>
            </a:r>
            <a:r>
              <a:rPr lang="en-US" altLang="ja-JP" sz="2000" dirty="0" smtClean="0"/>
              <a:t>:\n");</a:t>
            </a:r>
          </a:p>
          <a:p>
            <a:r>
              <a:rPr lang="en-US" altLang="ja-JP" sz="2000" dirty="0" smtClean="0"/>
              <a:t>  for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&lt;2;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=i+1)</a:t>
            </a:r>
          </a:p>
          <a:p>
            <a:r>
              <a:rPr lang="en-US" altLang="ja-JP" sz="2000" dirty="0" smtClean="0"/>
              <a:t>    for (j=0; j&lt;2; j=j+1) {</a:t>
            </a:r>
          </a:p>
          <a:p>
            <a:r>
              <a:rPr lang="en-US" altLang="ja-JP" sz="2000" dirty="0" smtClean="0"/>
              <a:t>    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("a[%d][%d] = ",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, j);</a:t>
            </a:r>
          </a:p>
          <a:p>
            <a:r>
              <a:rPr lang="en-US" altLang="ja-JP" sz="2000" dirty="0" smtClean="0"/>
              <a:t>      </a:t>
            </a:r>
            <a:r>
              <a:rPr lang="en-US" altLang="ja-JP" sz="2000" dirty="0" err="1" smtClean="0"/>
              <a:t>scanf</a:t>
            </a:r>
            <a:r>
              <a:rPr lang="en-US" altLang="ja-JP" sz="2000" dirty="0" smtClean="0"/>
              <a:t>("%d", &amp;a[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][j]);</a:t>
            </a:r>
          </a:p>
          <a:p>
            <a:r>
              <a:rPr lang="en-US" altLang="ja-JP" sz="2000" dirty="0" smtClean="0"/>
              <a:t>    }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</a:t>
            </a:r>
            <a:r>
              <a:rPr lang="ja-JP" altLang="en-US" sz="2000" dirty="0" smtClean="0"/>
              <a:t>行列</a:t>
            </a:r>
            <a:r>
              <a:rPr lang="en-US" altLang="ja-JP" sz="2000" dirty="0" smtClean="0"/>
              <a:t>b</a:t>
            </a:r>
            <a:r>
              <a:rPr lang="ja-JP" altLang="en-US" sz="2000" dirty="0" smtClean="0"/>
              <a:t>を入力してください</a:t>
            </a:r>
            <a:r>
              <a:rPr lang="en-US" altLang="ja-JP" sz="2000" dirty="0" smtClean="0"/>
              <a:t>:\n");</a:t>
            </a:r>
          </a:p>
          <a:p>
            <a:r>
              <a:rPr lang="en-US" altLang="ja-JP" sz="2000" dirty="0" smtClean="0"/>
              <a:t>  for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&lt;2;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=i+1)</a:t>
            </a:r>
          </a:p>
          <a:p>
            <a:r>
              <a:rPr lang="en-US" altLang="ja-JP" sz="2000" dirty="0" smtClean="0"/>
              <a:t>    for (j=0; j&lt;2; j=j+1) {</a:t>
            </a:r>
          </a:p>
          <a:p>
            <a:r>
              <a:rPr lang="en-US" altLang="ja-JP" sz="2000" dirty="0" smtClean="0"/>
              <a:t>    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("b[%d][%d] = ",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, j);</a:t>
            </a:r>
          </a:p>
          <a:p>
            <a:r>
              <a:rPr lang="en-US" altLang="ja-JP" sz="2000" dirty="0" smtClean="0"/>
              <a:t>      </a:t>
            </a:r>
            <a:r>
              <a:rPr lang="en-US" altLang="ja-JP" sz="2000" dirty="0" err="1" smtClean="0"/>
              <a:t>scanf</a:t>
            </a:r>
            <a:r>
              <a:rPr lang="en-US" altLang="ja-JP" sz="2000" dirty="0" smtClean="0"/>
              <a:t>("%d", &amp;b[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][j]);</a:t>
            </a:r>
          </a:p>
          <a:p>
            <a:r>
              <a:rPr lang="en-US" altLang="ja-JP" sz="2000" dirty="0" smtClean="0"/>
              <a:t>    }</a:t>
            </a:r>
            <a:endParaRPr lang="en-US" altLang="ja-JP" sz="2000" dirty="0"/>
          </a:p>
        </p:txBody>
      </p:sp>
      <p:sp>
        <p:nvSpPr>
          <p:cNvPr id="5" name="正方形/長方形 4"/>
          <p:cNvSpPr/>
          <p:nvPr/>
        </p:nvSpPr>
        <p:spPr>
          <a:xfrm>
            <a:off x="4572000" y="1772816"/>
            <a:ext cx="4464496" cy="34778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/* </a:t>
            </a:r>
            <a:r>
              <a:rPr lang="ja-JP" altLang="en-US" sz="2000" dirty="0" smtClean="0"/>
              <a:t>続き </a:t>
            </a:r>
            <a:r>
              <a:rPr lang="en-US" altLang="ja-JP" sz="2000" dirty="0" smtClean="0"/>
              <a:t>*/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smtClean="0"/>
              <a:t>for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&lt;2;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=i+1)</a:t>
            </a:r>
          </a:p>
          <a:p>
            <a:r>
              <a:rPr lang="en-US" altLang="ja-JP" sz="2000" dirty="0" smtClean="0"/>
              <a:t>    for (j=0; j&lt;2; j=j+1)</a:t>
            </a:r>
          </a:p>
          <a:p>
            <a:r>
              <a:rPr lang="en-US" altLang="ja-JP" sz="2000" dirty="0" smtClean="0"/>
              <a:t>      s[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][j] = 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][j] + b[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][j];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</a:t>
            </a:r>
            <a:r>
              <a:rPr lang="ja-JP" altLang="en-US" sz="2000" dirty="0" smtClean="0"/>
              <a:t>行列</a:t>
            </a:r>
            <a:r>
              <a:rPr lang="en-US" altLang="ja-JP" sz="2000" dirty="0" err="1" smtClean="0"/>
              <a:t>a,b</a:t>
            </a:r>
            <a:r>
              <a:rPr lang="ja-JP" altLang="en-US" sz="2000" dirty="0" smtClean="0"/>
              <a:t>の和は</a:t>
            </a:r>
            <a:r>
              <a:rPr lang="en-US" altLang="ja-JP" sz="2000" dirty="0" smtClean="0"/>
              <a:t>\n");</a:t>
            </a:r>
          </a:p>
          <a:p>
            <a:r>
              <a:rPr lang="en-US" altLang="ja-JP" sz="2000" dirty="0" smtClean="0"/>
              <a:t>  for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&lt;2;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=i+1)</a:t>
            </a:r>
          </a:p>
          <a:p>
            <a:r>
              <a:rPr lang="en-US" altLang="ja-JP" sz="2000" dirty="0" smtClean="0"/>
              <a:t>    for (j=0; j&lt;2; j=j+1)</a:t>
            </a:r>
          </a:p>
          <a:p>
            <a:r>
              <a:rPr lang="en-US" altLang="ja-JP" sz="2000" dirty="0" smtClean="0"/>
              <a:t>    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("s[%d][%d] = %d\n",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, j, s[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][j]);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</a:t>
            </a:r>
            <a:r>
              <a:rPr lang="ja-JP" altLang="en-US" sz="2000" dirty="0" smtClean="0"/>
              <a:t>です。</a:t>
            </a:r>
            <a:r>
              <a:rPr lang="en-US" altLang="ja-JP" sz="2000" dirty="0" smtClean="0"/>
              <a:t>\n");</a:t>
            </a:r>
          </a:p>
          <a:p>
            <a:r>
              <a:rPr lang="en-US" altLang="ja-JP" sz="2000" dirty="0" smtClean="0"/>
              <a:t>  return 0;</a:t>
            </a:r>
          </a:p>
          <a:p>
            <a:r>
              <a:rPr lang="en-US" altLang="ja-JP" sz="2000" dirty="0" smtClean="0"/>
              <a:t>}</a:t>
            </a:r>
            <a:endParaRPr lang="ja-JP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4305</Words>
  <Application>Microsoft Office PowerPoint</Application>
  <PresentationFormat>画面に合わせる (4:3)</PresentationFormat>
  <Paragraphs>532</Paragraphs>
  <Slides>41</Slides>
  <Notes>2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41</vt:i4>
      </vt:variant>
    </vt:vector>
  </HeadingPairs>
  <TitlesOfParts>
    <vt:vector size="42" baseType="lpstr">
      <vt:lpstr>Office テーマ</vt:lpstr>
      <vt:lpstr>プログラミング入門２ 第５回  配列 for文 変数宣言 初期化</vt:lpstr>
      <vt:lpstr>今日の内容</vt:lpstr>
      <vt:lpstr>配列の必要性</vt:lpstr>
      <vt:lpstr>配列の必要性</vt:lpstr>
      <vt:lpstr>プログラム例１（打ち込んで確認）</vt:lpstr>
      <vt:lpstr>配列の宣言</vt:lpstr>
      <vt:lpstr>配列の各要素へのアクセス</vt:lpstr>
      <vt:lpstr>変数宣言の記法について（１）</vt:lpstr>
      <vt:lpstr>変数宣言の記法について（２）</vt:lpstr>
      <vt:lpstr>変数宣言と初期化</vt:lpstr>
      <vt:lpstr>配列の初期化（１）</vt:lpstr>
      <vt:lpstr>配列の要素数について</vt:lpstr>
      <vt:lpstr>プログラム例２（打ち込んで確認）</vt:lpstr>
      <vt:lpstr>プログラム例３（打ち込んで確認）</vt:lpstr>
      <vt:lpstr>プログラム例４（打ち込んで確認）</vt:lpstr>
      <vt:lpstr>配列の初期化（2）</vt:lpstr>
      <vt:lpstr>プログラム例５（打ち込んで確認）</vt:lpstr>
      <vt:lpstr>配列の初期化（3）</vt:lpstr>
      <vt:lpstr>for文</vt:lpstr>
      <vt:lpstr>for文の例（打ち込んで確認）</vt:lpstr>
      <vt:lpstr>for文の構文（基本形）</vt:lpstr>
      <vt:lpstr>例（打ち込んで確認）</vt:lpstr>
      <vt:lpstr>while文を使った場合</vt:lpstr>
      <vt:lpstr>for文の構文</vt:lpstr>
      <vt:lpstr>例（打ち込んで確認）</vt:lpstr>
      <vt:lpstr>配列のコピー</vt:lpstr>
      <vt:lpstr>配列のコピー（打ち込んで確認）</vt:lpstr>
      <vt:lpstr>多次元配列</vt:lpstr>
      <vt:lpstr>多次元配列のメモリ上での配置</vt:lpstr>
      <vt:lpstr>多次元配列の例（打ち込んで確認）</vt:lpstr>
      <vt:lpstr>多次元配列の初期化</vt:lpstr>
      <vt:lpstr>プログラム例（打ち込んで確認）</vt:lpstr>
      <vt:lpstr>基本課題１</vt:lpstr>
      <vt:lpstr>基本課題２</vt:lpstr>
      <vt:lpstr>発展課題１</vt:lpstr>
      <vt:lpstr>発展課題２</vt:lpstr>
      <vt:lpstr>発展課題３</vt:lpstr>
      <vt:lpstr>参考課題１</vt:lpstr>
      <vt:lpstr>参考課題１解答例</vt:lpstr>
      <vt:lpstr>参考課題２</vt:lpstr>
      <vt:lpstr>参考課題２　解答例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プログラミング入門２ 第５回 </dc:title>
  <dc:creator>sasano</dc:creator>
  <cp:lastModifiedBy>sasano</cp:lastModifiedBy>
  <cp:revision>486</cp:revision>
  <dcterms:created xsi:type="dcterms:W3CDTF">2009-10-13T03:27:50Z</dcterms:created>
  <dcterms:modified xsi:type="dcterms:W3CDTF">2011-10-23T07:41:21Z</dcterms:modified>
</cp:coreProperties>
</file>