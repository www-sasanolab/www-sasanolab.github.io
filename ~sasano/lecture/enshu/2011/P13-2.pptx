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4" r:id="rId4"/>
    <p:sldId id="265" r:id="rId5"/>
    <p:sldId id="266" r:id="rId6"/>
    <p:sldId id="267" r:id="rId7"/>
    <p:sldId id="268" r:id="rId8"/>
    <p:sldId id="269" r:id="rId9"/>
    <p:sldId id="270" r:id="rId10"/>
    <p:sldId id="271" r:id="rId11"/>
    <p:sldId id="263" r:id="rId1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402"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2012/1/9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ja-JP" altLang="en-US" dirty="0" smtClean="0"/>
              <a:t>プログラミング入門２</a:t>
            </a:r>
            <a:r>
              <a:rPr lang="en-US" altLang="ja-JP" dirty="0" smtClean="0"/>
              <a:t/>
            </a:r>
            <a:br>
              <a:rPr lang="en-US" altLang="ja-JP" dirty="0" smtClean="0"/>
            </a:br>
            <a:r>
              <a:rPr lang="ja-JP" altLang="en-US" dirty="0" smtClean="0"/>
              <a:t>中間試験の結果について</a:t>
            </a:r>
            <a:endParaRPr kumimoji="1" lang="ja-JP" altLang="en-US" dirty="0"/>
          </a:p>
        </p:txBody>
      </p:sp>
      <p:sp>
        <p:nvSpPr>
          <p:cNvPr id="4" name="テキスト ボックス 3"/>
          <p:cNvSpPr txBox="1"/>
          <p:nvPr/>
        </p:nvSpPr>
        <p:spPr>
          <a:xfrm>
            <a:off x="2357422" y="4714884"/>
            <a:ext cx="4012637"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4" name="テキスト ボックス 3"/>
          <p:cNvSpPr txBox="1"/>
          <p:nvPr/>
        </p:nvSpPr>
        <p:spPr>
          <a:xfrm>
            <a:off x="755576" y="1412776"/>
            <a:ext cx="6792244" cy="4832092"/>
          </a:xfrm>
          <a:prstGeom prst="rect">
            <a:avLst/>
          </a:prstGeom>
          <a:noFill/>
        </p:spPr>
        <p:txBody>
          <a:bodyPr wrap="none" rtlCol="0">
            <a:spAutoFit/>
          </a:bodyPr>
          <a:lstStyle/>
          <a:p>
            <a:r>
              <a:rPr kumimoji="1" lang="en-US" altLang="ja-JP" sz="2800" dirty="0" smtClean="0"/>
              <a:t>36</a:t>
            </a:r>
            <a:r>
              <a:rPr kumimoji="1" lang="ja-JP" altLang="en-US" sz="2800" dirty="0" smtClean="0"/>
              <a:t>点満点です。</a:t>
            </a:r>
            <a:endParaRPr kumimoji="1" lang="en-US" altLang="ja-JP" sz="2800" dirty="0" smtClean="0"/>
          </a:p>
          <a:p>
            <a:r>
              <a:rPr lang="ja-JP" altLang="en-US" sz="2800" dirty="0" smtClean="0"/>
              <a:t>受験者</a:t>
            </a:r>
            <a:r>
              <a:rPr lang="en-US" altLang="ja-JP" sz="2800" dirty="0" smtClean="0"/>
              <a:t>123</a:t>
            </a:r>
            <a:r>
              <a:rPr lang="ja-JP" altLang="en-US" sz="2800" dirty="0" smtClean="0"/>
              <a:t>名</a:t>
            </a:r>
            <a:endParaRPr lang="en-US" altLang="ja-JP" sz="2800" dirty="0" smtClean="0"/>
          </a:p>
          <a:p>
            <a:r>
              <a:rPr kumimoji="1" lang="ja-JP" altLang="en-US" sz="2800" dirty="0" smtClean="0"/>
              <a:t>得点分布</a:t>
            </a:r>
            <a:endParaRPr kumimoji="1" lang="en-US" altLang="ja-JP" sz="2800" dirty="0" smtClean="0"/>
          </a:p>
          <a:p>
            <a:r>
              <a:rPr lang="en-US" altLang="ja-JP" sz="2800" dirty="0" smtClean="0"/>
              <a:t>0-10:   0</a:t>
            </a:r>
            <a:r>
              <a:rPr lang="ja-JP" altLang="en-US" sz="2800" dirty="0" smtClean="0"/>
              <a:t>人</a:t>
            </a:r>
            <a:endParaRPr lang="en-US" altLang="ja-JP" sz="2800" dirty="0" smtClean="0"/>
          </a:p>
          <a:p>
            <a:r>
              <a:rPr lang="en-US" altLang="ja-JP" sz="2800" dirty="0" smtClean="0"/>
              <a:t>11-20: 5</a:t>
            </a:r>
            <a:r>
              <a:rPr lang="ja-JP" altLang="en-US" sz="2800" dirty="0" smtClean="0"/>
              <a:t>人</a:t>
            </a:r>
            <a:endParaRPr lang="en-US" altLang="ja-JP" sz="2800" dirty="0" smtClean="0"/>
          </a:p>
          <a:p>
            <a:r>
              <a:rPr kumimoji="1" lang="en-US" altLang="ja-JP" sz="2800" dirty="0" smtClean="0"/>
              <a:t>21-22: 4</a:t>
            </a:r>
            <a:r>
              <a:rPr kumimoji="1" lang="ja-JP" altLang="en-US" sz="2800" dirty="0" smtClean="0"/>
              <a:t>人</a:t>
            </a:r>
            <a:endParaRPr kumimoji="1" lang="en-US" altLang="ja-JP" sz="2800" dirty="0" smtClean="0"/>
          </a:p>
          <a:p>
            <a:r>
              <a:rPr lang="en-US" altLang="ja-JP" sz="2800" dirty="0" smtClean="0"/>
              <a:t>23-30: 32</a:t>
            </a:r>
            <a:r>
              <a:rPr lang="ja-JP" altLang="en-US" sz="2800" dirty="0" smtClean="0"/>
              <a:t>人</a:t>
            </a:r>
            <a:endParaRPr lang="en-US" altLang="ja-JP" sz="2800" dirty="0" smtClean="0"/>
          </a:p>
          <a:p>
            <a:r>
              <a:rPr lang="en-US" altLang="ja-JP" sz="2800" dirty="0" smtClean="0"/>
              <a:t>31-36: 82</a:t>
            </a:r>
            <a:r>
              <a:rPr lang="ja-JP" altLang="en-US" sz="2800" dirty="0" smtClean="0"/>
              <a:t>人</a:t>
            </a:r>
            <a:endParaRPr lang="en-US" altLang="ja-JP" sz="2800" dirty="0" smtClean="0"/>
          </a:p>
          <a:p>
            <a:endParaRPr lang="en-US" altLang="ja-JP" sz="2800" dirty="0" smtClean="0"/>
          </a:p>
          <a:p>
            <a:r>
              <a:rPr kumimoji="1" lang="en-US" altLang="ja-JP" sz="2800" dirty="0" smtClean="0"/>
              <a:t>22</a:t>
            </a:r>
            <a:r>
              <a:rPr kumimoji="1" lang="ja-JP" altLang="en-US" sz="2800" dirty="0" smtClean="0"/>
              <a:t>点以下の人は要注意です。期末の準備を</a:t>
            </a:r>
            <a:endParaRPr kumimoji="1" lang="en-US" altLang="ja-JP" sz="2800" dirty="0" smtClean="0"/>
          </a:p>
          <a:p>
            <a:r>
              <a:rPr lang="ja-JP" altLang="en-US" sz="2800" dirty="0" smtClean="0"/>
              <a:t>十分にしてください。</a:t>
            </a:r>
            <a:endParaRPr kumimoji="1"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注意事項１</a:t>
            </a:r>
            <a:endParaRPr kumimoji="1" lang="ja-JP" altLang="en-US" dirty="0"/>
          </a:p>
        </p:txBody>
      </p:sp>
      <p:sp>
        <p:nvSpPr>
          <p:cNvPr id="4" name="正方形/長方形 3"/>
          <p:cNvSpPr/>
          <p:nvPr/>
        </p:nvSpPr>
        <p:spPr>
          <a:xfrm>
            <a:off x="971600" y="1340768"/>
            <a:ext cx="7358114" cy="5262979"/>
          </a:xfrm>
          <a:prstGeom prst="rect">
            <a:avLst/>
          </a:prstGeom>
        </p:spPr>
        <p:txBody>
          <a:bodyPr wrap="square">
            <a:spAutoFit/>
          </a:bodyPr>
          <a:lstStyle/>
          <a:p>
            <a:r>
              <a:rPr lang="en-US" altLang="ja-JP" sz="2800" dirty="0" err="1" smtClean="0"/>
              <a:t>scanf</a:t>
            </a:r>
            <a:r>
              <a:rPr lang="ja-JP" altLang="en-US" sz="2800" dirty="0" smtClean="0"/>
              <a:t>関数の使い方ですが、</a:t>
            </a:r>
            <a:endParaRPr lang="en-US" altLang="ja-JP" sz="2800" dirty="0" smtClean="0"/>
          </a:p>
          <a:p>
            <a:pPr>
              <a:buNone/>
            </a:pPr>
            <a:r>
              <a:rPr lang="ja-JP" altLang="en-US" sz="2800" dirty="0" smtClean="0"/>
              <a:t>    </a:t>
            </a:r>
            <a:r>
              <a:rPr lang="en-US" altLang="ja-JP" sz="2800" dirty="0" err="1" smtClean="0"/>
              <a:t>scanf</a:t>
            </a:r>
            <a:r>
              <a:rPr lang="en-US" altLang="ja-JP" sz="2800" dirty="0" smtClean="0"/>
              <a:t> (“%d\n”, &amp;x);</a:t>
            </a:r>
          </a:p>
          <a:p>
            <a:pPr>
              <a:buNone/>
            </a:pPr>
            <a:r>
              <a:rPr lang="ja-JP" altLang="en-US" sz="2800" dirty="0" err="1" smtClean="0"/>
              <a:t>のように</a:t>
            </a:r>
            <a:r>
              <a:rPr lang="ja-JP" altLang="en-US" sz="2800" dirty="0" smtClean="0"/>
              <a:t>改行コードを入れないようにしてください。</a:t>
            </a:r>
            <a:r>
              <a:rPr lang="en-US" altLang="ja-JP" sz="2800" dirty="0" smtClean="0"/>
              <a:t> </a:t>
            </a:r>
          </a:p>
          <a:p>
            <a:pPr>
              <a:buNone/>
            </a:pPr>
            <a:r>
              <a:rPr lang="en-US" altLang="ja-JP" sz="2800" dirty="0" smtClean="0"/>
              <a:t>    </a:t>
            </a:r>
            <a:r>
              <a:rPr lang="en-US" altLang="ja-JP" sz="2800" dirty="0" err="1" smtClean="0"/>
              <a:t>scanf</a:t>
            </a:r>
            <a:r>
              <a:rPr lang="en-US" altLang="ja-JP" sz="2800" dirty="0" smtClean="0"/>
              <a:t> (“%d”, &amp;x);</a:t>
            </a:r>
          </a:p>
          <a:p>
            <a:pPr>
              <a:buNone/>
            </a:pPr>
            <a:r>
              <a:rPr lang="ja-JP" altLang="en-US" sz="2800" dirty="0" err="1" smtClean="0"/>
              <a:t>のように</a:t>
            </a:r>
            <a:r>
              <a:rPr lang="ja-JP" altLang="en-US" sz="2800" dirty="0" smtClean="0"/>
              <a:t>記述してください。</a:t>
            </a:r>
            <a:endParaRPr lang="en-US" altLang="ja-JP" sz="2800" dirty="0" smtClean="0"/>
          </a:p>
          <a:p>
            <a:pPr>
              <a:buNone/>
            </a:pPr>
            <a:endParaRPr lang="en-US" altLang="ja-JP" sz="2800" dirty="0" smtClean="0"/>
          </a:p>
          <a:p>
            <a:pPr>
              <a:buNone/>
            </a:pPr>
            <a:r>
              <a:rPr lang="ja-JP" altLang="en-US" sz="2800" dirty="0" smtClean="0"/>
              <a:t>上の書き方だと、整数を入力して改行しても</a:t>
            </a:r>
            <a:r>
              <a:rPr lang="en-US" altLang="ja-JP" sz="2800" dirty="0" err="1" smtClean="0"/>
              <a:t>scanf</a:t>
            </a:r>
            <a:r>
              <a:rPr lang="ja-JP" altLang="en-US" sz="2800" dirty="0" smtClean="0"/>
              <a:t>関数が終わりません。</a:t>
            </a:r>
            <a:endParaRPr lang="en-US" altLang="ja-JP" sz="2800" dirty="0" smtClean="0"/>
          </a:p>
          <a:p>
            <a:pPr>
              <a:buNone/>
            </a:pPr>
            <a:endParaRPr lang="en-US" altLang="ja-JP" sz="2800" dirty="0" smtClean="0"/>
          </a:p>
          <a:p>
            <a:pPr>
              <a:buNone/>
            </a:pPr>
            <a:r>
              <a:rPr lang="ja-JP" altLang="en-US" sz="2800" dirty="0" smtClean="0"/>
              <a:t>（ただし、</a:t>
            </a:r>
            <a:r>
              <a:rPr lang="en-US" altLang="ja-JP" sz="2800" dirty="0" err="1" smtClean="0"/>
              <a:t>scanf</a:t>
            </a:r>
            <a:r>
              <a:rPr lang="ja-JP" altLang="en-US" sz="2800" dirty="0" smtClean="0"/>
              <a:t>関数の使い方は詳しくは説明していないので、上記の間違いは減点対象とはしません。）</a:t>
            </a:r>
            <a:endParaRPr lang="en-US" altLang="ja-JP"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注意事項２</a:t>
            </a:r>
            <a:endParaRPr kumimoji="1" lang="ja-JP" altLang="en-US" dirty="0"/>
          </a:p>
        </p:txBody>
      </p:sp>
      <p:sp>
        <p:nvSpPr>
          <p:cNvPr id="4" name="正方形/長方形 3"/>
          <p:cNvSpPr/>
          <p:nvPr/>
        </p:nvSpPr>
        <p:spPr>
          <a:xfrm>
            <a:off x="814286" y="1424965"/>
            <a:ext cx="7358114" cy="5262979"/>
          </a:xfrm>
          <a:prstGeom prst="rect">
            <a:avLst/>
          </a:prstGeom>
        </p:spPr>
        <p:txBody>
          <a:bodyPr wrap="square">
            <a:spAutoFit/>
          </a:bodyPr>
          <a:lstStyle/>
          <a:p>
            <a:r>
              <a:rPr lang="en-US" altLang="ja-JP" sz="2400" dirty="0" smtClean="0"/>
              <a:t> x=x++;</a:t>
            </a:r>
          </a:p>
          <a:p>
            <a:r>
              <a:rPr lang="ja-JP" altLang="en-US" sz="2400" dirty="0" err="1" smtClean="0"/>
              <a:t>のような</a:t>
            </a:r>
            <a:r>
              <a:rPr lang="ja-JP" altLang="en-US" sz="2400" dirty="0" smtClean="0"/>
              <a:t>文を書く人がいましたが、この文は意味が一意に定まりません。この文の実行後、</a:t>
            </a:r>
            <a:r>
              <a:rPr lang="en-US" altLang="ja-JP" sz="2400" dirty="0" smtClean="0"/>
              <a:t>x</a:t>
            </a:r>
            <a:r>
              <a:rPr lang="ja-JP" altLang="en-US" sz="2400" dirty="0" smtClean="0"/>
              <a:t>の値が、</a:t>
            </a:r>
            <a:r>
              <a:rPr lang="en-US" altLang="ja-JP" sz="2400" dirty="0" smtClean="0"/>
              <a:t>1</a:t>
            </a:r>
            <a:r>
              <a:rPr lang="ja-JP" altLang="en-US" sz="2400" dirty="0" smtClean="0"/>
              <a:t>を足された後の値になるか、</a:t>
            </a:r>
            <a:r>
              <a:rPr lang="en-US" altLang="ja-JP" sz="2400" dirty="0" smtClean="0"/>
              <a:t>1</a:t>
            </a:r>
            <a:r>
              <a:rPr lang="ja-JP" altLang="en-US" sz="2400" dirty="0" smtClean="0"/>
              <a:t>を足される前の値になるかは、処理系に依存します。</a:t>
            </a:r>
            <a:endParaRPr lang="en-US" altLang="ja-JP" sz="2400" dirty="0" smtClean="0"/>
          </a:p>
          <a:p>
            <a:endParaRPr lang="en-US" altLang="ja-JP" sz="2400" dirty="0" smtClean="0"/>
          </a:p>
          <a:p>
            <a:r>
              <a:rPr lang="ja-JP" altLang="en-US" sz="2400" dirty="0" smtClean="0"/>
              <a:t>（より詳しい説明）</a:t>
            </a:r>
            <a:endParaRPr lang="en-US" altLang="ja-JP" sz="2400" dirty="0" smtClean="0"/>
          </a:p>
          <a:p>
            <a:r>
              <a:rPr lang="ja-JP" altLang="en-US" sz="2400" dirty="0" smtClean="0"/>
              <a:t> </a:t>
            </a:r>
            <a:r>
              <a:rPr lang="en-US" altLang="ja-JP" sz="2400" dirty="0" smtClean="0"/>
              <a:t>x=x++; </a:t>
            </a:r>
            <a:r>
              <a:rPr lang="ja-JP" altLang="en-US" sz="2400" dirty="0" smtClean="0"/>
              <a:t>の実行によって代入されるのはこの文の実行前の</a:t>
            </a:r>
            <a:r>
              <a:rPr lang="en-US" altLang="ja-JP" sz="2400" dirty="0" smtClean="0"/>
              <a:t>x</a:t>
            </a:r>
            <a:r>
              <a:rPr lang="ja-JP" altLang="en-US" sz="2400" dirty="0" smtClean="0"/>
              <a:t>の値ですが、</a:t>
            </a:r>
            <a:r>
              <a:rPr lang="en-US" altLang="ja-JP" sz="2400" dirty="0" smtClean="0"/>
              <a:t>++</a:t>
            </a:r>
            <a:r>
              <a:rPr lang="ja-JP" altLang="en-US" sz="2400" dirty="0" smtClean="0"/>
              <a:t>によって</a:t>
            </a:r>
            <a:r>
              <a:rPr lang="en-US" altLang="ja-JP" sz="2400" dirty="0" smtClean="0"/>
              <a:t>x</a:t>
            </a:r>
            <a:r>
              <a:rPr lang="ja-JP" altLang="en-US" sz="2400" dirty="0" smtClean="0"/>
              <a:t>に</a:t>
            </a:r>
            <a:r>
              <a:rPr lang="en-US" altLang="ja-JP" sz="2400" dirty="0" smtClean="0"/>
              <a:t>1</a:t>
            </a:r>
            <a:r>
              <a:rPr lang="ja-JP" altLang="en-US" sz="2400" dirty="0" smtClean="0"/>
              <a:t>が足されるタイミングは</a:t>
            </a:r>
            <a:r>
              <a:rPr lang="en-US" altLang="ja-JP" sz="2400" dirty="0" smtClean="0"/>
              <a:t>C99</a:t>
            </a:r>
            <a:r>
              <a:rPr lang="ja-JP" altLang="en-US" sz="2400" dirty="0" smtClean="0"/>
              <a:t>（あるいは</a:t>
            </a:r>
            <a:r>
              <a:rPr lang="en-US" altLang="ja-JP" sz="2400" dirty="0" smtClean="0"/>
              <a:t>C89</a:t>
            </a:r>
            <a:r>
              <a:rPr lang="ja-JP" altLang="en-US" sz="2400" dirty="0" smtClean="0"/>
              <a:t>）の規格上、自由です。（正確には、副作用完了点</a:t>
            </a:r>
            <a:r>
              <a:rPr lang="en-US" altLang="ja-JP" sz="2400" dirty="0" smtClean="0"/>
              <a:t>(sequence point)</a:t>
            </a:r>
            <a:r>
              <a:rPr lang="ja-JP" altLang="en-US" sz="2400" dirty="0" smtClean="0"/>
              <a:t>の前までに行われれば良い。この例では、</a:t>
            </a:r>
            <a:r>
              <a:rPr lang="en-US" altLang="ja-JP" sz="2400" dirty="0" smtClean="0"/>
              <a:t>x=x++;</a:t>
            </a:r>
            <a:r>
              <a:rPr lang="ja-JP" altLang="en-US" sz="2400" dirty="0" smtClean="0"/>
              <a:t>の実行中、どの時点でも良い。） </a:t>
            </a:r>
            <a:endParaRPr lang="en-US" altLang="ja-JP" sz="2400" dirty="0" smtClean="0"/>
          </a:p>
          <a:p>
            <a:endParaRPr lang="en-US" altLang="ja-JP" sz="2400" dirty="0" smtClean="0"/>
          </a:p>
          <a:p>
            <a:r>
              <a:rPr lang="ja-JP" altLang="en-US" sz="2400" dirty="0" smtClean="0"/>
              <a:t>これは減点対象とします。</a:t>
            </a:r>
            <a:endParaRPr lang="en-US" altLang="ja-JP" sz="24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注意事項３</a:t>
            </a:r>
            <a:endParaRPr kumimoji="1" lang="ja-JP" altLang="en-US" dirty="0"/>
          </a:p>
        </p:txBody>
      </p:sp>
      <p:sp>
        <p:nvSpPr>
          <p:cNvPr id="3" name="コンテンツ プレースホルダ 2"/>
          <p:cNvSpPr>
            <a:spLocks noGrp="1"/>
          </p:cNvSpPr>
          <p:nvPr>
            <p:ph idx="1"/>
          </p:nvPr>
        </p:nvSpPr>
        <p:spPr>
          <a:xfrm>
            <a:off x="457200" y="1628800"/>
            <a:ext cx="8229600" cy="4525963"/>
          </a:xfrm>
        </p:spPr>
        <p:txBody>
          <a:bodyPr>
            <a:normAutofit fontScale="92500" lnSpcReduction="20000"/>
          </a:bodyPr>
          <a:lstStyle/>
          <a:p>
            <a:r>
              <a:rPr kumimoji="1" lang="ja-JP" altLang="en-US" dirty="0" smtClean="0"/>
              <a:t>関数定義の中に関数定義を書いた</a:t>
            </a:r>
            <a:r>
              <a:rPr lang="ja-JP" altLang="en-US" dirty="0" smtClean="0"/>
              <a:t>人が１名いました。これは、</a:t>
            </a:r>
            <a:r>
              <a:rPr lang="en-US" altLang="ja-JP" dirty="0" smtClean="0"/>
              <a:t>ISO</a:t>
            </a:r>
            <a:r>
              <a:rPr lang="ja-JP" altLang="en-US" dirty="0" smtClean="0"/>
              <a:t>規格では許されていません。ただし、</a:t>
            </a:r>
            <a:r>
              <a:rPr lang="en-US" altLang="ja-JP" dirty="0" smtClean="0"/>
              <a:t>GNU</a:t>
            </a:r>
            <a:r>
              <a:rPr lang="ja-JP" altLang="en-US" dirty="0" smtClean="0"/>
              <a:t>の言語拡張では許されています。演習室の</a:t>
            </a:r>
            <a:r>
              <a:rPr lang="en-US" altLang="ja-JP" dirty="0" smtClean="0"/>
              <a:t>C</a:t>
            </a:r>
            <a:r>
              <a:rPr lang="ja-JP" altLang="en-US" dirty="0" smtClean="0"/>
              <a:t>コンパイラは</a:t>
            </a:r>
            <a:r>
              <a:rPr lang="en-US" altLang="ja-JP" dirty="0" smtClean="0"/>
              <a:t>GNU</a:t>
            </a:r>
            <a:r>
              <a:rPr lang="ja-JP" altLang="en-US" dirty="0" smtClean="0"/>
              <a:t>のコンパイラであり、関数定義内に関数定義を記述可能です。</a:t>
            </a:r>
            <a:endParaRPr lang="en-US" altLang="ja-JP" dirty="0" smtClean="0"/>
          </a:p>
          <a:p>
            <a:r>
              <a:rPr lang="ja-JP" altLang="en-US" dirty="0" smtClean="0"/>
              <a:t>関数定義のネストは他の多くの言語では許されており、自然ですが、</a:t>
            </a:r>
            <a:r>
              <a:rPr lang="en-US" altLang="ja-JP" dirty="0" smtClean="0"/>
              <a:t>ISO</a:t>
            </a:r>
            <a:r>
              <a:rPr lang="ja-JP" altLang="en-US" dirty="0" smtClean="0"/>
              <a:t>規格では許されていないということを知っておいてください。（規格に取り入れてもよさそうに思いますが、今は入っていません。）</a:t>
            </a:r>
            <a:endParaRPr lang="en-US" altLang="ja-JP" dirty="0" smtClean="0"/>
          </a:p>
          <a:p>
            <a:r>
              <a:rPr lang="ja-JP" altLang="en-US" dirty="0" smtClean="0"/>
              <a:t>減点対象とはしません。</a:t>
            </a:r>
            <a:endParaRPr kumimoji="1" lang="ja-JP"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関数定義のネストの</a:t>
            </a:r>
            <a:r>
              <a:rPr kumimoji="1" lang="ja-JP" altLang="en-US" dirty="0" smtClean="0"/>
              <a:t>例</a:t>
            </a:r>
            <a:endParaRPr kumimoji="1" lang="ja-JP" altLang="en-US" dirty="0"/>
          </a:p>
        </p:txBody>
      </p:sp>
      <p:sp>
        <p:nvSpPr>
          <p:cNvPr id="5" name="正方形/長方形 4"/>
          <p:cNvSpPr/>
          <p:nvPr/>
        </p:nvSpPr>
        <p:spPr>
          <a:xfrm>
            <a:off x="571472" y="1500174"/>
            <a:ext cx="4000528"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 sum (</a:t>
            </a:r>
            <a:r>
              <a:rPr lang="en-US" altLang="ja-JP" sz="2400" dirty="0" err="1" smtClean="0">
                <a:solidFill>
                  <a:srgbClr val="FF0000"/>
                </a:solidFill>
              </a:rPr>
              <a:t>int</a:t>
            </a:r>
            <a:r>
              <a:rPr lang="en-US" altLang="ja-JP" sz="2400" dirty="0" smtClean="0">
                <a:solidFill>
                  <a:srgbClr val="FF0000"/>
                </a:solidFill>
              </a:rPr>
              <a:t> n){</a:t>
            </a:r>
          </a:p>
          <a:p>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 </a:t>
            </a:r>
            <a:r>
              <a:rPr lang="en-US" altLang="ja-JP" sz="2400" dirty="0" err="1" smtClean="0">
                <a:solidFill>
                  <a:srgbClr val="FF0000"/>
                </a:solidFill>
              </a:rPr>
              <a:t>i</a:t>
            </a:r>
            <a:r>
              <a:rPr lang="en-US" altLang="ja-JP" sz="2400" dirty="0" smtClean="0">
                <a:solidFill>
                  <a:srgbClr val="FF0000"/>
                </a:solidFill>
              </a:rPr>
              <a:t>, sum=0;</a:t>
            </a:r>
          </a:p>
          <a:p>
            <a:r>
              <a:rPr lang="en-US" altLang="ja-JP" sz="2400" dirty="0" smtClean="0">
                <a:solidFill>
                  <a:srgbClr val="FF0000"/>
                </a:solidFill>
              </a:rPr>
              <a:t>    for (</a:t>
            </a:r>
            <a:r>
              <a:rPr lang="en-US" altLang="ja-JP" sz="2400" dirty="0" err="1" smtClean="0">
                <a:solidFill>
                  <a:srgbClr val="FF0000"/>
                </a:solidFill>
              </a:rPr>
              <a:t>i</a:t>
            </a:r>
            <a:r>
              <a:rPr lang="en-US" altLang="ja-JP" sz="2400" dirty="0" smtClean="0">
                <a:solidFill>
                  <a:srgbClr val="FF0000"/>
                </a:solidFill>
              </a:rPr>
              <a:t>=1; </a:t>
            </a:r>
            <a:r>
              <a:rPr lang="en-US" altLang="ja-JP" sz="2400" dirty="0" err="1" smtClean="0">
                <a:solidFill>
                  <a:srgbClr val="FF0000"/>
                </a:solidFill>
              </a:rPr>
              <a:t>i</a:t>
            </a:r>
            <a:r>
              <a:rPr lang="en-US" altLang="ja-JP" sz="2400" dirty="0" smtClean="0">
                <a:solidFill>
                  <a:srgbClr val="FF0000"/>
                </a:solidFill>
              </a:rPr>
              <a:t>&lt;=n; </a:t>
            </a:r>
            <a:r>
              <a:rPr lang="en-US" altLang="ja-JP" sz="2400" dirty="0" err="1" smtClean="0">
                <a:solidFill>
                  <a:srgbClr val="FF0000"/>
                </a:solidFill>
              </a:rPr>
              <a:t>i</a:t>
            </a:r>
            <a:r>
              <a:rPr lang="en-US" altLang="ja-JP" sz="2400" dirty="0" smtClean="0">
                <a:solidFill>
                  <a:srgbClr val="FF0000"/>
                </a:solidFill>
              </a:rPr>
              <a:t>++)</a:t>
            </a:r>
          </a:p>
          <a:p>
            <a:r>
              <a:rPr lang="en-US" altLang="ja-JP" sz="2400" dirty="0" smtClean="0">
                <a:solidFill>
                  <a:srgbClr val="FF0000"/>
                </a:solidFill>
              </a:rPr>
              <a:t>      sum=</a:t>
            </a:r>
            <a:r>
              <a:rPr lang="en-US" altLang="ja-JP" sz="2400" dirty="0" err="1" smtClean="0">
                <a:solidFill>
                  <a:srgbClr val="FF0000"/>
                </a:solidFill>
              </a:rPr>
              <a:t>sum+i</a:t>
            </a:r>
            <a:r>
              <a:rPr lang="en-US" altLang="ja-JP" sz="2400" dirty="0" smtClean="0">
                <a:solidFill>
                  <a:srgbClr val="FF0000"/>
                </a:solidFill>
              </a:rPr>
              <a:t>;</a:t>
            </a:r>
          </a:p>
          <a:p>
            <a:r>
              <a:rPr lang="en-US" altLang="ja-JP" sz="2400" dirty="0" smtClean="0">
                <a:solidFill>
                  <a:srgbClr val="FF0000"/>
                </a:solidFill>
              </a:rPr>
              <a:t>    return sum;</a:t>
            </a:r>
          </a:p>
          <a:p>
            <a:r>
              <a:rPr lang="en-US" altLang="ja-JP" sz="2400" dirty="0" smtClean="0">
                <a:solidFill>
                  <a:srgbClr val="FF0000"/>
                </a:solidFill>
              </a:rPr>
              <a:t>  }</a:t>
            </a:r>
          </a:p>
          <a:p>
            <a:r>
              <a:rPr lang="en-US" altLang="ja-JP" sz="2400" dirty="0" smtClean="0"/>
              <a:t>  </a:t>
            </a:r>
            <a:r>
              <a:rPr lang="en-US" altLang="ja-JP" sz="2400" dirty="0" err="1" smtClean="0"/>
              <a:t>printf</a:t>
            </a:r>
            <a:r>
              <a:rPr lang="en-US" altLang="ja-JP" sz="2400" dirty="0" smtClean="0"/>
              <a:t> ("sum(10)=%d\n",</a:t>
            </a:r>
          </a:p>
          <a:p>
            <a:r>
              <a:rPr lang="en-US" altLang="ja-JP" sz="2400" dirty="0" smtClean="0"/>
              <a:t>              sum(10));</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4786314" y="3071810"/>
            <a:ext cx="3929090" cy="3046988"/>
          </a:xfrm>
          <a:prstGeom prst="rect">
            <a:avLst/>
          </a:prstGeom>
          <a:noFill/>
        </p:spPr>
        <p:txBody>
          <a:bodyPr wrap="square" rtlCol="0">
            <a:spAutoFit/>
          </a:bodyPr>
          <a:lstStyle/>
          <a:p>
            <a:r>
              <a:rPr lang="ja-JP" altLang="en-US" sz="2400" dirty="0" smtClean="0"/>
              <a:t>こ</a:t>
            </a:r>
            <a:r>
              <a:rPr kumimoji="1" lang="ja-JP" altLang="en-US" sz="2400" dirty="0" smtClean="0"/>
              <a:t>のプログラムは演習室の環境ではコンパイルが通るが、</a:t>
            </a:r>
            <a:r>
              <a:rPr kumimoji="1" lang="en-US" altLang="ja-JP" sz="2400" dirty="0" smtClean="0"/>
              <a:t>ISO</a:t>
            </a:r>
            <a:r>
              <a:rPr lang="ja-JP" altLang="en-US" sz="2400" dirty="0" smtClean="0"/>
              <a:t>規格では許されていない。</a:t>
            </a:r>
            <a:endParaRPr lang="en-US" altLang="ja-JP" sz="2400" dirty="0" smtClean="0"/>
          </a:p>
          <a:p>
            <a:endParaRPr kumimoji="1" lang="en-US" altLang="ja-JP" sz="2400" dirty="0" smtClean="0"/>
          </a:p>
          <a:p>
            <a:r>
              <a:rPr lang="en-US" altLang="ja-JP" sz="2400" dirty="0" smtClean="0"/>
              <a:t>$ </a:t>
            </a:r>
            <a:r>
              <a:rPr lang="en-US" altLang="ja-JP" sz="2400" dirty="0" err="1" smtClean="0"/>
              <a:t>gcc</a:t>
            </a:r>
            <a:r>
              <a:rPr lang="en-US" altLang="ja-JP" sz="2400" dirty="0" smtClean="0"/>
              <a:t> –pedantic </a:t>
            </a:r>
            <a:r>
              <a:rPr lang="en-US" altLang="ja-JP" sz="2400" dirty="0" err="1" smtClean="0"/>
              <a:t>test.c</a:t>
            </a:r>
            <a:endParaRPr lang="en-US" altLang="ja-JP" sz="2400" dirty="0" smtClean="0"/>
          </a:p>
          <a:p>
            <a:r>
              <a:rPr kumimoji="1" lang="ja-JP" altLang="en-US" sz="2400" dirty="0" err="1" smtClean="0"/>
              <a:t>のように</a:t>
            </a:r>
            <a:r>
              <a:rPr kumimoji="1" lang="en-US" altLang="ja-JP" sz="2400" dirty="0" smtClean="0"/>
              <a:t>-pedantic</a:t>
            </a:r>
            <a:r>
              <a:rPr kumimoji="1" lang="ja-JP" altLang="en-US" sz="2400" dirty="0" smtClean="0"/>
              <a:t>をオプションに指定することによって、警告が出るようになる。</a:t>
            </a:r>
            <a:endParaRPr kumimoji="1" lang="ja-JP" altLang="en-US" sz="2400" dirty="0"/>
          </a:p>
        </p:txBody>
      </p:sp>
      <p:sp>
        <p:nvSpPr>
          <p:cNvPr id="7" name="テキスト ボックス 6"/>
          <p:cNvSpPr txBox="1"/>
          <p:nvPr/>
        </p:nvSpPr>
        <p:spPr>
          <a:xfrm>
            <a:off x="3357554" y="2000240"/>
            <a:ext cx="3214710" cy="830997"/>
          </a:xfrm>
          <a:prstGeom prst="rect">
            <a:avLst/>
          </a:prstGeom>
          <a:solidFill>
            <a:schemeClr val="bg1"/>
          </a:solidFill>
          <a:ln>
            <a:solidFill>
              <a:schemeClr val="tx1"/>
            </a:solidFill>
          </a:ln>
        </p:spPr>
        <p:txBody>
          <a:bodyPr wrap="square" rtlCol="0">
            <a:spAutoFit/>
          </a:bodyPr>
          <a:lstStyle/>
          <a:p>
            <a:r>
              <a:rPr lang="ja-JP" altLang="en-US" sz="2400" dirty="0" smtClean="0"/>
              <a:t>赤字部分が、関数定義内に記述した</a:t>
            </a:r>
            <a:r>
              <a:rPr kumimoji="1" lang="ja-JP" altLang="en-US" sz="2400" dirty="0" smtClean="0"/>
              <a:t>関数定義</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注意事項４</a:t>
            </a:r>
            <a:endParaRPr kumimoji="1" lang="ja-JP" altLang="en-US" dirty="0"/>
          </a:p>
        </p:txBody>
      </p:sp>
      <p:sp>
        <p:nvSpPr>
          <p:cNvPr id="3" name="コンテンツ プレースホルダ 2"/>
          <p:cNvSpPr>
            <a:spLocks noGrp="1"/>
          </p:cNvSpPr>
          <p:nvPr>
            <p:ph idx="1"/>
          </p:nvPr>
        </p:nvSpPr>
        <p:spPr>
          <a:xfrm>
            <a:off x="457200" y="1600200"/>
            <a:ext cx="8229600" cy="4829196"/>
          </a:xfrm>
        </p:spPr>
        <p:txBody>
          <a:bodyPr>
            <a:normAutofit lnSpcReduction="10000"/>
          </a:bodyPr>
          <a:lstStyle/>
          <a:p>
            <a:r>
              <a:rPr kumimoji="1" lang="ja-JP" altLang="en-US" dirty="0" smtClean="0"/>
              <a:t>関数定義の外に変数宣言を書いた人がいました。関数定義の外で宣言すると、グローバル変数となり、関数呼び出しとは関係なく、プログラム実行の最初から最後まで存在します。関数定義の内部に書いた変数は、その関数の呼び出し毎に別の変数として扱われます。</a:t>
            </a:r>
            <a:endParaRPr kumimoji="1" lang="en-US" altLang="ja-JP" dirty="0" smtClean="0"/>
          </a:p>
          <a:p>
            <a:r>
              <a:rPr lang="ja-JP" altLang="en-US" dirty="0" smtClean="0"/>
              <a:t>グローバル変数を使って挙動のおかしいプログラムを書いた場合は減点対象とします。</a:t>
            </a:r>
            <a:endParaRPr lang="en-US" altLang="ja-JP" dirty="0" smtClean="0"/>
          </a:p>
          <a:p>
            <a:r>
              <a:rPr kumimoji="1" lang="ja-JP" altLang="en-US" dirty="0" smtClean="0"/>
              <a:t>グローバル変数は講義では説明していません。</a:t>
            </a:r>
            <a:endParaRPr kumimoji="1" lang="en-US" altLang="ja-JP"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4" name="正方形/長方形 3"/>
          <p:cNvSpPr/>
          <p:nvPr/>
        </p:nvSpPr>
        <p:spPr>
          <a:xfrm>
            <a:off x="428596" y="1500174"/>
            <a:ext cx="421484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solidFill>
                  <a:srgbClr val="FF0000"/>
                </a:solidFill>
              </a:rPr>
              <a:t>int</a:t>
            </a:r>
            <a:r>
              <a:rPr lang="en-US" altLang="ja-JP" sz="2400" dirty="0" smtClean="0">
                <a:solidFill>
                  <a:srgbClr val="FF0000"/>
                </a:solidFill>
              </a:rPr>
              <a:t> s=0;</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=1; </a:t>
            </a:r>
            <a:r>
              <a:rPr lang="en-US" altLang="ja-JP" sz="2400" dirty="0" err="1" smtClean="0"/>
              <a:t>i</a:t>
            </a:r>
            <a:r>
              <a:rPr lang="en-US" altLang="ja-JP" sz="2400" dirty="0" smtClean="0"/>
              <a:t>&lt;=n; </a:t>
            </a:r>
            <a:r>
              <a:rPr lang="en-US" altLang="ja-JP" sz="2400" dirty="0" err="1" smtClean="0"/>
              <a:t>i</a:t>
            </a:r>
            <a:r>
              <a:rPr lang="en-US" altLang="ja-JP" sz="2400" dirty="0" smtClean="0"/>
              <a:t>++)</a:t>
            </a:r>
          </a:p>
          <a:p>
            <a:r>
              <a:rPr lang="en-US" altLang="ja-JP" sz="2400" dirty="0" smtClean="0"/>
              <a:t>    s=</a:t>
            </a:r>
            <a:r>
              <a:rPr lang="en-US" altLang="ja-JP" sz="2400" dirty="0" err="1" smtClean="0"/>
              <a:t>s+i</a:t>
            </a:r>
            <a:r>
              <a:rPr lang="en-US" altLang="ja-JP" sz="2400" dirty="0" smtClean="0"/>
              <a:t>;</a:t>
            </a:r>
          </a:p>
          <a:p>
            <a:r>
              <a:rPr lang="en-US" altLang="ja-JP" sz="2400" dirty="0" smtClean="0"/>
              <a:t>  return s;</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("sum=%d\n", sum(10));</a:t>
            </a:r>
          </a:p>
          <a:p>
            <a:r>
              <a:rPr lang="en-US" altLang="ja-JP" sz="2400" dirty="0" smtClean="0"/>
              <a:t>  </a:t>
            </a:r>
            <a:r>
              <a:rPr lang="en-US" altLang="ja-JP" sz="2400" dirty="0" err="1" smtClean="0"/>
              <a:t>printf</a:t>
            </a:r>
            <a:r>
              <a:rPr lang="en-US" altLang="ja-JP" sz="2400" dirty="0" smtClean="0"/>
              <a:t> ("sum=%d\n", sum(10));</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4857752" y="1500174"/>
            <a:ext cx="3929090" cy="3416320"/>
          </a:xfrm>
          <a:prstGeom prst="rect">
            <a:avLst/>
          </a:prstGeom>
          <a:noFill/>
        </p:spPr>
        <p:txBody>
          <a:bodyPr wrap="square" rtlCol="0">
            <a:spAutoFit/>
          </a:bodyPr>
          <a:lstStyle/>
          <a:p>
            <a:r>
              <a:rPr kumimoji="1" lang="ja-JP" altLang="en-US" sz="2400" dirty="0" smtClean="0"/>
              <a:t>このプログラムでは</a:t>
            </a:r>
            <a:r>
              <a:rPr kumimoji="1" lang="en-US" altLang="ja-JP" sz="2400" dirty="0" smtClean="0"/>
              <a:t>s</a:t>
            </a:r>
            <a:r>
              <a:rPr kumimoji="1" lang="ja-JP" altLang="en-US" sz="2400" dirty="0" smtClean="0"/>
              <a:t>をグローバル変数として宣言している。</a:t>
            </a:r>
            <a:endParaRPr kumimoji="1" lang="en-US" altLang="ja-JP" sz="2400" dirty="0" smtClean="0"/>
          </a:p>
          <a:p>
            <a:endParaRPr lang="en-US" altLang="ja-JP" sz="2400" dirty="0" smtClean="0"/>
          </a:p>
          <a:p>
            <a:r>
              <a:rPr lang="en-US" altLang="ja-JP" sz="2400" dirty="0" smtClean="0"/>
              <a:t>m</a:t>
            </a:r>
            <a:r>
              <a:rPr kumimoji="1" lang="en-US" altLang="ja-JP" sz="2400" dirty="0" smtClean="0"/>
              <a:t>ain</a:t>
            </a:r>
            <a:r>
              <a:rPr kumimoji="1" lang="ja-JP" altLang="en-US" sz="2400" dirty="0" smtClean="0"/>
              <a:t>関数内で２回</a:t>
            </a:r>
            <a:r>
              <a:rPr kumimoji="1" lang="en-US" altLang="ja-JP" sz="2400" dirty="0" smtClean="0"/>
              <a:t>sum</a:t>
            </a:r>
            <a:r>
              <a:rPr kumimoji="1" lang="ja-JP" altLang="en-US" sz="2400" dirty="0" smtClean="0"/>
              <a:t>を呼び出している</a:t>
            </a:r>
            <a:r>
              <a:rPr lang="ja-JP" altLang="en-US" sz="2400" dirty="0" smtClean="0"/>
              <a:t>。１回目は</a:t>
            </a:r>
            <a:r>
              <a:rPr lang="en-US" altLang="ja-JP" sz="2400" dirty="0" smtClean="0"/>
              <a:t>s</a:t>
            </a:r>
            <a:r>
              <a:rPr lang="ja-JP" altLang="en-US" sz="2400" dirty="0" smtClean="0"/>
              <a:t>の値が</a:t>
            </a:r>
            <a:r>
              <a:rPr lang="en-US" altLang="ja-JP" sz="2400" dirty="0" smtClean="0"/>
              <a:t>55</a:t>
            </a:r>
            <a:r>
              <a:rPr lang="ja-JP" altLang="en-US" sz="2400" dirty="0" smtClean="0"/>
              <a:t>になり、</a:t>
            </a:r>
            <a:r>
              <a:rPr kumimoji="1" lang="ja-JP" altLang="en-US" sz="2400" dirty="0" smtClean="0"/>
              <a:t>返り値が</a:t>
            </a:r>
            <a:r>
              <a:rPr kumimoji="1" lang="en-US" altLang="ja-JP" sz="2400" dirty="0" smtClean="0"/>
              <a:t>55</a:t>
            </a:r>
            <a:r>
              <a:rPr kumimoji="1" lang="ja-JP" altLang="en-US" sz="2400" dirty="0" smtClean="0"/>
              <a:t>となるが、２回目は</a:t>
            </a:r>
            <a:r>
              <a:rPr kumimoji="1" lang="en-US" altLang="ja-JP" sz="2400" dirty="0" smtClean="0"/>
              <a:t>s</a:t>
            </a:r>
            <a:r>
              <a:rPr kumimoji="1" lang="ja-JP" altLang="en-US" sz="2400" dirty="0" smtClean="0"/>
              <a:t>の値が</a:t>
            </a:r>
            <a:r>
              <a:rPr kumimoji="1" lang="en-US" altLang="ja-JP" sz="2400" dirty="0" smtClean="0"/>
              <a:t>55</a:t>
            </a:r>
            <a:r>
              <a:rPr kumimoji="1" lang="ja-JP" altLang="en-US" sz="2400" dirty="0" smtClean="0"/>
              <a:t>の状態から計算が始まり、返り値が</a:t>
            </a:r>
            <a:r>
              <a:rPr kumimoji="1" lang="en-US" altLang="ja-JP" sz="2400" dirty="0" smtClean="0"/>
              <a:t>110</a:t>
            </a:r>
            <a:r>
              <a:rPr kumimoji="1" lang="ja-JP" altLang="en-US" sz="2400" dirty="0" smtClean="0"/>
              <a:t>となる。</a:t>
            </a:r>
            <a:endParaRPr kumimoji="1" lang="en-US" altLang="ja-JP" sz="24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注意事項５</a:t>
            </a:r>
            <a:endParaRPr kumimoji="1" lang="ja-JP" altLang="en-US" dirty="0"/>
          </a:p>
        </p:txBody>
      </p:sp>
      <p:sp>
        <p:nvSpPr>
          <p:cNvPr id="3" name="コンテンツ プレースホルダ 2"/>
          <p:cNvSpPr>
            <a:spLocks noGrp="1"/>
          </p:cNvSpPr>
          <p:nvPr>
            <p:ph idx="1"/>
          </p:nvPr>
        </p:nvSpPr>
        <p:spPr>
          <a:xfrm>
            <a:off x="457200" y="1600200"/>
            <a:ext cx="8229600" cy="892696"/>
          </a:xfrm>
        </p:spPr>
        <p:txBody>
          <a:bodyPr>
            <a:normAutofit/>
          </a:bodyPr>
          <a:lstStyle/>
          <a:p>
            <a:r>
              <a:rPr lang="ja-JP" altLang="en-US" dirty="0" smtClean="0"/>
              <a:t>スコープ外で変数を使っている人がいました。</a:t>
            </a:r>
            <a:endParaRPr kumimoji="1" lang="en-US" altLang="ja-JP" dirty="0" smtClean="0"/>
          </a:p>
        </p:txBody>
      </p:sp>
      <p:sp>
        <p:nvSpPr>
          <p:cNvPr id="4" name="テキスト ボックス 3"/>
          <p:cNvSpPr txBox="1"/>
          <p:nvPr/>
        </p:nvSpPr>
        <p:spPr>
          <a:xfrm>
            <a:off x="1619672" y="2276872"/>
            <a:ext cx="3394199" cy="3785652"/>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整数を入力</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kumimoji="1" lang="en-US" altLang="ja-JP" sz="2400" dirty="0" smtClean="0"/>
              <a:t>    for (</a:t>
            </a:r>
            <a:r>
              <a:rPr kumimoji="1" lang="en-US" altLang="ja-JP" sz="2400" dirty="0" err="1" smtClean="0"/>
              <a:t>int</a:t>
            </a:r>
            <a:r>
              <a:rPr kumimoji="1" lang="en-US" altLang="ja-JP" sz="2400" dirty="0" smtClean="0"/>
              <a:t> </a:t>
            </a:r>
            <a:r>
              <a:rPr kumimoji="1" lang="en-US" altLang="ja-JP" sz="2400" dirty="0" err="1" smtClean="0">
                <a:solidFill>
                  <a:srgbClr val="FF0000"/>
                </a:solidFill>
              </a:rPr>
              <a:t>i</a:t>
            </a:r>
            <a:r>
              <a:rPr kumimoji="1" lang="en-US" altLang="ja-JP" sz="2400" dirty="0" smtClean="0"/>
              <a:t>=n; </a:t>
            </a:r>
            <a:r>
              <a:rPr kumimoji="1" lang="en-US" altLang="ja-JP" sz="2400" dirty="0" err="1" smtClean="0">
                <a:solidFill>
                  <a:srgbClr val="FF0000"/>
                </a:solidFill>
              </a:rPr>
              <a:t>i</a:t>
            </a:r>
            <a:r>
              <a:rPr lang="en-US" altLang="ja-JP" sz="2400" dirty="0" smtClean="0"/>
              <a:t>&gt;0</a:t>
            </a:r>
            <a:r>
              <a:rPr kumimoji="1" lang="en-US" altLang="ja-JP" sz="2400" dirty="0" smtClean="0"/>
              <a:t>; </a:t>
            </a:r>
            <a:r>
              <a:rPr kumimoji="1" lang="en-US" altLang="ja-JP" sz="2400" dirty="0" err="1" smtClean="0">
                <a:solidFill>
                  <a:srgbClr val="FF0000"/>
                </a:solidFill>
              </a:rPr>
              <a:t>i</a:t>
            </a:r>
            <a:r>
              <a:rPr lang="en-US" altLang="ja-JP" sz="2400" dirty="0" smtClean="0"/>
              <a:t>--</a:t>
            </a:r>
            <a:r>
              <a:rPr kumimoji="1" lang="en-US" altLang="ja-JP" sz="2400" dirty="0" smtClean="0"/>
              <a:t>) {</a:t>
            </a:r>
          </a:p>
          <a:p>
            <a:r>
              <a:rPr lang="en-US" altLang="ja-JP" sz="2400" dirty="0" smtClean="0"/>
              <a:t>         </a:t>
            </a:r>
            <a:r>
              <a:rPr lang="en-US" altLang="ja-JP" sz="2400" dirty="0" err="1" smtClean="0"/>
              <a:t>printf</a:t>
            </a:r>
            <a:r>
              <a:rPr lang="en-US" altLang="ja-JP" sz="2400" dirty="0" smtClean="0"/>
              <a:t> (“%d, “, </a:t>
            </a:r>
            <a:r>
              <a:rPr lang="en-US" altLang="ja-JP" sz="2400" dirty="0" err="1" smtClean="0">
                <a:solidFill>
                  <a:srgbClr val="FF0000"/>
                </a:solidFill>
              </a:rPr>
              <a:t>i</a:t>
            </a:r>
            <a:r>
              <a:rPr lang="en-US" altLang="ja-JP" sz="2400" dirty="0" smtClean="0"/>
              <a:t>);</a:t>
            </a:r>
          </a:p>
          <a:p>
            <a:r>
              <a:rPr kumimoji="1" lang="en-US" altLang="ja-JP" sz="2400" dirty="0" smtClean="0"/>
              <a:t>    }</a:t>
            </a:r>
          </a:p>
          <a:p>
            <a:r>
              <a:rPr lang="en-US" altLang="ja-JP" sz="2400" dirty="0" smtClean="0"/>
              <a:t>    </a:t>
            </a:r>
            <a:r>
              <a:rPr lang="en-US" altLang="ja-JP" sz="2400" dirty="0" err="1" smtClean="0"/>
              <a:t>printf</a:t>
            </a:r>
            <a:r>
              <a:rPr lang="en-US" altLang="ja-JP" sz="2400" dirty="0" smtClean="0"/>
              <a:t> (“%d”, </a:t>
            </a:r>
            <a:r>
              <a:rPr lang="en-US" altLang="ja-JP" sz="2400" dirty="0" err="1" smtClean="0">
                <a:solidFill>
                  <a:srgbClr val="00B0F0"/>
                </a:solidFill>
              </a:rPr>
              <a:t>i</a:t>
            </a:r>
            <a:r>
              <a:rPr lang="en-US" altLang="ja-JP" sz="2400" dirty="0" smtClean="0"/>
              <a:t>);</a:t>
            </a:r>
          </a:p>
          <a:p>
            <a:r>
              <a:rPr kumimoji="1" lang="en-US" altLang="ja-JP" sz="2400" dirty="0" smtClean="0"/>
              <a:t>    return 0;</a:t>
            </a:r>
          </a:p>
          <a:p>
            <a:r>
              <a:rPr lang="en-US" altLang="ja-JP" sz="2400" dirty="0" smtClean="0"/>
              <a:t>}        </a:t>
            </a:r>
            <a:endParaRPr kumimoji="1" lang="ja-JP" altLang="en-US" sz="2400" dirty="0"/>
          </a:p>
        </p:txBody>
      </p:sp>
      <p:sp>
        <p:nvSpPr>
          <p:cNvPr id="5" name="正方形/長方形 4"/>
          <p:cNvSpPr/>
          <p:nvPr/>
        </p:nvSpPr>
        <p:spPr>
          <a:xfrm>
            <a:off x="611560" y="2276872"/>
            <a:ext cx="800219" cy="461665"/>
          </a:xfrm>
          <a:prstGeom prst="rect">
            <a:avLst/>
          </a:prstGeom>
        </p:spPr>
        <p:txBody>
          <a:bodyPr wrap="none">
            <a:spAutoFit/>
          </a:bodyPr>
          <a:lstStyle/>
          <a:p>
            <a:r>
              <a:rPr lang="ja-JP" altLang="en-US" sz="2400" dirty="0" smtClean="0"/>
              <a:t>（例）</a:t>
            </a:r>
            <a:endParaRPr lang="en-US" altLang="ja-JP" sz="2400" dirty="0" smtClean="0"/>
          </a:p>
        </p:txBody>
      </p:sp>
      <p:cxnSp>
        <p:nvCxnSpPr>
          <p:cNvPr id="7" name="直線矢印コネクタ 6"/>
          <p:cNvCxnSpPr/>
          <p:nvPr/>
        </p:nvCxnSpPr>
        <p:spPr>
          <a:xfrm flipH="1">
            <a:off x="3635896" y="4221088"/>
            <a:ext cx="1728192" cy="6480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5508104" y="3280916"/>
            <a:ext cx="3456384" cy="2308324"/>
          </a:xfrm>
          <a:prstGeom prst="rect">
            <a:avLst/>
          </a:prstGeom>
          <a:noFill/>
          <a:ln>
            <a:solidFill>
              <a:schemeClr val="tx1"/>
            </a:solidFill>
          </a:ln>
        </p:spPr>
        <p:txBody>
          <a:bodyPr wrap="square" rtlCol="0">
            <a:spAutoFit/>
          </a:bodyPr>
          <a:lstStyle/>
          <a:p>
            <a:r>
              <a:rPr kumimoji="1" lang="ja-JP" altLang="en-US" sz="2400" dirty="0" smtClean="0"/>
              <a:t>この</a:t>
            </a:r>
            <a:r>
              <a:rPr kumimoji="1" lang="en-US" altLang="ja-JP" sz="2400" dirty="0" err="1" smtClean="0">
                <a:solidFill>
                  <a:srgbClr val="00B0F0"/>
                </a:solidFill>
              </a:rPr>
              <a:t>i</a:t>
            </a:r>
            <a:r>
              <a:rPr kumimoji="1" lang="ja-JP" altLang="en-US" sz="2400" dirty="0" smtClean="0"/>
              <a:t>は</a:t>
            </a:r>
            <a:r>
              <a:rPr kumimoji="1" lang="en-US" altLang="ja-JP" sz="2400" dirty="0" smtClean="0"/>
              <a:t>for</a:t>
            </a:r>
            <a:r>
              <a:rPr kumimoji="1" lang="ja-JP" altLang="en-US" sz="2400" dirty="0" smtClean="0"/>
              <a:t>ループで宣言されている変数</a:t>
            </a:r>
            <a:r>
              <a:rPr kumimoji="1" lang="en-US" altLang="ja-JP" sz="2400" dirty="0" err="1" smtClean="0">
                <a:solidFill>
                  <a:srgbClr val="FF0000"/>
                </a:solidFill>
              </a:rPr>
              <a:t>i</a:t>
            </a:r>
            <a:r>
              <a:rPr kumimoji="1" lang="ja-JP" altLang="en-US" sz="2400" dirty="0" smtClean="0"/>
              <a:t>の有効範囲からはずれています。（コンパイル時にエラーになります。）</a:t>
            </a:r>
            <a:endParaRPr kumimoji="1" lang="en-US" altLang="ja-JP" sz="2400" dirty="0" smtClean="0"/>
          </a:p>
          <a:p>
            <a:r>
              <a:rPr lang="ja-JP" altLang="en-US" sz="2400" dirty="0" smtClean="0"/>
              <a:t>これは減点対象とします。</a:t>
            </a:r>
            <a:endParaRPr lang="en-US" altLang="ja-JP" sz="24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注意事項６</a:t>
            </a:r>
            <a:endParaRPr kumimoji="1" lang="ja-JP" altLang="en-US" dirty="0"/>
          </a:p>
        </p:txBody>
      </p:sp>
      <p:sp>
        <p:nvSpPr>
          <p:cNvPr id="3" name="コンテンツ プレースホルダ 2"/>
          <p:cNvSpPr>
            <a:spLocks noGrp="1"/>
          </p:cNvSpPr>
          <p:nvPr>
            <p:ph idx="1"/>
          </p:nvPr>
        </p:nvSpPr>
        <p:spPr>
          <a:xfrm>
            <a:off x="457200" y="1340768"/>
            <a:ext cx="8229600" cy="892696"/>
          </a:xfrm>
        </p:spPr>
        <p:txBody>
          <a:bodyPr>
            <a:normAutofit fontScale="92500" lnSpcReduction="20000"/>
          </a:bodyPr>
          <a:lstStyle/>
          <a:p>
            <a:r>
              <a:rPr kumimoji="1" lang="ja-JP" altLang="en-US" dirty="0" smtClean="0"/>
              <a:t>ループではないところで</a:t>
            </a:r>
            <a:r>
              <a:rPr kumimoji="1" lang="en-US" altLang="ja-JP" dirty="0" smtClean="0"/>
              <a:t>break</a:t>
            </a:r>
            <a:r>
              <a:rPr kumimoji="1" lang="ja-JP" altLang="en-US" dirty="0" smtClean="0"/>
              <a:t>文を使っている人がいました。</a:t>
            </a:r>
            <a:endParaRPr kumimoji="1" lang="en-US" altLang="ja-JP" dirty="0" smtClean="0"/>
          </a:p>
        </p:txBody>
      </p:sp>
      <p:sp>
        <p:nvSpPr>
          <p:cNvPr id="4" name="テキスト ボックス 3"/>
          <p:cNvSpPr txBox="1"/>
          <p:nvPr/>
        </p:nvSpPr>
        <p:spPr>
          <a:xfrm>
            <a:off x="1403648" y="2451660"/>
            <a:ext cx="3394199" cy="2677656"/>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整数を入力</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if (n &lt; 0) break;</a:t>
            </a:r>
          </a:p>
          <a:p>
            <a:r>
              <a:rPr kumimoji="1" lang="en-US" altLang="ja-JP" sz="2400" dirty="0" smtClean="0"/>
              <a:t>    ….</a:t>
            </a:r>
          </a:p>
          <a:p>
            <a:r>
              <a:rPr lang="en-US" altLang="ja-JP" sz="2400" dirty="0" smtClean="0"/>
              <a:t>}        </a:t>
            </a:r>
            <a:endParaRPr kumimoji="1" lang="ja-JP" altLang="en-US" sz="2400" dirty="0"/>
          </a:p>
        </p:txBody>
      </p:sp>
      <p:sp>
        <p:nvSpPr>
          <p:cNvPr id="5" name="正方形/長方形 4"/>
          <p:cNvSpPr/>
          <p:nvPr/>
        </p:nvSpPr>
        <p:spPr>
          <a:xfrm>
            <a:off x="467544" y="2420888"/>
            <a:ext cx="800219" cy="461665"/>
          </a:xfrm>
          <a:prstGeom prst="rect">
            <a:avLst/>
          </a:prstGeom>
        </p:spPr>
        <p:txBody>
          <a:bodyPr wrap="none">
            <a:spAutoFit/>
          </a:bodyPr>
          <a:lstStyle/>
          <a:p>
            <a:r>
              <a:rPr lang="ja-JP" altLang="en-US" sz="2400" dirty="0" smtClean="0"/>
              <a:t>（例）</a:t>
            </a:r>
            <a:endParaRPr lang="en-US" altLang="ja-JP" sz="2400" dirty="0" smtClean="0"/>
          </a:p>
        </p:txBody>
      </p:sp>
      <p:sp>
        <p:nvSpPr>
          <p:cNvPr id="12" name="テキスト ボックス 11"/>
          <p:cNvSpPr txBox="1"/>
          <p:nvPr/>
        </p:nvSpPr>
        <p:spPr>
          <a:xfrm>
            <a:off x="5148064" y="3429000"/>
            <a:ext cx="3456384" cy="1200329"/>
          </a:xfrm>
          <a:prstGeom prst="rect">
            <a:avLst/>
          </a:prstGeom>
          <a:noFill/>
          <a:ln>
            <a:solidFill>
              <a:schemeClr val="tx1"/>
            </a:solidFill>
          </a:ln>
        </p:spPr>
        <p:txBody>
          <a:bodyPr wrap="square" rtlCol="0">
            <a:spAutoFit/>
          </a:bodyPr>
          <a:lstStyle/>
          <a:p>
            <a:r>
              <a:rPr kumimoji="1" lang="ja-JP" altLang="en-US" sz="2400" dirty="0" smtClean="0"/>
              <a:t>こ</a:t>
            </a:r>
            <a:r>
              <a:rPr lang="ja-JP" altLang="en-US" sz="2400" dirty="0" smtClean="0"/>
              <a:t>のようなプログラムは、コンパイル時にエラーになります。</a:t>
            </a:r>
            <a:endParaRPr lang="en-US" altLang="ja-JP" sz="2400" dirty="0" smtClean="0"/>
          </a:p>
        </p:txBody>
      </p:sp>
      <p:sp>
        <p:nvSpPr>
          <p:cNvPr id="9" name="テキスト ボックス 8"/>
          <p:cNvSpPr txBox="1"/>
          <p:nvPr/>
        </p:nvSpPr>
        <p:spPr>
          <a:xfrm>
            <a:off x="683568" y="5397023"/>
            <a:ext cx="7704856" cy="1200329"/>
          </a:xfrm>
          <a:prstGeom prst="rect">
            <a:avLst/>
          </a:prstGeom>
          <a:noFill/>
        </p:spPr>
        <p:txBody>
          <a:bodyPr wrap="square" rtlCol="0">
            <a:spAutoFit/>
          </a:bodyPr>
          <a:lstStyle/>
          <a:p>
            <a:r>
              <a:rPr kumimoji="1" lang="ja-JP" altLang="en-US" sz="2400" dirty="0" smtClean="0"/>
              <a:t>（補足） </a:t>
            </a:r>
            <a:r>
              <a:rPr kumimoji="1" lang="en-US" altLang="ja-JP" sz="2400" dirty="0" smtClean="0"/>
              <a:t>break</a:t>
            </a:r>
            <a:r>
              <a:rPr kumimoji="1" lang="ja-JP" altLang="en-US" sz="2400" dirty="0" smtClean="0"/>
              <a:t>文は、繰り返し文</a:t>
            </a:r>
            <a:r>
              <a:rPr kumimoji="1" lang="en-US" altLang="ja-JP" sz="2400" dirty="0" smtClean="0"/>
              <a:t>(while</a:t>
            </a:r>
            <a:r>
              <a:rPr kumimoji="1" lang="ja-JP" altLang="en-US" sz="2400" dirty="0" smtClean="0"/>
              <a:t>文、</a:t>
            </a:r>
            <a:r>
              <a:rPr kumimoji="1" lang="en-US" altLang="ja-JP" sz="2400" dirty="0" smtClean="0"/>
              <a:t>for</a:t>
            </a:r>
            <a:r>
              <a:rPr kumimoji="1" lang="ja-JP" altLang="en-US" sz="2400" dirty="0" smtClean="0"/>
              <a:t>文、</a:t>
            </a:r>
            <a:r>
              <a:rPr kumimoji="1" lang="en-US" altLang="ja-JP" sz="2400" dirty="0" smtClean="0"/>
              <a:t>do while</a:t>
            </a:r>
            <a:r>
              <a:rPr kumimoji="1" lang="ja-JP" altLang="en-US" sz="2400" dirty="0" smtClean="0"/>
              <a:t>文</a:t>
            </a:r>
            <a:r>
              <a:rPr kumimoji="1" lang="en-US" altLang="ja-JP" sz="2400" dirty="0" smtClean="0"/>
              <a:t>)</a:t>
            </a:r>
            <a:r>
              <a:rPr kumimoji="1" lang="ja-JP" altLang="en-US" sz="2400" dirty="0" smtClean="0"/>
              <a:t>の本体部分か、</a:t>
            </a:r>
            <a:r>
              <a:rPr kumimoji="1" lang="en-US" altLang="ja-JP" sz="2400" dirty="0" smtClean="0"/>
              <a:t>switch</a:t>
            </a:r>
            <a:r>
              <a:rPr kumimoji="1" lang="ja-JP" altLang="en-US" sz="2400" dirty="0" smtClean="0"/>
              <a:t>文の本体部分の中でしか使えません。講義では</a:t>
            </a:r>
            <a:r>
              <a:rPr kumimoji="1" lang="en-US" altLang="ja-JP" sz="2400" dirty="0" smtClean="0"/>
              <a:t>do while</a:t>
            </a:r>
            <a:r>
              <a:rPr kumimoji="1" lang="ja-JP" altLang="en-US" sz="2400" dirty="0" smtClean="0"/>
              <a:t>文と</a:t>
            </a:r>
            <a:r>
              <a:rPr kumimoji="1" lang="en-US" altLang="ja-JP" sz="2400" dirty="0" smtClean="0"/>
              <a:t>switch</a:t>
            </a:r>
            <a:r>
              <a:rPr kumimoji="1" lang="ja-JP" altLang="en-US" sz="2400" dirty="0" smtClean="0"/>
              <a:t>文は説明していません。</a:t>
            </a:r>
            <a:endParaRPr kumimoji="1"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期末試験について</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最低限、各回の基本課題のプログラムが書けるようにしておいてください。</a:t>
            </a:r>
            <a:endParaRPr kumimoji="1" lang="en-US" altLang="ja-JP" dirty="0" smtClean="0"/>
          </a:p>
          <a:p>
            <a:r>
              <a:rPr lang="ja-JP" altLang="en-US" dirty="0" smtClean="0"/>
              <a:t>中間試験で出題した問題が解けるようにしておいてください。</a:t>
            </a:r>
            <a:endParaRPr lang="en-US" altLang="ja-JP" dirty="0" smtClean="0"/>
          </a:p>
          <a:p>
            <a:r>
              <a:rPr kumimoji="1" lang="ja-JP" altLang="en-US" dirty="0" smtClean="0"/>
              <a:t>細かい書き間違い</a:t>
            </a:r>
            <a:r>
              <a:rPr kumimoji="1" lang="en-US" altLang="ja-JP" dirty="0" smtClean="0"/>
              <a:t>(</a:t>
            </a:r>
            <a:r>
              <a:rPr kumimoji="1" lang="ja-JP" altLang="en-US" dirty="0" smtClean="0"/>
              <a:t>セミコロンの付け忘れ、中括弧の閉じ忘れ、変数宣言のし忘れ等</a:t>
            </a:r>
            <a:r>
              <a:rPr kumimoji="1" lang="en-US" altLang="ja-JP" dirty="0" smtClean="0"/>
              <a:t>)</a:t>
            </a:r>
            <a:r>
              <a:rPr kumimoji="1" lang="ja-JP" altLang="en-US" dirty="0" smtClean="0"/>
              <a:t>に注意してください。減点対象とします。</a:t>
            </a:r>
            <a:endParaRPr kumimoji="1" lang="en-US" altLang="ja-JP" dirty="0" smtClean="0"/>
          </a:p>
          <a:p>
            <a:r>
              <a:rPr lang="ja-JP" altLang="en-US" dirty="0" smtClean="0"/>
              <a:t>読みやすく書いてください。字下げを適切にしてくれると読みやすくなります。</a:t>
            </a:r>
            <a:endParaRPr kumimoji="1" lang="en-US" altLang="ja-JP"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1057</Words>
  <Application>Microsoft Office PowerPoint</Application>
  <PresentationFormat>画面に合わせる (4:3)</PresentationFormat>
  <Paragraphs>107</Paragraphs>
  <Slides>11</Slides>
  <Notes>0</Notes>
  <HiddenSlides>0</HiddenSlides>
  <MMClips>0</MMClips>
  <ScaleCrop>false</ScaleCrop>
  <HeadingPairs>
    <vt:vector size="4" baseType="variant">
      <vt:variant>
        <vt:lpstr>テーマ</vt:lpstr>
      </vt:variant>
      <vt:variant>
        <vt:i4>1</vt:i4>
      </vt:variant>
      <vt:variant>
        <vt:lpstr>スライド タイトル</vt:lpstr>
      </vt:variant>
      <vt:variant>
        <vt:i4>11</vt:i4>
      </vt:variant>
    </vt:vector>
  </HeadingPairs>
  <TitlesOfParts>
    <vt:vector size="12" baseType="lpstr">
      <vt:lpstr>Office テーマ</vt:lpstr>
      <vt:lpstr>プログラミング入門２ 中間試験の結果について</vt:lpstr>
      <vt:lpstr>中間試験について</vt:lpstr>
      <vt:lpstr>注意事項１</vt:lpstr>
      <vt:lpstr>注意事項２</vt:lpstr>
      <vt:lpstr>注意事項３</vt:lpstr>
      <vt:lpstr>関数定義のネストの例</vt:lpstr>
      <vt:lpstr>注意事項４</vt:lpstr>
      <vt:lpstr>例</vt:lpstr>
      <vt:lpstr>注意事項５</vt:lpstr>
      <vt:lpstr>注意事項６</vt:lpstr>
      <vt:lpstr>期末試験について</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 第１４回</dc:title>
  <dc:creator>sasano</dc:creator>
  <cp:lastModifiedBy>sasano</cp:lastModifiedBy>
  <cp:revision>144</cp:revision>
  <dcterms:created xsi:type="dcterms:W3CDTF">2010-01-11T09:25:49Z</dcterms:created>
  <dcterms:modified xsi:type="dcterms:W3CDTF">2012-01-09T10:53:37Z</dcterms:modified>
</cp:coreProperties>
</file>