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83" r:id="rId7"/>
    <p:sldId id="261" r:id="rId8"/>
    <p:sldId id="262" r:id="rId9"/>
    <p:sldId id="280" r:id="rId10"/>
    <p:sldId id="281" r:id="rId11"/>
    <p:sldId id="263" r:id="rId12"/>
    <p:sldId id="264" r:id="rId13"/>
    <p:sldId id="265" r:id="rId14"/>
    <p:sldId id="266" r:id="rId15"/>
    <p:sldId id="267" r:id="rId16"/>
    <p:sldId id="268" r:id="rId17"/>
    <p:sldId id="282" r:id="rId18"/>
    <p:sldId id="285" r:id="rId19"/>
    <p:sldId id="284" r:id="rId20"/>
    <p:sldId id="279" r:id="rId21"/>
    <p:sldId id="275" r:id="rId22"/>
    <p:sldId id="278" r:id="rId23"/>
    <p:sldId id="286" r:id="rId2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38" autoAdjust="0"/>
    <p:restoredTop sz="94660"/>
  </p:normalViewPr>
  <p:slideViewPr>
    <p:cSldViewPr snapToGrid="0" snapToObjects="1">
      <p:cViewPr varScale="1">
        <p:scale>
          <a:sx n="70" d="100"/>
          <a:sy n="70" d="100"/>
        </p:scale>
        <p:origin x="-55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155699"/>
          </a:xfrm>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3643306" y="3857628"/>
            <a:ext cx="1566454" cy="584775"/>
          </a:xfrm>
          <a:prstGeom prst="rect">
            <a:avLst/>
          </a:prstGeom>
          <a:noFill/>
        </p:spPr>
        <p:txBody>
          <a:bodyPr wrap="none" rtlCol="0">
            <a:spAutoFit/>
          </a:bodyPr>
          <a:lstStyle/>
          <a:p>
            <a:r>
              <a:rPr kumimoji="1" lang="ja-JP" altLang="en-US" sz="3200" dirty="0" smtClean="0"/>
              <a:t>第１１回</a:t>
            </a:r>
            <a:endParaRPr kumimoji="1" lang="ja-JP" altLang="en-US" sz="3200" dirty="0"/>
          </a:p>
        </p:txBody>
      </p:sp>
      <p:sp>
        <p:nvSpPr>
          <p:cNvPr id="5" name="テキスト ボックス 4"/>
          <p:cNvSpPr txBox="1"/>
          <p:nvPr/>
        </p:nvSpPr>
        <p:spPr>
          <a:xfrm>
            <a:off x="2857488" y="492919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err="1" smtClean="0"/>
              <a:t>calloc</a:t>
            </a:r>
            <a:r>
              <a:rPr kumimoji="1" lang="ja-JP" altLang="en-US" dirty="0" smtClean="0"/>
              <a:t>による動的な領域確保について</a:t>
            </a:r>
            <a:endParaRPr kumimoji="1" lang="en-US" altLang="ja-JP" dirty="0" smtClean="0"/>
          </a:p>
          <a:p>
            <a:r>
              <a:rPr lang="en-US" altLang="ja-JP" dirty="0" err="1" smtClean="0"/>
              <a:t>malloc</a:t>
            </a:r>
            <a:r>
              <a:rPr lang="ja-JP" altLang="en-US" dirty="0" smtClean="0"/>
              <a:t>という、</a:t>
            </a:r>
            <a:r>
              <a:rPr lang="en-US" altLang="ja-JP" dirty="0" err="1" smtClean="0"/>
              <a:t>calloc</a:t>
            </a:r>
            <a:r>
              <a:rPr lang="ja-JP" altLang="en-US" dirty="0" smtClean="0"/>
              <a:t>に似たライブラリ関数もあるが、この演習では</a:t>
            </a:r>
            <a:r>
              <a:rPr lang="en-US" altLang="ja-JP" dirty="0" err="1" smtClean="0"/>
              <a:t>calloc</a:t>
            </a:r>
            <a:r>
              <a:rPr lang="ja-JP" altLang="en-US" dirty="0" smtClean="0"/>
              <a:t>のみ紹介する。</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571472" y="357166"/>
            <a:ext cx="7620000" cy="685800"/>
          </a:xfrm>
        </p:spPr>
        <p:txBody>
          <a:bodyPr>
            <a:noAutofit/>
          </a:bodyPr>
          <a:lstStyle/>
          <a:p>
            <a:pPr eaLnBrk="1" hangingPunct="1">
              <a:defRPr/>
            </a:pPr>
            <a:r>
              <a:rPr lang="ja-JP" altLang="en-US" sz="4000" dirty="0" smtClean="0">
                <a:ea typeface="ＭＳ Ｐゴシック" pitchFamily="-64" charset="-128"/>
              </a:rPr>
              <a:t>動的な記憶域確保</a:t>
            </a:r>
          </a:p>
        </p:txBody>
      </p:sp>
      <p:sp>
        <p:nvSpPr>
          <p:cNvPr id="17413" name="Rectangle 3"/>
          <p:cNvSpPr>
            <a:spLocks noGrp="1" noChangeArrowheads="1"/>
          </p:cNvSpPr>
          <p:nvPr>
            <p:ph type="body" idx="1"/>
          </p:nvPr>
        </p:nvSpPr>
        <p:spPr>
          <a:xfrm>
            <a:off x="642910" y="1285860"/>
            <a:ext cx="8072494" cy="4357718"/>
          </a:xfrm>
        </p:spPr>
        <p:txBody>
          <a:bodyPr>
            <a:noAutofit/>
          </a:bodyPr>
          <a:lstStyle/>
          <a:p>
            <a:pPr eaLnBrk="1" hangingPunct="1">
              <a:lnSpc>
                <a:spcPct val="90000"/>
              </a:lnSpc>
            </a:pPr>
            <a:r>
              <a:rPr lang="ja-JP" altLang="en-US" sz="2800" dirty="0" smtClean="0">
                <a:ea typeface="ＭＳ Ｐゴシック" pitchFamily="-64" charset="-128"/>
              </a:rPr>
              <a:t>これまでの方法</a:t>
            </a:r>
            <a:endParaRPr lang="en-US" altLang="ja-JP" sz="2800" dirty="0" smtClean="0">
              <a:ea typeface="ＭＳ Ｐゴシック" pitchFamily="-64" charset="-128"/>
            </a:endParaRPr>
          </a:p>
          <a:p>
            <a:pPr lvl="1" eaLnBrk="1" hangingPunct="1">
              <a:lnSpc>
                <a:spcPct val="90000"/>
              </a:lnSpc>
            </a:pPr>
            <a:r>
              <a:rPr lang="ja-JP" altLang="en-US" dirty="0" smtClean="0">
                <a:ea typeface="ＭＳ Ｐゴシック" pitchFamily="-64" charset="-128"/>
              </a:rPr>
              <a:t>配列の要素数は固定。</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あらかじめ十分な大きさの配列を確保しておく必要があった。</a:t>
            </a:r>
            <a:endParaRPr lang="en-US" altLang="ja-JP" dirty="0" smtClean="0">
              <a:ea typeface="ＭＳ Ｐゴシック" pitchFamily="-64" charset="-128"/>
            </a:endParaRPr>
          </a:p>
          <a:p>
            <a:pPr eaLnBrk="1" hangingPunct="1">
              <a:lnSpc>
                <a:spcPct val="90000"/>
              </a:lnSpc>
            </a:pPr>
            <a:r>
              <a:rPr lang="ja-JP" altLang="en-US" sz="2800" dirty="0" smtClean="0">
                <a:ea typeface="ＭＳ Ｐゴシック" pitchFamily="-64" charset="-128"/>
              </a:rPr>
              <a:t>今回紹介する方法</a:t>
            </a:r>
            <a:endParaRPr lang="en-US" altLang="ja-JP" sz="2800" dirty="0" smtClean="0">
              <a:ea typeface="ＭＳ Ｐゴシック" pitchFamily="-64" charset="-128"/>
            </a:endParaRPr>
          </a:p>
          <a:p>
            <a:pPr lvl="1">
              <a:lnSpc>
                <a:spcPct val="90000"/>
              </a:lnSpc>
            </a:pPr>
            <a:r>
              <a:rPr lang="ja-JP" altLang="en-US" dirty="0" smtClean="0">
                <a:ea typeface="ＭＳ Ｐゴシック" pitchFamily="-64" charset="-128"/>
              </a:rPr>
              <a:t>問題に応じて、適切なサイズの配列を確保するには、プログラムの実行時に確保を行う必要がある。</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余分なメモリの使用を避けることができる。</a:t>
            </a:r>
            <a:endParaRPr lang="en-US" altLang="ja-JP" dirty="0" smtClean="0">
              <a:ea typeface="ＭＳ Ｐゴシック" pitchFamily="-64" charset="-128"/>
            </a:endParaRPr>
          </a:p>
        </p:txBody>
      </p:sp>
      <p:sp>
        <p:nvSpPr>
          <p:cNvPr id="7" name="テキスト ボックス 6"/>
          <p:cNvSpPr txBox="1"/>
          <p:nvPr/>
        </p:nvSpPr>
        <p:spPr>
          <a:xfrm>
            <a:off x="4035458" y="1285860"/>
            <a:ext cx="3465500" cy="461665"/>
          </a:xfrm>
          <a:prstGeom prst="rect">
            <a:avLst/>
          </a:prstGeom>
          <a:solidFill>
            <a:srgbClr val="FFFF00"/>
          </a:solidFill>
          <a:ln>
            <a:solidFill>
              <a:schemeClr val="tx1"/>
            </a:solidFill>
          </a:ln>
        </p:spPr>
        <p:txBody>
          <a:bodyPr wrap="none" rtlCol="0">
            <a:spAutoFit/>
          </a:bodyPr>
          <a:lstStyle/>
          <a:p>
            <a:r>
              <a:rPr lang="ja-JP" altLang="en-US" sz="2400" dirty="0" smtClean="0"/>
              <a:t>静的</a:t>
            </a:r>
            <a:r>
              <a:rPr lang="en-US" altLang="ja-JP" sz="2400" dirty="0" smtClean="0"/>
              <a:t>(static)</a:t>
            </a:r>
            <a:r>
              <a:rPr lang="ja-JP" altLang="en-US" sz="2400" dirty="0" smtClean="0"/>
              <a:t>な記憶域確保</a:t>
            </a:r>
            <a:endParaRPr kumimoji="1" lang="ja-JP" altLang="en-US" sz="2400" dirty="0"/>
          </a:p>
        </p:txBody>
      </p:sp>
      <p:sp>
        <p:nvSpPr>
          <p:cNvPr id="8" name="テキスト ボックス 7"/>
          <p:cNvSpPr txBox="1"/>
          <p:nvPr/>
        </p:nvSpPr>
        <p:spPr>
          <a:xfrm>
            <a:off x="4071934" y="3071810"/>
            <a:ext cx="3858749" cy="461665"/>
          </a:xfrm>
          <a:prstGeom prst="rect">
            <a:avLst/>
          </a:prstGeom>
          <a:solidFill>
            <a:srgbClr val="FFFF00"/>
          </a:solidFill>
          <a:ln>
            <a:solidFill>
              <a:schemeClr val="tx1"/>
            </a:solidFill>
          </a:ln>
        </p:spPr>
        <p:txBody>
          <a:bodyPr wrap="none" rtlCol="0">
            <a:spAutoFit/>
          </a:bodyPr>
          <a:lstStyle/>
          <a:p>
            <a:r>
              <a:rPr lang="ja-JP" altLang="en-US" sz="2400" dirty="0" smtClean="0"/>
              <a:t>動的</a:t>
            </a:r>
            <a:r>
              <a:rPr lang="en-US" altLang="ja-JP" sz="2400" dirty="0" smtClean="0"/>
              <a:t>(dynamic)</a:t>
            </a:r>
            <a:r>
              <a:rPr lang="ja-JP" altLang="en-US" sz="2400" dirty="0" smtClean="0"/>
              <a:t>な記憶域確保</a:t>
            </a:r>
            <a:endParaRPr kumimoji="1" lang="ja-JP" altLang="en-US" sz="2400" dirty="0"/>
          </a:p>
        </p:txBody>
      </p:sp>
      <p:sp>
        <p:nvSpPr>
          <p:cNvPr id="9" name="テキスト ボックス 8"/>
          <p:cNvSpPr txBox="1"/>
          <p:nvPr/>
        </p:nvSpPr>
        <p:spPr>
          <a:xfrm>
            <a:off x="1357290" y="5643578"/>
            <a:ext cx="6326860" cy="954107"/>
          </a:xfrm>
          <a:prstGeom prst="rect">
            <a:avLst/>
          </a:prstGeom>
          <a:noFill/>
          <a:ln>
            <a:solidFill>
              <a:schemeClr val="tx1"/>
            </a:solidFill>
          </a:ln>
        </p:spPr>
        <p:txBody>
          <a:bodyPr wrap="none" rtlCol="0">
            <a:spAutoFit/>
          </a:bodyPr>
          <a:lstStyle/>
          <a:p>
            <a:r>
              <a:rPr kumimoji="1" lang="ja-JP" altLang="en-US" sz="2800" dirty="0" smtClean="0"/>
              <a:t>静的</a:t>
            </a:r>
            <a:r>
              <a:rPr kumimoji="1" lang="en-US" altLang="ja-JP" sz="2800" dirty="0" smtClean="0"/>
              <a:t>(static)</a:t>
            </a:r>
            <a:r>
              <a:rPr kumimoji="1" lang="ja-JP" altLang="en-US" sz="2800" dirty="0" smtClean="0"/>
              <a:t> </a:t>
            </a:r>
            <a:r>
              <a:rPr kumimoji="1" lang="en-US" altLang="ja-JP" sz="2800" dirty="0" smtClean="0"/>
              <a:t>--- </a:t>
            </a:r>
            <a:r>
              <a:rPr kumimoji="1" lang="ja-JP" altLang="en-US" sz="2800" dirty="0" smtClean="0"/>
              <a:t>プログラムのコンパイル時</a:t>
            </a:r>
            <a:endParaRPr kumimoji="1" lang="en-US" altLang="ja-JP" sz="2800" dirty="0" smtClean="0"/>
          </a:p>
          <a:p>
            <a:r>
              <a:rPr kumimoji="1" lang="ja-JP" altLang="en-US" sz="2800" dirty="0" smtClean="0"/>
              <a:t>動的</a:t>
            </a:r>
            <a:r>
              <a:rPr kumimoji="1" lang="en-US" altLang="ja-JP" sz="2800" dirty="0" smtClean="0"/>
              <a:t>(dynamic)</a:t>
            </a:r>
            <a:r>
              <a:rPr kumimoji="1" lang="ja-JP" altLang="en-US" sz="2800" dirty="0" smtClean="0"/>
              <a:t> </a:t>
            </a:r>
            <a:r>
              <a:rPr kumimoji="1" lang="en-US" altLang="ja-JP" sz="2800" dirty="0" smtClean="0"/>
              <a:t>--- </a:t>
            </a:r>
            <a:r>
              <a:rPr kumimoji="1" lang="ja-JP" altLang="en-US" sz="2800" dirty="0" smtClean="0"/>
              <a:t>プログラムの実行時</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ヒープ領域</a:t>
            </a:r>
            <a:r>
              <a:rPr lang="en-US" altLang="ja-JP" dirty="0" smtClean="0"/>
              <a:t>(heap)</a:t>
            </a:r>
            <a:endParaRPr kumimoji="1" lang="ja-JP" altLang="en-US" dirty="0"/>
          </a:p>
        </p:txBody>
      </p:sp>
      <p:sp>
        <p:nvSpPr>
          <p:cNvPr id="3" name="コンテンツ プレースホルダ 2"/>
          <p:cNvSpPr>
            <a:spLocks noGrp="1"/>
          </p:cNvSpPr>
          <p:nvPr>
            <p:ph idx="1"/>
          </p:nvPr>
        </p:nvSpPr>
        <p:spPr>
          <a:xfrm>
            <a:off x="500034" y="1385886"/>
            <a:ext cx="8229600" cy="3328998"/>
          </a:xfrm>
        </p:spPr>
        <p:txBody>
          <a:bodyPr>
            <a:normAutofit lnSpcReduction="10000"/>
          </a:bodyPr>
          <a:lstStyle/>
          <a:p>
            <a:r>
              <a:rPr kumimoji="1" lang="ja-JP" altLang="en-US" sz="2800" dirty="0" smtClean="0"/>
              <a:t>プログラムからはヒープ領域</a:t>
            </a:r>
            <a:r>
              <a:rPr kumimoji="1" lang="en-US" altLang="ja-JP" sz="2800" dirty="0" smtClean="0"/>
              <a:t>(heap)</a:t>
            </a:r>
            <a:r>
              <a:rPr kumimoji="1" lang="ja-JP" altLang="en-US" sz="2800" dirty="0" smtClean="0"/>
              <a:t>を用いることができる。</a:t>
            </a:r>
            <a:endParaRPr kumimoji="1" lang="en-US" altLang="ja-JP" sz="2800" dirty="0" smtClean="0"/>
          </a:p>
          <a:p>
            <a:r>
              <a:rPr lang="ja-JP" altLang="en-US" sz="2800" dirty="0" smtClean="0"/>
              <a:t>ヒープ領域を使うには、</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というライブラリ関数を呼び出すことにより領域を確保する。使い終わったら、</a:t>
            </a:r>
            <a:r>
              <a:rPr lang="en-US" altLang="ja-JP" sz="2800" dirty="0" smtClean="0"/>
              <a:t>free</a:t>
            </a:r>
            <a:r>
              <a:rPr lang="ja-JP" altLang="en-US" sz="2800" dirty="0" smtClean="0"/>
              <a:t>というライブラリ関数を呼び出すことにより解放する。解放することにより、それ以降の</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の呼び出し時に再利用可能になる。</a:t>
            </a:r>
            <a:endParaRPr lang="en-US" altLang="ja-JP" sz="2800" dirty="0" smtClean="0"/>
          </a:p>
        </p:txBody>
      </p:sp>
      <p:sp>
        <p:nvSpPr>
          <p:cNvPr id="4" name="正方形/長方形 3"/>
          <p:cNvSpPr/>
          <p:nvPr/>
        </p:nvSpPr>
        <p:spPr>
          <a:xfrm>
            <a:off x="928662" y="5214950"/>
            <a:ext cx="7358114" cy="954107"/>
          </a:xfrm>
          <a:prstGeom prst="rect">
            <a:avLst/>
          </a:prstGeom>
          <a:ln>
            <a:solidFill>
              <a:schemeClr val="tx1"/>
            </a:solidFill>
          </a:ln>
        </p:spPr>
        <p:txBody>
          <a:bodyPr wrap="square">
            <a:spAutoFit/>
          </a:bodyPr>
          <a:lstStyle/>
          <a:p>
            <a:r>
              <a:rPr lang="ja-JP" altLang="en-US" sz="2800" dirty="0" smtClean="0"/>
              <a:t>（注意）ここでいうヒープ領域は、データ構造の授業で習う木構造のヒープとは関係がない。</a:t>
            </a:r>
            <a:endParaRPr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642910" y="214290"/>
            <a:ext cx="7620000" cy="685800"/>
          </a:xfrm>
        </p:spPr>
        <p:txBody>
          <a:bodyPr>
            <a:normAutofit/>
          </a:bodyPr>
          <a:lstStyle/>
          <a:p>
            <a:pPr eaLnBrk="1" hangingPunct="1">
              <a:defRPr/>
            </a:pPr>
            <a:r>
              <a:rPr lang="en-US" altLang="ja-JP" sz="3400" dirty="0" err="1" smtClean="0"/>
              <a:t>calloc</a:t>
            </a:r>
            <a:r>
              <a:rPr lang="ja-JP" altLang="en-US" sz="3400" dirty="0" smtClean="0"/>
              <a:t>関数</a:t>
            </a:r>
            <a:endParaRPr lang="en-US" altLang="ja-JP" sz="3400" dirty="0" smtClean="0"/>
          </a:p>
        </p:txBody>
      </p:sp>
      <p:sp>
        <p:nvSpPr>
          <p:cNvPr id="18437" name="Rectangle 3"/>
          <p:cNvSpPr>
            <a:spLocks noGrp="1" noChangeArrowheads="1"/>
          </p:cNvSpPr>
          <p:nvPr>
            <p:ph type="body" idx="1"/>
          </p:nvPr>
        </p:nvSpPr>
        <p:spPr>
          <a:xfrm>
            <a:off x="539552" y="1268760"/>
            <a:ext cx="7920880" cy="5328592"/>
          </a:xfrm>
        </p:spPr>
        <p:txBody>
          <a:bodyPr>
            <a:noAutofit/>
          </a:bodyPr>
          <a:lstStyle/>
          <a:p>
            <a:pPr eaLnBrk="1" hangingPunct="1"/>
            <a:r>
              <a:rPr lang="ja-JP" altLang="en-US" sz="2400" dirty="0" smtClean="0"/>
              <a:t>ヒープ領域から実行時に記憶域を確保する。</a:t>
            </a:r>
            <a:endParaRPr lang="en-US" altLang="ja-JP" sz="2400" dirty="0" smtClean="0"/>
          </a:p>
          <a:p>
            <a:pPr lvl="0"/>
            <a:r>
              <a:rPr lang="ja-JP" altLang="en-US" sz="2400" dirty="0" smtClean="0"/>
              <a:t>引数として、データ型のサイズ</a:t>
            </a:r>
            <a:r>
              <a:rPr lang="en-US" altLang="ja-JP" sz="2400" dirty="0" smtClean="0"/>
              <a:t>size</a:t>
            </a:r>
            <a:r>
              <a:rPr lang="ja-JP" altLang="en-US" sz="2400" dirty="0" smtClean="0"/>
              <a:t>（第２引数）と、その個数</a:t>
            </a:r>
            <a:r>
              <a:rPr lang="en-US" altLang="ja-JP" sz="2400" dirty="0" smtClean="0"/>
              <a:t>n</a:t>
            </a:r>
            <a:r>
              <a:rPr lang="ja-JP" altLang="en-US" sz="2400" dirty="0" smtClean="0"/>
              <a:t>（第１引数）を受け取り、１つの要素の大きさが</a:t>
            </a:r>
            <a:r>
              <a:rPr lang="en-US" altLang="ja-JP" sz="2400" dirty="0" smtClean="0"/>
              <a:t>size</a:t>
            </a:r>
            <a:r>
              <a:rPr lang="ja-JP" altLang="en-US" sz="2400" dirty="0" smtClean="0"/>
              <a:t>で長さ</a:t>
            </a:r>
            <a:r>
              <a:rPr lang="en-US" altLang="ja-JP" sz="2400" dirty="0" smtClean="0"/>
              <a:t>n</a:t>
            </a:r>
            <a:r>
              <a:rPr lang="ja-JP" altLang="en-US" sz="2400" dirty="0" smtClean="0"/>
              <a:t>の配列の領域を確保する。確保した領域のすべてのビットが</a:t>
            </a:r>
            <a:r>
              <a:rPr lang="en-US" altLang="ja-JP" sz="2400" dirty="0" smtClean="0"/>
              <a:t>0</a:t>
            </a:r>
            <a:r>
              <a:rPr lang="ja-JP" altLang="en-US" sz="2400" dirty="0" smtClean="0"/>
              <a:t>で初期化される。</a:t>
            </a:r>
            <a:r>
              <a:rPr kumimoji="0" lang="ja-JP" altLang="en-US" sz="2400" dirty="0" smtClean="0">
                <a:latin typeface="News Gothic" pitchFamily="34" charset="0"/>
                <a:ea typeface="ヒラギノ角ゴ Pro W3" pitchFamily="-64" charset="-128"/>
              </a:rPr>
              <a:t>領域確保に成功した場合は、その領域の先頭へのポインタを返し、失敗した場合は、ヌルポインタを返す。返り値の型は</a:t>
            </a:r>
            <a:r>
              <a:rPr kumimoji="0" lang="en-US" altLang="ja-JP" sz="2400" dirty="0" smtClean="0">
                <a:latin typeface="News Gothic" pitchFamily="34" charset="0"/>
                <a:ea typeface="ヒラギノ角ゴ Pro W3" pitchFamily="-64" charset="-128"/>
              </a:rPr>
              <a:t>void *</a:t>
            </a:r>
            <a:r>
              <a:rPr kumimoji="0" lang="ja-JP" altLang="en-US" sz="2400" dirty="0" smtClean="0">
                <a:latin typeface="News Gothic" pitchFamily="34" charset="0"/>
                <a:ea typeface="ヒラギノ角ゴ Pro W3" pitchFamily="-64" charset="-128"/>
              </a:rPr>
              <a:t>型である。返り値は、</a:t>
            </a:r>
            <a:r>
              <a:rPr lang="ja-JP" altLang="en-US" sz="2400" dirty="0" smtClean="0"/>
              <a:t>ポインタ型の変数に代入するときはキャストする必要はない（キャストしてもよいが）。</a:t>
            </a:r>
            <a:endParaRPr lang="en-US" altLang="ja-JP" sz="2400" dirty="0" smtClean="0"/>
          </a:p>
          <a:p>
            <a:r>
              <a:rPr lang="ja-JP" altLang="en-US" sz="2400" dirty="0" smtClean="0"/>
              <a:t>データ型のサイズは、</a:t>
            </a:r>
            <a:r>
              <a:rPr lang="en-US" altLang="ja-JP" sz="2400" dirty="0" err="1" smtClean="0"/>
              <a:t>sizeof</a:t>
            </a:r>
            <a:r>
              <a:rPr lang="en-US" altLang="ja-JP" sz="2400" dirty="0" smtClean="0"/>
              <a:t> (</a:t>
            </a:r>
            <a:r>
              <a:rPr lang="ja-JP" altLang="en-US" sz="2400" dirty="0" smtClean="0"/>
              <a:t>型式</a:t>
            </a:r>
            <a:r>
              <a:rPr lang="en-US" altLang="ja-JP" sz="2400" dirty="0" smtClean="0"/>
              <a:t>) </a:t>
            </a:r>
            <a:r>
              <a:rPr lang="ja-JP" altLang="en-US" sz="2400" dirty="0" smtClean="0"/>
              <a:t>で取得できる。</a:t>
            </a:r>
            <a:endParaRPr lang="en-US" altLang="ja-JP" sz="2400" dirty="0" smtClean="0"/>
          </a:p>
          <a:p>
            <a:r>
              <a:rPr lang="en-US" altLang="ja-JP" sz="2400" dirty="0" err="1" smtClean="0"/>
              <a:t>calloc</a:t>
            </a:r>
            <a:r>
              <a:rPr lang="ja-JP" altLang="en-US" sz="2400" dirty="0" smtClean="0"/>
              <a:t>関数を使うためには</a:t>
            </a:r>
            <a:r>
              <a:rPr lang="en-US" altLang="ja-JP" sz="2400" dirty="0" err="1" smtClean="0"/>
              <a:t>stdlib.h</a:t>
            </a:r>
            <a:r>
              <a:rPr lang="ja-JP" altLang="en-US" sz="2400" dirty="0" smtClean="0"/>
              <a:t>をインクルードする必要がある。</a:t>
            </a:r>
            <a:endParaRPr lang="en-US" altLang="ja-JP" sz="2400" dirty="0" smtClean="0"/>
          </a:p>
          <a:p>
            <a:pPr eaLnBrk="1" hangingPunct="1">
              <a:buNone/>
            </a:pPr>
            <a:endParaRPr lang="en-US" altLang="ja-JP" sz="24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ヌル</a:t>
            </a:r>
            <a:r>
              <a:rPr lang="ja-JP" altLang="en-US" dirty="0" smtClean="0"/>
              <a:t>ポインタ</a:t>
            </a:r>
            <a:endParaRPr kumimoji="1" lang="ja-JP" altLang="en-US" dirty="0"/>
          </a:p>
        </p:txBody>
      </p:sp>
      <p:sp>
        <p:nvSpPr>
          <p:cNvPr id="4" name="テキスト ボックス 3"/>
          <p:cNvSpPr txBox="1"/>
          <p:nvPr/>
        </p:nvSpPr>
        <p:spPr>
          <a:xfrm>
            <a:off x="457200" y="1556792"/>
            <a:ext cx="7931225" cy="4893647"/>
          </a:xfrm>
          <a:prstGeom prst="rect">
            <a:avLst/>
          </a:prstGeom>
          <a:noFill/>
        </p:spPr>
        <p:txBody>
          <a:bodyPr wrap="square" rtlCol="0">
            <a:spAutoFit/>
          </a:bodyPr>
          <a:lstStyle/>
          <a:p>
            <a:r>
              <a:rPr kumimoji="1" lang="ja-JP" altLang="en-US" sz="2400" dirty="0" smtClean="0"/>
              <a:t>ヌルポインタ</a:t>
            </a:r>
            <a:r>
              <a:rPr lang="en-US" altLang="ja-JP" sz="2400" dirty="0" smtClean="0"/>
              <a:t>(null pointer)</a:t>
            </a:r>
            <a:r>
              <a:rPr lang="ja-JP" altLang="en-US" sz="2400" dirty="0" smtClean="0"/>
              <a:t>は、どこも指さないポインタであり、何かを指しているポインタとは異なることが保証されている。</a:t>
            </a:r>
            <a:endParaRPr lang="en-US" altLang="ja-JP" sz="2400" dirty="0" smtClean="0"/>
          </a:p>
          <a:p>
            <a:r>
              <a:rPr lang="ja-JP" altLang="en-US" sz="2400" dirty="0" smtClean="0"/>
              <a:t>整数値</a:t>
            </a:r>
            <a:r>
              <a:rPr lang="en-US" altLang="ja-JP" sz="2400" dirty="0" smtClean="0"/>
              <a:t>0</a:t>
            </a:r>
            <a:r>
              <a:rPr lang="ja-JP" altLang="en-US" sz="2400" dirty="0" smtClean="0"/>
              <a:t>は、任意のポインタ型へ変換でき、その結果がヌルポインタである。</a:t>
            </a:r>
            <a:endParaRPr lang="en-US" altLang="ja-JP" sz="2400" dirty="0" smtClean="0"/>
          </a:p>
          <a:p>
            <a:endParaRPr lang="en-US" altLang="ja-JP" sz="2400" dirty="0" smtClean="0"/>
          </a:p>
          <a:p>
            <a:r>
              <a:rPr lang="ja-JP" altLang="en-US" sz="2400" dirty="0" smtClean="0"/>
              <a:t>ヌルポインタを表すため、ヌルポインタ定数（</a:t>
            </a:r>
            <a:r>
              <a:rPr lang="en-US" altLang="ja-JP" sz="2400" dirty="0" smtClean="0"/>
              <a:t>0</a:t>
            </a:r>
            <a:r>
              <a:rPr lang="ja-JP" altLang="en-US" sz="2400" dirty="0" smtClean="0"/>
              <a:t>か、あるいは</a:t>
            </a:r>
            <a:r>
              <a:rPr lang="en-US" altLang="ja-JP" sz="2400" dirty="0" smtClean="0"/>
              <a:t>(void *) 0</a:t>
            </a:r>
            <a:r>
              <a:rPr lang="ja-JP" altLang="en-US" sz="2400" dirty="0" smtClean="0"/>
              <a:t>）がマクロ</a:t>
            </a:r>
            <a:r>
              <a:rPr lang="en-US" altLang="ja-JP" sz="2400" dirty="0" smtClean="0"/>
              <a:t>NULL</a:t>
            </a:r>
            <a:r>
              <a:rPr lang="ja-JP" altLang="en-US" sz="2400" dirty="0" smtClean="0"/>
              <a:t>として</a:t>
            </a:r>
            <a:r>
              <a:rPr lang="en-US" altLang="ja-JP" sz="2400" dirty="0" err="1" smtClean="0"/>
              <a:t>stddef.h</a:t>
            </a:r>
            <a:r>
              <a:rPr lang="ja-JP" altLang="en-US" sz="2400" dirty="0" smtClean="0"/>
              <a:t>に定義されている。（</a:t>
            </a:r>
            <a:r>
              <a:rPr lang="en-US" altLang="ja-JP" sz="2400" dirty="0" err="1" smtClean="0"/>
              <a:t>stdlib.h</a:t>
            </a:r>
            <a:r>
              <a:rPr lang="ja-JP" altLang="en-US" sz="2400" dirty="0" smtClean="0"/>
              <a:t>などのいくつかの他のヘッダーファイルにも定義されている。）</a:t>
            </a:r>
            <a:endParaRPr lang="en-US" altLang="ja-JP" sz="2400" dirty="0" smtClean="0"/>
          </a:p>
          <a:p>
            <a:endParaRPr kumimoji="1" lang="en-US" altLang="ja-JP" sz="2400" dirty="0" smtClean="0"/>
          </a:p>
          <a:p>
            <a:r>
              <a:rPr lang="ja-JP" altLang="en-US" sz="2400" dirty="0" smtClean="0"/>
              <a:t>ヌルポインタは、キャスト無しで任意のポインタ型の変数に代入したり、任意のポインタ型の値と比較してよい。自動的に型変換される（暗黙の型変換）。</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1026"/>
          <p:cNvSpPr>
            <a:spLocks noGrp="1" noChangeArrowheads="1"/>
          </p:cNvSpPr>
          <p:nvPr>
            <p:ph type="title"/>
          </p:nvPr>
        </p:nvSpPr>
        <p:spPr>
          <a:xfrm>
            <a:off x="228600" y="228600"/>
            <a:ext cx="8343928" cy="685800"/>
          </a:xfrm>
        </p:spPr>
        <p:txBody>
          <a:bodyPr>
            <a:normAutofit fontScale="90000"/>
          </a:bodyPr>
          <a:lstStyle/>
          <a:p>
            <a:pPr eaLnBrk="1" hangingPunct="1">
              <a:defRPr/>
            </a:pPr>
            <a:r>
              <a:rPr lang="ja-JP" altLang="en-US" dirty="0" smtClean="0"/>
              <a:t>例（打ち込んで確認）</a:t>
            </a:r>
            <a:endParaRPr lang="en-US" altLang="ja-JP" dirty="0" smtClean="0"/>
          </a:p>
        </p:txBody>
      </p:sp>
      <p:sp>
        <p:nvSpPr>
          <p:cNvPr id="19461" name="Rectangle 1028"/>
          <p:cNvSpPr>
            <a:spLocks noChangeArrowheads="1"/>
          </p:cNvSpPr>
          <p:nvPr/>
        </p:nvSpPr>
        <p:spPr bwMode="auto">
          <a:xfrm>
            <a:off x="468313" y="1125538"/>
            <a:ext cx="7175521" cy="517512"/>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64" charset="2"/>
              <a:buChar char="n"/>
            </a:pPr>
            <a:endParaRPr lang="ja-JP" altLang="en-US" sz="2200" b="0" dirty="0">
              <a:latin typeface="News Gothic" pitchFamily="34" charset="0"/>
            </a:endParaRPr>
          </a:p>
        </p:txBody>
      </p:sp>
      <p:sp>
        <p:nvSpPr>
          <p:cNvPr id="10" name="正方形/長方形 9"/>
          <p:cNvSpPr/>
          <p:nvPr/>
        </p:nvSpPr>
        <p:spPr>
          <a:xfrm>
            <a:off x="642910" y="1071546"/>
            <a:ext cx="6572296" cy="5262979"/>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solidFill>
                  <a:srgbClr val="FF3300"/>
                </a:solidFill>
              </a:rPr>
              <a:t>#include &lt;</a:t>
            </a:r>
            <a:r>
              <a:rPr lang="en-US" altLang="ja-JP" sz="2400" dirty="0" err="1" smtClean="0">
                <a:solidFill>
                  <a:srgbClr val="FF3300"/>
                </a:solidFill>
              </a:rPr>
              <a:t>stdlib.h</a:t>
            </a:r>
            <a:r>
              <a:rPr lang="en-US" altLang="ja-JP" sz="2400" dirty="0" smtClean="0">
                <a:solidFill>
                  <a:srgbClr val="FF3300"/>
                </a:solidFill>
              </a:rPr>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*p;</a:t>
            </a:r>
          </a:p>
          <a:p>
            <a:pPr>
              <a:defRPr/>
            </a:pPr>
            <a:r>
              <a:rPr lang="en-US" altLang="ja-JP" sz="2400" dirty="0" smtClean="0"/>
              <a:t>    p = </a:t>
            </a:r>
            <a:r>
              <a:rPr lang="en-US" altLang="ja-JP" sz="2400" dirty="0" err="1" smtClean="0">
                <a:solidFill>
                  <a:srgbClr val="FF0000"/>
                </a:solidFill>
              </a:rPr>
              <a:t>calloc</a:t>
            </a:r>
            <a:r>
              <a:rPr lang="en-US" altLang="ja-JP" sz="2400" dirty="0" smtClean="0">
                <a:solidFill>
                  <a:srgbClr val="FF0000"/>
                </a:solidFill>
              </a:rPr>
              <a:t> (1, </a:t>
            </a:r>
            <a:r>
              <a:rPr lang="en-US" altLang="ja-JP" sz="2400" dirty="0" err="1" smtClean="0">
                <a:solidFill>
                  <a:srgbClr val="FF0000"/>
                </a:solidFill>
              </a:rPr>
              <a:t>sizeof</a:t>
            </a:r>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a:t>
            </a:r>
            <a:r>
              <a:rPr lang="en-US" altLang="ja-JP" sz="2400" dirty="0" smtClean="0"/>
              <a:t>;  </a:t>
            </a:r>
          </a:p>
          <a:p>
            <a:pPr>
              <a:defRPr/>
            </a:pPr>
            <a:r>
              <a:rPr lang="en-US" altLang="ja-JP" sz="2400" dirty="0" smtClean="0"/>
              <a:t>    if( p == </a:t>
            </a:r>
            <a:r>
              <a:rPr lang="en-US" altLang="ja-JP" sz="2400" dirty="0" smtClean="0">
                <a:solidFill>
                  <a:srgbClr val="FF0000"/>
                </a:solidFill>
              </a:rPr>
              <a:t>NULL</a:t>
            </a:r>
            <a:r>
              <a:rPr lang="en-US" altLang="ja-JP" sz="2400" dirty="0" smtClean="0"/>
              <a:t> )</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*p = 15;</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("*p = %d\n", *p );</a:t>
            </a:r>
          </a:p>
          <a:p>
            <a:pPr>
              <a:defRPr/>
            </a:pPr>
            <a:r>
              <a:rPr lang="en-US" altLang="ja-JP" sz="2400" dirty="0" smtClean="0"/>
              <a:t>    }</a:t>
            </a:r>
          </a:p>
          <a:p>
            <a:pPr>
              <a:defRPr/>
            </a:pPr>
            <a:r>
              <a:rPr lang="en-US" altLang="ja-JP" sz="2400" dirty="0" smtClean="0"/>
              <a:t>    return 0;		</a:t>
            </a:r>
          </a:p>
          <a:p>
            <a:pPr>
              <a:defRPr/>
            </a:pPr>
            <a:r>
              <a:rPr lang="en-US" altLang="ja-JP" sz="2400" dirty="0" smtClean="0"/>
              <a:t>}</a:t>
            </a:r>
            <a:endParaRPr lang="ja-JP" altLang="en-US" sz="2400" dirty="0"/>
          </a:p>
        </p:txBody>
      </p:sp>
      <p:sp>
        <p:nvSpPr>
          <p:cNvPr id="11" name="正方形/長方形 10"/>
          <p:cNvSpPr/>
          <p:nvPr/>
        </p:nvSpPr>
        <p:spPr>
          <a:xfrm>
            <a:off x="2027975" y="2317151"/>
            <a:ext cx="3071834" cy="646331"/>
          </a:xfrm>
          <a:prstGeom prst="rect">
            <a:avLst/>
          </a:prstGeom>
          <a:solidFill>
            <a:schemeClr val="bg1"/>
          </a:solidFill>
          <a:ln>
            <a:solidFill>
              <a:schemeClr val="tx1"/>
            </a:solidFill>
          </a:ln>
        </p:spPr>
        <p:txBody>
          <a:bodyPr wrap="square">
            <a:spAutoFit/>
          </a:bodyPr>
          <a:lstStyle/>
          <a:p>
            <a:r>
              <a:rPr lang="en-US" altLang="ja-JP" dirty="0" err="1" smtClean="0">
                <a:latin typeface="News Gothic" pitchFamily="34" charset="0"/>
              </a:rPr>
              <a:t>int</a:t>
            </a:r>
            <a:r>
              <a:rPr lang="ja-JP" altLang="en-US" dirty="0" smtClean="0">
                <a:latin typeface="News Gothic" pitchFamily="34" charset="0"/>
              </a:rPr>
              <a:t>型１個分の記憶域をヒープ領域から割り当てる</a:t>
            </a:r>
            <a:endParaRPr lang="ja-JP" altLang="en-US" dirty="0"/>
          </a:p>
        </p:txBody>
      </p:sp>
      <p:sp>
        <p:nvSpPr>
          <p:cNvPr id="6" name="正方形/長方形 5"/>
          <p:cNvSpPr/>
          <p:nvPr/>
        </p:nvSpPr>
        <p:spPr>
          <a:xfrm>
            <a:off x="4203100" y="3323653"/>
            <a:ext cx="4572410" cy="369332"/>
          </a:xfrm>
          <a:prstGeom prst="rect">
            <a:avLst/>
          </a:prstGeom>
          <a:solidFill>
            <a:schemeClr val="bg1"/>
          </a:solidFill>
          <a:ln>
            <a:solidFill>
              <a:schemeClr val="tx1"/>
            </a:solidFill>
          </a:ln>
        </p:spPr>
        <p:txBody>
          <a:bodyPr wrap="square">
            <a:spAutoFit/>
          </a:bodyPr>
          <a:lstStyle/>
          <a:p>
            <a:r>
              <a:rPr lang="en-US" altLang="ja-JP" dirty="0" smtClean="0"/>
              <a:t>NULL</a:t>
            </a:r>
            <a:r>
              <a:rPr lang="ja-JP" altLang="en-US" dirty="0" smtClean="0"/>
              <a:t>はキャスト無しで</a:t>
            </a:r>
            <a:r>
              <a:rPr lang="en-US" altLang="ja-JP" dirty="0" smtClean="0"/>
              <a:t>p</a:t>
            </a:r>
            <a:r>
              <a:rPr lang="ja-JP" altLang="en-US" dirty="0" smtClean="0"/>
              <a:t>と比較してよい</a:t>
            </a:r>
            <a:endParaRPr lang="ja-JP" altLang="en-US" dirty="0"/>
          </a:p>
        </p:txBody>
      </p:sp>
      <p:sp>
        <p:nvSpPr>
          <p:cNvPr id="7" name="正方形/長方形 6"/>
          <p:cNvSpPr/>
          <p:nvPr/>
        </p:nvSpPr>
        <p:spPr>
          <a:xfrm>
            <a:off x="5332461" y="2594150"/>
            <a:ext cx="2584974" cy="646331"/>
          </a:xfrm>
          <a:prstGeom prst="rect">
            <a:avLst/>
          </a:prstGeom>
          <a:solidFill>
            <a:schemeClr val="bg1"/>
          </a:solidFill>
          <a:ln>
            <a:solidFill>
              <a:schemeClr val="tx1"/>
            </a:solidFill>
          </a:ln>
        </p:spPr>
        <p:txBody>
          <a:bodyPr wrap="square">
            <a:spAutoFit/>
          </a:bodyPr>
          <a:lstStyle/>
          <a:p>
            <a:r>
              <a:rPr lang="en-US" altLang="ja-JP" dirty="0" err="1" smtClean="0"/>
              <a:t>calloc</a:t>
            </a:r>
            <a:r>
              <a:rPr lang="ja-JP" altLang="en-US" dirty="0" smtClean="0"/>
              <a:t>の返り値はキャスト無しで</a:t>
            </a:r>
            <a:r>
              <a:rPr lang="en-US" altLang="ja-JP" dirty="0" smtClean="0"/>
              <a:t>p</a:t>
            </a:r>
            <a:r>
              <a:rPr lang="ja-JP" altLang="en-US" dirty="0" smtClean="0"/>
              <a:t>に代入してよい</a:t>
            </a:r>
            <a:endParaRPr lang="ja-JP"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16"/>
          <p:cNvSpPr>
            <a:spLocks noChangeArrowheads="1"/>
          </p:cNvSpPr>
          <p:nvPr/>
        </p:nvSpPr>
        <p:spPr bwMode="auto">
          <a:xfrm>
            <a:off x="5428569" y="5750636"/>
            <a:ext cx="1204913" cy="576263"/>
          </a:xfrm>
          <a:prstGeom prst="cube">
            <a:avLst>
              <a:gd name="adj" fmla="val 25000"/>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416770" name="Rectangle 2"/>
          <p:cNvSpPr>
            <a:spLocks noGrp="1" noChangeArrowheads="1"/>
          </p:cNvSpPr>
          <p:nvPr>
            <p:ph type="title"/>
          </p:nvPr>
        </p:nvSpPr>
        <p:spPr>
          <a:xfrm>
            <a:off x="304800" y="152400"/>
            <a:ext cx="7620000" cy="685800"/>
          </a:xfrm>
        </p:spPr>
        <p:txBody>
          <a:bodyPr>
            <a:normAutofit fontScale="90000"/>
          </a:bodyPr>
          <a:lstStyle/>
          <a:p>
            <a:pPr eaLnBrk="1" hangingPunct="1">
              <a:defRPr/>
            </a:pPr>
            <a:r>
              <a:rPr lang="ja-JP" altLang="en-US" dirty="0" smtClean="0"/>
              <a:t>解説</a:t>
            </a:r>
            <a:endParaRPr lang="en-US" altLang="ja-JP" dirty="0" smtClean="0"/>
          </a:p>
        </p:txBody>
      </p:sp>
      <p:sp>
        <p:nvSpPr>
          <p:cNvPr id="20485" name="Rectangle 3"/>
          <p:cNvSpPr>
            <a:spLocks noGrp="1" noChangeArrowheads="1"/>
          </p:cNvSpPr>
          <p:nvPr>
            <p:ph type="body" idx="1"/>
          </p:nvPr>
        </p:nvSpPr>
        <p:spPr>
          <a:xfrm>
            <a:off x="381000" y="1196752"/>
            <a:ext cx="8511480" cy="660042"/>
          </a:xfrm>
        </p:spPr>
        <p:txBody>
          <a:bodyPr/>
          <a:lstStyle/>
          <a:p>
            <a:pPr eaLnBrk="1" hangingPunct="1"/>
            <a:r>
              <a:rPr lang="en-US" altLang="ja-JP" dirty="0" err="1" smtClean="0"/>
              <a:t>calloc</a:t>
            </a:r>
            <a:r>
              <a:rPr lang="ja-JP" altLang="en-US" dirty="0" smtClean="0"/>
              <a:t>関数による記憶域の動的な確保</a:t>
            </a:r>
            <a:endParaRPr lang="en-US" altLang="ja-JP" dirty="0" smtClean="0"/>
          </a:p>
        </p:txBody>
      </p:sp>
      <p:sp>
        <p:nvSpPr>
          <p:cNvPr id="20487" name="AutoShape 6"/>
          <p:cNvSpPr>
            <a:spLocks noChangeArrowheads="1"/>
          </p:cNvSpPr>
          <p:nvPr/>
        </p:nvSpPr>
        <p:spPr bwMode="auto">
          <a:xfrm>
            <a:off x="1457327" y="5776860"/>
            <a:ext cx="1357322" cy="592149"/>
          </a:xfrm>
          <a:prstGeom prst="cube">
            <a:avLst>
              <a:gd name="adj" fmla="val 30555"/>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20488" name="AutoShape 8"/>
          <p:cNvSpPr>
            <a:spLocks noChangeArrowheads="1"/>
          </p:cNvSpPr>
          <p:nvPr/>
        </p:nvSpPr>
        <p:spPr bwMode="auto">
          <a:xfrm>
            <a:off x="1462113" y="4490976"/>
            <a:ext cx="1352536" cy="1479552"/>
          </a:xfrm>
          <a:prstGeom prst="cube">
            <a:avLst>
              <a:gd name="adj" fmla="val 14199"/>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416782" name="AutoShape 14"/>
          <p:cNvSpPr>
            <a:spLocks noChangeArrowheads="1"/>
          </p:cNvSpPr>
          <p:nvPr/>
        </p:nvSpPr>
        <p:spPr bwMode="auto">
          <a:xfrm>
            <a:off x="529508" y="3092170"/>
            <a:ext cx="2896080" cy="1123712"/>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square" anchor="ctr">
            <a:spAutoFit/>
          </a:bodyPr>
          <a:lstStyle/>
          <a:p>
            <a:pPr algn="ctr">
              <a:defRPr/>
            </a:pPr>
            <a:r>
              <a:rPr lang="en-US" altLang="ja-JP" sz="2000" b="0" dirty="0" err="1" smtClean="0"/>
              <a:t>int</a:t>
            </a:r>
            <a:r>
              <a:rPr lang="ja-JP" altLang="en-US" sz="2000" b="0" dirty="0" smtClean="0"/>
              <a:t>型</a:t>
            </a:r>
            <a:r>
              <a:rPr lang="ja-JP" altLang="en-US" sz="2000" dirty="0" smtClean="0"/>
              <a:t>への</a:t>
            </a:r>
            <a:r>
              <a:rPr lang="ja-JP" altLang="en-US" sz="2000" b="0" dirty="0" smtClean="0"/>
              <a:t>ポインタ型の変数を</a:t>
            </a:r>
            <a:r>
              <a:rPr lang="ja-JP" altLang="en-US" sz="2000" dirty="0" smtClean="0"/>
              <a:t>宣言</a:t>
            </a:r>
            <a:endParaRPr lang="en-US" altLang="ja-JP" sz="2000" dirty="0" smtClean="0"/>
          </a:p>
          <a:p>
            <a:pPr algn="ctr">
              <a:defRPr/>
            </a:pPr>
            <a:r>
              <a:rPr lang="en-US" altLang="ja-JP" sz="2000" dirty="0" err="1" smtClean="0"/>
              <a:t>int</a:t>
            </a:r>
            <a:r>
              <a:rPr lang="en-US" altLang="ja-JP" sz="2000" dirty="0" smtClean="0"/>
              <a:t> * p;</a:t>
            </a:r>
          </a:p>
        </p:txBody>
      </p:sp>
      <p:sp>
        <p:nvSpPr>
          <p:cNvPr id="20493" name="AutoShape 16"/>
          <p:cNvSpPr>
            <a:spLocks noChangeArrowheads="1"/>
          </p:cNvSpPr>
          <p:nvPr/>
        </p:nvSpPr>
        <p:spPr bwMode="auto">
          <a:xfrm>
            <a:off x="5428567" y="535137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r>
              <a:rPr lang="en-US" altLang="ja-JP" b="0" dirty="0" smtClean="0"/>
              <a:t>...</a:t>
            </a:r>
            <a:endParaRPr lang="en-US" altLang="ja-JP" b="0" dirty="0"/>
          </a:p>
        </p:txBody>
      </p:sp>
      <p:sp>
        <p:nvSpPr>
          <p:cNvPr id="20494" name="AutoShape 17"/>
          <p:cNvSpPr>
            <a:spLocks noChangeArrowheads="1"/>
          </p:cNvSpPr>
          <p:nvPr/>
        </p:nvSpPr>
        <p:spPr bwMode="auto">
          <a:xfrm>
            <a:off x="5428567" y="4919578"/>
            <a:ext cx="1204913" cy="576263"/>
          </a:xfrm>
          <a:prstGeom prst="cube">
            <a:avLst>
              <a:gd name="adj" fmla="val 25000"/>
            </a:avLst>
          </a:prstGeom>
          <a:solidFill>
            <a:schemeClr val="accent1"/>
          </a:solidFill>
          <a:ln w="9525">
            <a:solidFill>
              <a:schemeClr val="tx1"/>
            </a:solidFill>
            <a:miter lim="800000"/>
            <a:headEnd/>
            <a:tailEnd/>
          </a:ln>
        </p:spPr>
        <p:txBody>
          <a:bodyPr wrap="none" anchor="ctr"/>
          <a:lstStyle/>
          <a:p>
            <a:pPr algn="ctr"/>
            <a:endParaRPr lang="en-US" altLang="ja-JP" b="0"/>
          </a:p>
        </p:txBody>
      </p:sp>
      <p:sp>
        <p:nvSpPr>
          <p:cNvPr id="20495" name="AutoShape 18"/>
          <p:cNvSpPr>
            <a:spLocks noChangeArrowheads="1"/>
          </p:cNvSpPr>
          <p:nvPr/>
        </p:nvSpPr>
        <p:spPr bwMode="auto">
          <a:xfrm>
            <a:off x="5428567" y="448777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cxnSp>
        <p:nvCxnSpPr>
          <p:cNvPr id="20497" name="AutoShape 20"/>
          <p:cNvCxnSpPr>
            <a:cxnSpLocks noChangeShapeType="1"/>
            <a:endCxn id="20494" idx="2"/>
          </p:cNvCxnSpPr>
          <p:nvPr/>
        </p:nvCxnSpPr>
        <p:spPr bwMode="auto">
          <a:xfrm rot="10800000">
            <a:off x="5428568" y="5279743"/>
            <a:ext cx="1" cy="837401"/>
          </a:xfrm>
          <a:prstGeom prst="bentConnector3">
            <a:avLst>
              <a:gd name="adj1" fmla="val 22860100000"/>
            </a:avLst>
          </a:prstGeom>
          <a:noFill/>
          <a:ln w="28575">
            <a:solidFill>
              <a:schemeClr val="tx1"/>
            </a:solidFill>
            <a:miter lim="800000"/>
            <a:headEnd/>
            <a:tailEnd type="triangle" w="med" len="med"/>
          </a:ln>
        </p:spPr>
      </p:cxnSp>
      <p:sp>
        <p:nvSpPr>
          <p:cNvPr id="20498" name="Text Box 25"/>
          <p:cNvSpPr txBox="1">
            <a:spLocks noChangeArrowheads="1"/>
          </p:cNvSpPr>
          <p:nvPr/>
        </p:nvSpPr>
        <p:spPr bwMode="auto">
          <a:xfrm>
            <a:off x="1411458" y="1928802"/>
            <a:ext cx="3493713" cy="830997"/>
          </a:xfrm>
          <a:prstGeom prst="rect">
            <a:avLst/>
          </a:prstGeom>
          <a:solidFill>
            <a:srgbClr val="FFFF99"/>
          </a:solidFill>
          <a:ln w="9525">
            <a:solidFill>
              <a:schemeClr val="tx1"/>
            </a:solidFill>
            <a:miter lim="800000"/>
            <a:headEnd/>
            <a:tailEnd/>
          </a:ln>
        </p:spPr>
        <p:txBody>
          <a:bodyPr wrap="none">
            <a:spAutoFit/>
          </a:bodyPr>
          <a:lstStyle/>
          <a:p>
            <a:r>
              <a:rPr lang="en-US" altLang="ja-JP" sz="2400" dirty="0" smtClean="0"/>
              <a:t> </a:t>
            </a:r>
            <a:r>
              <a:rPr lang="en-US" altLang="ja-JP" sz="2400" dirty="0" err="1" smtClean="0"/>
              <a:t>i</a:t>
            </a:r>
            <a:r>
              <a:rPr lang="en-US" altLang="ja-JP" sz="2400" b="0" dirty="0" err="1" smtClean="0"/>
              <a:t>nt</a:t>
            </a:r>
            <a:r>
              <a:rPr lang="en-US" altLang="ja-JP" sz="2400" b="0" dirty="0" smtClean="0"/>
              <a:t> * p; </a:t>
            </a:r>
          </a:p>
          <a:p>
            <a:r>
              <a:rPr lang="en-US" altLang="ja-JP" sz="2400" b="0" dirty="0" smtClean="0"/>
              <a:t> p </a:t>
            </a:r>
            <a:r>
              <a:rPr lang="en-US" altLang="ja-JP" sz="2400" b="0" dirty="0"/>
              <a:t>= </a:t>
            </a:r>
            <a:r>
              <a:rPr lang="en-US" altLang="ja-JP" sz="2400" b="0" dirty="0" err="1" smtClean="0"/>
              <a:t>calloc</a:t>
            </a:r>
            <a:r>
              <a:rPr lang="en-US" altLang="ja-JP" sz="2400" b="0" dirty="0" smtClean="0"/>
              <a:t> (1</a:t>
            </a:r>
            <a:r>
              <a:rPr lang="en-US" altLang="ja-JP" sz="2400" b="0" dirty="0"/>
              <a:t>, </a:t>
            </a:r>
            <a:r>
              <a:rPr lang="en-US" altLang="ja-JP" sz="2400" b="0" dirty="0" err="1" smtClean="0"/>
              <a:t>sizeof</a:t>
            </a:r>
            <a:r>
              <a:rPr lang="en-US" altLang="ja-JP" sz="2400" b="0" dirty="0" smtClean="0"/>
              <a:t> (</a:t>
            </a:r>
            <a:r>
              <a:rPr lang="en-US" altLang="ja-JP" sz="2400" b="0" dirty="0" err="1"/>
              <a:t>int</a:t>
            </a:r>
            <a:r>
              <a:rPr lang="en-US" altLang="ja-JP" sz="2400" b="0" dirty="0"/>
              <a:t>) ); </a:t>
            </a:r>
            <a:endParaRPr lang="ja-JP" altLang="en-US" sz="2400" b="0" dirty="0"/>
          </a:p>
        </p:txBody>
      </p:sp>
      <p:sp>
        <p:nvSpPr>
          <p:cNvPr id="34" name="AutoShape 14"/>
          <p:cNvSpPr>
            <a:spLocks noChangeArrowheads="1"/>
          </p:cNvSpPr>
          <p:nvPr/>
        </p:nvSpPr>
        <p:spPr bwMode="auto">
          <a:xfrm>
            <a:off x="3681203" y="3067456"/>
            <a:ext cx="4763985" cy="1123712"/>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none" anchor="ctr">
            <a:spAutoFit/>
          </a:bodyPr>
          <a:lstStyle/>
          <a:p>
            <a:pPr algn="ctr">
              <a:defRPr/>
            </a:pPr>
            <a:r>
              <a:rPr lang="en-US" altLang="ja-JP" sz="2000" dirty="0" err="1" smtClean="0"/>
              <a:t>calloc</a:t>
            </a:r>
            <a:r>
              <a:rPr lang="ja-JP" altLang="en-US" sz="2000" dirty="0" smtClean="0"/>
              <a:t>関数呼び出し時に領域が確保され、</a:t>
            </a:r>
            <a:endParaRPr lang="en-US" altLang="ja-JP" sz="2000" dirty="0" smtClean="0"/>
          </a:p>
          <a:p>
            <a:pPr algn="ctr">
              <a:defRPr/>
            </a:pPr>
            <a:r>
              <a:rPr lang="ja-JP" altLang="en-US" sz="2000" dirty="0" smtClean="0"/>
              <a:t>その先頭へのポインタが</a:t>
            </a:r>
            <a:r>
              <a:rPr lang="en-US" altLang="ja-JP" sz="2000" dirty="0" smtClean="0"/>
              <a:t>p</a:t>
            </a:r>
            <a:r>
              <a:rPr lang="ja-JP" altLang="en-US" sz="2000" dirty="0" smtClean="0"/>
              <a:t>に代入される。</a:t>
            </a:r>
            <a:endParaRPr lang="en-US" altLang="ja-JP" sz="2000" dirty="0" smtClean="0"/>
          </a:p>
          <a:p>
            <a:r>
              <a:rPr lang="en-US" altLang="ja-JP" sz="2000" dirty="0" smtClean="0"/>
              <a:t>p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endParaRPr lang="ja-JP"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s</a:t>
            </a:r>
            <a:r>
              <a:rPr kumimoji="1" lang="en-US" altLang="ja-JP" dirty="0" err="1" smtClean="0"/>
              <a:t>izeof</a:t>
            </a:r>
            <a:r>
              <a:rPr kumimoji="1" lang="ja-JP" altLang="en-US" dirty="0" smtClean="0"/>
              <a:t>演算子</a:t>
            </a:r>
            <a:endParaRPr kumimoji="1" lang="ja-JP" altLang="en-US" dirty="0"/>
          </a:p>
        </p:txBody>
      </p:sp>
      <p:sp>
        <p:nvSpPr>
          <p:cNvPr id="4" name="テキスト ボックス 3"/>
          <p:cNvSpPr txBox="1"/>
          <p:nvPr/>
        </p:nvSpPr>
        <p:spPr>
          <a:xfrm>
            <a:off x="1000100" y="1428736"/>
            <a:ext cx="7500990" cy="830997"/>
          </a:xfrm>
          <a:prstGeom prst="rect">
            <a:avLst/>
          </a:prstGeom>
          <a:noFill/>
        </p:spPr>
        <p:txBody>
          <a:bodyPr wrap="square" rtlCol="0">
            <a:spAutoFit/>
          </a:bodyPr>
          <a:lstStyle/>
          <a:p>
            <a:r>
              <a:rPr lang="en-US" altLang="ja-JP" sz="2400" dirty="0" err="1" smtClean="0"/>
              <a:t>s</a:t>
            </a:r>
            <a:r>
              <a:rPr kumimoji="1" lang="en-US" altLang="ja-JP" sz="2400" dirty="0" err="1" smtClean="0"/>
              <a:t>izeof</a:t>
            </a:r>
            <a:r>
              <a:rPr kumimoji="1" lang="ja-JP" altLang="en-US" sz="2400" dirty="0" smtClean="0"/>
              <a:t>演算子は、型式を引数にとる。評価結果は、その型のサイズである。</a:t>
            </a:r>
            <a:endParaRPr kumimoji="1" lang="ja-JP" altLang="en-US" sz="2400" dirty="0"/>
          </a:p>
        </p:txBody>
      </p:sp>
      <p:sp>
        <p:nvSpPr>
          <p:cNvPr id="5" name="テキスト ボックス 4"/>
          <p:cNvSpPr txBox="1"/>
          <p:nvPr/>
        </p:nvSpPr>
        <p:spPr>
          <a:xfrm>
            <a:off x="1428727" y="2428868"/>
            <a:ext cx="800219" cy="461665"/>
          </a:xfrm>
          <a:prstGeom prst="rect">
            <a:avLst/>
          </a:prstGeom>
          <a:noFill/>
        </p:spPr>
        <p:txBody>
          <a:bodyPr wrap="none" rtlCol="0">
            <a:spAutoFit/>
          </a:bodyPr>
          <a:lstStyle/>
          <a:p>
            <a:r>
              <a:rPr kumimoji="1" lang="ja-JP" altLang="en-US" sz="2400" dirty="0" smtClean="0"/>
              <a:t>構文</a:t>
            </a:r>
            <a:endParaRPr kumimoji="1" lang="ja-JP" altLang="en-US" sz="2400" dirty="0"/>
          </a:p>
        </p:txBody>
      </p:sp>
      <p:sp>
        <p:nvSpPr>
          <p:cNvPr id="6" name="テキスト ボックス 5"/>
          <p:cNvSpPr txBox="1"/>
          <p:nvPr/>
        </p:nvSpPr>
        <p:spPr>
          <a:xfrm>
            <a:off x="2214545" y="2928934"/>
            <a:ext cx="1771126" cy="461665"/>
          </a:xfrm>
          <a:prstGeom prst="rect">
            <a:avLst/>
          </a:prstGeom>
          <a:solidFill>
            <a:srgbClr val="FFFF00"/>
          </a:solidFill>
          <a:ln>
            <a:solidFill>
              <a:schemeClr val="tx1"/>
            </a:solidFill>
          </a:ln>
        </p:spPr>
        <p:txBody>
          <a:bodyPr wrap="none" rtlCol="0">
            <a:spAutoFit/>
          </a:bodyPr>
          <a:lstStyle/>
          <a:p>
            <a:r>
              <a:rPr lang="en-US" altLang="ja-JP" sz="2400" dirty="0" err="1" smtClean="0"/>
              <a:t>s</a:t>
            </a:r>
            <a:r>
              <a:rPr kumimoji="1" lang="en-US" altLang="ja-JP" sz="2400" dirty="0" err="1" smtClean="0"/>
              <a:t>izeof</a:t>
            </a:r>
            <a:r>
              <a:rPr kumimoji="1" lang="en-US" altLang="ja-JP" sz="2400" dirty="0" smtClean="0"/>
              <a:t> (</a:t>
            </a:r>
            <a:r>
              <a:rPr kumimoji="1" lang="ja-JP" altLang="en-US" sz="2400" dirty="0" smtClean="0"/>
              <a:t>型式</a:t>
            </a:r>
            <a:r>
              <a:rPr kumimoji="1" lang="en-US" altLang="ja-JP" sz="2400" dirty="0" smtClean="0"/>
              <a:t>)</a:t>
            </a:r>
            <a:endParaRPr kumimoji="1" lang="ja-JP" altLang="en-US" sz="2400" dirty="0"/>
          </a:p>
        </p:txBody>
      </p:sp>
      <p:sp>
        <p:nvSpPr>
          <p:cNvPr id="7" name="テキスト ボックス 6"/>
          <p:cNvSpPr txBox="1"/>
          <p:nvPr/>
        </p:nvSpPr>
        <p:spPr>
          <a:xfrm>
            <a:off x="1428727" y="3500438"/>
            <a:ext cx="800219" cy="461665"/>
          </a:xfrm>
          <a:prstGeom prst="rect">
            <a:avLst/>
          </a:prstGeom>
          <a:noFill/>
        </p:spPr>
        <p:txBody>
          <a:bodyPr wrap="none" rtlCol="0">
            <a:spAutoFit/>
          </a:bodyPr>
          <a:lstStyle/>
          <a:p>
            <a:r>
              <a:rPr lang="ja-JP" altLang="en-US" sz="2400" dirty="0" smtClean="0"/>
              <a:t>意味</a:t>
            </a:r>
            <a:endParaRPr kumimoji="1" lang="en-US" altLang="ja-JP" sz="2400" dirty="0" smtClean="0"/>
          </a:p>
        </p:txBody>
      </p:sp>
      <p:sp>
        <p:nvSpPr>
          <p:cNvPr id="8" name="テキスト ボックス 7"/>
          <p:cNvSpPr txBox="1"/>
          <p:nvPr/>
        </p:nvSpPr>
        <p:spPr>
          <a:xfrm>
            <a:off x="2214546" y="4000504"/>
            <a:ext cx="5286412" cy="461665"/>
          </a:xfrm>
          <a:prstGeom prst="rect">
            <a:avLst/>
          </a:prstGeom>
          <a:solidFill>
            <a:srgbClr val="92D050"/>
          </a:solidFill>
          <a:ln>
            <a:solidFill>
              <a:schemeClr val="tx1"/>
            </a:solidFill>
          </a:ln>
        </p:spPr>
        <p:txBody>
          <a:bodyPr wrap="square" rtlCol="0">
            <a:spAutoFit/>
          </a:bodyPr>
          <a:lstStyle/>
          <a:p>
            <a:r>
              <a:rPr lang="en-US" altLang="ja-JP" sz="2400" dirty="0" err="1" smtClean="0"/>
              <a:t>s</a:t>
            </a:r>
            <a:r>
              <a:rPr kumimoji="1" lang="en-US" altLang="ja-JP" sz="2400" dirty="0" err="1" smtClean="0"/>
              <a:t>izeof</a:t>
            </a:r>
            <a:r>
              <a:rPr kumimoji="1" lang="en-US" altLang="ja-JP" sz="2400" dirty="0" smtClean="0"/>
              <a:t> (t)</a:t>
            </a:r>
            <a:r>
              <a:rPr lang="ja-JP" altLang="en-US" sz="2400" dirty="0" smtClean="0"/>
              <a:t> の評価結果は</a:t>
            </a:r>
            <a:r>
              <a:rPr lang="en-US" altLang="ja-JP" sz="2400" dirty="0" smtClean="0"/>
              <a:t>t</a:t>
            </a:r>
            <a:r>
              <a:rPr lang="ja-JP" altLang="en-US" sz="2400" dirty="0" smtClean="0"/>
              <a:t>のサイズである</a:t>
            </a:r>
            <a:endParaRPr kumimoji="1" lang="ja-JP" altLang="en-US" sz="2400" dirty="0"/>
          </a:p>
        </p:txBody>
      </p:sp>
      <p:sp>
        <p:nvSpPr>
          <p:cNvPr id="9" name="テキスト ボックス 8"/>
          <p:cNvSpPr txBox="1"/>
          <p:nvPr/>
        </p:nvSpPr>
        <p:spPr>
          <a:xfrm>
            <a:off x="1115616" y="4653136"/>
            <a:ext cx="7029994" cy="1938992"/>
          </a:xfrm>
          <a:prstGeom prst="rect">
            <a:avLst/>
          </a:prstGeom>
          <a:noFill/>
        </p:spPr>
        <p:txBody>
          <a:bodyPr wrap="square" rtlCol="0">
            <a:spAutoFit/>
          </a:bodyPr>
          <a:lstStyle/>
          <a:p>
            <a:r>
              <a:rPr lang="ja-JP" altLang="en-US" sz="2400" dirty="0" smtClean="0"/>
              <a:t>型式は、</a:t>
            </a:r>
            <a:r>
              <a:rPr lang="en-US" altLang="ja-JP" sz="2400" dirty="0" err="1" smtClean="0"/>
              <a:t>int</a:t>
            </a:r>
            <a:r>
              <a:rPr lang="en-US" altLang="ja-JP" sz="2400" dirty="0" smtClean="0"/>
              <a:t>, double, char</a:t>
            </a:r>
            <a:r>
              <a:rPr lang="ja-JP" altLang="en-US" sz="2400" dirty="0" smtClean="0"/>
              <a:t>等の基本型、</a:t>
            </a:r>
            <a:r>
              <a:rPr lang="en-US" altLang="ja-JP" sz="2400" dirty="0" err="1" smtClean="0"/>
              <a:t>int</a:t>
            </a:r>
            <a:r>
              <a:rPr lang="en-US" altLang="ja-JP" sz="2400" dirty="0" smtClean="0"/>
              <a:t> [3]</a:t>
            </a:r>
            <a:r>
              <a:rPr lang="ja-JP" altLang="en-US" sz="2400" dirty="0" smtClean="0"/>
              <a:t>等の配列型、</a:t>
            </a:r>
            <a:r>
              <a:rPr lang="en-US" altLang="ja-JP" sz="2400" dirty="0" err="1" smtClean="0"/>
              <a:t>struct</a:t>
            </a:r>
            <a:r>
              <a:rPr lang="en-US" altLang="ja-JP" sz="2400" dirty="0" smtClean="0"/>
              <a:t> {</a:t>
            </a:r>
            <a:r>
              <a:rPr lang="en-US" altLang="ja-JP" sz="2400" dirty="0" err="1" smtClean="0"/>
              <a:t>int</a:t>
            </a:r>
            <a:r>
              <a:rPr lang="en-US" altLang="ja-JP" sz="2400" dirty="0" smtClean="0"/>
              <a:t> </a:t>
            </a:r>
            <a:r>
              <a:rPr lang="en-US" altLang="ja-JP" sz="2400" dirty="0" err="1" smtClean="0"/>
              <a:t>px</a:t>
            </a:r>
            <a:r>
              <a:rPr lang="en-US" altLang="ja-JP" sz="2400" dirty="0" smtClean="0"/>
              <a:t>; </a:t>
            </a:r>
            <a:r>
              <a:rPr lang="en-US" altLang="ja-JP" sz="2400" dirty="0" err="1" smtClean="0"/>
              <a:t>int</a:t>
            </a:r>
            <a:r>
              <a:rPr lang="en-US" altLang="ja-JP" sz="2400" dirty="0" smtClean="0"/>
              <a:t> </a:t>
            </a:r>
            <a:r>
              <a:rPr lang="en-US" altLang="ja-JP" sz="2400" dirty="0" err="1" smtClean="0"/>
              <a:t>py</a:t>
            </a:r>
            <a:r>
              <a:rPr lang="en-US" altLang="ja-JP" sz="2400" dirty="0" smtClean="0"/>
              <a:t>;} </a:t>
            </a:r>
            <a:r>
              <a:rPr lang="ja-JP" altLang="en-US" sz="2400" dirty="0" smtClean="0"/>
              <a:t>等の構造体型、</a:t>
            </a:r>
            <a:r>
              <a:rPr lang="en-US" altLang="ja-JP" sz="2400" dirty="0" err="1" smtClean="0"/>
              <a:t>int</a:t>
            </a:r>
            <a:r>
              <a:rPr lang="en-US" altLang="ja-JP" sz="2400" dirty="0" smtClean="0"/>
              <a:t> *</a:t>
            </a:r>
            <a:r>
              <a:rPr lang="ja-JP" altLang="en-US" sz="2400" dirty="0" smtClean="0"/>
              <a:t>等のポインタ型、</a:t>
            </a:r>
            <a:r>
              <a:rPr lang="en-US" altLang="ja-JP" sz="2400" dirty="0" smtClean="0"/>
              <a:t> </a:t>
            </a:r>
            <a:r>
              <a:rPr lang="en-US" altLang="ja-JP" sz="2400" dirty="0" err="1" smtClean="0"/>
              <a:t>typedef</a:t>
            </a:r>
            <a:r>
              <a:rPr lang="ja-JP" altLang="en-US" sz="2400" dirty="0" smtClean="0"/>
              <a:t>で定義した型名、あるいはこれらの組み合わせなどである。詳しくは教科書あるいは規格書を参照。</a:t>
            </a:r>
            <a:endParaRPr kumimoji="1" lang="ja-JP" alt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1428728" y="1285860"/>
            <a:ext cx="5929354"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typedef</a:t>
            </a:r>
            <a:r>
              <a:rPr lang="en-US" altLang="ja-JP" sz="2400" dirty="0" smtClean="0"/>
              <a:t> </a:t>
            </a:r>
            <a:r>
              <a:rPr lang="en-US" altLang="ja-JP" sz="2400" dirty="0" err="1" smtClean="0"/>
              <a:t>struct</a:t>
            </a:r>
            <a:r>
              <a:rPr lang="en-US" altLang="ja-JP" sz="2400" dirty="0" smtClean="0"/>
              <a:t> {</a:t>
            </a:r>
          </a:p>
          <a:p>
            <a:r>
              <a:rPr lang="en-US" altLang="ja-JP" sz="2400" dirty="0" smtClean="0"/>
              <a:t>  </a:t>
            </a:r>
            <a:r>
              <a:rPr lang="en-US" altLang="ja-JP" sz="2400" dirty="0" err="1" smtClean="0"/>
              <a:t>int</a:t>
            </a:r>
            <a:r>
              <a:rPr lang="en-US" altLang="ja-JP" sz="2400" dirty="0" smtClean="0"/>
              <a:t> x;</a:t>
            </a:r>
          </a:p>
          <a:p>
            <a:r>
              <a:rPr lang="en-US" altLang="ja-JP" sz="2400" dirty="0" smtClean="0"/>
              <a:t>  </a:t>
            </a:r>
            <a:r>
              <a:rPr lang="en-US" altLang="ja-JP" sz="2400" dirty="0" err="1" smtClean="0"/>
              <a:t>int</a:t>
            </a:r>
            <a:r>
              <a:rPr lang="en-US" altLang="ja-JP" sz="2400" dirty="0" smtClean="0"/>
              <a:t> y;</a:t>
            </a:r>
          </a:p>
          <a:p>
            <a:r>
              <a:rPr lang="en-US" altLang="ja-JP" sz="2400" dirty="0" smtClean="0"/>
              <a:t>} point;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%d\n", </a:t>
            </a:r>
            <a:r>
              <a:rPr lang="en-US" altLang="ja-JP" sz="2400" dirty="0" err="1" smtClean="0"/>
              <a:t>sizeof</a:t>
            </a:r>
            <a:r>
              <a:rPr lang="en-US" altLang="ja-JP" sz="2400" dirty="0" smtClean="0"/>
              <a:t>(</a:t>
            </a:r>
            <a:r>
              <a:rPr lang="en-US" altLang="ja-JP" sz="2400" dirty="0" err="1" smtClean="0"/>
              <a:t>int</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[3] : %d\n", </a:t>
            </a:r>
            <a:r>
              <a:rPr lang="en-US" altLang="ja-JP" sz="2400" dirty="0" err="1" smtClean="0"/>
              <a:t>sizeof</a:t>
            </a:r>
            <a:r>
              <a:rPr lang="en-US" altLang="ja-JP" sz="2400" dirty="0" smtClean="0"/>
              <a:t>(</a:t>
            </a:r>
            <a:r>
              <a:rPr lang="en-US" altLang="ja-JP" sz="2400" dirty="0" err="1" smtClean="0"/>
              <a:t>int</a:t>
            </a:r>
            <a:r>
              <a:rPr lang="en-US" altLang="ja-JP" sz="2400" dirty="0" smtClean="0"/>
              <a:t>[3]));</a:t>
            </a:r>
          </a:p>
          <a:p>
            <a:r>
              <a:rPr lang="en-US" altLang="ja-JP" sz="2400" dirty="0" smtClean="0"/>
              <a:t>  </a:t>
            </a:r>
            <a:r>
              <a:rPr lang="en-US" altLang="ja-JP" sz="2400" dirty="0" err="1" smtClean="0"/>
              <a:t>printf</a:t>
            </a:r>
            <a:r>
              <a:rPr lang="en-US" altLang="ja-JP" sz="2400" dirty="0" smtClean="0"/>
              <a:t> ("</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 : %d\n",</a:t>
            </a:r>
          </a:p>
          <a:p>
            <a:r>
              <a:rPr lang="en-US" altLang="ja-JP" sz="2400" dirty="0" smtClean="0"/>
              <a:t>         </a:t>
            </a:r>
            <a:r>
              <a:rPr lang="ja-JP" altLang="en-US" sz="2400" dirty="0" smtClean="0"/>
              <a:t>     </a:t>
            </a:r>
            <a:r>
              <a:rPr lang="en-US" altLang="ja-JP" sz="2400" dirty="0" smtClean="0"/>
              <a:t> </a:t>
            </a:r>
            <a:r>
              <a:rPr lang="en-US" altLang="ja-JP" sz="2400" dirty="0" err="1" smtClean="0"/>
              <a:t>sizeof</a:t>
            </a:r>
            <a:r>
              <a:rPr lang="en-US" altLang="ja-JP" sz="2400" dirty="0" smtClean="0"/>
              <a:t>(</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a:t>
            </a:r>
          </a:p>
          <a:p>
            <a:r>
              <a:rPr lang="en-US" altLang="ja-JP" sz="2400" dirty="0" smtClean="0"/>
              <a:t>  </a:t>
            </a:r>
            <a:r>
              <a:rPr lang="en-US" altLang="ja-JP" sz="2400" dirty="0" err="1" smtClean="0"/>
              <a:t>printf</a:t>
            </a:r>
            <a:r>
              <a:rPr lang="en-US" altLang="ja-JP" sz="2400" dirty="0" smtClean="0"/>
              <a:t> ("point: %d\n", </a:t>
            </a:r>
            <a:r>
              <a:rPr lang="en-US" altLang="ja-JP" sz="2400" dirty="0" err="1" smtClean="0"/>
              <a:t>sizeof</a:t>
            </a:r>
            <a:r>
              <a:rPr lang="en-US" altLang="ja-JP" sz="2400" dirty="0" smtClean="0"/>
              <a:t>(point));</a:t>
            </a:r>
          </a:p>
          <a:p>
            <a:r>
              <a:rPr lang="en-US" altLang="ja-JP" sz="2400" dirty="0" smtClean="0"/>
              <a:t>  </a:t>
            </a:r>
            <a:r>
              <a:rPr lang="en-US" altLang="ja-JP" sz="2400" dirty="0" err="1" smtClean="0"/>
              <a:t>printf</a:t>
            </a:r>
            <a:r>
              <a:rPr lang="en-US" altLang="ja-JP" sz="2400" dirty="0" smtClean="0"/>
              <a:t> ("point *: %d\n", </a:t>
            </a:r>
            <a:r>
              <a:rPr lang="en-US" altLang="ja-JP" sz="2400" dirty="0" err="1" smtClean="0"/>
              <a:t>sizeof</a:t>
            </a:r>
            <a:r>
              <a:rPr lang="en-US" altLang="ja-JP" sz="2400" dirty="0" smtClean="0"/>
              <a:t>(point *));</a:t>
            </a:r>
          </a:p>
          <a:p>
            <a:r>
              <a:rPr lang="en-US" altLang="ja-JP" sz="2400" dirty="0" smtClean="0"/>
              <a:t>  return 0;</a:t>
            </a:r>
          </a:p>
          <a:p>
            <a:r>
              <a:rPr lang="en-US" altLang="ja-JP" sz="2400" dirty="0" smtClean="0"/>
              <a: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642910" y="171432"/>
            <a:ext cx="7620000" cy="685800"/>
          </a:xfrm>
        </p:spPr>
        <p:txBody>
          <a:bodyPr/>
          <a:lstStyle/>
          <a:p>
            <a:pPr eaLnBrk="1" hangingPunct="1">
              <a:defRPr/>
            </a:pPr>
            <a:r>
              <a:rPr lang="en-US" altLang="ja-JP" sz="3400" dirty="0" smtClean="0"/>
              <a:t>void </a:t>
            </a:r>
            <a:r>
              <a:rPr lang="ja-JP" altLang="en-US" sz="3400" dirty="0" err="1" smtClean="0"/>
              <a:t>への</a:t>
            </a:r>
            <a:r>
              <a:rPr lang="ja-JP" altLang="en-US" sz="3400" dirty="0" smtClean="0"/>
              <a:t>ポインタ型</a:t>
            </a:r>
            <a:endParaRPr lang="en-US" altLang="ja-JP" sz="3400" dirty="0" smtClean="0"/>
          </a:p>
        </p:txBody>
      </p:sp>
      <p:sp>
        <p:nvSpPr>
          <p:cNvPr id="21510" name="Text Box 7"/>
          <p:cNvSpPr txBox="1">
            <a:spLocks noChangeArrowheads="1"/>
          </p:cNvSpPr>
          <p:nvPr/>
        </p:nvSpPr>
        <p:spPr bwMode="auto">
          <a:xfrm>
            <a:off x="656558" y="1155808"/>
            <a:ext cx="8047229" cy="1938992"/>
          </a:xfrm>
          <a:prstGeom prst="rect">
            <a:avLst/>
          </a:prstGeom>
          <a:noFill/>
          <a:ln w="9525">
            <a:noFill/>
            <a:miter lim="800000"/>
            <a:headEnd/>
            <a:tailEnd/>
          </a:ln>
        </p:spPr>
        <p:txBody>
          <a:bodyPr wrap="square">
            <a:spAutoFit/>
          </a:bodyPr>
          <a:lstStyle/>
          <a:p>
            <a:r>
              <a:rPr lang="en-US" altLang="ja-JP" sz="2400" b="0" dirty="0" err="1" smtClean="0">
                <a:latin typeface="News Gothic" pitchFamily="34" charset="0"/>
                <a:ea typeface="ヒラギノ角ゴ Pro W3" pitchFamily="-64" charset="-128"/>
              </a:rPr>
              <a:t>calloc</a:t>
            </a:r>
            <a:r>
              <a:rPr lang="ja-JP" altLang="en-US" sz="2400" b="0" dirty="0" smtClean="0">
                <a:latin typeface="News Gothic" pitchFamily="34" charset="0"/>
                <a:ea typeface="ヒラギノ角ゴ Pro W3" pitchFamily="-64" charset="-128"/>
              </a:rPr>
              <a:t>関数の返り値は</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a:t>
            </a:r>
            <a:r>
              <a:rPr lang="en-US" altLang="ja-JP" sz="2400" b="0" dirty="0" smtClean="0">
                <a:latin typeface="News Gothic" pitchFamily="34" charset="0"/>
                <a:ea typeface="ヒラギノ角ゴ Pro W3" pitchFamily="-64" charset="-128"/>
              </a:rPr>
              <a:t>void</a:t>
            </a:r>
            <a:r>
              <a:rPr lang="ja-JP" altLang="en-US" sz="2400" b="0" dirty="0" err="1" smtClean="0">
                <a:latin typeface="News Gothic" pitchFamily="34" charset="0"/>
                <a:ea typeface="ヒラギノ角ゴ Pro W3" pitchFamily="-64" charset="-128"/>
              </a:rPr>
              <a:t>への</a:t>
            </a:r>
            <a:r>
              <a:rPr lang="ja-JP" altLang="en-US" sz="2400" b="0" dirty="0" smtClean="0">
                <a:latin typeface="News Gothic" pitchFamily="34" charset="0"/>
                <a:ea typeface="ヒラギノ角ゴ Pro W3" pitchFamily="-64" charset="-128"/>
              </a:rPr>
              <a:t>ポインタ型）である。</a:t>
            </a:r>
            <a:endParaRPr lang="en-US" altLang="ja-JP" sz="2400" b="0" dirty="0" smtClean="0">
              <a:latin typeface="News Gothic" pitchFamily="34" charset="0"/>
              <a:ea typeface="ヒラギノ角ゴ Pro W3" pitchFamily="-64" charset="-128"/>
            </a:endParaRPr>
          </a:p>
          <a:p>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型のポインタ</a:t>
            </a:r>
            <a:r>
              <a:rPr lang="ja-JP" altLang="en-US" sz="2400" dirty="0" smtClean="0">
                <a:latin typeface="News Gothic" pitchFamily="34" charset="0"/>
                <a:ea typeface="ヒラギノ角ゴ Pro W3" pitchFamily="-64" charset="-128"/>
              </a:rPr>
              <a:t>を</a:t>
            </a:r>
            <a:r>
              <a:rPr lang="ja-JP" altLang="en-US" sz="2400" b="0" dirty="0" smtClean="0">
                <a:latin typeface="News Gothic" pitchFamily="34" charset="0"/>
                <a:ea typeface="ヒラギノ角ゴ Pro W3" pitchFamily="-64" charset="-128"/>
              </a:rPr>
              <a:t>他の</a:t>
            </a:r>
            <a:r>
              <a:rPr lang="ja-JP" altLang="en-US" sz="2400" dirty="0" smtClean="0">
                <a:latin typeface="News Gothic" pitchFamily="34" charset="0"/>
                <a:ea typeface="ヒラギノ角ゴ Pro W3" pitchFamily="-64" charset="-128"/>
              </a:rPr>
              <a:t>ポインタ</a:t>
            </a:r>
            <a:r>
              <a:rPr lang="ja-JP" altLang="en-US" sz="2400" b="0" dirty="0" smtClean="0">
                <a:latin typeface="News Gothic" pitchFamily="34" charset="0"/>
                <a:ea typeface="ヒラギノ角ゴ Pro W3" pitchFamily="-64" charset="-128"/>
              </a:rPr>
              <a:t>型変数に代入したり、他のポインタ型のポインタを</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型の変数に代入したりできる（暗黙の型変換が行わ</a:t>
            </a:r>
            <a:r>
              <a:rPr lang="ja-JP" altLang="en-US" sz="2400" dirty="0" smtClean="0">
                <a:latin typeface="News Gothic" pitchFamily="34" charset="0"/>
                <a:ea typeface="ヒラギノ角ゴ Pro W3" pitchFamily="-64" charset="-128"/>
              </a:rPr>
              <a:t>れるので</a:t>
            </a:r>
            <a:r>
              <a:rPr lang="ja-JP" altLang="en-US" sz="2400" b="0" dirty="0" smtClean="0">
                <a:latin typeface="News Gothic" pitchFamily="34" charset="0"/>
                <a:ea typeface="ヒラギノ角ゴ Pro W3" pitchFamily="-64" charset="-128"/>
              </a:rPr>
              <a:t>キャストは不要）。</a:t>
            </a:r>
            <a:endParaRPr lang="ja-JP" altLang="en-US" sz="2400" b="0" dirty="0">
              <a:latin typeface="News Gothic" pitchFamily="34" charset="0"/>
              <a:ea typeface="ヒラギノ角ゴ Pro W3" pitchFamily="-64" charset="-128"/>
            </a:endParaRPr>
          </a:p>
        </p:txBody>
      </p:sp>
      <p:sp>
        <p:nvSpPr>
          <p:cNvPr id="21512" name="Text Box 9"/>
          <p:cNvSpPr txBox="1">
            <a:spLocks noChangeArrowheads="1"/>
          </p:cNvSpPr>
          <p:nvPr/>
        </p:nvSpPr>
        <p:spPr bwMode="auto">
          <a:xfrm>
            <a:off x="822731" y="3297972"/>
            <a:ext cx="7694572" cy="2862322"/>
          </a:xfrm>
          <a:prstGeom prst="rect">
            <a:avLst/>
          </a:prstGeom>
          <a:noFill/>
          <a:ln w="9525">
            <a:noFill/>
            <a:miter lim="800000"/>
            <a:headEnd/>
            <a:tailEnd/>
          </a:ln>
        </p:spPr>
        <p:txBody>
          <a:bodyPr wrap="square">
            <a:spAutoFit/>
          </a:bodyPr>
          <a:lstStyle/>
          <a:p>
            <a:r>
              <a:rPr lang="en-US" altLang="ja-JP" sz="2000" dirty="0" err="1" smtClean="0"/>
              <a:t>int</a:t>
            </a:r>
            <a:r>
              <a:rPr lang="en-US" altLang="ja-JP" sz="2000" dirty="0"/>
              <a:t>, char, double, </a:t>
            </a:r>
            <a:r>
              <a:rPr lang="ja-JP" altLang="en-US" sz="2000" dirty="0"/>
              <a:t>構造体</a:t>
            </a:r>
            <a:r>
              <a:rPr lang="en-US" altLang="ja-JP" sz="2000" dirty="0"/>
              <a:t> </a:t>
            </a:r>
            <a:r>
              <a:rPr lang="ja-JP" altLang="en-US" sz="2000" dirty="0"/>
              <a:t>など</a:t>
            </a:r>
            <a:r>
              <a:rPr lang="ja-JP" altLang="en-US" sz="2000" dirty="0" smtClean="0"/>
              <a:t>、さまざまな型のための領域を確保するために</a:t>
            </a:r>
            <a:r>
              <a:rPr lang="en-US" altLang="ja-JP" sz="2000" dirty="0" err="1" smtClean="0"/>
              <a:t>calloc</a:t>
            </a:r>
            <a:r>
              <a:rPr lang="ja-JP" altLang="en-US" sz="2000" dirty="0" smtClean="0"/>
              <a:t>関数が用いられるので、</a:t>
            </a:r>
            <a:r>
              <a:rPr lang="en-US" altLang="ja-JP" sz="2000" dirty="0" smtClean="0"/>
              <a:t>void *</a:t>
            </a:r>
            <a:r>
              <a:rPr lang="ja-JP" altLang="en-US" sz="2000" dirty="0" smtClean="0"/>
              <a:t>型で返している。</a:t>
            </a:r>
            <a:endParaRPr lang="en-US" altLang="ja-JP" sz="2000" dirty="0" smtClean="0"/>
          </a:p>
          <a:p>
            <a:r>
              <a:rPr lang="ja-JP" altLang="en-US" sz="2000" dirty="0" smtClean="0"/>
              <a:t>（キャストしない例）</a:t>
            </a:r>
            <a:r>
              <a:rPr lang="en-US" altLang="ja-JP" sz="2000" dirty="0" smtClean="0"/>
              <a:t> </a:t>
            </a:r>
            <a:r>
              <a:rPr lang="en-US" altLang="ja-JP" sz="2000" dirty="0" err="1" smtClean="0"/>
              <a:t>int</a:t>
            </a:r>
            <a:r>
              <a:rPr lang="en-US" altLang="ja-JP" sz="2000" dirty="0" smtClean="0"/>
              <a:t> *p;</a:t>
            </a:r>
          </a:p>
          <a:p>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p>
          <a:p>
            <a:r>
              <a:rPr lang="ja-JP" altLang="en-US" sz="2000" dirty="0" smtClean="0"/>
              <a:t>キャストしても構わない。</a:t>
            </a:r>
            <a:endParaRPr lang="en-US" altLang="ja-JP" sz="2000" dirty="0" smtClean="0"/>
          </a:p>
          <a:p>
            <a:r>
              <a:rPr lang="ja-JP" altLang="en-US" sz="2000" dirty="0" smtClean="0"/>
              <a:t>（キャストする例） </a:t>
            </a:r>
            <a:r>
              <a:rPr lang="en-US" altLang="ja-JP" sz="2000" dirty="0" err="1" smtClean="0"/>
              <a:t>int</a:t>
            </a:r>
            <a:r>
              <a:rPr lang="en-US" altLang="ja-JP" sz="2000" dirty="0" smtClean="0"/>
              <a:t> *p;</a:t>
            </a:r>
          </a:p>
          <a:p>
            <a:r>
              <a:rPr lang="en-US" altLang="ja-JP" sz="2000" dirty="0" smtClean="0"/>
              <a:t>                                 p = </a:t>
            </a:r>
            <a:r>
              <a:rPr lang="en-US" altLang="ja-JP" sz="2000" dirty="0" smtClean="0">
                <a:solidFill>
                  <a:srgbClr val="FF0000"/>
                </a:solidFill>
              </a:rPr>
              <a:t>(</a:t>
            </a:r>
            <a:r>
              <a:rPr lang="en-US" altLang="ja-JP" sz="2000" dirty="0" err="1" smtClean="0">
                <a:solidFill>
                  <a:srgbClr val="FF0000"/>
                </a:solidFill>
              </a:rPr>
              <a:t>int</a:t>
            </a:r>
            <a:r>
              <a:rPr lang="en-US" altLang="ja-JP" sz="2000" dirty="0" smtClean="0">
                <a:solidFill>
                  <a:srgbClr val="FF0000"/>
                </a:solidFill>
              </a:rPr>
              <a:t>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endParaRPr lang="en-US" altLang="ja-JP" sz="2000" dirty="0"/>
          </a:p>
          <a:p>
            <a:r>
              <a:rPr lang="ja-JP" altLang="en-US" sz="2000" dirty="0" smtClean="0"/>
              <a:t>（補足）</a:t>
            </a:r>
            <a:r>
              <a:rPr lang="en-US" altLang="ja-JP" sz="2000" dirty="0" smtClean="0"/>
              <a:t>C++</a:t>
            </a:r>
            <a:r>
              <a:rPr lang="ja-JP" altLang="en-US" sz="2000" dirty="0" smtClean="0"/>
              <a:t>では、</a:t>
            </a:r>
            <a:r>
              <a:rPr lang="en-US" altLang="ja-JP" sz="2000" dirty="0" smtClean="0"/>
              <a:t>void*</a:t>
            </a:r>
            <a:r>
              <a:rPr lang="ja-JP" altLang="en-US" sz="2000" dirty="0" smtClean="0"/>
              <a:t>型のポインタを他のポインタ型の変数に代入するときにはキャストが必要。</a:t>
            </a:r>
            <a:endParaRPr lang="en-US" altLang="ja-JP"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a:xfrm>
            <a:off x="523900" y="214290"/>
            <a:ext cx="7620000" cy="685800"/>
          </a:xfrm>
        </p:spPr>
        <p:txBody>
          <a:bodyPr>
            <a:normAutofit/>
          </a:bodyPr>
          <a:lstStyle/>
          <a:p>
            <a:pPr eaLnBrk="1" hangingPunct="1">
              <a:defRPr/>
            </a:pPr>
            <a:r>
              <a:rPr lang="en-US" altLang="ja-JP" sz="3600" dirty="0" smtClean="0"/>
              <a:t>free</a:t>
            </a:r>
            <a:r>
              <a:rPr lang="ja-JP" altLang="en-US" sz="3600" dirty="0" smtClean="0"/>
              <a:t>関数</a:t>
            </a:r>
            <a:r>
              <a:rPr lang="en-US" altLang="ja-JP" sz="3600" dirty="0" smtClean="0"/>
              <a:t> :  </a:t>
            </a:r>
            <a:r>
              <a:rPr lang="ja-JP" altLang="en-US" sz="3600" dirty="0" smtClean="0"/>
              <a:t>記憶域の解放</a:t>
            </a:r>
            <a:endParaRPr lang="en-US" altLang="ja-JP" sz="3600" dirty="0" smtClean="0"/>
          </a:p>
        </p:txBody>
      </p:sp>
      <p:sp>
        <p:nvSpPr>
          <p:cNvPr id="22533" name="Rectangle 3"/>
          <p:cNvSpPr>
            <a:spLocks noGrp="1" noChangeArrowheads="1"/>
          </p:cNvSpPr>
          <p:nvPr>
            <p:ph type="body" idx="1"/>
          </p:nvPr>
        </p:nvSpPr>
        <p:spPr>
          <a:xfrm>
            <a:off x="533400" y="1156648"/>
            <a:ext cx="8253442" cy="3974910"/>
          </a:xfrm>
        </p:spPr>
        <p:txBody>
          <a:bodyPr>
            <a:noAutofit/>
          </a:bodyPr>
          <a:lstStyle/>
          <a:p>
            <a:pPr eaLnBrk="1" hangingPunct="1"/>
            <a:r>
              <a:rPr lang="ja-JP" altLang="en-US" sz="2400" dirty="0" smtClean="0"/>
              <a:t>動的に確保した記憶域は、不要になった時点で</a:t>
            </a:r>
            <a:r>
              <a:rPr lang="en-US" altLang="ja-JP" sz="2400" dirty="0" smtClean="0"/>
              <a:t>free</a:t>
            </a:r>
            <a:r>
              <a:rPr lang="ja-JP" altLang="en-US" sz="2400" dirty="0" smtClean="0"/>
              <a:t>関数を呼び出して解放する。それによって、それ以降の</a:t>
            </a:r>
            <a:r>
              <a:rPr lang="en-US" altLang="ja-JP" sz="2400" dirty="0" err="1" smtClean="0"/>
              <a:t>calloc</a:t>
            </a:r>
            <a:r>
              <a:rPr lang="ja-JP" altLang="en-US" sz="2400" dirty="0" smtClean="0"/>
              <a:t>あるいは</a:t>
            </a:r>
            <a:r>
              <a:rPr lang="en-US" altLang="ja-JP" sz="2400" dirty="0" err="1" smtClean="0"/>
              <a:t>malloc</a:t>
            </a:r>
            <a:r>
              <a:rPr lang="ja-JP" altLang="en-US" sz="2400" dirty="0" smtClean="0"/>
              <a:t>の呼び出しで再利用可能な状態になる。</a:t>
            </a:r>
            <a:endParaRPr lang="en-US" altLang="ja-JP" sz="2400" dirty="0" smtClean="0"/>
          </a:p>
          <a:p>
            <a:pPr eaLnBrk="1" hangingPunct="1"/>
            <a:r>
              <a:rPr lang="en-US" altLang="ja-JP" sz="2400" dirty="0" err="1" smtClean="0"/>
              <a:t>stdlib.h</a:t>
            </a:r>
            <a:r>
              <a:rPr lang="ja-JP" altLang="en-US" sz="2400" dirty="0" smtClean="0"/>
              <a:t>というヘッダーファイルを読み込んで使う。</a:t>
            </a:r>
            <a:endParaRPr lang="en-US" altLang="ja-JP" sz="2400" dirty="0" smtClean="0"/>
          </a:p>
          <a:p>
            <a:r>
              <a:rPr lang="ja-JP" altLang="en-US" sz="2400" dirty="0" smtClean="0"/>
              <a:t>引数にポインタ</a:t>
            </a:r>
            <a:r>
              <a:rPr lang="en-US" altLang="ja-JP" sz="2400" dirty="0" smtClean="0"/>
              <a:t>p</a:t>
            </a:r>
            <a:r>
              <a:rPr lang="ja-JP" altLang="en-US" sz="2400" dirty="0" smtClean="0"/>
              <a:t>を受け取り、</a:t>
            </a:r>
            <a:r>
              <a:rPr lang="en-US" altLang="ja-JP" sz="2400" dirty="0" smtClean="0"/>
              <a:t>p</a:t>
            </a:r>
            <a:r>
              <a:rPr lang="ja-JP" altLang="en-US" sz="2400" dirty="0" smtClean="0"/>
              <a:t>が指す先の領域を解放する。返り値はない。ただし、</a:t>
            </a:r>
            <a:r>
              <a:rPr lang="en-US" altLang="ja-JP" sz="2400" dirty="0" smtClean="0"/>
              <a:t>p</a:t>
            </a:r>
            <a:r>
              <a:rPr lang="ja-JP" altLang="en-US" sz="2400" dirty="0" smtClean="0"/>
              <a:t>がヌルポインタのときは何も行わない。</a:t>
            </a:r>
            <a:r>
              <a:rPr lang="en-US" altLang="ja-JP" sz="2400" dirty="0" smtClean="0"/>
              <a:t>p</a:t>
            </a:r>
            <a:r>
              <a:rPr lang="ja-JP" altLang="en-US" sz="2400" dirty="0" smtClean="0"/>
              <a:t>は</a:t>
            </a:r>
            <a:r>
              <a:rPr lang="en-US" altLang="ja-JP" sz="2400" dirty="0" err="1" smtClean="0"/>
              <a:t>calloc</a:t>
            </a:r>
            <a:r>
              <a:rPr lang="en-US" altLang="ja-JP" sz="2400" dirty="0" smtClean="0"/>
              <a:t>, </a:t>
            </a:r>
            <a:r>
              <a:rPr lang="en-US" altLang="ja-JP" sz="2400" dirty="0" err="1" smtClean="0"/>
              <a:t>malloc</a:t>
            </a:r>
            <a:r>
              <a:rPr lang="en-US" altLang="ja-JP" sz="2400" dirty="0" smtClean="0"/>
              <a:t>, </a:t>
            </a:r>
            <a:r>
              <a:rPr lang="ja-JP" altLang="en-US" sz="2400" dirty="0" smtClean="0"/>
              <a:t>あるいは</a:t>
            </a:r>
            <a:r>
              <a:rPr lang="en-US" altLang="ja-JP" sz="2400" dirty="0" err="1" smtClean="0"/>
              <a:t>realloc</a:t>
            </a:r>
            <a:r>
              <a:rPr lang="ja-JP" altLang="en-US" sz="2400" dirty="0" smtClean="0"/>
              <a:t>によって以前に割り当てられた記憶域へのポインタでなければならない（もしそうでない場合は動作は未定義）。</a:t>
            </a:r>
            <a:r>
              <a:rPr lang="en-US" altLang="ja-JP" sz="2400" dirty="0" smtClean="0"/>
              <a:t>p</a:t>
            </a:r>
            <a:r>
              <a:rPr lang="ja-JP" altLang="en-US" sz="2400" dirty="0" smtClean="0"/>
              <a:t>が、</a:t>
            </a:r>
            <a:r>
              <a:rPr lang="en-US" altLang="ja-JP" sz="2400" dirty="0" smtClean="0"/>
              <a:t>free</a:t>
            </a:r>
            <a:r>
              <a:rPr lang="ja-JP" altLang="en-US" sz="2400" dirty="0" smtClean="0"/>
              <a:t>や</a:t>
            </a:r>
            <a:r>
              <a:rPr lang="en-US" altLang="ja-JP" sz="2400" dirty="0" err="1" smtClean="0"/>
              <a:t>realloc</a:t>
            </a:r>
            <a:r>
              <a:rPr lang="ja-JP" altLang="en-US" sz="2400" dirty="0" smtClean="0"/>
              <a:t>によって既に解放された領域を指している場合も動作は未定義。</a:t>
            </a:r>
            <a:endParaRPr lang="en-US" altLang="ja-JP" sz="2400" dirty="0" smtClean="0"/>
          </a:p>
        </p:txBody>
      </p:sp>
      <p:sp>
        <p:nvSpPr>
          <p:cNvPr id="4" name="テキスト ボックス 3"/>
          <p:cNvSpPr txBox="1"/>
          <p:nvPr/>
        </p:nvSpPr>
        <p:spPr>
          <a:xfrm>
            <a:off x="656232" y="5732060"/>
            <a:ext cx="7738280" cy="830997"/>
          </a:xfrm>
          <a:prstGeom prst="rect">
            <a:avLst/>
          </a:prstGeom>
          <a:noFill/>
        </p:spPr>
        <p:txBody>
          <a:bodyPr wrap="square" rtlCol="0">
            <a:spAutoFit/>
          </a:bodyPr>
          <a:lstStyle/>
          <a:p>
            <a:r>
              <a:rPr kumimoji="1" lang="ja-JP" altLang="en-US" sz="2400" dirty="0" smtClean="0"/>
              <a:t>（注意）</a:t>
            </a:r>
            <a:r>
              <a:rPr kumimoji="1" lang="en-US" altLang="ja-JP" sz="2400" dirty="0" err="1" smtClean="0"/>
              <a:t>realloc</a:t>
            </a:r>
            <a:r>
              <a:rPr kumimoji="1" lang="ja-JP" altLang="en-US" sz="2400" dirty="0" smtClean="0"/>
              <a:t>は、解放と割り当ての両方を行うライブラリ関数である。この演習では、</a:t>
            </a:r>
            <a:r>
              <a:rPr kumimoji="1" lang="en-US" altLang="ja-JP" sz="2400" dirty="0" err="1" smtClean="0"/>
              <a:t>malloc</a:t>
            </a:r>
            <a:r>
              <a:rPr kumimoji="1" lang="en-US" altLang="ja-JP" sz="2400" dirty="0" smtClean="0"/>
              <a:t>, </a:t>
            </a:r>
            <a:r>
              <a:rPr kumimoji="1" lang="en-US" altLang="ja-JP" sz="2400" dirty="0" err="1" smtClean="0"/>
              <a:t>realloc</a:t>
            </a:r>
            <a:r>
              <a:rPr kumimoji="1" lang="ja-JP" altLang="en-US" sz="2400" dirty="0" smtClean="0"/>
              <a:t>の説明はしない。</a:t>
            </a:r>
            <a:endParaRPr kumimoji="1" lang="ja-JP"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AutoShape 11"/>
          <p:cNvSpPr>
            <a:spLocks noChangeArrowheads="1"/>
          </p:cNvSpPr>
          <p:nvPr/>
        </p:nvSpPr>
        <p:spPr bwMode="auto">
          <a:xfrm>
            <a:off x="6934208" y="3581400"/>
            <a:ext cx="914400" cy="457200"/>
          </a:xfrm>
          <a:prstGeom prst="cube">
            <a:avLst>
              <a:gd name="adj" fmla="val 50000"/>
            </a:avLst>
          </a:prstGeom>
          <a:solidFill>
            <a:srgbClr val="CCCCFF"/>
          </a:solidFill>
          <a:ln w="9525">
            <a:solidFill>
              <a:schemeClr val="tx1"/>
            </a:solidFill>
            <a:miter lim="800000"/>
            <a:headEnd/>
            <a:tailEnd/>
          </a:ln>
        </p:spPr>
        <p:txBody>
          <a:bodyPr anchor="ctr">
            <a:spAutoFit/>
          </a:bodyPr>
          <a:lstStyle/>
          <a:p>
            <a:endParaRPr lang="ja-JP" altLang="en-US"/>
          </a:p>
        </p:txBody>
      </p:sp>
      <p:sp>
        <p:nvSpPr>
          <p:cNvPr id="417794" name="Rectangle 2"/>
          <p:cNvSpPr>
            <a:spLocks noGrp="1" noChangeArrowheads="1"/>
          </p:cNvSpPr>
          <p:nvPr>
            <p:ph type="title"/>
          </p:nvPr>
        </p:nvSpPr>
        <p:spPr>
          <a:xfrm>
            <a:off x="666776" y="228600"/>
            <a:ext cx="7620000" cy="685800"/>
          </a:xfrm>
        </p:spPr>
        <p:txBody>
          <a:bodyPr>
            <a:normAutofit fontScale="90000"/>
          </a:bodyPr>
          <a:lstStyle/>
          <a:p>
            <a:pPr eaLnBrk="1" hangingPunct="1">
              <a:defRPr/>
            </a:pPr>
            <a:r>
              <a:rPr lang="ja-JP" altLang="en-US" dirty="0" smtClean="0"/>
              <a:t>例</a:t>
            </a:r>
          </a:p>
        </p:txBody>
      </p:sp>
      <p:sp>
        <p:nvSpPr>
          <p:cNvPr id="23560" name="AutoShape 8"/>
          <p:cNvSpPr>
            <a:spLocks noChangeArrowheads="1"/>
          </p:cNvSpPr>
          <p:nvPr/>
        </p:nvSpPr>
        <p:spPr bwMode="auto">
          <a:xfrm>
            <a:off x="81534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1" name="AutoShape 9"/>
          <p:cNvSpPr>
            <a:spLocks noChangeArrowheads="1"/>
          </p:cNvSpPr>
          <p:nvPr/>
        </p:nvSpPr>
        <p:spPr bwMode="auto">
          <a:xfrm>
            <a:off x="57150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2" name="AutoShape 10"/>
          <p:cNvSpPr>
            <a:spLocks noChangeArrowheads="1"/>
          </p:cNvSpPr>
          <p:nvPr/>
        </p:nvSpPr>
        <p:spPr bwMode="auto">
          <a:xfrm>
            <a:off x="69342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3" name="Line 12"/>
          <p:cNvSpPr>
            <a:spLocks noChangeShapeType="1"/>
          </p:cNvSpPr>
          <p:nvPr/>
        </p:nvSpPr>
        <p:spPr bwMode="auto">
          <a:xfrm>
            <a:off x="7162808" y="2971800"/>
            <a:ext cx="0" cy="1600200"/>
          </a:xfrm>
          <a:prstGeom prst="line">
            <a:avLst/>
          </a:prstGeom>
          <a:noFill/>
          <a:ln w="9525" cap="rnd">
            <a:solidFill>
              <a:schemeClr val="tx1"/>
            </a:solidFill>
            <a:prstDash val="sysDot"/>
            <a:round/>
            <a:headEnd/>
            <a:tailEnd/>
          </a:ln>
        </p:spPr>
        <p:txBody>
          <a:bodyPr wrap="none" anchor="ctr">
            <a:spAutoFit/>
          </a:bodyPr>
          <a:lstStyle/>
          <a:p>
            <a:endParaRPr lang="ja-JP" altLang="en-US"/>
          </a:p>
        </p:txBody>
      </p:sp>
      <p:sp>
        <p:nvSpPr>
          <p:cNvPr id="23564" name="Line 13"/>
          <p:cNvSpPr>
            <a:spLocks noChangeShapeType="1"/>
          </p:cNvSpPr>
          <p:nvPr/>
        </p:nvSpPr>
        <p:spPr bwMode="auto">
          <a:xfrm>
            <a:off x="7620008" y="3200400"/>
            <a:ext cx="0" cy="1600200"/>
          </a:xfrm>
          <a:prstGeom prst="line">
            <a:avLst/>
          </a:prstGeom>
          <a:noFill/>
          <a:ln w="9525">
            <a:noFill/>
            <a:round/>
            <a:headEnd/>
            <a:tailEnd/>
          </a:ln>
        </p:spPr>
        <p:txBody>
          <a:bodyPr wrap="none" anchor="ctr">
            <a:spAutoFit/>
          </a:bodyPr>
          <a:lstStyle/>
          <a:p>
            <a:endParaRPr lang="ja-JP" altLang="en-US"/>
          </a:p>
        </p:txBody>
      </p:sp>
      <p:sp>
        <p:nvSpPr>
          <p:cNvPr id="23565" name="Text Box 14"/>
          <p:cNvSpPr txBox="1">
            <a:spLocks noChangeArrowheads="1"/>
          </p:cNvSpPr>
          <p:nvPr/>
        </p:nvSpPr>
        <p:spPr bwMode="auto">
          <a:xfrm>
            <a:off x="5938854" y="5143512"/>
            <a:ext cx="2780889" cy="400110"/>
          </a:xfrm>
          <a:prstGeom prst="rect">
            <a:avLst/>
          </a:prstGeom>
          <a:noFill/>
          <a:ln w="9525">
            <a:noFill/>
            <a:miter lim="800000"/>
            <a:headEnd/>
            <a:tailEnd/>
          </a:ln>
        </p:spPr>
        <p:txBody>
          <a:bodyPr wrap="none">
            <a:spAutoFit/>
          </a:bodyPr>
          <a:lstStyle/>
          <a:p>
            <a:pPr>
              <a:spcBef>
                <a:spcPct val="50000"/>
              </a:spcBef>
            </a:pPr>
            <a:r>
              <a:rPr lang="en-US" altLang="ja-JP" sz="2000" b="0" dirty="0"/>
              <a:t>p = </a:t>
            </a:r>
            <a:r>
              <a:rPr lang="en-US" altLang="ja-JP" sz="2000" b="0" dirty="0" err="1" smtClean="0"/>
              <a:t>calloc</a:t>
            </a:r>
            <a:r>
              <a:rPr lang="en-US" altLang="ja-JP" sz="2000" b="0" dirty="0"/>
              <a:t>( 1, </a:t>
            </a:r>
            <a:r>
              <a:rPr lang="en-US" altLang="ja-JP" sz="2000" b="0" dirty="0" err="1"/>
              <a:t>sizeof</a:t>
            </a:r>
            <a:r>
              <a:rPr lang="en-US" altLang="ja-JP" sz="2000" b="0" dirty="0"/>
              <a:t>(</a:t>
            </a:r>
            <a:r>
              <a:rPr lang="en-US" altLang="ja-JP" sz="2000" b="0" dirty="0" err="1"/>
              <a:t>int</a:t>
            </a:r>
            <a:r>
              <a:rPr lang="en-US" altLang="ja-JP" sz="2000" b="0" dirty="0"/>
              <a:t>) );</a:t>
            </a:r>
            <a:endParaRPr lang="ja-JP" altLang="en-US" sz="2000" b="0" dirty="0"/>
          </a:p>
        </p:txBody>
      </p:sp>
      <p:sp>
        <p:nvSpPr>
          <p:cNvPr id="23566" name="Text Box 15"/>
          <p:cNvSpPr txBox="1">
            <a:spLocks noChangeArrowheads="1"/>
          </p:cNvSpPr>
          <p:nvPr/>
        </p:nvSpPr>
        <p:spPr bwMode="auto">
          <a:xfrm>
            <a:off x="7543808" y="2209800"/>
            <a:ext cx="966740" cy="400110"/>
          </a:xfrm>
          <a:prstGeom prst="rect">
            <a:avLst/>
          </a:prstGeom>
          <a:noFill/>
          <a:ln w="9525">
            <a:noFill/>
            <a:miter lim="800000"/>
            <a:headEnd/>
            <a:tailEnd/>
          </a:ln>
        </p:spPr>
        <p:txBody>
          <a:bodyPr wrap="none">
            <a:spAutoFit/>
          </a:bodyPr>
          <a:lstStyle/>
          <a:p>
            <a:r>
              <a:rPr lang="en-US" altLang="ja-JP" sz="2000" dirty="0"/>
              <a:t>free(p);</a:t>
            </a:r>
          </a:p>
        </p:txBody>
      </p:sp>
      <p:sp>
        <p:nvSpPr>
          <p:cNvPr id="23567" name="AutoShape 16"/>
          <p:cNvSpPr>
            <a:spLocks noChangeArrowheads="1"/>
          </p:cNvSpPr>
          <p:nvPr/>
        </p:nvSpPr>
        <p:spPr bwMode="auto">
          <a:xfrm>
            <a:off x="64770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8" name="AutoShape 17"/>
          <p:cNvSpPr>
            <a:spLocks noChangeArrowheads="1"/>
          </p:cNvSpPr>
          <p:nvPr/>
        </p:nvSpPr>
        <p:spPr bwMode="auto">
          <a:xfrm>
            <a:off x="77724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9" name="Line 18"/>
          <p:cNvSpPr>
            <a:spLocks noChangeShapeType="1"/>
          </p:cNvSpPr>
          <p:nvPr/>
        </p:nvSpPr>
        <p:spPr bwMode="auto">
          <a:xfrm flipV="1">
            <a:off x="6746552" y="4191000"/>
            <a:ext cx="0" cy="8382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0" name="Line 19"/>
          <p:cNvSpPr>
            <a:spLocks noChangeShapeType="1"/>
          </p:cNvSpPr>
          <p:nvPr/>
        </p:nvSpPr>
        <p:spPr bwMode="auto">
          <a:xfrm>
            <a:off x="8001008" y="2667000"/>
            <a:ext cx="0" cy="10668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1" name="Text Box 20"/>
          <p:cNvSpPr txBox="1">
            <a:spLocks noChangeArrowheads="1"/>
          </p:cNvSpPr>
          <p:nvPr/>
        </p:nvSpPr>
        <p:spPr bwMode="auto">
          <a:xfrm>
            <a:off x="6394458" y="5679472"/>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記憶域確保</a:t>
            </a:r>
            <a:endParaRPr lang="en-US" altLang="ja-JP" sz="2000" dirty="0"/>
          </a:p>
        </p:txBody>
      </p:sp>
      <p:sp>
        <p:nvSpPr>
          <p:cNvPr id="23572" name="Text Box 21"/>
          <p:cNvSpPr txBox="1">
            <a:spLocks noChangeArrowheads="1"/>
          </p:cNvSpPr>
          <p:nvPr/>
        </p:nvSpPr>
        <p:spPr bwMode="auto">
          <a:xfrm>
            <a:off x="7512298" y="1773185"/>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記憶域解放</a:t>
            </a:r>
            <a:endParaRPr lang="en-US" altLang="ja-JP" sz="2000" dirty="0"/>
          </a:p>
        </p:txBody>
      </p:sp>
      <p:sp>
        <p:nvSpPr>
          <p:cNvPr id="21" name="正方形/長方形 20"/>
          <p:cNvSpPr/>
          <p:nvPr/>
        </p:nvSpPr>
        <p:spPr>
          <a:xfrm>
            <a:off x="214282" y="1214422"/>
            <a:ext cx="5357850" cy="4708981"/>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main(void)</a:t>
            </a:r>
          </a:p>
          <a:p>
            <a:pPr>
              <a:defRPr/>
            </a:pPr>
            <a:r>
              <a:rPr lang="en-US" altLang="ja-JP" sz="2000" dirty="0" smtClean="0"/>
              <a:t>{</a:t>
            </a:r>
          </a:p>
          <a:p>
            <a:pPr>
              <a:defRPr/>
            </a:pPr>
            <a:r>
              <a:rPr lang="en-US" altLang="ja-JP" sz="2000" dirty="0" smtClean="0"/>
              <a:t>  </a:t>
            </a:r>
            <a:r>
              <a:rPr lang="en-US" altLang="ja-JP" sz="2000" dirty="0" err="1" smtClean="0"/>
              <a:t>int</a:t>
            </a:r>
            <a:r>
              <a:rPr lang="en-US" altLang="ja-JP" sz="2000" dirty="0" smtClean="0"/>
              <a:t> *p;</a:t>
            </a:r>
          </a:p>
          <a:p>
            <a:pPr>
              <a:defRPr/>
            </a:pPr>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a:t>
            </a:r>
            <a:r>
              <a:rPr lang="en-US" altLang="ja-JP" sz="2000" dirty="0" err="1" smtClean="0"/>
              <a:t>int</a:t>
            </a:r>
            <a:r>
              <a:rPr lang="en-US" altLang="ja-JP" sz="2000" dirty="0" smtClean="0"/>
              <a:t>) );</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*p = 15;</a:t>
            </a:r>
          </a:p>
          <a:p>
            <a:pPr>
              <a:defRPr/>
            </a:pPr>
            <a:r>
              <a:rPr lang="en-US" altLang="ja-JP" sz="2000" dirty="0" smtClean="0"/>
              <a:t>    </a:t>
            </a:r>
            <a:r>
              <a:rPr lang="en-US" altLang="ja-JP" sz="2000" dirty="0" err="1" smtClean="0"/>
              <a:t>printf</a:t>
            </a:r>
            <a:r>
              <a:rPr lang="en-US" altLang="ja-JP" sz="2000" dirty="0" smtClean="0"/>
              <a:t>("*p = %d\n", *p );</a:t>
            </a:r>
          </a:p>
          <a:p>
            <a:pPr>
              <a:defRPr/>
            </a:pPr>
            <a:r>
              <a:rPr lang="en-US" altLang="ja-JP" sz="2000" dirty="0" smtClean="0"/>
              <a:t>    </a:t>
            </a:r>
            <a:r>
              <a:rPr lang="en-US" altLang="ja-JP" sz="2000" dirty="0" smtClean="0">
                <a:solidFill>
                  <a:srgbClr val="FF0000"/>
                </a:solidFill>
              </a:rPr>
              <a:t>free(p)</a:t>
            </a:r>
            <a:r>
              <a:rPr lang="en-US" altLang="ja-JP" sz="2000" dirty="0" smtClean="0"/>
              <a:t>;</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442914" y="79094"/>
            <a:ext cx="8129614" cy="685800"/>
          </a:xfrm>
        </p:spPr>
        <p:txBody>
          <a:bodyPr>
            <a:normAutofit fontScale="90000"/>
          </a:bodyPr>
          <a:lstStyle/>
          <a:p>
            <a:pPr eaLnBrk="1" hangingPunct="1">
              <a:defRPr/>
            </a:pPr>
            <a:r>
              <a:rPr lang="ja-JP" altLang="en-US" sz="3000" dirty="0" smtClean="0"/>
              <a:t>確保した領域へ値を書き込む例（打ち込んで確認）</a:t>
            </a:r>
          </a:p>
        </p:txBody>
      </p:sp>
      <p:sp>
        <p:nvSpPr>
          <p:cNvPr id="7" name="正方形/長方形 6"/>
          <p:cNvSpPr/>
          <p:nvPr/>
        </p:nvSpPr>
        <p:spPr>
          <a:xfrm>
            <a:off x="1390982" y="739940"/>
            <a:ext cx="6251762" cy="6001643"/>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t>#include &lt;</a:t>
            </a:r>
            <a:r>
              <a:rPr lang="en-US" altLang="ja-JP" sz="2400" dirty="0" err="1" smtClean="0"/>
              <a:t>stdlib.h</a:t>
            </a:r>
            <a:r>
              <a:rPr lang="en-US" altLang="ja-JP" sz="2400" dirty="0" smtClean="0"/>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 p;</a:t>
            </a:r>
          </a:p>
          <a:p>
            <a:pPr>
              <a:defRPr/>
            </a:pPr>
            <a:r>
              <a:rPr lang="en-US" altLang="ja-JP" sz="2400" dirty="0" smtClean="0"/>
              <a:t>  p = </a:t>
            </a:r>
            <a:r>
              <a:rPr lang="en-US" altLang="ja-JP" sz="2400" dirty="0" err="1" smtClean="0"/>
              <a:t>calloc</a:t>
            </a:r>
            <a:r>
              <a:rPr lang="en-US" altLang="ja-JP" sz="2400" dirty="0" smtClean="0"/>
              <a:t> (1, </a:t>
            </a:r>
            <a:r>
              <a:rPr lang="en-US" altLang="ja-JP" sz="2400" dirty="0" err="1" smtClean="0"/>
              <a:t>sizeof</a:t>
            </a:r>
            <a:r>
              <a:rPr lang="en-US" altLang="ja-JP" sz="2400" dirty="0" smtClean="0"/>
              <a:t>(</a:t>
            </a:r>
            <a:r>
              <a:rPr lang="en-US" altLang="ja-JP" sz="2400" dirty="0" err="1" smtClean="0"/>
              <a:t>int</a:t>
            </a:r>
            <a:r>
              <a:rPr lang="en-US" altLang="ja-JP" sz="2400" dirty="0" smtClean="0"/>
              <a:t>));</a:t>
            </a:r>
          </a:p>
          <a:p>
            <a:pPr>
              <a:defRPr/>
            </a:pPr>
            <a:r>
              <a:rPr lang="en-US" altLang="ja-JP" sz="2400" dirty="0" smtClean="0"/>
              <a:t>  if(p == NULL)</a:t>
            </a:r>
          </a:p>
          <a:p>
            <a:pPr>
              <a:defRPr/>
            </a:pPr>
            <a:r>
              <a:rPr lang="en-US" altLang="ja-JP" sz="2400" dirty="0" smtClean="0"/>
              <a:t>    </a:t>
            </a:r>
            <a:r>
              <a:rPr lang="en-US" altLang="ja-JP" sz="2400" dirty="0" err="1" smtClean="0"/>
              <a:t>printf</a:t>
            </a:r>
            <a:r>
              <a:rPr lang="en-US" altLang="ja-JP" sz="2400" dirty="0" smtClean="0"/>
              <a:t> ("</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a:t>
            </a:r>
            <a:r>
              <a:rPr lang="en-US" altLang="ja-JP" sz="2400" dirty="0" err="1" smtClean="0"/>
              <a:t>printf</a:t>
            </a:r>
            <a:r>
              <a:rPr lang="en-US" altLang="ja-JP" sz="2400" dirty="0" smtClean="0"/>
              <a:t> ("</a:t>
            </a:r>
            <a:r>
              <a:rPr lang="ja-JP" altLang="en-US" sz="2400" dirty="0" smtClean="0"/>
              <a:t>整数を入力して下さい：</a:t>
            </a:r>
            <a:r>
              <a:rPr lang="en-US" altLang="ja-JP" sz="2400" dirty="0" smtClean="0"/>
              <a:t>");</a:t>
            </a:r>
          </a:p>
          <a:p>
            <a:pPr>
              <a:defRPr/>
            </a:pPr>
            <a:r>
              <a:rPr lang="en-US" altLang="ja-JP" sz="2400" dirty="0" smtClean="0"/>
              <a:t>    </a:t>
            </a:r>
            <a:r>
              <a:rPr lang="en-US" altLang="ja-JP" sz="2400" dirty="0" err="1" smtClean="0"/>
              <a:t>scanf</a:t>
            </a:r>
            <a:r>
              <a:rPr lang="en-US" altLang="ja-JP" sz="2400" dirty="0" smtClean="0"/>
              <a:t> ("%d", p);</a:t>
            </a:r>
          </a:p>
          <a:p>
            <a:pPr>
              <a:defRPr/>
            </a:pPr>
            <a:r>
              <a:rPr lang="en-US" altLang="ja-JP" sz="2400" dirty="0" smtClean="0"/>
              <a:t>    </a:t>
            </a:r>
            <a:r>
              <a:rPr lang="en-US" altLang="ja-JP" sz="2400" dirty="0" err="1" smtClean="0"/>
              <a:t>printf</a:t>
            </a:r>
            <a:r>
              <a:rPr lang="en-US" altLang="ja-JP" sz="2400" dirty="0" smtClean="0"/>
              <a:t> ("*p = %d\n", *p);</a:t>
            </a:r>
          </a:p>
          <a:p>
            <a:pPr>
              <a:defRPr/>
            </a:pPr>
            <a:r>
              <a:rPr lang="en-US" altLang="ja-JP" sz="2400" dirty="0" smtClean="0"/>
              <a:t> </a:t>
            </a:r>
            <a:r>
              <a:rPr lang="ja-JP" altLang="en-US" sz="2400" dirty="0" smtClean="0"/>
              <a:t>   </a:t>
            </a:r>
            <a:r>
              <a:rPr lang="en-US" altLang="ja-JP" sz="2400" dirty="0" smtClean="0"/>
              <a:t>free(p);</a:t>
            </a:r>
          </a:p>
          <a:p>
            <a:pPr>
              <a:defRPr/>
            </a:pPr>
            <a:r>
              <a:rPr lang="en-US" altLang="ja-JP" sz="2400" dirty="0" smtClean="0"/>
              <a:t>  }</a:t>
            </a:r>
          </a:p>
          <a:p>
            <a:pPr>
              <a:defRPr/>
            </a:pPr>
            <a:r>
              <a:rPr lang="en-US" altLang="ja-JP" sz="2400" dirty="0" smtClean="0"/>
              <a:t>  return 0;</a:t>
            </a:r>
          </a:p>
          <a:p>
            <a:pPr>
              <a:defRPr/>
            </a:pPr>
            <a:r>
              <a:rPr lang="en-US" altLang="ja-JP" sz="24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714348" y="214290"/>
            <a:ext cx="7620000" cy="685800"/>
          </a:xfrm>
        </p:spPr>
        <p:txBody>
          <a:bodyPr/>
          <a:lstStyle/>
          <a:p>
            <a:pPr eaLnBrk="1" hangingPunct="1">
              <a:defRPr/>
            </a:pPr>
            <a:r>
              <a:rPr lang="ja-JP" altLang="en-US" sz="3400" dirty="0" smtClean="0"/>
              <a:t>１次元配列の動的確保</a:t>
            </a:r>
          </a:p>
        </p:txBody>
      </p:sp>
      <p:sp>
        <p:nvSpPr>
          <p:cNvPr id="25605" name="Rectangle 3"/>
          <p:cNvSpPr>
            <a:spLocks noGrp="1" noChangeArrowheads="1"/>
          </p:cNvSpPr>
          <p:nvPr>
            <p:ph type="body" idx="1"/>
          </p:nvPr>
        </p:nvSpPr>
        <p:spPr>
          <a:xfrm>
            <a:off x="457200" y="1600201"/>
            <a:ext cx="8229600" cy="971544"/>
          </a:xfrm>
        </p:spPr>
        <p:txBody>
          <a:bodyPr>
            <a:normAutofit fontScale="92500" lnSpcReduction="10000"/>
          </a:bodyPr>
          <a:lstStyle/>
          <a:p>
            <a:pPr eaLnBrk="1" hangingPunct="1"/>
            <a:r>
              <a:rPr lang="ja-JP" altLang="en-US" dirty="0" smtClean="0"/>
              <a:t>配列宣言の例</a:t>
            </a:r>
            <a:endParaRPr lang="en-US" altLang="ja-JP" dirty="0" smtClean="0"/>
          </a:p>
          <a:p>
            <a:pPr lvl="1" eaLnBrk="1" hangingPunct="1">
              <a:buFont typeface="Wingdings" pitchFamily="-64" charset="2"/>
              <a:buNone/>
            </a:pPr>
            <a:r>
              <a:rPr lang="en-US" altLang="ja-JP" dirty="0" err="1" smtClean="0"/>
              <a:t>int</a:t>
            </a:r>
            <a:r>
              <a:rPr lang="en-US" altLang="ja-JP" dirty="0" smtClean="0"/>
              <a:t>  x[10];</a:t>
            </a:r>
          </a:p>
        </p:txBody>
      </p:sp>
      <p:sp>
        <p:nvSpPr>
          <p:cNvPr id="25608" name="Text Box 6"/>
          <p:cNvSpPr txBox="1">
            <a:spLocks noChangeArrowheads="1"/>
          </p:cNvSpPr>
          <p:nvPr/>
        </p:nvSpPr>
        <p:spPr bwMode="auto">
          <a:xfrm>
            <a:off x="3347864" y="1601505"/>
            <a:ext cx="5367540" cy="1323439"/>
          </a:xfrm>
          <a:prstGeom prst="rect">
            <a:avLst/>
          </a:prstGeom>
          <a:noFill/>
          <a:ln w="9525">
            <a:noFill/>
            <a:miter lim="800000"/>
            <a:headEnd/>
            <a:tailEnd/>
          </a:ln>
        </p:spPr>
        <p:txBody>
          <a:bodyPr wrap="square">
            <a:spAutoFit/>
          </a:bodyPr>
          <a:lstStyle/>
          <a:p>
            <a:r>
              <a:rPr lang="ja-JP" altLang="en-US" sz="2000" b="0" dirty="0"/>
              <a:t>配列の要素数は定数式でなければ</a:t>
            </a:r>
            <a:r>
              <a:rPr lang="ja-JP" altLang="en-US" sz="2000" b="0" dirty="0" smtClean="0"/>
              <a:t>ならない。</a:t>
            </a:r>
            <a:endParaRPr lang="en-US" altLang="ja-JP" sz="2000" b="0" dirty="0"/>
          </a:p>
          <a:p>
            <a:r>
              <a:rPr lang="ja-JP" altLang="en-US" sz="2000" b="0" dirty="0" smtClean="0"/>
              <a:t>要素数</a:t>
            </a:r>
            <a:r>
              <a:rPr lang="ja-JP" altLang="en-US" sz="2000" b="0" dirty="0"/>
              <a:t>を変数とすること</a:t>
            </a:r>
            <a:r>
              <a:rPr lang="ja-JP" altLang="en-US" sz="2000" b="0" dirty="0" smtClean="0"/>
              <a:t>は</a:t>
            </a:r>
            <a:r>
              <a:rPr lang="en-US" altLang="ja-JP" sz="2000" b="0" dirty="0" smtClean="0"/>
              <a:t>1990</a:t>
            </a:r>
            <a:r>
              <a:rPr lang="ja-JP" altLang="en-US" sz="2000" b="0" dirty="0" smtClean="0"/>
              <a:t>年の</a:t>
            </a:r>
            <a:r>
              <a:rPr lang="en-US" altLang="ja-JP" sz="2000" b="0" dirty="0" smtClean="0"/>
              <a:t>ISO</a:t>
            </a:r>
            <a:r>
              <a:rPr lang="ja-JP" altLang="en-US" sz="2000" b="0" dirty="0" smtClean="0"/>
              <a:t>規格では許されていない。</a:t>
            </a:r>
            <a:endParaRPr lang="en-US" altLang="ja-JP" sz="2000" b="0" dirty="0" smtClean="0"/>
          </a:p>
          <a:p>
            <a:r>
              <a:rPr lang="ja-JP" altLang="en-US" sz="2000" dirty="0" smtClean="0"/>
              <a:t>（注）</a:t>
            </a:r>
            <a:r>
              <a:rPr lang="en-US" altLang="ja-JP" sz="2000" dirty="0" smtClean="0"/>
              <a:t>1999</a:t>
            </a:r>
            <a:r>
              <a:rPr lang="ja-JP" altLang="en-US" sz="2000" dirty="0" smtClean="0"/>
              <a:t>年の</a:t>
            </a:r>
            <a:r>
              <a:rPr lang="en-US" altLang="ja-JP" sz="2000" dirty="0" smtClean="0"/>
              <a:t>ISO</a:t>
            </a:r>
            <a:r>
              <a:rPr lang="ja-JP" altLang="en-US" sz="2000" dirty="0" smtClean="0"/>
              <a:t>規格</a:t>
            </a:r>
            <a:r>
              <a:rPr lang="en-US" altLang="ja-JP" sz="2000" dirty="0" smtClean="0"/>
              <a:t>(C99)</a:t>
            </a:r>
            <a:r>
              <a:rPr lang="ja-JP" altLang="en-US" sz="2000" dirty="0" smtClean="0"/>
              <a:t>では許されているが。</a:t>
            </a:r>
            <a:endParaRPr lang="en-US" altLang="ja-JP" sz="2000" b="0" dirty="0"/>
          </a:p>
        </p:txBody>
      </p:sp>
      <p:sp>
        <p:nvSpPr>
          <p:cNvPr id="25612" name="AutoShape 10"/>
          <p:cNvSpPr>
            <a:spLocks noChangeArrowheads="1"/>
          </p:cNvSpPr>
          <p:nvPr/>
        </p:nvSpPr>
        <p:spPr bwMode="auto">
          <a:xfrm>
            <a:off x="3419872" y="3445943"/>
            <a:ext cx="936104" cy="419338"/>
          </a:xfrm>
          <a:prstGeom prst="downArrow">
            <a:avLst>
              <a:gd name="adj1" fmla="val 50000"/>
              <a:gd name="adj2" fmla="val 25000"/>
            </a:avLst>
          </a:prstGeom>
          <a:solidFill>
            <a:srgbClr val="FF0000"/>
          </a:solidFill>
          <a:ln w="9525">
            <a:noFill/>
            <a:miter lim="800000"/>
            <a:headEnd/>
            <a:tailEnd/>
          </a:ln>
        </p:spPr>
        <p:txBody>
          <a:bodyPr wrap="square" anchor="ctr">
            <a:spAutoFit/>
          </a:bodyPr>
          <a:lstStyle/>
          <a:p>
            <a:endParaRPr lang="ja-JP" altLang="en-US"/>
          </a:p>
        </p:txBody>
      </p:sp>
      <p:sp>
        <p:nvSpPr>
          <p:cNvPr id="13" name="正方形/長方形 12"/>
          <p:cNvSpPr/>
          <p:nvPr/>
        </p:nvSpPr>
        <p:spPr>
          <a:xfrm>
            <a:off x="899592" y="4419109"/>
            <a:ext cx="7143800" cy="954107"/>
          </a:xfrm>
          <a:prstGeom prst="rect">
            <a:avLst/>
          </a:prstGeom>
        </p:spPr>
        <p:txBody>
          <a:bodyPr wrap="square">
            <a:spAutoFit/>
          </a:bodyPr>
          <a:lstStyle/>
          <a:p>
            <a:r>
              <a:rPr lang="ja-JP" altLang="en-US" sz="2800" dirty="0" smtClean="0"/>
              <a:t>実行時に領域を確保することにより、適切な長さの配列を用いることができる。</a:t>
            </a:r>
            <a:endParaRPr lang="en-US" altLang="ja-JP" sz="2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6"/>
          <p:cNvSpPr>
            <a:spLocks noChangeArrowheads="1"/>
          </p:cNvSpPr>
          <p:nvPr/>
        </p:nvSpPr>
        <p:spPr bwMode="auto">
          <a:xfrm>
            <a:off x="7489854" y="5752123"/>
            <a:ext cx="1439863" cy="504825"/>
          </a:xfrm>
          <a:prstGeom prst="cube">
            <a:avLst>
              <a:gd name="adj" fmla="val 25000"/>
            </a:avLst>
          </a:prstGeom>
          <a:solidFill>
            <a:schemeClr val="bg1"/>
          </a:solidFill>
          <a:ln w="9525">
            <a:solidFill>
              <a:schemeClr val="tx1"/>
            </a:solidFill>
            <a:miter lim="800000"/>
            <a:headEnd/>
            <a:tailEnd/>
          </a:ln>
        </p:spPr>
        <p:txBody>
          <a:bodyPr wrap="none" anchor="ctr" anchorCtr="1"/>
          <a:lstStyle/>
          <a:p>
            <a:r>
              <a:rPr lang="en-US" altLang="ja-JP" dirty="0" smtClean="0"/>
              <a:t>p</a:t>
            </a:r>
            <a:endParaRPr lang="ja-JP" altLang="en-US" dirty="0"/>
          </a:p>
        </p:txBody>
      </p:sp>
      <p:sp>
        <p:nvSpPr>
          <p:cNvPr id="418818" name="Rectangle 2"/>
          <p:cNvSpPr>
            <a:spLocks noGrp="1" noChangeArrowheads="1"/>
          </p:cNvSpPr>
          <p:nvPr>
            <p:ph type="title"/>
          </p:nvPr>
        </p:nvSpPr>
        <p:spPr>
          <a:xfrm>
            <a:off x="893607" y="68240"/>
            <a:ext cx="3277598" cy="638452"/>
          </a:xfrm>
        </p:spPr>
        <p:txBody>
          <a:bodyPr>
            <a:normAutofit fontScale="90000"/>
          </a:bodyPr>
          <a:lstStyle/>
          <a:p>
            <a:pPr eaLnBrk="1" hangingPunct="1">
              <a:defRPr/>
            </a:pPr>
            <a:r>
              <a:rPr lang="ja-JP" altLang="en-US" sz="3000" dirty="0" smtClean="0"/>
              <a:t>例（打ち込んで確認）</a:t>
            </a:r>
          </a:p>
        </p:txBody>
      </p:sp>
      <p:sp>
        <p:nvSpPr>
          <p:cNvPr id="26632" name="AutoShape 6"/>
          <p:cNvSpPr>
            <a:spLocks noChangeArrowheads="1"/>
          </p:cNvSpPr>
          <p:nvPr/>
        </p:nvSpPr>
        <p:spPr bwMode="auto">
          <a:xfrm>
            <a:off x="7489855" y="4070604"/>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grpSp>
        <p:nvGrpSpPr>
          <p:cNvPr id="2" name="Group 7"/>
          <p:cNvGrpSpPr>
            <a:grpSpLocks/>
          </p:cNvGrpSpPr>
          <p:nvPr/>
        </p:nvGrpSpPr>
        <p:grpSpPr bwMode="auto">
          <a:xfrm>
            <a:off x="7489855" y="3708654"/>
            <a:ext cx="1439863" cy="504825"/>
            <a:chOff x="2789" y="2614"/>
            <a:chExt cx="907" cy="318"/>
          </a:xfrm>
        </p:grpSpPr>
        <p:sp>
          <p:nvSpPr>
            <p:cNvPr id="26654" name="AutoShape 8"/>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5" name="Text Box 9"/>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p[4]</a:t>
              </a:r>
            </a:p>
          </p:txBody>
        </p:sp>
      </p:grpSp>
      <p:grpSp>
        <p:nvGrpSpPr>
          <p:cNvPr id="3" name="Group 10"/>
          <p:cNvGrpSpPr>
            <a:grpSpLocks/>
          </p:cNvGrpSpPr>
          <p:nvPr/>
        </p:nvGrpSpPr>
        <p:grpSpPr bwMode="auto">
          <a:xfrm>
            <a:off x="7489855" y="3330829"/>
            <a:ext cx="1439863" cy="504825"/>
            <a:chOff x="2789" y="2614"/>
            <a:chExt cx="907" cy="318"/>
          </a:xfrm>
        </p:grpSpPr>
        <p:sp>
          <p:nvSpPr>
            <p:cNvPr id="26652" name="AutoShape 11"/>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3" name="Text Box 12"/>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p[3]</a:t>
              </a:r>
            </a:p>
          </p:txBody>
        </p:sp>
      </p:grpSp>
      <p:grpSp>
        <p:nvGrpSpPr>
          <p:cNvPr id="4" name="Group 13"/>
          <p:cNvGrpSpPr>
            <a:grpSpLocks/>
          </p:cNvGrpSpPr>
          <p:nvPr/>
        </p:nvGrpSpPr>
        <p:grpSpPr bwMode="auto">
          <a:xfrm>
            <a:off x="7489855" y="2946654"/>
            <a:ext cx="1439863" cy="504825"/>
            <a:chOff x="2789" y="2614"/>
            <a:chExt cx="907" cy="318"/>
          </a:xfrm>
        </p:grpSpPr>
        <p:sp>
          <p:nvSpPr>
            <p:cNvPr id="26650" name="AutoShape 14"/>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1" name="Text Box 15"/>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p[2]</a:t>
              </a:r>
            </a:p>
          </p:txBody>
        </p:sp>
      </p:grpSp>
      <p:grpSp>
        <p:nvGrpSpPr>
          <p:cNvPr id="5" name="Group 16"/>
          <p:cNvGrpSpPr>
            <a:grpSpLocks/>
          </p:cNvGrpSpPr>
          <p:nvPr/>
        </p:nvGrpSpPr>
        <p:grpSpPr bwMode="auto">
          <a:xfrm>
            <a:off x="7489855" y="2581529"/>
            <a:ext cx="1439863" cy="504825"/>
            <a:chOff x="2789" y="2614"/>
            <a:chExt cx="907" cy="318"/>
          </a:xfrm>
        </p:grpSpPr>
        <p:sp>
          <p:nvSpPr>
            <p:cNvPr id="26648" name="AutoShape 17"/>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9" name="Text Box 18"/>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p[1]</a:t>
              </a:r>
            </a:p>
          </p:txBody>
        </p:sp>
      </p:grpSp>
      <p:grpSp>
        <p:nvGrpSpPr>
          <p:cNvPr id="6" name="Group 19"/>
          <p:cNvGrpSpPr>
            <a:grpSpLocks/>
          </p:cNvGrpSpPr>
          <p:nvPr/>
        </p:nvGrpSpPr>
        <p:grpSpPr bwMode="auto">
          <a:xfrm>
            <a:off x="7489855" y="2197354"/>
            <a:ext cx="1439863" cy="504825"/>
            <a:chOff x="2789" y="2614"/>
            <a:chExt cx="907" cy="318"/>
          </a:xfrm>
        </p:grpSpPr>
        <p:sp>
          <p:nvSpPr>
            <p:cNvPr id="26646" name="AutoShape 20"/>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7" name="Text Box 21"/>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p[0]</a:t>
              </a:r>
            </a:p>
          </p:txBody>
        </p:sp>
      </p:grpSp>
      <p:sp>
        <p:nvSpPr>
          <p:cNvPr id="26638" name="AutoShape 22"/>
          <p:cNvSpPr>
            <a:spLocks noChangeArrowheads="1"/>
          </p:cNvSpPr>
          <p:nvPr/>
        </p:nvSpPr>
        <p:spPr bwMode="auto">
          <a:xfrm>
            <a:off x="7489855" y="1838579"/>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sp>
        <p:nvSpPr>
          <p:cNvPr id="26639" name="AutoShape 23"/>
          <p:cNvSpPr>
            <a:spLocks noChangeArrowheads="1"/>
          </p:cNvSpPr>
          <p:nvPr/>
        </p:nvSpPr>
        <p:spPr bwMode="auto">
          <a:xfrm>
            <a:off x="7489855" y="1478216"/>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cxnSp>
        <p:nvCxnSpPr>
          <p:cNvPr id="26640" name="AutoShape 24"/>
          <p:cNvCxnSpPr>
            <a:cxnSpLocks noChangeShapeType="1"/>
            <a:stCxn id="31" idx="2"/>
          </p:cNvCxnSpPr>
          <p:nvPr/>
        </p:nvCxnSpPr>
        <p:spPr bwMode="auto">
          <a:xfrm rot="10800000" flipH="1">
            <a:off x="7489854" y="2512870"/>
            <a:ext cx="2" cy="3554768"/>
          </a:xfrm>
          <a:prstGeom prst="bentConnector4">
            <a:avLst>
              <a:gd name="adj1" fmla="val -11430000000"/>
              <a:gd name="adj2" fmla="val 99742"/>
            </a:avLst>
          </a:prstGeom>
          <a:noFill/>
          <a:ln w="9525">
            <a:solidFill>
              <a:schemeClr val="tx1"/>
            </a:solidFill>
            <a:miter lim="800000"/>
            <a:headEnd/>
            <a:tailEnd type="triangle" w="med" len="med"/>
          </a:ln>
        </p:spPr>
      </p:cxnSp>
      <p:sp>
        <p:nvSpPr>
          <p:cNvPr id="26641" name="Text Box 25"/>
          <p:cNvSpPr txBox="1">
            <a:spLocks noChangeArrowheads="1"/>
          </p:cNvSpPr>
          <p:nvPr/>
        </p:nvSpPr>
        <p:spPr bwMode="auto">
          <a:xfrm>
            <a:off x="5652120" y="3106988"/>
            <a:ext cx="1606550" cy="366713"/>
          </a:xfrm>
          <a:prstGeom prst="rect">
            <a:avLst/>
          </a:prstGeom>
          <a:noFill/>
          <a:ln w="9525">
            <a:noFill/>
            <a:miter lim="800000"/>
            <a:headEnd/>
            <a:tailEnd/>
          </a:ln>
        </p:spPr>
        <p:txBody>
          <a:bodyPr wrap="none">
            <a:spAutoFit/>
          </a:bodyPr>
          <a:lstStyle/>
          <a:p>
            <a:r>
              <a:rPr lang="en-US" altLang="ja-JP" dirty="0" err="1"/>
              <a:t>sizeof</a:t>
            </a:r>
            <a:r>
              <a:rPr lang="en-US" altLang="ja-JP" dirty="0"/>
              <a:t>(</a:t>
            </a:r>
            <a:r>
              <a:rPr lang="en-US" altLang="ja-JP" dirty="0" err="1"/>
              <a:t>int</a:t>
            </a:r>
            <a:r>
              <a:rPr lang="en-US" altLang="ja-JP" dirty="0"/>
              <a:t>) * 5</a:t>
            </a:r>
          </a:p>
        </p:txBody>
      </p:sp>
      <p:sp>
        <p:nvSpPr>
          <p:cNvPr id="26642" name="Line 26"/>
          <p:cNvSpPr>
            <a:spLocks noChangeShapeType="1"/>
          </p:cNvSpPr>
          <p:nvPr/>
        </p:nvSpPr>
        <p:spPr bwMode="auto">
          <a:xfrm>
            <a:off x="6175405" y="234846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3" name="Line 27"/>
          <p:cNvSpPr>
            <a:spLocks noChangeShapeType="1"/>
          </p:cNvSpPr>
          <p:nvPr/>
        </p:nvSpPr>
        <p:spPr bwMode="auto">
          <a:xfrm>
            <a:off x="6188105" y="422141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4" name="Line 28"/>
          <p:cNvSpPr>
            <a:spLocks noChangeShapeType="1"/>
          </p:cNvSpPr>
          <p:nvPr/>
        </p:nvSpPr>
        <p:spPr bwMode="auto">
          <a:xfrm>
            <a:off x="7092280" y="2348466"/>
            <a:ext cx="0" cy="1872950"/>
          </a:xfrm>
          <a:prstGeom prst="line">
            <a:avLst/>
          </a:prstGeom>
          <a:noFill/>
          <a:ln w="9525">
            <a:solidFill>
              <a:srgbClr val="0080FF"/>
            </a:solidFill>
            <a:round/>
            <a:headEnd type="triangle" w="med" len="med"/>
            <a:tailEnd type="triangle" w="med" len="med"/>
          </a:ln>
        </p:spPr>
        <p:txBody>
          <a:bodyPr wrap="square" anchor="ctr">
            <a:spAutoFit/>
          </a:bodyPr>
          <a:lstStyle/>
          <a:p>
            <a:endParaRPr lang="ja-JP" altLang="en-US"/>
          </a:p>
        </p:txBody>
      </p:sp>
      <p:sp>
        <p:nvSpPr>
          <p:cNvPr id="32" name="正方形/長方形 31"/>
          <p:cNvSpPr/>
          <p:nvPr/>
        </p:nvSpPr>
        <p:spPr>
          <a:xfrm>
            <a:off x="282522" y="791906"/>
            <a:ext cx="5357850" cy="5940088"/>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 (void) {</a:t>
            </a:r>
          </a:p>
          <a:p>
            <a:pPr>
              <a:defRPr/>
            </a:pPr>
            <a:r>
              <a:rPr lang="en-US" altLang="ja-JP" sz="2000" dirty="0" smtClean="0"/>
              <a:t>  </a:t>
            </a:r>
            <a:r>
              <a:rPr lang="en-US" altLang="ja-JP" sz="2000" dirty="0" err="1" smtClean="0"/>
              <a:t>int</a:t>
            </a:r>
            <a:r>
              <a:rPr lang="en-US" altLang="ja-JP" sz="2000" dirty="0" smtClean="0"/>
              <a:t>  no, </a:t>
            </a:r>
            <a:r>
              <a:rPr lang="en-US" altLang="ja-JP" sz="2000" dirty="0" err="1" smtClean="0"/>
              <a:t>i</a:t>
            </a:r>
            <a:r>
              <a:rPr lang="en-US" altLang="ja-JP" sz="2000" dirty="0" smtClean="0"/>
              <a:t>=0;</a:t>
            </a:r>
          </a:p>
          <a:p>
            <a:pPr>
              <a:defRPr/>
            </a:pPr>
            <a:r>
              <a:rPr lang="en-US" altLang="ja-JP" sz="2000" dirty="0" smtClean="0"/>
              <a:t>  </a:t>
            </a:r>
            <a:r>
              <a:rPr lang="en-US" altLang="ja-JP" sz="2000" dirty="0" err="1" smtClean="0"/>
              <a:t>int</a:t>
            </a:r>
            <a:r>
              <a:rPr lang="en-US" altLang="ja-JP" sz="2000" dirty="0" smtClean="0"/>
              <a:t> * p;</a:t>
            </a:r>
          </a:p>
          <a:p>
            <a:pPr>
              <a:defRPr/>
            </a:pPr>
            <a:r>
              <a:rPr lang="en-US" altLang="ja-JP" sz="2000" dirty="0" smtClean="0"/>
              <a:t>  </a:t>
            </a:r>
            <a:r>
              <a:rPr lang="en-US" altLang="ja-JP" sz="2000" dirty="0" err="1" smtClean="0"/>
              <a:t>printf</a:t>
            </a:r>
            <a:r>
              <a:rPr lang="en-US" altLang="ja-JP" sz="2000" dirty="0" smtClean="0"/>
              <a:t>("</a:t>
            </a:r>
            <a:r>
              <a:rPr lang="ja-JP" altLang="en-US" sz="2000" dirty="0" smtClean="0"/>
              <a:t>確保する配列の要素数：</a:t>
            </a:r>
            <a:r>
              <a:rPr lang="en-US" altLang="ja-JP" sz="2000" dirty="0" smtClean="0"/>
              <a:t>");</a:t>
            </a:r>
          </a:p>
          <a:p>
            <a:pPr>
              <a:defRPr/>
            </a:pPr>
            <a:r>
              <a:rPr lang="en-US" altLang="ja-JP" sz="2000" dirty="0" smtClean="0"/>
              <a:t>  </a:t>
            </a:r>
            <a:r>
              <a:rPr lang="en-US" altLang="ja-JP" sz="2000" dirty="0" err="1" smtClean="0"/>
              <a:t>scanf</a:t>
            </a:r>
            <a:r>
              <a:rPr lang="en-US" altLang="ja-JP" sz="2000" dirty="0" smtClean="0"/>
              <a:t>("%d", &amp;no);</a:t>
            </a:r>
          </a:p>
          <a:p>
            <a:pPr>
              <a:defRPr/>
            </a:pPr>
            <a:r>
              <a:rPr lang="en-US" altLang="ja-JP" sz="2000" dirty="0" smtClean="0"/>
              <a:t>  p = </a:t>
            </a:r>
            <a:r>
              <a:rPr lang="en-US" altLang="ja-JP" sz="2000" dirty="0" err="1" smtClean="0">
                <a:solidFill>
                  <a:srgbClr val="FF0000"/>
                </a:solidFill>
              </a:rPr>
              <a:t>calloc</a:t>
            </a:r>
            <a:r>
              <a:rPr lang="en-US" altLang="ja-JP" sz="2000" dirty="0" smtClean="0">
                <a:solidFill>
                  <a:srgbClr val="FF0000"/>
                </a:solidFill>
              </a:rPr>
              <a:t> (no, </a:t>
            </a:r>
            <a:r>
              <a:rPr lang="en-US" altLang="ja-JP" sz="2000" dirty="0" err="1" smtClean="0">
                <a:solidFill>
                  <a:srgbClr val="FF0000"/>
                </a:solidFill>
              </a:rPr>
              <a:t>sizeof</a:t>
            </a: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a:t>
            </a:r>
            <a:r>
              <a:rPr lang="en-US" altLang="ja-JP" sz="2000" dirty="0" smtClean="0"/>
              <a:t>;</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 &lt; no; </a:t>
            </a:r>
            <a:r>
              <a:rPr lang="en-US" altLang="ja-JP" sz="2000" dirty="0" err="1" smtClean="0"/>
              <a:t>i</a:t>
            </a:r>
            <a:r>
              <a:rPr lang="en-US" altLang="ja-JP" sz="2000" dirty="0" smtClean="0"/>
              <a:t>=i+1)</a:t>
            </a:r>
          </a:p>
          <a:p>
            <a:pPr>
              <a:defRPr/>
            </a:pPr>
            <a:r>
              <a:rPr lang="en-US" altLang="ja-JP" sz="2000" dirty="0" smtClean="0"/>
              <a:t>      p[</a:t>
            </a:r>
            <a:r>
              <a:rPr lang="en-US" altLang="ja-JP" sz="2000" dirty="0" err="1" smtClean="0"/>
              <a:t>i</a:t>
            </a:r>
            <a:r>
              <a:rPr lang="en-US" altLang="ja-JP" sz="2000" dirty="0" smtClean="0"/>
              <a:t>] = </a:t>
            </a:r>
            <a:r>
              <a:rPr lang="en-US" altLang="ja-JP" sz="2000" dirty="0" err="1" smtClean="0"/>
              <a:t>i</a:t>
            </a:r>
            <a:r>
              <a:rPr lang="en-US" altLang="ja-JP" sz="2000" dirty="0" smtClean="0"/>
              <a:t>; </a:t>
            </a:r>
          </a:p>
          <a:p>
            <a:pPr>
              <a:defRPr/>
            </a:pPr>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 &lt; no; </a:t>
            </a:r>
            <a:r>
              <a:rPr lang="en-US" altLang="ja-JP" sz="2000" dirty="0" err="1" smtClean="0"/>
              <a:t>i</a:t>
            </a:r>
            <a:r>
              <a:rPr lang="en-US" altLang="ja-JP" sz="2000" dirty="0" smtClean="0"/>
              <a:t>=i+1)</a:t>
            </a:r>
          </a:p>
          <a:p>
            <a:pPr>
              <a:defRPr/>
            </a:pPr>
            <a:r>
              <a:rPr lang="en-US" altLang="ja-JP" sz="2000" dirty="0" smtClean="0"/>
              <a:t>      </a:t>
            </a:r>
            <a:r>
              <a:rPr lang="en-US" altLang="ja-JP" sz="2000" dirty="0" err="1" smtClean="0"/>
              <a:t>printf</a:t>
            </a:r>
            <a:r>
              <a:rPr lang="en-US" altLang="ja-JP" sz="2000" dirty="0" smtClean="0"/>
              <a:t>("p[%d] = %d\n", </a:t>
            </a:r>
            <a:r>
              <a:rPr lang="en-US" altLang="ja-JP" sz="2000" dirty="0" err="1" smtClean="0"/>
              <a:t>i</a:t>
            </a:r>
            <a:r>
              <a:rPr lang="en-US" altLang="ja-JP" sz="2000" dirty="0" smtClean="0"/>
              <a:t>, p[</a:t>
            </a:r>
            <a:r>
              <a:rPr lang="en-US" altLang="ja-JP" sz="2000" dirty="0" err="1" smtClean="0"/>
              <a:t>i</a:t>
            </a:r>
            <a:r>
              <a:rPr lang="en-US" altLang="ja-JP" sz="2000" dirty="0" smtClean="0"/>
              <a:t>] );</a:t>
            </a:r>
          </a:p>
          <a:p>
            <a:pPr>
              <a:defRPr/>
            </a:pPr>
            <a:r>
              <a:rPr lang="en-US" altLang="ja-JP" sz="2000" dirty="0" smtClean="0"/>
              <a:t>    free (p);</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
        <p:nvSpPr>
          <p:cNvPr id="38" name="テキスト ボックス 37"/>
          <p:cNvSpPr txBox="1"/>
          <p:nvPr/>
        </p:nvSpPr>
        <p:spPr>
          <a:xfrm>
            <a:off x="7902837" y="4892301"/>
            <a:ext cx="360996" cy="400110"/>
          </a:xfrm>
          <a:prstGeom prst="rect">
            <a:avLst/>
          </a:prstGeom>
          <a:noFill/>
        </p:spPr>
        <p:txBody>
          <a:bodyPr wrap="none" rtlCol="0">
            <a:spAutoFit/>
          </a:bodyPr>
          <a:lstStyle/>
          <a:p>
            <a:r>
              <a:rPr kumimoji="1" lang="en-US" altLang="ja-JP" sz="2000" dirty="0" smtClean="0"/>
              <a:t>…</a:t>
            </a:r>
            <a:endParaRPr kumimoji="1" lang="ja-JP" alt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基本課題１</a:t>
            </a:r>
            <a:endParaRPr kumimoji="1" lang="ja-JP" altLang="en-US" dirty="0"/>
          </a:p>
        </p:txBody>
      </p:sp>
      <p:sp>
        <p:nvSpPr>
          <p:cNvPr id="4" name="正方形/長方形 3"/>
          <p:cNvSpPr/>
          <p:nvPr/>
        </p:nvSpPr>
        <p:spPr>
          <a:xfrm>
            <a:off x="755576" y="1484784"/>
            <a:ext cx="7200800" cy="3416320"/>
          </a:xfrm>
          <a:prstGeom prst="rect">
            <a:avLst/>
          </a:prstGeom>
        </p:spPr>
        <p:txBody>
          <a:bodyPr wrap="square">
            <a:spAutoFit/>
          </a:bodyPr>
          <a:lstStyle/>
          <a:p>
            <a:pPr lvl="0"/>
            <a:r>
              <a:rPr lang="ja-JP" altLang="ja-JP" sz="2400" dirty="0" smtClean="0"/>
              <a:t>文字列</a:t>
            </a:r>
            <a:r>
              <a:rPr lang="ja-JP" altLang="en-US" sz="2400" dirty="0" smtClean="0"/>
              <a:t>（アルファベットのみ）</a:t>
            </a:r>
            <a:r>
              <a:rPr lang="ja-JP" altLang="ja-JP" sz="2400" dirty="0" smtClean="0"/>
              <a:t>をキーボードから</a:t>
            </a:r>
            <a:r>
              <a:rPr lang="ja-JP" altLang="en-US" sz="2400" dirty="0" smtClean="0"/>
              <a:t>受け取り</a:t>
            </a:r>
            <a:r>
              <a:rPr lang="ja-JP" altLang="ja-JP" sz="2400" dirty="0" smtClean="0"/>
              <a:t>、それを逆順に表示するプログラムを作成</a:t>
            </a:r>
            <a:r>
              <a:rPr lang="ja-JP" altLang="en-US" sz="2400" dirty="0" smtClean="0"/>
              <a:t>せよ</a:t>
            </a:r>
            <a:r>
              <a:rPr lang="ja-JP" altLang="ja-JP" sz="2400" dirty="0" smtClean="0"/>
              <a:t>。文字列を</a:t>
            </a:r>
            <a:r>
              <a:rPr lang="ja-JP" altLang="en-US" sz="2400" dirty="0" smtClean="0"/>
              <a:t>格納する領域は、キーボードから文字数（の上限）</a:t>
            </a:r>
            <a:r>
              <a:rPr lang="en-US" altLang="ja-JP" sz="2400" dirty="0" smtClean="0"/>
              <a:t>n</a:t>
            </a:r>
            <a:r>
              <a:rPr lang="ja-JP" altLang="en-US" sz="2400" dirty="0" smtClean="0"/>
              <a:t>を受け取り、</a:t>
            </a:r>
            <a:r>
              <a:rPr lang="en-US" altLang="ja-JP" sz="2400" dirty="0" err="1" smtClean="0"/>
              <a:t>calloc</a:t>
            </a:r>
            <a:r>
              <a:rPr lang="ja-JP" altLang="en-US" sz="2400" dirty="0" smtClean="0"/>
              <a:t>で確保せよ</a:t>
            </a:r>
            <a:r>
              <a:rPr lang="ja-JP" altLang="en-US" sz="2400" dirty="0" smtClean="0"/>
              <a:t>。</a:t>
            </a:r>
            <a:endParaRPr lang="en-US" altLang="ja-JP" sz="2400" dirty="0" smtClean="0"/>
          </a:p>
          <a:p>
            <a:pPr lvl="0"/>
            <a:endParaRPr lang="en-US" altLang="ja-JP" sz="2400" dirty="0" smtClean="0"/>
          </a:p>
          <a:p>
            <a:pPr lvl="0"/>
            <a:r>
              <a:rPr lang="ja-JP" altLang="en-US" sz="2400" dirty="0" smtClean="0"/>
              <a:t>（注意）文字列の形で格納する場合、最後にヌル文字が必要である。ただ、この問題では逆順に表示できさえすればよく、ヌル文字を追加で格納するかどうかは自由とする。</a:t>
            </a:r>
            <a:endParaRPr lang="ja-JP" altLang="ja-JP" sz="2400" dirty="0"/>
          </a:p>
        </p:txBody>
      </p:sp>
      <p:sp>
        <p:nvSpPr>
          <p:cNvPr id="5" name="正方形/長方形 4"/>
          <p:cNvSpPr/>
          <p:nvPr/>
        </p:nvSpPr>
        <p:spPr>
          <a:xfrm>
            <a:off x="3384376" y="5171607"/>
            <a:ext cx="4572000" cy="1323439"/>
          </a:xfrm>
          <a:prstGeom prst="rect">
            <a:avLst/>
          </a:prstGeom>
          <a:ln>
            <a:solidFill>
              <a:schemeClr val="tx1"/>
            </a:solidFill>
          </a:ln>
        </p:spPr>
        <p:txBody>
          <a:bodyPr>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文</a:t>
            </a:r>
            <a:r>
              <a:rPr lang="ja-JP" altLang="en-US" sz="2000" dirty="0" smtClean="0"/>
              <a:t>字数の上限を入力してください</a:t>
            </a:r>
            <a:r>
              <a:rPr lang="en-US" altLang="ja-JP" sz="2000" dirty="0" smtClean="0"/>
              <a:t>: </a:t>
            </a:r>
            <a:r>
              <a:rPr lang="en-US" altLang="ja-JP" sz="2000" dirty="0" smtClean="0">
                <a:solidFill>
                  <a:srgbClr val="FF0000"/>
                </a:solidFill>
              </a:rPr>
              <a:t>10</a:t>
            </a:r>
          </a:p>
          <a:p>
            <a:r>
              <a:rPr lang="ja-JP" altLang="en-US" sz="2000" dirty="0" smtClean="0"/>
              <a:t>文字列を入力してください</a:t>
            </a:r>
            <a:r>
              <a:rPr lang="en-US" altLang="ja-JP" sz="2000" dirty="0" smtClean="0"/>
              <a:t>: </a:t>
            </a:r>
            <a:r>
              <a:rPr lang="en-US" altLang="ja-JP" sz="2000" dirty="0" err="1" smtClean="0">
                <a:solidFill>
                  <a:srgbClr val="FF0000"/>
                </a:solidFill>
              </a:rPr>
              <a:t>abcde</a:t>
            </a:r>
            <a:endParaRPr lang="en-US" altLang="ja-JP" sz="2000" dirty="0" smtClean="0">
              <a:solidFill>
                <a:srgbClr val="FF0000"/>
              </a:solidFill>
            </a:endParaRPr>
          </a:p>
          <a:p>
            <a:r>
              <a:rPr lang="en-US" altLang="ja-JP" sz="2000" dirty="0" err="1" smtClean="0"/>
              <a:t>edcba</a:t>
            </a:r>
            <a:endParaRPr lang="en-US" altLang="ja-JP"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a:t>
            </a:r>
            <a:r>
              <a:rPr kumimoji="1" lang="ja-JP" altLang="en-US" dirty="0" smtClean="0"/>
              <a:t>課題</a:t>
            </a:r>
            <a:r>
              <a:rPr lang="ja-JP" altLang="en-US" dirty="0" smtClean="0"/>
              <a:t>２</a:t>
            </a:r>
            <a:endParaRPr kumimoji="1" lang="ja-JP" altLang="en-US" dirty="0"/>
          </a:p>
        </p:txBody>
      </p:sp>
      <p:sp>
        <p:nvSpPr>
          <p:cNvPr id="5" name="テキスト ボックス 4"/>
          <p:cNvSpPr txBox="1"/>
          <p:nvPr/>
        </p:nvSpPr>
        <p:spPr>
          <a:xfrm>
            <a:off x="230912" y="1417638"/>
            <a:ext cx="8515848" cy="2677656"/>
          </a:xfrm>
          <a:prstGeom prst="rect">
            <a:avLst/>
          </a:prstGeom>
          <a:noFill/>
        </p:spPr>
        <p:txBody>
          <a:bodyPr wrap="square" rtlCol="0">
            <a:spAutoFit/>
          </a:bodyPr>
          <a:lstStyle/>
          <a:p>
            <a:r>
              <a:rPr lang="en-US" altLang="ja-JP" sz="2400" dirty="0" smtClean="0"/>
              <a:t> n</a:t>
            </a:r>
            <a:r>
              <a:rPr lang="ja-JP" altLang="en-US" sz="2400" dirty="0" smtClean="0"/>
              <a:t>人</a:t>
            </a:r>
            <a:r>
              <a:rPr lang="en-US" altLang="ja-JP" sz="2400" dirty="0" smtClean="0"/>
              <a:t>(n</a:t>
            </a:r>
            <a:r>
              <a:rPr lang="ja-JP" altLang="en-US" sz="2400" dirty="0" smtClean="0"/>
              <a:t>はキーボードから入力</a:t>
            </a:r>
            <a:r>
              <a:rPr lang="en-US" altLang="ja-JP" sz="2400" dirty="0" smtClean="0"/>
              <a:t>)</a:t>
            </a:r>
            <a:r>
              <a:rPr lang="ja-JP" altLang="en-US" sz="2400" dirty="0" smtClean="0"/>
              <a:t>の試験の点数をキーボードから入力し、それらの平均点を</a:t>
            </a:r>
            <a:r>
              <a:rPr lang="en-US" altLang="ja-JP" sz="2400" dirty="0" smtClean="0"/>
              <a:t>double</a:t>
            </a:r>
            <a:r>
              <a:rPr lang="ja-JP" altLang="en-US" sz="2400" dirty="0" smtClean="0"/>
              <a:t>型で表示するプログラムを書け。ただし、</a:t>
            </a:r>
            <a:r>
              <a:rPr kumimoji="0" lang="en-US" altLang="ja-JP" sz="2400" dirty="0" err="1" smtClean="0">
                <a:ea typeface="ＭＳ Ｐゴシック" charset="-128"/>
              </a:rPr>
              <a:t>calloc</a:t>
            </a:r>
            <a:r>
              <a:rPr kumimoji="0" lang="ja-JP" altLang="en-US" sz="2400" dirty="0" smtClean="0">
                <a:ea typeface="ＭＳ Ｐゴシック" charset="-128"/>
              </a:rPr>
              <a:t>を用いて長さ</a:t>
            </a:r>
            <a:r>
              <a:rPr kumimoji="0" lang="en-US" altLang="ja-JP" sz="2400" dirty="0" smtClean="0">
                <a:ea typeface="ＭＳ Ｐゴシック" charset="-128"/>
              </a:rPr>
              <a:t>n</a:t>
            </a:r>
            <a:r>
              <a:rPr kumimoji="0" lang="ja-JP" altLang="en-US" sz="2400" dirty="0" smtClean="0">
                <a:ea typeface="ＭＳ Ｐゴシック" charset="-128"/>
              </a:rPr>
              <a:t>の</a:t>
            </a:r>
            <a:r>
              <a:rPr kumimoji="0" lang="en-US" altLang="ja-JP" sz="2400" dirty="0" err="1" smtClean="0">
                <a:ea typeface="ＭＳ Ｐゴシック" charset="-128"/>
              </a:rPr>
              <a:t>int</a:t>
            </a:r>
            <a:r>
              <a:rPr kumimoji="0" lang="ja-JP" altLang="en-US" sz="2400" dirty="0" smtClean="0">
                <a:ea typeface="ＭＳ Ｐゴシック" charset="-128"/>
              </a:rPr>
              <a:t>型の領域を確保し、そこへ</a:t>
            </a:r>
            <a:r>
              <a:rPr kumimoji="0" lang="en-US" altLang="ja-JP" sz="2400" dirty="0" smtClean="0">
                <a:ea typeface="ＭＳ Ｐゴシック" charset="-128"/>
              </a:rPr>
              <a:t>n</a:t>
            </a:r>
            <a:r>
              <a:rPr kumimoji="0" lang="ja-JP" altLang="en-US" sz="2400" dirty="0" smtClean="0">
                <a:ea typeface="ＭＳ Ｐゴシック" charset="-128"/>
              </a:rPr>
              <a:t>人の点数を格納せよ。平均値を計算する部分は、その領域の先頭要素へのポインタおよび長さ</a:t>
            </a:r>
            <a:r>
              <a:rPr kumimoji="0" lang="en-US" altLang="ja-JP" sz="2400" dirty="0" smtClean="0">
                <a:ea typeface="ＭＳ Ｐゴシック" charset="-128"/>
              </a:rPr>
              <a:t>n</a:t>
            </a:r>
            <a:r>
              <a:rPr kumimoji="0" lang="ja-JP" altLang="en-US" sz="2400" dirty="0" smtClean="0">
                <a:ea typeface="ＭＳ Ｐゴシック" charset="-128"/>
              </a:rPr>
              <a:t>を受け取って平均値を返す以下のような関数として定義せよ。</a:t>
            </a:r>
            <a:endParaRPr kumimoji="0" lang="en-US" altLang="ja-JP" sz="2400" dirty="0" smtClean="0">
              <a:ea typeface="ＭＳ Ｐゴシック" charset="-128"/>
            </a:endParaRPr>
          </a:p>
          <a:p>
            <a:r>
              <a:rPr kumimoji="0" lang="en-US" altLang="ja-JP" sz="2400" dirty="0" smtClean="0">
                <a:ea typeface="ＭＳ Ｐゴシック" charset="-128"/>
              </a:rPr>
              <a:t>    double average (</a:t>
            </a:r>
            <a:r>
              <a:rPr kumimoji="0" lang="en-US" altLang="ja-JP" sz="2400" dirty="0" err="1" smtClean="0">
                <a:ea typeface="ＭＳ Ｐゴシック" charset="-128"/>
              </a:rPr>
              <a:t>int</a:t>
            </a:r>
            <a:r>
              <a:rPr kumimoji="0" lang="en-US" altLang="ja-JP" sz="2400" dirty="0" smtClean="0">
                <a:ea typeface="ＭＳ Ｐゴシック" charset="-128"/>
              </a:rPr>
              <a:t> * p, </a:t>
            </a:r>
            <a:r>
              <a:rPr kumimoji="0" lang="en-US" altLang="ja-JP" sz="2400" dirty="0" err="1" smtClean="0">
                <a:ea typeface="ＭＳ Ｐゴシック" charset="-128"/>
              </a:rPr>
              <a:t>int</a:t>
            </a:r>
            <a:r>
              <a:rPr kumimoji="0" lang="en-US" altLang="ja-JP" sz="2400" dirty="0" smtClean="0">
                <a:ea typeface="ＭＳ Ｐゴシック" charset="-128"/>
              </a:rPr>
              <a:t> n) { … }</a:t>
            </a:r>
            <a:endParaRPr lang="en-US" altLang="ja-JP" sz="2400" dirty="0" smtClean="0"/>
          </a:p>
        </p:txBody>
      </p:sp>
      <p:sp>
        <p:nvSpPr>
          <p:cNvPr id="6" name="正方形/長方形 5"/>
          <p:cNvSpPr/>
          <p:nvPr/>
        </p:nvSpPr>
        <p:spPr>
          <a:xfrm>
            <a:off x="5291528" y="4095294"/>
            <a:ext cx="3395272" cy="255454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何人分入力しますか</a:t>
            </a:r>
            <a:r>
              <a:rPr lang="en-US" altLang="ja-JP" sz="2000" dirty="0" smtClean="0"/>
              <a:t>: </a:t>
            </a:r>
            <a:r>
              <a:rPr lang="en-US" altLang="ja-JP" sz="2000" dirty="0" smtClean="0">
                <a:solidFill>
                  <a:srgbClr val="FF0000"/>
                </a:solidFill>
              </a:rPr>
              <a:t>5</a:t>
            </a:r>
          </a:p>
          <a:p>
            <a:r>
              <a:rPr lang="en-US" altLang="ja-JP" sz="2000" dirty="0" smtClean="0"/>
              <a:t>1</a:t>
            </a:r>
            <a:r>
              <a:rPr lang="ja-JP" altLang="en-US" sz="2000" dirty="0" smtClean="0"/>
              <a:t>人目の点数を入力</a:t>
            </a:r>
            <a:r>
              <a:rPr lang="en-US" altLang="ja-JP" sz="2000" dirty="0" smtClean="0"/>
              <a:t>: </a:t>
            </a:r>
            <a:r>
              <a:rPr lang="en-US" altLang="ja-JP" sz="2000" dirty="0" smtClean="0">
                <a:solidFill>
                  <a:srgbClr val="FF0000"/>
                </a:solidFill>
              </a:rPr>
              <a:t>79</a:t>
            </a:r>
          </a:p>
          <a:p>
            <a:r>
              <a:rPr lang="en-US" altLang="ja-JP" sz="2000" dirty="0" smtClean="0"/>
              <a:t>2</a:t>
            </a:r>
            <a:r>
              <a:rPr lang="ja-JP" altLang="en-US" sz="2000" dirty="0" smtClean="0"/>
              <a:t>人目の点数を入力</a:t>
            </a:r>
            <a:r>
              <a:rPr lang="en-US" altLang="ja-JP" sz="2000" dirty="0" smtClean="0"/>
              <a:t>: </a:t>
            </a:r>
            <a:r>
              <a:rPr lang="en-US" altLang="ja-JP" sz="2000" dirty="0" smtClean="0">
                <a:solidFill>
                  <a:srgbClr val="FF0000"/>
                </a:solidFill>
              </a:rPr>
              <a:t>65</a:t>
            </a:r>
          </a:p>
          <a:p>
            <a:r>
              <a:rPr lang="en-US" altLang="ja-JP" sz="2000" dirty="0" smtClean="0"/>
              <a:t>3</a:t>
            </a:r>
            <a:r>
              <a:rPr lang="ja-JP" altLang="en-US" sz="2000" dirty="0" smtClean="0"/>
              <a:t>人目の点数を入力</a:t>
            </a:r>
            <a:r>
              <a:rPr lang="en-US" altLang="ja-JP" sz="2000" dirty="0" smtClean="0"/>
              <a:t>: </a:t>
            </a:r>
            <a:r>
              <a:rPr lang="en-US" altLang="ja-JP" sz="2000" dirty="0" smtClean="0">
                <a:solidFill>
                  <a:srgbClr val="FF0000"/>
                </a:solidFill>
              </a:rPr>
              <a:t>80</a:t>
            </a:r>
          </a:p>
          <a:p>
            <a:r>
              <a:rPr lang="en-US" altLang="ja-JP" sz="2000" dirty="0" smtClean="0"/>
              <a:t>4</a:t>
            </a:r>
            <a:r>
              <a:rPr lang="ja-JP" altLang="en-US" sz="2000" dirty="0" smtClean="0"/>
              <a:t>人目の点数を入力</a:t>
            </a:r>
            <a:r>
              <a:rPr lang="en-US" altLang="ja-JP" sz="2000" dirty="0" smtClean="0"/>
              <a:t>: </a:t>
            </a:r>
            <a:r>
              <a:rPr lang="en-US" altLang="ja-JP" sz="2000" dirty="0" smtClean="0">
                <a:solidFill>
                  <a:srgbClr val="FF0000"/>
                </a:solidFill>
              </a:rPr>
              <a:t>95</a:t>
            </a:r>
          </a:p>
          <a:p>
            <a:r>
              <a:rPr lang="en-US" altLang="ja-JP" sz="2000" dirty="0" smtClean="0"/>
              <a:t>5</a:t>
            </a:r>
            <a:r>
              <a:rPr lang="ja-JP" altLang="en-US" sz="2000" dirty="0" smtClean="0"/>
              <a:t>人目の点数を入力</a:t>
            </a:r>
            <a:r>
              <a:rPr lang="en-US" altLang="ja-JP" sz="2000" dirty="0" smtClean="0"/>
              <a:t>: </a:t>
            </a:r>
            <a:r>
              <a:rPr lang="en-US" altLang="ja-JP" sz="2000" dirty="0" smtClean="0">
                <a:solidFill>
                  <a:srgbClr val="FF0000"/>
                </a:solidFill>
              </a:rPr>
              <a:t>50</a:t>
            </a:r>
          </a:p>
          <a:p>
            <a:r>
              <a:rPr lang="ja-JP" altLang="en-US" sz="2000" dirty="0" smtClean="0"/>
              <a:t>平均点は</a:t>
            </a:r>
            <a:r>
              <a:rPr lang="en-US" altLang="ja-JP" sz="2000" dirty="0" smtClean="0"/>
              <a:t>73.800000</a:t>
            </a:r>
            <a:r>
              <a:rPr lang="ja-JP" altLang="en-US" sz="2000" dirty="0" smtClean="0"/>
              <a:t>点です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発展</a:t>
            </a:r>
            <a:r>
              <a:rPr kumimoji="1" lang="ja-JP" altLang="en-US" dirty="0" smtClean="0"/>
              <a:t>課題</a:t>
            </a:r>
            <a:r>
              <a:rPr lang="ja-JP" altLang="en-US" dirty="0" smtClean="0"/>
              <a:t>１</a:t>
            </a:r>
            <a:endParaRPr kumimoji="1" lang="ja-JP" altLang="en-US" dirty="0"/>
          </a:p>
        </p:txBody>
      </p:sp>
      <p:sp>
        <p:nvSpPr>
          <p:cNvPr id="5" name="正方形/長方形 4"/>
          <p:cNvSpPr/>
          <p:nvPr/>
        </p:nvSpPr>
        <p:spPr>
          <a:xfrm>
            <a:off x="571472" y="928670"/>
            <a:ext cx="7715304" cy="2677656"/>
          </a:xfrm>
          <a:prstGeom prst="rect">
            <a:avLst/>
          </a:prstGeom>
        </p:spPr>
        <p:txBody>
          <a:bodyPr wrap="square">
            <a:spAutoFit/>
          </a:bodyPr>
          <a:lstStyle/>
          <a:p>
            <a:r>
              <a:rPr kumimoji="0" lang="ja-JP" altLang="en-US" sz="2400" dirty="0" smtClean="0">
                <a:ea typeface="ＭＳ Ｐゴシック" charset="-128"/>
              </a:rPr>
              <a:t>受験者</a:t>
            </a:r>
            <a:r>
              <a:rPr kumimoji="0" lang="en-US" altLang="ja-JP" sz="2400" dirty="0" smtClean="0">
                <a:ea typeface="ＭＳ Ｐゴシック" charset="-128"/>
              </a:rPr>
              <a:t>N</a:t>
            </a:r>
            <a:r>
              <a:rPr kumimoji="0" lang="ja-JP" altLang="en-US" sz="2400" dirty="0" smtClean="0">
                <a:ea typeface="ＭＳ Ｐゴシック" charset="-128"/>
              </a:rPr>
              <a:t>人（</a:t>
            </a:r>
            <a:r>
              <a:rPr kumimoji="0" lang="en-US" altLang="ja-JP" sz="2400" dirty="0" smtClean="0">
                <a:ea typeface="ＭＳ Ｐゴシック" charset="-128"/>
              </a:rPr>
              <a:t>N</a:t>
            </a:r>
            <a:r>
              <a:rPr kumimoji="0" lang="ja-JP" altLang="en-US" sz="2400" dirty="0" smtClean="0">
                <a:ea typeface="ＭＳ Ｐゴシック" charset="-128"/>
              </a:rPr>
              <a:t>は実行時にキーボードから入力）の氏名および数学、英語の</a:t>
            </a:r>
            <a:r>
              <a:rPr kumimoji="0" lang="en-US" altLang="ja-JP" sz="2400" dirty="0" smtClean="0">
                <a:ea typeface="ＭＳ Ｐゴシック" charset="-128"/>
              </a:rPr>
              <a:t>2</a:t>
            </a:r>
            <a:r>
              <a:rPr kumimoji="0" lang="ja-JP" altLang="en-US" sz="2400" dirty="0" smtClean="0">
                <a:ea typeface="ＭＳ Ｐゴシック" charset="-128"/>
              </a:rPr>
              <a:t>科目の試験の点数をキーボードから受け取り、氏名、各科目の点数、合計点を一覧表にして表示したい。これを行うプログラムを、</a:t>
            </a:r>
            <a:r>
              <a:rPr kumimoji="0" lang="en-US" altLang="ja-JP" sz="2400" dirty="0" err="1" smtClean="0">
                <a:ea typeface="ＭＳ Ｐゴシック" charset="-128"/>
              </a:rPr>
              <a:t>calloc</a:t>
            </a:r>
            <a:r>
              <a:rPr kumimoji="0" lang="ja-JP" altLang="en-US" sz="2400" dirty="0" smtClean="0">
                <a:ea typeface="ＭＳ Ｐゴシック" charset="-128"/>
              </a:rPr>
              <a:t>を用いて書け。</a:t>
            </a:r>
            <a:endParaRPr kumimoji="0" lang="en-US" altLang="ja-JP" sz="2400" dirty="0" smtClean="0">
              <a:ea typeface="ＭＳ Ｐゴシック" charset="-128"/>
            </a:endParaRPr>
          </a:p>
          <a:p>
            <a:r>
              <a:rPr kumimoji="0" lang="ja-JP" altLang="en-US" sz="2400" dirty="0" smtClean="0">
                <a:ea typeface="ＭＳ Ｐゴシック" charset="-128"/>
              </a:rPr>
              <a:t>各受験者の氏名と点数を入力する部分、合計点を計算する部分、一覧表示をする部分は、別々の関数として定義し、それらを</a:t>
            </a:r>
            <a:r>
              <a:rPr kumimoji="0" lang="en-US" altLang="ja-JP" sz="2400" dirty="0" smtClean="0">
                <a:ea typeface="ＭＳ Ｐゴシック" charset="-128"/>
              </a:rPr>
              <a:t>main</a:t>
            </a:r>
            <a:r>
              <a:rPr kumimoji="0" lang="ja-JP" altLang="en-US" sz="2400" dirty="0" smtClean="0">
                <a:ea typeface="ＭＳ Ｐゴシック" charset="-128"/>
              </a:rPr>
              <a:t>関数から呼び出す形でプログラムを記述せよ。</a:t>
            </a:r>
            <a:endParaRPr kumimoji="0" lang="en-US" altLang="ja-JP" sz="2400" dirty="0" smtClean="0">
              <a:ea typeface="ＭＳ Ｐゴシック" charset="-128"/>
            </a:endParaRPr>
          </a:p>
        </p:txBody>
      </p:sp>
      <p:sp>
        <p:nvSpPr>
          <p:cNvPr id="10" name="テキスト ボックス 9"/>
          <p:cNvSpPr txBox="1"/>
          <p:nvPr/>
        </p:nvSpPr>
        <p:spPr>
          <a:xfrm>
            <a:off x="395536" y="3645024"/>
            <a:ext cx="1107996" cy="369332"/>
          </a:xfrm>
          <a:prstGeom prst="rect">
            <a:avLst/>
          </a:prstGeom>
          <a:noFill/>
        </p:spPr>
        <p:txBody>
          <a:bodyPr wrap="none" rtlCol="0">
            <a:spAutoFit/>
          </a:bodyPr>
          <a:lstStyle/>
          <a:p>
            <a:r>
              <a:rPr kumimoji="1" lang="ja-JP" altLang="en-US" dirty="0" smtClean="0"/>
              <a:t>（実行例）</a:t>
            </a:r>
            <a:endParaRPr kumimoji="1" lang="ja-JP" altLang="en-US" dirty="0"/>
          </a:p>
        </p:txBody>
      </p:sp>
      <p:sp>
        <p:nvSpPr>
          <p:cNvPr id="11" name="正方形/長方形 10"/>
          <p:cNvSpPr/>
          <p:nvPr/>
        </p:nvSpPr>
        <p:spPr>
          <a:xfrm>
            <a:off x="1440160" y="3643277"/>
            <a:ext cx="3635896" cy="3170099"/>
          </a:xfrm>
          <a:prstGeom prst="rect">
            <a:avLst/>
          </a:prstGeom>
          <a:ln>
            <a:noFill/>
          </a:ln>
        </p:spPr>
        <p:txBody>
          <a:bodyPr wrap="square">
            <a:spAutoFit/>
          </a:bodyPr>
          <a:lstStyle/>
          <a:p>
            <a:r>
              <a:rPr lang="ja-JP" altLang="en-US" sz="2000" dirty="0" smtClean="0">
                <a:latin typeface="HGｺﾞｼｯｸM" pitchFamily="49" charset="-128"/>
                <a:ea typeface="HGｺﾞｼｯｸM" pitchFamily="49" charset="-128"/>
              </a:rPr>
              <a:t>人数を入力してください</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2</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芝浦太郎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芝浦次郎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氏名      数学  英語  合計</a:t>
            </a:r>
          </a:p>
          <a:p>
            <a:r>
              <a:rPr lang="ja-JP" altLang="en-US" sz="2000" dirty="0" smtClean="0">
                <a:latin typeface="HGｺﾞｼｯｸM" pitchFamily="49" charset="-128"/>
                <a:ea typeface="HGｺﾞｼｯｸM" pitchFamily="49" charset="-128"/>
              </a:rPr>
              <a:t>芝浦太郎    </a:t>
            </a:r>
            <a:r>
              <a:rPr lang="en-US" altLang="ja-JP" sz="2000" dirty="0" smtClean="0">
                <a:latin typeface="HGｺﾞｼｯｸM" pitchFamily="49" charset="-128"/>
                <a:ea typeface="HGｺﾞｼｯｸM" pitchFamily="49" charset="-128"/>
              </a:rPr>
              <a:t>90    90   180</a:t>
            </a:r>
          </a:p>
          <a:p>
            <a:r>
              <a:rPr lang="ja-JP" altLang="en-US" sz="2000" dirty="0" smtClean="0">
                <a:latin typeface="HGｺﾞｼｯｸM" pitchFamily="49" charset="-128"/>
                <a:ea typeface="HGｺﾞｼｯｸM" pitchFamily="49" charset="-128"/>
              </a:rPr>
              <a:t>芝浦次郎   </a:t>
            </a:r>
            <a:r>
              <a:rPr lang="en-US" altLang="ja-JP" sz="2000" dirty="0" smtClean="0">
                <a:latin typeface="HGｺﾞｼｯｸM" pitchFamily="49" charset="-128"/>
                <a:ea typeface="HGｺﾞｼｯｸM" pitchFamily="49" charset="-128"/>
              </a:rPr>
              <a:t>100   100   200</a:t>
            </a:r>
            <a:endParaRPr lang="en-US" altLang="ja-JP" sz="2000" dirty="0">
              <a:latin typeface="HGｺﾞｼｯｸM" pitchFamily="49" charset="-128"/>
              <a:ea typeface="HGｺﾞｼｯｸM" pitchFamily="49" charset="-128"/>
            </a:endParaRPr>
          </a:p>
        </p:txBody>
      </p:sp>
      <p:sp>
        <p:nvSpPr>
          <p:cNvPr id="6" name="正方形/長方形 5"/>
          <p:cNvSpPr/>
          <p:nvPr/>
        </p:nvSpPr>
        <p:spPr>
          <a:xfrm>
            <a:off x="5436096" y="3789040"/>
            <a:ext cx="3384376" cy="2554545"/>
          </a:xfrm>
          <a:prstGeom prst="rect">
            <a:avLst/>
          </a:prstGeom>
        </p:spPr>
        <p:txBody>
          <a:bodyPr wrap="square">
            <a:spAutoFit/>
          </a:bodyPr>
          <a:lstStyle/>
          <a:p>
            <a:r>
              <a:rPr lang="ja-JP" altLang="en-US" sz="2000" dirty="0" smtClean="0"/>
              <a:t>一覧表示で縦をそろえるには、</a:t>
            </a:r>
            <a:endParaRPr lang="en-US" altLang="ja-JP" sz="2000" dirty="0" smtClean="0"/>
          </a:p>
          <a:p>
            <a:r>
              <a:rPr lang="en-US" altLang="ja-JP" sz="2000" dirty="0" err="1" smtClean="0"/>
              <a:t>printf</a:t>
            </a:r>
            <a:r>
              <a:rPr lang="ja-JP" altLang="en-US" sz="2000" dirty="0" smtClean="0"/>
              <a:t>の変換指定を、文字列の場合は</a:t>
            </a:r>
            <a:r>
              <a:rPr lang="en-US" altLang="ja-JP" sz="2000" dirty="0" smtClean="0">
                <a:solidFill>
                  <a:srgbClr val="FF0000"/>
                </a:solidFill>
              </a:rPr>
              <a:t>%-8s</a:t>
            </a:r>
            <a:r>
              <a:rPr lang="en-US" altLang="ja-JP" sz="2000" dirty="0" smtClean="0"/>
              <a:t>, </a:t>
            </a:r>
            <a:r>
              <a:rPr lang="ja-JP" altLang="en-US" sz="2000" dirty="0" smtClean="0"/>
              <a:t>整数の場合は</a:t>
            </a:r>
            <a:r>
              <a:rPr lang="en-US" altLang="ja-JP" sz="2000" dirty="0" smtClean="0">
                <a:solidFill>
                  <a:srgbClr val="FF0000"/>
                </a:solidFill>
              </a:rPr>
              <a:t>%4d</a:t>
            </a:r>
            <a:r>
              <a:rPr lang="ja-JP" altLang="en-US" sz="2000" dirty="0" err="1" smtClean="0"/>
              <a:t>のように</a:t>
            </a:r>
            <a:r>
              <a:rPr lang="ja-JP" altLang="en-US" sz="2000" dirty="0" smtClean="0"/>
              <a:t>すればよい。</a:t>
            </a:r>
            <a:endParaRPr lang="en-US" altLang="ja-JP" sz="2000" dirty="0" smtClean="0"/>
          </a:p>
          <a:p>
            <a:r>
              <a:rPr lang="ja-JP" altLang="en-US" sz="2000" dirty="0" smtClean="0"/>
              <a:t>詳しくは教科書</a:t>
            </a:r>
            <a:r>
              <a:rPr lang="en-US" altLang="ja-JP" sz="2000" dirty="0" smtClean="0"/>
              <a:t>p.318</a:t>
            </a:r>
            <a:r>
              <a:rPr lang="ja-JP" altLang="en-US" sz="2000" dirty="0" smtClean="0"/>
              <a:t>を参照。</a:t>
            </a:r>
            <a:endParaRPr lang="en-US" altLang="ja-JP" sz="2000" dirty="0" smtClean="0"/>
          </a:p>
          <a:p>
            <a:r>
              <a:rPr lang="ja-JP" altLang="en-US" sz="2000" dirty="0" smtClean="0"/>
              <a:t>あるいは</a:t>
            </a:r>
            <a:r>
              <a:rPr lang="en-US" altLang="ja-JP" sz="2000" dirty="0" smtClean="0"/>
              <a:t>man</a:t>
            </a:r>
            <a:r>
              <a:rPr lang="ja-JP" altLang="en-US" sz="2000" dirty="0" smtClean="0"/>
              <a:t>コマンドで</a:t>
            </a:r>
            <a:endParaRPr lang="en-US" altLang="ja-JP" sz="2000" dirty="0" smtClean="0"/>
          </a:p>
          <a:p>
            <a:r>
              <a:rPr lang="en-US" altLang="ja-JP" sz="2000" dirty="0" smtClean="0"/>
              <a:t>$ man –S 3 </a:t>
            </a:r>
            <a:r>
              <a:rPr lang="en-US" altLang="ja-JP" sz="2000" dirty="0" err="1" smtClean="0"/>
              <a:t>printf</a:t>
            </a:r>
            <a:endParaRPr lang="en-US" altLang="ja-JP" sz="2000" dirty="0" smtClean="0"/>
          </a:p>
          <a:p>
            <a:r>
              <a:rPr lang="ja-JP" altLang="en-US" sz="2000" dirty="0" smtClean="0"/>
              <a:t>で調べればよい。</a:t>
            </a:r>
            <a:endParaRPr lang="ja-JP" altLang="en-US"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正方形/長方形 3"/>
          <p:cNvSpPr/>
          <p:nvPr/>
        </p:nvSpPr>
        <p:spPr>
          <a:xfrm>
            <a:off x="1043608" y="1700808"/>
            <a:ext cx="6912768" cy="954107"/>
          </a:xfrm>
          <a:prstGeom prst="rect">
            <a:avLst/>
          </a:prstGeom>
        </p:spPr>
        <p:txBody>
          <a:bodyPr wrap="square">
            <a:spAutoFit/>
          </a:bodyPr>
          <a:lstStyle/>
          <a:p>
            <a:pPr>
              <a:buNone/>
            </a:pPr>
            <a:r>
              <a:rPr lang="ja-JP" altLang="en-US" sz="2800" dirty="0" smtClean="0"/>
              <a:t>発展課題１の表示を、合計点の高い順に表示するように変更せよ。</a:t>
            </a:r>
            <a:endParaRPr lang="ja-JP" alt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a:xfrm>
            <a:off x="152400" y="152400"/>
            <a:ext cx="8420128" cy="685800"/>
          </a:xfrm>
        </p:spPr>
        <p:txBody>
          <a:bodyPr>
            <a:normAutofit fontScale="90000"/>
          </a:bodyPr>
          <a:lstStyle/>
          <a:p>
            <a:pPr eaLnBrk="1" hangingPunct="1">
              <a:defRPr/>
            </a:pPr>
            <a:r>
              <a:rPr lang="ja-JP" altLang="en-US" dirty="0" smtClean="0"/>
              <a:t>構造体配列の動的確保（</a:t>
            </a:r>
            <a:r>
              <a:rPr lang="en-US" altLang="ja-JP" dirty="0" smtClean="0"/>
              <a:t>point</a:t>
            </a:r>
            <a:r>
              <a:rPr lang="ja-JP" altLang="en-US" dirty="0" err="1" smtClean="0"/>
              <a:t>での</a:t>
            </a:r>
            <a:r>
              <a:rPr lang="ja-JP" altLang="en-US" dirty="0" smtClean="0"/>
              <a:t>例）</a:t>
            </a:r>
          </a:p>
        </p:txBody>
      </p:sp>
      <p:sp>
        <p:nvSpPr>
          <p:cNvPr id="30725" name="Rectangle 3"/>
          <p:cNvSpPr>
            <a:spLocks noGrp="1" noChangeArrowheads="1"/>
          </p:cNvSpPr>
          <p:nvPr>
            <p:ph type="body" idx="1"/>
          </p:nvPr>
        </p:nvSpPr>
        <p:spPr>
          <a:xfrm>
            <a:off x="395536" y="908720"/>
            <a:ext cx="8280400" cy="4303713"/>
          </a:xfrm>
          <a:ln>
            <a:solidFill>
              <a:schemeClr val="tx1"/>
            </a:solidFill>
          </a:ln>
        </p:spPr>
        <p:txBody>
          <a:bodyPr/>
          <a:lstStyle/>
          <a:p>
            <a:pPr eaLnBrk="1" hangingPunct="1">
              <a:buFont typeface="Wingdings" pitchFamily="-64" charset="2"/>
              <a:buNone/>
              <a:defRPr/>
            </a:pPr>
            <a:r>
              <a:rPr lang="en-US" altLang="ja-JP" sz="2000" dirty="0" smtClean="0"/>
              <a:t>(0) point</a:t>
            </a:r>
            <a:r>
              <a:rPr lang="ja-JP" altLang="en-US" sz="2000" dirty="0" smtClean="0"/>
              <a:t>構造体を定義</a:t>
            </a:r>
            <a:endParaRPr lang="en-US" altLang="ja-JP" sz="2000" dirty="0" smtClean="0"/>
          </a:p>
          <a:p>
            <a:pPr marL="457200" indent="-457200" eaLnBrk="1" hangingPunct="1">
              <a:buFont typeface="Wingdings" pitchFamily="-64" charset="2"/>
              <a:buNone/>
              <a:defRPr/>
            </a:pPr>
            <a:r>
              <a:rPr lang="en-US" altLang="ja-JP" sz="2000" dirty="0" smtClean="0"/>
              <a:t>(1) point</a:t>
            </a:r>
            <a:r>
              <a:rPr lang="ja-JP" altLang="en-US" sz="2000" dirty="0" smtClean="0"/>
              <a:t>構造体へのポインタ型の変数</a:t>
            </a:r>
            <a:r>
              <a:rPr lang="en-US" altLang="ja-JP" sz="2000" dirty="0" smtClean="0"/>
              <a:t>p</a:t>
            </a:r>
            <a:r>
              <a:rPr lang="ja-JP" altLang="en-US" sz="2000" dirty="0" smtClean="0"/>
              <a:t>を宣言しておく。</a:t>
            </a:r>
            <a:endParaRPr lang="en-US" altLang="ja-JP" sz="2000" dirty="0" smtClean="0"/>
          </a:p>
          <a:p>
            <a:pPr marL="457200" indent="-457200" eaLnBrk="1" hangingPunct="1">
              <a:buFont typeface="Wingdings" pitchFamily="-64" charset="2"/>
              <a:buNone/>
              <a:defRPr/>
            </a:pPr>
            <a:r>
              <a:rPr lang="en-US" altLang="ja-JP" sz="2000" dirty="0" smtClean="0"/>
              <a:t>       point *p;</a:t>
            </a:r>
          </a:p>
          <a:p>
            <a:pPr>
              <a:buNone/>
              <a:defRPr/>
            </a:pPr>
            <a:r>
              <a:rPr lang="en-US" altLang="ja-JP" sz="2000" dirty="0" smtClean="0"/>
              <a:t>(2)</a:t>
            </a:r>
            <a:r>
              <a:rPr lang="ja-JP" altLang="en-US" sz="2000" dirty="0" smtClean="0"/>
              <a:t> 配列の要素数をキーボードから受け取り、</a:t>
            </a:r>
            <a:r>
              <a:rPr lang="en-US" altLang="ja-JP" sz="2000" dirty="0" smtClean="0"/>
              <a:t>N</a:t>
            </a:r>
            <a:r>
              <a:rPr lang="ja-JP" altLang="en-US" sz="2000" dirty="0" smtClean="0"/>
              <a:t>に格納する。</a:t>
            </a:r>
            <a:endParaRPr lang="en-US" altLang="ja-JP" sz="2000" dirty="0" smtClean="0"/>
          </a:p>
          <a:p>
            <a:pPr eaLnBrk="1" hangingPunct="1">
              <a:buFont typeface="Wingdings" pitchFamily="-64" charset="2"/>
              <a:buNone/>
              <a:defRPr/>
            </a:pPr>
            <a:r>
              <a:rPr lang="en-US" altLang="ja-JP" sz="2000" dirty="0" smtClean="0"/>
              <a:t>(3) p = </a:t>
            </a:r>
            <a:r>
              <a:rPr lang="en-US" altLang="ja-JP" sz="2000" dirty="0" err="1" smtClean="0"/>
              <a:t>calloc</a:t>
            </a:r>
            <a:r>
              <a:rPr lang="en-US" altLang="ja-JP" sz="2000" dirty="0" smtClean="0"/>
              <a:t> (N, </a:t>
            </a:r>
            <a:r>
              <a:rPr lang="en-US" altLang="ja-JP" sz="2000" dirty="0" err="1" smtClean="0"/>
              <a:t>sizeof</a:t>
            </a:r>
            <a:r>
              <a:rPr lang="en-US" altLang="ja-JP" sz="2000" dirty="0" smtClean="0"/>
              <a:t> (point)); </a:t>
            </a:r>
            <a:r>
              <a:rPr lang="ja-JP" altLang="en-US" sz="2000" dirty="0" smtClean="0"/>
              <a:t>で必要な領域を確保し、その先頭アドレスを</a:t>
            </a:r>
            <a:r>
              <a:rPr lang="en-US" altLang="ja-JP" sz="2000" dirty="0" smtClean="0"/>
              <a:t>p</a:t>
            </a:r>
            <a:r>
              <a:rPr lang="ja-JP" altLang="en-US" sz="2000" dirty="0" smtClean="0"/>
              <a:t>に代入</a:t>
            </a:r>
            <a:endParaRPr lang="en-US" altLang="ja-JP" sz="2000" dirty="0" smtClean="0"/>
          </a:p>
          <a:p>
            <a:pPr eaLnBrk="1" hangingPunct="1">
              <a:buFont typeface="Wingdings" pitchFamily="-64" charset="2"/>
              <a:buNone/>
              <a:defRPr/>
            </a:pPr>
            <a:r>
              <a:rPr lang="en-US" altLang="ja-JP" sz="2000" dirty="0" smtClean="0"/>
              <a:t>(4) p</a:t>
            </a:r>
            <a:r>
              <a:rPr lang="ja-JP" altLang="en-US" sz="2000" dirty="0" smtClean="0"/>
              <a:t>を使って、確保した領域内の各要素にアクセス。</a:t>
            </a:r>
            <a:endParaRPr lang="en-US" altLang="ja-JP" sz="2000" dirty="0" smtClean="0"/>
          </a:p>
          <a:p>
            <a:pPr eaLnBrk="1" hangingPunct="1">
              <a:buFont typeface="Wingdings" pitchFamily="-64" charset="2"/>
              <a:buNone/>
              <a:defRPr/>
            </a:pPr>
            <a:r>
              <a:rPr lang="en-US" altLang="ja-JP" sz="2000" dirty="0" smtClean="0"/>
              <a:t>      p[0], p[1] </a:t>
            </a:r>
            <a:r>
              <a:rPr lang="ja-JP" altLang="en-US" sz="2000" dirty="0" smtClean="0"/>
              <a:t>などが領域内の各構造体を表す。（</a:t>
            </a:r>
            <a:r>
              <a:rPr lang="en-US" altLang="ja-JP" sz="2000" dirty="0" smtClean="0"/>
              <a:t>*p, *(p + 1), </a:t>
            </a:r>
            <a:r>
              <a:rPr lang="ja-JP" altLang="en-US" sz="2000" dirty="0" smtClean="0"/>
              <a:t>等でもよい）</a:t>
            </a:r>
            <a:endParaRPr lang="en-US" altLang="ja-JP" sz="2000" dirty="0" smtClean="0"/>
          </a:p>
          <a:p>
            <a:pPr eaLnBrk="1" hangingPunct="1">
              <a:buFont typeface="Wingdings" pitchFamily="-64" charset="2"/>
              <a:buNone/>
              <a:defRPr/>
            </a:pPr>
            <a:r>
              <a:rPr lang="en-US" altLang="ja-JP" sz="2000" dirty="0" smtClean="0"/>
              <a:t>      p[0].x, p[0].y, p[1].x, …</a:t>
            </a:r>
            <a:r>
              <a:rPr lang="ja-JP" altLang="en-US" sz="2000" dirty="0" smtClean="0"/>
              <a:t>などが、領域の中に確保された各構造体のメンバーを表すことになる。</a:t>
            </a:r>
            <a:endParaRPr lang="en-US" altLang="ja-JP" sz="2000" dirty="0" smtClean="0"/>
          </a:p>
          <a:p>
            <a:pPr eaLnBrk="1" hangingPunct="1">
              <a:buFont typeface="Wingdings" pitchFamily="-64" charset="2"/>
              <a:buNone/>
              <a:defRPr/>
            </a:pPr>
            <a:r>
              <a:rPr lang="en-US" altLang="ja-JP" sz="2000" dirty="0" smtClean="0"/>
              <a:t>      p -&gt; x, p -&gt; y, (p+1)-&gt; x </a:t>
            </a:r>
            <a:r>
              <a:rPr lang="ja-JP" altLang="en-US" sz="2000" dirty="0" smtClean="0"/>
              <a:t>等、アローを使った表記でもよい。</a:t>
            </a:r>
            <a:endParaRPr lang="en-US" altLang="ja-JP" sz="2000" dirty="0" smtClean="0"/>
          </a:p>
        </p:txBody>
      </p:sp>
      <p:sp>
        <p:nvSpPr>
          <p:cNvPr id="33798" name="Text Box 4"/>
          <p:cNvSpPr txBox="1">
            <a:spLocks noChangeArrowheads="1"/>
          </p:cNvSpPr>
          <p:nvPr/>
        </p:nvSpPr>
        <p:spPr bwMode="auto">
          <a:xfrm>
            <a:off x="1000125" y="5357813"/>
            <a:ext cx="1704975" cy="1200150"/>
          </a:xfrm>
          <a:prstGeom prst="rect">
            <a:avLst/>
          </a:prstGeom>
          <a:solidFill>
            <a:srgbClr val="CCECFF"/>
          </a:solid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04618"/>
            <a:ext cx="8229600" cy="725470"/>
          </a:xfrm>
        </p:spPr>
        <p:txBody>
          <a:bodyPr>
            <a:normAutofit fontScale="90000"/>
          </a:bodyPr>
          <a:lstStyle/>
          <a:p>
            <a:r>
              <a:rPr lang="ja-JP" altLang="en-US" dirty="0" smtClean="0"/>
              <a:t>参考</a:t>
            </a:r>
            <a:r>
              <a:rPr kumimoji="1" lang="ja-JP" altLang="en-US" dirty="0" smtClean="0"/>
              <a:t>課題</a:t>
            </a:r>
            <a:r>
              <a:rPr lang="ja-JP" altLang="en-US" dirty="0" smtClean="0"/>
              <a:t>１</a:t>
            </a:r>
            <a:endParaRPr kumimoji="1" lang="ja-JP" altLang="en-US" dirty="0"/>
          </a:p>
        </p:txBody>
      </p:sp>
      <p:sp>
        <p:nvSpPr>
          <p:cNvPr id="5" name="正方形/長方形 4"/>
          <p:cNvSpPr/>
          <p:nvPr/>
        </p:nvSpPr>
        <p:spPr>
          <a:xfrm>
            <a:off x="571472" y="1228470"/>
            <a:ext cx="7715304" cy="3046988"/>
          </a:xfrm>
          <a:prstGeom prst="rect">
            <a:avLst/>
          </a:prstGeom>
        </p:spPr>
        <p:txBody>
          <a:bodyPr wrap="square">
            <a:spAutoFit/>
          </a:bodyPr>
          <a:lstStyle/>
          <a:p>
            <a:r>
              <a:rPr kumimoji="0" lang="en-US" altLang="ja-JP" sz="2400" dirty="0" smtClean="0">
                <a:ea typeface="ＭＳ Ｐゴシック" charset="-128"/>
              </a:rPr>
              <a:t>n</a:t>
            </a:r>
            <a:r>
              <a:rPr kumimoji="0" lang="ja-JP" altLang="en-US" sz="2400" dirty="0" smtClean="0">
                <a:ea typeface="ＭＳ Ｐゴシック" charset="-128"/>
              </a:rPr>
              <a:t>個（</a:t>
            </a:r>
            <a:r>
              <a:rPr kumimoji="0" lang="en-US" altLang="ja-JP" sz="2400" dirty="0" smtClean="0">
                <a:ea typeface="ＭＳ Ｐゴシック" charset="-128"/>
              </a:rPr>
              <a:t>n</a:t>
            </a:r>
            <a:r>
              <a:rPr kumimoji="0" lang="ja-JP" altLang="en-US" sz="2400" dirty="0" smtClean="0">
                <a:ea typeface="ＭＳ Ｐゴシック" charset="-128"/>
              </a:rPr>
              <a:t>は実行時にキーボードから入力）の</a:t>
            </a:r>
            <a:r>
              <a:rPr kumimoji="0" lang="en-US" altLang="ja-JP" sz="2400" dirty="0" err="1" smtClean="0">
                <a:ea typeface="ＭＳ Ｐゴシック" charset="-128"/>
              </a:rPr>
              <a:t>int</a:t>
            </a:r>
            <a:r>
              <a:rPr kumimoji="0" lang="ja-JP" altLang="en-US" sz="2400" dirty="0" smtClean="0">
                <a:ea typeface="ＭＳ Ｐゴシック" charset="-128"/>
              </a:rPr>
              <a:t>型の数をキーボードから受け取り、それらの和を画面上に表示するプログラムを作成せよ。ただし、</a:t>
            </a:r>
            <a:r>
              <a:rPr kumimoji="0" lang="en-US" altLang="ja-JP" sz="2400" dirty="0" err="1" smtClean="0">
                <a:ea typeface="ＭＳ Ｐゴシック" charset="-128"/>
              </a:rPr>
              <a:t>calloc</a:t>
            </a:r>
            <a:r>
              <a:rPr kumimoji="0" lang="ja-JP" altLang="en-US" sz="2400" dirty="0" smtClean="0">
                <a:ea typeface="ＭＳ Ｐゴシック" charset="-128"/>
              </a:rPr>
              <a:t>を用いて長さ</a:t>
            </a:r>
            <a:r>
              <a:rPr kumimoji="0" lang="en-US" altLang="ja-JP" sz="2400" dirty="0" smtClean="0">
                <a:ea typeface="ＭＳ Ｐゴシック" charset="-128"/>
              </a:rPr>
              <a:t>n</a:t>
            </a:r>
            <a:r>
              <a:rPr kumimoji="0" lang="ja-JP" altLang="en-US" sz="2400" dirty="0" smtClean="0">
                <a:ea typeface="ＭＳ Ｐゴシック" charset="-128"/>
              </a:rPr>
              <a:t>の</a:t>
            </a:r>
            <a:r>
              <a:rPr kumimoji="0" lang="en-US" altLang="ja-JP" sz="2400" dirty="0" err="1" smtClean="0">
                <a:ea typeface="ＭＳ Ｐゴシック" charset="-128"/>
              </a:rPr>
              <a:t>int</a:t>
            </a:r>
            <a:r>
              <a:rPr kumimoji="0" lang="ja-JP" altLang="en-US" sz="2400" dirty="0" smtClean="0">
                <a:ea typeface="ＭＳ Ｐゴシック" charset="-128"/>
              </a:rPr>
              <a:t>型の領域を確保し、そこへキーボードからの</a:t>
            </a:r>
            <a:r>
              <a:rPr kumimoji="0" lang="en-US" altLang="ja-JP" sz="2400" dirty="0" smtClean="0">
                <a:ea typeface="ＭＳ Ｐゴシック" charset="-128"/>
              </a:rPr>
              <a:t>n</a:t>
            </a:r>
            <a:r>
              <a:rPr kumimoji="0" lang="ja-JP" altLang="en-US" sz="2400" dirty="0" smtClean="0">
                <a:ea typeface="ＭＳ Ｐゴシック" charset="-128"/>
              </a:rPr>
              <a:t>個の入力を格納せよ。和を計算する部分は、その領域の先頭要素へのポインタおよび長さ</a:t>
            </a:r>
            <a:r>
              <a:rPr kumimoji="0" lang="en-US" altLang="ja-JP" sz="2400" dirty="0" smtClean="0">
                <a:ea typeface="ＭＳ Ｐゴシック" charset="-128"/>
              </a:rPr>
              <a:t>n</a:t>
            </a:r>
            <a:r>
              <a:rPr kumimoji="0" lang="ja-JP" altLang="en-US" sz="2400" dirty="0" smtClean="0">
                <a:ea typeface="ＭＳ Ｐゴシック" charset="-128"/>
              </a:rPr>
              <a:t>を受け取って和を返す以下のような関数として定義せよ。</a:t>
            </a:r>
            <a:endParaRPr kumimoji="0" lang="en-US" altLang="ja-JP" sz="2400" dirty="0" smtClean="0">
              <a:ea typeface="ＭＳ Ｐゴシック" charset="-128"/>
            </a:endParaRPr>
          </a:p>
          <a:p>
            <a:r>
              <a:rPr kumimoji="0" lang="en-US" altLang="ja-JP" sz="2400" dirty="0" smtClean="0">
                <a:ea typeface="ＭＳ Ｐゴシック" charset="-128"/>
              </a:rPr>
              <a:t>    </a:t>
            </a:r>
            <a:r>
              <a:rPr kumimoji="0" lang="en-US" altLang="ja-JP" sz="2400" dirty="0" err="1" smtClean="0">
                <a:ea typeface="ＭＳ Ｐゴシック" charset="-128"/>
              </a:rPr>
              <a:t>int</a:t>
            </a:r>
            <a:r>
              <a:rPr kumimoji="0" lang="en-US" altLang="ja-JP" sz="2400" dirty="0" smtClean="0">
                <a:ea typeface="ＭＳ Ｐゴシック" charset="-128"/>
              </a:rPr>
              <a:t> sum (</a:t>
            </a:r>
            <a:r>
              <a:rPr kumimoji="0" lang="en-US" altLang="ja-JP" sz="2400" dirty="0" err="1" smtClean="0">
                <a:ea typeface="ＭＳ Ｐゴシック" charset="-128"/>
              </a:rPr>
              <a:t>int</a:t>
            </a:r>
            <a:r>
              <a:rPr kumimoji="0" lang="en-US" altLang="ja-JP" sz="2400" dirty="0" smtClean="0">
                <a:ea typeface="ＭＳ Ｐゴシック" charset="-128"/>
              </a:rPr>
              <a:t> * p, </a:t>
            </a:r>
            <a:r>
              <a:rPr kumimoji="0" lang="en-US" altLang="ja-JP" sz="2400" dirty="0" err="1" smtClean="0">
                <a:ea typeface="ＭＳ Ｐゴシック" charset="-128"/>
              </a:rPr>
              <a:t>int</a:t>
            </a:r>
            <a:r>
              <a:rPr kumimoji="0" lang="en-US" altLang="ja-JP" sz="2400" dirty="0" smtClean="0">
                <a:ea typeface="ＭＳ Ｐゴシック" charset="-128"/>
              </a:rPr>
              <a:t> n) { … }</a:t>
            </a:r>
          </a:p>
        </p:txBody>
      </p:sp>
      <p:sp>
        <p:nvSpPr>
          <p:cNvPr id="7" name="正方形/長方形 6"/>
          <p:cNvSpPr/>
          <p:nvPr/>
        </p:nvSpPr>
        <p:spPr>
          <a:xfrm>
            <a:off x="4894290" y="3852475"/>
            <a:ext cx="3335307" cy="255454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いくつ入力しますか</a:t>
            </a:r>
            <a:r>
              <a:rPr lang="en-US" altLang="ja-JP" sz="2000" dirty="0" smtClean="0"/>
              <a:t>: </a:t>
            </a:r>
            <a:r>
              <a:rPr lang="en-US" altLang="ja-JP" sz="2000" dirty="0" smtClean="0">
                <a:solidFill>
                  <a:srgbClr val="FF0000"/>
                </a:solidFill>
              </a:rPr>
              <a:t>5</a:t>
            </a:r>
          </a:p>
          <a:p>
            <a:r>
              <a:rPr lang="en-US" altLang="ja-JP" sz="2000" dirty="0" smtClean="0"/>
              <a:t>1</a:t>
            </a:r>
            <a:r>
              <a:rPr lang="ja-JP" altLang="en-US" sz="2000" dirty="0" smtClean="0"/>
              <a:t>個目の数字を入力</a:t>
            </a:r>
            <a:r>
              <a:rPr lang="en-US" altLang="ja-JP" sz="2000" dirty="0" smtClean="0"/>
              <a:t>: </a:t>
            </a:r>
            <a:r>
              <a:rPr lang="en-US" altLang="ja-JP" sz="2000" dirty="0" smtClean="0">
                <a:solidFill>
                  <a:srgbClr val="FF0000"/>
                </a:solidFill>
              </a:rPr>
              <a:t>3</a:t>
            </a:r>
          </a:p>
          <a:p>
            <a:r>
              <a:rPr lang="en-US" altLang="ja-JP" sz="2000" dirty="0" smtClean="0"/>
              <a:t>2</a:t>
            </a:r>
            <a:r>
              <a:rPr lang="ja-JP" altLang="en-US" sz="2000" dirty="0" smtClean="0"/>
              <a:t>個目の数字を入力</a:t>
            </a:r>
            <a:r>
              <a:rPr lang="en-US" altLang="ja-JP" sz="2000" dirty="0" smtClean="0"/>
              <a:t>: </a:t>
            </a:r>
            <a:r>
              <a:rPr lang="en-US" altLang="ja-JP" sz="2000" dirty="0" smtClean="0">
                <a:solidFill>
                  <a:srgbClr val="FF0000"/>
                </a:solidFill>
              </a:rPr>
              <a:t>6</a:t>
            </a:r>
          </a:p>
          <a:p>
            <a:r>
              <a:rPr lang="en-US" altLang="ja-JP" sz="2000" dirty="0" smtClean="0"/>
              <a:t>3</a:t>
            </a:r>
            <a:r>
              <a:rPr lang="ja-JP" altLang="en-US" sz="2000" dirty="0" smtClean="0"/>
              <a:t>個目の数字を入力</a:t>
            </a:r>
            <a:r>
              <a:rPr lang="en-US" altLang="ja-JP" sz="2000" dirty="0" smtClean="0"/>
              <a:t>: </a:t>
            </a:r>
            <a:r>
              <a:rPr lang="en-US" altLang="ja-JP" sz="2000" dirty="0" smtClean="0">
                <a:solidFill>
                  <a:srgbClr val="FF0000"/>
                </a:solidFill>
              </a:rPr>
              <a:t>1</a:t>
            </a:r>
          </a:p>
          <a:p>
            <a:r>
              <a:rPr lang="en-US" altLang="ja-JP" sz="2000" dirty="0" smtClean="0"/>
              <a:t>4</a:t>
            </a:r>
            <a:r>
              <a:rPr lang="ja-JP" altLang="en-US" sz="2000" dirty="0" smtClean="0"/>
              <a:t>個目の数字を入力</a:t>
            </a:r>
            <a:r>
              <a:rPr lang="en-US" altLang="ja-JP" sz="2000" dirty="0" smtClean="0"/>
              <a:t>: </a:t>
            </a:r>
            <a:r>
              <a:rPr lang="en-US" altLang="ja-JP" sz="2000" dirty="0" smtClean="0">
                <a:solidFill>
                  <a:srgbClr val="FF0000"/>
                </a:solidFill>
              </a:rPr>
              <a:t>8</a:t>
            </a:r>
          </a:p>
          <a:p>
            <a:r>
              <a:rPr lang="en-US" altLang="ja-JP" sz="2000" dirty="0" smtClean="0"/>
              <a:t>5</a:t>
            </a:r>
            <a:r>
              <a:rPr lang="ja-JP" altLang="en-US" sz="2000" dirty="0" smtClean="0"/>
              <a:t>個目の数字を入力</a:t>
            </a:r>
            <a:r>
              <a:rPr lang="en-US" altLang="ja-JP" sz="2000" dirty="0" smtClean="0"/>
              <a:t>: </a:t>
            </a:r>
            <a:r>
              <a:rPr lang="en-US" altLang="ja-JP" sz="2000" dirty="0" smtClean="0">
                <a:solidFill>
                  <a:srgbClr val="FF0000"/>
                </a:solidFill>
              </a:rPr>
              <a:t>7</a:t>
            </a:r>
          </a:p>
          <a:p>
            <a:r>
              <a:rPr lang="ja-JP" altLang="en-US" sz="2000" dirty="0" smtClean="0"/>
              <a:t>合計は</a:t>
            </a:r>
            <a:r>
              <a:rPr lang="en-US" altLang="ja-JP" sz="2000" dirty="0" smtClean="0"/>
              <a:t>25</a:t>
            </a:r>
            <a:r>
              <a:rPr lang="ja-JP" altLang="en-US" sz="2000" dirty="0" err="1" smtClean="0"/>
              <a:t>です</a:t>
            </a:r>
            <a:endParaRPr lang="ja-JP" altLang="en-US" sz="2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37280" y="274638"/>
            <a:ext cx="3170420" cy="894595"/>
          </a:xfrm>
        </p:spPr>
        <p:txBody>
          <a:bodyPr>
            <a:normAutofit fontScale="90000"/>
          </a:bodyPr>
          <a:lstStyle/>
          <a:p>
            <a:r>
              <a:rPr lang="ja-JP" altLang="en-US" sz="3600" dirty="0" smtClean="0"/>
              <a:t>参考課題 解答例</a:t>
            </a:r>
            <a:endParaRPr kumimoji="1" lang="ja-JP" altLang="en-US" sz="3600" dirty="0"/>
          </a:p>
        </p:txBody>
      </p:sp>
      <p:sp>
        <p:nvSpPr>
          <p:cNvPr id="4" name="正方形/長方形 3"/>
          <p:cNvSpPr/>
          <p:nvPr/>
        </p:nvSpPr>
        <p:spPr>
          <a:xfrm>
            <a:off x="532150" y="1739020"/>
            <a:ext cx="2660754" cy="2862322"/>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smtClean="0"/>
              <a:t>#include&lt;</a:t>
            </a:r>
            <a:r>
              <a:rPr lang="en-US" altLang="ja-JP" sz="2000" dirty="0" err="1" smtClean="0"/>
              <a:t>stdlib.h</a:t>
            </a:r>
            <a:r>
              <a:rPr lang="en-US" altLang="ja-JP" sz="2000" dirty="0" smtClean="0"/>
              <a:t>&gt;</a:t>
            </a:r>
          </a:p>
          <a:p>
            <a:endParaRPr lang="en-US" altLang="ja-JP" sz="2000" dirty="0" smtClean="0"/>
          </a:p>
          <a:p>
            <a:r>
              <a:rPr lang="en-US" altLang="ja-JP" sz="2000" dirty="0" err="1" smtClean="0"/>
              <a:t>int</a:t>
            </a:r>
            <a:r>
              <a:rPr lang="en-US" altLang="ja-JP" sz="2000" dirty="0" smtClean="0"/>
              <a:t> sum (</a:t>
            </a:r>
            <a:r>
              <a:rPr lang="en-US" altLang="ja-JP" sz="2000" dirty="0" err="1" smtClean="0"/>
              <a:t>int</a:t>
            </a:r>
            <a:r>
              <a:rPr lang="en-US" altLang="ja-JP" sz="2000" dirty="0" smtClean="0"/>
              <a:t> * p, </a:t>
            </a:r>
            <a:r>
              <a:rPr lang="en-US" altLang="ja-JP" sz="2000" dirty="0" err="1" smtClean="0"/>
              <a:t>int</a:t>
            </a:r>
            <a:r>
              <a:rPr lang="en-US" altLang="ja-JP" sz="2000" dirty="0" smtClean="0"/>
              <a:t> n) {</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 sum=0;</a:t>
            </a:r>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&lt;n; </a:t>
            </a:r>
            <a:r>
              <a:rPr lang="en-US" altLang="ja-JP" sz="2000" dirty="0" err="1" smtClean="0"/>
              <a:t>i</a:t>
            </a:r>
            <a:r>
              <a:rPr lang="en-US" altLang="ja-JP" sz="2000" dirty="0" smtClean="0"/>
              <a:t>++)</a:t>
            </a:r>
          </a:p>
          <a:p>
            <a:r>
              <a:rPr lang="en-US" altLang="ja-JP" sz="2000" dirty="0" smtClean="0"/>
              <a:t>    sum = sum + p[</a:t>
            </a:r>
            <a:r>
              <a:rPr lang="en-US" altLang="ja-JP" sz="2000" dirty="0" err="1" smtClean="0"/>
              <a:t>i</a:t>
            </a:r>
            <a:r>
              <a:rPr lang="en-US" altLang="ja-JP" sz="2000" dirty="0" smtClean="0"/>
              <a:t>];</a:t>
            </a:r>
          </a:p>
          <a:p>
            <a:r>
              <a:rPr lang="en-US" altLang="ja-JP" sz="2000" dirty="0" smtClean="0"/>
              <a:t>  return sum;</a:t>
            </a:r>
          </a:p>
          <a:p>
            <a:r>
              <a:rPr lang="en-US" altLang="ja-JP" sz="2000" dirty="0" smtClean="0"/>
              <a:t>}</a:t>
            </a:r>
          </a:p>
        </p:txBody>
      </p:sp>
      <p:sp>
        <p:nvSpPr>
          <p:cNvPr id="5" name="正方形/長方形 4"/>
          <p:cNvSpPr/>
          <p:nvPr/>
        </p:nvSpPr>
        <p:spPr>
          <a:xfrm>
            <a:off x="3657600" y="629587"/>
            <a:ext cx="5291528" cy="5940088"/>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n,i</a:t>
            </a:r>
            <a:r>
              <a:rPr lang="en-US" altLang="ja-JP" sz="2000" dirty="0" smtClean="0"/>
              <a:t>;</a:t>
            </a:r>
          </a:p>
          <a:p>
            <a:r>
              <a:rPr lang="en-US" altLang="ja-JP" sz="2000" dirty="0" smtClean="0"/>
              <a:t>  </a:t>
            </a:r>
            <a:r>
              <a:rPr lang="en-US" altLang="ja-JP" sz="2000" dirty="0" err="1" smtClean="0"/>
              <a:t>int</a:t>
            </a:r>
            <a:r>
              <a:rPr lang="en-US" altLang="ja-JP" sz="2000" dirty="0" smtClean="0"/>
              <a:t> * p;</a:t>
            </a:r>
          </a:p>
          <a:p>
            <a:r>
              <a:rPr lang="en-US" altLang="ja-JP" sz="2000" dirty="0" smtClean="0"/>
              <a:t>  </a:t>
            </a:r>
            <a:r>
              <a:rPr lang="en-US" altLang="ja-JP" sz="2000" dirty="0" err="1" smtClean="0"/>
              <a:t>printf</a:t>
            </a:r>
            <a:r>
              <a:rPr lang="en-US" altLang="ja-JP" sz="2000" dirty="0" smtClean="0"/>
              <a:t>("</a:t>
            </a:r>
            <a:r>
              <a:rPr lang="ja-JP" altLang="en-US" sz="2000" dirty="0" smtClean="0"/>
              <a:t>いくつ入力しますか</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p = </a:t>
            </a:r>
            <a:r>
              <a:rPr lang="en-US" altLang="ja-JP" sz="2000" dirty="0" err="1" smtClean="0"/>
              <a:t>calloc</a:t>
            </a:r>
            <a:r>
              <a:rPr lang="en-US" altLang="ja-JP" sz="2000" dirty="0" smtClean="0"/>
              <a:t> (n, </a:t>
            </a:r>
            <a:r>
              <a:rPr lang="en-US" altLang="ja-JP" sz="2000" dirty="0" err="1" smtClean="0"/>
              <a:t>sizeof</a:t>
            </a:r>
            <a:r>
              <a:rPr lang="en-US" altLang="ja-JP" sz="2000" dirty="0" smtClean="0"/>
              <a:t> (</a:t>
            </a:r>
            <a:r>
              <a:rPr lang="en-US" altLang="ja-JP" sz="2000" dirty="0" err="1" smtClean="0"/>
              <a:t>int</a:t>
            </a:r>
            <a:r>
              <a:rPr lang="en-US" altLang="ja-JP" sz="2000" dirty="0" smtClean="0"/>
              <a:t>));</a:t>
            </a:r>
          </a:p>
          <a:p>
            <a:r>
              <a:rPr lang="en-US" altLang="ja-JP" sz="2000" dirty="0" smtClean="0"/>
              <a:t>  if (p == NULL)</a:t>
            </a:r>
          </a:p>
          <a:p>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r>
              <a:rPr lang="en-US" altLang="ja-JP" sz="2000" dirty="0" smtClean="0"/>
              <a:t>  else {</a:t>
            </a:r>
          </a:p>
          <a:p>
            <a:r>
              <a:rPr lang="en-US" altLang="ja-JP" sz="2000" dirty="0" smtClean="0"/>
              <a:t>    for(</a:t>
            </a:r>
            <a:r>
              <a:rPr lang="en-US" altLang="ja-JP" sz="2000" dirty="0" err="1" smtClean="0"/>
              <a:t>i</a:t>
            </a:r>
            <a:r>
              <a:rPr lang="en-US" altLang="ja-JP" sz="2000" dirty="0" smtClean="0"/>
              <a:t>=0; </a:t>
            </a:r>
            <a:r>
              <a:rPr lang="en-US" altLang="ja-JP" sz="2000" dirty="0" err="1" smtClean="0"/>
              <a:t>i</a:t>
            </a:r>
            <a:r>
              <a:rPr lang="en-US" altLang="ja-JP" sz="2000" dirty="0" smtClean="0"/>
              <a:t>&lt;n; </a:t>
            </a:r>
            <a:r>
              <a:rPr lang="en-US" altLang="ja-JP" sz="2000" dirty="0" err="1" smtClean="0"/>
              <a:t>i</a:t>
            </a:r>
            <a:r>
              <a:rPr lang="en-US" altLang="ja-JP" sz="2000" dirty="0" smtClean="0"/>
              <a:t>++){</a:t>
            </a:r>
          </a:p>
          <a:p>
            <a:r>
              <a:rPr lang="en-US" altLang="ja-JP" sz="2000" dirty="0" smtClean="0"/>
              <a:t>      </a:t>
            </a:r>
            <a:r>
              <a:rPr lang="en-US" altLang="ja-JP" sz="2000" dirty="0" err="1" smtClean="0"/>
              <a:t>printf</a:t>
            </a:r>
            <a:r>
              <a:rPr lang="en-US" altLang="ja-JP" sz="2000" dirty="0" smtClean="0"/>
              <a:t>("%d</a:t>
            </a:r>
            <a:r>
              <a:rPr lang="ja-JP" altLang="en-US" sz="2000" dirty="0" smtClean="0"/>
              <a:t>個目の数字を入力</a:t>
            </a:r>
            <a:r>
              <a:rPr lang="en-US" altLang="ja-JP" sz="2000" dirty="0" smtClean="0"/>
              <a:t>: ", i+1);</a:t>
            </a:r>
          </a:p>
          <a:p>
            <a:r>
              <a:rPr lang="en-US" altLang="ja-JP" sz="2000" dirty="0" smtClean="0"/>
              <a:t>      </a:t>
            </a:r>
            <a:r>
              <a:rPr lang="en-US" altLang="ja-JP" sz="2000" dirty="0" err="1" smtClean="0"/>
              <a:t>scanf</a:t>
            </a:r>
            <a:r>
              <a:rPr lang="en-US" altLang="ja-JP" sz="2000" dirty="0" smtClean="0"/>
              <a:t>("%d", &amp;p[</a:t>
            </a:r>
            <a:r>
              <a:rPr lang="en-US" altLang="ja-JP" sz="2000" dirty="0" err="1" smtClean="0"/>
              <a:t>i</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ja-JP" altLang="en-US" sz="2000" dirty="0" smtClean="0"/>
              <a:t>合計は</a:t>
            </a:r>
            <a:r>
              <a:rPr lang="en-US" altLang="ja-JP" sz="2000" dirty="0" smtClean="0"/>
              <a:t>%d</a:t>
            </a:r>
            <a:r>
              <a:rPr lang="ja-JP" altLang="en-US" sz="2000" dirty="0" err="1" smtClean="0"/>
              <a:t>です</a:t>
            </a:r>
            <a:r>
              <a:rPr lang="en-US" altLang="ja-JP" sz="2000" dirty="0" smtClean="0"/>
              <a:t>\</a:t>
            </a:r>
            <a:r>
              <a:rPr lang="en-US" altLang="ja-JP" sz="2000" dirty="0" err="1" smtClean="0"/>
              <a:t>n",sum</a:t>
            </a:r>
            <a:r>
              <a:rPr lang="en-US" altLang="ja-JP" sz="2000" dirty="0" smtClean="0"/>
              <a:t>(</a:t>
            </a:r>
            <a:r>
              <a:rPr lang="en-US" altLang="ja-JP" sz="2000" dirty="0" err="1" smtClean="0"/>
              <a:t>p,n</a:t>
            </a:r>
            <a:r>
              <a:rPr lang="en-US" altLang="ja-JP" sz="2000" dirty="0" smtClean="0"/>
              <a:t>));</a:t>
            </a:r>
          </a:p>
          <a:p>
            <a:r>
              <a:rPr lang="en-US" altLang="ja-JP" sz="2000" dirty="0" smtClean="0"/>
              <a:t>    free (p);</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820</TotalTime>
  <Words>2693</Words>
  <Application>Microsoft Office PowerPoint</Application>
  <PresentationFormat>画面に合わせる (4:3)</PresentationFormat>
  <Paragraphs>267</Paragraphs>
  <Slides>23</Slides>
  <Notes>0</Notes>
  <HiddenSlides>0</HiddenSlides>
  <MMClips>0</MMClips>
  <ScaleCrop>false</ScaleCrop>
  <HeadingPairs>
    <vt:vector size="4" baseType="variant">
      <vt:variant>
        <vt:lpstr>テーマ</vt:lpstr>
      </vt:variant>
      <vt:variant>
        <vt:i4>1</vt:i4>
      </vt:variant>
      <vt:variant>
        <vt:lpstr>スライド タイトル</vt:lpstr>
      </vt:variant>
      <vt:variant>
        <vt:i4>23</vt:i4>
      </vt:variant>
    </vt:vector>
  </HeadingPairs>
  <TitlesOfParts>
    <vt:vector size="24" baseType="lpstr">
      <vt:lpstr>Office テーマ</vt:lpstr>
      <vt:lpstr>プログラミング入門２</vt:lpstr>
      <vt:lpstr>今日の内容</vt:lpstr>
      <vt:lpstr>動的な記憶域確保</vt:lpstr>
      <vt:lpstr>ヒープ領域(heap)</vt:lpstr>
      <vt:lpstr>calloc関数</vt:lpstr>
      <vt:lpstr>ヌルポインタ</vt:lpstr>
      <vt:lpstr>例（打ち込んで確認）</vt:lpstr>
      <vt:lpstr>解説</vt:lpstr>
      <vt:lpstr>sizeof演算子</vt:lpstr>
      <vt:lpstr>例（打ち込んで確認）</vt:lpstr>
      <vt:lpstr>void へのポインタ型</vt:lpstr>
      <vt:lpstr>free関数 :  記憶域の解放</vt:lpstr>
      <vt:lpstr>例</vt:lpstr>
      <vt:lpstr>確保した領域へ値を書き込む例（打ち込んで確認）</vt:lpstr>
      <vt:lpstr>１次元配列の動的確保</vt:lpstr>
      <vt:lpstr>例（打ち込んで確認）</vt:lpstr>
      <vt:lpstr>基本課題１</vt:lpstr>
      <vt:lpstr>基本課題２</vt:lpstr>
      <vt:lpstr>発展課題１</vt:lpstr>
      <vt:lpstr>発展課題２</vt:lpstr>
      <vt:lpstr>構造体配列の動的確保（pointでの例）</vt:lpstr>
      <vt:lpstr>参考課題１</vt:lpstr>
      <vt:lpstr>参考課題 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cp:lastModifiedBy>
  <cp:revision>462</cp:revision>
  <dcterms:created xsi:type="dcterms:W3CDTF">2009-12-04T09:18:28Z</dcterms:created>
  <dcterms:modified xsi:type="dcterms:W3CDTF">2011-12-12T06:35:10Z</dcterms:modified>
</cp:coreProperties>
</file>