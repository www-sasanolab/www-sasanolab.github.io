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69" r:id="rId4"/>
    <p:sldId id="270" r:id="rId5"/>
    <p:sldId id="271" r:id="rId6"/>
    <p:sldId id="272" r:id="rId7"/>
    <p:sldId id="273" r:id="rId8"/>
    <p:sldId id="281" r:id="rId9"/>
    <p:sldId id="267" r:id="rId10"/>
    <p:sldId id="259" r:id="rId11"/>
    <p:sldId id="275" r:id="rId12"/>
    <p:sldId id="276" r:id="rId13"/>
    <p:sldId id="274" r:id="rId14"/>
    <p:sldId id="279" r:id="rId15"/>
    <p:sldId id="278" r:id="rId16"/>
    <p:sldId id="282" r:id="rId17"/>
    <p:sldId id="283" r:id="rId18"/>
    <p:sldId id="284" r:id="rId19"/>
    <p:sldId id="280" r:id="rId20"/>
    <p:sldId id="286" r:id="rId21"/>
    <p:sldId id="285" r:id="rId22"/>
    <p:sldId id="287" r:id="rId23"/>
    <p:sldId id="264" r:id="rId24"/>
    <p:sldId id="289" r:id="rId25"/>
    <p:sldId id="290" r:id="rId26"/>
    <p:sldId id="291" r:id="rId27"/>
    <p:sldId id="288" r:id="rId28"/>
    <p:sldId id="292" r:id="rId29"/>
    <p:sldId id="293" r:id="rId30"/>
    <p:sldId id="294" r:id="rId31"/>
    <p:sldId id="296" r:id="rId32"/>
    <p:sldId id="297" r:id="rId33"/>
    <p:sldId id="295" r:id="rId34"/>
    <p:sldId id="299" r:id="rId35"/>
    <p:sldId id="300" r:id="rId36"/>
    <p:sldId id="305" r:id="rId37"/>
    <p:sldId id="266" r:id="rId38"/>
    <p:sldId id="277" r:id="rId39"/>
    <p:sldId id="306" r:id="rId40"/>
    <p:sldId id="303" r:id="rId41"/>
    <p:sldId id="304" r:id="rId42"/>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695" autoAdjust="0"/>
  </p:normalViewPr>
  <p:slideViewPr>
    <p:cSldViewPr>
      <p:cViewPr varScale="1">
        <p:scale>
          <a:sx n="70" d="100"/>
          <a:sy n="70" d="100"/>
        </p:scale>
        <p:origin x="-522"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2011/11/29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2011/11/29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2011/11/29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2011/11/29</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2011/11/29</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2011/11/29</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2011/11/29</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2011/11/29</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2011/11/29</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2011/11/29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2011/11/29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2011/11/29</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870079"/>
          </a:xfrm>
        </p:spPr>
        <p:txBody>
          <a:bodyPr>
            <a:normAutofit fontScale="90000"/>
          </a:bodyPr>
          <a:lstStyle/>
          <a:p>
            <a:r>
              <a:rPr lang="ja-JP" altLang="en-US" dirty="0" smtClean="0"/>
              <a:t>プログラミング入門２</a:t>
            </a:r>
            <a:r>
              <a:rPr lang="en-US" altLang="ja-JP" dirty="0" smtClean="0"/>
              <a:t/>
            </a:r>
            <a:br>
              <a:rPr lang="en-US" altLang="ja-JP" dirty="0" smtClean="0"/>
            </a:br>
            <a:r>
              <a:rPr lang="ja-JP" altLang="en-US" dirty="0" smtClean="0"/>
              <a:t>第９回</a:t>
            </a:r>
            <a:r>
              <a:rPr lang="en-US" altLang="ja-JP" dirty="0" smtClean="0"/>
              <a:t/>
            </a:r>
            <a:br>
              <a:rPr lang="en-US" altLang="ja-JP" dirty="0" smtClean="0"/>
            </a:br>
            <a:r>
              <a:rPr lang="ja-JP" altLang="en-US" dirty="0" smtClean="0"/>
              <a:t>ポインタ</a:t>
            </a:r>
            <a:endParaRPr kumimoji="1" lang="ja-JP" altLang="en-US" dirty="0"/>
          </a:p>
        </p:txBody>
      </p:sp>
      <p:sp>
        <p:nvSpPr>
          <p:cNvPr id="4" name="テキスト ボックス 3"/>
          <p:cNvSpPr txBox="1"/>
          <p:nvPr/>
        </p:nvSpPr>
        <p:spPr>
          <a:xfrm>
            <a:off x="2751570" y="4977482"/>
            <a:ext cx="3534942"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今日の内容</a:t>
            </a:r>
            <a:endParaRPr kumimoji="1" lang="ja-JP" altLang="en-US" dirty="0"/>
          </a:p>
        </p:txBody>
      </p:sp>
      <p:sp>
        <p:nvSpPr>
          <p:cNvPr id="3" name="コンテンツ プレースホルダ 2"/>
          <p:cNvSpPr>
            <a:spLocks noGrp="1"/>
          </p:cNvSpPr>
          <p:nvPr>
            <p:ph idx="1"/>
          </p:nvPr>
        </p:nvSpPr>
        <p:spPr/>
        <p:txBody>
          <a:bodyPr/>
          <a:lstStyle/>
          <a:p>
            <a:r>
              <a:rPr lang="ja-JP" altLang="en-US" dirty="0" smtClean="0"/>
              <a:t>ポインタ</a:t>
            </a:r>
            <a:endParaRPr kumimoji="1" lang="en-US" altLang="ja-JP"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アドレス</a:t>
            </a:r>
          </a:p>
        </p:txBody>
      </p:sp>
      <p:sp>
        <p:nvSpPr>
          <p:cNvPr id="4" name="テキスト ボックス 3"/>
          <p:cNvSpPr txBox="1"/>
          <p:nvPr/>
        </p:nvSpPr>
        <p:spPr>
          <a:xfrm>
            <a:off x="642910" y="1357298"/>
            <a:ext cx="7929618" cy="3108543"/>
          </a:xfrm>
          <a:prstGeom prst="rect">
            <a:avLst/>
          </a:prstGeom>
          <a:noFill/>
        </p:spPr>
        <p:txBody>
          <a:bodyPr wrap="square" rtlCol="0">
            <a:spAutoFit/>
          </a:bodyPr>
          <a:lstStyle/>
          <a:p>
            <a:r>
              <a:rPr lang="ja-JP" altLang="en-US" sz="2800" dirty="0" smtClean="0"/>
              <a:t>一般に</a:t>
            </a:r>
            <a:r>
              <a:rPr lang="en-US" altLang="ja-JP" sz="2800" dirty="0" smtClean="0"/>
              <a:t>C</a:t>
            </a:r>
            <a:r>
              <a:rPr lang="ja-JP" altLang="en-US" sz="2800" dirty="0" smtClean="0"/>
              <a:t>などの命令型言語では、変数というのは直接的にはアドレスを表す。間接的に、そのアドレスの中身の値を表している。中身の値は代入によって変化し得る。（変数の値は中身の値である。）</a:t>
            </a:r>
            <a:endParaRPr lang="en-US" altLang="ja-JP" sz="2800" dirty="0" smtClean="0"/>
          </a:p>
          <a:p>
            <a:endParaRPr lang="en-US" altLang="ja-JP" sz="2800" dirty="0" smtClean="0"/>
          </a:p>
          <a:p>
            <a:r>
              <a:rPr lang="ja-JP" altLang="en-US" sz="2800" dirty="0" smtClean="0"/>
              <a:t>変数だけでなく、配列、配列の各要素もアドレスを持つ。</a:t>
            </a:r>
            <a:endParaRPr lang="en-US" altLang="ja-JP" sz="2800"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アドレス</a:t>
            </a:r>
            <a:endParaRPr kumimoji="1" lang="ja-JP" altLang="en-US" dirty="0"/>
          </a:p>
        </p:txBody>
      </p:sp>
      <p:sp>
        <p:nvSpPr>
          <p:cNvPr id="4" name="テキスト ボックス 3"/>
          <p:cNvSpPr txBox="1"/>
          <p:nvPr/>
        </p:nvSpPr>
        <p:spPr>
          <a:xfrm>
            <a:off x="928662" y="1357298"/>
            <a:ext cx="2495940" cy="2246769"/>
          </a:xfrm>
          <a:prstGeom prst="rect">
            <a:avLst/>
          </a:prstGeom>
          <a:noFill/>
          <a:ln>
            <a:solidFill>
              <a:schemeClr val="tx1"/>
            </a:solidFill>
          </a:ln>
        </p:spPr>
        <p:txBody>
          <a:bodyPr wrap="none" rtlCol="0">
            <a:spAutoFit/>
          </a:bodyPr>
          <a:lstStyle/>
          <a:p>
            <a:r>
              <a:rPr lang="en-US" altLang="ja-JP" sz="2800" dirty="0" err="1" smtClean="0"/>
              <a:t>int</a:t>
            </a:r>
            <a:r>
              <a:rPr lang="en-US" altLang="ja-JP" sz="2800" dirty="0" smtClean="0"/>
              <a:t> main (void) {</a:t>
            </a:r>
          </a:p>
          <a:p>
            <a:r>
              <a:rPr lang="en-US" altLang="ja-JP" sz="2800" dirty="0" smtClean="0"/>
              <a:t>  char x = 10;</a:t>
            </a:r>
          </a:p>
          <a:p>
            <a:r>
              <a:rPr kumimoji="1" lang="en-US" altLang="ja-JP" sz="2800" dirty="0" smtClean="0"/>
              <a:t>  x = x + 1;</a:t>
            </a:r>
          </a:p>
          <a:p>
            <a:r>
              <a:rPr lang="en-US" altLang="ja-JP" sz="2800" dirty="0" smtClean="0"/>
              <a:t>  return 0;</a:t>
            </a:r>
          </a:p>
          <a:p>
            <a:r>
              <a:rPr kumimoji="1" lang="en-US" altLang="ja-JP" sz="2800" dirty="0" smtClean="0"/>
              <a:t>}</a:t>
            </a:r>
          </a:p>
        </p:txBody>
      </p:sp>
      <p:sp>
        <p:nvSpPr>
          <p:cNvPr id="5" name="テキスト ボックス 4"/>
          <p:cNvSpPr txBox="1"/>
          <p:nvPr/>
        </p:nvSpPr>
        <p:spPr>
          <a:xfrm>
            <a:off x="500034" y="4857760"/>
            <a:ext cx="8286808" cy="1815882"/>
          </a:xfrm>
          <a:prstGeom prst="rect">
            <a:avLst/>
          </a:prstGeom>
          <a:noFill/>
        </p:spPr>
        <p:txBody>
          <a:bodyPr wrap="square" rtlCol="0">
            <a:spAutoFit/>
          </a:bodyPr>
          <a:lstStyle/>
          <a:p>
            <a:r>
              <a:rPr lang="ja-JP" altLang="en-US" sz="2800" dirty="0" smtClean="0"/>
              <a:t>例えば、変数</a:t>
            </a:r>
            <a:r>
              <a:rPr lang="en-US" altLang="ja-JP" sz="2800" dirty="0" smtClean="0"/>
              <a:t>x</a:t>
            </a:r>
            <a:r>
              <a:rPr lang="ja-JP" altLang="en-US" sz="2800" dirty="0" smtClean="0"/>
              <a:t>用の領域が</a:t>
            </a:r>
            <a:r>
              <a:rPr lang="en-US" altLang="ja-JP" sz="2800" dirty="0" smtClean="0"/>
              <a:t>101</a:t>
            </a:r>
            <a:r>
              <a:rPr lang="ja-JP" altLang="en-US" sz="2800" dirty="0" smtClean="0"/>
              <a:t>番地だったとする。</a:t>
            </a:r>
            <a:endParaRPr lang="en-US" altLang="ja-JP" sz="2800" dirty="0" smtClean="0"/>
          </a:p>
          <a:p>
            <a:r>
              <a:rPr kumimoji="1" lang="ja-JP" altLang="en-US" sz="2800" dirty="0" smtClean="0"/>
              <a:t>そのとき、</a:t>
            </a:r>
            <a:r>
              <a:rPr kumimoji="1" lang="en-US" altLang="ja-JP" sz="2800" dirty="0" smtClean="0"/>
              <a:t>101</a:t>
            </a:r>
            <a:r>
              <a:rPr kumimoji="1" lang="ja-JP" altLang="en-US" sz="2800" dirty="0" smtClean="0"/>
              <a:t>が、</a:t>
            </a:r>
            <a:r>
              <a:rPr lang="en-US" altLang="ja-JP" sz="2800" dirty="0" smtClean="0"/>
              <a:t>x</a:t>
            </a:r>
            <a:r>
              <a:rPr lang="ja-JP" altLang="en-US" sz="2800" dirty="0" smtClean="0"/>
              <a:t>のアドレスである。また、初期状態では</a:t>
            </a:r>
            <a:r>
              <a:rPr lang="en-US" altLang="ja-JP" sz="2800" dirty="0" smtClean="0"/>
              <a:t>10</a:t>
            </a:r>
            <a:r>
              <a:rPr lang="ja-JP" altLang="en-US" sz="2800" dirty="0" smtClean="0"/>
              <a:t>が式</a:t>
            </a:r>
            <a:r>
              <a:rPr lang="en-US" altLang="ja-JP" sz="2800" dirty="0" smtClean="0"/>
              <a:t>x</a:t>
            </a:r>
            <a:r>
              <a:rPr lang="ja-JP" altLang="en-US" sz="2800" dirty="0" smtClean="0"/>
              <a:t>の値である。変数</a:t>
            </a:r>
            <a:r>
              <a:rPr lang="en-US" altLang="ja-JP" sz="2800" dirty="0" smtClean="0"/>
              <a:t>x</a:t>
            </a:r>
            <a:r>
              <a:rPr lang="ja-JP" altLang="en-US" sz="2800" dirty="0" smtClean="0"/>
              <a:t>の値は代入式によって</a:t>
            </a:r>
            <a:r>
              <a:rPr lang="en-US" altLang="ja-JP" sz="2800" dirty="0" smtClean="0"/>
              <a:t>11</a:t>
            </a:r>
            <a:r>
              <a:rPr lang="ja-JP" altLang="en-US" sz="2800" dirty="0" smtClean="0"/>
              <a:t>に変わる。</a:t>
            </a:r>
            <a:endParaRPr kumimoji="1" lang="ja-JP" altLang="en-US" sz="2800" dirty="0"/>
          </a:p>
        </p:txBody>
      </p:sp>
      <p:graphicFrame>
        <p:nvGraphicFramePr>
          <p:cNvPr id="6" name="表 5"/>
          <p:cNvGraphicFramePr>
            <a:graphicFrameLocks noGrp="1"/>
          </p:cNvGraphicFramePr>
          <p:nvPr/>
        </p:nvGraphicFramePr>
        <p:xfrm>
          <a:off x="5286380" y="1285860"/>
          <a:ext cx="3000396" cy="3286150"/>
        </p:xfrm>
        <a:graphic>
          <a:graphicData uri="http://schemas.openxmlformats.org/drawingml/2006/table">
            <a:tbl>
              <a:tblPr firstRow="1" bandRow="1">
                <a:tableStyleId>{5C22544A-7EE6-4342-B048-85BDC9FD1C3A}</a:tableStyleId>
              </a:tblPr>
              <a:tblGrid>
                <a:gridCol w="3000396"/>
              </a:tblGrid>
              <a:tr h="657230">
                <a:tc>
                  <a:txBody>
                    <a:bodyPr/>
                    <a:lstStyle/>
                    <a:p>
                      <a:pPr algn="ctr"/>
                      <a:endParaRPr kumimoji="1" lang="ja-JP"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657230">
                <a:tc>
                  <a:txBody>
                    <a:bodyPr/>
                    <a:lstStyle/>
                    <a:p>
                      <a:pPr algn="ctr"/>
                      <a:r>
                        <a:rPr kumimoji="1" lang="en-US" altLang="ja-JP" sz="2800" dirty="0" smtClean="0"/>
                        <a:t>10</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57230">
                <a:tc>
                  <a:txBody>
                    <a:bodyPr/>
                    <a:lstStyle/>
                    <a:p>
                      <a:pPr algn="ctr"/>
                      <a:endParaRPr kumimoji="1" lang="ja-JP"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57230">
                <a:tc>
                  <a:txBody>
                    <a:bodyPr/>
                    <a:lstStyle/>
                    <a:p>
                      <a:pPr algn="ctr"/>
                      <a:endParaRPr kumimoji="1" lang="ja-JP"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57230">
                <a:tc>
                  <a:txBody>
                    <a:bodyPr/>
                    <a:lstStyle/>
                    <a:p>
                      <a:pPr algn="ctr"/>
                      <a:endParaRPr kumimoji="1" lang="ja-JP"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7" name="テキスト ボックス 6"/>
          <p:cNvSpPr txBox="1"/>
          <p:nvPr/>
        </p:nvSpPr>
        <p:spPr>
          <a:xfrm>
            <a:off x="4500562" y="1428736"/>
            <a:ext cx="651140" cy="461665"/>
          </a:xfrm>
          <a:prstGeom prst="rect">
            <a:avLst/>
          </a:prstGeom>
          <a:noFill/>
        </p:spPr>
        <p:txBody>
          <a:bodyPr wrap="none" rtlCol="0">
            <a:spAutoFit/>
          </a:bodyPr>
          <a:lstStyle/>
          <a:p>
            <a:r>
              <a:rPr kumimoji="1" lang="en-US" altLang="ja-JP" sz="2400" dirty="0" smtClean="0"/>
              <a:t>100</a:t>
            </a:r>
            <a:endParaRPr kumimoji="1" lang="ja-JP" altLang="en-US" sz="2400" dirty="0"/>
          </a:p>
        </p:txBody>
      </p:sp>
      <p:sp>
        <p:nvSpPr>
          <p:cNvPr id="8" name="テキスト ボックス 7"/>
          <p:cNvSpPr txBox="1"/>
          <p:nvPr/>
        </p:nvSpPr>
        <p:spPr>
          <a:xfrm>
            <a:off x="4500562" y="2071678"/>
            <a:ext cx="651140" cy="461665"/>
          </a:xfrm>
          <a:prstGeom prst="rect">
            <a:avLst/>
          </a:prstGeom>
          <a:noFill/>
        </p:spPr>
        <p:txBody>
          <a:bodyPr wrap="none" rtlCol="0">
            <a:spAutoFit/>
          </a:bodyPr>
          <a:lstStyle/>
          <a:p>
            <a:r>
              <a:rPr kumimoji="1" lang="en-US" altLang="ja-JP" sz="2400" dirty="0" smtClean="0"/>
              <a:t>101</a:t>
            </a:r>
            <a:endParaRPr kumimoji="1" lang="ja-JP" altLang="en-US" sz="2400" dirty="0"/>
          </a:p>
        </p:txBody>
      </p:sp>
      <p:sp>
        <p:nvSpPr>
          <p:cNvPr id="9" name="テキスト ボックス 8"/>
          <p:cNvSpPr txBox="1"/>
          <p:nvPr/>
        </p:nvSpPr>
        <p:spPr>
          <a:xfrm>
            <a:off x="4500562" y="2714620"/>
            <a:ext cx="651140" cy="461665"/>
          </a:xfrm>
          <a:prstGeom prst="rect">
            <a:avLst/>
          </a:prstGeom>
          <a:noFill/>
        </p:spPr>
        <p:txBody>
          <a:bodyPr wrap="none" rtlCol="0">
            <a:spAutoFit/>
          </a:bodyPr>
          <a:lstStyle/>
          <a:p>
            <a:r>
              <a:rPr kumimoji="1" lang="en-US" altLang="ja-JP" sz="2400" dirty="0" smtClean="0"/>
              <a:t>102</a:t>
            </a:r>
            <a:endParaRPr kumimoji="1" lang="ja-JP" altLang="en-US" sz="2400" dirty="0"/>
          </a:p>
        </p:txBody>
      </p:sp>
      <p:sp>
        <p:nvSpPr>
          <p:cNvPr id="10" name="テキスト ボックス 9"/>
          <p:cNvSpPr txBox="1"/>
          <p:nvPr/>
        </p:nvSpPr>
        <p:spPr>
          <a:xfrm>
            <a:off x="4492364" y="3357562"/>
            <a:ext cx="651140" cy="461665"/>
          </a:xfrm>
          <a:prstGeom prst="rect">
            <a:avLst/>
          </a:prstGeom>
          <a:noFill/>
        </p:spPr>
        <p:txBody>
          <a:bodyPr wrap="none" rtlCol="0">
            <a:spAutoFit/>
          </a:bodyPr>
          <a:lstStyle/>
          <a:p>
            <a:r>
              <a:rPr kumimoji="1" lang="en-US" altLang="ja-JP" sz="2400" dirty="0" smtClean="0"/>
              <a:t>103</a:t>
            </a:r>
            <a:endParaRPr kumimoji="1" lang="ja-JP" altLang="en-US" sz="2400" dirty="0"/>
          </a:p>
        </p:txBody>
      </p:sp>
      <p:sp>
        <p:nvSpPr>
          <p:cNvPr id="11" name="テキスト ボックス 10"/>
          <p:cNvSpPr txBox="1"/>
          <p:nvPr/>
        </p:nvSpPr>
        <p:spPr>
          <a:xfrm>
            <a:off x="4492364" y="4071942"/>
            <a:ext cx="651140" cy="461665"/>
          </a:xfrm>
          <a:prstGeom prst="rect">
            <a:avLst/>
          </a:prstGeom>
          <a:noFill/>
        </p:spPr>
        <p:txBody>
          <a:bodyPr wrap="none" rtlCol="0">
            <a:spAutoFit/>
          </a:bodyPr>
          <a:lstStyle/>
          <a:p>
            <a:r>
              <a:rPr kumimoji="1" lang="en-US" altLang="ja-JP" sz="2400" dirty="0" smtClean="0"/>
              <a:t>104</a:t>
            </a:r>
            <a:endParaRPr kumimoji="1" lang="ja-JP" altLang="en-US" sz="24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71414"/>
            <a:ext cx="8229600" cy="1143000"/>
          </a:xfrm>
        </p:spPr>
        <p:txBody>
          <a:bodyPr/>
          <a:lstStyle/>
          <a:p>
            <a:r>
              <a:rPr kumimoji="1" lang="ja-JP" altLang="en-US" dirty="0" smtClean="0"/>
              <a:t>アドレス</a:t>
            </a:r>
            <a:endParaRPr kumimoji="1" lang="ja-JP" altLang="en-US" dirty="0"/>
          </a:p>
        </p:txBody>
      </p:sp>
      <p:sp>
        <p:nvSpPr>
          <p:cNvPr id="4" name="テキスト ボックス 3"/>
          <p:cNvSpPr txBox="1"/>
          <p:nvPr/>
        </p:nvSpPr>
        <p:spPr>
          <a:xfrm>
            <a:off x="928662" y="1357298"/>
            <a:ext cx="2495940" cy="2246769"/>
          </a:xfrm>
          <a:prstGeom prst="rect">
            <a:avLst/>
          </a:prstGeom>
          <a:noFill/>
          <a:ln>
            <a:solidFill>
              <a:schemeClr val="tx1"/>
            </a:solidFill>
          </a:ln>
        </p:spPr>
        <p:txBody>
          <a:bodyPr wrap="none" rtlCol="0">
            <a:spAutoFit/>
          </a:bodyPr>
          <a:lstStyle/>
          <a:p>
            <a:r>
              <a:rPr lang="en-US" altLang="ja-JP" sz="2800" dirty="0" err="1" smtClean="0"/>
              <a:t>int</a:t>
            </a:r>
            <a:r>
              <a:rPr lang="en-US" altLang="ja-JP" sz="2800" dirty="0" smtClean="0"/>
              <a:t> main (void) {</a:t>
            </a:r>
          </a:p>
          <a:p>
            <a:r>
              <a:rPr lang="en-US" altLang="ja-JP" sz="2800" dirty="0" smtClean="0"/>
              <a:t>  char x[3] = {0};</a:t>
            </a:r>
          </a:p>
          <a:p>
            <a:r>
              <a:rPr kumimoji="1" lang="en-US" altLang="ja-JP" sz="2800" dirty="0" smtClean="0"/>
              <a:t>  x [2] = 1;</a:t>
            </a:r>
          </a:p>
          <a:p>
            <a:r>
              <a:rPr lang="en-US" altLang="ja-JP" sz="2800" dirty="0" smtClean="0"/>
              <a:t>  return 0;</a:t>
            </a:r>
          </a:p>
          <a:p>
            <a:r>
              <a:rPr kumimoji="1" lang="en-US" altLang="ja-JP" sz="2800" dirty="0" smtClean="0"/>
              <a:t>}</a:t>
            </a:r>
          </a:p>
        </p:txBody>
      </p:sp>
      <p:sp>
        <p:nvSpPr>
          <p:cNvPr id="5" name="テキスト ボックス 4"/>
          <p:cNvSpPr txBox="1"/>
          <p:nvPr/>
        </p:nvSpPr>
        <p:spPr>
          <a:xfrm>
            <a:off x="571472" y="4704718"/>
            <a:ext cx="7715304" cy="1569660"/>
          </a:xfrm>
          <a:prstGeom prst="rect">
            <a:avLst/>
          </a:prstGeom>
          <a:noFill/>
        </p:spPr>
        <p:txBody>
          <a:bodyPr wrap="square" rtlCol="0">
            <a:spAutoFit/>
          </a:bodyPr>
          <a:lstStyle/>
          <a:p>
            <a:r>
              <a:rPr lang="ja-JP" altLang="en-US" sz="2400" dirty="0" smtClean="0"/>
              <a:t>配列</a:t>
            </a:r>
            <a:r>
              <a:rPr lang="en-US" altLang="ja-JP" sz="2400" dirty="0" smtClean="0"/>
              <a:t>x</a:t>
            </a:r>
            <a:r>
              <a:rPr lang="ja-JP" altLang="en-US" sz="2400" dirty="0" smtClean="0"/>
              <a:t>用の領域が</a:t>
            </a:r>
            <a:r>
              <a:rPr lang="en-US" altLang="ja-JP" sz="2400" dirty="0" smtClean="0"/>
              <a:t>101</a:t>
            </a:r>
            <a:r>
              <a:rPr lang="ja-JP" altLang="en-US" sz="2400" dirty="0" smtClean="0"/>
              <a:t>から</a:t>
            </a:r>
            <a:r>
              <a:rPr lang="en-US" altLang="ja-JP" sz="2400" dirty="0" smtClean="0"/>
              <a:t>103</a:t>
            </a:r>
            <a:r>
              <a:rPr lang="ja-JP" altLang="en-US" sz="2400" dirty="0" smtClean="0"/>
              <a:t>番地だったとする。</a:t>
            </a:r>
            <a:r>
              <a:rPr kumimoji="1" lang="ja-JP" altLang="en-US" sz="2400" dirty="0" smtClean="0"/>
              <a:t>そのとき、</a:t>
            </a:r>
            <a:r>
              <a:rPr lang="ja-JP" altLang="en-US" sz="2400" dirty="0" smtClean="0"/>
              <a:t>式</a:t>
            </a:r>
            <a:r>
              <a:rPr lang="en-US" altLang="ja-JP" sz="2400" dirty="0" smtClean="0"/>
              <a:t>x[0]</a:t>
            </a:r>
            <a:r>
              <a:rPr lang="ja-JP" altLang="en-US" sz="2400" dirty="0" smtClean="0"/>
              <a:t>のアドレスは</a:t>
            </a:r>
            <a:r>
              <a:rPr lang="en-US" altLang="ja-JP" sz="2400" dirty="0" smtClean="0"/>
              <a:t>101, </a:t>
            </a:r>
            <a:r>
              <a:rPr lang="ja-JP" altLang="en-US" sz="2400" dirty="0" smtClean="0"/>
              <a:t>式</a:t>
            </a:r>
            <a:r>
              <a:rPr lang="en-US" altLang="ja-JP" sz="2400" dirty="0" smtClean="0"/>
              <a:t>x[1]</a:t>
            </a:r>
            <a:r>
              <a:rPr lang="ja-JP" altLang="en-US" sz="2400" dirty="0" smtClean="0"/>
              <a:t>のアドレスは</a:t>
            </a:r>
            <a:r>
              <a:rPr lang="en-US" altLang="ja-JP" sz="2400" dirty="0" smtClean="0"/>
              <a:t>102, </a:t>
            </a:r>
            <a:r>
              <a:rPr lang="ja-JP" altLang="en-US" sz="2400" dirty="0" smtClean="0"/>
              <a:t>式</a:t>
            </a:r>
            <a:r>
              <a:rPr lang="en-US" altLang="ja-JP" sz="2400" dirty="0" smtClean="0"/>
              <a:t>x[2]</a:t>
            </a:r>
            <a:r>
              <a:rPr lang="ja-JP" altLang="en-US" sz="2400" dirty="0" smtClean="0"/>
              <a:t>のアドレスは</a:t>
            </a:r>
            <a:r>
              <a:rPr lang="en-US" altLang="ja-JP" sz="2400" dirty="0" smtClean="0"/>
              <a:t>103</a:t>
            </a:r>
            <a:r>
              <a:rPr lang="ja-JP" altLang="en-US" sz="2400" dirty="0" smtClean="0"/>
              <a:t>である。また、初期状態では式</a:t>
            </a:r>
            <a:r>
              <a:rPr lang="en-US" altLang="ja-JP" sz="2400" dirty="0" smtClean="0"/>
              <a:t>x[0], x[1], x[2]</a:t>
            </a:r>
            <a:r>
              <a:rPr lang="ja-JP" altLang="en-US" sz="2400" dirty="0" smtClean="0"/>
              <a:t>の値は</a:t>
            </a:r>
            <a:r>
              <a:rPr lang="en-US" altLang="ja-JP" sz="2400" dirty="0" smtClean="0"/>
              <a:t>0</a:t>
            </a:r>
            <a:r>
              <a:rPr lang="ja-JP" altLang="en-US" sz="2400" dirty="0" err="1" smtClean="0"/>
              <a:t>、</a:t>
            </a:r>
            <a:r>
              <a:rPr lang="ja-JP" altLang="en-US" sz="2400" dirty="0" smtClean="0"/>
              <a:t>代入後は</a:t>
            </a:r>
            <a:r>
              <a:rPr lang="en-US" altLang="ja-JP" sz="2400" dirty="0" smtClean="0"/>
              <a:t>x[2]</a:t>
            </a:r>
            <a:r>
              <a:rPr lang="ja-JP" altLang="en-US" sz="2400" dirty="0" smtClean="0"/>
              <a:t>の値は</a:t>
            </a:r>
            <a:r>
              <a:rPr lang="en-US" altLang="ja-JP" sz="2400" dirty="0" smtClean="0"/>
              <a:t>1</a:t>
            </a:r>
            <a:r>
              <a:rPr lang="ja-JP" altLang="en-US" sz="2400" dirty="0" smtClean="0"/>
              <a:t>である。</a:t>
            </a:r>
            <a:endParaRPr kumimoji="1" lang="ja-JP" altLang="en-US" sz="2400" dirty="0"/>
          </a:p>
        </p:txBody>
      </p:sp>
      <p:graphicFrame>
        <p:nvGraphicFramePr>
          <p:cNvPr id="6" name="表 5"/>
          <p:cNvGraphicFramePr>
            <a:graphicFrameLocks noGrp="1"/>
          </p:cNvGraphicFramePr>
          <p:nvPr/>
        </p:nvGraphicFramePr>
        <p:xfrm>
          <a:off x="5286380" y="1285860"/>
          <a:ext cx="3000396" cy="3286150"/>
        </p:xfrm>
        <a:graphic>
          <a:graphicData uri="http://schemas.openxmlformats.org/drawingml/2006/table">
            <a:tbl>
              <a:tblPr firstRow="1" bandRow="1">
                <a:tableStyleId>{5C22544A-7EE6-4342-B048-85BDC9FD1C3A}</a:tableStyleId>
              </a:tblPr>
              <a:tblGrid>
                <a:gridCol w="3000396"/>
              </a:tblGrid>
              <a:tr h="657230">
                <a:tc>
                  <a:txBody>
                    <a:bodyPr/>
                    <a:lstStyle/>
                    <a:p>
                      <a:pPr algn="ctr"/>
                      <a:endParaRPr kumimoji="1" lang="ja-JP"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657230">
                <a:tc>
                  <a:txBody>
                    <a:bodyPr/>
                    <a:lstStyle/>
                    <a:p>
                      <a:pPr algn="ctr"/>
                      <a:r>
                        <a:rPr kumimoji="1" lang="en-US" altLang="ja-JP" sz="2800" dirty="0" smtClean="0"/>
                        <a:t>0</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57230">
                <a:tc>
                  <a:txBody>
                    <a:bodyPr/>
                    <a:lstStyle/>
                    <a:p>
                      <a:pPr algn="ctr"/>
                      <a:r>
                        <a:rPr kumimoji="1" lang="en-US" altLang="ja-JP" sz="2800" dirty="0" smtClean="0"/>
                        <a:t>0</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57230">
                <a:tc>
                  <a:txBody>
                    <a:bodyPr/>
                    <a:lstStyle/>
                    <a:p>
                      <a:pPr algn="ctr"/>
                      <a:r>
                        <a:rPr kumimoji="1" lang="en-US" altLang="ja-JP" sz="2800" dirty="0" smtClean="0"/>
                        <a:t>0</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57230">
                <a:tc>
                  <a:txBody>
                    <a:bodyPr/>
                    <a:lstStyle/>
                    <a:p>
                      <a:pPr algn="ctr"/>
                      <a:endParaRPr kumimoji="1" lang="ja-JP" altLang="en-US" sz="2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7" name="テキスト ボックス 6"/>
          <p:cNvSpPr txBox="1"/>
          <p:nvPr/>
        </p:nvSpPr>
        <p:spPr>
          <a:xfrm>
            <a:off x="4500562" y="1428736"/>
            <a:ext cx="651140" cy="461665"/>
          </a:xfrm>
          <a:prstGeom prst="rect">
            <a:avLst/>
          </a:prstGeom>
          <a:noFill/>
        </p:spPr>
        <p:txBody>
          <a:bodyPr wrap="none" rtlCol="0">
            <a:spAutoFit/>
          </a:bodyPr>
          <a:lstStyle/>
          <a:p>
            <a:r>
              <a:rPr kumimoji="1" lang="en-US" altLang="ja-JP" sz="2400" dirty="0" smtClean="0"/>
              <a:t>100</a:t>
            </a:r>
            <a:endParaRPr kumimoji="1" lang="ja-JP" altLang="en-US" sz="2400" dirty="0"/>
          </a:p>
        </p:txBody>
      </p:sp>
      <p:sp>
        <p:nvSpPr>
          <p:cNvPr id="8" name="テキスト ボックス 7"/>
          <p:cNvSpPr txBox="1"/>
          <p:nvPr/>
        </p:nvSpPr>
        <p:spPr>
          <a:xfrm>
            <a:off x="4500562" y="2071678"/>
            <a:ext cx="651140" cy="461665"/>
          </a:xfrm>
          <a:prstGeom prst="rect">
            <a:avLst/>
          </a:prstGeom>
          <a:noFill/>
        </p:spPr>
        <p:txBody>
          <a:bodyPr wrap="none" rtlCol="0">
            <a:spAutoFit/>
          </a:bodyPr>
          <a:lstStyle/>
          <a:p>
            <a:r>
              <a:rPr kumimoji="1" lang="en-US" altLang="ja-JP" sz="2400" dirty="0" smtClean="0"/>
              <a:t>101</a:t>
            </a:r>
            <a:endParaRPr kumimoji="1" lang="ja-JP" altLang="en-US" sz="2400" dirty="0"/>
          </a:p>
        </p:txBody>
      </p:sp>
      <p:sp>
        <p:nvSpPr>
          <p:cNvPr id="9" name="テキスト ボックス 8"/>
          <p:cNvSpPr txBox="1"/>
          <p:nvPr/>
        </p:nvSpPr>
        <p:spPr>
          <a:xfrm>
            <a:off x="4500562" y="2714620"/>
            <a:ext cx="651140" cy="461665"/>
          </a:xfrm>
          <a:prstGeom prst="rect">
            <a:avLst/>
          </a:prstGeom>
          <a:noFill/>
        </p:spPr>
        <p:txBody>
          <a:bodyPr wrap="none" rtlCol="0">
            <a:spAutoFit/>
          </a:bodyPr>
          <a:lstStyle/>
          <a:p>
            <a:r>
              <a:rPr kumimoji="1" lang="en-US" altLang="ja-JP" sz="2400" dirty="0" smtClean="0"/>
              <a:t>102</a:t>
            </a:r>
            <a:endParaRPr kumimoji="1" lang="ja-JP" altLang="en-US" sz="2400" dirty="0"/>
          </a:p>
        </p:txBody>
      </p:sp>
      <p:sp>
        <p:nvSpPr>
          <p:cNvPr id="10" name="テキスト ボックス 9"/>
          <p:cNvSpPr txBox="1"/>
          <p:nvPr/>
        </p:nvSpPr>
        <p:spPr>
          <a:xfrm>
            <a:off x="4492364" y="3357562"/>
            <a:ext cx="651140" cy="461665"/>
          </a:xfrm>
          <a:prstGeom prst="rect">
            <a:avLst/>
          </a:prstGeom>
          <a:noFill/>
        </p:spPr>
        <p:txBody>
          <a:bodyPr wrap="none" rtlCol="0">
            <a:spAutoFit/>
          </a:bodyPr>
          <a:lstStyle/>
          <a:p>
            <a:r>
              <a:rPr kumimoji="1" lang="en-US" altLang="ja-JP" sz="2400" dirty="0" smtClean="0"/>
              <a:t>103</a:t>
            </a:r>
            <a:endParaRPr kumimoji="1" lang="ja-JP" altLang="en-US" sz="2400" dirty="0"/>
          </a:p>
        </p:txBody>
      </p:sp>
      <p:sp>
        <p:nvSpPr>
          <p:cNvPr id="11" name="テキスト ボックス 10"/>
          <p:cNvSpPr txBox="1"/>
          <p:nvPr/>
        </p:nvSpPr>
        <p:spPr>
          <a:xfrm>
            <a:off x="4492364" y="4071942"/>
            <a:ext cx="651140" cy="461665"/>
          </a:xfrm>
          <a:prstGeom prst="rect">
            <a:avLst/>
          </a:prstGeom>
          <a:noFill/>
        </p:spPr>
        <p:txBody>
          <a:bodyPr wrap="none" rtlCol="0">
            <a:spAutoFit/>
          </a:bodyPr>
          <a:lstStyle/>
          <a:p>
            <a:r>
              <a:rPr kumimoji="1" lang="en-US" altLang="ja-JP" sz="2400" dirty="0" smtClean="0"/>
              <a:t>104</a:t>
            </a:r>
            <a:endParaRPr kumimoji="1" lang="ja-JP" altLang="en-US" sz="24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lstStyle/>
          <a:p>
            <a:r>
              <a:rPr kumimoji="1" lang="ja-JP" altLang="en-US" dirty="0" smtClean="0"/>
              <a:t>＆演算子</a:t>
            </a:r>
            <a:endParaRPr kumimoji="1" lang="ja-JP" altLang="en-US" dirty="0"/>
          </a:p>
        </p:txBody>
      </p:sp>
      <p:sp>
        <p:nvSpPr>
          <p:cNvPr id="4" name="テキスト ボックス 3"/>
          <p:cNvSpPr txBox="1"/>
          <p:nvPr/>
        </p:nvSpPr>
        <p:spPr>
          <a:xfrm>
            <a:off x="642910" y="1463465"/>
            <a:ext cx="8072494" cy="5262979"/>
          </a:xfrm>
          <a:prstGeom prst="rect">
            <a:avLst/>
          </a:prstGeom>
          <a:noFill/>
        </p:spPr>
        <p:txBody>
          <a:bodyPr wrap="square" rtlCol="0">
            <a:spAutoFit/>
          </a:bodyPr>
          <a:lstStyle/>
          <a:p>
            <a:r>
              <a:rPr lang="ja-JP" altLang="en-US" sz="2800" dirty="0" smtClean="0"/>
              <a:t>変数や配列の要素のアドレスを取得する演算子が＆演算子である。例えば、</a:t>
            </a:r>
            <a:endParaRPr lang="en-US" altLang="ja-JP" sz="2800" dirty="0" smtClean="0"/>
          </a:p>
          <a:p>
            <a:r>
              <a:rPr kumimoji="1" lang="en-US" altLang="ja-JP" sz="2800" dirty="0" smtClean="0"/>
              <a:t>   </a:t>
            </a:r>
            <a:r>
              <a:rPr kumimoji="1" lang="en-US" altLang="ja-JP" sz="2800" dirty="0" err="1" smtClean="0"/>
              <a:t>int</a:t>
            </a:r>
            <a:r>
              <a:rPr kumimoji="1" lang="en-US" altLang="ja-JP" sz="2800" dirty="0" smtClean="0"/>
              <a:t> x;</a:t>
            </a:r>
          </a:p>
          <a:p>
            <a:r>
              <a:rPr lang="ja-JP" altLang="en-US" sz="2800" dirty="0" smtClean="0"/>
              <a:t>という宣言の下で、</a:t>
            </a:r>
            <a:r>
              <a:rPr lang="en-US" altLang="ja-JP" sz="2800" dirty="0" smtClean="0"/>
              <a:t>&amp;</a:t>
            </a:r>
            <a:r>
              <a:rPr lang="ja-JP" altLang="en-US" sz="2800" dirty="0" smtClean="0"/>
              <a:t>を</a:t>
            </a:r>
            <a:r>
              <a:rPr lang="en-US" altLang="ja-JP" sz="2800" dirty="0" smtClean="0"/>
              <a:t>x</a:t>
            </a:r>
            <a:r>
              <a:rPr lang="ja-JP" altLang="en-US" sz="2800" dirty="0" smtClean="0"/>
              <a:t>に適用することによって、変数</a:t>
            </a:r>
            <a:r>
              <a:rPr lang="en-US" altLang="ja-JP" sz="2800" dirty="0" smtClean="0"/>
              <a:t>x</a:t>
            </a:r>
            <a:r>
              <a:rPr lang="ja-JP" altLang="en-US" sz="2800" dirty="0" smtClean="0"/>
              <a:t>の領域のアドレスを取得できる。</a:t>
            </a:r>
            <a:endParaRPr lang="en-US" altLang="ja-JP" sz="2800" dirty="0" smtClean="0"/>
          </a:p>
          <a:p>
            <a:endParaRPr lang="en-US" altLang="ja-JP" sz="2800" dirty="0" smtClean="0"/>
          </a:p>
          <a:p>
            <a:r>
              <a:rPr lang="en-US" altLang="ja-JP" sz="2800" dirty="0" smtClean="0"/>
              <a:t>&amp;</a:t>
            </a:r>
            <a:r>
              <a:rPr lang="ja-JP" altLang="en-US" sz="2800" dirty="0" smtClean="0"/>
              <a:t>演算子をアドレス演算子とも言う。</a:t>
            </a:r>
            <a:endParaRPr lang="en-US" altLang="ja-JP" sz="2800" dirty="0" smtClean="0"/>
          </a:p>
          <a:p>
            <a:endParaRPr lang="en-US" altLang="ja-JP" sz="2800" dirty="0" smtClean="0"/>
          </a:p>
          <a:p>
            <a:r>
              <a:rPr lang="ja-JP" altLang="en-US" sz="2800" dirty="0" smtClean="0"/>
              <a:t>（他の例）</a:t>
            </a:r>
            <a:endParaRPr lang="en-US" altLang="ja-JP" sz="2800" dirty="0" smtClean="0"/>
          </a:p>
          <a:p>
            <a:r>
              <a:rPr lang="en-US" altLang="ja-JP" sz="2800" dirty="0" smtClean="0"/>
              <a:t>   </a:t>
            </a:r>
            <a:r>
              <a:rPr lang="en-US" altLang="ja-JP" sz="2800" dirty="0" err="1" smtClean="0"/>
              <a:t>int</a:t>
            </a:r>
            <a:r>
              <a:rPr lang="en-US" altLang="ja-JP" sz="2800" dirty="0" smtClean="0"/>
              <a:t> a [5];</a:t>
            </a:r>
          </a:p>
          <a:p>
            <a:r>
              <a:rPr lang="ja-JP" altLang="en-US" sz="2800" dirty="0" smtClean="0"/>
              <a:t>という宣言下で、</a:t>
            </a:r>
            <a:r>
              <a:rPr lang="en-US" altLang="ja-JP" sz="2800" dirty="0" smtClean="0"/>
              <a:t>&amp; </a:t>
            </a:r>
            <a:r>
              <a:rPr lang="ja-JP" altLang="en-US" sz="2800" dirty="0" smtClean="0"/>
              <a:t>を </a:t>
            </a:r>
            <a:r>
              <a:rPr lang="en-US" altLang="ja-JP" sz="2800" dirty="0" smtClean="0"/>
              <a:t>a[2]</a:t>
            </a:r>
            <a:r>
              <a:rPr lang="ja-JP" altLang="en-US" sz="2800" dirty="0" smtClean="0"/>
              <a:t>に適用すると、配列</a:t>
            </a:r>
            <a:r>
              <a:rPr lang="en-US" altLang="ja-JP" sz="2800" dirty="0" smtClean="0"/>
              <a:t>a</a:t>
            </a:r>
            <a:r>
              <a:rPr lang="ja-JP" altLang="en-US" sz="2800" dirty="0" smtClean="0"/>
              <a:t>の</a:t>
            </a:r>
            <a:r>
              <a:rPr lang="en-US" altLang="ja-JP" sz="2800" dirty="0" smtClean="0"/>
              <a:t>2</a:t>
            </a:r>
            <a:r>
              <a:rPr lang="ja-JP" altLang="en-US" sz="2800" dirty="0" smtClean="0"/>
              <a:t>番目（</a:t>
            </a:r>
            <a:r>
              <a:rPr lang="en-US" altLang="ja-JP" sz="2800" dirty="0" smtClean="0"/>
              <a:t>0</a:t>
            </a:r>
            <a:r>
              <a:rPr lang="ja-JP" altLang="en-US" sz="2800" dirty="0" smtClean="0"/>
              <a:t>から数えて）の領域のアドレスが得られる。</a:t>
            </a:r>
            <a:endParaRPr lang="en-US" altLang="ja-JP" sz="2800" dirty="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例（打ち込んで確認）</a:t>
            </a:r>
            <a:endParaRPr kumimoji="1" lang="ja-JP" altLang="en-US" dirty="0"/>
          </a:p>
        </p:txBody>
      </p:sp>
      <p:sp>
        <p:nvSpPr>
          <p:cNvPr id="4" name="テキスト ボックス 3"/>
          <p:cNvSpPr txBox="1"/>
          <p:nvPr/>
        </p:nvSpPr>
        <p:spPr>
          <a:xfrm>
            <a:off x="714348" y="1285860"/>
            <a:ext cx="3493264" cy="523220"/>
          </a:xfrm>
          <a:prstGeom prst="rect">
            <a:avLst/>
          </a:prstGeom>
          <a:noFill/>
        </p:spPr>
        <p:txBody>
          <a:bodyPr wrap="none" rtlCol="0">
            <a:spAutoFit/>
          </a:bodyPr>
          <a:lstStyle/>
          <a:p>
            <a:r>
              <a:rPr lang="ja-JP" altLang="en-US" sz="2800" dirty="0" smtClean="0"/>
              <a:t>変数のアドレスを表示</a:t>
            </a:r>
            <a:endParaRPr kumimoji="1" lang="ja-JP" altLang="en-US" sz="2800" dirty="0"/>
          </a:p>
        </p:txBody>
      </p:sp>
      <p:sp>
        <p:nvSpPr>
          <p:cNvPr id="5" name="テキスト ボックス 4"/>
          <p:cNvSpPr txBox="1"/>
          <p:nvPr/>
        </p:nvSpPr>
        <p:spPr>
          <a:xfrm>
            <a:off x="642910" y="5857892"/>
            <a:ext cx="7858180" cy="830997"/>
          </a:xfrm>
          <a:prstGeom prst="rect">
            <a:avLst/>
          </a:prstGeom>
          <a:noFill/>
        </p:spPr>
        <p:txBody>
          <a:bodyPr wrap="square" rtlCol="0">
            <a:spAutoFit/>
          </a:bodyPr>
          <a:lstStyle/>
          <a:p>
            <a:r>
              <a:rPr kumimoji="1" lang="ja-JP" altLang="en-US" sz="2400" dirty="0" smtClean="0"/>
              <a:t>（補足）アドレスは、実際の物理メモリ上のアドレスを表しているとは限らない。</a:t>
            </a:r>
            <a:endParaRPr kumimoji="1" lang="ja-JP" altLang="en-US" sz="2400" dirty="0"/>
          </a:p>
        </p:txBody>
      </p:sp>
      <p:sp>
        <p:nvSpPr>
          <p:cNvPr id="6" name="正方形/長方形 5"/>
          <p:cNvSpPr/>
          <p:nvPr/>
        </p:nvSpPr>
        <p:spPr>
          <a:xfrm>
            <a:off x="642910" y="5000636"/>
            <a:ext cx="7858180" cy="830997"/>
          </a:xfrm>
          <a:prstGeom prst="rect">
            <a:avLst/>
          </a:prstGeom>
        </p:spPr>
        <p:txBody>
          <a:bodyPr wrap="square">
            <a:spAutoFit/>
          </a:bodyPr>
          <a:lstStyle/>
          <a:p>
            <a:r>
              <a:rPr lang="ja-JP" altLang="en-US" sz="2400" dirty="0" smtClean="0"/>
              <a:t>（注意）関数呼び出しの系列によって、あるいはプログラムの実行毎に、変数用の領域の場所は変わる。</a:t>
            </a:r>
            <a:endParaRPr lang="en-US" altLang="ja-JP" sz="2400" dirty="0" smtClean="0"/>
          </a:p>
        </p:txBody>
      </p:sp>
      <p:sp>
        <p:nvSpPr>
          <p:cNvPr id="9" name="テキスト ボックス 8"/>
          <p:cNvSpPr txBox="1"/>
          <p:nvPr/>
        </p:nvSpPr>
        <p:spPr>
          <a:xfrm>
            <a:off x="6500826" y="3214686"/>
            <a:ext cx="2143140" cy="1200329"/>
          </a:xfrm>
          <a:prstGeom prst="rect">
            <a:avLst/>
          </a:prstGeom>
          <a:noFill/>
          <a:ln>
            <a:solidFill>
              <a:schemeClr val="tx1"/>
            </a:solidFill>
          </a:ln>
        </p:spPr>
        <p:txBody>
          <a:bodyPr wrap="square" rtlCol="0">
            <a:spAutoFit/>
          </a:bodyPr>
          <a:lstStyle/>
          <a:p>
            <a:r>
              <a:rPr lang="en-US" altLang="ja-JP" sz="2400" dirty="0" err="1" smtClean="0"/>
              <a:t>printf</a:t>
            </a:r>
            <a:r>
              <a:rPr lang="ja-JP" altLang="en-US" sz="2400" dirty="0" smtClean="0"/>
              <a:t>の変換指定には</a:t>
            </a:r>
            <a:r>
              <a:rPr lang="en-US" altLang="ja-JP" sz="2400" dirty="0" smtClean="0"/>
              <a:t>%p</a:t>
            </a:r>
            <a:r>
              <a:rPr lang="ja-JP" altLang="en-US" sz="2400" dirty="0" smtClean="0"/>
              <a:t>を用いる。</a:t>
            </a:r>
            <a:endParaRPr kumimoji="1" lang="ja-JP" altLang="en-US" sz="2400" dirty="0"/>
          </a:p>
        </p:txBody>
      </p:sp>
      <p:sp>
        <p:nvSpPr>
          <p:cNvPr id="10" name="正方形/長方形 9"/>
          <p:cNvSpPr/>
          <p:nvPr/>
        </p:nvSpPr>
        <p:spPr>
          <a:xfrm>
            <a:off x="1000100" y="1857364"/>
            <a:ext cx="5357850" cy="3046988"/>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x;</a:t>
            </a:r>
          </a:p>
          <a:p>
            <a:r>
              <a:rPr lang="en-US" altLang="ja-JP" sz="2400" dirty="0" smtClean="0"/>
              <a:t>  double y;</a:t>
            </a:r>
          </a:p>
          <a:p>
            <a:r>
              <a:rPr lang="en-US" altLang="ja-JP" sz="2400" dirty="0" smtClean="0"/>
              <a:t>  </a:t>
            </a:r>
            <a:r>
              <a:rPr lang="en-US" altLang="ja-JP" sz="2400" dirty="0" err="1" smtClean="0"/>
              <a:t>printf</a:t>
            </a:r>
            <a:r>
              <a:rPr lang="en-US" altLang="ja-JP" sz="2400" dirty="0" smtClean="0"/>
              <a:t> ("The address of x is </a:t>
            </a:r>
            <a:r>
              <a:rPr lang="en-US" altLang="ja-JP" sz="2400" dirty="0" smtClean="0">
                <a:solidFill>
                  <a:srgbClr val="FF0000"/>
                </a:solidFill>
              </a:rPr>
              <a:t>%p</a:t>
            </a:r>
            <a:r>
              <a:rPr lang="en-US" altLang="ja-JP" sz="2400" dirty="0" smtClean="0"/>
              <a:t>.\n", &amp;x);</a:t>
            </a:r>
          </a:p>
          <a:p>
            <a:r>
              <a:rPr lang="en-US" altLang="ja-JP" sz="2400" dirty="0" smtClean="0"/>
              <a:t>  </a:t>
            </a:r>
            <a:r>
              <a:rPr lang="en-US" altLang="ja-JP" sz="2400" dirty="0" err="1" smtClean="0"/>
              <a:t>printf</a:t>
            </a:r>
            <a:r>
              <a:rPr lang="en-US" altLang="ja-JP" sz="2400" dirty="0" smtClean="0"/>
              <a:t> ("The address of y is </a:t>
            </a:r>
            <a:r>
              <a:rPr lang="en-US" altLang="ja-JP" sz="2400" dirty="0" smtClean="0">
                <a:solidFill>
                  <a:srgbClr val="FF0000"/>
                </a:solidFill>
              </a:rPr>
              <a:t>%p</a:t>
            </a:r>
            <a:r>
              <a:rPr lang="en-US" altLang="ja-JP" sz="2400" dirty="0" smtClean="0"/>
              <a:t>.\n", &amp;y);</a:t>
            </a:r>
          </a:p>
          <a:p>
            <a:r>
              <a:rPr lang="en-US" altLang="ja-JP" sz="2400" dirty="0" smtClean="0"/>
              <a:t>  return 0;</a:t>
            </a:r>
          </a:p>
          <a:p>
            <a:r>
              <a:rPr lang="en-US" altLang="ja-JP" sz="2400" dirty="0" smtClean="0"/>
              <a:t>}</a:t>
            </a:r>
            <a:endParaRPr lang="en-US" altLang="ja-JP" sz="24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例（打ち込んで確認）</a:t>
            </a:r>
            <a:endParaRPr kumimoji="1" lang="ja-JP" altLang="en-US" dirty="0"/>
          </a:p>
        </p:txBody>
      </p:sp>
      <p:sp>
        <p:nvSpPr>
          <p:cNvPr id="4" name="正方形/長方形 3"/>
          <p:cNvSpPr/>
          <p:nvPr/>
        </p:nvSpPr>
        <p:spPr>
          <a:xfrm>
            <a:off x="928662" y="1714488"/>
            <a:ext cx="7429536" cy="4401205"/>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a [5];</a:t>
            </a:r>
          </a:p>
          <a:p>
            <a:r>
              <a:rPr lang="en-US" altLang="ja-JP" sz="2800" dirty="0" smtClean="0"/>
              <a:t>  </a:t>
            </a:r>
            <a:r>
              <a:rPr lang="en-US" altLang="ja-JP" sz="2800" dirty="0" err="1" smtClean="0"/>
              <a:t>printf</a:t>
            </a:r>
            <a:r>
              <a:rPr lang="en-US" altLang="ja-JP" sz="2800" dirty="0" smtClean="0"/>
              <a:t> ("The address of a[0] is %p.\n", &amp;a[0]);</a:t>
            </a:r>
          </a:p>
          <a:p>
            <a:r>
              <a:rPr lang="en-US" altLang="ja-JP" sz="2800" dirty="0" smtClean="0"/>
              <a:t>  </a:t>
            </a:r>
            <a:r>
              <a:rPr lang="en-US" altLang="ja-JP" sz="2800" dirty="0" err="1" smtClean="0"/>
              <a:t>printf</a:t>
            </a:r>
            <a:r>
              <a:rPr lang="en-US" altLang="ja-JP" sz="2800" dirty="0" smtClean="0"/>
              <a:t> ("The address of a[1] is %p.\n", &amp;a[1]);</a:t>
            </a:r>
          </a:p>
          <a:p>
            <a:r>
              <a:rPr lang="en-US" altLang="ja-JP" sz="2800" dirty="0" smtClean="0"/>
              <a:t>  </a:t>
            </a:r>
            <a:r>
              <a:rPr lang="en-US" altLang="ja-JP" sz="2800" dirty="0" err="1" smtClean="0"/>
              <a:t>printf</a:t>
            </a:r>
            <a:r>
              <a:rPr lang="en-US" altLang="ja-JP" sz="2800" dirty="0" smtClean="0"/>
              <a:t> ("The address of a[2] is %p.\n", &amp;a[2]);</a:t>
            </a:r>
          </a:p>
          <a:p>
            <a:r>
              <a:rPr lang="en-US" altLang="ja-JP" sz="2800" dirty="0" smtClean="0"/>
              <a:t>  </a:t>
            </a:r>
            <a:r>
              <a:rPr lang="en-US" altLang="ja-JP" sz="2800" dirty="0" err="1" smtClean="0"/>
              <a:t>printf</a:t>
            </a:r>
            <a:r>
              <a:rPr lang="en-US" altLang="ja-JP" sz="2800" dirty="0" smtClean="0"/>
              <a:t> ("The address of a[3] is %p.\n", &amp;a[3]);</a:t>
            </a:r>
          </a:p>
          <a:p>
            <a:r>
              <a:rPr lang="en-US" altLang="ja-JP" sz="2800" dirty="0" smtClean="0"/>
              <a:t>  </a:t>
            </a:r>
            <a:r>
              <a:rPr lang="en-US" altLang="ja-JP" sz="2800" dirty="0" err="1" smtClean="0"/>
              <a:t>printf</a:t>
            </a:r>
            <a:r>
              <a:rPr lang="en-US" altLang="ja-JP" sz="2800" dirty="0" smtClean="0"/>
              <a:t> ("The address of a[4] is %p.\n", &amp;a[4]);</a:t>
            </a:r>
          </a:p>
          <a:p>
            <a:r>
              <a:rPr lang="en-US" altLang="ja-JP" sz="2800" dirty="0" smtClean="0"/>
              <a:t>  return 0;</a:t>
            </a:r>
          </a:p>
          <a:p>
            <a:r>
              <a:rPr lang="en-US" altLang="ja-JP" sz="2800" dirty="0" smtClean="0"/>
              <a:t>}</a:t>
            </a:r>
            <a:endParaRPr lang="en-US" altLang="ja-JP" sz="28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kumimoji="1" lang="ja-JP" altLang="en-US" dirty="0" smtClean="0"/>
              <a:t>ポインタ</a:t>
            </a:r>
            <a:endParaRPr kumimoji="1" lang="ja-JP" altLang="en-US" dirty="0"/>
          </a:p>
        </p:txBody>
      </p:sp>
      <p:sp>
        <p:nvSpPr>
          <p:cNvPr id="4" name="正方形/長方形 3"/>
          <p:cNvSpPr/>
          <p:nvPr/>
        </p:nvSpPr>
        <p:spPr>
          <a:xfrm>
            <a:off x="642910" y="1071546"/>
            <a:ext cx="7786742" cy="5693866"/>
          </a:xfrm>
          <a:prstGeom prst="rect">
            <a:avLst/>
          </a:prstGeom>
        </p:spPr>
        <p:txBody>
          <a:bodyPr wrap="square">
            <a:spAutoFit/>
          </a:bodyPr>
          <a:lstStyle/>
          <a:p>
            <a:r>
              <a:rPr lang="en-US" altLang="ja-JP" sz="2800" dirty="0" smtClean="0"/>
              <a:t>&amp;</a:t>
            </a:r>
            <a:r>
              <a:rPr lang="ja-JP" altLang="en-US" sz="2800" dirty="0" smtClean="0"/>
              <a:t>演算子の適用対象の式の型が</a:t>
            </a:r>
            <a:r>
              <a:rPr lang="en-US" altLang="ja-JP" sz="2800" dirty="0" smtClean="0"/>
              <a:t>t</a:t>
            </a:r>
            <a:r>
              <a:rPr lang="ja-JP" altLang="en-US" sz="2800" dirty="0" smtClean="0"/>
              <a:t>型のとき、式</a:t>
            </a:r>
            <a:r>
              <a:rPr lang="en-US" altLang="ja-JP" sz="2800" dirty="0" smtClean="0"/>
              <a:t>&amp;e</a:t>
            </a:r>
            <a:r>
              <a:rPr lang="ja-JP" altLang="en-US" sz="2800" dirty="0" smtClean="0"/>
              <a:t>の型は</a:t>
            </a:r>
            <a:r>
              <a:rPr lang="en-US" altLang="ja-JP" sz="2800" dirty="0" smtClean="0"/>
              <a:t>t * </a:t>
            </a:r>
            <a:r>
              <a:rPr lang="ja-JP" altLang="en-US" sz="2800" dirty="0" smtClean="0"/>
              <a:t>型（型</a:t>
            </a:r>
            <a:r>
              <a:rPr lang="en-US" altLang="ja-JP" sz="2800" dirty="0" smtClean="0"/>
              <a:t>t</a:t>
            </a:r>
            <a:r>
              <a:rPr lang="ja-JP" altLang="en-US" sz="2800" dirty="0" err="1" smtClean="0"/>
              <a:t>への</a:t>
            </a:r>
            <a:r>
              <a:rPr lang="ja-JP" altLang="en-US" sz="2800" dirty="0" smtClean="0"/>
              <a:t>ポインタ型と読む）である。</a:t>
            </a:r>
            <a:endParaRPr lang="en-US" altLang="ja-JP" sz="2800" dirty="0" smtClean="0"/>
          </a:p>
          <a:p>
            <a:r>
              <a:rPr lang="ja-JP" altLang="en-US" sz="2800" dirty="0" smtClean="0"/>
              <a:t>また、式</a:t>
            </a:r>
            <a:r>
              <a:rPr lang="en-US" altLang="ja-JP" sz="2800" dirty="0" smtClean="0"/>
              <a:t>&amp;e</a:t>
            </a:r>
            <a:r>
              <a:rPr lang="ja-JP" altLang="en-US" sz="2800" dirty="0" smtClean="0"/>
              <a:t>の値（アドレス）を、通常、「</a:t>
            </a:r>
            <a:r>
              <a:rPr lang="en-US" altLang="ja-JP" sz="2800" dirty="0" smtClean="0"/>
              <a:t>e</a:t>
            </a:r>
            <a:r>
              <a:rPr lang="ja-JP" altLang="en-US" sz="2800" dirty="0" err="1" smtClean="0"/>
              <a:t>への</a:t>
            </a:r>
            <a:r>
              <a:rPr lang="ja-JP" altLang="en-US" sz="2800" dirty="0" smtClean="0"/>
              <a:t>ポインタ」と表現する。</a:t>
            </a:r>
            <a:endParaRPr lang="en-US" altLang="ja-JP" sz="2800" dirty="0" smtClean="0"/>
          </a:p>
          <a:p>
            <a:r>
              <a:rPr lang="ja-JP" altLang="en-US" sz="2800" dirty="0" smtClean="0"/>
              <a:t>例えば、</a:t>
            </a:r>
            <a:endParaRPr lang="en-US" altLang="ja-JP" sz="2800" dirty="0" smtClean="0"/>
          </a:p>
          <a:p>
            <a:r>
              <a:rPr lang="en-US" altLang="ja-JP" sz="2800" dirty="0" smtClean="0"/>
              <a:t>    </a:t>
            </a:r>
            <a:r>
              <a:rPr lang="en-US" altLang="ja-JP" sz="2800" dirty="0" err="1" smtClean="0"/>
              <a:t>int</a:t>
            </a:r>
            <a:r>
              <a:rPr lang="en-US" altLang="ja-JP" sz="2800" dirty="0" smtClean="0"/>
              <a:t> y;</a:t>
            </a:r>
          </a:p>
          <a:p>
            <a:r>
              <a:rPr lang="ja-JP" altLang="en-US" sz="2800" dirty="0" smtClean="0"/>
              <a:t>という宣言下で、</a:t>
            </a:r>
            <a:r>
              <a:rPr lang="en-US" altLang="ja-JP" sz="2800" dirty="0" smtClean="0"/>
              <a:t>&amp;y</a:t>
            </a:r>
            <a:r>
              <a:rPr lang="ja-JP" altLang="en-US" sz="2800" dirty="0" smtClean="0"/>
              <a:t>という式の型は </a:t>
            </a:r>
            <a:r>
              <a:rPr lang="en-US" altLang="ja-JP" sz="2800" dirty="0" err="1" smtClean="0"/>
              <a:t>int</a:t>
            </a:r>
            <a:r>
              <a:rPr lang="en-US" altLang="ja-JP" sz="2800" dirty="0" smtClean="0"/>
              <a:t> * </a:t>
            </a:r>
            <a:r>
              <a:rPr lang="ja-JP" altLang="en-US" sz="2800" dirty="0" smtClean="0"/>
              <a:t>型である。</a:t>
            </a:r>
            <a:endParaRPr lang="en-US" altLang="ja-JP" sz="2800" dirty="0" smtClean="0"/>
          </a:p>
          <a:p>
            <a:r>
              <a:rPr lang="ja-JP" altLang="en-US" sz="2800" dirty="0" smtClean="0"/>
              <a:t>また、式</a:t>
            </a:r>
            <a:r>
              <a:rPr lang="en-US" altLang="ja-JP" sz="2800" dirty="0" smtClean="0"/>
              <a:t>&amp;y</a:t>
            </a:r>
            <a:r>
              <a:rPr lang="ja-JP" altLang="en-US" sz="2800" dirty="0" smtClean="0"/>
              <a:t>の値は、変数</a:t>
            </a:r>
            <a:r>
              <a:rPr lang="en-US" altLang="ja-JP" sz="2800" dirty="0" smtClean="0"/>
              <a:t>y</a:t>
            </a:r>
            <a:r>
              <a:rPr lang="ja-JP" altLang="en-US" sz="2800" dirty="0" err="1" smtClean="0"/>
              <a:t>への</a:t>
            </a:r>
            <a:r>
              <a:rPr lang="ja-JP" altLang="en-US" sz="2800" dirty="0" smtClean="0"/>
              <a:t>ポインタである。</a:t>
            </a:r>
            <a:endParaRPr lang="en-US" altLang="ja-JP" sz="2800" dirty="0" smtClean="0"/>
          </a:p>
          <a:p>
            <a:endParaRPr lang="en-US" altLang="ja-JP" sz="2800" dirty="0" smtClean="0"/>
          </a:p>
          <a:p>
            <a:r>
              <a:rPr lang="ja-JP" altLang="en-US" sz="2800" dirty="0" smtClean="0"/>
              <a:t>ポインタの型によって、ポインタが指している先の型情報が分かる（のでコンパイル時に型に関する整合性の検査ができる）。また、ポインタに対する足し算、引き算（後述）の意味が型によって異なる。</a:t>
            </a:r>
            <a:endParaRPr lang="ja-JP" altLang="en-US" sz="28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アドレス演算子＆</a:t>
            </a:r>
            <a:endParaRPr kumimoji="1" lang="ja-JP" altLang="en-US" dirty="0"/>
          </a:p>
        </p:txBody>
      </p:sp>
      <p:sp>
        <p:nvSpPr>
          <p:cNvPr id="4" name="テキスト ボックス 3"/>
          <p:cNvSpPr txBox="1"/>
          <p:nvPr/>
        </p:nvSpPr>
        <p:spPr>
          <a:xfrm>
            <a:off x="857224" y="1428736"/>
            <a:ext cx="4621778" cy="523220"/>
          </a:xfrm>
          <a:prstGeom prst="rect">
            <a:avLst/>
          </a:prstGeom>
          <a:noFill/>
        </p:spPr>
        <p:txBody>
          <a:bodyPr wrap="none" rtlCol="0">
            <a:spAutoFit/>
          </a:bodyPr>
          <a:lstStyle/>
          <a:p>
            <a:r>
              <a:rPr lang="ja-JP" altLang="en-US" sz="2800" dirty="0" smtClean="0"/>
              <a:t>アドレス演算子適用式の構文</a:t>
            </a:r>
            <a:endParaRPr lang="en-US" altLang="ja-JP" sz="2800" dirty="0" smtClean="0"/>
          </a:p>
        </p:txBody>
      </p:sp>
      <p:sp>
        <p:nvSpPr>
          <p:cNvPr id="5" name="テキスト ボックス 4"/>
          <p:cNvSpPr txBox="1"/>
          <p:nvPr/>
        </p:nvSpPr>
        <p:spPr>
          <a:xfrm>
            <a:off x="1643042" y="1928802"/>
            <a:ext cx="788999" cy="523220"/>
          </a:xfrm>
          <a:prstGeom prst="rect">
            <a:avLst/>
          </a:prstGeom>
          <a:solidFill>
            <a:srgbClr val="FFFF00"/>
          </a:solidFill>
          <a:ln>
            <a:solidFill>
              <a:schemeClr val="tx1"/>
            </a:solidFill>
          </a:ln>
        </p:spPr>
        <p:txBody>
          <a:bodyPr wrap="none" rtlCol="0">
            <a:spAutoFit/>
          </a:bodyPr>
          <a:lstStyle/>
          <a:p>
            <a:r>
              <a:rPr kumimoji="1" lang="en-US" altLang="ja-JP" sz="2800" dirty="0" smtClean="0"/>
              <a:t>&amp;</a:t>
            </a:r>
            <a:r>
              <a:rPr kumimoji="1" lang="ja-JP" altLang="en-US" sz="2800" dirty="0" smtClean="0"/>
              <a:t>式</a:t>
            </a:r>
            <a:endParaRPr kumimoji="1" lang="ja-JP" altLang="en-US" sz="2800" dirty="0"/>
          </a:p>
        </p:txBody>
      </p:sp>
      <p:sp>
        <p:nvSpPr>
          <p:cNvPr id="6" name="テキスト ボックス 5"/>
          <p:cNvSpPr txBox="1"/>
          <p:nvPr/>
        </p:nvSpPr>
        <p:spPr>
          <a:xfrm>
            <a:off x="785786" y="2500306"/>
            <a:ext cx="5290231" cy="523220"/>
          </a:xfrm>
          <a:prstGeom prst="rect">
            <a:avLst/>
          </a:prstGeom>
          <a:noFill/>
        </p:spPr>
        <p:txBody>
          <a:bodyPr wrap="none" rtlCol="0">
            <a:spAutoFit/>
          </a:bodyPr>
          <a:lstStyle/>
          <a:p>
            <a:r>
              <a:rPr kumimoji="1" lang="ja-JP" altLang="en-US" sz="2800" dirty="0" smtClean="0"/>
              <a:t>アドレス演算子適用式 </a:t>
            </a:r>
            <a:r>
              <a:rPr kumimoji="1" lang="en-US" altLang="ja-JP" sz="2800" dirty="0" smtClean="0"/>
              <a:t>&amp;e </a:t>
            </a:r>
            <a:r>
              <a:rPr kumimoji="1" lang="ja-JP" altLang="en-US" sz="2800" dirty="0" smtClean="0"/>
              <a:t>の意味</a:t>
            </a:r>
            <a:endParaRPr kumimoji="1" lang="ja-JP" altLang="en-US" sz="2800" dirty="0"/>
          </a:p>
        </p:txBody>
      </p:sp>
      <p:sp>
        <p:nvSpPr>
          <p:cNvPr id="7" name="テキスト ボックス 6"/>
          <p:cNvSpPr txBox="1"/>
          <p:nvPr/>
        </p:nvSpPr>
        <p:spPr>
          <a:xfrm>
            <a:off x="1571604" y="3115575"/>
            <a:ext cx="6072230" cy="1384995"/>
          </a:xfrm>
          <a:prstGeom prst="rect">
            <a:avLst/>
          </a:prstGeom>
          <a:solidFill>
            <a:srgbClr val="92D050"/>
          </a:solidFill>
          <a:ln>
            <a:solidFill>
              <a:schemeClr val="tx1"/>
            </a:solidFill>
          </a:ln>
        </p:spPr>
        <p:txBody>
          <a:bodyPr wrap="square" rtlCol="0">
            <a:spAutoFit/>
          </a:bodyPr>
          <a:lstStyle/>
          <a:p>
            <a:r>
              <a:rPr kumimoji="1" lang="ja-JP" altLang="en-US" sz="2800" dirty="0" smtClean="0"/>
              <a:t>式</a:t>
            </a:r>
            <a:r>
              <a:rPr kumimoji="1" lang="en-US" altLang="ja-JP" sz="2800" dirty="0" smtClean="0"/>
              <a:t>&amp;e</a:t>
            </a:r>
            <a:r>
              <a:rPr kumimoji="1" lang="ja-JP" altLang="en-US" sz="2800" dirty="0" smtClean="0"/>
              <a:t>の評価結果は式</a:t>
            </a:r>
            <a:r>
              <a:rPr kumimoji="1" lang="en-US" altLang="ja-JP" sz="2800" dirty="0" smtClean="0"/>
              <a:t>e</a:t>
            </a:r>
            <a:r>
              <a:rPr kumimoji="1" lang="ja-JP" altLang="en-US" sz="2800" dirty="0" smtClean="0"/>
              <a:t>のアドレスである。</a:t>
            </a:r>
            <a:r>
              <a:rPr lang="ja-JP" altLang="en-US" sz="2800" dirty="0" smtClean="0"/>
              <a:t>式</a:t>
            </a:r>
            <a:r>
              <a:rPr lang="en-US" altLang="ja-JP" sz="2800" dirty="0" smtClean="0"/>
              <a:t>e</a:t>
            </a:r>
            <a:r>
              <a:rPr lang="ja-JP" altLang="en-US" sz="2800" dirty="0" smtClean="0"/>
              <a:t>がアドレスを持たない式の場合、コンパイル時にエラーとなる。</a:t>
            </a:r>
            <a:endParaRPr lang="en-US" altLang="ja-JP" sz="2800" dirty="0" smtClean="0"/>
          </a:p>
        </p:txBody>
      </p:sp>
      <p:sp>
        <p:nvSpPr>
          <p:cNvPr id="8" name="テキスト ボックス 7"/>
          <p:cNvSpPr txBox="1"/>
          <p:nvPr/>
        </p:nvSpPr>
        <p:spPr>
          <a:xfrm>
            <a:off x="857224" y="4643446"/>
            <a:ext cx="4931158" cy="523220"/>
          </a:xfrm>
          <a:prstGeom prst="rect">
            <a:avLst/>
          </a:prstGeom>
          <a:noFill/>
        </p:spPr>
        <p:txBody>
          <a:bodyPr wrap="none" rtlCol="0">
            <a:spAutoFit/>
          </a:bodyPr>
          <a:lstStyle/>
          <a:p>
            <a:r>
              <a:rPr kumimoji="1" lang="ja-JP" altLang="en-US" sz="2800" dirty="0" smtClean="0"/>
              <a:t>アドレス演算子適用式 </a:t>
            </a:r>
            <a:r>
              <a:rPr kumimoji="1" lang="en-US" altLang="ja-JP" sz="2800" dirty="0" smtClean="0"/>
              <a:t>&amp;e </a:t>
            </a:r>
            <a:r>
              <a:rPr kumimoji="1" lang="ja-JP" altLang="en-US" sz="2800" dirty="0" smtClean="0"/>
              <a:t>の型</a:t>
            </a:r>
            <a:endParaRPr kumimoji="1" lang="ja-JP" altLang="en-US" sz="2800" dirty="0"/>
          </a:p>
        </p:txBody>
      </p:sp>
      <p:sp>
        <p:nvSpPr>
          <p:cNvPr id="10" name="テキスト ボックス 9"/>
          <p:cNvSpPr txBox="1"/>
          <p:nvPr/>
        </p:nvSpPr>
        <p:spPr>
          <a:xfrm>
            <a:off x="1571604" y="5286388"/>
            <a:ext cx="6286543" cy="954107"/>
          </a:xfrm>
          <a:prstGeom prst="rect">
            <a:avLst/>
          </a:prstGeom>
          <a:solidFill>
            <a:srgbClr val="FFC000"/>
          </a:solidFill>
          <a:ln>
            <a:solidFill>
              <a:schemeClr val="tx1"/>
            </a:solidFill>
          </a:ln>
        </p:spPr>
        <p:txBody>
          <a:bodyPr wrap="square" rtlCol="0">
            <a:spAutoFit/>
          </a:bodyPr>
          <a:lstStyle/>
          <a:p>
            <a:r>
              <a:rPr kumimoji="1" lang="ja-JP" altLang="en-US" sz="2800" dirty="0" smtClean="0"/>
              <a:t>式</a:t>
            </a:r>
            <a:r>
              <a:rPr kumimoji="1" lang="en-US" altLang="ja-JP" sz="2800" dirty="0" smtClean="0"/>
              <a:t>e</a:t>
            </a:r>
            <a:r>
              <a:rPr lang="ja-JP" altLang="en-US" sz="2800" dirty="0" smtClean="0"/>
              <a:t>の型が</a:t>
            </a:r>
            <a:r>
              <a:rPr kumimoji="1" lang="en-US" altLang="ja-JP" sz="2800" dirty="0" smtClean="0"/>
              <a:t>t</a:t>
            </a:r>
            <a:r>
              <a:rPr lang="ja-JP" altLang="en-US" sz="2800" dirty="0" smtClean="0"/>
              <a:t>型</a:t>
            </a:r>
            <a:r>
              <a:rPr kumimoji="1" lang="ja-JP" altLang="en-US" sz="2800" dirty="0" smtClean="0"/>
              <a:t>のとき、式</a:t>
            </a:r>
            <a:r>
              <a:rPr kumimoji="1" lang="en-US" altLang="ja-JP" sz="2800" dirty="0" smtClean="0"/>
              <a:t>&amp;e</a:t>
            </a:r>
            <a:r>
              <a:rPr kumimoji="1" lang="ja-JP" altLang="en-US" sz="2800" dirty="0" smtClean="0"/>
              <a:t>の型は</a:t>
            </a:r>
            <a:r>
              <a:rPr kumimoji="1" lang="en-US" altLang="ja-JP" sz="2800" dirty="0" smtClean="0"/>
              <a:t>t * </a:t>
            </a:r>
            <a:r>
              <a:rPr kumimoji="1" lang="ja-JP" altLang="en-US" sz="2800" dirty="0" smtClean="0"/>
              <a:t>型である。</a:t>
            </a:r>
            <a:endParaRPr kumimoji="1" lang="ja-JP" altLang="en-US" sz="28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ポインタ型の変数の宣言</a:t>
            </a:r>
            <a:endParaRPr kumimoji="1" lang="ja-JP" altLang="en-US" dirty="0"/>
          </a:p>
        </p:txBody>
      </p:sp>
      <p:sp>
        <p:nvSpPr>
          <p:cNvPr id="4" name="テキスト ボックス 3"/>
          <p:cNvSpPr txBox="1"/>
          <p:nvPr/>
        </p:nvSpPr>
        <p:spPr>
          <a:xfrm>
            <a:off x="928662" y="1500174"/>
            <a:ext cx="6622326" cy="954107"/>
          </a:xfrm>
          <a:prstGeom prst="rect">
            <a:avLst/>
          </a:prstGeom>
          <a:noFill/>
        </p:spPr>
        <p:txBody>
          <a:bodyPr wrap="none" rtlCol="0">
            <a:spAutoFit/>
          </a:bodyPr>
          <a:lstStyle/>
          <a:p>
            <a:r>
              <a:rPr kumimoji="1" lang="ja-JP" altLang="en-US" sz="2800" dirty="0" smtClean="0"/>
              <a:t>ポインタ型の変数を宣言することができる。</a:t>
            </a:r>
            <a:endParaRPr kumimoji="1" lang="en-US" altLang="ja-JP" sz="2800" dirty="0" smtClean="0"/>
          </a:p>
          <a:p>
            <a:r>
              <a:rPr lang="en-US" altLang="ja-JP" sz="2800" dirty="0" smtClean="0"/>
              <a:t>t *</a:t>
            </a:r>
            <a:r>
              <a:rPr lang="ja-JP" altLang="en-US" sz="2800" dirty="0" smtClean="0"/>
              <a:t>型の変数の宣言は以下の形で行う。</a:t>
            </a:r>
            <a:endParaRPr lang="en-US" altLang="ja-JP" sz="2800" dirty="0" smtClean="0"/>
          </a:p>
        </p:txBody>
      </p:sp>
      <p:sp>
        <p:nvSpPr>
          <p:cNvPr id="5" name="テキスト ボックス 4"/>
          <p:cNvSpPr txBox="1"/>
          <p:nvPr/>
        </p:nvSpPr>
        <p:spPr>
          <a:xfrm>
            <a:off x="1857356" y="2643182"/>
            <a:ext cx="1903085" cy="523220"/>
          </a:xfrm>
          <a:prstGeom prst="rect">
            <a:avLst/>
          </a:prstGeom>
          <a:solidFill>
            <a:srgbClr val="FFFF00"/>
          </a:solidFill>
          <a:ln>
            <a:solidFill>
              <a:schemeClr val="tx1"/>
            </a:solidFill>
          </a:ln>
        </p:spPr>
        <p:txBody>
          <a:bodyPr wrap="none" rtlCol="0">
            <a:spAutoFit/>
          </a:bodyPr>
          <a:lstStyle/>
          <a:p>
            <a:r>
              <a:rPr lang="en-US" altLang="ja-JP" sz="2800" dirty="0" smtClean="0"/>
              <a:t> t * </a:t>
            </a:r>
            <a:r>
              <a:rPr lang="ja-JP" altLang="en-US" sz="2800" dirty="0" smtClean="0"/>
              <a:t>変数名</a:t>
            </a:r>
            <a:r>
              <a:rPr lang="en-US" altLang="ja-JP" sz="2800" dirty="0" smtClean="0"/>
              <a:t>;</a:t>
            </a:r>
            <a:endParaRPr kumimoji="1" lang="ja-JP" altLang="en-US" sz="2800" dirty="0"/>
          </a:p>
        </p:txBody>
      </p:sp>
      <p:sp>
        <p:nvSpPr>
          <p:cNvPr id="6" name="テキスト ボックス 5"/>
          <p:cNvSpPr txBox="1"/>
          <p:nvPr/>
        </p:nvSpPr>
        <p:spPr>
          <a:xfrm>
            <a:off x="928662" y="3500438"/>
            <a:ext cx="7266605" cy="1384995"/>
          </a:xfrm>
          <a:prstGeom prst="rect">
            <a:avLst/>
          </a:prstGeom>
          <a:noFill/>
        </p:spPr>
        <p:txBody>
          <a:bodyPr wrap="none" rtlCol="0">
            <a:spAutoFit/>
          </a:bodyPr>
          <a:lstStyle/>
          <a:p>
            <a:r>
              <a:rPr lang="ja-JP" altLang="en-US" sz="2800" dirty="0" smtClean="0"/>
              <a:t>例えば、</a:t>
            </a:r>
            <a:r>
              <a:rPr lang="en-US" altLang="ja-JP" sz="2800" dirty="0" err="1" smtClean="0"/>
              <a:t>int</a:t>
            </a:r>
            <a:r>
              <a:rPr lang="ja-JP" altLang="en-US" sz="2800" dirty="0" smtClean="0"/>
              <a:t>型へのポインタ型の変数の宣言は、</a:t>
            </a:r>
            <a:endParaRPr lang="en-US" altLang="ja-JP" sz="2800" dirty="0" smtClean="0"/>
          </a:p>
          <a:p>
            <a:r>
              <a:rPr kumimoji="1" lang="en-US" altLang="ja-JP" sz="2800" dirty="0" smtClean="0"/>
              <a:t>    </a:t>
            </a:r>
            <a:r>
              <a:rPr kumimoji="1" lang="en-US" altLang="ja-JP" sz="2800" dirty="0" err="1" smtClean="0"/>
              <a:t>int</a:t>
            </a:r>
            <a:r>
              <a:rPr kumimoji="1" lang="en-US" altLang="ja-JP" sz="2800" dirty="0" smtClean="0"/>
              <a:t> *x;</a:t>
            </a:r>
          </a:p>
          <a:p>
            <a:r>
              <a:rPr lang="ja-JP" altLang="en-US" sz="2800" dirty="0" err="1" smtClean="0"/>
              <a:t>のように</a:t>
            </a:r>
            <a:r>
              <a:rPr lang="ja-JP" altLang="en-US" sz="2800" dirty="0" smtClean="0"/>
              <a:t>行う。</a:t>
            </a:r>
            <a:endParaRPr kumimoji="1" lang="ja-JP" altLang="en-US" sz="28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011222"/>
          </a:xfrm>
        </p:spPr>
        <p:txBody>
          <a:bodyPr/>
          <a:lstStyle/>
          <a:p>
            <a:r>
              <a:rPr kumimoji="1" lang="ja-JP" altLang="en-US" dirty="0" smtClean="0"/>
              <a:t>例</a:t>
            </a:r>
            <a:endParaRPr kumimoji="1" lang="ja-JP" altLang="en-US" dirty="0"/>
          </a:p>
        </p:txBody>
      </p:sp>
      <p:sp>
        <p:nvSpPr>
          <p:cNvPr id="6" name="正方形/長方形 5"/>
          <p:cNvSpPr/>
          <p:nvPr/>
        </p:nvSpPr>
        <p:spPr>
          <a:xfrm>
            <a:off x="1285852" y="1357298"/>
            <a:ext cx="6858000" cy="5262979"/>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x;</a:t>
            </a:r>
          </a:p>
          <a:p>
            <a:r>
              <a:rPr lang="en-US" altLang="ja-JP" sz="2800" dirty="0" smtClean="0"/>
              <a:t>  double y;</a:t>
            </a:r>
          </a:p>
          <a:p>
            <a:r>
              <a:rPr lang="en-US" altLang="ja-JP" sz="2800" dirty="0" smtClean="0"/>
              <a:t>  </a:t>
            </a:r>
            <a:r>
              <a:rPr lang="en-US" altLang="ja-JP" sz="2800" dirty="0" err="1" smtClean="0"/>
              <a:t>int</a:t>
            </a:r>
            <a:r>
              <a:rPr lang="en-US" altLang="ja-JP" sz="2800" dirty="0" smtClean="0"/>
              <a:t> *</a:t>
            </a:r>
            <a:r>
              <a:rPr lang="en-US" altLang="ja-JP" sz="2800" dirty="0" err="1" smtClean="0"/>
              <a:t>px</a:t>
            </a:r>
            <a:r>
              <a:rPr lang="en-US" altLang="ja-JP" sz="2800" dirty="0" smtClean="0"/>
              <a:t>;</a:t>
            </a:r>
          </a:p>
          <a:p>
            <a:r>
              <a:rPr lang="en-US" altLang="ja-JP" sz="2800" dirty="0" smtClean="0"/>
              <a:t>  double *</a:t>
            </a:r>
            <a:r>
              <a:rPr lang="en-US" altLang="ja-JP" sz="2800" dirty="0" err="1" smtClean="0"/>
              <a:t>py</a:t>
            </a:r>
            <a:r>
              <a:rPr lang="en-US" altLang="ja-JP" sz="2800" dirty="0" smtClean="0"/>
              <a:t>;</a:t>
            </a:r>
          </a:p>
          <a:p>
            <a:r>
              <a:rPr lang="en-US" altLang="ja-JP" sz="2800" dirty="0" smtClean="0"/>
              <a:t>  </a:t>
            </a:r>
            <a:r>
              <a:rPr lang="en-US" altLang="ja-JP" sz="2800" dirty="0" err="1" smtClean="0"/>
              <a:t>px</a:t>
            </a:r>
            <a:r>
              <a:rPr lang="en-US" altLang="ja-JP" sz="2800" dirty="0" smtClean="0"/>
              <a:t> = &amp;x;</a:t>
            </a:r>
          </a:p>
          <a:p>
            <a:r>
              <a:rPr lang="en-US" altLang="ja-JP" sz="2800" dirty="0" smtClean="0"/>
              <a:t>  </a:t>
            </a:r>
            <a:r>
              <a:rPr lang="en-US" altLang="ja-JP" sz="2800" dirty="0" err="1" smtClean="0"/>
              <a:t>py</a:t>
            </a:r>
            <a:r>
              <a:rPr lang="en-US" altLang="ja-JP" sz="2800" dirty="0" smtClean="0"/>
              <a:t> = &amp;y;</a:t>
            </a:r>
          </a:p>
          <a:p>
            <a:r>
              <a:rPr lang="en-US" altLang="ja-JP" sz="2800" dirty="0" smtClean="0"/>
              <a:t>  </a:t>
            </a:r>
            <a:r>
              <a:rPr lang="en-US" altLang="ja-JP" sz="2800" dirty="0" err="1" smtClean="0"/>
              <a:t>printf</a:t>
            </a:r>
            <a:r>
              <a:rPr lang="en-US" altLang="ja-JP" sz="2800" dirty="0" smtClean="0"/>
              <a:t> ("The address of x is %p.\n", </a:t>
            </a:r>
            <a:r>
              <a:rPr lang="en-US" altLang="ja-JP" sz="2800" dirty="0" err="1" smtClean="0"/>
              <a:t>px</a:t>
            </a:r>
            <a:r>
              <a:rPr lang="en-US" altLang="ja-JP" sz="2800" dirty="0" smtClean="0"/>
              <a:t>);</a:t>
            </a:r>
          </a:p>
          <a:p>
            <a:r>
              <a:rPr lang="en-US" altLang="ja-JP" sz="2800" dirty="0" smtClean="0"/>
              <a:t>  </a:t>
            </a:r>
            <a:r>
              <a:rPr lang="en-US" altLang="ja-JP" sz="2800" dirty="0" err="1" smtClean="0"/>
              <a:t>printf</a:t>
            </a:r>
            <a:r>
              <a:rPr lang="en-US" altLang="ja-JP" sz="2800" dirty="0" smtClean="0"/>
              <a:t> ("The address of y is %p.\n", </a:t>
            </a:r>
            <a:r>
              <a:rPr lang="en-US" altLang="ja-JP" sz="2800" dirty="0" err="1" smtClean="0"/>
              <a:t>py</a:t>
            </a:r>
            <a:r>
              <a:rPr lang="en-US" altLang="ja-JP" sz="2800" dirty="0" smtClean="0"/>
              <a:t>);</a:t>
            </a:r>
          </a:p>
          <a:p>
            <a:r>
              <a:rPr lang="en-US" altLang="ja-JP" sz="2800" dirty="0" smtClean="0"/>
              <a:t>  return 0;</a:t>
            </a:r>
          </a:p>
          <a:p>
            <a:r>
              <a:rPr lang="en-US" altLang="ja-JP" sz="2800" dirty="0" smtClean="0"/>
              <a:t>}</a:t>
            </a:r>
            <a:endParaRPr lang="en-US" altLang="ja-JP" sz="28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間接演算子 </a:t>
            </a:r>
            <a:r>
              <a:rPr lang="en-US" altLang="ja-JP" dirty="0" smtClean="0"/>
              <a:t>*</a:t>
            </a:r>
            <a:endParaRPr kumimoji="1" lang="ja-JP" altLang="en-US" dirty="0"/>
          </a:p>
        </p:txBody>
      </p:sp>
      <p:sp>
        <p:nvSpPr>
          <p:cNvPr id="4" name="テキスト ボックス 3"/>
          <p:cNvSpPr txBox="1"/>
          <p:nvPr/>
        </p:nvSpPr>
        <p:spPr>
          <a:xfrm>
            <a:off x="714349" y="1428736"/>
            <a:ext cx="7786742" cy="5262979"/>
          </a:xfrm>
          <a:prstGeom prst="rect">
            <a:avLst/>
          </a:prstGeom>
          <a:noFill/>
        </p:spPr>
        <p:txBody>
          <a:bodyPr wrap="square" rtlCol="0">
            <a:spAutoFit/>
          </a:bodyPr>
          <a:lstStyle/>
          <a:p>
            <a:r>
              <a:rPr lang="ja-JP" altLang="en-US" sz="2800" dirty="0" smtClean="0"/>
              <a:t>あるアドレスに格納されている値を取り出したいとする。そのとき、間接演算子</a:t>
            </a:r>
            <a:r>
              <a:rPr lang="en-US" altLang="ja-JP" sz="2800" dirty="0" smtClean="0"/>
              <a:t>*</a:t>
            </a:r>
            <a:r>
              <a:rPr lang="ja-JP" altLang="en-US" sz="2800" dirty="0" smtClean="0"/>
              <a:t>を用いる。</a:t>
            </a:r>
            <a:endParaRPr lang="en-US" altLang="ja-JP" sz="2800" dirty="0" smtClean="0"/>
          </a:p>
          <a:p>
            <a:endParaRPr kumimoji="1" lang="en-US" altLang="ja-JP" sz="2800" dirty="0" smtClean="0"/>
          </a:p>
          <a:p>
            <a:r>
              <a:rPr lang="ja-JP" altLang="en-US" sz="2800" dirty="0" smtClean="0"/>
              <a:t>例えば、</a:t>
            </a:r>
            <a:endParaRPr lang="en-US" altLang="ja-JP" sz="2800" dirty="0" smtClean="0"/>
          </a:p>
          <a:p>
            <a:r>
              <a:rPr kumimoji="1" lang="en-US" altLang="ja-JP" sz="2800" dirty="0" smtClean="0"/>
              <a:t>   </a:t>
            </a:r>
            <a:r>
              <a:rPr kumimoji="1" lang="en-US" altLang="ja-JP" sz="2800" dirty="0" err="1" smtClean="0"/>
              <a:t>int</a:t>
            </a:r>
            <a:r>
              <a:rPr kumimoji="1" lang="en-US" altLang="ja-JP" sz="2800" dirty="0" smtClean="0"/>
              <a:t> x = 5;</a:t>
            </a:r>
          </a:p>
          <a:p>
            <a:r>
              <a:rPr lang="en-US" altLang="ja-JP" sz="2800" dirty="0" smtClean="0"/>
              <a:t>   </a:t>
            </a:r>
            <a:r>
              <a:rPr lang="en-US" altLang="ja-JP" sz="2800" dirty="0" err="1" smtClean="0"/>
              <a:t>int</a:t>
            </a:r>
            <a:r>
              <a:rPr lang="en-US" altLang="ja-JP" sz="2800" dirty="0" smtClean="0"/>
              <a:t> *p;</a:t>
            </a:r>
          </a:p>
          <a:p>
            <a:r>
              <a:rPr kumimoji="1" lang="en-US" altLang="ja-JP" sz="2800" dirty="0" smtClean="0"/>
              <a:t>   p = &amp;x;</a:t>
            </a:r>
          </a:p>
          <a:p>
            <a:r>
              <a:rPr lang="ja-JP" altLang="en-US" sz="2800" dirty="0" smtClean="0"/>
              <a:t>という状況で、式</a:t>
            </a:r>
            <a:r>
              <a:rPr lang="en-US" altLang="ja-JP" sz="2800" dirty="0" smtClean="0"/>
              <a:t>*p</a:t>
            </a:r>
            <a:r>
              <a:rPr lang="ja-JP" altLang="en-US" sz="2800" dirty="0" smtClean="0"/>
              <a:t>は、</a:t>
            </a:r>
            <a:r>
              <a:rPr lang="en-US" altLang="ja-JP" sz="2800" dirty="0" smtClean="0"/>
              <a:t>5</a:t>
            </a:r>
            <a:r>
              <a:rPr lang="ja-JP" altLang="en-US" sz="2800" dirty="0" smtClean="0"/>
              <a:t>という値を持つ。</a:t>
            </a:r>
            <a:endParaRPr lang="en-US" altLang="ja-JP" sz="2800" dirty="0" smtClean="0"/>
          </a:p>
          <a:p>
            <a:r>
              <a:rPr kumimoji="1" lang="ja-JP" altLang="en-US" sz="2800" dirty="0" smtClean="0"/>
              <a:t>式</a:t>
            </a:r>
            <a:r>
              <a:rPr kumimoji="1" lang="en-US" altLang="ja-JP" sz="2800" dirty="0" smtClean="0"/>
              <a:t>*p</a:t>
            </a:r>
            <a:r>
              <a:rPr kumimoji="1" lang="ja-JP" altLang="en-US" sz="2800" dirty="0" smtClean="0"/>
              <a:t>は、</a:t>
            </a:r>
            <a:r>
              <a:rPr kumimoji="1" lang="en-US" altLang="ja-JP" sz="2800" dirty="0" smtClean="0"/>
              <a:t>p</a:t>
            </a:r>
            <a:r>
              <a:rPr kumimoji="1" lang="ja-JP" altLang="en-US" sz="2800" dirty="0" smtClean="0"/>
              <a:t>が変数</a:t>
            </a:r>
            <a:r>
              <a:rPr kumimoji="1" lang="en-US" altLang="ja-JP" sz="2800" dirty="0" smtClean="0"/>
              <a:t>x</a:t>
            </a:r>
            <a:r>
              <a:rPr kumimoji="1" lang="ja-JP" altLang="en-US" sz="2800" dirty="0" err="1" smtClean="0"/>
              <a:t>への</a:t>
            </a:r>
            <a:r>
              <a:rPr kumimoji="1" lang="ja-JP" altLang="en-US" sz="2800" dirty="0" smtClean="0"/>
              <a:t>ポインタの場合は、</a:t>
            </a:r>
            <a:r>
              <a:rPr kumimoji="1" lang="en-US" altLang="ja-JP" sz="2800" dirty="0" smtClean="0"/>
              <a:t>x</a:t>
            </a:r>
            <a:r>
              <a:rPr lang="ja-JP" altLang="en-US" sz="2800" dirty="0" smtClean="0"/>
              <a:t>の別名である。</a:t>
            </a:r>
            <a:r>
              <a:rPr lang="en-US" altLang="ja-JP" sz="2800" dirty="0" smtClean="0"/>
              <a:t>  (x</a:t>
            </a:r>
            <a:r>
              <a:rPr lang="ja-JP" altLang="en-US" sz="2800" dirty="0" smtClean="0"/>
              <a:t>と置き換えても同じ意味。</a:t>
            </a:r>
            <a:r>
              <a:rPr lang="en-US" altLang="ja-JP" sz="2800" dirty="0" smtClean="0"/>
              <a:t>)</a:t>
            </a:r>
          </a:p>
          <a:p>
            <a:r>
              <a:rPr lang="ja-JP" altLang="en-US" sz="2800" dirty="0" smtClean="0"/>
              <a:t>ただし、</a:t>
            </a:r>
            <a:r>
              <a:rPr lang="en-US" altLang="ja-JP" sz="2800" dirty="0" smtClean="0"/>
              <a:t>p</a:t>
            </a:r>
            <a:r>
              <a:rPr lang="ja-JP" altLang="en-US" sz="2800" dirty="0" smtClean="0"/>
              <a:t>の値を変えると（代入によって変更可能、後述）、</a:t>
            </a:r>
            <a:r>
              <a:rPr lang="en-US" altLang="ja-JP" sz="2800" dirty="0" smtClean="0"/>
              <a:t>x</a:t>
            </a:r>
            <a:r>
              <a:rPr lang="ja-JP" altLang="en-US" sz="2800" dirty="0" smtClean="0"/>
              <a:t>と同じ意味ではなくなる。</a:t>
            </a:r>
            <a:endParaRPr kumimoji="1" lang="ja-JP" altLang="en-US" sz="28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例（打ち込んで確認）</a:t>
            </a:r>
            <a:endParaRPr kumimoji="1" lang="ja-JP" altLang="en-US" dirty="0"/>
          </a:p>
        </p:txBody>
      </p:sp>
      <p:sp>
        <p:nvSpPr>
          <p:cNvPr id="4" name="正方形/長方形 3"/>
          <p:cNvSpPr/>
          <p:nvPr/>
        </p:nvSpPr>
        <p:spPr>
          <a:xfrm>
            <a:off x="1357290" y="1357298"/>
            <a:ext cx="6357966" cy="5262979"/>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x = 5;</a:t>
            </a:r>
          </a:p>
          <a:p>
            <a:r>
              <a:rPr lang="en-US" altLang="ja-JP" sz="2800" dirty="0" smtClean="0"/>
              <a:t>  double y = 5.5;</a:t>
            </a:r>
          </a:p>
          <a:p>
            <a:r>
              <a:rPr lang="en-US" altLang="ja-JP" sz="2800" dirty="0" smtClean="0"/>
              <a:t>  </a:t>
            </a:r>
            <a:r>
              <a:rPr lang="en-US" altLang="ja-JP" sz="2800" dirty="0" err="1" smtClean="0"/>
              <a:t>int</a:t>
            </a:r>
            <a:r>
              <a:rPr lang="en-US" altLang="ja-JP" sz="2800" dirty="0" smtClean="0"/>
              <a:t> *</a:t>
            </a:r>
            <a:r>
              <a:rPr lang="en-US" altLang="ja-JP" sz="2800" dirty="0" err="1" smtClean="0"/>
              <a:t>px</a:t>
            </a:r>
            <a:r>
              <a:rPr lang="en-US" altLang="ja-JP" sz="2800" dirty="0" smtClean="0"/>
              <a:t>;</a:t>
            </a:r>
          </a:p>
          <a:p>
            <a:r>
              <a:rPr lang="en-US" altLang="ja-JP" sz="2800" dirty="0" smtClean="0"/>
              <a:t>  double *</a:t>
            </a:r>
            <a:r>
              <a:rPr lang="en-US" altLang="ja-JP" sz="2800" dirty="0" err="1" smtClean="0"/>
              <a:t>py</a:t>
            </a:r>
            <a:r>
              <a:rPr lang="en-US" altLang="ja-JP" sz="2800" dirty="0" smtClean="0"/>
              <a:t>;</a:t>
            </a:r>
          </a:p>
          <a:p>
            <a:r>
              <a:rPr lang="en-US" altLang="ja-JP" sz="2800" dirty="0" smtClean="0"/>
              <a:t>  </a:t>
            </a:r>
            <a:r>
              <a:rPr lang="en-US" altLang="ja-JP" sz="2800" dirty="0" err="1" smtClean="0"/>
              <a:t>px</a:t>
            </a:r>
            <a:r>
              <a:rPr lang="en-US" altLang="ja-JP" sz="2800" dirty="0" smtClean="0"/>
              <a:t> = &amp;x;</a:t>
            </a:r>
          </a:p>
          <a:p>
            <a:r>
              <a:rPr lang="en-US" altLang="ja-JP" sz="2800" dirty="0" smtClean="0"/>
              <a:t>  </a:t>
            </a:r>
            <a:r>
              <a:rPr lang="en-US" altLang="ja-JP" sz="2800" dirty="0" err="1" smtClean="0"/>
              <a:t>py</a:t>
            </a:r>
            <a:r>
              <a:rPr lang="en-US" altLang="ja-JP" sz="2800" dirty="0" smtClean="0"/>
              <a:t> = &amp;y;</a:t>
            </a:r>
          </a:p>
          <a:p>
            <a:r>
              <a:rPr lang="en-US" altLang="ja-JP" sz="2800" dirty="0" smtClean="0"/>
              <a:t>  </a:t>
            </a:r>
            <a:r>
              <a:rPr lang="en-US" altLang="ja-JP" sz="2800" dirty="0" err="1" smtClean="0"/>
              <a:t>printf</a:t>
            </a:r>
            <a:r>
              <a:rPr lang="en-US" altLang="ja-JP" sz="2800" dirty="0" smtClean="0"/>
              <a:t> ("The value of x is %d.\n", *</a:t>
            </a:r>
            <a:r>
              <a:rPr lang="en-US" altLang="ja-JP" sz="2800" dirty="0" err="1" smtClean="0"/>
              <a:t>px</a:t>
            </a:r>
            <a:r>
              <a:rPr lang="en-US" altLang="ja-JP" sz="2800" dirty="0" smtClean="0"/>
              <a:t>);</a:t>
            </a:r>
          </a:p>
          <a:p>
            <a:r>
              <a:rPr lang="en-US" altLang="ja-JP" sz="2800" dirty="0" smtClean="0"/>
              <a:t>  </a:t>
            </a:r>
            <a:r>
              <a:rPr lang="en-US" altLang="ja-JP" sz="2800" dirty="0" err="1" smtClean="0"/>
              <a:t>printf</a:t>
            </a:r>
            <a:r>
              <a:rPr lang="en-US" altLang="ja-JP" sz="2800" dirty="0" smtClean="0"/>
              <a:t> ("The value of y is %f.\n", *</a:t>
            </a:r>
            <a:r>
              <a:rPr lang="en-US" altLang="ja-JP" sz="2800" dirty="0" err="1" smtClean="0"/>
              <a:t>py</a:t>
            </a:r>
            <a:r>
              <a:rPr lang="en-US" altLang="ja-JP" sz="2800" dirty="0" smtClean="0"/>
              <a:t>);</a:t>
            </a:r>
          </a:p>
          <a:p>
            <a:r>
              <a:rPr lang="en-US" altLang="ja-JP" sz="2800" dirty="0" smtClean="0"/>
              <a:t>  return 0;</a:t>
            </a:r>
          </a:p>
          <a:p>
            <a:r>
              <a:rPr lang="en-US" altLang="ja-JP" sz="2800" dirty="0" smtClean="0"/>
              <a:t>}</a:t>
            </a:r>
            <a:endParaRPr lang="en-US" altLang="ja-JP" sz="28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配列とポインタ</a:t>
            </a:r>
            <a:endParaRPr kumimoji="1" lang="ja-JP" altLang="en-US" dirty="0"/>
          </a:p>
        </p:txBody>
      </p:sp>
      <p:graphicFrame>
        <p:nvGraphicFramePr>
          <p:cNvPr id="3" name="表 2"/>
          <p:cNvGraphicFramePr>
            <a:graphicFrameLocks noGrp="1"/>
          </p:cNvGraphicFramePr>
          <p:nvPr/>
        </p:nvGraphicFramePr>
        <p:xfrm>
          <a:off x="2571736" y="2214554"/>
          <a:ext cx="1928826" cy="2590800"/>
        </p:xfrm>
        <a:graphic>
          <a:graphicData uri="http://schemas.openxmlformats.org/drawingml/2006/table">
            <a:tbl>
              <a:tblPr firstRow="1" bandRow="1">
                <a:tableStyleId>{073A0DAA-6AF3-43AB-8588-CEC1D06C72B9}</a:tableStyleId>
              </a:tblPr>
              <a:tblGrid>
                <a:gridCol w="1928826"/>
              </a:tblGrid>
              <a:tr h="370840">
                <a:tc>
                  <a:txBody>
                    <a:bodyPr/>
                    <a:lstStyle/>
                    <a:p>
                      <a:pPr algn="ctr"/>
                      <a:r>
                        <a:rPr kumimoji="1" lang="en-US" altLang="ja-JP" sz="2800" b="0" dirty="0" smtClean="0">
                          <a:solidFill>
                            <a:schemeClr val="tx1"/>
                          </a:solidFill>
                        </a:rPr>
                        <a:t>a[0]</a:t>
                      </a:r>
                      <a:endParaRPr kumimoji="1" lang="ja-JP" alt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algn="ctr"/>
                      <a:r>
                        <a:rPr kumimoji="1" lang="en-US" altLang="ja-JP" sz="2800" b="0" dirty="0" smtClean="0">
                          <a:solidFill>
                            <a:schemeClr val="tx1"/>
                          </a:solidFill>
                        </a:rPr>
                        <a:t>a[1]</a:t>
                      </a:r>
                      <a:endParaRPr kumimoji="1" lang="ja-JP" alt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800" b="0" dirty="0" smtClean="0">
                          <a:solidFill>
                            <a:schemeClr val="tx1"/>
                          </a:solidFill>
                        </a:rPr>
                        <a:t>a[2]</a:t>
                      </a:r>
                      <a:endParaRPr kumimoji="1" lang="ja-JP" altLang="en-US" sz="2800" b="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800" b="0" dirty="0" smtClean="0">
                          <a:solidFill>
                            <a:schemeClr val="tx1"/>
                          </a:solidFill>
                        </a:rPr>
                        <a:t>a[3]</a:t>
                      </a:r>
                      <a:endParaRPr kumimoji="1" lang="ja-JP" altLang="en-US" sz="2800" b="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800" b="0" dirty="0" smtClean="0">
                          <a:solidFill>
                            <a:schemeClr val="tx1"/>
                          </a:solidFill>
                        </a:rPr>
                        <a:t>a[4]</a:t>
                      </a:r>
                      <a:endParaRPr kumimoji="1" lang="ja-JP" altLang="en-US" sz="2800" b="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5" name="左中かっこ 4"/>
          <p:cNvSpPr/>
          <p:nvPr/>
        </p:nvSpPr>
        <p:spPr>
          <a:xfrm>
            <a:off x="1714512" y="2285992"/>
            <a:ext cx="785786" cy="2500330"/>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6" name="テキスト ボックス 5"/>
          <p:cNvSpPr txBox="1"/>
          <p:nvPr/>
        </p:nvSpPr>
        <p:spPr>
          <a:xfrm>
            <a:off x="642910" y="3253087"/>
            <a:ext cx="1214446" cy="461665"/>
          </a:xfrm>
          <a:prstGeom prst="rect">
            <a:avLst/>
          </a:prstGeom>
          <a:noFill/>
        </p:spPr>
        <p:txBody>
          <a:bodyPr wrap="square" rtlCol="0">
            <a:spAutoFit/>
          </a:bodyPr>
          <a:lstStyle/>
          <a:p>
            <a:r>
              <a:rPr lang="ja-JP" altLang="en-US" sz="2400" dirty="0" smtClean="0"/>
              <a:t>配列 </a:t>
            </a:r>
            <a:r>
              <a:rPr lang="en-US" altLang="ja-JP" sz="2400" dirty="0" smtClean="0"/>
              <a:t>a</a:t>
            </a:r>
          </a:p>
        </p:txBody>
      </p:sp>
      <p:sp>
        <p:nvSpPr>
          <p:cNvPr id="7" name="テキスト ボックス 6"/>
          <p:cNvSpPr txBox="1"/>
          <p:nvPr/>
        </p:nvSpPr>
        <p:spPr>
          <a:xfrm>
            <a:off x="642910" y="1428736"/>
            <a:ext cx="6713569" cy="523220"/>
          </a:xfrm>
          <a:prstGeom prst="rect">
            <a:avLst/>
          </a:prstGeom>
          <a:noFill/>
        </p:spPr>
        <p:txBody>
          <a:bodyPr wrap="none" rtlCol="0">
            <a:spAutoFit/>
          </a:bodyPr>
          <a:lstStyle/>
          <a:p>
            <a:r>
              <a:rPr kumimoji="1" lang="ja-JP" altLang="en-US" sz="2800" dirty="0" smtClean="0"/>
              <a:t>配列</a:t>
            </a:r>
            <a:r>
              <a:rPr kumimoji="1" lang="en-US" altLang="ja-JP" sz="2800" dirty="0" smtClean="0"/>
              <a:t>a</a:t>
            </a:r>
            <a:r>
              <a:rPr kumimoji="1" lang="ja-JP" altLang="en-US" sz="2800" dirty="0" smtClean="0"/>
              <a:t>が、</a:t>
            </a:r>
            <a:r>
              <a:rPr kumimoji="1" lang="en-US" altLang="ja-JP" sz="2800" dirty="0" err="1" smtClean="0"/>
              <a:t>int</a:t>
            </a:r>
            <a:r>
              <a:rPr kumimoji="1" lang="en-US" altLang="ja-JP" sz="2800" dirty="0" smtClean="0"/>
              <a:t> a [5];</a:t>
            </a:r>
            <a:r>
              <a:rPr kumimoji="1" lang="ja-JP" altLang="en-US" sz="2800" dirty="0" smtClean="0"/>
              <a:t>で宣言されているとする。</a:t>
            </a:r>
            <a:endParaRPr kumimoji="1" lang="ja-JP" altLang="en-US" sz="2800" dirty="0"/>
          </a:p>
        </p:txBody>
      </p:sp>
      <p:sp>
        <p:nvSpPr>
          <p:cNvPr id="8" name="テキスト ボックス 7"/>
          <p:cNvSpPr txBox="1"/>
          <p:nvPr/>
        </p:nvSpPr>
        <p:spPr>
          <a:xfrm>
            <a:off x="642910" y="5143512"/>
            <a:ext cx="7572428" cy="1384995"/>
          </a:xfrm>
          <a:prstGeom prst="rect">
            <a:avLst/>
          </a:prstGeom>
          <a:noFill/>
        </p:spPr>
        <p:txBody>
          <a:bodyPr wrap="square" rtlCol="0">
            <a:spAutoFit/>
          </a:bodyPr>
          <a:lstStyle/>
          <a:p>
            <a:r>
              <a:rPr kumimoji="1" lang="en-US" altLang="ja-JP" sz="2800" dirty="0" smtClean="0"/>
              <a:t>a </a:t>
            </a:r>
            <a:r>
              <a:rPr lang="en-US" altLang="ja-JP" sz="2800" dirty="0" smtClean="0"/>
              <a:t>[0]</a:t>
            </a:r>
            <a:r>
              <a:rPr lang="ja-JP" altLang="en-US" sz="2800" dirty="0" smtClean="0"/>
              <a:t>の領域のアドレスが</a:t>
            </a:r>
            <a:r>
              <a:rPr lang="en-US" altLang="ja-JP" sz="2800" dirty="0" smtClean="0"/>
              <a:t>100</a:t>
            </a:r>
            <a:r>
              <a:rPr lang="ja-JP" altLang="en-US" sz="2800" dirty="0" smtClean="0"/>
              <a:t>番地から始まる場合、</a:t>
            </a:r>
            <a:r>
              <a:rPr lang="en-US" altLang="ja-JP" sz="2800" dirty="0" smtClean="0"/>
              <a:t>a[1]</a:t>
            </a:r>
            <a:r>
              <a:rPr lang="ja-JP" altLang="en-US" sz="2800" dirty="0" smtClean="0"/>
              <a:t>は</a:t>
            </a:r>
            <a:r>
              <a:rPr lang="en-US" altLang="ja-JP" sz="2800" dirty="0" smtClean="0"/>
              <a:t>104</a:t>
            </a:r>
            <a:r>
              <a:rPr lang="ja-JP" altLang="en-US" sz="2800" dirty="0" smtClean="0"/>
              <a:t>番地、</a:t>
            </a:r>
            <a:r>
              <a:rPr lang="en-US" altLang="ja-JP" sz="2800" dirty="0" smtClean="0"/>
              <a:t>a[2]</a:t>
            </a:r>
            <a:r>
              <a:rPr lang="ja-JP" altLang="en-US" sz="2800" dirty="0" smtClean="0"/>
              <a:t>は</a:t>
            </a:r>
            <a:r>
              <a:rPr lang="en-US" altLang="ja-JP" sz="2800" dirty="0" smtClean="0"/>
              <a:t>108</a:t>
            </a:r>
            <a:r>
              <a:rPr lang="ja-JP" altLang="en-US" sz="2800" dirty="0" smtClean="0"/>
              <a:t>番地、</a:t>
            </a:r>
            <a:r>
              <a:rPr lang="en-US" altLang="ja-JP" sz="2800" dirty="0" smtClean="0"/>
              <a:t>a[3]</a:t>
            </a:r>
            <a:r>
              <a:rPr lang="ja-JP" altLang="en-US" sz="2800" dirty="0" smtClean="0"/>
              <a:t>は</a:t>
            </a:r>
            <a:r>
              <a:rPr lang="en-US" altLang="ja-JP" sz="2800" dirty="0" smtClean="0"/>
              <a:t>112</a:t>
            </a:r>
            <a:r>
              <a:rPr lang="ja-JP" altLang="en-US" sz="2800" dirty="0" smtClean="0"/>
              <a:t>番地、</a:t>
            </a:r>
            <a:r>
              <a:rPr lang="en-US" altLang="ja-JP" sz="2800" dirty="0" smtClean="0"/>
              <a:t>a[4]</a:t>
            </a:r>
            <a:r>
              <a:rPr lang="ja-JP" altLang="en-US" sz="2800" dirty="0" smtClean="0"/>
              <a:t>は</a:t>
            </a:r>
            <a:r>
              <a:rPr lang="en-US" altLang="ja-JP" sz="2800" dirty="0" smtClean="0"/>
              <a:t>116</a:t>
            </a:r>
            <a:r>
              <a:rPr lang="ja-JP" altLang="en-US" sz="2800" dirty="0" smtClean="0"/>
              <a:t>番地から始まる。</a:t>
            </a:r>
            <a:r>
              <a:rPr lang="en-US" altLang="ja-JP" sz="2800" dirty="0" smtClean="0"/>
              <a:t>(</a:t>
            </a:r>
            <a:r>
              <a:rPr lang="en-US" altLang="ja-JP" sz="2800" dirty="0" err="1" smtClean="0"/>
              <a:t>int</a:t>
            </a:r>
            <a:r>
              <a:rPr lang="ja-JP" altLang="en-US" sz="2800" dirty="0" smtClean="0"/>
              <a:t>型が</a:t>
            </a:r>
            <a:r>
              <a:rPr lang="en-US" altLang="ja-JP" sz="2800" dirty="0" smtClean="0"/>
              <a:t>4byte</a:t>
            </a:r>
            <a:r>
              <a:rPr lang="ja-JP" altLang="en-US" sz="2800" dirty="0" smtClean="0"/>
              <a:t>の場合</a:t>
            </a:r>
            <a:r>
              <a:rPr lang="en-US" altLang="ja-JP" sz="2800" dirty="0" smtClean="0"/>
              <a:t>)</a:t>
            </a:r>
            <a:endParaRPr kumimoji="1" lang="ja-JP" altLang="en-US" sz="2800" dirty="0"/>
          </a:p>
        </p:txBody>
      </p:sp>
      <p:sp>
        <p:nvSpPr>
          <p:cNvPr id="9" name="テキスト ボックス 8"/>
          <p:cNvSpPr txBox="1"/>
          <p:nvPr/>
        </p:nvSpPr>
        <p:spPr>
          <a:xfrm>
            <a:off x="4572000" y="2191400"/>
            <a:ext cx="1451038" cy="523220"/>
          </a:xfrm>
          <a:prstGeom prst="rect">
            <a:avLst/>
          </a:prstGeom>
          <a:noFill/>
        </p:spPr>
        <p:txBody>
          <a:bodyPr wrap="none" rtlCol="0">
            <a:spAutoFit/>
          </a:bodyPr>
          <a:lstStyle/>
          <a:p>
            <a:r>
              <a:rPr kumimoji="1" lang="en-US" altLang="ja-JP" sz="2800" dirty="0" smtClean="0"/>
              <a:t>100</a:t>
            </a:r>
            <a:r>
              <a:rPr kumimoji="1" lang="ja-JP" altLang="en-US" sz="2800" dirty="0" smtClean="0"/>
              <a:t>番地</a:t>
            </a:r>
            <a:endParaRPr kumimoji="1" lang="ja-JP" altLang="en-US" sz="2800" dirty="0"/>
          </a:p>
        </p:txBody>
      </p:sp>
      <p:sp>
        <p:nvSpPr>
          <p:cNvPr id="10" name="テキスト ボックス 9"/>
          <p:cNvSpPr txBox="1"/>
          <p:nvPr/>
        </p:nvSpPr>
        <p:spPr>
          <a:xfrm>
            <a:off x="4572000" y="2714620"/>
            <a:ext cx="1451038" cy="523220"/>
          </a:xfrm>
          <a:prstGeom prst="rect">
            <a:avLst/>
          </a:prstGeom>
          <a:noFill/>
        </p:spPr>
        <p:txBody>
          <a:bodyPr wrap="none" rtlCol="0">
            <a:spAutoFit/>
          </a:bodyPr>
          <a:lstStyle/>
          <a:p>
            <a:r>
              <a:rPr kumimoji="1" lang="en-US" altLang="ja-JP" sz="2800" dirty="0" smtClean="0"/>
              <a:t>104</a:t>
            </a:r>
            <a:r>
              <a:rPr kumimoji="1" lang="ja-JP" altLang="en-US" sz="2800" dirty="0" smtClean="0"/>
              <a:t>番地</a:t>
            </a:r>
            <a:endParaRPr kumimoji="1" lang="ja-JP" altLang="en-US" sz="2800" dirty="0"/>
          </a:p>
        </p:txBody>
      </p:sp>
      <p:sp>
        <p:nvSpPr>
          <p:cNvPr id="11" name="テキスト ボックス 10"/>
          <p:cNvSpPr txBox="1"/>
          <p:nvPr/>
        </p:nvSpPr>
        <p:spPr>
          <a:xfrm>
            <a:off x="4572000" y="3214686"/>
            <a:ext cx="1451038" cy="523220"/>
          </a:xfrm>
          <a:prstGeom prst="rect">
            <a:avLst/>
          </a:prstGeom>
          <a:noFill/>
        </p:spPr>
        <p:txBody>
          <a:bodyPr wrap="none" rtlCol="0">
            <a:spAutoFit/>
          </a:bodyPr>
          <a:lstStyle/>
          <a:p>
            <a:r>
              <a:rPr kumimoji="1" lang="en-US" altLang="ja-JP" sz="2800" dirty="0" smtClean="0"/>
              <a:t>108</a:t>
            </a:r>
            <a:r>
              <a:rPr kumimoji="1" lang="ja-JP" altLang="en-US" sz="2800" dirty="0" smtClean="0"/>
              <a:t>番地</a:t>
            </a:r>
            <a:endParaRPr kumimoji="1" lang="ja-JP" altLang="en-US" sz="2800" dirty="0"/>
          </a:p>
        </p:txBody>
      </p:sp>
      <p:sp>
        <p:nvSpPr>
          <p:cNvPr id="12" name="テキスト ボックス 11"/>
          <p:cNvSpPr txBox="1"/>
          <p:nvPr/>
        </p:nvSpPr>
        <p:spPr>
          <a:xfrm>
            <a:off x="4572000" y="3714752"/>
            <a:ext cx="1451038" cy="523220"/>
          </a:xfrm>
          <a:prstGeom prst="rect">
            <a:avLst/>
          </a:prstGeom>
          <a:noFill/>
        </p:spPr>
        <p:txBody>
          <a:bodyPr wrap="none" rtlCol="0">
            <a:spAutoFit/>
          </a:bodyPr>
          <a:lstStyle/>
          <a:p>
            <a:r>
              <a:rPr kumimoji="1" lang="en-US" altLang="ja-JP" sz="2800" dirty="0" smtClean="0"/>
              <a:t>112</a:t>
            </a:r>
            <a:r>
              <a:rPr kumimoji="1" lang="ja-JP" altLang="en-US" sz="2800" dirty="0" smtClean="0"/>
              <a:t>番地</a:t>
            </a:r>
            <a:endParaRPr kumimoji="1" lang="ja-JP" altLang="en-US" sz="2800" dirty="0"/>
          </a:p>
        </p:txBody>
      </p:sp>
      <p:sp>
        <p:nvSpPr>
          <p:cNvPr id="13" name="テキスト ボックス 12"/>
          <p:cNvSpPr txBox="1"/>
          <p:nvPr/>
        </p:nvSpPr>
        <p:spPr>
          <a:xfrm>
            <a:off x="4572000" y="4286256"/>
            <a:ext cx="1451038" cy="523220"/>
          </a:xfrm>
          <a:prstGeom prst="rect">
            <a:avLst/>
          </a:prstGeom>
          <a:noFill/>
        </p:spPr>
        <p:txBody>
          <a:bodyPr wrap="none" rtlCol="0">
            <a:spAutoFit/>
          </a:bodyPr>
          <a:lstStyle/>
          <a:p>
            <a:r>
              <a:rPr kumimoji="1" lang="en-US" altLang="ja-JP" sz="2800" dirty="0" smtClean="0"/>
              <a:t>116</a:t>
            </a:r>
            <a:r>
              <a:rPr kumimoji="1" lang="ja-JP" altLang="en-US" sz="2800" dirty="0" smtClean="0"/>
              <a:t>番地</a:t>
            </a:r>
            <a:endParaRPr kumimoji="1" lang="ja-JP" altLang="en-US" sz="28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配列とポインタ（２）</a:t>
            </a:r>
            <a:endParaRPr kumimoji="1" lang="ja-JP" altLang="en-US" dirty="0"/>
          </a:p>
        </p:txBody>
      </p:sp>
      <p:graphicFrame>
        <p:nvGraphicFramePr>
          <p:cNvPr id="3" name="表 2"/>
          <p:cNvGraphicFramePr>
            <a:graphicFrameLocks noGrp="1"/>
          </p:cNvGraphicFramePr>
          <p:nvPr/>
        </p:nvGraphicFramePr>
        <p:xfrm>
          <a:off x="2571736" y="1571612"/>
          <a:ext cx="1928826" cy="2590800"/>
        </p:xfrm>
        <a:graphic>
          <a:graphicData uri="http://schemas.openxmlformats.org/drawingml/2006/table">
            <a:tbl>
              <a:tblPr firstRow="1" bandRow="1">
                <a:tableStyleId>{073A0DAA-6AF3-43AB-8588-CEC1D06C72B9}</a:tableStyleId>
              </a:tblPr>
              <a:tblGrid>
                <a:gridCol w="1928826"/>
              </a:tblGrid>
              <a:tr h="370840">
                <a:tc>
                  <a:txBody>
                    <a:bodyPr/>
                    <a:lstStyle/>
                    <a:p>
                      <a:pPr algn="ctr"/>
                      <a:r>
                        <a:rPr kumimoji="1" lang="en-US" altLang="ja-JP" sz="2800" b="0" dirty="0" smtClean="0">
                          <a:solidFill>
                            <a:schemeClr val="tx1"/>
                          </a:solidFill>
                        </a:rPr>
                        <a:t>a[0]</a:t>
                      </a:r>
                      <a:endParaRPr kumimoji="1" lang="ja-JP" alt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algn="ctr"/>
                      <a:r>
                        <a:rPr kumimoji="1" lang="en-US" altLang="ja-JP" sz="2800" b="0" dirty="0" smtClean="0">
                          <a:solidFill>
                            <a:schemeClr val="tx1"/>
                          </a:solidFill>
                        </a:rPr>
                        <a:t>a[1]</a:t>
                      </a:r>
                      <a:endParaRPr kumimoji="1" lang="ja-JP" altLang="en-US" sz="28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800" b="0" dirty="0" smtClean="0">
                          <a:solidFill>
                            <a:schemeClr val="tx1"/>
                          </a:solidFill>
                        </a:rPr>
                        <a:t>a[2]</a:t>
                      </a:r>
                      <a:endParaRPr kumimoji="1" lang="ja-JP" altLang="en-US" sz="2800" b="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800" b="0" dirty="0" smtClean="0">
                          <a:solidFill>
                            <a:schemeClr val="tx1"/>
                          </a:solidFill>
                        </a:rPr>
                        <a:t>a[3]</a:t>
                      </a:r>
                      <a:endParaRPr kumimoji="1" lang="ja-JP" altLang="en-US" sz="2800" b="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800" b="0" dirty="0" smtClean="0">
                          <a:solidFill>
                            <a:schemeClr val="tx1"/>
                          </a:solidFill>
                        </a:rPr>
                        <a:t>a[4]</a:t>
                      </a:r>
                      <a:endParaRPr kumimoji="1" lang="ja-JP" altLang="en-US" sz="2800" b="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5" name="左中かっこ 4"/>
          <p:cNvSpPr/>
          <p:nvPr/>
        </p:nvSpPr>
        <p:spPr>
          <a:xfrm>
            <a:off x="1714512" y="1643050"/>
            <a:ext cx="785786" cy="2500330"/>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6" name="テキスト ボックス 5"/>
          <p:cNvSpPr txBox="1"/>
          <p:nvPr/>
        </p:nvSpPr>
        <p:spPr>
          <a:xfrm>
            <a:off x="642910" y="2610145"/>
            <a:ext cx="1214446" cy="461665"/>
          </a:xfrm>
          <a:prstGeom prst="rect">
            <a:avLst/>
          </a:prstGeom>
          <a:noFill/>
        </p:spPr>
        <p:txBody>
          <a:bodyPr wrap="square" rtlCol="0">
            <a:spAutoFit/>
          </a:bodyPr>
          <a:lstStyle/>
          <a:p>
            <a:r>
              <a:rPr lang="ja-JP" altLang="en-US" sz="2400" dirty="0" smtClean="0"/>
              <a:t>配列 </a:t>
            </a:r>
            <a:r>
              <a:rPr lang="en-US" altLang="ja-JP" sz="2400" dirty="0" smtClean="0"/>
              <a:t>a</a:t>
            </a:r>
          </a:p>
        </p:txBody>
      </p:sp>
      <p:sp>
        <p:nvSpPr>
          <p:cNvPr id="8" name="テキスト ボックス 7"/>
          <p:cNvSpPr txBox="1"/>
          <p:nvPr/>
        </p:nvSpPr>
        <p:spPr>
          <a:xfrm>
            <a:off x="611560" y="4365104"/>
            <a:ext cx="7848872" cy="2308324"/>
          </a:xfrm>
          <a:prstGeom prst="rect">
            <a:avLst/>
          </a:prstGeom>
          <a:noFill/>
        </p:spPr>
        <p:txBody>
          <a:bodyPr wrap="square" rtlCol="0">
            <a:spAutoFit/>
          </a:bodyPr>
          <a:lstStyle/>
          <a:p>
            <a:r>
              <a:rPr kumimoji="1" lang="en-US" altLang="ja-JP" sz="2400" dirty="0" smtClean="0"/>
              <a:t>a </a:t>
            </a:r>
            <a:r>
              <a:rPr lang="en-US" altLang="ja-JP" sz="2400" dirty="0" smtClean="0"/>
              <a:t>[0]</a:t>
            </a:r>
            <a:r>
              <a:rPr lang="ja-JP" altLang="en-US" sz="2400" dirty="0" smtClean="0"/>
              <a:t>の領域が</a:t>
            </a:r>
            <a:r>
              <a:rPr lang="en-US" altLang="ja-JP" sz="2400" dirty="0" smtClean="0"/>
              <a:t>100</a:t>
            </a:r>
            <a:r>
              <a:rPr lang="ja-JP" altLang="en-US" sz="2400" dirty="0" smtClean="0"/>
              <a:t>番地の場合、</a:t>
            </a:r>
            <a:r>
              <a:rPr lang="en-US" altLang="ja-JP" sz="2400" dirty="0" smtClean="0"/>
              <a:t>&amp;a[0]</a:t>
            </a:r>
            <a:r>
              <a:rPr lang="ja-JP" altLang="en-US" sz="2400" dirty="0" smtClean="0"/>
              <a:t>の値は</a:t>
            </a:r>
            <a:r>
              <a:rPr lang="en-US" altLang="ja-JP" sz="2400" dirty="0" smtClean="0"/>
              <a:t>100</a:t>
            </a:r>
            <a:r>
              <a:rPr lang="ja-JP" altLang="en-US" sz="2400" dirty="0" smtClean="0"/>
              <a:t>である。この状況において、</a:t>
            </a:r>
            <a:endParaRPr lang="en-US" altLang="ja-JP" sz="2400" dirty="0" smtClean="0"/>
          </a:p>
          <a:p>
            <a:r>
              <a:rPr lang="en-US" altLang="ja-JP" sz="2400" dirty="0" smtClean="0"/>
              <a:t>    </a:t>
            </a:r>
            <a:r>
              <a:rPr lang="en-US" altLang="ja-JP" sz="2400" dirty="0" err="1" smtClean="0"/>
              <a:t>int</a:t>
            </a:r>
            <a:r>
              <a:rPr lang="en-US" altLang="ja-JP" sz="2400" dirty="0" smtClean="0"/>
              <a:t> *p;</a:t>
            </a:r>
          </a:p>
          <a:p>
            <a:r>
              <a:rPr lang="ja-JP" altLang="en-US" sz="2400" dirty="0" smtClean="0"/>
              <a:t>で宣言された変数</a:t>
            </a:r>
            <a:r>
              <a:rPr lang="en-US" altLang="ja-JP" sz="2400" dirty="0" smtClean="0"/>
              <a:t>p</a:t>
            </a:r>
            <a:r>
              <a:rPr lang="ja-JP" altLang="en-US" sz="2400" dirty="0" smtClean="0"/>
              <a:t>に対して以下の代入を実行すると、</a:t>
            </a:r>
            <a:r>
              <a:rPr lang="en-US" altLang="ja-JP" sz="2400" dirty="0" smtClean="0"/>
              <a:t>p</a:t>
            </a:r>
            <a:r>
              <a:rPr lang="ja-JP" altLang="en-US" sz="2400" dirty="0" smtClean="0"/>
              <a:t>の値は</a:t>
            </a:r>
            <a:r>
              <a:rPr lang="en-US" altLang="ja-JP" sz="2400" dirty="0" smtClean="0"/>
              <a:t>100</a:t>
            </a:r>
            <a:r>
              <a:rPr lang="ja-JP" altLang="en-US" sz="2400" dirty="0" smtClean="0"/>
              <a:t>になる。</a:t>
            </a:r>
            <a:endParaRPr lang="en-US" altLang="ja-JP" sz="2400" dirty="0" smtClean="0"/>
          </a:p>
          <a:p>
            <a:r>
              <a:rPr lang="en-US" altLang="ja-JP" sz="2400" dirty="0" smtClean="0"/>
              <a:t>    p = &amp;a[0];</a:t>
            </a:r>
          </a:p>
        </p:txBody>
      </p:sp>
      <p:sp>
        <p:nvSpPr>
          <p:cNvPr id="7" name="テキスト ボックス 6"/>
          <p:cNvSpPr txBox="1"/>
          <p:nvPr/>
        </p:nvSpPr>
        <p:spPr>
          <a:xfrm>
            <a:off x="4572000" y="1556792"/>
            <a:ext cx="1451038" cy="523220"/>
          </a:xfrm>
          <a:prstGeom prst="rect">
            <a:avLst/>
          </a:prstGeom>
          <a:noFill/>
        </p:spPr>
        <p:txBody>
          <a:bodyPr wrap="none" rtlCol="0">
            <a:spAutoFit/>
          </a:bodyPr>
          <a:lstStyle/>
          <a:p>
            <a:r>
              <a:rPr kumimoji="1" lang="en-US" altLang="ja-JP" sz="2800" dirty="0" smtClean="0"/>
              <a:t>100</a:t>
            </a:r>
            <a:r>
              <a:rPr kumimoji="1" lang="ja-JP" altLang="en-US" sz="2800" dirty="0" smtClean="0"/>
              <a:t>番地</a:t>
            </a:r>
            <a:endParaRPr kumimoji="1" lang="ja-JP" altLang="en-US" sz="2800" dirty="0"/>
          </a:p>
        </p:txBody>
      </p:sp>
      <p:sp>
        <p:nvSpPr>
          <p:cNvPr id="9" name="テキスト ボックス 8"/>
          <p:cNvSpPr txBox="1"/>
          <p:nvPr/>
        </p:nvSpPr>
        <p:spPr>
          <a:xfrm>
            <a:off x="4572000" y="2080012"/>
            <a:ext cx="1451038" cy="523220"/>
          </a:xfrm>
          <a:prstGeom prst="rect">
            <a:avLst/>
          </a:prstGeom>
          <a:noFill/>
        </p:spPr>
        <p:txBody>
          <a:bodyPr wrap="none" rtlCol="0">
            <a:spAutoFit/>
          </a:bodyPr>
          <a:lstStyle/>
          <a:p>
            <a:r>
              <a:rPr kumimoji="1" lang="en-US" altLang="ja-JP" sz="2800" dirty="0" smtClean="0"/>
              <a:t>104</a:t>
            </a:r>
            <a:r>
              <a:rPr kumimoji="1" lang="ja-JP" altLang="en-US" sz="2800" dirty="0" smtClean="0"/>
              <a:t>番地</a:t>
            </a:r>
            <a:endParaRPr kumimoji="1" lang="ja-JP" altLang="en-US" sz="2800" dirty="0"/>
          </a:p>
        </p:txBody>
      </p:sp>
      <p:sp>
        <p:nvSpPr>
          <p:cNvPr id="10" name="テキスト ボックス 9"/>
          <p:cNvSpPr txBox="1"/>
          <p:nvPr/>
        </p:nvSpPr>
        <p:spPr>
          <a:xfrm>
            <a:off x="4572000" y="2580078"/>
            <a:ext cx="1451038" cy="523220"/>
          </a:xfrm>
          <a:prstGeom prst="rect">
            <a:avLst/>
          </a:prstGeom>
          <a:noFill/>
        </p:spPr>
        <p:txBody>
          <a:bodyPr wrap="none" rtlCol="0">
            <a:spAutoFit/>
          </a:bodyPr>
          <a:lstStyle/>
          <a:p>
            <a:r>
              <a:rPr kumimoji="1" lang="en-US" altLang="ja-JP" sz="2800" dirty="0" smtClean="0"/>
              <a:t>108</a:t>
            </a:r>
            <a:r>
              <a:rPr kumimoji="1" lang="ja-JP" altLang="en-US" sz="2800" dirty="0" smtClean="0"/>
              <a:t>番地</a:t>
            </a:r>
            <a:endParaRPr kumimoji="1" lang="ja-JP" altLang="en-US" sz="2800" dirty="0"/>
          </a:p>
        </p:txBody>
      </p:sp>
      <p:sp>
        <p:nvSpPr>
          <p:cNvPr id="11" name="テキスト ボックス 10"/>
          <p:cNvSpPr txBox="1"/>
          <p:nvPr/>
        </p:nvSpPr>
        <p:spPr>
          <a:xfrm>
            <a:off x="4572000" y="3080144"/>
            <a:ext cx="1451038" cy="523220"/>
          </a:xfrm>
          <a:prstGeom prst="rect">
            <a:avLst/>
          </a:prstGeom>
          <a:noFill/>
        </p:spPr>
        <p:txBody>
          <a:bodyPr wrap="none" rtlCol="0">
            <a:spAutoFit/>
          </a:bodyPr>
          <a:lstStyle/>
          <a:p>
            <a:r>
              <a:rPr kumimoji="1" lang="en-US" altLang="ja-JP" sz="2800" dirty="0" smtClean="0"/>
              <a:t>112</a:t>
            </a:r>
            <a:r>
              <a:rPr kumimoji="1" lang="ja-JP" altLang="en-US" sz="2800" dirty="0" smtClean="0"/>
              <a:t>番地</a:t>
            </a:r>
            <a:endParaRPr kumimoji="1" lang="ja-JP" altLang="en-US" sz="2800" dirty="0"/>
          </a:p>
        </p:txBody>
      </p:sp>
      <p:sp>
        <p:nvSpPr>
          <p:cNvPr id="12" name="テキスト ボックス 11"/>
          <p:cNvSpPr txBox="1"/>
          <p:nvPr/>
        </p:nvSpPr>
        <p:spPr>
          <a:xfrm>
            <a:off x="4572000" y="3651648"/>
            <a:ext cx="1451038" cy="523220"/>
          </a:xfrm>
          <a:prstGeom prst="rect">
            <a:avLst/>
          </a:prstGeom>
          <a:noFill/>
        </p:spPr>
        <p:txBody>
          <a:bodyPr wrap="none" rtlCol="0">
            <a:spAutoFit/>
          </a:bodyPr>
          <a:lstStyle/>
          <a:p>
            <a:r>
              <a:rPr kumimoji="1" lang="en-US" altLang="ja-JP" sz="2800" dirty="0" smtClean="0"/>
              <a:t>116</a:t>
            </a:r>
            <a:r>
              <a:rPr kumimoji="1" lang="ja-JP" altLang="en-US" sz="2800" dirty="0" smtClean="0"/>
              <a:t>番地</a:t>
            </a:r>
            <a:endParaRPr kumimoji="1" lang="ja-JP" altLang="en-US" sz="28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lstStyle/>
          <a:p>
            <a:r>
              <a:rPr kumimoji="1" lang="ja-JP" altLang="en-US" dirty="0" smtClean="0"/>
              <a:t>配列とポインタ（３）</a:t>
            </a:r>
            <a:endParaRPr kumimoji="1" lang="ja-JP" altLang="en-US" dirty="0"/>
          </a:p>
        </p:txBody>
      </p:sp>
      <p:graphicFrame>
        <p:nvGraphicFramePr>
          <p:cNvPr id="3" name="表 2"/>
          <p:cNvGraphicFramePr>
            <a:graphicFrameLocks noGrp="1"/>
          </p:cNvGraphicFramePr>
          <p:nvPr/>
        </p:nvGraphicFramePr>
        <p:xfrm>
          <a:off x="2571736" y="1214422"/>
          <a:ext cx="1928826" cy="2286000"/>
        </p:xfrm>
        <a:graphic>
          <a:graphicData uri="http://schemas.openxmlformats.org/drawingml/2006/table">
            <a:tbl>
              <a:tblPr firstRow="1" bandRow="1">
                <a:tableStyleId>{073A0DAA-6AF3-43AB-8588-CEC1D06C72B9}</a:tableStyleId>
              </a:tblPr>
              <a:tblGrid>
                <a:gridCol w="1928826"/>
              </a:tblGrid>
              <a:tr h="370840">
                <a:tc>
                  <a:txBody>
                    <a:bodyPr/>
                    <a:lstStyle/>
                    <a:p>
                      <a:pPr algn="ctr"/>
                      <a:r>
                        <a:rPr kumimoji="1" lang="en-US" altLang="ja-JP" sz="2400" b="0" dirty="0" smtClean="0">
                          <a:solidFill>
                            <a:schemeClr val="tx1"/>
                          </a:solidFill>
                        </a:rPr>
                        <a:t>a[0]</a:t>
                      </a:r>
                      <a:endParaRPr kumimoji="1" lang="ja-JP" altLang="en-US" sz="2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algn="ctr"/>
                      <a:r>
                        <a:rPr kumimoji="1" lang="en-US" altLang="ja-JP" sz="2400" b="0" dirty="0" smtClean="0">
                          <a:solidFill>
                            <a:schemeClr val="tx1"/>
                          </a:solidFill>
                        </a:rPr>
                        <a:t>a[1]</a:t>
                      </a:r>
                      <a:endParaRPr kumimoji="1" lang="ja-JP" altLang="en-US" sz="2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400" b="0" dirty="0" smtClean="0">
                          <a:solidFill>
                            <a:schemeClr val="tx1"/>
                          </a:solidFill>
                        </a:rPr>
                        <a:t>a[2]</a:t>
                      </a:r>
                      <a:endParaRPr kumimoji="1" lang="ja-JP" altLang="en-US" sz="2400" b="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400" b="0" dirty="0" smtClean="0">
                          <a:solidFill>
                            <a:schemeClr val="tx1"/>
                          </a:solidFill>
                        </a:rPr>
                        <a:t>a[3]</a:t>
                      </a:r>
                      <a:endParaRPr kumimoji="1" lang="ja-JP" altLang="en-US" sz="2400" b="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2400" b="0" dirty="0" smtClean="0">
                          <a:solidFill>
                            <a:schemeClr val="tx1"/>
                          </a:solidFill>
                        </a:rPr>
                        <a:t>a[4]</a:t>
                      </a:r>
                      <a:endParaRPr kumimoji="1" lang="ja-JP" altLang="en-US" sz="2400" b="0" dirty="0" smtClean="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5" name="左中かっこ 4"/>
          <p:cNvSpPr/>
          <p:nvPr/>
        </p:nvSpPr>
        <p:spPr>
          <a:xfrm>
            <a:off x="1714512" y="1285860"/>
            <a:ext cx="785786" cy="2214578"/>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6" name="テキスト ボックス 5"/>
          <p:cNvSpPr txBox="1"/>
          <p:nvPr/>
        </p:nvSpPr>
        <p:spPr>
          <a:xfrm>
            <a:off x="714348" y="2143116"/>
            <a:ext cx="1214446" cy="461665"/>
          </a:xfrm>
          <a:prstGeom prst="rect">
            <a:avLst/>
          </a:prstGeom>
          <a:noFill/>
        </p:spPr>
        <p:txBody>
          <a:bodyPr wrap="square" rtlCol="0">
            <a:spAutoFit/>
          </a:bodyPr>
          <a:lstStyle/>
          <a:p>
            <a:r>
              <a:rPr lang="ja-JP" altLang="en-US" sz="2400" dirty="0" smtClean="0"/>
              <a:t>配列 </a:t>
            </a:r>
            <a:r>
              <a:rPr lang="en-US" altLang="ja-JP" sz="2400" dirty="0" smtClean="0"/>
              <a:t>a</a:t>
            </a:r>
          </a:p>
        </p:txBody>
      </p:sp>
      <p:sp>
        <p:nvSpPr>
          <p:cNvPr id="8" name="テキスト ボックス 7"/>
          <p:cNvSpPr txBox="1"/>
          <p:nvPr/>
        </p:nvSpPr>
        <p:spPr>
          <a:xfrm>
            <a:off x="214282" y="3680302"/>
            <a:ext cx="8786842" cy="2677656"/>
          </a:xfrm>
          <a:prstGeom prst="rect">
            <a:avLst/>
          </a:prstGeom>
          <a:noFill/>
        </p:spPr>
        <p:txBody>
          <a:bodyPr wrap="square" rtlCol="0">
            <a:spAutoFit/>
          </a:bodyPr>
          <a:lstStyle/>
          <a:p>
            <a:r>
              <a:rPr lang="en-US" altLang="ja-JP" sz="2400" dirty="0" smtClean="0"/>
              <a:t>    </a:t>
            </a:r>
            <a:r>
              <a:rPr lang="en-US" altLang="ja-JP" sz="2400" dirty="0" err="1" smtClean="0"/>
              <a:t>int</a:t>
            </a:r>
            <a:r>
              <a:rPr lang="en-US" altLang="ja-JP" sz="2400" dirty="0" smtClean="0"/>
              <a:t> *p;</a:t>
            </a:r>
          </a:p>
          <a:p>
            <a:r>
              <a:rPr lang="ja-JP" altLang="en-US" sz="2400" dirty="0" smtClean="0"/>
              <a:t>で宣言された変数</a:t>
            </a:r>
            <a:r>
              <a:rPr lang="en-US" altLang="ja-JP" sz="2400" dirty="0" smtClean="0"/>
              <a:t>p</a:t>
            </a:r>
            <a:r>
              <a:rPr lang="ja-JP" altLang="en-US" sz="2400" dirty="0" smtClean="0"/>
              <a:t>に対して</a:t>
            </a:r>
            <a:endParaRPr lang="en-US" altLang="ja-JP" sz="2400" dirty="0" smtClean="0"/>
          </a:p>
          <a:p>
            <a:r>
              <a:rPr lang="en-US" altLang="ja-JP" sz="2400" dirty="0" smtClean="0"/>
              <a:t>    p = &amp;a[0];</a:t>
            </a:r>
          </a:p>
          <a:p>
            <a:r>
              <a:rPr lang="ja-JP" altLang="en-US" sz="2400" dirty="0" smtClean="0"/>
              <a:t>を実行すると、</a:t>
            </a:r>
            <a:r>
              <a:rPr lang="en-US" altLang="ja-JP" sz="2400" dirty="0" smtClean="0"/>
              <a:t>&amp;a[0]</a:t>
            </a:r>
            <a:r>
              <a:rPr lang="ja-JP" altLang="en-US" sz="2400" dirty="0" smtClean="0"/>
              <a:t>が</a:t>
            </a:r>
            <a:r>
              <a:rPr lang="en-US" altLang="ja-JP" sz="2400" dirty="0" smtClean="0"/>
              <a:t>100</a:t>
            </a:r>
            <a:r>
              <a:rPr lang="ja-JP" altLang="en-US" sz="2400" dirty="0" smtClean="0"/>
              <a:t>の場合、</a:t>
            </a:r>
            <a:r>
              <a:rPr lang="en-US" altLang="ja-JP" sz="2400" dirty="0" smtClean="0"/>
              <a:t>p</a:t>
            </a:r>
            <a:r>
              <a:rPr lang="ja-JP" altLang="en-US" sz="2400" dirty="0" err="1" smtClean="0"/>
              <a:t>には</a:t>
            </a:r>
            <a:r>
              <a:rPr lang="en-US" altLang="ja-JP" sz="2400" dirty="0" smtClean="0"/>
              <a:t>100</a:t>
            </a:r>
            <a:r>
              <a:rPr lang="ja-JP" altLang="en-US" sz="2400" dirty="0" smtClean="0"/>
              <a:t>が代入される。その状況で、式</a:t>
            </a:r>
            <a:r>
              <a:rPr lang="en-US" altLang="ja-JP" sz="2400" dirty="0" smtClean="0"/>
              <a:t>p + 1</a:t>
            </a:r>
            <a:r>
              <a:rPr lang="ja-JP" altLang="en-US" sz="2400" dirty="0" smtClean="0"/>
              <a:t>の値は</a:t>
            </a:r>
            <a:r>
              <a:rPr lang="en-US" altLang="ja-JP" sz="2400" dirty="0" smtClean="0"/>
              <a:t>104</a:t>
            </a:r>
            <a:r>
              <a:rPr lang="ja-JP" altLang="en-US" sz="2400" dirty="0" smtClean="0"/>
              <a:t>である（</a:t>
            </a:r>
            <a:r>
              <a:rPr lang="en-US" altLang="ja-JP" sz="2400" dirty="0" err="1" smtClean="0"/>
              <a:t>int</a:t>
            </a:r>
            <a:r>
              <a:rPr lang="ja-JP" altLang="en-US" sz="2400" dirty="0" smtClean="0"/>
              <a:t>型が</a:t>
            </a:r>
            <a:r>
              <a:rPr lang="en-US" altLang="ja-JP" sz="2400" dirty="0" smtClean="0"/>
              <a:t>4byte</a:t>
            </a:r>
            <a:r>
              <a:rPr lang="ja-JP" altLang="en-US" sz="2400" dirty="0" smtClean="0"/>
              <a:t>の場合）。</a:t>
            </a:r>
            <a:endParaRPr lang="en-US" altLang="ja-JP" sz="2400" dirty="0" smtClean="0"/>
          </a:p>
          <a:p>
            <a:r>
              <a:rPr lang="en-US" altLang="ja-JP" sz="2400" dirty="0" smtClean="0"/>
              <a:t>C</a:t>
            </a:r>
            <a:r>
              <a:rPr lang="ja-JP" altLang="en-US" sz="2400" dirty="0" smtClean="0"/>
              <a:t>言語の規格で、</a:t>
            </a:r>
            <a:r>
              <a:rPr lang="en-US" altLang="ja-JP" sz="2400" dirty="0" smtClean="0"/>
              <a:t>p + 1</a:t>
            </a:r>
            <a:r>
              <a:rPr lang="ja-JP" altLang="en-US" sz="2400" dirty="0" smtClean="0"/>
              <a:t>は、</a:t>
            </a:r>
            <a:r>
              <a:rPr lang="en-US" altLang="ja-JP" sz="2400" dirty="0" smtClean="0"/>
              <a:t>p</a:t>
            </a:r>
            <a:r>
              <a:rPr lang="ja-JP" altLang="en-US" sz="2400" dirty="0" smtClean="0"/>
              <a:t>が指す配列の要素の次の要素を指すということが定められている（次ページ参照）。</a:t>
            </a:r>
            <a:endParaRPr lang="en-US" altLang="ja-JP" sz="2400" dirty="0" smtClean="0"/>
          </a:p>
        </p:txBody>
      </p:sp>
      <p:sp>
        <p:nvSpPr>
          <p:cNvPr id="7" name="テキスト ボックス 6"/>
          <p:cNvSpPr txBox="1"/>
          <p:nvPr/>
        </p:nvSpPr>
        <p:spPr>
          <a:xfrm>
            <a:off x="4572000" y="1196752"/>
            <a:ext cx="1266693" cy="461665"/>
          </a:xfrm>
          <a:prstGeom prst="rect">
            <a:avLst/>
          </a:prstGeom>
          <a:noFill/>
        </p:spPr>
        <p:txBody>
          <a:bodyPr wrap="none" rtlCol="0">
            <a:spAutoFit/>
          </a:bodyPr>
          <a:lstStyle/>
          <a:p>
            <a:r>
              <a:rPr kumimoji="1" lang="en-US" altLang="ja-JP" sz="2400" dirty="0" smtClean="0"/>
              <a:t>100</a:t>
            </a:r>
            <a:r>
              <a:rPr kumimoji="1" lang="ja-JP" altLang="en-US" sz="2400" dirty="0" smtClean="0"/>
              <a:t>番地</a:t>
            </a:r>
            <a:endParaRPr kumimoji="1" lang="ja-JP" altLang="en-US" sz="2400" dirty="0"/>
          </a:p>
        </p:txBody>
      </p:sp>
      <p:sp>
        <p:nvSpPr>
          <p:cNvPr id="9" name="テキスト ボックス 8"/>
          <p:cNvSpPr txBox="1"/>
          <p:nvPr/>
        </p:nvSpPr>
        <p:spPr>
          <a:xfrm>
            <a:off x="4572000" y="1673278"/>
            <a:ext cx="1266693" cy="461665"/>
          </a:xfrm>
          <a:prstGeom prst="rect">
            <a:avLst/>
          </a:prstGeom>
          <a:noFill/>
        </p:spPr>
        <p:txBody>
          <a:bodyPr wrap="none" rtlCol="0">
            <a:spAutoFit/>
          </a:bodyPr>
          <a:lstStyle/>
          <a:p>
            <a:r>
              <a:rPr kumimoji="1" lang="en-US" altLang="ja-JP" sz="2400" dirty="0" smtClean="0"/>
              <a:t>104</a:t>
            </a:r>
            <a:r>
              <a:rPr kumimoji="1" lang="ja-JP" altLang="en-US" sz="2400" dirty="0" smtClean="0"/>
              <a:t>番地</a:t>
            </a:r>
            <a:endParaRPr kumimoji="1" lang="ja-JP" altLang="en-US" sz="2400" dirty="0"/>
          </a:p>
        </p:txBody>
      </p:sp>
      <p:sp>
        <p:nvSpPr>
          <p:cNvPr id="10" name="テキスト ボックス 9"/>
          <p:cNvSpPr txBox="1"/>
          <p:nvPr/>
        </p:nvSpPr>
        <p:spPr>
          <a:xfrm>
            <a:off x="4572000" y="2132856"/>
            <a:ext cx="1266693" cy="461665"/>
          </a:xfrm>
          <a:prstGeom prst="rect">
            <a:avLst/>
          </a:prstGeom>
          <a:noFill/>
        </p:spPr>
        <p:txBody>
          <a:bodyPr wrap="none" rtlCol="0">
            <a:spAutoFit/>
          </a:bodyPr>
          <a:lstStyle/>
          <a:p>
            <a:r>
              <a:rPr kumimoji="1" lang="en-US" altLang="ja-JP" sz="2400" dirty="0" smtClean="0"/>
              <a:t>108</a:t>
            </a:r>
            <a:r>
              <a:rPr kumimoji="1" lang="ja-JP" altLang="en-US" sz="2400" dirty="0" smtClean="0"/>
              <a:t>番地</a:t>
            </a:r>
            <a:endParaRPr kumimoji="1" lang="ja-JP" altLang="en-US" sz="2400" dirty="0"/>
          </a:p>
        </p:txBody>
      </p:sp>
      <p:sp>
        <p:nvSpPr>
          <p:cNvPr id="11" name="テキスト ボックス 10"/>
          <p:cNvSpPr txBox="1"/>
          <p:nvPr/>
        </p:nvSpPr>
        <p:spPr>
          <a:xfrm>
            <a:off x="4572000" y="2564904"/>
            <a:ext cx="1266693" cy="461665"/>
          </a:xfrm>
          <a:prstGeom prst="rect">
            <a:avLst/>
          </a:prstGeom>
          <a:noFill/>
        </p:spPr>
        <p:txBody>
          <a:bodyPr wrap="none" rtlCol="0">
            <a:spAutoFit/>
          </a:bodyPr>
          <a:lstStyle/>
          <a:p>
            <a:r>
              <a:rPr kumimoji="1" lang="en-US" altLang="ja-JP" sz="2400" dirty="0" smtClean="0"/>
              <a:t>112</a:t>
            </a:r>
            <a:r>
              <a:rPr kumimoji="1" lang="ja-JP" altLang="en-US" sz="2400" dirty="0" smtClean="0"/>
              <a:t>番地</a:t>
            </a:r>
            <a:endParaRPr kumimoji="1" lang="ja-JP" altLang="en-US" sz="2400" dirty="0"/>
          </a:p>
        </p:txBody>
      </p:sp>
      <p:sp>
        <p:nvSpPr>
          <p:cNvPr id="12" name="テキスト ボックス 11"/>
          <p:cNvSpPr txBox="1"/>
          <p:nvPr/>
        </p:nvSpPr>
        <p:spPr>
          <a:xfrm>
            <a:off x="4572000" y="3068960"/>
            <a:ext cx="1266693" cy="461665"/>
          </a:xfrm>
          <a:prstGeom prst="rect">
            <a:avLst/>
          </a:prstGeom>
          <a:noFill/>
        </p:spPr>
        <p:txBody>
          <a:bodyPr wrap="none" rtlCol="0">
            <a:spAutoFit/>
          </a:bodyPr>
          <a:lstStyle/>
          <a:p>
            <a:r>
              <a:rPr kumimoji="1" lang="en-US" altLang="ja-JP" sz="2400" dirty="0" smtClean="0"/>
              <a:t>116</a:t>
            </a:r>
            <a:r>
              <a:rPr kumimoji="1" lang="ja-JP" altLang="en-US" sz="2400" dirty="0" smtClean="0"/>
              <a:t>番地</a:t>
            </a:r>
            <a:endParaRPr kumimoji="1" lang="ja-JP" altLang="en-US" sz="24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ポインタ型と</a:t>
            </a:r>
            <a:r>
              <a:rPr kumimoji="1" lang="en-US" altLang="ja-JP" dirty="0" err="1" smtClean="0"/>
              <a:t>int</a:t>
            </a:r>
            <a:r>
              <a:rPr kumimoji="1" lang="ja-JP" altLang="en-US" dirty="0" smtClean="0"/>
              <a:t>型の足し算</a:t>
            </a:r>
            <a:endParaRPr kumimoji="1" lang="ja-JP" altLang="en-US" dirty="0"/>
          </a:p>
        </p:txBody>
      </p:sp>
      <p:sp>
        <p:nvSpPr>
          <p:cNvPr id="4" name="テキスト ボックス 3"/>
          <p:cNvSpPr txBox="1"/>
          <p:nvPr/>
        </p:nvSpPr>
        <p:spPr>
          <a:xfrm>
            <a:off x="642910" y="1500174"/>
            <a:ext cx="7242560" cy="523220"/>
          </a:xfrm>
          <a:prstGeom prst="rect">
            <a:avLst/>
          </a:prstGeom>
          <a:noFill/>
        </p:spPr>
        <p:txBody>
          <a:bodyPr wrap="none" rtlCol="0">
            <a:spAutoFit/>
          </a:bodyPr>
          <a:lstStyle/>
          <a:p>
            <a:r>
              <a:rPr lang="ja-JP" altLang="en-US" sz="2800" dirty="0" smtClean="0"/>
              <a:t>ポインタ型と</a:t>
            </a:r>
            <a:r>
              <a:rPr lang="en-US" altLang="ja-JP" sz="2800" dirty="0" err="1" smtClean="0"/>
              <a:t>int</a:t>
            </a:r>
            <a:r>
              <a:rPr lang="ja-JP" altLang="en-US" sz="2800" dirty="0" smtClean="0"/>
              <a:t>型は足し算を行うことができる。</a:t>
            </a:r>
            <a:r>
              <a:rPr lang="en-US" altLang="ja-JP" sz="2800" dirty="0" smtClean="0"/>
              <a:t> </a:t>
            </a:r>
          </a:p>
        </p:txBody>
      </p:sp>
      <p:sp>
        <p:nvSpPr>
          <p:cNvPr id="5" name="正方形/長方形 4"/>
          <p:cNvSpPr/>
          <p:nvPr/>
        </p:nvSpPr>
        <p:spPr>
          <a:xfrm>
            <a:off x="714348" y="2071678"/>
            <a:ext cx="6976462" cy="523220"/>
          </a:xfrm>
          <a:prstGeom prst="rect">
            <a:avLst/>
          </a:prstGeom>
        </p:spPr>
        <p:txBody>
          <a:bodyPr wrap="none">
            <a:spAutoFit/>
          </a:bodyPr>
          <a:lstStyle/>
          <a:p>
            <a:r>
              <a:rPr lang="en-US" altLang="ja-JP" sz="2800" dirty="0" smtClean="0"/>
              <a:t>t * </a:t>
            </a:r>
            <a:r>
              <a:rPr lang="ja-JP" altLang="en-US" sz="2800" dirty="0" smtClean="0"/>
              <a:t>型の式</a:t>
            </a:r>
            <a:r>
              <a:rPr lang="en-US" altLang="ja-JP" sz="2800" dirty="0" smtClean="0"/>
              <a:t>e1</a:t>
            </a:r>
            <a:r>
              <a:rPr lang="ja-JP" altLang="en-US" sz="2800" dirty="0" smtClean="0"/>
              <a:t>と</a:t>
            </a:r>
            <a:r>
              <a:rPr lang="en-US" altLang="ja-JP" sz="2800" dirty="0" err="1" smtClean="0"/>
              <a:t>int</a:t>
            </a:r>
            <a:r>
              <a:rPr lang="ja-JP" altLang="en-US" sz="2800" dirty="0" smtClean="0"/>
              <a:t>型の式</a:t>
            </a:r>
            <a:r>
              <a:rPr lang="en-US" altLang="ja-JP" sz="2800" dirty="0" smtClean="0"/>
              <a:t>e2</a:t>
            </a:r>
            <a:r>
              <a:rPr lang="ja-JP" altLang="en-US" sz="2800" dirty="0" smtClean="0"/>
              <a:t>の足し算式の意味</a:t>
            </a:r>
            <a:endParaRPr lang="ja-JP" altLang="en-US" sz="2800" dirty="0"/>
          </a:p>
        </p:txBody>
      </p:sp>
      <p:sp>
        <p:nvSpPr>
          <p:cNvPr id="6" name="テキスト ボックス 5"/>
          <p:cNvSpPr txBox="1"/>
          <p:nvPr/>
        </p:nvSpPr>
        <p:spPr>
          <a:xfrm>
            <a:off x="1214414" y="2643182"/>
            <a:ext cx="6858048" cy="2677656"/>
          </a:xfrm>
          <a:prstGeom prst="rect">
            <a:avLst/>
          </a:prstGeom>
          <a:solidFill>
            <a:srgbClr val="92D050"/>
          </a:solidFill>
          <a:ln>
            <a:solidFill>
              <a:schemeClr val="tx1"/>
            </a:solidFill>
          </a:ln>
        </p:spPr>
        <p:txBody>
          <a:bodyPr wrap="square" rtlCol="0">
            <a:spAutoFit/>
          </a:bodyPr>
          <a:lstStyle/>
          <a:p>
            <a:r>
              <a:rPr lang="en-US" altLang="ja-JP" sz="2800" dirty="0" smtClean="0"/>
              <a:t>e1</a:t>
            </a:r>
            <a:r>
              <a:rPr lang="ja-JP" altLang="en-US" sz="2800" dirty="0" smtClean="0"/>
              <a:t>がある配列</a:t>
            </a:r>
            <a:r>
              <a:rPr lang="en-US" altLang="ja-JP" sz="2800" dirty="0" smtClean="0"/>
              <a:t>a</a:t>
            </a:r>
            <a:r>
              <a:rPr lang="ja-JP" altLang="en-US" sz="2800" dirty="0" smtClean="0"/>
              <a:t>の</a:t>
            </a:r>
            <a:r>
              <a:rPr lang="en-US" altLang="ja-JP" sz="2800" dirty="0" err="1" smtClean="0"/>
              <a:t>i</a:t>
            </a:r>
            <a:r>
              <a:rPr lang="ja-JP" altLang="en-US" sz="2800" dirty="0" smtClean="0"/>
              <a:t>番目の要素を指している場合、</a:t>
            </a:r>
            <a:r>
              <a:rPr lang="en-US" altLang="ja-JP" sz="2800" dirty="0" smtClean="0"/>
              <a:t>e2</a:t>
            </a:r>
            <a:r>
              <a:rPr lang="ja-JP" altLang="en-US" sz="2800" dirty="0" smtClean="0"/>
              <a:t>の値が</a:t>
            </a:r>
            <a:r>
              <a:rPr lang="en-US" altLang="ja-JP" sz="2800" dirty="0" smtClean="0"/>
              <a:t>n</a:t>
            </a:r>
            <a:r>
              <a:rPr lang="ja-JP" altLang="en-US" sz="2800" dirty="0" smtClean="0"/>
              <a:t>のとき、</a:t>
            </a:r>
            <a:r>
              <a:rPr lang="en-US" altLang="ja-JP" sz="2800" dirty="0" smtClean="0"/>
              <a:t>e1 + e2</a:t>
            </a:r>
            <a:r>
              <a:rPr lang="ja-JP" altLang="en-US" sz="2800" dirty="0" err="1" smtClean="0"/>
              <a:t>、</a:t>
            </a:r>
            <a:r>
              <a:rPr lang="ja-JP" altLang="en-US" sz="2800" dirty="0" smtClean="0"/>
              <a:t>あるいは</a:t>
            </a:r>
            <a:r>
              <a:rPr lang="en-US" altLang="ja-JP" sz="2800" dirty="0" smtClean="0"/>
              <a:t>e2 + e1</a:t>
            </a:r>
            <a:r>
              <a:rPr lang="ja-JP" altLang="en-US" sz="2800" dirty="0" smtClean="0"/>
              <a:t>は、配列</a:t>
            </a:r>
            <a:r>
              <a:rPr lang="en-US" altLang="ja-JP" sz="2800" dirty="0" smtClean="0"/>
              <a:t>a</a:t>
            </a:r>
            <a:r>
              <a:rPr lang="ja-JP" altLang="en-US" sz="2800" dirty="0" smtClean="0"/>
              <a:t>の</a:t>
            </a:r>
            <a:r>
              <a:rPr lang="en-US" altLang="ja-JP" sz="2800" dirty="0" smtClean="0"/>
              <a:t> (</a:t>
            </a:r>
            <a:r>
              <a:rPr lang="en-US" altLang="ja-JP" sz="2800" dirty="0" err="1" smtClean="0"/>
              <a:t>i</a:t>
            </a:r>
            <a:r>
              <a:rPr lang="en-US" altLang="ja-JP" sz="2800" dirty="0" smtClean="0"/>
              <a:t> + n)</a:t>
            </a:r>
            <a:r>
              <a:rPr lang="ja-JP" altLang="en-US" sz="2800" dirty="0" smtClean="0"/>
              <a:t>番目の要素を指す。ただし、その要素が存在しない場合は、（配列の最後の要素</a:t>
            </a:r>
            <a:r>
              <a:rPr lang="en-US" altLang="ja-JP" sz="2800" dirty="0" smtClean="0"/>
              <a:t>+ 1</a:t>
            </a:r>
            <a:r>
              <a:rPr lang="ja-JP" altLang="en-US" sz="2800" dirty="0" smtClean="0"/>
              <a:t>番目を除いて）動作が未定義である。</a:t>
            </a:r>
            <a:endParaRPr kumimoji="1" lang="ja-JP" altLang="en-US" sz="2800" dirty="0"/>
          </a:p>
        </p:txBody>
      </p:sp>
      <p:sp>
        <p:nvSpPr>
          <p:cNvPr id="7" name="テキスト ボックス 6"/>
          <p:cNvSpPr txBox="1"/>
          <p:nvPr/>
        </p:nvSpPr>
        <p:spPr>
          <a:xfrm>
            <a:off x="500034" y="5429264"/>
            <a:ext cx="8215370" cy="1384995"/>
          </a:xfrm>
          <a:prstGeom prst="rect">
            <a:avLst/>
          </a:prstGeom>
          <a:noFill/>
        </p:spPr>
        <p:txBody>
          <a:bodyPr wrap="square" rtlCol="0">
            <a:spAutoFit/>
          </a:bodyPr>
          <a:lstStyle/>
          <a:p>
            <a:r>
              <a:rPr kumimoji="1" lang="ja-JP" altLang="en-US" sz="2800" dirty="0" smtClean="0"/>
              <a:t>引き算も同様である。ポインタ同士の引き算もできる（双方とも配列の範囲内か最後の要素</a:t>
            </a:r>
            <a:r>
              <a:rPr kumimoji="1" lang="en-US" altLang="ja-JP" sz="2800" dirty="0" smtClean="0"/>
              <a:t>+1</a:t>
            </a:r>
            <a:r>
              <a:rPr kumimoji="1" lang="ja-JP" altLang="en-US" sz="2800" dirty="0" smtClean="0"/>
              <a:t>番目を指している場合）。</a:t>
            </a:r>
            <a:endParaRPr kumimoji="1" lang="ja-JP" altLang="en-US" sz="28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例（打ち込んで確認）</a:t>
            </a:r>
            <a:endParaRPr kumimoji="1" lang="ja-JP" altLang="en-US" dirty="0"/>
          </a:p>
        </p:txBody>
      </p:sp>
      <p:sp>
        <p:nvSpPr>
          <p:cNvPr id="4" name="正方形/長方形 3"/>
          <p:cNvSpPr/>
          <p:nvPr/>
        </p:nvSpPr>
        <p:spPr>
          <a:xfrm>
            <a:off x="857224" y="1357298"/>
            <a:ext cx="6858048" cy="5262979"/>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a [5] = {10,20,30,40,50};</a:t>
            </a:r>
          </a:p>
          <a:p>
            <a:r>
              <a:rPr lang="en-US" altLang="ja-JP" sz="2800" dirty="0" smtClean="0"/>
              <a:t>  </a:t>
            </a:r>
            <a:r>
              <a:rPr lang="en-US" altLang="ja-JP" sz="2800" dirty="0" err="1" smtClean="0"/>
              <a:t>int</a:t>
            </a:r>
            <a:r>
              <a:rPr lang="en-US" altLang="ja-JP" sz="2800" dirty="0" smtClean="0"/>
              <a:t> *p;</a:t>
            </a:r>
          </a:p>
          <a:p>
            <a:r>
              <a:rPr lang="en-US" altLang="ja-JP" sz="2800" dirty="0" smtClean="0"/>
              <a:t>  p = &amp;a[0];</a:t>
            </a:r>
          </a:p>
          <a:p>
            <a:r>
              <a:rPr lang="en-US" altLang="ja-JP" sz="2800" dirty="0" smtClean="0"/>
              <a:t>  </a:t>
            </a:r>
            <a:r>
              <a:rPr lang="en-US" altLang="ja-JP" sz="2800" dirty="0" err="1" smtClean="0"/>
              <a:t>printf</a:t>
            </a:r>
            <a:r>
              <a:rPr lang="en-US" altLang="ja-JP" sz="2800" dirty="0" smtClean="0"/>
              <a:t> ("The value of a[0] is %d.\n", *p);</a:t>
            </a:r>
          </a:p>
          <a:p>
            <a:r>
              <a:rPr lang="en-US" altLang="ja-JP" sz="2800" dirty="0" smtClean="0"/>
              <a:t>  </a:t>
            </a:r>
            <a:r>
              <a:rPr lang="en-US" altLang="ja-JP" sz="2800" dirty="0" err="1" smtClean="0"/>
              <a:t>printf</a:t>
            </a:r>
            <a:r>
              <a:rPr lang="en-US" altLang="ja-JP" sz="2800" dirty="0" smtClean="0"/>
              <a:t> ("The value of a[1] is %d.\n", *(p+1));</a:t>
            </a:r>
          </a:p>
          <a:p>
            <a:r>
              <a:rPr lang="en-US" altLang="ja-JP" sz="2800" dirty="0" smtClean="0"/>
              <a:t>  </a:t>
            </a:r>
            <a:r>
              <a:rPr lang="en-US" altLang="ja-JP" sz="2800" dirty="0" err="1" smtClean="0"/>
              <a:t>printf</a:t>
            </a:r>
            <a:r>
              <a:rPr lang="en-US" altLang="ja-JP" sz="2800" dirty="0" smtClean="0"/>
              <a:t> ("The value of a[2] is %d.\n", *(p+2));</a:t>
            </a:r>
          </a:p>
          <a:p>
            <a:r>
              <a:rPr lang="en-US" altLang="ja-JP" sz="2800" dirty="0" smtClean="0"/>
              <a:t>  </a:t>
            </a:r>
            <a:r>
              <a:rPr lang="en-US" altLang="ja-JP" sz="2800" dirty="0" err="1" smtClean="0"/>
              <a:t>printf</a:t>
            </a:r>
            <a:r>
              <a:rPr lang="en-US" altLang="ja-JP" sz="2800" dirty="0" smtClean="0"/>
              <a:t> ("The value of a[3] is %d.\n", *(p+3));</a:t>
            </a:r>
          </a:p>
          <a:p>
            <a:r>
              <a:rPr lang="en-US" altLang="ja-JP" sz="2800" dirty="0" smtClean="0"/>
              <a:t>  </a:t>
            </a:r>
            <a:r>
              <a:rPr lang="en-US" altLang="ja-JP" sz="2800" dirty="0" err="1" smtClean="0"/>
              <a:t>printf</a:t>
            </a:r>
            <a:r>
              <a:rPr lang="en-US" altLang="ja-JP" sz="2800" dirty="0" smtClean="0"/>
              <a:t> ("The value of a[4] is %d.\n", *(p+4));</a:t>
            </a:r>
          </a:p>
          <a:p>
            <a:r>
              <a:rPr lang="en-US" altLang="ja-JP" sz="2800" dirty="0" smtClean="0"/>
              <a:t>  return 0;</a:t>
            </a:r>
          </a:p>
          <a:p>
            <a:r>
              <a:rPr lang="en-US" altLang="ja-JP" sz="2800" dirty="0" smtClean="0"/>
              <a:t>}</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ポインタ型変数の値の変更</a:t>
            </a:r>
            <a:endParaRPr kumimoji="1" lang="ja-JP" altLang="en-US" dirty="0"/>
          </a:p>
        </p:txBody>
      </p:sp>
      <p:sp>
        <p:nvSpPr>
          <p:cNvPr id="4" name="テキスト ボックス 3"/>
          <p:cNvSpPr txBox="1"/>
          <p:nvPr/>
        </p:nvSpPr>
        <p:spPr>
          <a:xfrm>
            <a:off x="642910" y="1500174"/>
            <a:ext cx="7383753" cy="523220"/>
          </a:xfrm>
          <a:prstGeom prst="rect">
            <a:avLst/>
          </a:prstGeom>
          <a:noFill/>
        </p:spPr>
        <p:txBody>
          <a:bodyPr wrap="none" rtlCol="0">
            <a:spAutoFit/>
          </a:bodyPr>
          <a:lstStyle/>
          <a:p>
            <a:r>
              <a:rPr kumimoji="1" lang="ja-JP" altLang="en-US" sz="2800" dirty="0" smtClean="0"/>
              <a:t>ポインタ型変数の値を代入によって変更できる。</a:t>
            </a:r>
            <a:endParaRPr kumimoji="1" lang="ja-JP" altLang="en-US" sz="2800" dirty="0"/>
          </a:p>
        </p:txBody>
      </p:sp>
      <p:sp>
        <p:nvSpPr>
          <p:cNvPr id="5" name="テキスト ボックス 4"/>
          <p:cNvSpPr txBox="1"/>
          <p:nvPr/>
        </p:nvSpPr>
        <p:spPr>
          <a:xfrm>
            <a:off x="467544" y="2357430"/>
            <a:ext cx="8064896" cy="3785652"/>
          </a:xfrm>
          <a:prstGeom prst="rect">
            <a:avLst/>
          </a:prstGeom>
          <a:noFill/>
        </p:spPr>
        <p:txBody>
          <a:bodyPr wrap="square" rtlCol="0">
            <a:spAutoFit/>
          </a:bodyPr>
          <a:lstStyle/>
          <a:p>
            <a:r>
              <a:rPr lang="en-US" altLang="ja-JP" sz="2400" dirty="0" smtClean="0"/>
              <a:t>    </a:t>
            </a:r>
            <a:r>
              <a:rPr lang="en-US" altLang="ja-JP" sz="2400" dirty="0" err="1" smtClean="0"/>
              <a:t>int</a:t>
            </a:r>
            <a:r>
              <a:rPr lang="en-US" altLang="ja-JP" sz="2400" dirty="0" smtClean="0"/>
              <a:t> *p;</a:t>
            </a:r>
          </a:p>
          <a:p>
            <a:r>
              <a:rPr lang="ja-JP" altLang="en-US" sz="2400" dirty="0" smtClean="0"/>
              <a:t>で宣言された変数</a:t>
            </a:r>
            <a:r>
              <a:rPr lang="en-US" altLang="ja-JP" sz="2400" dirty="0" smtClean="0"/>
              <a:t>p</a:t>
            </a:r>
            <a:r>
              <a:rPr lang="ja-JP" altLang="en-US" sz="2400" dirty="0" smtClean="0"/>
              <a:t>に対して</a:t>
            </a:r>
            <a:endParaRPr lang="en-US" altLang="ja-JP" sz="2400" dirty="0" smtClean="0"/>
          </a:p>
          <a:p>
            <a:r>
              <a:rPr lang="en-US" altLang="ja-JP" sz="2400" dirty="0" smtClean="0"/>
              <a:t>    p = &amp;a[0];</a:t>
            </a:r>
          </a:p>
          <a:p>
            <a:r>
              <a:rPr lang="ja-JP" altLang="en-US" sz="2400" dirty="0" smtClean="0"/>
              <a:t>を実行すると、</a:t>
            </a:r>
            <a:r>
              <a:rPr lang="en-US" altLang="ja-JP" sz="2400" dirty="0" smtClean="0"/>
              <a:t>&amp;a[0]</a:t>
            </a:r>
            <a:r>
              <a:rPr lang="ja-JP" altLang="en-US" sz="2400" dirty="0" smtClean="0"/>
              <a:t>が</a:t>
            </a:r>
            <a:r>
              <a:rPr lang="en-US" altLang="ja-JP" sz="2400" dirty="0" smtClean="0"/>
              <a:t>100</a:t>
            </a:r>
            <a:r>
              <a:rPr lang="ja-JP" altLang="en-US" sz="2400" dirty="0" smtClean="0"/>
              <a:t>の場合、</a:t>
            </a:r>
            <a:r>
              <a:rPr lang="en-US" altLang="ja-JP" sz="2400" dirty="0" smtClean="0"/>
              <a:t>p</a:t>
            </a:r>
            <a:r>
              <a:rPr lang="ja-JP" altLang="en-US" sz="2400" dirty="0" err="1" smtClean="0"/>
              <a:t>には</a:t>
            </a:r>
            <a:r>
              <a:rPr lang="en-US" altLang="ja-JP" sz="2400" dirty="0" smtClean="0"/>
              <a:t>100</a:t>
            </a:r>
            <a:r>
              <a:rPr lang="ja-JP" altLang="en-US" sz="2400" dirty="0" smtClean="0"/>
              <a:t>が代入される。その状況下で</a:t>
            </a:r>
            <a:endParaRPr lang="en-US" altLang="ja-JP" sz="2400" dirty="0" smtClean="0"/>
          </a:p>
          <a:p>
            <a:r>
              <a:rPr lang="en-US" altLang="ja-JP" sz="2400" dirty="0" smtClean="0"/>
              <a:t>    p = p + 1;</a:t>
            </a:r>
          </a:p>
          <a:p>
            <a:r>
              <a:rPr lang="ja-JP" altLang="en-US" sz="2400" dirty="0" smtClean="0"/>
              <a:t>が実行されると、</a:t>
            </a:r>
            <a:r>
              <a:rPr lang="en-US" altLang="ja-JP" sz="2400" dirty="0" smtClean="0"/>
              <a:t>p</a:t>
            </a:r>
            <a:r>
              <a:rPr lang="ja-JP" altLang="en-US" sz="2400" dirty="0" err="1" smtClean="0"/>
              <a:t>には</a:t>
            </a:r>
            <a:r>
              <a:rPr lang="en-US" altLang="ja-JP" sz="2400" dirty="0" smtClean="0"/>
              <a:t>104</a:t>
            </a:r>
            <a:r>
              <a:rPr lang="ja-JP" altLang="en-US" sz="2400" dirty="0" smtClean="0"/>
              <a:t>が代入される。</a:t>
            </a:r>
            <a:endParaRPr lang="en-US" altLang="ja-JP" sz="2400" dirty="0" smtClean="0"/>
          </a:p>
          <a:p>
            <a:endParaRPr lang="en-US" altLang="ja-JP" sz="2400" dirty="0" smtClean="0"/>
          </a:p>
          <a:p>
            <a:r>
              <a:rPr lang="ja-JP" altLang="en-US" sz="2400" dirty="0" smtClean="0"/>
              <a:t>（規格により、</a:t>
            </a:r>
            <a:r>
              <a:rPr lang="en-US" altLang="ja-JP" sz="2400" dirty="0" smtClean="0"/>
              <a:t>p=&amp;a[0]; p=p+1;</a:t>
            </a:r>
            <a:r>
              <a:rPr lang="ja-JP" altLang="en-US" sz="2400" dirty="0" smtClean="0"/>
              <a:t> を実行すると、</a:t>
            </a:r>
            <a:r>
              <a:rPr lang="en-US" altLang="ja-JP" sz="2400" dirty="0" smtClean="0"/>
              <a:t>p</a:t>
            </a:r>
            <a:r>
              <a:rPr lang="ja-JP" altLang="en-US" sz="2400" dirty="0" smtClean="0"/>
              <a:t>は</a:t>
            </a:r>
            <a:r>
              <a:rPr lang="en-US" altLang="ja-JP" sz="2400" dirty="0" smtClean="0"/>
              <a:t>a[1]</a:t>
            </a:r>
            <a:r>
              <a:rPr lang="ja-JP" altLang="en-US" sz="2400" dirty="0" smtClean="0"/>
              <a:t>を指すようになるということが言える。）</a:t>
            </a:r>
            <a:endParaRPr lang="en-US" altLang="ja-JP" sz="2400" dirty="0" smtClean="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654032"/>
          </a:xfrm>
        </p:spPr>
        <p:txBody>
          <a:bodyPr>
            <a:normAutofit fontScale="90000"/>
          </a:bodyPr>
          <a:lstStyle/>
          <a:p>
            <a:r>
              <a:rPr kumimoji="1" lang="ja-JP" altLang="en-US" dirty="0" smtClean="0"/>
              <a:t>例</a:t>
            </a:r>
            <a:endParaRPr kumimoji="1" lang="ja-JP" altLang="en-US" dirty="0"/>
          </a:p>
        </p:txBody>
      </p:sp>
      <p:sp>
        <p:nvSpPr>
          <p:cNvPr id="4" name="正方形/長方形 3"/>
          <p:cNvSpPr/>
          <p:nvPr/>
        </p:nvSpPr>
        <p:spPr>
          <a:xfrm>
            <a:off x="642910" y="785794"/>
            <a:ext cx="7572428" cy="6001643"/>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a[5] = {10,20,30,40,50};</a:t>
            </a:r>
          </a:p>
          <a:p>
            <a:r>
              <a:rPr lang="en-US" altLang="ja-JP" sz="2400" dirty="0" smtClean="0"/>
              <a:t>  </a:t>
            </a:r>
            <a:r>
              <a:rPr lang="en-US" altLang="ja-JP" sz="2400" dirty="0" err="1" smtClean="0"/>
              <a:t>int</a:t>
            </a:r>
            <a:r>
              <a:rPr lang="en-US" altLang="ja-JP" sz="2400" dirty="0" smtClean="0"/>
              <a:t> *p;</a:t>
            </a:r>
          </a:p>
          <a:p>
            <a:r>
              <a:rPr lang="en-US" altLang="ja-JP" sz="2400" dirty="0" smtClean="0"/>
              <a:t>  p = &amp;a[0];</a:t>
            </a:r>
          </a:p>
          <a:p>
            <a:r>
              <a:rPr lang="en-US" altLang="ja-JP" sz="2400" dirty="0" smtClean="0"/>
              <a:t>  </a:t>
            </a:r>
            <a:r>
              <a:rPr lang="en-US" altLang="ja-JP" sz="2400" dirty="0" err="1" smtClean="0"/>
              <a:t>printf</a:t>
            </a:r>
            <a:r>
              <a:rPr lang="en-US" altLang="ja-JP" sz="2400" dirty="0" smtClean="0"/>
              <a:t> ("The value of a[0] is %d.\n", *p);</a:t>
            </a:r>
          </a:p>
          <a:p>
            <a:r>
              <a:rPr lang="en-US" altLang="ja-JP" sz="2400" dirty="0" smtClean="0"/>
              <a:t>  p = p+1;</a:t>
            </a:r>
          </a:p>
          <a:p>
            <a:r>
              <a:rPr lang="en-US" altLang="ja-JP" sz="2400" dirty="0" smtClean="0"/>
              <a:t>  </a:t>
            </a:r>
            <a:r>
              <a:rPr lang="en-US" altLang="ja-JP" sz="2400" dirty="0" err="1" smtClean="0"/>
              <a:t>printf</a:t>
            </a:r>
            <a:r>
              <a:rPr lang="en-US" altLang="ja-JP" sz="2400" dirty="0" smtClean="0"/>
              <a:t> ("The value of a[1] is %d.\n", *p);</a:t>
            </a:r>
          </a:p>
          <a:p>
            <a:r>
              <a:rPr lang="en-US" altLang="ja-JP" sz="2400" dirty="0" smtClean="0"/>
              <a:t>  p = p+1;</a:t>
            </a:r>
          </a:p>
          <a:p>
            <a:r>
              <a:rPr lang="en-US" altLang="ja-JP" sz="2400" dirty="0" smtClean="0"/>
              <a:t>  </a:t>
            </a:r>
            <a:r>
              <a:rPr lang="en-US" altLang="ja-JP" sz="2400" dirty="0" err="1" smtClean="0"/>
              <a:t>printf</a:t>
            </a:r>
            <a:r>
              <a:rPr lang="en-US" altLang="ja-JP" sz="2400" dirty="0" smtClean="0"/>
              <a:t> ("The value of a[2] is %d.\n", *p);</a:t>
            </a:r>
          </a:p>
          <a:p>
            <a:r>
              <a:rPr lang="en-US" altLang="ja-JP" sz="2400" dirty="0" smtClean="0"/>
              <a:t>  p = p+1;</a:t>
            </a:r>
          </a:p>
          <a:p>
            <a:r>
              <a:rPr lang="en-US" altLang="ja-JP" sz="2400" dirty="0" smtClean="0"/>
              <a:t>  </a:t>
            </a:r>
            <a:r>
              <a:rPr lang="en-US" altLang="ja-JP" sz="2400" dirty="0" err="1" smtClean="0"/>
              <a:t>printf</a:t>
            </a:r>
            <a:r>
              <a:rPr lang="en-US" altLang="ja-JP" sz="2400" dirty="0" smtClean="0"/>
              <a:t> ("The value of a[3] is %d.\n", *p);</a:t>
            </a:r>
          </a:p>
          <a:p>
            <a:r>
              <a:rPr lang="en-US" altLang="ja-JP" sz="2400" dirty="0" smtClean="0"/>
              <a:t>  p = p+1;</a:t>
            </a:r>
          </a:p>
          <a:p>
            <a:r>
              <a:rPr lang="en-US" altLang="ja-JP" sz="2400" dirty="0" smtClean="0"/>
              <a:t>  </a:t>
            </a:r>
            <a:r>
              <a:rPr lang="en-US" altLang="ja-JP" sz="2400" dirty="0" err="1" smtClean="0"/>
              <a:t>printf</a:t>
            </a:r>
            <a:r>
              <a:rPr lang="en-US" altLang="ja-JP" sz="2400" dirty="0" smtClean="0"/>
              <a:t> ("The value of a[4] is %d.\n", *p);</a:t>
            </a:r>
          </a:p>
          <a:p>
            <a:r>
              <a:rPr lang="en-US" altLang="ja-JP" sz="2400" dirty="0" smtClean="0"/>
              <a:t>  return 0;</a:t>
            </a:r>
          </a:p>
          <a:p>
            <a:r>
              <a:rPr lang="en-US" altLang="ja-JP" sz="2400" dirty="0" smtClean="0"/>
              <a:t>}</a:t>
            </a:r>
            <a:endParaRPr lang="en-US" altLang="ja-JP" sz="24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smtClean="0"/>
              <a:t>例：配列の要素の和の計算</a:t>
            </a:r>
            <a:r>
              <a:rPr kumimoji="1" lang="en-US" altLang="ja-JP" dirty="0" smtClean="0"/>
              <a:t/>
            </a:r>
            <a:br>
              <a:rPr kumimoji="1" lang="en-US" altLang="ja-JP" dirty="0" smtClean="0"/>
            </a:br>
            <a:r>
              <a:rPr kumimoji="1" lang="ja-JP" altLang="en-US" dirty="0" smtClean="0"/>
              <a:t>（打ち込んで確認）</a:t>
            </a:r>
            <a:endParaRPr kumimoji="1" lang="ja-JP" altLang="en-US" dirty="0"/>
          </a:p>
        </p:txBody>
      </p:sp>
      <p:sp>
        <p:nvSpPr>
          <p:cNvPr id="4" name="正方形/長方形 3"/>
          <p:cNvSpPr/>
          <p:nvPr/>
        </p:nvSpPr>
        <p:spPr>
          <a:xfrm>
            <a:off x="1571604" y="1643050"/>
            <a:ext cx="4572000" cy="4154984"/>
          </a:xfrm>
          <a:prstGeom prst="rect">
            <a:avLst/>
          </a:prstGeom>
          <a:ln>
            <a:solidFill>
              <a:schemeClr val="tx1"/>
            </a:solidFill>
          </a:ln>
        </p:spPr>
        <p:txBody>
          <a:bodyPr>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a[5] = {10,20,30,40,50};</a:t>
            </a:r>
          </a:p>
          <a:p>
            <a:r>
              <a:rPr lang="en-US" altLang="ja-JP" sz="2400" dirty="0" smtClean="0"/>
              <a:t>  </a:t>
            </a:r>
            <a:r>
              <a:rPr lang="en-US" altLang="ja-JP" sz="2400" dirty="0" err="1" smtClean="0"/>
              <a:t>int</a:t>
            </a:r>
            <a:r>
              <a:rPr lang="en-US" altLang="ja-JP" sz="2400" dirty="0" smtClean="0"/>
              <a:t> *p;</a:t>
            </a:r>
          </a:p>
          <a:p>
            <a:r>
              <a:rPr lang="en-US" altLang="ja-JP" sz="2400" dirty="0" smtClean="0"/>
              <a:t>  </a:t>
            </a:r>
            <a:r>
              <a:rPr lang="en-US" altLang="ja-JP" sz="2400" dirty="0" err="1" smtClean="0"/>
              <a:t>int</a:t>
            </a:r>
            <a:r>
              <a:rPr lang="en-US" altLang="ja-JP" sz="2400" dirty="0" smtClean="0"/>
              <a:t> sum=0, </a:t>
            </a:r>
            <a:r>
              <a:rPr lang="en-US" altLang="ja-JP" sz="2400" dirty="0" err="1" smtClean="0"/>
              <a:t>i</a:t>
            </a:r>
            <a:r>
              <a:rPr lang="en-US" altLang="ja-JP" sz="2400" dirty="0" smtClean="0"/>
              <a:t>;</a:t>
            </a:r>
          </a:p>
          <a:p>
            <a:r>
              <a:rPr lang="en-US" altLang="ja-JP" sz="2400" dirty="0" smtClean="0"/>
              <a:t>  p = &amp;a[0];</a:t>
            </a:r>
          </a:p>
          <a:p>
            <a:r>
              <a:rPr lang="en-US" altLang="ja-JP" sz="2400" dirty="0" smtClean="0"/>
              <a:t>  for (</a:t>
            </a:r>
            <a:r>
              <a:rPr lang="en-US" altLang="ja-JP" sz="2400" dirty="0" err="1" smtClean="0"/>
              <a:t>i</a:t>
            </a:r>
            <a:r>
              <a:rPr lang="en-US" altLang="ja-JP" sz="2400" dirty="0" smtClean="0"/>
              <a:t>=0; </a:t>
            </a:r>
            <a:r>
              <a:rPr lang="en-US" altLang="ja-JP" sz="2400" dirty="0" err="1" smtClean="0"/>
              <a:t>i</a:t>
            </a:r>
            <a:r>
              <a:rPr lang="en-US" altLang="ja-JP" sz="2400" dirty="0" smtClean="0"/>
              <a:t>&lt;5; </a:t>
            </a:r>
            <a:r>
              <a:rPr lang="en-US" altLang="ja-JP" sz="2400" dirty="0" err="1" smtClean="0"/>
              <a:t>i</a:t>
            </a:r>
            <a:r>
              <a:rPr lang="en-US" altLang="ja-JP" sz="2400" dirty="0" smtClean="0"/>
              <a:t>=i+1)</a:t>
            </a:r>
          </a:p>
          <a:p>
            <a:r>
              <a:rPr lang="en-US" altLang="ja-JP" sz="2400" dirty="0" smtClean="0"/>
              <a:t>    sum = sum + *(p + </a:t>
            </a:r>
            <a:r>
              <a:rPr lang="en-US" altLang="ja-JP" sz="2400" dirty="0" err="1" smtClean="0"/>
              <a:t>i</a:t>
            </a:r>
            <a:r>
              <a:rPr lang="en-US" altLang="ja-JP" sz="2400" dirty="0" smtClean="0"/>
              <a:t>);</a:t>
            </a:r>
          </a:p>
          <a:p>
            <a:r>
              <a:rPr lang="en-US" altLang="ja-JP" sz="2400" dirty="0" smtClean="0"/>
              <a:t>  </a:t>
            </a:r>
            <a:r>
              <a:rPr lang="en-US" altLang="ja-JP" sz="2400" dirty="0" err="1" smtClean="0"/>
              <a:t>printf</a:t>
            </a:r>
            <a:r>
              <a:rPr lang="en-US" altLang="ja-JP" sz="2400" dirty="0" smtClean="0"/>
              <a:t> ("sum = %d\n", sum);</a:t>
            </a:r>
          </a:p>
          <a:p>
            <a:r>
              <a:rPr lang="en-US" altLang="ja-JP" sz="2400" dirty="0" smtClean="0"/>
              <a:t>  return 0;</a:t>
            </a:r>
          </a:p>
          <a:p>
            <a:r>
              <a:rPr lang="en-US" altLang="ja-JP" sz="2400" dirty="0" smtClean="0"/>
              <a:t>}</a:t>
            </a:r>
            <a:endParaRPr lang="en-US" altLang="ja-JP" sz="24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28596" y="500042"/>
            <a:ext cx="8229600" cy="868346"/>
          </a:xfrm>
        </p:spPr>
        <p:txBody>
          <a:bodyPr/>
          <a:lstStyle/>
          <a:p>
            <a:r>
              <a:rPr kumimoji="1" lang="ja-JP" altLang="en-US" dirty="0" smtClean="0"/>
              <a:t>配列を関数に渡したい場合</a:t>
            </a:r>
            <a:endParaRPr kumimoji="1" lang="ja-JP" altLang="en-US" dirty="0"/>
          </a:p>
        </p:txBody>
      </p:sp>
      <p:sp>
        <p:nvSpPr>
          <p:cNvPr id="4" name="テキスト ボックス 3"/>
          <p:cNvSpPr txBox="1"/>
          <p:nvPr/>
        </p:nvSpPr>
        <p:spPr>
          <a:xfrm>
            <a:off x="714348" y="1643050"/>
            <a:ext cx="8072494" cy="954107"/>
          </a:xfrm>
          <a:prstGeom prst="rect">
            <a:avLst/>
          </a:prstGeom>
          <a:noFill/>
        </p:spPr>
        <p:txBody>
          <a:bodyPr wrap="square" rtlCol="0">
            <a:spAutoFit/>
          </a:bodyPr>
          <a:lstStyle/>
          <a:p>
            <a:r>
              <a:rPr kumimoji="1" lang="ja-JP" altLang="en-US" sz="2800" dirty="0" smtClean="0"/>
              <a:t>配列は関数には渡せない</a:t>
            </a:r>
            <a:r>
              <a:rPr lang="ja-JP" altLang="en-US" sz="2800" dirty="0" smtClean="0"/>
              <a:t>。</a:t>
            </a:r>
            <a:endParaRPr kumimoji="1" lang="en-US" altLang="ja-JP" sz="2800" dirty="0" smtClean="0"/>
          </a:p>
          <a:p>
            <a:r>
              <a:rPr kumimoji="1" lang="ja-JP" altLang="en-US" sz="2800" dirty="0" smtClean="0"/>
              <a:t>配列の先頭要素へのポインタを関数に渡す。</a:t>
            </a:r>
            <a:endParaRPr kumimoji="1" lang="ja-JP" altLang="en-US" sz="28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511156"/>
          </a:xfrm>
        </p:spPr>
        <p:txBody>
          <a:bodyPr>
            <a:normAutofit fontScale="90000"/>
          </a:bodyPr>
          <a:lstStyle/>
          <a:p>
            <a:r>
              <a:rPr lang="ja-JP" altLang="en-US" dirty="0" smtClean="0"/>
              <a:t>例（打ち込んで確認）</a:t>
            </a:r>
            <a:endParaRPr kumimoji="1" lang="ja-JP" altLang="en-US" dirty="0"/>
          </a:p>
        </p:txBody>
      </p:sp>
      <p:sp>
        <p:nvSpPr>
          <p:cNvPr id="4" name="正方形/長方形 3"/>
          <p:cNvSpPr/>
          <p:nvPr/>
        </p:nvSpPr>
        <p:spPr>
          <a:xfrm>
            <a:off x="1500166" y="1225689"/>
            <a:ext cx="6000792" cy="4524315"/>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sum (</a:t>
            </a:r>
            <a:r>
              <a:rPr lang="en-US" altLang="ja-JP" sz="2400" dirty="0" err="1" smtClean="0">
                <a:solidFill>
                  <a:srgbClr val="FF0000"/>
                </a:solidFill>
              </a:rPr>
              <a:t>int</a:t>
            </a:r>
            <a:r>
              <a:rPr lang="en-US" altLang="ja-JP" sz="2400" dirty="0" smtClean="0">
                <a:solidFill>
                  <a:srgbClr val="FF0000"/>
                </a:solidFill>
              </a:rPr>
              <a:t> *p</a:t>
            </a:r>
            <a:r>
              <a:rPr lang="en-US" altLang="ja-JP" sz="2400" dirty="0" smtClean="0"/>
              <a:t>) {</a:t>
            </a:r>
          </a:p>
          <a:p>
            <a:r>
              <a:rPr lang="en-US" altLang="ja-JP" sz="2400" dirty="0" smtClean="0"/>
              <a:t>  </a:t>
            </a:r>
            <a:r>
              <a:rPr lang="en-US" altLang="ja-JP" sz="2400" dirty="0" err="1" smtClean="0"/>
              <a:t>int</a:t>
            </a:r>
            <a:r>
              <a:rPr lang="en-US" altLang="ja-JP" sz="2400" dirty="0" smtClean="0"/>
              <a:t> sum=0, </a:t>
            </a:r>
            <a:r>
              <a:rPr lang="en-US" altLang="ja-JP" sz="2400" dirty="0" err="1" smtClean="0"/>
              <a:t>i</a:t>
            </a:r>
            <a:r>
              <a:rPr lang="en-US" altLang="ja-JP" sz="2400" dirty="0" smtClean="0"/>
              <a:t>;</a:t>
            </a:r>
          </a:p>
          <a:p>
            <a:r>
              <a:rPr lang="en-US" altLang="ja-JP" sz="2400" dirty="0" smtClean="0"/>
              <a:t>  for (</a:t>
            </a:r>
            <a:r>
              <a:rPr lang="en-US" altLang="ja-JP" sz="2400" dirty="0" err="1" smtClean="0"/>
              <a:t>i</a:t>
            </a:r>
            <a:r>
              <a:rPr lang="en-US" altLang="ja-JP" sz="2400" dirty="0" smtClean="0"/>
              <a:t>=0; </a:t>
            </a:r>
            <a:r>
              <a:rPr lang="en-US" altLang="ja-JP" sz="2400" dirty="0" err="1" smtClean="0"/>
              <a:t>i</a:t>
            </a:r>
            <a:r>
              <a:rPr lang="en-US" altLang="ja-JP" sz="2400" dirty="0" smtClean="0"/>
              <a:t>&lt;5; </a:t>
            </a:r>
            <a:r>
              <a:rPr lang="en-US" altLang="ja-JP" sz="2400" dirty="0" err="1" smtClean="0"/>
              <a:t>i</a:t>
            </a:r>
            <a:r>
              <a:rPr lang="en-US" altLang="ja-JP" sz="2400" dirty="0" smtClean="0"/>
              <a:t>=i+1)</a:t>
            </a:r>
          </a:p>
          <a:p>
            <a:r>
              <a:rPr lang="en-US" altLang="ja-JP" sz="2400" dirty="0" smtClean="0"/>
              <a:t>    sum = sum + *(p + </a:t>
            </a:r>
            <a:r>
              <a:rPr lang="en-US" altLang="ja-JP" sz="2400" dirty="0" err="1" smtClean="0"/>
              <a:t>i</a:t>
            </a:r>
            <a:r>
              <a:rPr lang="en-US" altLang="ja-JP" sz="2400" dirty="0" smtClean="0"/>
              <a:t>);</a:t>
            </a:r>
          </a:p>
          <a:p>
            <a:r>
              <a:rPr lang="en-US" altLang="ja-JP" sz="2400" dirty="0" smtClean="0"/>
              <a:t>  return sum;</a:t>
            </a:r>
          </a:p>
          <a:p>
            <a:r>
              <a:rPr lang="en-US" altLang="ja-JP" sz="2400" dirty="0" smtClean="0"/>
              <a: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a[5] = {10,20,30,40,50};</a:t>
            </a:r>
          </a:p>
          <a:p>
            <a:r>
              <a:rPr lang="en-US" altLang="ja-JP" sz="2400" dirty="0" smtClean="0"/>
              <a:t>  </a:t>
            </a:r>
            <a:r>
              <a:rPr lang="en-US" altLang="ja-JP" sz="2400" dirty="0" err="1" smtClean="0"/>
              <a:t>printf</a:t>
            </a:r>
            <a:r>
              <a:rPr lang="en-US" altLang="ja-JP" sz="2400" dirty="0" smtClean="0"/>
              <a:t> ("sum = %d\n", sum (</a:t>
            </a:r>
            <a:r>
              <a:rPr lang="en-US" altLang="ja-JP" sz="2400" dirty="0" smtClean="0">
                <a:solidFill>
                  <a:srgbClr val="FF0000"/>
                </a:solidFill>
              </a:rPr>
              <a:t>&amp;a[0]</a:t>
            </a:r>
            <a:r>
              <a:rPr lang="en-US" altLang="ja-JP" sz="2400" dirty="0" smtClean="0"/>
              <a:t>));</a:t>
            </a:r>
          </a:p>
          <a:p>
            <a:r>
              <a:rPr lang="en-US" altLang="ja-JP" sz="2400" dirty="0" smtClean="0"/>
              <a:t>  return 0;</a:t>
            </a:r>
          </a:p>
          <a:p>
            <a:r>
              <a:rPr lang="en-US" altLang="ja-JP" sz="2400" dirty="0" smtClean="0"/>
              <a:t>}</a:t>
            </a:r>
            <a:endParaRPr lang="en-US" altLang="ja-JP" sz="24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配列の長さ</a:t>
            </a:r>
            <a:endParaRPr kumimoji="1" lang="ja-JP" altLang="en-US" dirty="0"/>
          </a:p>
        </p:txBody>
      </p:sp>
      <p:sp>
        <p:nvSpPr>
          <p:cNvPr id="4" name="テキスト ボックス 3"/>
          <p:cNvSpPr txBox="1"/>
          <p:nvPr/>
        </p:nvSpPr>
        <p:spPr>
          <a:xfrm>
            <a:off x="899592" y="1714488"/>
            <a:ext cx="7416824" cy="1815882"/>
          </a:xfrm>
          <a:prstGeom prst="rect">
            <a:avLst/>
          </a:prstGeom>
          <a:noFill/>
        </p:spPr>
        <p:txBody>
          <a:bodyPr wrap="square" rtlCol="0">
            <a:spAutoFit/>
          </a:bodyPr>
          <a:lstStyle/>
          <a:p>
            <a:r>
              <a:rPr kumimoji="1" lang="ja-JP" altLang="en-US" sz="2800" dirty="0" smtClean="0"/>
              <a:t>関数に配列の先頭要素へのポインタだけを渡すと、配列の長さの情報は呼ばれた関数側では分からない。配列を受け取る関数に長さ情報も渡したい場合は、</a:t>
            </a:r>
            <a:r>
              <a:rPr kumimoji="1" lang="en-US" altLang="ja-JP" sz="2800" dirty="0" err="1" smtClean="0"/>
              <a:t>int</a:t>
            </a:r>
            <a:r>
              <a:rPr kumimoji="1" lang="ja-JP" altLang="en-US" sz="2800" dirty="0" smtClean="0"/>
              <a:t>型の引数</a:t>
            </a:r>
            <a:r>
              <a:rPr lang="ja-JP" altLang="en-US" sz="2800" dirty="0" smtClean="0"/>
              <a:t>で</a:t>
            </a:r>
            <a:r>
              <a:rPr kumimoji="1" lang="ja-JP" altLang="en-US" sz="2800" dirty="0" smtClean="0"/>
              <a:t>長さ情報を渡す。</a:t>
            </a:r>
            <a:endParaRPr kumimoji="1" lang="ja-JP" altLang="en-US" sz="2800"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939784"/>
          </a:xfrm>
        </p:spPr>
        <p:txBody>
          <a:bodyPr/>
          <a:lstStyle/>
          <a:p>
            <a:r>
              <a:rPr kumimoji="1" lang="ja-JP" altLang="en-US" dirty="0" smtClean="0"/>
              <a:t>例</a:t>
            </a:r>
            <a:endParaRPr kumimoji="1" lang="ja-JP" altLang="en-US" dirty="0"/>
          </a:p>
        </p:txBody>
      </p:sp>
      <p:sp>
        <p:nvSpPr>
          <p:cNvPr id="4" name="正方形/長方形 3"/>
          <p:cNvSpPr/>
          <p:nvPr/>
        </p:nvSpPr>
        <p:spPr>
          <a:xfrm>
            <a:off x="1500166" y="1309293"/>
            <a:ext cx="5643602" cy="4524315"/>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sum (</a:t>
            </a:r>
            <a:r>
              <a:rPr lang="en-US" altLang="ja-JP" sz="2400" dirty="0" err="1" smtClean="0"/>
              <a:t>int</a:t>
            </a:r>
            <a:r>
              <a:rPr lang="en-US" altLang="ja-JP" sz="2400" dirty="0" smtClean="0"/>
              <a:t> *p, </a:t>
            </a:r>
            <a:r>
              <a:rPr lang="en-US" altLang="ja-JP" sz="2400" dirty="0" err="1" smtClean="0">
                <a:solidFill>
                  <a:srgbClr val="FF0000"/>
                </a:solidFill>
              </a:rPr>
              <a:t>int</a:t>
            </a:r>
            <a:r>
              <a:rPr lang="en-US" altLang="ja-JP" sz="2400" dirty="0" smtClean="0">
                <a:solidFill>
                  <a:srgbClr val="FF0000"/>
                </a:solidFill>
              </a:rPr>
              <a:t> size</a:t>
            </a:r>
            <a:r>
              <a:rPr lang="en-US" altLang="ja-JP" sz="2400" dirty="0" smtClean="0"/>
              <a:t>) {</a:t>
            </a:r>
          </a:p>
          <a:p>
            <a:r>
              <a:rPr lang="en-US" altLang="ja-JP" sz="2400" dirty="0" smtClean="0"/>
              <a:t>  </a:t>
            </a:r>
            <a:r>
              <a:rPr lang="en-US" altLang="ja-JP" sz="2400" dirty="0" err="1" smtClean="0"/>
              <a:t>int</a:t>
            </a:r>
            <a:r>
              <a:rPr lang="en-US" altLang="ja-JP" sz="2400" dirty="0" smtClean="0"/>
              <a:t> sum=0, </a:t>
            </a:r>
            <a:r>
              <a:rPr lang="en-US" altLang="ja-JP" sz="2400" dirty="0" err="1" smtClean="0"/>
              <a:t>i</a:t>
            </a:r>
            <a:r>
              <a:rPr lang="en-US" altLang="ja-JP" sz="2400" dirty="0" smtClean="0"/>
              <a:t>;</a:t>
            </a:r>
          </a:p>
          <a:p>
            <a:r>
              <a:rPr lang="en-US" altLang="ja-JP" sz="2400" dirty="0" smtClean="0"/>
              <a:t>  for (</a:t>
            </a:r>
            <a:r>
              <a:rPr lang="en-US" altLang="ja-JP" sz="2400" dirty="0" err="1" smtClean="0"/>
              <a:t>i</a:t>
            </a:r>
            <a:r>
              <a:rPr lang="en-US" altLang="ja-JP" sz="2400" dirty="0" smtClean="0"/>
              <a:t>=0; </a:t>
            </a:r>
            <a:r>
              <a:rPr lang="en-US" altLang="ja-JP" sz="2400" dirty="0" err="1" smtClean="0"/>
              <a:t>i</a:t>
            </a:r>
            <a:r>
              <a:rPr lang="en-US" altLang="ja-JP" sz="2400" dirty="0" smtClean="0"/>
              <a:t>&lt;size; </a:t>
            </a:r>
            <a:r>
              <a:rPr lang="en-US" altLang="ja-JP" sz="2400" dirty="0" err="1" smtClean="0"/>
              <a:t>i</a:t>
            </a:r>
            <a:r>
              <a:rPr lang="en-US" altLang="ja-JP" sz="2400" dirty="0" smtClean="0"/>
              <a:t>=i+1)</a:t>
            </a:r>
          </a:p>
          <a:p>
            <a:r>
              <a:rPr lang="en-US" altLang="ja-JP" sz="2400" dirty="0" smtClean="0"/>
              <a:t>    sum = sum + *(p + </a:t>
            </a:r>
            <a:r>
              <a:rPr lang="en-US" altLang="ja-JP" sz="2400" dirty="0" err="1" smtClean="0"/>
              <a:t>i</a:t>
            </a:r>
            <a:r>
              <a:rPr lang="en-US" altLang="ja-JP" sz="2400" dirty="0" smtClean="0"/>
              <a:t>);</a:t>
            </a:r>
          </a:p>
          <a:p>
            <a:r>
              <a:rPr lang="en-US" altLang="ja-JP" sz="2400" dirty="0" smtClean="0"/>
              <a:t>  return sum;</a:t>
            </a:r>
          </a:p>
          <a:p>
            <a:r>
              <a:rPr lang="en-US" altLang="ja-JP" sz="2400" dirty="0" smtClean="0"/>
              <a: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a[5] = {10,20,30,40,50};</a:t>
            </a:r>
          </a:p>
          <a:p>
            <a:r>
              <a:rPr lang="en-US" altLang="ja-JP" sz="2400" dirty="0" smtClean="0"/>
              <a:t>  </a:t>
            </a:r>
            <a:r>
              <a:rPr lang="en-US" altLang="ja-JP" sz="2400" dirty="0" err="1" smtClean="0"/>
              <a:t>printf</a:t>
            </a:r>
            <a:r>
              <a:rPr lang="en-US" altLang="ja-JP" sz="2400" dirty="0" smtClean="0"/>
              <a:t> ("sum = %d\n", sum (&amp;a[0], </a:t>
            </a:r>
            <a:r>
              <a:rPr lang="en-US" altLang="ja-JP" sz="2400" dirty="0" smtClean="0">
                <a:solidFill>
                  <a:srgbClr val="FF0000"/>
                </a:solidFill>
              </a:rPr>
              <a:t>5</a:t>
            </a:r>
            <a:r>
              <a:rPr lang="en-US" altLang="ja-JP" sz="2400" dirty="0" smtClean="0"/>
              <a:t>));</a:t>
            </a:r>
          </a:p>
          <a:p>
            <a:r>
              <a:rPr lang="en-US" altLang="ja-JP" sz="2400" dirty="0" smtClean="0"/>
              <a:t>  return 0;</a:t>
            </a:r>
          </a:p>
          <a:p>
            <a:r>
              <a:rPr lang="en-US" altLang="ja-JP" sz="2400" dirty="0" smtClean="0"/>
              <a:t>}</a:t>
            </a:r>
            <a:endParaRPr lang="en-US" altLang="ja-JP" sz="240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 ] </a:t>
            </a:r>
            <a:r>
              <a:rPr lang="ja-JP" altLang="en-US" dirty="0" smtClean="0"/>
              <a:t>の意味</a:t>
            </a:r>
            <a:endParaRPr kumimoji="1" lang="ja-JP" altLang="en-US" dirty="0"/>
          </a:p>
        </p:txBody>
      </p:sp>
      <p:sp>
        <p:nvSpPr>
          <p:cNvPr id="4" name="テキスト ボックス 3"/>
          <p:cNvSpPr txBox="1"/>
          <p:nvPr/>
        </p:nvSpPr>
        <p:spPr>
          <a:xfrm>
            <a:off x="714348" y="1428736"/>
            <a:ext cx="8215370" cy="954107"/>
          </a:xfrm>
          <a:prstGeom prst="rect">
            <a:avLst/>
          </a:prstGeom>
          <a:noFill/>
        </p:spPr>
        <p:txBody>
          <a:bodyPr wrap="square" rtlCol="0">
            <a:spAutoFit/>
          </a:bodyPr>
          <a:lstStyle/>
          <a:p>
            <a:r>
              <a:rPr kumimoji="1" lang="en-US" altLang="ja-JP" sz="2800" dirty="0" smtClean="0"/>
              <a:t>C</a:t>
            </a:r>
            <a:r>
              <a:rPr kumimoji="1" lang="ja-JP" altLang="en-US" sz="2800" dirty="0" smtClean="0"/>
              <a:t>言語では、</a:t>
            </a:r>
            <a:r>
              <a:rPr kumimoji="1" lang="en-US" altLang="ja-JP" sz="2800" dirty="0" smtClean="0"/>
              <a:t>[ ] </a:t>
            </a:r>
            <a:r>
              <a:rPr kumimoji="1" lang="ja-JP" altLang="en-US" sz="2800" dirty="0" smtClean="0"/>
              <a:t>の意味はポインタを使って定義されている。</a:t>
            </a:r>
            <a:endParaRPr kumimoji="1" lang="ja-JP" altLang="en-US" sz="2800" dirty="0"/>
          </a:p>
        </p:txBody>
      </p:sp>
      <p:sp>
        <p:nvSpPr>
          <p:cNvPr id="5" name="テキスト ボックス 4"/>
          <p:cNvSpPr txBox="1"/>
          <p:nvPr/>
        </p:nvSpPr>
        <p:spPr>
          <a:xfrm>
            <a:off x="1000100" y="2714620"/>
            <a:ext cx="7398051" cy="523220"/>
          </a:xfrm>
          <a:prstGeom prst="rect">
            <a:avLst/>
          </a:prstGeom>
          <a:noFill/>
          <a:ln>
            <a:solidFill>
              <a:schemeClr val="tx1"/>
            </a:solidFill>
          </a:ln>
        </p:spPr>
        <p:txBody>
          <a:bodyPr wrap="none" rtlCol="0">
            <a:spAutoFit/>
          </a:bodyPr>
          <a:lstStyle/>
          <a:p>
            <a:r>
              <a:rPr lang="en-US" altLang="ja-JP" sz="2800" dirty="0" smtClean="0"/>
              <a:t> </a:t>
            </a:r>
            <a:r>
              <a:rPr lang="ja-JP" altLang="en-US" sz="2800" dirty="0" smtClean="0"/>
              <a:t>式</a:t>
            </a:r>
            <a:r>
              <a:rPr lang="en-US" altLang="ja-JP" sz="2800" dirty="0" smtClean="0"/>
              <a:t>e1 [ e2 ]</a:t>
            </a:r>
            <a:r>
              <a:rPr lang="ja-JP" altLang="en-US" sz="2800" dirty="0" smtClean="0"/>
              <a:t>は、</a:t>
            </a:r>
            <a:r>
              <a:rPr lang="en-US" altLang="ja-JP" sz="2800" dirty="0" smtClean="0"/>
              <a:t>*(e1 + e2) </a:t>
            </a:r>
            <a:r>
              <a:rPr lang="ja-JP" altLang="en-US" sz="2800" dirty="0" smtClean="0"/>
              <a:t>の</a:t>
            </a:r>
            <a:r>
              <a:rPr lang="en-US" altLang="ja-JP" sz="2800" dirty="0" smtClean="0"/>
              <a:t>syntax sugar</a:t>
            </a:r>
            <a:r>
              <a:rPr lang="ja-JP" altLang="en-US" sz="2800" dirty="0" smtClean="0"/>
              <a:t>である。</a:t>
            </a:r>
            <a:endParaRPr lang="en-US" altLang="ja-JP" sz="2800" dirty="0" smtClean="0"/>
          </a:p>
        </p:txBody>
      </p:sp>
      <p:sp>
        <p:nvSpPr>
          <p:cNvPr id="6" name="テキスト ボックス 5"/>
          <p:cNvSpPr txBox="1"/>
          <p:nvPr/>
        </p:nvSpPr>
        <p:spPr>
          <a:xfrm>
            <a:off x="857224" y="3786190"/>
            <a:ext cx="7715304" cy="1200329"/>
          </a:xfrm>
          <a:prstGeom prst="rect">
            <a:avLst/>
          </a:prstGeom>
          <a:noFill/>
        </p:spPr>
        <p:txBody>
          <a:bodyPr wrap="square" rtlCol="0">
            <a:spAutoFit/>
          </a:bodyPr>
          <a:lstStyle/>
          <a:p>
            <a:r>
              <a:rPr kumimoji="1" lang="en-US" altLang="ja-JP" sz="2400" dirty="0" smtClean="0"/>
              <a:t>Syntax sugar</a:t>
            </a:r>
            <a:r>
              <a:rPr kumimoji="1" lang="ja-JP" altLang="en-US" sz="2400" dirty="0" smtClean="0"/>
              <a:t>とは、ある構文の別の書き方という意味である。</a:t>
            </a:r>
            <a:endParaRPr kumimoji="1" lang="en-US" altLang="ja-JP" sz="2400" dirty="0" smtClean="0"/>
          </a:p>
          <a:p>
            <a:r>
              <a:rPr lang="en-US" altLang="ja-JP" sz="2400" dirty="0" smtClean="0"/>
              <a:t> e1 [e2]</a:t>
            </a:r>
            <a:r>
              <a:rPr lang="ja-JP" altLang="en-US" sz="2400" dirty="0" smtClean="0"/>
              <a:t>の形の式はコンパイル時に </a:t>
            </a:r>
            <a:r>
              <a:rPr lang="en-US" altLang="ja-JP" sz="2400" dirty="0" smtClean="0"/>
              <a:t>*(e1 + e2) </a:t>
            </a:r>
            <a:r>
              <a:rPr lang="ja-JP" altLang="en-US" sz="2400" dirty="0" smtClean="0"/>
              <a:t>に変換されてから処理される。</a:t>
            </a:r>
            <a:endParaRPr kumimoji="1" lang="ja-JP" altLang="en-US" sz="2400"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kumimoji="1" lang="ja-JP" altLang="en-US" dirty="0" smtClean="0"/>
              <a:t>例</a:t>
            </a:r>
            <a:endParaRPr kumimoji="1" lang="ja-JP" altLang="en-US" dirty="0"/>
          </a:p>
        </p:txBody>
      </p:sp>
      <p:sp>
        <p:nvSpPr>
          <p:cNvPr id="4" name="正方形/長方形 3"/>
          <p:cNvSpPr/>
          <p:nvPr/>
        </p:nvSpPr>
        <p:spPr>
          <a:xfrm>
            <a:off x="714348" y="1071546"/>
            <a:ext cx="5214974" cy="4893647"/>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sum (</a:t>
            </a:r>
            <a:r>
              <a:rPr lang="en-US" altLang="ja-JP" sz="2400" dirty="0" err="1" smtClean="0"/>
              <a:t>int</a:t>
            </a:r>
            <a:r>
              <a:rPr lang="en-US" altLang="ja-JP" sz="2400" dirty="0" smtClean="0"/>
              <a:t> *p, </a:t>
            </a:r>
            <a:r>
              <a:rPr lang="en-US" altLang="ja-JP" sz="2400" dirty="0" err="1" smtClean="0"/>
              <a:t>int</a:t>
            </a:r>
            <a:r>
              <a:rPr lang="en-US" altLang="ja-JP" sz="2400" dirty="0" smtClean="0"/>
              <a:t> size) {</a:t>
            </a:r>
          </a:p>
          <a:p>
            <a:r>
              <a:rPr lang="en-US" altLang="ja-JP" sz="2400" dirty="0" smtClean="0"/>
              <a:t>  </a:t>
            </a:r>
            <a:r>
              <a:rPr lang="en-US" altLang="ja-JP" sz="2400" dirty="0" err="1" smtClean="0"/>
              <a:t>int</a:t>
            </a:r>
            <a:r>
              <a:rPr lang="en-US" altLang="ja-JP" sz="2400" dirty="0" smtClean="0"/>
              <a:t> sum=0, </a:t>
            </a:r>
            <a:r>
              <a:rPr lang="en-US" altLang="ja-JP" sz="2400" dirty="0" err="1" smtClean="0"/>
              <a:t>i</a:t>
            </a:r>
            <a:r>
              <a:rPr lang="en-US" altLang="ja-JP" sz="2400" dirty="0" smtClean="0"/>
              <a:t>;</a:t>
            </a:r>
          </a:p>
          <a:p>
            <a:r>
              <a:rPr lang="en-US" altLang="ja-JP" sz="2400" dirty="0" smtClean="0"/>
              <a:t>  for (</a:t>
            </a:r>
            <a:r>
              <a:rPr lang="en-US" altLang="ja-JP" sz="2400" dirty="0" err="1" smtClean="0"/>
              <a:t>i</a:t>
            </a:r>
            <a:r>
              <a:rPr lang="en-US" altLang="ja-JP" sz="2400" dirty="0" smtClean="0"/>
              <a:t>=0; </a:t>
            </a:r>
            <a:r>
              <a:rPr lang="en-US" altLang="ja-JP" sz="2400" dirty="0" err="1" smtClean="0"/>
              <a:t>i</a:t>
            </a:r>
            <a:r>
              <a:rPr lang="en-US" altLang="ja-JP" sz="2400" dirty="0" smtClean="0"/>
              <a:t>&lt;size; </a:t>
            </a:r>
            <a:r>
              <a:rPr lang="en-US" altLang="ja-JP" sz="2400" dirty="0" err="1" smtClean="0"/>
              <a:t>i</a:t>
            </a:r>
            <a:r>
              <a:rPr lang="en-US" altLang="ja-JP" sz="2400" dirty="0" smtClean="0"/>
              <a:t>=i+1)</a:t>
            </a:r>
          </a:p>
          <a:p>
            <a:r>
              <a:rPr lang="en-US" altLang="ja-JP" sz="2400" dirty="0" smtClean="0"/>
              <a:t>    sum = sum + </a:t>
            </a:r>
            <a:r>
              <a:rPr lang="en-US" altLang="ja-JP" sz="2400" dirty="0" smtClean="0">
                <a:solidFill>
                  <a:srgbClr val="FF0000"/>
                </a:solidFill>
              </a:rPr>
              <a:t>p[</a:t>
            </a:r>
            <a:r>
              <a:rPr lang="en-US" altLang="ja-JP" sz="2400" dirty="0" err="1" smtClean="0">
                <a:solidFill>
                  <a:srgbClr val="FF0000"/>
                </a:solidFill>
              </a:rPr>
              <a:t>i</a:t>
            </a:r>
            <a:r>
              <a:rPr lang="en-US" altLang="ja-JP" sz="2400" dirty="0" smtClean="0">
                <a:solidFill>
                  <a:srgbClr val="FF0000"/>
                </a:solidFill>
              </a:rPr>
              <a:t>]</a:t>
            </a:r>
            <a:r>
              <a:rPr lang="en-US" altLang="ja-JP" sz="2400" dirty="0" smtClean="0"/>
              <a:t>;</a:t>
            </a:r>
          </a:p>
          <a:p>
            <a:r>
              <a:rPr lang="en-US" altLang="ja-JP" sz="2400" dirty="0" smtClean="0"/>
              <a:t>  return sum;</a:t>
            </a:r>
          </a:p>
          <a:p>
            <a:r>
              <a:rPr lang="en-US" altLang="ja-JP" sz="2400" dirty="0" smtClean="0"/>
              <a:t>}</a:t>
            </a:r>
          </a:p>
          <a:p>
            <a:endParaRPr lang="en-US" altLang="ja-JP" sz="2400" dirty="0" smtClean="0"/>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a[5] = {10,20,30,40,50};</a:t>
            </a:r>
          </a:p>
          <a:p>
            <a:r>
              <a:rPr lang="en-US" altLang="ja-JP" sz="2400" dirty="0" smtClean="0"/>
              <a:t>  </a:t>
            </a:r>
            <a:r>
              <a:rPr lang="en-US" altLang="ja-JP" sz="2400" dirty="0" err="1" smtClean="0"/>
              <a:t>printf</a:t>
            </a:r>
            <a:r>
              <a:rPr lang="en-US" altLang="ja-JP" sz="2400" dirty="0" smtClean="0"/>
              <a:t> ("sum = %d\n", sum (&amp;a[0], 5));</a:t>
            </a:r>
          </a:p>
          <a:p>
            <a:r>
              <a:rPr lang="en-US" altLang="ja-JP" sz="2400" dirty="0" smtClean="0"/>
              <a:t>  return 0;</a:t>
            </a:r>
          </a:p>
          <a:p>
            <a:r>
              <a:rPr lang="en-US" altLang="ja-JP" sz="2400" dirty="0" smtClean="0"/>
              <a:t>}</a:t>
            </a:r>
            <a:endParaRPr lang="en-US" altLang="ja-JP" sz="2400" dirty="0"/>
          </a:p>
        </p:txBody>
      </p:sp>
      <p:sp>
        <p:nvSpPr>
          <p:cNvPr id="5" name="テキスト ボックス 4"/>
          <p:cNvSpPr txBox="1"/>
          <p:nvPr/>
        </p:nvSpPr>
        <p:spPr>
          <a:xfrm>
            <a:off x="6072198" y="2285992"/>
            <a:ext cx="2857520" cy="954107"/>
          </a:xfrm>
          <a:prstGeom prst="rect">
            <a:avLst/>
          </a:prstGeom>
          <a:noFill/>
        </p:spPr>
        <p:txBody>
          <a:bodyPr wrap="square" rtlCol="0">
            <a:spAutoFit/>
          </a:bodyPr>
          <a:lstStyle/>
          <a:p>
            <a:r>
              <a:rPr lang="en-US" altLang="ja-JP" sz="2800" dirty="0" smtClean="0"/>
              <a:t>p[</a:t>
            </a:r>
            <a:r>
              <a:rPr lang="en-US" altLang="ja-JP" sz="2800" dirty="0" err="1" smtClean="0"/>
              <a:t>i</a:t>
            </a:r>
            <a:r>
              <a:rPr lang="en-US" altLang="ja-JP" sz="2800" dirty="0" smtClean="0"/>
              <a:t>]</a:t>
            </a:r>
            <a:r>
              <a:rPr lang="ja-JP" altLang="en-US" sz="2800" dirty="0" smtClean="0"/>
              <a:t>は</a:t>
            </a:r>
            <a:r>
              <a:rPr lang="en-US" altLang="ja-JP" sz="2800" dirty="0" smtClean="0"/>
              <a:t>*(</a:t>
            </a:r>
            <a:r>
              <a:rPr lang="en-US" altLang="ja-JP" sz="2800" dirty="0" err="1" smtClean="0"/>
              <a:t>p+i</a:t>
            </a:r>
            <a:r>
              <a:rPr lang="en-US" altLang="ja-JP" sz="2800" dirty="0" smtClean="0"/>
              <a:t>)</a:t>
            </a:r>
            <a:r>
              <a:rPr lang="ja-JP" altLang="en-US" sz="2800" dirty="0" smtClean="0"/>
              <a:t>と同じである。</a:t>
            </a:r>
            <a:endParaRPr kumimoji="1" lang="ja-JP" altLang="en-US" sz="2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ポインタ型の仮引数表記</a:t>
            </a:r>
            <a:endParaRPr kumimoji="1" lang="ja-JP" altLang="en-US" dirty="0"/>
          </a:p>
        </p:txBody>
      </p:sp>
      <p:sp>
        <p:nvSpPr>
          <p:cNvPr id="4" name="テキスト ボックス 3"/>
          <p:cNvSpPr txBox="1"/>
          <p:nvPr/>
        </p:nvSpPr>
        <p:spPr>
          <a:xfrm>
            <a:off x="642910" y="1785926"/>
            <a:ext cx="7786742" cy="2677656"/>
          </a:xfrm>
          <a:prstGeom prst="rect">
            <a:avLst/>
          </a:prstGeom>
          <a:noFill/>
        </p:spPr>
        <p:txBody>
          <a:bodyPr wrap="square" rtlCol="0">
            <a:spAutoFit/>
          </a:bodyPr>
          <a:lstStyle/>
          <a:p>
            <a:r>
              <a:rPr kumimoji="1" lang="ja-JP" altLang="en-US" sz="2800" dirty="0" smtClean="0"/>
              <a:t>関数定義において、ポインタ型の仮引数の便利な表記法</a:t>
            </a:r>
            <a:r>
              <a:rPr lang="ja-JP" altLang="en-US" sz="2800" dirty="0" smtClean="0"/>
              <a:t>がある。</a:t>
            </a:r>
            <a:endParaRPr lang="en-US" altLang="ja-JP" sz="2800" dirty="0" smtClean="0"/>
          </a:p>
          <a:p>
            <a:r>
              <a:rPr kumimoji="1" lang="en-US" altLang="ja-JP" sz="2800" dirty="0" smtClean="0"/>
              <a:t>    </a:t>
            </a:r>
            <a:r>
              <a:rPr kumimoji="1" lang="en-US" altLang="ja-JP" sz="2800" dirty="0" err="1" smtClean="0"/>
              <a:t>int</a:t>
            </a:r>
            <a:r>
              <a:rPr kumimoji="1" lang="en-US" altLang="ja-JP" sz="2800" dirty="0" smtClean="0"/>
              <a:t>  f (</a:t>
            </a:r>
            <a:r>
              <a:rPr kumimoji="1" lang="en-US" altLang="ja-JP" sz="2800" dirty="0" err="1" smtClean="0"/>
              <a:t>int</a:t>
            </a:r>
            <a:r>
              <a:rPr kumimoji="1" lang="en-US" altLang="ja-JP" sz="2800" dirty="0" smtClean="0"/>
              <a:t> * p) { … }</a:t>
            </a:r>
          </a:p>
          <a:p>
            <a:r>
              <a:rPr lang="ja-JP" altLang="en-US" sz="2800" dirty="0" err="1" smtClean="0"/>
              <a:t>のような</a:t>
            </a:r>
            <a:r>
              <a:rPr lang="ja-JP" altLang="en-US" sz="2800" dirty="0" smtClean="0"/>
              <a:t>関数定義は、</a:t>
            </a:r>
            <a:endParaRPr lang="en-US" altLang="ja-JP" sz="2800" dirty="0" smtClean="0"/>
          </a:p>
          <a:p>
            <a:r>
              <a:rPr kumimoji="1" lang="en-US" altLang="ja-JP" sz="2800" dirty="0" smtClean="0"/>
              <a:t>    </a:t>
            </a:r>
            <a:r>
              <a:rPr lang="en-US" altLang="ja-JP" sz="2800" dirty="0" err="1" smtClean="0"/>
              <a:t>int</a:t>
            </a:r>
            <a:r>
              <a:rPr lang="en-US" altLang="ja-JP" sz="2800" dirty="0" smtClean="0"/>
              <a:t>  f (</a:t>
            </a:r>
            <a:r>
              <a:rPr lang="en-US" altLang="ja-JP" sz="2800" dirty="0" err="1" smtClean="0"/>
              <a:t>int</a:t>
            </a:r>
            <a:r>
              <a:rPr lang="en-US" altLang="ja-JP" sz="2800" dirty="0" smtClean="0"/>
              <a:t> p [ ]) {… }</a:t>
            </a:r>
          </a:p>
          <a:p>
            <a:r>
              <a:rPr kumimoji="1" lang="ja-JP" altLang="en-US" sz="2800" dirty="0" smtClean="0"/>
              <a:t>と書いても良い。</a:t>
            </a:r>
            <a:endParaRPr kumimoji="1" lang="en-US" altLang="ja-JP" sz="2800" dirty="0" smtClean="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582594"/>
          </a:xfrm>
        </p:spPr>
        <p:txBody>
          <a:bodyPr>
            <a:normAutofit fontScale="90000"/>
          </a:bodyPr>
          <a:lstStyle/>
          <a:p>
            <a:r>
              <a:rPr kumimoji="1" lang="ja-JP" altLang="en-US" dirty="0" smtClean="0"/>
              <a:t>例</a:t>
            </a:r>
            <a:endParaRPr kumimoji="1" lang="ja-JP" altLang="en-US" dirty="0"/>
          </a:p>
        </p:txBody>
      </p:sp>
      <p:sp>
        <p:nvSpPr>
          <p:cNvPr id="4" name="正方形/長方形 3"/>
          <p:cNvSpPr/>
          <p:nvPr/>
        </p:nvSpPr>
        <p:spPr>
          <a:xfrm>
            <a:off x="395536" y="1000108"/>
            <a:ext cx="5214974" cy="4893647"/>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sum (</a:t>
            </a:r>
            <a:r>
              <a:rPr lang="en-US" altLang="ja-JP" sz="2400" dirty="0" err="1" smtClean="0">
                <a:solidFill>
                  <a:srgbClr val="FF0000"/>
                </a:solidFill>
              </a:rPr>
              <a:t>int</a:t>
            </a:r>
            <a:r>
              <a:rPr lang="en-US" altLang="ja-JP" sz="2400" dirty="0" smtClean="0">
                <a:solidFill>
                  <a:srgbClr val="FF0000"/>
                </a:solidFill>
              </a:rPr>
              <a:t> p[ ]</a:t>
            </a:r>
            <a:r>
              <a:rPr lang="en-US" altLang="ja-JP" sz="2400" dirty="0" smtClean="0"/>
              <a:t>, </a:t>
            </a:r>
            <a:r>
              <a:rPr lang="en-US" altLang="ja-JP" sz="2400" dirty="0" err="1" smtClean="0"/>
              <a:t>int</a:t>
            </a:r>
            <a:r>
              <a:rPr lang="en-US" altLang="ja-JP" sz="2400" dirty="0" smtClean="0"/>
              <a:t> size) {</a:t>
            </a:r>
          </a:p>
          <a:p>
            <a:r>
              <a:rPr lang="en-US" altLang="ja-JP" sz="2400" dirty="0" smtClean="0"/>
              <a:t>  </a:t>
            </a:r>
            <a:r>
              <a:rPr lang="en-US" altLang="ja-JP" sz="2400" dirty="0" err="1" smtClean="0"/>
              <a:t>int</a:t>
            </a:r>
            <a:r>
              <a:rPr lang="en-US" altLang="ja-JP" sz="2400" dirty="0" smtClean="0"/>
              <a:t> sum=0, </a:t>
            </a:r>
            <a:r>
              <a:rPr lang="en-US" altLang="ja-JP" sz="2400" dirty="0" err="1" smtClean="0"/>
              <a:t>i</a:t>
            </a:r>
            <a:r>
              <a:rPr lang="en-US" altLang="ja-JP" sz="2400" dirty="0" smtClean="0"/>
              <a:t>;</a:t>
            </a:r>
          </a:p>
          <a:p>
            <a:r>
              <a:rPr lang="en-US" altLang="ja-JP" sz="2400" dirty="0" smtClean="0"/>
              <a:t>  for (</a:t>
            </a:r>
            <a:r>
              <a:rPr lang="en-US" altLang="ja-JP" sz="2400" dirty="0" err="1" smtClean="0"/>
              <a:t>i</a:t>
            </a:r>
            <a:r>
              <a:rPr lang="en-US" altLang="ja-JP" sz="2400" dirty="0" smtClean="0"/>
              <a:t>=0; </a:t>
            </a:r>
            <a:r>
              <a:rPr lang="en-US" altLang="ja-JP" sz="2400" dirty="0" err="1" smtClean="0"/>
              <a:t>i</a:t>
            </a:r>
            <a:r>
              <a:rPr lang="en-US" altLang="ja-JP" sz="2400" dirty="0" smtClean="0"/>
              <a:t>&lt;size; </a:t>
            </a:r>
            <a:r>
              <a:rPr lang="en-US" altLang="ja-JP" sz="2400" dirty="0" err="1" smtClean="0"/>
              <a:t>i</a:t>
            </a:r>
            <a:r>
              <a:rPr lang="en-US" altLang="ja-JP" sz="2400" dirty="0" smtClean="0"/>
              <a:t>=i+1)</a:t>
            </a:r>
          </a:p>
          <a:p>
            <a:r>
              <a:rPr lang="en-US" altLang="ja-JP" sz="2400" dirty="0" smtClean="0"/>
              <a:t>    sum = sum + p[</a:t>
            </a:r>
            <a:r>
              <a:rPr lang="en-US" altLang="ja-JP" sz="2400" dirty="0" err="1" smtClean="0"/>
              <a:t>i</a:t>
            </a:r>
            <a:r>
              <a:rPr lang="en-US" altLang="ja-JP" sz="2400" dirty="0" smtClean="0"/>
              <a:t>];</a:t>
            </a:r>
          </a:p>
          <a:p>
            <a:r>
              <a:rPr lang="en-US" altLang="ja-JP" sz="2400" dirty="0" smtClean="0"/>
              <a:t>  return sum;</a:t>
            </a:r>
          </a:p>
          <a:p>
            <a:r>
              <a:rPr lang="en-US" altLang="ja-JP" sz="2400" dirty="0" smtClean="0"/>
              <a:t>}</a:t>
            </a:r>
          </a:p>
          <a:p>
            <a:endParaRPr lang="en-US" altLang="ja-JP" sz="2400" dirty="0" smtClean="0"/>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a[5] = {10,20,30,40,50};</a:t>
            </a:r>
          </a:p>
          <a:p>
            <a:r>
              <a:rPr lang="en-US" altLang="ja-JP" sz="2400" dirty="0" smtClean="0"/>
              <a:t>  </a:t>
            </a:r>
            <a:r>
              <a:rPr lang="en-US" altLang="ja-JP" sz="2400" dirty="0" err="1" smtClean="0"/>
              <a:t>printf</a:t>
            </a:r>
            <a:r>
              <a:rPr lang="en-US" altLang="ja-JP" sz="2400" dirty="0" smtClean="0"/>
              <a:t> ("sum = %d\n", sum (&amp;a[0], 5));</a:t>
            </a:r>
          </a:p>
          <a:p>
            <a:r>
              <a:rPr lang="en-US" altLang="ja-JP" sz="2400" dirty="0" smtClean="0"/>
              <a:t>  return 0;</a:t>
            </a:r>
          </a:p>
          <a:p>
            <a:r>
              <a:rPr lang="en-US" altLang="ja-JP" sz="2400" dirty="0" smtClean="0"/>
              <a:t>}</a:t>
            </a:r>
            <a:endParaRPr lang="en-US" altLang="ja-JP" sz="2400" dirty="0"/>
          </a:p>
        </p:txBody>
      </p:sp>
      <p:sp>
        <p:nvSpPr>
          <p:cNvPr id="5" name="テキスト ボックス 4"/>
          <p:cNvSpPr txBox="1"/>
          <p:nvPr/>
        </p:nvSpPr>
        <p:spPr>
          <a:xfrm>
            <a:off x="5796136" y="1214422"/>
            <a:ext cx="3061574" cy="4093428"/>
          </a:xfrm>
          <a:prstGeom prst="rect">
            <a:avLst/>
          </a:prstGeom>
          <a:noFill/>
        </p:spPr>
        <p:txBody>
          <a:bodyPr wrap="square" rtlCol="0">
            <a:spAutoFit/>
          </a:bodyPr>
          <a:lstStyle/>
          <a:p>
            <a:r>
              <a:rPr kumimoji="1" lang="ja-JP" altLang="en-US" sz="2000" dirty="0" smtClean="0"/>
              <a:t>仮引数の</a:t>
            </a:r>
            <a:r>
              <a:rPr kumimoji="1" lang="en-US" altLang="ja-JP" sz="2000" dirty="0" err="1" smtClean="0"/>
              <a:t>int</a:t>
            </a:r>
            <a:r>
              <a:rPr kumimoji="1" lang="en-US" altLang="ja-JP" sz="2000" dirty="0" smtClean="0"/>
              <a:t> p [ ] </a:t>
            </a:r>
            <a:r>
              <a:rPr kumimoji="1" lang="ja-JP" altLang="en-US" sz="2000" dirty="0" smtClean="0"/>
              <a:t>という表記は</a:t>
            </a:r>
            <a:r>
              <a:rPr kumimoji="1" lang="en-US" altLang="ja-JP" sz="2000" dirty="0" err="1" smtClean="0"/>
              <a:t>int</a:t>
            </a:r>
            <a:r>
              <a:rPr kumimoji="1" lang="en-US" altLang="ja-JP" sz="2000" dirty="0" smtClean="0"/>
              <a:t> * p</a:t>
            </a:r>
            <a:r>
              <a:rPr kumimoji="1" lang="ja-JP" altLang="en-US" sz="2000" dirty="0" smtClean="0"/>
              <a:t>と同じ意味である。</a:t>
            </a:r>
            <a:r>
              <a:rPr lang="ja-JP" altLang="en-US" sz="2000" dirty="0" smtClean="0"/>
              <a:t>配列を受け取っているかのように見えるので、プログラムが読みやすくなる効果がある。</a:t>
            </a:r>
            <a:endParaRPr lang="en-US" altLang="ja-JP" sz="2000" dirty="0" smtClean="0"/>
          </a:p>
          <a:p>
            <a:endParaRPr kumimoji="1" lang="en-US" altLang="ja-JP" sz="2000" dirty="0" smtClean="0"/>
          </a:p>
          <a:p>
            <a:r>
              <a:rPr lang="en-US" altLang="ja-JP" sz="2000" dirty="0" err="1" smtClean="0"/>
              <a:t>int</a:t>
            </a:r>
            <a:r>
              <a:rPr lang="en-US" altLang="ja-JP" sz="2000" dirty="0" smtClean="0"/>
              <a:t> p [ ] </a:t>
            </a:r>
            <a:r>
              <a:rPr lang="ja-JP" altLang="en-US" sz="2000" dirty="0" smtClean="0"/>
              <a:t>を、</a:t>
            </a:r>
            <a:r>
              <a:rPr lang="en-US" altLang="ja-JP" sz="2000" dirty="0" err="1" smtClean="0"/>
              <a:t>int</a:t>
            </a:r>
            <a:r>
              <a:rPr lang="en-US" altLang="ja-JP" sz="2000" dirty="0" smtClean="0"/>
              <a:t> p [5]</a:t>
            </a:r>
            <a:r>
              <a:rPr lang="ja-JP" altLang="en-US" sz="2000" dirty="0" err="1" smtClean="0"/>
              <a:t>のように</a:t>
            </a:r>
            <a:r>
              <a:rPr lang="ja-JP" altLang="en-US" sz="2000" dirty="0" smtClean="0"/>
              <a:t>書くことも許されているが、</a:t>
            </a:r>
            <a:r>
              <a:rPr lang="en-US" altLang="ja-JP" sz="2000" dirty="0" smtClean="0"/>
              <a:t>5</a:t>
            </a:r>
            <a:r>
              <a:rPr lang="ja-JP" altLang="en-US" sz="2000" dirty="0" smtClean="0"/>
              <a:t>は無視される。</a:t>
            </a:r>
            <a:r>
              <a:rPr lang="en-US" altLang="ja-JP" sz="2000" dirty="0" err="1" smtClean="0"/>
              <a:t>int</a:t>
            </a:r>
            <a:r>
              <a:rPr lang="en-US" altLang="ja-JP" sz="2000" dirty="0" smtClean="0"/>
              <a:t> p [ ]</a:t>
            </a:r>
            <a:r>
              <a:rPr lang="ja-JP" altLang="en-US" sz="2000" dirty="0" smtClean="0"/>
              <a:t>も</a:t>
            </a:r>
            <a:r>
              <a:rPr lang="en-US" altLang="ja-JP" sz="2000" dirty="0" err="1" smtClean="0"/>
              <a:t>int</a:t>
            </a:r>
            <a:r>
              <a:rPr lang="en-US" altLang="ja-JP" sz="2000" dirty="0" smtClean="0"/>
              <a:t> p [5]</a:t>
            </a:r>
            <a:r>
              <a:rPr lang="ja-JP" altLang="en-US" sz="2000" dirty="0" smtClean="0"/>
              <a:t>もポインタ型の仮引数の別記法であり、</a:t>
            </a:r>
            <a:r>
              <a:rPr lang="en-US" altLang="ja-JP" sz="2000" dirty="0" smtClean="0"/>
              <a:t>p</a:t>
            </a:r>
            <a:r>
              <a:rPr lang="ja-JP" altLang="en-US" sz="2000" dirty="0" smtClean="0"/>
              <a:t>は配列ではない。</a:t>
            </a:r>
            <a:endParaRPr lang="en-US" altLang="ja-JP" sz="2000" dirty="0" smtClean="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配列について</a:t>
            </a:r>
            <a:endParaRPr kumimoji="1" lang="ja-JP" altLang="en-US" dirty="0"/>
          </a:p>
        </p:txBody>
      </p:sp>
      <p:sp>
        <p:nvSpPr>
          <p:cNvPr id="4" name="テキスト ボックス 3"/>
          <p:cNvSpPr txBox="1"/>
          <p:nvPr/>
        </p:nvSpPr>
        <p:spPr>
          <a:xfrm>
            <a:off x="928662" y="1428736"/>
            <a:ext cx="7572428" cy="1815882"/>
          </a:xfrm>
          <a:prstGeom prst="rect">
            <a:avLst/>
          </a:prstGeom>
          <a:noFill/>
        </p:spPr>
        <p:txBody>
          <a:bodyPr wrap="square" rtlCol="0">
            <a:spAutoFit/>
          </a:bodyPr>
          <a:lstStyle/>
          <a:p>
            <a:r>
              <a:rPr lang="en-US" altLang="ja-JP" sz="2800" dirty="0" err="1" smtClean="0"/>
              <a:t>int</a:t>
            </a:r>
            <a:r>
              <a:rPr lang="en-US" altLang="ja-JP" sz="2800" dirty="0" smtClean="0"/>
              <a:t> a [5];</a:t>
            </a:r>
          </a:p>
          <a:p>
            <a:r>
              <a:rPr lang="ja-JP" altLang="en-US" sz="2800" dirty="0" smtClean="0"/>
              <a:t>という宣言下において、</a:t>
            </a:r>
            <a:r>
              <a:rPr lang="en-US" altLang="ja-JP" sz="2800" dirty="0" smtClean="0"/>
              <a:t>a</a:t>
            </a:r>
            <a:r>
              <a:rPr lang="ja-JP" altLang="en-US" sz="2800" dirty="0" smtClean="0"/>
              <a:t>は長さ５の配列であるが、（少数の例外を除いて）</a:t>
            </a:r>
            <a:r>
              <a:rPr lang="en-US" altLang="ja-JP" sz="2800" dirty="0" smtClean="0"/>
              <a:t>a</a:t>
            </a:r>
            <a:r>
              <a:rPr lang="ja-JP" altLang="en-US" sz="2800" dirty="0" smtClean="0"/>
              <a:t>は配列</a:t>
            </a:r>
            <a:r>
              <a:rPr lang="en-US" altLang="ja-JP" sz="2800" dirty="0" smtClean="0"/>
              <a:t>a</a:t>
            </a:r>
            <a:r>
              <a:rPr lang="ja-JP" altLang="en-US" sz="2800" dirty="0" smtClean="0"/>
              <a:t>の先頭要素へのポインタ、すなわち</a:t>
            </a:r>
            <a:r>
              <a:rPr lang="en-US" altLang="ja-JP" sz="2800" dirty="0" smtClean="0"/>
              <a:t>&amp;a[0]</a:t>
            </a:r>
            <a:r>
              <a:rPr lang="ja-JP" altLang="en-US" sz="2800" dirty="0" smtClean="0"/>
              <a:t>と同じ意味である。</a:t>
            </a:r>
            <a:r>
              <a:rPr lang="en-US" altLang="ja-JP" sz="2800" dirty="0" smtClean="0"/>
              <a:t>    </a:t>
            </a:r>
          </a:p>
        </p:txBody>
      </p:sp>
      <p:sp>
        <p:nvSpPr>
          <p:cNvPr id="5" name="テキスト ボックス 4"/>
          <p:cNvSpPr txBox="1"/>
          <p:nvPr/>
        </p:nvSpPr>
        <p:spPr>
          <a:xfrm>
            <a:off x="714348" y="3861048"/>
            <a:ext cx="7500958" cy="2677656"/>
          </a:xfrm>
          <a:prstGeom prst="rect">
            <a:avLst/>
          </a:prstGeom>
          <a:noFill/>
        </p:spPr>
        <p:txBody>
          <a:bodyPr wrap="square" rtlCol="0">
            <a:spAutoFit/>
          </a:bodyPr>
          <a:lstStyle/>
          <a:p>
            <a:r>
              <a:rPr lang="ja-JP" altLang="en-US" sz="2800" dirty="0" smtClean="0"/>
              <a:t>（例外） </a:t>
            </a:r>
            <a:r>
              <a:rPr lang="en-US" altLang="ja-JP" sz="2800" dirty="0" err="1" smtClean="0"/>
              <a:t>sizeof</a:t>
            </a:r>
            <a:r>
              <a:rPr lang="ja-JP" altLang="en-US" sz="2800" dirty="0" smtClean="0"/>
              <a:t>の引数、</a:t>
            </a:r>
            <a:r>
              <a:rPr lang="en-US" altLang="ja-JP" sz="2800" dirty="0" smtClean="0"/>
              <a:t>&amp;</a:t>
            </a:r>
            <a:r>
              <a:rPr lang="ja-JP" altLang="en-US" sz="2800" dirty="0" smtClean="0"/>
              <a:t>の引数は例外である。</a:t>
            </a:r>
            <a:endParaRPr lang="en-US" altLang="ja-JP" sz="2800" dirty="0" smtClean="0"/>
          </a:p>
          <a:p>
            <a:r>
              <a:rPr lang="en-US" altLang="ja-JP" sz="2800" dirty="0" smtClean="0"/>
              <a:t>     </a:t>
            </a:r>
            <a:r>
              <a:rPr lang="en-US" altLang="ja-JP" sz="2800" dirty="0" err="1" smtClean="0"/>
              <a:t>int</a:t>
            </a:r>
            <a:r>
              <a:rPr lang="en-US" altLang="ja-JP" sz="2800" dirty="0" smtClean="0"/>
              <a:t> a[5];</a:t>
            </a:r>
          </a:p>
          <a:p>
            <a:r>
              <a:rPr lang="en-US" altLang="ja-JP" sz="2800" dirty="0" smtClean="0"/>
              <a:t> </a:t>
            </a:r>
            <a:r>
              <a:rPr lang="ja-JP" altLang="en-US" sz="2800" dirty="0" smtClean="0"/>
              <a:t>という宣言下において、</a:t>
            </a:r>
            <a:r>
              <a:rPr lang="en-US" altLang="ja-JP" sz="2800" dirty="0" err="1" smtClean="0"/>
              <a:t>sizeof</a:t>
            </a:r>
            <a:r>
              <a:rPr lang="en-US" altLang="ja-JP" sz="2800" dirty="0" smtClean="0"/>
              <a:t>(a)</a:t>
            </a:r>
            <a:r>
              <a:rPr lang="ja-JP" altLang="en-US" sz="2800" dirty="0" smtClean="0"/>
              <a:t>は配列</a:t>
            </a:r>
            <a:r>
              <a:rPr lang="en-US" altLang="ja-JP" sz="2800" dirty="0" smtClean="0"/>
              <a:t>a</a:t>
            </a:r>
            <a:r>
              <a:rPr lang="ja-JP" altLang="en-US" sz="2800" dirty="0" smtClean="0"/>
              <a:t>全体のサイズ（演習室では</a:t>
            </a:r>
            <a:r>
              <a:rPr lang="en-US" altLang="ja-JP" sz="2800" dirty="0" smtClean="0"/>
              <a:t>20</a:t>
            </a:r>
            <a:r>
              <a:rPr lang="ja-JP" altLang="en-US" sz="2800" dirty="0" smtClean="0"/>
              <a:t>）、</a:t>
            </a:r>
            <a:r>
              <a:rPr lang="en-US" altLang="ja-JP" sz="2800" dirty="0" smtClean="0"/>
              <a:t>&amp;a</a:t>
            </a:r>
            <a:r>
              <a:rPr lang="ja-JP" altLang="en-US" sz="2800" dirty="0" smtClean="0"/>
              <a:t>は配列</a:t>
            </a:r>
            <a:r>
              <a:rPr lang="en-US" altLang="ja-JP" sz="2800" dirty="0" smtClean="0"/>
              <a:t>a</a:t>
            </a:r>
            <a:r>
              <a:rPr lang="ja-JP" altLang="en-US" sz="2800" dirty="0" smtClean="0"/>
              <a:t>全体へのポインタ</a:t>
            </a:r>
            <a:r>
              <a:rPr lang="en-US" altLang="ja-JP" sz="2800" dirty="0" smtClean="0"/>
              <a:t>(</a:t>
            </a:r>
            <a:r>
              <a:rPr lang="en-US" altLang="ja-JP" sz="2800" dirty="0" err="1" smtClean="0"/>
              <a:t>int</a:t>
            </a:r>
            <a:r>
              <a:rPr lang="en-US" altLang="ja-JP" sz="2800" dirty="0" smtClean="0"/>
              <a:t> (*) [5] </a:t>
            </a:r>
            <a:r>
              <a:rPr lang="ja-JP" altLang="en-US" sz="2800" dirty="0" smtClean="0"/>
              <a:t>型</a:t>
            </a:r>
            <a:r>
              <a:rPr lang="en-US" altLang="ja-JP" sz="2800" dirty="0" smtClean="0"/>
              <a:t>)</a:t>
            </a:r>
            <a:r>
              <a:rPr lang="ja-JP" altLang="en-US" sz="2800" dirty="0" smtClean="0"/>
              <a:t>である。</a:t>
            </a:r>
            <a:endParaRPr lang="en-US" altLang="ja-JP" sz="2800" dirty="0" smtClean="0"/>
          </a:p>
          <a:p>
            <a:r>
              <a:rPr lang="ja-JP" altLang="en-US" sz="2800" dirty="0" smtClean="0"/>
              <a:t>これらの説明は今日はしない。</a:t>
            </a:r>
            <a:endParaRPr lang="en-US" altLang="ja-JP" sz="2800" dirty="0" smtClean="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例</a:t>
            </a:r>
            <a:endParaRPr kumimoji="1" lang="ja-JP" altLang="en-US" dirty="0"/>
          </a:p>
        </p:txBody>
      </p:sp>
      <p:sp>
        <p:nvSpPr>
          <p:cNvPr id="5" name="正方形/長方形 4"/>
          <p:cNvSpPr/>
          <p:nvPr/>
        </p:nvSpPr>
        <p:spPr>
          <a:xfrm>
            <a:off x="857224" y="1285860"/>
            <a:ext cx="4929222" cy="4524315"/>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sum (</a:t>
            </a:r>
            <a:r>
              <a:rPr lang="en-US" altLang="ja-JP" sz="2400" dirty="0" err="1" smtClean="0"/>
              <a:t>int</a:t>
            </a:r>
            <a:r>
              <a:rPr lang="en-US" altLang="ja-JP" sz="2400" dirty="0" smtClean="0"/>
              <a:t> p[ ], </a:t>
            </a:r>
            <a:r>
              <a:rPr lang="en-US" altLang="ja-JP" sz="2400" dirty="0" err="1" smtClean="0"/>
              <a:t>int</a:t>
            </a:r>
            <a:r>
              <a:rPr lang="en-US" altLang="ja-JP" sz="2400" dirty="0" smtClean="0"/>
              <a:t> size) {</a:t>
            </a:r>
          </a:p>
          <a:p>
            <a:r>
              <a:rPr lang="en-US" altLang="ja-JP" sz="2400" dirty="0" smtClean="0"/>
              <a:t>  </a:t>
            </a:r>
            <a:r>
              <a:rPr lang="en-US" altLang="ja-JP" sz="2400" dirty="0" err="1" smtClean="0"/>
              <a:t>int</a:t>
            </a:r>
            <a:r>
              <a:rPr lang="en-US" altLang="ja-JP" sz="2400" dirty="0" smtClean="0"/>
              <a:t> sum=0, </a:t>
            </a:r>
            <a:r>
              <a:rPr lang="en-US" altLang="ja-JP" sz="2400" dirty="0" err="1" smtClean="0"/>
              <a:t>i</a:t>
            </a:r>
            <a:r>
              <a:rPr lang="en-US" altLang="ja-JP" sz="2400" dirty="0" smtClean="0"/>
              <a:t>;</a:t>
            </a:r>
          </a:p>
          <a:p>
            <a:r>
              <a:rPr lang="en-US" altLang="ja-JP" sz="2400" dirty="0" smtClean="0"/>
              <a:t>  for (</a:t>
            </a:r>
            <a:r>
              <a:rPr lang="en-US" altLang="ja-JP" sz="2400" dirty="0" err="1" smtClean="0"/>
              <a:t>i</a:t>
            </a:r>
            <a:r>
              <a:rPr lang="en-US" altLang="ja-JP" sz="2400" dirty="0" smtClean="0"/>
              <a:t>=0; </a:t>
            </a:r>
            <a:r>
              <a:rPr lang="en-US" altLang="ja-JP" sz="2400" dirty="0" err="1" smtClean="0"/>
              <a:t>i</a:t>
            </a:r>
            <a:r>
              <a:rPr lang="en-US" altLang="ja-JP" sz="2400" dirty="0" smtClean="0"/>
              <a:t>&lt;size; </a:t>
            </a:r>
            <a:r>
              <a:rPr lang="en-US" altLang="ja-JP" sz="2400" dirty="0" err="1" smtClean="0"/>
              <a:t>i</a:t>
            </a:r>
            <a:r>
              <a:rPr lang="en-US" altLang="ja-JP" sz="2400" dirty="0" smtClean="0"/>
              <a:t>=i+1)</a:t>
            </a:r>
          </a:p>
          <a:p>
            <a:r>
              <a:rPr lang="en-US" altLang="ja-JP" sz="2400" dirty="0" smtClean="0"/>
              <a:t>    sum = sum + p[</a:t>
            </a:r>
            <a:r>
              <a:rPr lang="en-US" altLang="ja-JP" sz="2400" dirty="0" err="1" smtClean="0"/>
              <a:t>i</a:t>
            </a:r>
            <a:r>
              <a:rPr lang="en-US" altLang="ja-JP" sz="2400" dirty="0" smtClean="0"/>
              <a:t>];</a:t>
            </a:r>
          </a:p>
          <a:p>
            <a:r>
              <a:rPr lang="en-US" altLang="ja-JP" sz="2400" dirty="0" smtClean="0"/>
              <a:t>  return sum;</a:t>
            </a:r>
          </a:p>
          <a:p>
            <a:r>
              <a:rPr lang="en-US" altLang="ja-JP" sz="2400" dirty="0" smtClean="0"/>
              <a: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a[5] = {10,20,30,40,50};</a:t>
            </a:r>
          </a:p>
          <a:p>
            <a:r>
              <a:rPr lang="en-US" altLang="ja-JP" sz="2400" dirty="0" smtClean="0"/>
              <a:t>  </a:t>
            </a:r>
            <a:r>
              <a:rPr lang="en-US" altLang="ja-JP" sz="2400" dirty="0" err="1" smtClean="0"/>
              <a:t>printf</a:t>
            </a:r>
            <a:r>
              <a:rPr lang="en-US" altLang="ja-JP" sz="2400" dirty="0" smtClean="0"/>
              <a:t> ("sum = %d\n", sum (</a:t>
            </a:r>
            <a:r>
              <a:rPr lang="en-US" altLang="ja-JP" sz="2400" dirty="0" smtClean="0">
                <a:solidFill>
                  <a:srgbClr val="FF0000"/>
                </a:solidFill>
              </a:rPr>
              <a:t>a</a:t>
            </a:r>
            <a:r>
              <a:rPr lang="en-US" altLang="ja-JP" sz="2400" dirty="0" smtClean="0"/>
              <a:t>, 5));</a:t>
            </a:r>
          </a:p>
          <a:p>
            <a:r>
              <a:rPr lang="en-US" altLang="ja-JP" sz="2400" dirty="0" smtClean="0"/>
              <a:t>  return 0;</a:t>
            </a:r>
          </a:p>
          <a:p>
            <a:r>
              <a:rPr lang="en-US" altLang="ja-JP" sz="2400" dirty="0" smtClean="0"/>
              <a:t>}</a:t>
            </a:r>
            <a:endParaRPr lang="en-US" altLang="ja-JP" sz="2400" dirty="0"/>
          </a:p>
        </p:txBody>
      </p:sp>
      <p:sp>
        <p:nvSpPr>
          <p:cNvPr id="6" name="テキスト ボックス 5"/>
          <p:cNvSpPr txBox="1"/>
          <p:nvPr/>
        </p:nvSpPr>
        <p:spPr>
          <a:xfrm>
            <a:off x="5929322" y="4857760"/>
            <a:ext cx="2857520" cy="1200329"/>
          </a:xfrm>
          <a:prstGeom prst="rect">
            <a:avLst/>
          </a:prstGeom>
          <a:noFill/>
        </p:spPr>
        <p:txBody>
          <a:bodyPr wrap="square" rtlCol="0">
            <a:spAutoFit/>
          </a:bodyPr>
          <a:lstStyle/>
          <a:p>
            <a:r>
              <a:rPr lang="en-US" altLang="ja-JP" sz="2400" dirty="0" smtClean="0"/>
              <a:t>a</a:t>
            </a:r>
            <a:r>
              <a:rPr lang="ja-JP" altLang="en-US" sz="2400" dirty="0" smtClean="0"/>
              <a:t>は、</a:t>
            </a:r>
            <a:r>
              <a:rPr lang="en-US" altLang="ja-JP" sz="2400" dirty="0" smtClean="0"/>
              <a:t>a</a:t>
            </a:r>
            <a:r>
              <a:rPr lang="ja-JP" altLang="en-US" sz="2400" dirty="0" smtClean="0"/>
              <a:t>の先頭要素へのポインタ</a:t>
            </a:r>
            <a:r>
              <a:rPr lang="en-US" altLang="ja-JP" sz="2400" dirty="0" smtClean="0"/>
              <a:t>(&amp;a[0])</a:t>
            </a:r>
            <a:r>
              <a:rPr lang="ja-JP" altLang="en-US" sz="2400" dirty="0" smtClean="0"/>
              <a:t>の意味である。</a:t>
            </a:r>
            <a:endParaRPr kumimoji="1" lang="ja-JP" alt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（補足）</a:t>
            </a:r>
            <a:r>
              <a:rPr kumimoji="1" lang="en-US" altLang="ja-JP" dirty="0" smtClean="0"/>
              <a:t>[ ] </a:t>
            </a:r>
            <a:r>
              <a:rPr kumimoji="1" lang="ja-JP" altLang="en-US" dirty="0" smtClean="0"/>
              <a:t>記法について</a:t>
            </a:r>
            <a:endParaRPr kumimoji="1" lang="ja-JP" altLang="en-US" dirty="0"/>
          </a:p>
        </p:txBody>
      </p:sp>
      <p:sp>
        <p:nvSpPr>
          <p:cNvPr id="4" name="テキスト ボックス 3"/>
          <p:cNvSpPr txBox="1"/>
          <p:nvPr/>
        </p:nvSpPr>
        <p:spPr>
          <a:xfrm>
            <a:off x="611560" y="1476067"/>
            <a:ext cx="7858180" cy="4832092"/>
          </a:xfrm>
          <a:prstGeom prst="rect">
            <a:avLst/>
          </a:prstGeom>
          <a:noFill/>
        </p:spPr>
        <p:txBody>
          <a:bodyPr wrap="square" rtlCol="0">
            <a:spAutoFit/>
          </a:bodyPr>
          <a:lstStyle/>
          <a:p>
            <a:r>
              <a:rPr lang="en-US" altLang="ja-JP" sz="2800" dirty="0" smtClean="0"/>
              <a:t>29</a:t>
            </a:r>
            <a:r>
              <a:rPr lang="ja-JP" altLang="en-US" sz="2800" dirty="0" smtClean="0"/>
              <a:t>ページで書いた通り、</a:t>
            </a:r>
            <a:r>
              <a:rPr lang="en-US" altLang="ja-JP" sz="2800" dirty="0" smtClean="0"/>
              <a:t>a [</a:t>
            </a:r>
            <a:r>
              <a:rPr lang="en-US" altLang="ja-JP" sz="2800" dirty="0" err="1" smtClean="0"/>
              <a:t>i</a:t>
            </a:r>
            <a:r>
              <a:rPr lang="en-US" altLang="ja-JP" sz="2800" dirty="0" smtClean="0"/>
              <a:t>] </a:t>
            </a:r>
            <a:r>
              <a:rPr lang="ja-JP" altLang="en-US" sz="2800" dirty="0" smtClean="0"/>
              <a:t>は </a:t>
            </a:r>
            <a:r>
              <a:rPr lang="en-US" altLang="ja-JP" sz="2800" dirty="0" smtClean="0"/>
              <a:t>*(a + </a:t>
            </a:r>
            <a:r>
              <a:rPr lang="en-US" altLang="ja-JP" sz="2800" dirty="0" err="1" smtClean="0"/>
              <a:t>i</a:t>
            </a:r>
            <a:r>
              <a:rPr lang="en-US" altLang="ja-JP" sz="2800" dirty="0" smtClean="0"/>
              <a:t>)</a:t>
            </a:r>
            <a:r>
              <a:rPr lang="ja-JP" altLang="en-US" sz="2800" dirty="0" smtClean="0"/>
              <a:t>の別記法であり、</a:t>
            </a:r>
            <a:r>
              <a:rPr lang="en-US" altLang="ja-JP" sz="2800" dirty="0" err="1" smtClean="0"/>
              <a:t>i</a:t>
            </a:r>
            <a:r>
              <a:rPr lang="en-US" altLang="ja-JP" sz="2800" dirty="0" smtClean="0"/>
              <a:t> [a] </a:t>
            </a:r>
            <a:r>
              <a:rPr lang="ja-JP" altLang="en-US" sz="2800" dirty="0" smtClean="0"/>
              <a:t>は </a:t>
            </a:r>
            <a:r>
              <a:rPr lang="en-US" altLang="ja-JP" sz="2800" dirty="0" smtClean="0"/>
              <a:t>*(</a:t>
            </a:r>
            <a:r>
              <a:rPr lang="en-US" altLang="ja-JP" sz="2800" dirty="0" err="1" smtClean="0"/>
              <a:t>i</a:t>
            </a:r>
            <a:r>
              <a:rPr lang="en-US" altLang="ja-JP" sz="2800" dirty="0" smtClean="0"/>
              <a:t> + a)</a:t>
            </a:r>
            <a:r>
              <a:rPr lang="ja-JP" altLang="en-US" sz="2800" dirty="0" smtClean="0"/>
              <a:t>の別記法である。</a:t>
            </a:r>
            <a:endParaRPr lang="en-US" altLang="ja-JP" sz="2800" dirty="0" smtClean="0"/>
          </a:p>
          <a:p>
            <a:r>
              <a:rPr lang="en-US" altLang="ja-JP" sz="2800" dirty="0" smtClean="0"/>
              <a:t>a + </a:t>
            </a:r>
            <a:r>
              <a:rPr lang="en-US" altLang="ja-JP" sz="2800" dirty="0" err="1" smtClean="0"/>
              <a:t>i</a:t>
            </a:r>
            <a:r>
              <a:rPr lang="ja-JP" altLang="en-US" sz="2800" dirty="0" smtClean="0"/>
              <a:t>と</a:t>
            </a:r>
            <a:r>
              <a:rPr lang="en-US" altLang="ja-JP" sz="2800" dirty="0" err="1" smtClean="0"/>
              <a:t>i</a:t>
            </a:r>
            <a:r>
              <a:rPr lang="en-US" altLang="ja-JP" sz="2800" dirty="0" smtClean="0"/>
              <a:t> + a</a:t>
            </a:r>
            <a:r>
              <a:rPr lang="ja-JP" altLang="en-US" sz="2800" dirty="0" smtClean="0"/>
              <a:t>の評価結果は同じなので、</a:t>
            </a:r>
            <a:r>
              <a:rPr lang="en-US" altLang="ja-JP" sz="2800" dirty="0" smtClean="0"/>
              <a:t>a[</a:t>
            </a:r>
            <a:r>
              <a:rPr lang="en-US" altLang="ja-JP" sz="2800" dirty="0" err="1" smtClean="0"/>
              <a:t>i</a:t>
            </a:r>
            <a:r>
              <a:rPr lang="en-US" altLang="ja-JP" sz="2800" dirty="0" smtClean="0"/>
              <a:t>]</a:t>
            </a:r>
            <a:r>
              <a:rPr lang="ja-JP" altLang="en-US" sz="2800" dirty="0" smtClean="0"/>
              <a:t>と</a:t>
            </a:r>
            <a:r>
              <a:rPr lang="en-US" altLang="ja-JP" sz="2800" dirty="0" err="1" smtClean="0"/>
              <a:t>i</a:t>
            </a:r>
            <a:r>
              <a:rPr lang="en-US" altLang="ja-JP" sz="2800" dirty="0" smtClean="0"/>
              <a:t>[a]</a:t>
            </a:r>
            <a:r>
              <a:rPr lang="ja-JP" altLang="en-US" sz="2800" dirty="0" smtClean="0"/>
              <a:t>の評価結果も同じである。たとえば、</a:t>
            </a:r>
            <a:endParaRPr lang="en-US" altLang="ja-JP" sz="2800" dirty="0" smtClean="0"/>
          </a:p>
          <a:p>
            <a:r>
              <a:rPr lang="en-US" altLang="ja-JP" sz="2800" dirty="0" smtClean="0"/>
              <a:t>     </a:t>
            </a:r>
            <a:r>
              <a:rPr lang="en-US" altLang="ja-JP" sz="2800" dirty="0" err="1" smtClean="0"/>
              <a:t>int</a:t>
            </a:r>
            <a:r>
              <a:rPr lang="en-US" altLang="ja-JP" sz="2800" dirty="0" smtClean="0"/>
              <a:t> a [5];</a:t>
            </a:r>
          </a:p>
          <a:p>
            <a:r>
              <a:rPr kumimoji="1" lang="ja-JP" altLang="en-US" sz="2800" dirty="0" smtClean="0"/>
              <a:t>という宣言下において、</a:t>
            </a:r>
            <a:r>
              <a:rPr kumimoji="1" lang="en-US" altLang="ja-JP" sz="2800" dirty="0" smtClean="0"/>
              <a:t>a[0]</a:t>
            </a:r>
            <a:r>
              <a:rPr kumimoji="1" lang="ja-JP" altLang="en-US" sz="2800" dirty="0" smtClean="0"/>
              <a:t>は</a:t>
            </a:r>
            <a:r>
              <a:rPr kumimoji="1" lang="en-US" altLang="ja-JP" sz="2800" dirty="0" smtClean="0"/>
              <a:t>0[a]</a:t>
            </a:r>
            <a:r>
              <a:rPr kumimoji="1" lang="ja-JP" altLang="en-US" sz="2800" dirty="0" smtClean="0"/>
              <a:t>で置き換えてもよく、</a:t>
            </a:r>
            <a:r>
              <a:rPr kumimoji="1" lang="en-US" altLang="ja-JP" sz="2800" dirty="0" smtClean="0"/>
              <a:t>a[1]</a:t>
            </a:r>
            <a:r>
              <a:rPr kumimoji="1" lang="ja-JP" altLang="en-US" sz="2800" dirty="0" smtClean="0"/>
              <a:t>は</a:t>
            </a:r>
            <a:r>
              <a:rPr kumimoji="1" lang="en-US" altLang="ja-JP" sz="2800" dirty="0" smtClean="0"/>
              <a:t>1[a]</a:t>
            </a:r>
            <a:r>
              <a:rPr kumimoji="1" lang="ja-JP" altLang="en-US" sz="2800" dirty="0" smtClean="0"/>
              <a:t>で置き換えてよく、</a:t>
            </a:r>
            <a:r>
              <a:rPr kumimoji="1" lang="en-US" altLang="ja-JP" sz="2800" dirty="0" smtClean="0"/>
              <a:t>……</a:t>
            </a:r>
            <a:r>
              <a:rPr kumimoji="1" lang="ja-JP" altLang="en-US" sz="2800" dirty="0" err="1" smtClean="0"/>
              <a:t>、</a:t>
            </a:r>
            <a:r>
              <a:rPr lang="en-US" altLang="ja-JP" sz="2800" dirty="0" smtClean="0"/>
              <a:t>a[4]</a:t>
            </a:r>
            <a:r>
              <a:rPr lang="ja-JP" altLang="en-US" sz="2800" dirty="0" smtClean="0"/>
              <a:t>は</a:t>
            </a:r>
            <a:r>
              <a:rPr lang="en-US" altLang="ja-JP" sz="2800" dirty="0" smtClean="0"/>
              <a:t>4[a]</a:t>
            </a:r>
            <a:r>
              <a:rPr lang="ja-JP" altLang="en-US" sz="2800" dirty="0" smtClean="0"/>
              <a:t>で置き換えてよい。</a:t>
            </a:r>
            <a:endParaRPr lang="en-US" altLang="ja-JP" sz="2800" dirty="0" smtClean="0"/>
          </a:p>
          <a:p>
            <a:r>
              <a:rPr lang="ja-JP" altLang="en-US" sz="2800" dirty="0" smtClean="0"/>
              <a:t>定義上は許されているが、</a:t>
            </a:r>
            <a:r>
              <a:rPr lang="en-US" altLang="ja-JP" sz="2800" dirty="0" smtClean="0"/>
              <a:t>0[a], 1[a]</a:t>
            </a:r>
            <a:r>
              <a:rPr lang="ja-JP" altLang="en-US" sz="2800" dirty="0" err="1" smtClean="0"/>
              <a:t>のような</a:t>
            </a:r>
            <a:r>
              <a:rPr lang="ja-JP" altLang="en-US" sz="2800" dirty="0" smtClean="0"/>
              <a:t>書き方はプログラムの可読性を著しく低下させるので避けるべき。</a:t>
            </a:r>
            <a:endParaRPr kumimoji="1" lang="ja-JP" altLang="en-US" sz="2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88640"/>
            <a:ext cx="8229600" cy="922114"/>
          </a:xfrm>
        </p:spPr>
        <p:txBody>
          <a:bodyPr/>
          <a:lstStyle/>
          <a:p>
            <a:r>
              <a:rPr kumimoji="1" lang="ja-JP" altLang="en-US" dirty="0" smtClean="0"/>
              <a:t>基本課題１</a:t>
            </a:r>
            <a:endParaRPr kumimoji="1" lang="ja-JP" altLang="en-US" dirty="0"/>
          </a:p>
        </p:txBody>
      </p:sp>
      <p:sp>
        <p:nvSpPr>
          <p:cNvPr id="4" name="正方形/長方形 3"/>
          <p:cNvSpPr/>
          <p:nvPr/>
        </p:nvSpPr>
        <p:spPr>
          <a:xfrm>
            <a:off x="395536" y="1268760"/>
            <a:ext cx="8496944" cy="5324535"/>
          </a:xfrm>
          <a:prstGeom prst="rect">
            <a:avLst/>
          </a:prstGeom>
        </p:spPr>
        <p:txBody>
          <a:bodyPr wrap="square">
            <a:spAutoFit/>
          </a:bodyPr>
          <a:lstStyle/>
          <a:p>
            <a:r>
              <a:rPr lang="ja-JP" altLang="en-US" sz="2000" dirty="0" smtClean="0"/>
              <a:t>英語の文字列</a:t>
            </a:r>
            <a:r>
              <a:rPr lang="en-US" altLang="ja-JP" sz="2000" dirty="0" smtClean="0"/>
              <a:t>(char</a:t>
            </a:r>
            <a:r>
              <a:rPr lang="ja-JP" altLang="en-US" sz="2000" dirty="0" smtClean="0"/>
              <a:t> </a:t>
            </a:r>
            <a:r>
              <a:rPr lang="en-US" altLang="ja-JP" sz="2000" dirty="0" smtClean="0"/>
              <a:t>*</a:t>
            </a:r>
            <a:r>
              <a:rPr lang="ja-JP" altLang="en-US" sz="2000" dirty="0" smtClean="0"/>
              <a:t>型</a:t>
            </a:r>
            <a:r>
              <a:rPr lang="en-US" altLang="ja-JP" sz="2000" dirty="0" smtClean="0"/>
              <a:t>)</a:t>
            </a:r>
            <a:r>
              <a:rPr lang="ja-JP" altLang="en-US" sz="2000" dirty="0" smtClean="0"/>
              <a:t>を受け取り、その中のスペースの数を返す関数</a:t>
            </a:r>
            <a:r>
              <a:rPr lang="en-US" altLang="ja-JP" sz="2000" dirty="0" err="1" smtClean="0"/>
              <a:t>countSpaces</a:t>
            </a:r>
            <a:r>
              <a:rPr lang="ja-JP" altLang="en-US" sz="2000" dirty="0" smtClean="0"/>
              <a:t>を定義せよ。</a:t>
            </a:r>
            <a:endParaRPr lang="en-US" altLang="ja-JP" sz="2000" dirty="0" smtClean="0"/>
          </a:p>
          <a:p>
            <a:r>
              <a:rPr lang="ja-JP" altLang="en-US" sz="2000" dirty="0" smtClean="0"/>
              <a:t>      </a:t>
            </a:r>
            <a:r>
              <a:rPr lang="en-US" altLang="ja-JP" sz="2000" dirty="0" err="1" smtClean="0"/>
              <a:t>int</a:t>
            </a:r>
            <a:r>
              <a:rPr lang="en-US" altLang="ja-JP" sz="2000" dirty="0" smtClean="0"/>
              <a:t> </a:t>
            </a:r>
            <a:r>
              <a:rPr lang="en-US" altLang="ja-JP" sz="2000" dirty="0" err="1" smtClean="0"/>
              <a:t>countSpaces</a:t>
            </a:r>
            <a:r>
              <a:rPr lang="en-US" altLang="ja-JP" sz="2000" dirty="0" smtClean="0"/>
              <a:t> (char *</a:t>
            </a:r>
            <a:r>
              <a:rPr lang="en-US" altLang="ja-JP" sz="2000" dirty="0" err="1" smtClean="0"/>
              <a:t>str</a:t>
            </a:r>
            <a:r>
              <a:rPr lang="en-US" altLang="ja-JP" sz="2000" dirty="0" smtClean="0"/>
              <a:t>) { ... }</a:t>
            </a:r>
            <a:endParaRPr lang="ja-JP" altLang="en-US" sz="2000" dirty="0" smtClean="0"/>
          </a:p>
          <a:p>
            <a:r>
              <a:rPr lang="ja-JP" altLang="en-US" sz="2000" dirty="0" smtClean="0"/>
              <a:t>また、</a:t>
            </a:r>
            <a:r>
              <a:rPr lang="en-US" altLang="ja-JP" sz="2000" dirty="0" err="1" smtClean="0"/>
              <a:t>countSpaces</a:t>
            </a:r>
            <a:r>
              <a:rPr lang="ja-JP" altLang="en-US" sz="2000" dirty="0" smtClean="0"/>
              <a:t>が正常に動作することを以下のように確認せよ。</a:t>
            </a:r>
          </a:p>
          <a:p>
            <a:r>
              <a:rPr lang="ja-JP" altLang="en-US" sz="2000" dirty="0" smtClean="0"/>
              <a:t>文字列を</a:t>
            </a:r>
            <a:r>
              <a:rPr lang="en-US" altLang="ja-JP" sz="2000" dirty="0" smtClean="0"/>
              <a:t>main</a:t>
            </a:r>
            <a:r>
              <a:rPr lang="ja-JP" altLang="en-US" sz="2000" dirty="0" smtClean="0"/>
              <a:t>関数中において</a:t>
            </a:r>
            <a:r>
              <a:rPr lang="en-US" altLang="ja-JP" sz="2000" dirty="0" smtClean="0"/>
              <a:t>gets</a:t>
            </a:r>
            <a:r>
              <a:rPr lang="ja-JP" altLang="en-US" sz="2000" dirty="0" smtClean="0"/>
              <a:t>関数でキーボードから受け取り、それを関数</a:t>
            </a:r>
            <a:r>
              <a:rPr lang="en-US" altLang="ja-JP" sz="2000" dirty="0" err="1" smtClean="0"/>
              <a:t>countSpaces</a:t>
            </a:r>
            <a:r>
              <a:rPr lang="ja-JP" altLang="en-US" sz="2000" dirty="0" smtClean="0"/>
              <a:t>に渡して返り値として空白の数を受け取り、それを</a:t>
            </a:r>
            <a:r>
              <a:rPr lang="en-US" altLang="ja-JP" sz="2000" dirty="0" smtClean="0"/>
              <a:t>main</a:t>
            </a:r>
            <a:r>
              <a:rPr lang="ja-JP" altLang="en-US" sz="2000" dirty="0" smtClean="0"/>
              <a:t>関数中で以下の実行例のように画面に表示する。</a:t>
            </a:r>
            <a:endParaRPr lang="en-US" altLang="ja-JP" sz="2000" dirty="0" smtClean="0"/>
          </a:p>
          <a:p>
            <a:r>
              <a:rPr lang="en-US" altLang="ja-JP" sz="2000" dirty="0" smtClean="0"/>
              <a:t>[</a:t>
            </a:r>
            <a:r>
              <a:rPr lang="ja-JP" altLang="en-US" sz="2000" dirty="0" smtClean="0"/>
              <a:t>実行例</a:t>
            </a:r>
            <a:r>
              <a:rPr lang="en-US" altLang="ja-JP" sz="2000" dirty="0" smtClean="0"/>
              <a:t>]</a:t>
            </a:r>
            <a:endParaRPr lang="ja-JP" altLang="en-US" sz="2000" dirty="0" smtClean="0"/>
          </a:p>
          <a:p>
            <a:r>
              <a:rPr lang="en-US" altLang="ja-JP" sz="2000" dirty="0" smtClean="0"/>
              <a:t>$ ./kihon9-1</a:t>
            </a:r>
          </a:p>
          <a:p>
            <a:r>
              <a:rPr lang="ja-JP" altLang="en-US" sz="2000" dirty="0" smtClean="0"/>
              <a:t>英語の文字列を入力してください</a:t>
            </a:r>
            <a:r>
              <a:rPr lang="en-US" altLang="ja-JP" sz="2000" dirty="0" smtClean="0"/>
              <a:t>:  </a:t>
            </a:r>
            <a:r>
              <a:rPr lang="en-US" altLang="ja-JP" sz="2000" dirty="0" smtClean="0">
                <a:solidFill>
                  <a:srgbClr val="FF0000"/>
                </a:solidFill>
              </a:rPr>
              <a:t>I am a student.</a:t>
            </a:r>
          </a:p>
          <a:p>
            <a:r>
              <a:rPr lang="ja-JP" altLang="en-US" sz="2000" dirty="0" smtClean="0"/>
              <a:t>文字列</a:t>
            </a:r>
            <a:r>
              <a:rPr lang="en-US" altLang="ja-JP" sz="2000" dirty="0" smtClean="0"/>
              <a:t>“I am a student.”</a:t>
            </a:r>
            <a:r>
              <a:rPr lang="ja-JP" altLang="en-US" sz="2000" dirty="0" smtClean="0"/>
              <a:t>中のスペースの数は</a:t>
            </a:r>
            <a:r>
              <a:rPr lang="en-US" altLang="ja-JP" sz="2000" dirty="0" smtClean="0"/>
              <a:t>3</a:t>
            </a:r>
            <a:r>
              <a:rPr lang="ja-JP" altLang="en-US" sz="2000" dirty="0" smtClean="0"/>
              <a:t>個です。</a:t>
            </a:r>
            <a:endParaRPr lang="en-US" altLang="ja-JP" sz="2000" dirty="0" smtClean="0"/>
          </a:p>
          <a:p>
            <a:r>
              <a:rPr lang="ja-JP" altLang="en-US" sz="2000" dirty="0" smtClean="0"/>
              <a:t>（ヒント）空白（に対応する</a:t>
            </a:r>
            <a:r>
              <a:rPr lang="en-US" altLang="ja-JP" sz="2000" dirty="0" err="1" smtClean="0"/>
              <a:t>int</a:t>
            </a:r>
            <a:r>
              <a:rPr lang="ja-JP" altLang="en-US" sz="2000" dirty="0" smtClean="0"/>
              <a:t>型の値）は </a:t>
            </a:r>
            <a:r>
              <a:rPr lang="en-US" altLang="ja-JP" sz="2000" dirty="0" smtClean="0"/>
              <a:t>' ' </a:t>
            </a:r>
            <a:r>
              <a:rPr lang="ja-JP" altLang="en-US" sz="2000" dirty="0" smtClean="0"/>
              <a:t>（スペースをクォート</a:t>
            </a:r>
            <a:r>
              <a:rPr lang="en-US" altLang="ja-JP" sz="2000" dirty="0" smtClean="0"/>
              <a:t>'</a:t>
            </a:r>
            <a:r>
              <a:rPr lang="ja-JP" altLang="en-US" sz="2000" dirty="0" smtClean="0"/>
              <a:t>で囲んだもの）で表される。</a:t>
            </a:r>
            <a:endParaRPr lang="en-US" altLang="ja-JP" sz="2000" dirty="0" smtClean="0"/>
          </a:p>
          <a:p>
            <a:r>
              <a:rPr lang="ja-JP" altLang="en-US" sz="2000" dirty="0" smtClean="0"/>
              <a:t>（注意）前回言った通り</a:t>
            </a:r>
            <a:r>
              <a:rPr lang="en-US" altLang="ja-JP" sz="2000" dirty="0" smtClean="0"/>
              <a:t>gets</a:t>
            </a:r>
            <a:r>
              <a:rPr lang="ja-JP" altLang="en-US" sz="2000" dirty="0" smtClean="0"/>
              <a:t>関数は使うべきではないが、ここでは使っていいことにする。（ただし、文字列格納用の配列は十分な長さで宣言する。）</a:t>
            </a:r>
            <a:endParaRPr lang="en-US" altLang="ja-JP" sz="2000" dirty="0" smtClean="0"/>
          </a:p>
          <a:p>
            <a:r>
              <a:rPr lang="ja-JP" altLang="en-US" sz="2000" dirty="0" smtClean="0"/>
              <a:t>（補足）関数</a:t>
            </a:r>
            <a:r>
              <a:rPr lang="en-US" altLang="ja-JP" sz="2000" dirty="0" err="1" smtClean="0"/>
              <a:t>countSpaces</a:t>
            </a:r>
            <a:r>
              <a:rPr lang="ja-JP" altLang="en-US" sz="2000" dirty="0" smtClean="0"/>
              <a:t>の仮引数の</a:t>
            </a:r>
            <a:r>
              <a:rPr lang="en-US" altLang="ja-JP" sz="2000" dirty="0" smtClean="0"/>
              <a:t>char *</a:t>
            </a:r>
            <a:r>
              <a:rPr lang="en-US" altLang="ja-JP" sz="2000" dirty="0" err="1" smtClean="0"/>
              <a:t>str</a:t>
            </a:r>
            <a:r>
              <a:rPr lang="ja-JP" altLang="en-US" sz="2000" dirty="0" smtClean="0"/>
              <a:t>の部分は</a:t>
            </a:r>
            <a:r>
              <a:rPr lang="en-US" altLang="ja-JP" sz="2000" dirty="0" smtClean="0"/>
              <a:t>char </a:t>
            </a:r>
            <a:r>
              <a:rPr lang="en-US" altLang="ja-JP" sz="2000" dirty="0" err="1" smtClean="0"/>
              <a:t>str</a:t>
            </a:r>
            <a:r>
              <a:rPr lang="en-US" altLang="ja-JP" sz="2000" dirty="0" smtClean="0"/>
              <a:t> []</a:t>
            </a:r>
            <a:r>
              <a:rPr lang="ja-JP" altLang="en-US" sz="2000" dirty="0" smtClean="0"/>
              <a:t>と書いても同じ意味である。</a:t>
            </a:r>
            <a:endParaRPr lang="ja-JP" altLang="en-US" sz="2000"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88640"/>
            <a:ext cx="8229600" cy="778098"/>
          </a:xfrm>
        </p:spPr>
        <p:txBody>
          <a:bodyPr/>
          <a:lstStyle/>
          <a:p>
            <a:r>
              <a:rPr kumimoji="1" lang="ja-JP" altLang="en-US" dirty="0" smtClean="0"/>
              <a:t>基本課題２</a:t>
            </a:r>
            <a:endParaRPr kumimoji="1" lang="ja-JP" altLang="en-US" dirty="0"/>
          </a:p>
        </p:txBody>
      </p:sp>
      <p:sp>
        <p:nvSpPr>
          <p:cNvPr id="4" name="正方形/長方形 3"/>
          <p:cNvSpPr/>
          <p:nvPr/>
        </p:nvSpPr>
        <p:spPr>
          <a:xfrm>
            <a:off x="539552" y="980728"/>
            <a:ext cx="8280920" cy="5632311"/>
          </a:xfrm>
          <a:prstGeom prst="rect">
            <a:avLst/>
          </a:prstGeom>
        </p:spPr>
        <p:txBody>
          <a:bodyPr wrap="square">
            <a:spAutoFit/>
          </a:bodyPr>
          <a:lstStyle/>
          <a:p>
            <a:r>
              <a:rPr lang="en-US" altLang="ja-JP" sz="2000" dirty="0" err="1" smtClean="0"/>
              <a:t>int</a:t>
            </a:r>
            <a:r>
              <a:rPr lang="ja-JP" altLang="en-US" sz="2000" dirty="0" smtClean="0"/>
              <a:t>型の同じ長さの配列（の先頭要素へのポインタ）２つ、およびそれらの配列の長さを受け取り、１番目の配列から２番目の配列に中身をコピーする関数</a:t>
            </a:r>
            <a:r>
              <a:rPr lang="en-US" altLang="ja-JP" sz="2000" dirty="0" err="1" smtClean="0"/>
              <a:t>copyArray</a:t>
            </a:r>
            <a:r>
              <a:rPr lang="ja-JP" altLang="en-US" sz="2000" dirty="0" smtClean="0"/>
              <a:t>を定義せよ。</a:t>
            </a:r>
            <a:endParaRPr lang="en-US" altLang="ja-JP" sz="2000" dirty="0" smtClean="0"/>
          </a:p>
          <a:p>
            <a:r>
              <a:rPr lang="en-US" altLang="ja-JP" sz="2000" dirty="0" smtClean="0"/>
              <a:t>     void </a:t>
            </a:r>
            <a:r>
              <a:rPr lang="en-US" altLang="ja-JP" sz="2000" dirty="0" err="1" smtClean="0"/>
              <a:t>copyArray</a:t>
            </a:r>
            <a:r>
              <a:rPr lang="en-US" altLang="ja-JP" sz="2000" dirty="0" smtClean="0"/>
              <a:t> (</a:t>
            </a:r>
            <a:r>
              <a:rPr lang="en-US" altLang="ja-JP" sz="2000" dirty="0" err="1" smtClean="0"/>
              <a:t>int</a:t>
            </a:r>
            <a:r>
              <a:rPr lang="en-US" altLang="ja-JP" sz="2000" dirty="0" smtClean="0"/>
              <a:t> *from, </a:t>
            </a:r>
            <a:r>
              <a:rPr lang="en-US" altLang="ja-JP" sz="2000" dirty="0" err="1" smtClean="0"/>
              <a:t>int</a:t>
            </a:r>
            <a:r>
              <a:rPr lang="en-US" altLang="ja-JP" sz="2000" dirty="0" smtClean="0"/>
              <a:t> *to, </a:t>
            </a:r>
            <a:r>
              <a:rPr lang="en-US" altLang="ja-JP" sz="2000" dirty="0" err="1" smtClean="0"/>
              <a:t>int</a:t>
            </a:r>
            <a:r>
              <a:rPr lang="en-US" altLang="ja-JP" sz="2000" dirty="0" smtClean="0"/>
              <a:t> size) { ... }</a:t>
            </a:r>
          </a:p>
          <a:p>
            <a:r>
              <a:rPr lang="ja-JP" altLang="en-US" sz="2000" dirty="0" smtClean="0"/>
              <a:t>また、</a:t>
            </a:r>
            <a:r>
              <a:rPr lang="en-US" altLang="ja-JP" sz="2000" dirty="0" err="1" smtClean="0"/>
              <a:t>copyArray</a:t>
            </a:r>
            <a:r>
              <a:rPr lang="ja-JP" altLang="en-US" sz="2000" dirty="0" smtClean="0"/>
              <a:t>が正常に動作することを、以下のように確認せよ。</a:t>
            </a:r>
            <a:endParaRPr lang="en-US" altLang="ja-JP" sz="2000" dirty="0" smtClean="0"/>
          </a:p>
          <a:p>
            <a:r>
              <a:rPr lang="en-US" altLang="ja-JP" sz="2000" dirty="0" smtClean="0"/>
              <a:t>main</a:t>
            </a:r>
            <a:r>
              <a:rPr lang="ja-JP" altLang="en-US" sz="2000" dirty="0" smtClean="0"/>
              <a:t>関数中で同じ長さの</a:t>
            </a:r>
            <a:r>
              <a:rPr lang="en-US" altLang="ja-JP" sz="2000" dirty="0" err="1" smtClean="0"/>
              <a:t>int</a:t>
            </a:r>
            <a:r>
              <a:rPr lang="ja-JP" altLang="en-US" sz="2000" dirty="0" smtClean="0"/>
              <a:t>型の配列</a:t>
            </a:r>
            <a:r>
              <a:rPr lang="en-US" altLang="ja-JP" sz="2000" dirty="0" err="1" smtClean="0"/>
              <a:t>a,b</a:t>
            </a:r>
            <a:r>
              <a:rPr lang="ja-JP" altLang="en-US" sz="2000" dirty="0" smtClean="0"/>
              <a:t>を確保し、配列</a:t>
            </a:r>
            <a:r>
              <a:rPr lang="en-US" altLang="ja-JP" sz="2000" dirty="0" smtClean="0"/>
              <a:t>a</a:t>
            </a:r>
            <a:r>
              <a:rPr lang="ja-JP" altLang="en-US" sz="2000" dirty="0" smtClean="0"/>
              <a:t>の各要素にキーボードから読み取った値を格納し、</a:t>
            </a:r>
            <a:r>
              <a:rPr lang="en-US" altLang="ja-JP" sz="2000" dirty="0" err="1" smtClean="0"/>
              <a:t>copyArray</a:t>
            </a:r>
            <a:r>
              <a:rPr lang="ja-JP" altLang="en-US" sz="2000" dirty="0" smtClean="0"/>
              <a:t>を呼び出して配列</a:t>
            </a:r>
            <a:r>
              <a:rPr lang="en-US" altLang="ja-JP" sz="2000" dirty="0" smtClean="0"/>
              <a:t>b</a:t>
            </a:r>
            <a:r>
              <a:rPr lang="ja-JP" altLang="en-US" sz="2000" dirty="0" smtClean="0"/>
              <a:t>にコピーし、配列</a:t>
            </a:r>
            <a:r>
              <a:rPr lang="en-US" altLang="ja-JP" sz="2000" dirty="0" smtClean="0"/>
              <a:t>b</a:t>
            </a:r>
            <a:r>
              <a:rPr lang="ja-JP" altLang="en-US" sz="2000" dirty="0" smtClean="0"/>
              <a:t>の各要素の値を画面に表示する。</a:t>
            </a:r>
          </a:p>
          <a:p>
            <a:r>
              <a:rPr lang="en-US" altLang="ja-JP" sz="2000" dirty="0" smtClean="0"/>
              <a:t>[</a:t>
            </a:r>
            <a:r>
              <a:rPr lang="ja-JP" altLang="en-US" sz="2000" dirty="0" smtClean="0"/>
              <a:t>実行例（配列の長さ</a:t>
            </a:r>
            <a:r>
              <a:rPr lang="en-US" altLang="ja-JP" sz="2000" dirty="0" smtClean="0"/>
              <a:t>3</a:t>
            </a:r>
            <a:r>
              <a:rPr lang="ja-JP" altLang="en-US" sz="2000" dirty="0" smtClean="0"/>
              <a:t>の場合）</a:t>
            </a:r>
            <a:r>
              <a:rPr lang="en-US" altLang="ja-JP" sz="2000" dirty="0" smtClean="0"/>
              <a:t>]</a:t>
            </a:r>
            <a:endParaRPr lang="ja-JP" altLang="en-US" sz="2000" dirty="0" smtClean="0"/>
          </a:p>
          <a:p>
            <a:r>
              <a:rPr lang="en-US" altLang="ja-JP" sz="2000" dirty="0" smtClean="0"/>
              <a:t>$ ./kihon9-2</a:t>
            </a:r>
          </a:p>
          <a:p>
            <a:r>
              <a:rPr lang="ja-JP" altLang="en-US" sz="2000" dirty="0" smtClean="0"/>
              <a:t>配列</a:t>
            </a:r>
            <a:r>
              <a:rPr lang="en-US" altLang="ja-JP" sz="2000" dirty="0" smtClean="0"/>
              <a:t>a[0]</a:t>
            </a:r>
            <a:r>
              <a:rPr lang="ja-JP" altLang="en-US" sz="2000" dirty="0" smtClean="0"/>
              <a:t>の値を整数で入力して下さい</a:t>
            </a:r>
            <a:r>
              <a:rPr lang="en-US" altLang="ja-JP" sz="2000" dirty="0" smtClean="0"/>
              <a:t>: </a:t>
            </a:r>
            <a:r>
              <a:rPr lang="en-US" altLang="ja-JP" sz="2000" dirty="0" smtClean="0">
                <a:solidFill>
                  <a:srgbClr val="FF0000"/>
                </a:solidFill>
              </a:rPr>
              <a:t>5</a:t>
            </a:r>
          </a:p>
          <a:p>
            <a:r>
              <a:rPr lang="ja-JP" altLang="en-US" sz="2000" dirty="0" smtClean="0"/>
              <a:t>配列</a:t>
            </a:r>
            <a:r>
              <a:rPr lang="en-US" altLang="ja-JP" sz="2000" dirty="0" smtClean="0"/>
              <a:t>a[1]</a:t>
            </a:r>
            <a:r>
              <a:rPr lang="ja-JP" altLang="en-US" sz="2000" dirty="0" smtClean="0"/>
              <a:t>の値を整数で入力して下さい</a:t>
            </a:r>
            <a:r>
              <a:rPr lang="en-US" altLang="ja-JP" sz="2000" dirty="0" smtClean="0"/>
              <a:t>: </a:t>
            </a:r>
            <a:r>
              <a:rPr lang="en-US" altLang="ja-JP" sz="2000" dirty="0" smtClean="0">
                <a:solidFill>
                  <a:srgbClr val="FF0000"/>
                </a:solidFill>
              </a:rPr>
              <a:t>3</a:t>
            </a:r>
          </a:p>
          <a:p>
            <a:r>
              <a:rPr lang="ja-JP" altLang="en-US" sz="2000" dirty="0" smtClean="0"/>
              <a:t>配列</a:t>
            </a:r>
            <a:r>
              <a:rPr lang="en-US" altLang="ja-JP" sz="2000" dirty="0" smtClean="0"/>
              <a:t>a[2]</a:t>
            </a:r>
            <a:r>
              <a:rPr lang="ja-JP" altLang="en-US" sz="2000" dirty="0" smtClean="0"/>
              <a:t>の値を整数で入力して下さい</a:t>
            </a:r>
            <a:r>
              <a:rPr lang="en-US" altLang="ja-JP" sz="2000" dirty="0" smtClean="0"/>
              <a:t>: </a:t>
            </a:r>
            <a:r>
              <a:rPr lang="en-US" altLang="ja-JP" sz="2000" dirty="0" smtClean="0">
                <a:solidFill>
                  <a:srgbClr val="FF0000"/>
                </a:solidFill>
              </a:rPr>
              <a:t>7</a:t>
            </a:r>
          </a:p>
          <a:p>
            <a:r>
              <a:rPr lang="en-US" altLang="ja-JP" sz="2000" dirty="0" smtClean="0"/>
              <a:t>b[0] = 5</a:t>
            </a:r>
          </a:p>
          <a:p>
            <a:r>
              <a:rPr lang="en-US" altLang="ja-JP" sz="2000" dirty="0" smtClean="0"/>
              <a:t>b[1] = 3</a:t>
            </a:r>
          </a:p>
          <a:p>
            <a:r>
              <a:rPr lang="en-US" altLang="ja-JP" sz="2000" dirty="0" smtClean="0"/>
              <a:t>b[2] = 7</a:t>
            </a:r>
          </a:p>
          <a:p>
            <a:r>
              <a:rPr lang="ja-JP" altLang="en-US" sz="2000" dirty="0" smtClean="0"/>
              <a:t>（補足）関数</a:t>
            </a:r>
            <a:r>
              <a:rPr lang="en-US" altLang="ja-JP" sz="2000" dirty="0" err="1" smtClean="0"/>
              <a:t>copuArray</a:t>
            </a:r>
            <a:r>
              <a:rPr lang="ja-JP" altLang="en-US" sz="2000" dirty="0" smtClean="0"/>
              <a:t>の仮引数の</a:t>
            </a:r>
            <a:r>
              <a:rPr lang="en-US" altLang="ja-JP" sz="2000" dirty="0" err="1" smtClean="0"/>
              <a:t>int</a:t>
            </a:r>
            <a:r>
              <a:rPr lang="en-US" altLang="ja-JP" sz="2000" dirty="0" smtClean="0"/>
              <a:t> *from, </a:t>
            </a:r>
            <a:r>
              <a:rPr lang="en-US" altLang="ja-JP" sz="2000" dirty="0" err="1" smtClean="0"/>
              <a:t>int</a:t>
            </a:r>
            <a:r>
              <a:rPr lang="en-US" altLang="ja-JP" sz="2000" dirty="0" smtClean="0"/>
              <a:t> *to</a:t>
            </a:r>
            <a:r>
              <a:rPr lang="ja-JP" altLang="en-US" sz="2000" dirty="0" smtClean="0"/>
              <a:t>の部分は</a:t>
            </a:r>
            <a:r>
              <a:rPr lang="en-US" altLang="ja-JP" sz="2000" dirty="0" err="1" smtClean="0"/>
              <a:t>int</a:t>
            </a:r>
            <a:r>
              <a:rPr lang="en-US" altLang="ja-JP" sz="2000" dirty="0" smtClean="0"/>
              <a:t> from [], </a:t>
            </a:r>
            <a:r>
              <a:rPr lang="en-US" altLang="ja-JP" sz="2000" dirty="0" err="1" smtClean="0"/>
              <a:t>int</a:t>
            </a:r>
            <a:r>
              <a:rPr lang="en-US" altLang="ja-JP" sz="2000" dirty="0" smtClean="0"/>
              <a:t> to []</a:t>
            </a:r>
            <a:r>
              <a:rPr lang="ja-JP" altLang="en-US" sz="2000" dirty="0" smtClean="0"/>
              <a:t>と書いても同じ意味である。</a:t>
            </a:r>
            <a:endParaRPr lang="en-US" altLang="ja-JP" sz="2000" dirty="0" smtClean="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88640"/>
            <a:ext cx="8229600" cy="922114"/>
          </a:xfrm>
        </p:spPr>
        <p:txBody>
          <a:bodyPr/>
          <a:lstStyle/>
          <a:p>
            <a:r>
              <a:rPr kumimoji="1" lang="ja-JP" altLang="en-US" dirty="0" smtClean="0"/>
              <a:t>発展課題１</a:t>
            </a:r>
            <a:endParaRPr kumimoji="1" lang="ja-JP" altLang="en-US" dirty="0"/>
          </a:p>
        </p:txBody>
      </p:sp>
      <p:sp>
        <p:nvSpPr>
          <p:cNvPr id="4" name="正方形/長方形 3"/>
          <p:cNvSpPr/>
          <p:nvPr/>
        </p:nvSpPr>
        <p:spPr>
          <a:xfrm>
            <a:off x="251520" y="1124744"/>
            <a:ext cx="8748464" cy="5632311"/>
          </a:xfrm>
          <a:prstGeom prst="rect">
            <a:avLst/>
          </a:prstGeom>
        </p:spPr>
        <p:txBody>
          <a:bodyPr wrap="square">
            <a:spAutoFit/>
          </a:bodyPr>
          <a:lstStyle/>
          <a:p>
            <a:r>
              <a:rPr lang="ja-JP" altLang="en-US" sz="2000" dirty="0" smtClean="0"/>
              <a:t>英語の文字列</a:t>
            </a:r>
            <a:r>
              <a:rPr lang="en-US" altLang="ja-JP" sz="2000" dirty="0" smtClean="0"/>
              <a:t>(char</a:t>
            </a:r>
            <a:r>
              <a:rPr lang="ja-JP" altLang="en-US" sz="2000" dirty="0" smtClean="0"/>
              <a:t> </a:t>
            </a:r>
            <a:r>
              <a:rPr lang="en-US" altLang="ja-JP" sz="2000" dirty="0" smtClean="0"/>
              <a:t>*</a:t>
            </a:r>
            <a:r>
              <a:rPr lang="ja-JP" altLang="en-US" sz="2000" dirty="0" smtClean="0"/>
              <a:t>型</a:t>
            </a:r>
            <a:r>
              <a:rPr lang="en-US" altLang="ja-JP" sz="2000" dirty="0" smtClean="0"/>
              <a:t>)</a:t>
            </a:r>
            <a:r>
              <a:rPr lang="ja-JP" altLang="en-US" sz="2000" dirty="0" smtClean="0"/>
              <a:t>を受け取り、その中の空白を全部削除する関数</a:t>
            </a:r>
            <a:r>
              <a:rPr lang="en-US" altLang="ja-JP" sz="2000" dirty="0" err="1" smtClean="0"/>
              <a:t>deleteSpaces</a:t>
            </a:r>
            <a:r>
              <a:rPr lang="ja-JP" altLang="en-US" sz="2000" dirty="0" smtClean="0"/>
              <a:t>を定義せよ。</a:t>
            </a:r>
            <a:endParaRPr lang="en-US" altLang="ja-JP" sz="2000" dirty="0" smtClean="0"/>
          </a:p>
          <a:p>
            <a:r>
              <a:rPr lang="ja-JP" altLang="en-US" sz="2000" dirty="0" smtClean="0"/>
              <a:t>      </a:t>
            </a:r>
            <a:r>
              <a:rPr lang="en-US" altLang="ja-JP" sz="2000" dirty="0" smtClean="0"/>
              <a:t>void </a:t>
            </a:r>
            <a:r>
              <a:rPr lang="en-US" altLang="ja-JP" sz="2000" dirty="0" err="1" smtClean="0"/>
              <a:t>deleteSpaces</a:t>
            </a:r>
            <a:r>
              <a:rPr lang="en-US" altLang="ja-JP" sz="2000" dirty="0" smtClean="0"/>
              <a:t> (char *</a:t>
            </a:r>
            <a:r>
              <a:rPr lang="en-US" altLang="ja-JP" sz="2000" dirty="0" err="1" smtClean="0"/>
              <a:t>str</a:t>
            </a:r>
            <a:r>
              <a:rPr lang="en-US" altLang="ja-JP" sz="2000" dirty="0" smtClean="0"/>
              <a:t>) { ... }</a:t>
            </a:r>
            <a:endParaRPr lang="ja-JP" altLang="en-US" sz="2000" dirty="0" smtClean="0"/>
          </a:p>
          <a:p>
            <a:r>
              <a:rPr lang="ja-JP" altLang="en-US" sz="2000" dirty="0" smtClean="0"/>
              <a:t>また、</a:t>
            </a:r>
            <a:r>
              <a:rPr lang="en-US" altLang="ja-JP" sz="2000" dirty="0" err="1" smtClean="0"/>
              <a:t>deleteSpaces</a:t>
            </a:r>
            <a:r>
              <a:rPr lang="ja-JP" altLang="en-US" sz="2000" dirty="0" smtClean="0"/>
              <a:t>が正常に動作することを以下のように確認せよ。</a:t>
            </a:r>
          </a:p>
          <a:p>
            <a:r>
              <a:rPr lang="ja-JP" altLang="en-US" sz="2000" dirty="0" smtClean="0"/>
              <a:t>文字列を</a:t>
            </a:r>
            <a:r>
              <a:rPr lang="en-US" altLang="ja-JP" sz="2000" dirty="0" smtClean="0"/>
              <a:t>main</a:t>
            </a:r>
            <a:r>
              <a:rPr lang="ja-JP" altLang="en-US" sz="2000" dirty="0" smtClean="0"/>
              <a:t>関数中において</a:t>
            </a:r>
            <a:r>
              <a:rPr lang="en-US" altLang="ja-JP" sz="2000" dirty="0" smtClean="0"/>
              <a:t>gets</a:t>
            </a:r>
            <a:r>
              <a:rPr lang="ja-JP" altLang="en-US" sz="2000" dirty="0" smtClean="0"/>
              <a:t>関数でキーボードから受け取り、それを関数</a:t>
            </a:r>
            <a:r>
              <a:rPr lang="en-US" altLang="ja-JP" sz="2000" dirty="0" err="1" smtClean="0"/>
              <a:t>deleteSpaces</a:t>
            </a:r>
            <a:r>
              <a:rPr lang="ja-JP" altLang="en-US" sz="2000" dirty="0" smtClean="0"/>
              <a:t>に渡し、その後</a:t>
            </a:r>
            <a:r>
              <a:rPr lang="en-US" altLang="ja-JP" sz="2000" dirty="0" smtClean="0"/>
              <a:t>main</a:t>
            </a:r>
            <a:r>
              <a:rPr lang="ja-JP" altLang="en-US" sz="2000" dirty="0" smtClean="0"/>
              <a:t>関数中で以下の実行例のように空白削除後の文字列を画面に表示する。</a:t>
            </a:r>
            <a:endParaRPr lang="en-US" altLang="ja-JP" sz="2000" dirty="0" smtClean="0"/>
          </a:p>
          <a:p>
            <a:endParaRPr lang="en-US" altLang="ja-JP" sz="2000" dirty="0" smtClean="0"/>
          </a:p>
          <a:p>
            <a:r>
              <a:rPr lang="ja-JP" altLang="en-US" sz="2000" dirty="0" smtClean="0"/>
              <a:t>（実行例）</a:t>
            </a:r>
            <a:endParaRPr lang="en-US" altLang="ja-JP" sz="2000" dirty="0" smtClean="0"/>
          </a:p>
          <a:p>
            <a:r>
              <a:rPr lang="ja-JP" altLang="en-US" sz="2000" dirty="0" smtClean="0"/>
              <a:t>英語の文字列を入力してください</a:t>
            </a:r>
            <a:r>
              <a:rPr lang="en-US" altLang="ja-JP" sz="2000" dirty="0" smtClean="0"/>
              <a:t>:  </a:t>
            </a:r>
            <a:r>
              <a:rPr lang="en-US" altLang="ja-JP" sz="2000" dirty="0" smtClean="0">
                <a:solidFill>
                  <a:srgbClr val="FF0000"/>
                </a:solidFill>
              </a:rPr>
              <a:t>I am a student.</a:t>
            </a:r>
          </a:p>
          <a:p>
            <a:r>
              <a:rPr lang="ja-JP" altLang="en-US" sz="2000" dirty="0" smtClean="0"/>
              <a:t>空白を削除すると</a:t>
            </a:r>
            <a:r>
              <a:rPr lang="en-US" altLang="ja-JP" sz="2000" dirty="0" smtClean="0"/>
              <a:t>”</a:t>
            </a:r>
            <a:r>
              <a:rPr lang="en-US" altLang="ja-JP" sz="2000" dirty="0" err="1" smtClean="0"/>
              <a:t>Iamastudent</a:t>
            </a:r>
            <a:r>
              <a:rPr lang="en-US" altLang="ja-JP" sz="2000" dirty="0" smtClean="0"/>
              <a:t>.”</a:t>
            </a:r>
            <a:r>
              <a:rPr lang="ja-JP" altLang="en-US" sz="2000" dirty="0" smtClean="0"/>
              <a:t>になります。</a:t>
            </a:r>
            <a:endParaRPr lang="en-US" altLang="ja-JP" sz="2000" dirty="0" smtClean="0"/>
          </a:p>
          <a:p>
            <a:endParaRPr lang="en-US" altLang="ja-JP" sz="2000" dirty="0" smtClean="0"/>
          </a:p>
          <a:p>
            <a:r>
              <a:rPr lang="ja-JP" altLang="en-US" sz="2000" dirty="0" smtClean="0"/>
              <a:t>（ヒント）空白（に対応する</a:t>
            </a:r>
            <a:r>
              <a:rPr lang="en-US" altLang="ja-JP" sz="2000" dirty="0" err="1" smtClean="0"/>
              <a:t>int</a:t>
            </a:r>
            <a:r>
              <a:rPr lang="ja-JP" altLang="en-US" sz="2000" dirty="0" smtClean="0"/>
              <a:t>型の値）は </a:t>
            </a:r>
            <a:r>
              <a:rPr lang="en-US" altLang="ja-JP" sz="2000" dirty="0" smtClean="0"/>
              <a:t>' ' </a:t>
            </a:r>
            <a:r>
              <a:rPr lang="ja-JP" altLang="en-US" sz="2000" dirty="0" smtClean="0"/>
              <a:t>（スペースをクォート</a:t>
            </a:r>
            <a:r>
              <a:rPr lang="en-US" altLang="ja-JP" sz="2000" dirty="0" smtClean="0"/>
              <a:t>'</a:t>
            </a:r>
            <a:r>
              <a:rPr lang="ja-JP" altLang="en-US" sz="2000" dirty="0" smtClean="0"/>
              <a:t>で囲んだもの）で表される。</a:t>
            </a:r>
            <a:endParaRPr lang="en-US" altLang="ja-JP" sz="2000" dirty="0" smtClean="0"/>
          </a:p>
          <a:p>
            <a:r>
              <a:rPr lang="ja-JP" altLang="en-US" sz="2000" dirty="0" smtClean="0"/>
              <a:t>（注意）前回言った通り</a:t>
            </a:r>
            <a:r>
              <a:rPr lang="en-US" altLang="ja-JP" sz="2000" dirty="0" smtClean="0"/>
              <a:t>gets</a:t>
            </a:r>
            <a:r>
              <a:rPr lang="ja-JP" altLang="en-US" sz="2000" dirty="0" smtClean="0"/>
              <a:t>関数は使うべきではないが、ここでは使っていいことにする。（ただし、文字列格納用の配列は十分な長さで宣言する。）</a:t>
            </a:r>
            <a:endParaRPr lang="en-US" altLang="ja-JP" sz="2000" dirty="0" smtClean="0"/>
          </a:p>
          <a:p>
            <a:r>
              <a:rPr lang="ja-JP" altLang="en-US" sz="2000" dirty="0" smtClean="0"/>
              <a:t>（補足） 関数</a:t>
            </a:r>
            <a:r>
              <a:rPr lang="en-US" altLang="ja-JP" sz="2000" dirty="0" err="1" smtClean="0"/>
              <a:t>deleteSpaces</a:t>
            </a:r>
            <a:r>
              <a:rPr lang="ja-JP" altLang="en-US" sz="2000" dirty="0" smtClean="0"/>
              <a:t>の仮引数の</a:t>
            </a:r>
            <a:r>
              <a:rPr lang="en-US" altLang="ja-JP" sz="2000" dirty="0" smtClean="0"/>
              <a:t>char *</a:t>
            </a:r>
            <a:r>
              <a:rPr lang="en-US" altLang="ja-JP" sz="2000" dirty="0" err="1" smtClean="0"/>
              <a:t>str</a:t>
            </a:r>
            <a:r>
              <a:rPr lang="ja-JP" altLang="en-US" sz="2000" dirty="0" smtClean="0"/>
              <a:t>の部分は</a:t>
            </a:r>
            <a:r>
              <a:rPr lang="en-US" altLang="ja-JP" sz="2000" dirty="0" smtClean="0"/>
              <a:t>char </a:t>
            </a:r>
            <a:r>
              <a:rPr lang="en-US" altLang="ja-JP" sz="2000" dirty="0" err="1" smtClean="0"/>
              <a:t>str</a:t>
            </a:r>
            <a:r>
              <a:rPr lang="en-US" altLang="ja-JP" sz="2000" dirty="0" smtClean="0"/>
              <a:t> []</a:t>
            </a:r>
            <a:r>
              <a:rPr lang="ja-JP" altLang="en-US" sz="2000" dirty="0" smtClean="0"/>
              <a:t>と書いても同じ意味である。</a:t>
            </a:r>
            <a:endParaRPr lang="ja-JP" altLang="en-US" sz="2000"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lang="ja-JP" altLang="en-US" dirty="0" smtClean="0"/>
              <a:t>発展</a:t>
            </a:r>
            <a:r>
              <a:rPr kumimoji="1" lang="ja-JP" altLang="en-US" dirty="0" smtClean="0"/>
              <a:t>課題２</a:t>
            </a:r>
            <a:endParaRPr kumimoji="1" lang="ja-JP" altLang="en-US" dirty="0"/>
          </a:p>
        </p:txBody>
      </p:sp>
      <p:sp>
        <p:nvSpPr>
          <p:cNvPr id="4" name="テキスト ボックス 3"/>
          <p:cNvSpPr txBox="1"/>
          <p:nvPr/>
        </p:nvSpPr>
        <p:spPr>
          <a:xfrm>
            <a:off x="285720" y="1128801"/>
            <a:ext cx="8715404" cy="5324535"/>
          </a:xfrm>
          <a:prstGeom prst="rect">
            <a:avLst/>
          </a:prstGeom>
          <a:noFill/>
        </p:spPr>
        <p:txBody>
          <a:bodyPr wrap="square" rtlCol="0">
            <a:spAutoFit/>
          </a:bodyPr>
          <a:lstStyle/>
          <a:p>
            <a:r>
              <a:rPr lang="en-US" altLang="ja-JP" sz="2000" dirty="0" smtClean="0"/>
              <a:t>2 </a:t>
            </a:r>
            <a:r>
              <a:rPr lang="ja-JP" altLang="en-US" sz="2000" dirty="0" err="1" smtClean="0"/>
              <a:t>つの</a:t>
            </a:r>
            <a:r>
              <a:rPr lang="en-US" altLang="ja-JP" sz="2000" dirty="0" smtClean="0"/>
              <a:t>n</a:t>
            </a:r>
            <a:r>
              <a:rPr lang="ja-JP" altLang="en-US" sz="2000" dirty="0" smtClean="0"/>
              <a:t>次元ベクトルの内積を求める関数</a:t>
            </a:r>
            <a:r>
              <a:rPr lang="en-US" altLang="ja-JP" sz="2000" dirty="0" err="1" smtClean="0"/>
              <a:t>innerProd</a:t>
            </a:r>
            <a:r>
              <a:rPr lang="ja-JP" altLang="en-US" sz="2000" dirty="0" smtClean="0"/>
              <a:t>を定義せよ。ただし、</a:t>
            </a:r>
            <a:r>
              <a:rPr lang="en-US" altLang="ja-JP" sz="2000" dirty="0" smtClean="0"/>
              <a:t>n</a:t>
            </a:r>
            <a:r>
              <a:rPr lang="ja-JP" altLang="en-US" sz="2000" dirty="0" smtClean="0"/>
              <a:t>次元ベクトルは、長さ</a:t>
            </a:r>
            <a:r>
              <a:rPr lang="en-US" altLang="ja-JP" sz="2000" dirty="0" smtClean="0"/>
              <a:t>n</a:t>
            </a:r>
            <a:r>
              <a:rPr lang="ja-JP" altLang="en-US" sz="2000" dirty="0" smtClean="0"/>
              <a:t>の</a:t>
            </a:r>
            <a:r>
              <a:rPr lang="en-US" altLang="ja-JP" sz="2000" dirty="0" smtClean="0"/>
              <a:t>double </a:t>
            </a:r>
            <a:r>
              <a:rPr lang="ja-JP" altLang="en-US" sz="2000" dirty="0" smtClean="0"/>
              <a:t>型の配列で表すものとする。関数</a:t>
            </a:r>
            <a:r>
              <a:rPr lang="en-US" altLang="ja-JP" sz="2000" dirty="0" err="1" smtClean="0"/>
              <a:t>innerProd</a:t>
            </a:r>
            <a:r>
              <a:rPr lang="en-US" altLang="ja-JP" sz="2000" dirty="0" smtClean="0"/>
              <a:t> </a:t>
            </a:r>
            <a:r>
              <a:rPr lang="ja-JP" altLang="en-US" sz="2000" dirty="0" smtClean="0"/>
              <a:t>を、配列の先頭要素へのポインタ２つと、配列の長さ</a:t>
            </a:r>
            <a:r>
              <a:rPr lang="en-US" altLang="ja-JP" sz="2000" dirty="0" smtClean="0"/>
              <a:t>(</a:t>
            </a:r>
            <a:r>
              <a:rPr lang="en-US" altLang="ja-JP" sz="2000" dirty="0" err="1" smtClean="0"/>
              <a:t>int</a:t>
            </a:r>
            <a:r>
              <a:rPr lang="en-US" altLang="ja-JP" sz="2000" dirty="0" smtClean="0"/>
              <a:t> </a:t>
            </a:r>
            <a:r>
              <a:rPr lang="ja-JP" altLang="en-US" sz="2000" dirty="0" smtClean="0"/>
              <a:t>型</a:t>
            </a:r>
            <a:r>
              <a:rPr lang="en-US" altLang="ja-JP" sz="2000" dirty="0" smtClean="0"/>
              <a:t>)</a:t>
            </a:r>
            <a:r>
              <a:rPr lang="ja-JP" altLang="en-US" sz="2000" dirty="0" smtClean="0"/>
              <a:t>を引数にとり、結果を</a:t>
            </a:r>
            <a:r>
              <a:rPr lang="en-US" altLang="ja-JP" sz="2000" dirty="0" smtClean="0"/>
              <a:t>double</a:t>
            </a:r>
            <a:r>
              <a:rPr lang="ja-JP" altLang="en-US" sz="2000" dirty="0" smtClean="0"/>
              <a:t>型の値で返す関数として定義せよ。</a:t>
            </a:r>
            <a:endParaRPr lang="fr-FR" altLang="ja-JP" sz="2000" dirty="0" smtClean="0"/>
          </a:p>
          <a:p>
            <a:r>
              <a:rPr lang="ja-JP" altLang="en-US" sz="2000" dirty="0" smtClean="0"/>
              <a:t>    </a:t>
            </a:r>
            <a:r>
              <a:rPr lang="fr-FR" altLang="ja-JP" sz="2000" dirty="0" smtClean="0"/>
              <a:t>double innerProd (double *a, double *b, int size) {</a:t>
            </a:r>
            <a:r>
              <a:rPr lang="en-US" altLang="ja-JP" sz="2000" dirty="0" smtClean="0"/>
              <a:t>   …  }</a:t>
            </a:r>
            <a:r>
              <a:rPr lang="fr-FR" altLang="ja-JP" sz="2000" dirty="0" smtClean="0"/>
              <a:t> </a:t>
            </a:r>
          </a:p>
          <a:p>
            <a:r>
              <a:rPr lang="fr-FR" altLang="ja-JP" sz="2000" dirty="0" smtClean="0"/>
              <a:t>main</a:t>
            </a:r>
            <a:r>
              <a:rPr lang="ja-JP" altLang="en-US" sz="2000" dirty="0" smtClean="0"/>
              <a:t>関数で２つの配列を（長さは自分で決めて）定義し、</a:t>
            </a:r>
            <a:r>
              <a:rPr lang="en-US" altLang="ja-JP" sz="2000" dirty="0" err="1" smtClean="0"/>
              <a:t>innerProd</a:t>
            </a:r>
            <a:r>
              <a:rPr lang="ja-JP" altLang="en-US" sz="2000" dirty="0" smtClean="0"/>
              <a:t>関数を呼び出して正しく内積が計算されることを確認すること。</a:t>
            </a:r>
            <a:endParaRPr lang="en-US" altLang="ja-JP" sz="2000" dirty="0" smtClean="0"/>
          </a:p>
          <a:p>
            <a:r>
              <a:rPr lang="en-US" altLang="ja-JP" sz="2000" dirty="0" smtClean="0"/>
              <a:t>[</a:t>
            </a:r>
            <a:r>
              <a:rPr lang="ja-JP" altLang="en-US" sz="2000" dirty="0" smtClean="0"/>
              <a:t>実行例（</a:t>
            </a:r>
            <a:r>
              <a:rPr lang="en-US" altLang="ja-JP" sz="2000" dirty="0" smtClean="0"/>
              <a:t>3</a:t>
            </a:r>
            <a:r>
              <a:rPr lang="ja-JP" altLang="en-US" sz="2000" dirty="0" smtClean="0"/>
              <a:t>次元ベクトルの場合）</a:t>
            </a:r>
            <a:r>
              <a:rPr lang="en-US" altLang="ja-JP" sz="2000" dirty="0" smtClean="0"/>
              <a:t>]</a:t>
            </a:r>
          </a:p>
          <a:p>
            <a:r>
              <a:rPr lang="fr-FR" altLang="ja-JP" sz="2000" dirty="0" smtClean="0"/>
              <a:t>a[0</a:t>
            </a:r>
            <a:r>
              <a:rPr lang="fr-FR" altLang="ja-JP" sz="2000" dirty="0" smtClean="0"/>
              <a:t>] = </a:t>
            </a:r>
            <a:r>
              <a:rPr lang="fr-FR" altLang="ja-JP" sz="2000" dirty="0" smtClean="0">
                <a:solidFill>
                  <a:srgbClr val="FF0000"/>
                </a:solidFill>
              </a:rPr>
              <a:t>1.1</a:t>
            </a:r>
          </a:p>
          <a:p>
            <a:r>
              <a:rPr lang="fr-FR" altLang="ja-JP" sz="2000" dirty="0" smtClean="0"/>
              <a:t>a[1] = </a:t>
            </a:r>
            <a:r>
              <a:rPr lang="fr-FR" altLang="ja-JP" sz="2000" dirty="0" smtClean="0">
                <a:solidFill>
                  <a:srgbClr val="FF0000"/>
                </a:solidFill>
              </a:rPr>
              <a:t>1.2</a:t>
            </a:r>
          </a:p>
          <a:p>
            <a:r>
              <a:rPr lang="fr-FR" altLang="ja-JP" sz="2000" dirty="0" smtClean="0"/>
              <a:t>a[2] = </a:t>
            </a:r>
            <a:r>
              <a:rPr lang="fr-FR" altLang="ja-JP" sz="2000" dirty="0" smtClean="0">
                <a:solidFill>
                  <a:srgbClr val="FF0000"/>
                </a:solidFill>
              </a:rPr>
              <a:t>1.3</a:t>
            </a:r>
          </a:p>
          <a:p>
            <a:r>
              <a:rPr lang="fr-FR" altLang="ja-JP" sz="2000" dirty="0" smtClean="0"/>
              <a:t>b[0] = </a:t>
            </a:r>
            <a:r>
              <a:rPr lang="fr-FR" altLang="ja-JP" sz="2000" dirty="0" smtClean="0">
                <a:solidFill>
                  <a:srgbClr val="FF0000"/>
                </a:solidFill>
              </a:rPr>
              <a:t>2.1</a:t>
            </a:r>
          </a:p>
          <a:p>
            <a:r>
              <a:rPr lang="fr-FR" altLang="ja-JP" sz="2000" dirty="0" smtClean="0"/>
              <a:t>b[1] = </a:t>
            </a:r>
            <a:r>
              <a:rPr lang="fr-FR" altLang="ja-JP" sz="2000" dirty="0" smtClean="0">
                <a:solidFill>
                  <a:srgbClr val="FF0000"/>
                </a:solidFill>
              </a:rPr>
              <a:t>2.2</a:t>
            </a:r>
          </a:p>
          <a:p>
            <a:r>
              <a:rPr lang="fr-FR" altLang="ja-JP" sz="2000" dirty="0" smtClean="0"/>
              <a:t>b[2] = </a:t>
            </a:r>
            <a:r>
              <a:rPr lang="fr-FR" altLang="ja-JP" sz="2000" dirty="0" smtClean="0">
                <a:solidFill>
                  <a:srgbClr val="FF0000"/>
                </a:solidFill>
              </a:rPr>
              <a:t>2.3</a:t>
            </a:r>
          </a:p>
          <a:p>
            <a:r>
              <a:rPr lang="fr-FR" altLang="ja-JP" sz="2000" dirty="0" smtClean="0"/>
              <a:t>a</a:t>
            </a:r>
            <a:r>
              <a:rPr lang="ja-JP" altLang="en-US" sz="2000" dirty="0" smtClean="0"/>
              <a:t>と</a:t>
            </a:r>
            <a:r>
              <a:rPr lang="fr-FR" altLang="ja-JP" sz="2000" dirty="0" smtClean="0"/>
              <a:t>b</a:t>
            </a:r>
            <a:r>
              <a:rPr lang="ja-JP" altLang="en-US" sz="2000" dirty="0" smtClean="0"/>
              <a:t>の内積は</a:t>
            </a:r>
            <a:r>
              <a:rPr lang="en-US" altLang="ja-JP" sz="2000" dirty="0" smtClean="0"/>
              <a:t>7.940000</a:t>
            </a:r>
            <a:r>
              <a:rPr lang="ja-JP" altLang="en-US" sz="2000" dirty="0" smtClean="0"/>
              <a:t>です。</a:t>
            </a:r>
          </a:p>
          <a:p>
            <a:r>
              <a:rPr lang="ja-JP" altLang="en-US" sz="2000" dirty="0" smtClean="0"/>
              <a:t>（補足）関数</a:t>
            </a:r>
            <a:r>
              <a:rPr lang="en-US" altLang="ja-JP" sz="2000" dirty="0" err="1" smtClean="0"/>
              <a:t>innerProd</a:t>
            </a:r>
            <a:r>
              <a:rPr lang="ja-JP" altLang="en-US" sz="2000" dirty="0" smtClean="0"/>
              <a:t>の仮引数の</a:t>
            </a:r>
            <a:r>
              <a:rPr lang="en-US" altLang="ja-JP" sz="2000" dirty="0" smtClean="0"/>
              <a:t>double *a, double *b</a:t>
            </a:r>
            <a:r>
              <a:rPr lang="ja-JP" altLang="en-US" sz="2000" dirty="0" smtClean="0"/>
              <a:t>の部分は</a:t>
            </a:r>
            <a:r>
              <a:rPr lang="fr-FR" altLang="ja-JP" sz="2000" dirty="0" smtClean="0"/>
              <a:t>double a[ ], double b[ ]</a:t>
            </a:r>
            <a:r>
              <a:rPr lang="ja-JP" altLang="en-US" sz="2000" dirty="0" smtClean="0"/>
              <a:t>と書いても同じ意味である。</a:t>
            </a:r>
            <a:endParaRPr lang="fr-FR" altLang="ja-JP" sz="2000" i="1" dirty="0" smtClean="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16632"/>
            <a:ext cx="8229600" cy="720080"/>
          </a:xfrm>
        </p:spPr>
        <p:txBody>
          <a:bodyPr>
            <a:normAutofit fontScale="90000"/>
          </a:bodyPr>
          <a:lstStyle/>
          <a:p>
            <a:r>
              <a:rPr lang="ja-JP" altLang="en-US" dirty="0" smtClean="0"/>
              <a:t>発展</a:t>
            </a:r>
            <a:r>
              <a:rPr kumimoji="1" lang="ja-JP" altLang="en-US" dirty="0" smtClean="0"/>
              <a:t>課題３</a:t>
            </a:r>
            <a:endParaRPr kumimoji="1" lang="ja-JP" altLang="en-US" dirty="0"/>
          </a:p>
        </p:txBody>
      </p:sp>
      <p:sp>
        <p:nvSpPr>
          <p:cNvPr id="5" name="正方形/長方形 4"/>
          <p:cNvSpPr/>
          <p:nvPr/>
        </p:nvSpPr>
        <p:spPr>
          <a:xfrm>
            <a:off x="251520" y="836712"/>
            <a:ext cx="8568952" cy="5940088"/>
          </a:xfrm>
          <a:prstGeom prst="rect">
            <a:avLst/>
          </a:prstGeom>
        </p:spPr>
        <p:txBody>
          <a:bodyPr wrap="square">
            <a:spAutoFit/>
          </a:bodyPr>
          <a:lstStyle/>
          <a:p>
            <a:r>
              <a:rPr lang="en-US" altLang="ja-JP" sz="2000" dirty="0" err="1" smtClean="0"/>
              <a:t>int</a:t>
            </a:r>
            <a:r>
              <a:rPr lang="en-US" altLang="ja-JP" sz="2000" dirty="0" smtClean="0"/>
              <a:t> </a:t>
            </a:r>
            <a:r>
              <a:rPr lang="ja-JP" altLang="en-US" sz="2000" dirty="0" smtClean="0"/>
              <a:t>型の配列中に、ある値が格納されているかどうかを検査する関数</a:t>
            </a:r>
            <a:r>
              <a:rPr lang="en-US" altLang="ja-JP" sz="2000" dirty="0" smtClean="0"/>
              <a:t>search </a:t>
            </a:r>
            <a:r>
              <a:rPr lang="ja-JP" altLang="en-US" sz="2000" dirty="0" smtClean="0"/>
              <a:t>を定義したい。それを以下の形で定義せよ。</a:t>
            </a:r>
          </a:p>
          <a:p>
            <a:r>
              <a:rPr lang="en-US" altLang="ja-JP" sz="2000" dirty="0" smtClean="0"/>
              <a:t>    </a:t>
            </a:r>
            <a:r>
              <a:rPr lang="en-US" altLang="ja-JP" sz="2000" dirty="0" err="1" smtClean="0"/>
              <a:t>int</a:t>
            </a:r>
            <a:r>
              <a:rPr lang="en-US" altLang="ja-JP" sz="2000" dirty="0" smtClean="0"/>
              <a:t> search(</a:t>
            </a:r>
            <a:r>
              <a:rPr lang="en-US" altLang="ja-JP" sz="2000" dirty="0" err="1" smtClean="0"/>
              <a:t>int</a:t>
            </a:r>
            <a:r>
              <a:rPr lang="en-US" altLang="ja-JP" sz="2000" dirty="0" smtClean="0"/>
              <a:t> *p, </a:t>
            </a:r>
            <a:r>
              <a:rPr lang="en-US" altLang="ja-JP" sz="2000" dirty="0" err="1" smtClean="0"/>
              <a:t>int</a:t>
            </a:r>
            <a:r>
              <a:rPr lang="en-US" altLang="ja-JP" sz="2000" dirty="0" smtClean="0"/>
              <a:t> size, </a:t>
            </a:r>
            <a:r>
              <a:rPr lang="en-US" altLang="ja-JP" sz="2000" dirty="0" err="1" smtClean="0"/>
              <a:t>int</a:t>
            </a:r>
            <a:r>
              <a:rPr lang="en-US" altLang="ja-JP" sz="2000" dirty="0" smtClean="0"/>
              <a:t> value) {   …   }</a:t>
            </a:r>
          </a:p>
          <a:p>
            <a:r>
              <a:rPr lang="ja-JP" altLang="en-US" sz="2000" dirty="0" smtClean="0"/>
              <a:t>関数</a:t>
            </a:r>
            <a:r>
              <a:rPr lang="en-US" altLang="ja-JP" sz="2000" dirty="0" smtClean="0"/>
              <a:t>search</a:t>
            </a:r>
            <a:r>
              <a:rPr lang="ja-JP" altLang="en-US" sz="2000" dirty="0" smtClean="0"/>
              <a:t>は、配列の先頭要素へのポインタ</a:t>
            </a:r>
            <a:r>
              <a:rPr lang="en-US" altLang="ja-JP" sz="2000" dirty="0" smtClean="0"/>
              <a:t>p, </a:t>
            </a:r>
            <a:r>
              <a:rPr lang="ja-JP" altLang="en-US" sz="2000" dirty="0" smtClean="0"/>
              <a:t>配列の要素数</a:t>
            </a:r>
            <a:r>
              <a:rPr lang="en-US" altLang="ja-JP" sz="2000" dirty="0" smtClean="0"/>
              <a:t>size, </a:t>
            </a:r>
            <a:r>
              <a:rPr lang="ja-JP" altLang="en-US" sz="2000" dirty="0" smtClean="0"/>
              <a:t>調べたい値</a:t>
            </a:r>
            <a:r>
              <a:rPr lang="en-US" altLang="ja-JP" sz="2000" dirty="0" smtClean="0"/>
              <a:t>value </a:t>
            </a:r>
            <a:r>
              <a:rPr lang="ja-JP" altLang="en-US" sz="2000" dirty="0" smtClean="0"/>
              <a:t>の３つを引数として受け取り、第３引数</a:t>
            </a:r>
            <a:r>
              <a:rPr lang="en-US" altLang="ja-JP" sz="2000" dirty="0" smtClean="0"/>
              <a:t>value </a:t>
            </a:r>
            <a:r>
              <a:rPr lang="ja-JP" altLang="en-US" sz="2000" dirty="0" smtClean="0"/>
              <a:t>で受け取った値が配列の中にあれば、その値が格納されている場所</a:t>
            </a:r>
            <a:r>
              <a:rPr lang="en-US" altLang="ja-JP" sz="2000" dirty="0" smtClean="0"/>
              <a:t>(</a:t>
            </a:r>
            <a:r>
              <a:rPr lang="ja-JP" altLang="en-US" sz="2000" dirty="0" smtClean="0"/>
              <a:t>配列の</a:t>
            </a:r>
            <a:r>
              <a:rPr lang="en-US" altLang="ja-JP" sz="2000" dirty="0" smtClean="0"/>
              <a:t>index</a:t>
            </a:r>
            <a:r>
              <a:rPr lang="ja-JP" altLang="en-US" sz="2000" dirty="0" err="1" smtClean="0"/>
              <a:t>、</a:t>
            </a:r>
            <a:r>
              <a:rPr lang="ja-JP" altLang="en-US" sz="2000" dirty="0" smtClean="0"/>
              <a:t>もし複数個所にあればどれでも可</a:t>
            </a:r>
            <a:r>
              <a:rPr lang="en-US" altLang="ja-JP" sz="2000" dirty="0" smtClean="0"/>
              <a:t>) </a:t>
            </a:r>
            <a:r>
              <a:rPr lang="ja-JP" altLang="en-US" sz="2000" dirty="0" smtClean="0"/>
              <a:t>を結果として返し、なければ</a:t>
            </a:r>
            <a:r>
              <a:rPr lang="en-US" altLang="ja-JP" sz="2000" dirty="0" smtClean="0"/>
              <a:t>-1 </a:t>
            </a:r>
            <a:r>
              <a:rPr lang="ja-JP" altLang="en-US" sz="2000" dirty="0" smtClean="0"/>
              <a:t>を返す関数として定義せよ。</a:t>
            </a:r>
            <a:r>
              <a:rPr lang="en-US" altLang="ja-JP" sz="2000" dirty="0" smtClean="0"/>
              <a:t>main</a:t>
            </a:r>
            <a:r>
              <a:rPr lang="ja-JP" altLang="en-US" sz="2000" dirty="0" smtClean="0"/>
              <a:t>関数で配列を（長さは自分で決めて）定義し、</a:t>
            </a:r>
            <a:r>
              <a:rPr lang="en-US" altLang="ja-JP" sz="2000" dirty="0" smtClean="0"/>
              <a:t>search</a:t>
            </a:r>
            <a:r>
              <a:rPr lang="ja-JP" altLang="en-US" sz="2000" dirty="0" smtClean="0"/>
              <a:t>を呼び出して、正しく動作することを確認すること。</a:t>
            </a:r>
            <a:endParaRPr lang="en-US" altLang="ja-JP" sz="2000" dirty="0" smtClean="0"/>
          </a:p>
          <a:p>
            <a:r>
              <a:rPr lang="en-US" altLang="ja-JP" sz="2000" dirty="0" smtClean="0"/>
              <a:t>[</a:t>
            </a:r>
            <a:r>
              <a:rPr lang="ja-JP" altLang="en-US" sz="2000" dirty="0" smtClean="0"/>
              <a:t>実行例（長さ</a:t>
            </a:r>
            <a:r>
              <a:rPr lang="en-US" altLang="ja-JP" sz="2000" dirty="0" smtClean="0"/>
              <a:t>5</a:t>
            </a:r>
            <a:r>
              <a:rPr lang="ja-JP" altLang="en-US" sz="2000" dirty="0" smtClean="0"/>
              <a:t>の場合）</a:t>
            </a:r>
            <a:r>
              <a:rPr lang="en-US" altLang="ja-JP" sz="2000" dirty="0" smtClean="0"/>
              <a:t>]</a:t>
            </a:r>
          </a:p>
          <a:p>
            <a:r>
              <a:rPr lang="ja-JP" altLang="en-US" sz="2000" dirty="0" smtClean="0"/>
              <a:t>長さ</a:t>
            </a:r>
            <a:r>
              <a:rPr lang="en-US" altLang="ja-JP" sz="2000" dirty="0" smtClean="0"/>
              <a:t>5</a:t>
            </a:r>
            <a:r>
              <a:rPr lang="ja-JP" altLang="en-US" sz="2000" dirty="0" smtClean="0"/>
              <a:t>の配列を入力してください。</a:t>
            </a:r>
          </a:p>
          <a:p>
            <a:r>
              <a:rPr lang="en-US" altLang="ja-JP" sz="2000" dirty="0" smtClean="0"/>
              <a:t>a[0] = </a:t>
            </a:r>
            <a:r>
              <a:rPr lang="en-US" altLang="ja-JP" sz="2000" dirty="0" smtClean="0">
                <a:solidFill>
                  <a:srgbClr val="FF0000"/>
                </a:solidFill>
              </a:rPr>
              <a:t>10</a:t>
            </a:r>
          </a:p>
          <a:p>
            <a:r>
              <a:rPr lang="en-US" altLang="ja-JP" sz="2000" dirty="0" smtClean="0"/>
              <a:t>a[1] = </a:t>
            </a:r>
            <a:r>
              <a:rPr lang="en-US" altLang="ja-JP" sz="2000" dirty="0" smtClean="0">
                <a:solidFill>
                  <a:srgbClr val="FF0000"/>
                </a:solidFill>
              </a:rPr>
              <a:t>20</a:t>
            </a:r>
          </a:p>
          <a:p>
            <a:r>
              <a:rPr lang="en-US" altLang="ja-JP" sz="2000" dirty="0" smtClean="0"/>
              <a:t>a[2] = </a:t>
            </a:r>
            <a:r>
              <a:rPr lang="en-US" altLang="ja-JP" sz="2000" dirty="0" smtClean="0">
                <a:solidFill>
                  <a:srgbClr val="FF0000"/>
                </a:solidFill>
              </a:rPr>
              <a:t>30</a:t>
            </a:r>
          </a:p>
          <a:p>
            <a:r>
              <a:rPr lang="en-US" altLang="ja-JP" sz="2000" dirty="0" smtClean="0"/>
              <a:t>a[3] = </a:t>
            </a:r>
            <a:r>
              <a:rPr lang="en-US" altLang="ja-JP" sz="2000" dirty="0" smtClean="0">
                <a:solidFill>
                  <a:srgbClr val="FF0000"/>
                </a:solidFill>
              </a:rPr>
              <a:t>40</a:t>
            </a:r>
          </a:p>
          <a:p>
            <a:r>
              <a:rPr lang="en-US" altLang="ja-JP" sz="2000" dirty="0" smtClean="0"/>
              <a:t>a[4] = </a:t>
            </a:r>
            <a:r>
              <a:rPr lang="en-US" altLang="ja-JP" sz="2000" dirty="0" smtClean="0">
                <a:solidFill>
                  <a:srgbClr val="FF0000"/>
                </a:solidFill>
              </a:rPr>
              <a:t>50</a:t>
            </a:r>
          </a:p>
          <a:p>
            <a:r>
              <a:rPr lang="ja-JP" altLang="en-US" sz="2000" dirty="0" smtClean="0"/>
              <a:t>検索する値を入力してください</a:t>
            </a:r>
            <a:r>
              <a:rPr lang="en-US" altLang="ja-JP" sz="2000" dirty="0" smtClean="0"/>
              <a:t>: </a:t>
            </a:r>
            <a:r>
              <a:rPr lang="en-US" altLang="ja-JP" sz="2000" dirty="0" smtClean="0">
                <a:solidFill>
                  <a:srgbClr val="FF0000"/>
                </a:solidFill>
              </a:rPr>
              <a:t>30</a:t>
            </a:r>
          </a:p>
          <a:p>
            <a:r>
              <a:rPr lang="en-US" altLang="ja-JP" sz="2000" dirty="0" smtClean="0"/>
              <a:t>30</a:t>
            </a:r>
            <a:r>
              <a:rPr lang="ja-JP" altLang="en-US" sz="2000" dirty="0" smtClean="0"/>
              <a:t>は配列</a:t>
            </a:r>
            <a:r>
              <a:rPr lang="en-US" altLang="ja-JP" sz="2000" dirty="0" smtClean="0"/>
              <a:t>a</a:t>
            </a:r>
            <a:r>
              <a:rPr lang="ja-JP" altLang="en-US" sz="2000" dirty="0" smtClean="0"/>
              <a:t>の</a:t>
            </a:r>
            <a:r>
              <a:rPr lang="en-US" altLang="ja-JP" sz="2000" dirty="0" smtClean="0"/>
              <a:t>2</a:t>
            </a:r>
            <a:r>
              <a:rPr lang="ja-JP" altLang="en-US" sz="2000" dirty="0" smtClean="0"/>
              <a:t>番</a:t>
            </a:r>
            <a:r>
              <a:rPr lang="ja-JP" altLang="en-US" sz="2000" dirty="0" err="1" smtClean="0"/>
              <a:t>目ににあります。</a:t>
            </a:r>
            <a:endParaRPr lang="en-US" altLang="ja-JP" sz="2000" dirty="0" smtClean="0"/>
          </a:p>
          <a:p>
            <a:r>
              <a:rPr lang="ja-JP" altLang="en-US" sz="2000" dirty="0" smtClean="0"/>
              <a:t>（補足） 関数</a:t>
            </a:r>
            <a:r>
              <a:rPr lang="en-US" altLang="ja-JP" sz="2000" dirty="0" smtClean="0"/>
              <a:t>search</a:t>
            </a:r>
            <a:r>
              <a:rPr lang="ja-JP" altLang="en-US" sz="2000" dirty="0" smtClean="0"/>
              <a:t>の仮引数 </a:t>
            </a:r>
            <a:r>
              <a:rPr lang="en-US" altLang="ja-JP" sz="2000" dirty="0" err="1" smtClean="0"/>
              <a:t>int</a:t>
            </a:r>
            <a:r>
              <a:rPr lang="en-US" altLang="ja-JP" sz="2000" dirty="0" smtClean="0"/>
              <a:t> * p</a:t>
            </a:r>
            <a:r>
              <a:rPr lang="ja-JP" altLang="en-US" sz="2000" dirty="0" smtClean="0"/>
              <a:t>の部分は </a:t>
            </a:r>
            <a:r>
              <a:rPr lang="en-US" altLang="ja-JP" sz="2000" dirty="0" err="1" smtClean="0"/>
              <a:t>int</a:t>
            </a:r>
            <a:r>
              <a:rPr lang="en-US" altLang="ja-JP" sz="2000" dirty="0" smtClean="0"/>
              <a:t> p [ ] </a:t>
            </a:r>
            <a:r>
              <a:rPr lang="ja-JP" altLang="en-US" sz="2000" dirty="0" smtClean="0"/>
              <a:t>と書いても同じ意味である。</a:t>
            </a:r>
            <a:endParaRPr lang="ja-JP" altLang="en-US" sz="2000"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50106"/>
          </a:xfrm>
        </p:spPr>
        <p:txBody>
          <a:bodyPr/>
          <a:lstStyle/>
          <a:p>
            <a:r>
              <a:rPr lang="ja-JP" altLang="en-US" dirty="0" smtClean="0"/>
              <a:t>発展課題４</a:t>
            </a:r>
            <a:endParaRPr kumimoji="1" lang="ja-JP" altLang="en-US" dirty="0"/>
          </a:p>
        </p:txBody>
      </p:sp>
      <p:sp>
        <p:nvSpPr>
          <p:cNvPr id="4" name="テキスト ボックス 3"/>
          <p:cNvSpPr txBox="1"/>
          <p:nvPr/>
        </p:nvSpPr>
        <p:spPr>
          <a:xfrm>
            <a:off x="107504" y="1124744"/>
            <a:ext cx="8964488" cy="1631216"/>
          </a:xfrm>
          <a:prstGeom prst="rect">
            <a:avLst/>
          </a:prstGeom>
          <a:noFill/>
        </p:spPr>
        <p:txBody>
          <a:bodyPr wrap="square" rtlCol="0">
            <a:spAutoFit/>
          </a:bodyPr>
          <a:lstStyle/>
          <a:p>
            <a:r>
              <a:rPr lang="en-US" altLang="ja-JP" sz="2000" dirty="0" err="1" smtClean="0"/>
              <a:t>i</a:t>
            </a:r>
            <a:r>
              <a:rPr kumimoji="1" lang="en-US" altLang="ja-JP" sz="2000" dirty="0" err="1" smtClean="0"/>
              <a:t>nt</a:t>
            </a:r>
            <a:r>
              <a:rPr kumimoji="1" lang="ja-JP" altLang="en-US" sz="2000" dirty="0" smtClean="0"/>
              <a:t>型の配列およびその長さを引数として受け取り、配列中の要素を大きい順に並び変え</a:t>
            </a:r>
            <a:r>
              <a:rPr lang="ja-JP" altLang="en-US" sz="2000" dirty="0" smtClean="0"/>
              <a:t>る関数</a:t>
            </a:r>
            <a:r>
              <a:rPr lang="en-US" altLang="ja-JP" sz="2000" dirty="0" smtClean="0"/>
              <a:t>sort</a:t>
            </a:r>
            <a:r>
              <a:rPr lang="ja-JP" altLang="en-US" sz="2000" dirty="0" smtClean="0"/>
              <a:t>を定義せよ。</a:t>
            </a:r>
            <a:endParaRPr lang="en-US" altLang="ja-JP" sz="2000" dirty="0" smtClean="0"/>
          </a:p>
          <a:p>
            <a:r>
              <a:rPr kumimoji="1" lang="en-US" altLang="ja-JP" sz="2000" dirty="0" smtClean="0"/>
              <a:t>    void sort (</a:t>
            </a:r>
            <a:r>
              <a:rPr kumimoji="1" lang="en-US" altLang="ja-JP" sz="2000" dirty="0" err="1" smtClean="0"/>
              <a:t>int</a:t>
            </a:r>
            <a:r>
              <a:rPr kumimoji="1" lang="en-US" altLang="ja-JP" sz="2000" dirty="0" smtClean="0"/>
              <a:t> *a, </a:t>
            </a:r>
            <a:r>
              <a:rPr kumimoji="1" lang="en-US" altLang="ja-JP" sz="2000" dirty="0" err="1" smtClean="0"/>
              <a:t>int</a:t>
            </a:r>
            <a:r>
              <a:rPr kumimoji="1" lang="en-US" altLang="ja-JP" sz="2000" dirty="0" smtClean="0"/>
              <a:t> size) { … }</a:t>
            </a:r>
          </a:p>
          <a:p>
            <a:r>
              <a:rPr lang="fr-FR" altLang="ja-JP" sz="2000" dirty="0" smtClean="0"/>
              <a:t>main</a:t>
            </a:r>
            <a:r>
              <a:rPr lang="ja-JP" altLang="en-US" sz="2000" dirty="0" smtClean="0"/>
              <a:t>関数で配列を（長さは自分で決めて）宣言し、何らかの要素を格納し、</a:t>
            </a:r>
            <a:r>
              <a:rPr lang="en-US" altLang="ja-JP" sz="2000" dirty="0" smtClean="0"/>
              <a:t>sort</a:t>
            </a:r>
            <a:r>
              <a:rPr lang="ja-JP" altLang="en-US" sz="2000" dirty="0" smtClean="0"/>
              <a:t>関数を呼び出して並べ替え、結果を画面に表示して正しく動作することを確認すること</a:t>
            </a:r>
            <a:r>
              <a:rPr lang="ja-JP" altLang="en-US" sz="2000" dirty="0" smtClean="0"/>
              <a:t>。</a:t>
            </a:r>
            <a:endParaRPr kumimoji="1" lang="ja-JP" altLang="en-US" sz="2000" dirty="0"/>
          </a:p>
        </p:txBody>
      </p:sp>
      <p:sp>
        <p:nvSpPr>
          <p:cNvPr id="5" name="正方形/長方形 4"/>
          <p:cNvSpPr/>
          <p:nvPr/>
        </p:nvSpPr>
        <p:spPr>
          <a:xfrm>
            <a:off x="683568" y="2852936"/>
            <a:ext cx="3384376" cy="2246769"/>
          </a:xfrm>
          <a:prstGeom prst="rect">
            <a:avLst/>
          </a:prstGeom>
        </p:spPr>
        <p:txBody>
          <a:bodyPr wrap="square">
            <a:spAutoFit/>
          </a:bodyPr>
          <a:lstStyle/>
          <a:p>
            <a:r>
              <a:rPr lang="en-US" altLang="ja-JP" sz="2000" dirty="0" smtClean="0"/>
              <a:t>[</a:t>
            </a:r>
            <a:r>
              <a:rPr lang="ja-JP" altLang="en-US" sz="2000" dirty="0" smtClean="0"/>
              <a:t>実行例（長さ</a:t>
            </a:r>
            <a:r>
              <a:rPr lang="en-US" altLang="ja-JP" sz="2000" dirty="0" smtClean="0"/>
              <a:t>5</a:t>
            </a:r>
            <a:r>
              <a:rPr lang="ja-JP" altLang="en-US" sz="2000" dirty="0" smtClean="0"/>
              <a:t>の場合）</a:t>
            </a:r>
            <a:r>
              <a:rPr lang="en-US" altLang="ja-JP" sz="2000" dirty="0" smtClean="0"/>
              <a:t>]</a:t>
            </a:r>
          </a:p>
          <a:p>
            <a:r>
              <a:rPr lang="ja-JP" altLang="en-US" sz="2000" dirty="0" smtClean="0"/>
              <a:t>長さ</a:t>
            </a:r>
            <a:r>
              <a:rPr lang="en-US" altLang="ja-JP" sz="2000" dirty="0" smtClean="0"/>
              <a:t>5</a:t>
            </a:r>
            <a:r>
              <a:rPr lang="ja-JP" altLang="en-US" sz="2000" dirty="0" smtClean="0"/>
              <a:t>配列を入力してください。</a:t>
            </a:r>
          </a:p>
          <a:p>
            <a:r>
              <a:rPr lang="en-US" altLang="ja-JP" sz="2000" dirty="0" smtClean="0"/>
              <a:t>a[0] = </a:t>
            </a:r>
            <a:r>
              <a:rPr lang="en-US" altLang="ja-JP" sz="2000" dirty="0" smtClean="0">
                <a:solidFill>
                  <a:srgbClr val="FF0000"/>
                </a:solidFill>
              </a:rPr>
              <a:t>10</a:t>
            </a:r>
          </a:p>
          <a:p>
            <a:r>
              <a:rPr lang="en-US" altLang="ja-JP" sz="2000" dirty="0" smtClean="0"/>
              <a:t>a[1] = </a:t>
            </a:r>
            <a:r>
              <a:rPr lang="en-US" altLang="ja-JP" sz="2000" dirty="0" smtClean="0">
                <a:solidFill>
                  <a:srgbClr val="FF0000"/>
                </a:solidFill>
              </a:rPr>
              <a:t>50</a:t>
            </a:r>
          </a:p>
          <a:p>
            <a:r>
              <a:rPr lang="en-US" altLang="ja-JP" sz="2000" dirty="0" smtClean="0"/>
              <a:t>a[2] = </a:t>
            </a:r>
            <a:r>
              <a:rPr lang="en-US" altLang="ja-JP" sz="2000" dirty="0" smtClean="0">
                <a:solidFill>
                  <a:srgbClr val="FF0000"/>
                </a:solidFill>
              </a:rPr>
              <a:t>38</a:t>
            </a:r>
          </a:p>
          <a:p>
            <a:r>
              <a:rPr lang="en-US" altLang="ja-JP" sz="2000" dirty="0" smtClean="0"/>
              <a:t>a[3] = </a:t>
            </a:r>
            <a:r>
              <a:rPr lang="en-US" altLang="ja-JP" sz="2000" dirty="0" smtClean="0">
                <a:solidFill>
                  <a:srgbClr val="FF0000"/>
                </a:solidFill>
              </a:rPr>
              <a:t>80</a:t>
            </a:r>
          </a:p>
          <a:p>
            <a:r>
              <a:rPr lang="en-US" altLang="ja-JP" sz="2000" dirty="0" smtClean="0"/>
              <a:t>a[4] = </a:t>
            </a:r>
            <a:r>
              <a:rPr lang="en-US" altLang="ja-JP" sz="2000" dirty="0" smtClean="0">
                <a:solidFill>
                  <a:srgbClr val="FF0000"/>
                </a:solidFill>
              </a:rPr>
              <a:t>60</a:t>
            </a:r>
            <a:endParaRPr lang="en-US" altLang="ja-JP" sz="2000" dirty="0" smtClean="0">
              <a:solidFill>
                <a:srgbClr val="FF0000"/>
              </a:solidFill>
            </a:endParaRPr>
          </a:p>
        </p:txBody>
      </p:sp>
      <p:sp>
        <p:nvSpPr>
          <p:cNvPr id="6" name="正方形/長方形 5"/>
          <p:cNvSpPr/>
          <p:nvPr/>
        </p:nvSpPr>
        <p:spPr>
          <a:xfrm>
            <a:off x="4211960" y="2852936"/>
            <a:ext cx="1421904" cy="3785652"/>
          </a:xfrm>
          <a:prstGeom prst="rect">
            <a:avLst/>
          </a:prstGeom>
        </p:spPr>
        <p:txBody>
          <a:bodyPr wrap="square">
            <a:spAutoFit/>
          </a:bodyPr>
          <a:lstStyle/>
          <a:p>
            <a:r>
              <a:rPr lang="ja-JP" altLang="en-US" sz="2000" dirty="0" smtClean="0"/>
              <a:t>ソート前</a:t>
            </a:r>
            <a:r>
              <a:rPr lang="en-US" altLang="ja-JP" sz="2000" dirty="0" smtClean="0"/>
              <a:t>:</a:t>
            </a:r>
          </a:p>
          <a:p>
            <a:r>
              <a:rPr lang="en-US" altLang="ja-JP" sz="2000" dirty="0" smtClean="0"/>
              <a:t>a[0] = 10</a:t>
            </a:r>
          </a:p>
          <a:p>
            <a:r>
              <a:rPr lang="en-US" altLang="ja-JP" sz="2000" dirty="0" smtClean="0"/>
              <a:t>a[1] = 50</a:t>
            </a:r>
          </a:p>
          <a:p>
            <a:r>
              <a:rPr lang="en-US" altLang="ja-JP" sz="2000" dirty="0" smtClean="0"/>
              <a:t>a[2] = 38</a:t>
            </a:r>
          </a:p>
          <a:p>
            <a:r>
              <a:rPr lang="en-US" altLang="ja-JP" sz="2000" dirty="0" smtClean="0"/>
              <a:t>a[3] = 80</a:t>
            </a:r>
          </a:p>
          <a:p>
            <a:r>
              <a:rPr lang="en-US" altLang="ja-JP" sz="2000" dirty="0" smtClean="0"/>
              <a:t>a[4] = 60</a:t>
            </a:r>
          </a:p>
          <a:p>
            <a:r>
              <a:rPr lang="ja-JP" altLang="en-US" sz="2000" dirty="0" smtClean="0"/>
              <a:t>ソート後</a:t>
            </a:r>
            <a:r>
              <a:rPr lang="en-US" altLang="ja-JP" sz="2000" dirty="0" smtClean="0"/>
              <a:t>:</a:t>
            </a:r>
          </a:p>
          <a:p>
            <a:r>
              <a:rPr lang="en-US" altLang="ja-JP" sz="2000" dirty="0" smtClean="0"/>
              <a:t>a[0] = 80</a:t>
            </a:r>
          </a:p>
          <a:p>
            <a:r>
              <a:rPr lang="en-US" altLang="ja-JP" sz="2000" dirty="0" smtClean="0"/>
              <a:t>a[1] = 60</a:t>
            </a:r>
          </a:p>
          <a:p>
            <a:r>
              <a:rPr lang="en-US" altLang="ja-JP" sz="2000" dirty="0" smtClean="0"/>
              <a:t>a[2] = 50</a:t>
            </a:r>
          </a:p>
          <a:p>
            <a:r>
              <a:rPr lang="en-US" altLang="ja-JP" sz="2000" dirty="0" smtClean="0"/>
              <a:t>a[3] = 38</a:t>
            </a:r>
          </a:p>
          <a:p>
            <a:r>
              <a:rPr lang="en-US" altLang="ja-JP" sz="2000" dirty="0" smtClean="0"/>
              <a:t>a[4] = 10</a:t>
            </a:r>
            <a:endParaRPr lang="ja-JP" altLang="en-US" sz="2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88640"/>
            <a:ext cx="8229600" cy="922114"/>
          </a:xfrm>
        </p:spPr>
        <p:txBody>
          <a:bodyPr/>
          <a:lstStyle/>
          <a:p>
            <a:r>
              <a:rPr lang="ja-JP" altLang="en-US" dirty="0" smtClean="0"/>
              <a:t>参考</a:t>
            </a:r>
            <a:r>
              <a:rPr kumimoji="1" lang="ja-JP" altLang="en-US" dirty="0" smtClean="0"/>
              <a:t>課題１</a:t>
            </a:r>
            <a:endParaRPr kumimoji="1" lang="ja-JP" altLang="en-US" dirty="0"/>
          </a:p>
        </p:txBody>
      </p:sp>
      <p:sp>
        <p:nvSpPr>
          <p:cNvPr id="4" name="正方形/長方形 3"/>
          <p:cNvSpPr/>
          <p:nvPr/>
        </p:nvSpPr>
        <p:spPr>
          <a:xfrm>
            <a:off x="395536" y="1268760"/>
            <a:ext cx="8496944" cy="5940088"/>
          </a:xfrm>
          <a:prstGeom prst="rect">
            <a:avLst/>
          </a:prstGeom>
        </p:spPr>
        <p:txBody>
          <a:bodyPr wrap="square">
            <a:spAutoFit/>
          </a:bodyPr>
          <a:lstStyle/>
          <a:p>
            <a:r>
              <a:rPr lang="ja-JP" altLang="en-US" sz="2000" dirty="0" smtClean="0"/>
              <a:t>英語の文字列</a:t>
            </a:r>
            <a:r>
              <a:rPr lang="en-US" altLang="ja-JP" sz="2000" dirty="0" smtClean="0"/>
              <a:t>(char</a:t>
            </a:r>
            <a:r>
              <a:rPr lang="ja-JP" altLang="en-US" sz="2000" dirty="0" smtClean="0"/>
              <a:t> </a:t>
            </a:r>
            <a:r>
              <a:rPr lang="en-US" altLang="ja-JP" sz="2000" dirty="0" smtClean="0"/>
              <a:t>*</a:t>
            </a:r>
            <a:r>
              <a:rPr lang="ja-JP" altLang="en-US" sz="2000" dirty="0" smtClean="0"/>
              <a:t>型</a:t>
            </a:r>
            <a:r>
              <a:rPr lang="en-US" altLang="ja-JP" sz="2000" dirty="0" smtClean="0"/>
              <a:t>)</a:t>
            </a:r>
            <a:r>
              <a:rPr lang="ja-JP" altLang="en-US" sz="2000" dirty="0" smtClean="0"/>
              <a:t>を受け取り、その長さを返す関数</a:t>
            </a:r>
            <a:r>
              <a:rPr lang="en-US" altLang="ja-JP" sz="2000" dirty="0" err="1" smtClean="0"/>
              <a:t>getLength</a:t>
            </a:r>
            <a:r>
              <a:rPr lang="ja-JP" altLang="en-US" sz="2000" dirty="0" smtClean="0"/>
              <a:t>を定義せよ。</a:t>
            </a:r>
            <a:endParaRPr lang="en-US" altLang="ja-JP" sz="2000" dirty="0" smtClean="0"/>
          </a:p>
          <a:p>
            <a:r>
              <a:rPr lang="ja-JP" altLang="en-US" sz="2000" dirty="0" smtClean="0"/>
              <a:t>      </a:t>
            </a:r>
            <a:r>
              <a:rPr lang="en-US" altLang="ja-JP" sz="2000" dirty="0" err="1" smtClean="0"/>
              <a:t>int</a:t>
            </a:r>
            <a:r>
              <a:rPr lang="en-US" altLang="ja-JP" sz="2000" dirty="0" smtClean="0"/>
              <a:t> </a:t>
            </a:r>
            <a:r>
              <a:rPr lang="en-US" altLang="ja-JP" sz="2000" dirty="0" err="1" smtClean="0"/>
              <a:t>getLength</a:t>
            </a:r>
            <a:r>
              <a:rPr lang="en-US" altLang="ja-JP" sz="2000" dirty="0" smtClean="0"/>
              <a:t> (char *</a:t>
            </a:r>
            <a:r>
              <a:rPr lang="en-US" altLang="ja-JP" sz="2000" dirty="0" err="1" smtClean="0"/>
              <a:t>str</a:t>
            </a:r>
            <a:r>
              <a:rPr lang="en-US" altLang="ja-JP" sz="2000" dirty="0" smtClean="0"/>
              <a:t>) { ... }</a:t>
            </a:r>
            <a:endParaRPr lang="ja-JP" altLang="en-US" sz="2000" dirty="0" smtClean="0"/>
          </a:p>
          <a:p>
            <a:r>
              <a:rPr lang="ja-JP" altLang="en-US" sz="2000" dirty="0" smtClean="0"/>
              <a:t>また、</a:t>
            </a:r>
            <a:r>
              <a:rPr lang="en-US" altLang="ja-JP" sz="2000" dirty="0" err="1" smtClean="0"/>
              <a:t>getLength</a:t>
            </a:r>
            <a:r>
              <a:rPr lang="ja-JP" altLang="en-US" sz="2000" dirty="0" smtClean="0"/>
              <a:t>が正常に動作することを以下のように確認せよ。</a:t>
            </a:r>
          </a:p>
          <a:p>
            <a:r>
              <a:rPr lang="ja-JP" altLang="en-US" sz="2000" dirty="0" smtClean="0"/>
              <a:t>文字列を</a:t>
            </a:r>
            <a:r>
              <a:rPr lang="en-US" altLang="ja-JP" sz="2000" dirty="0" smtClean="0"/>
              <a:t>main</a:t>
            </a:r>
            <a:r>
              <a:rPr lang="ja-JP" altLang="en-US" sz="2000" dirty="0" smtClean="0"/>
              <a:t>関数中において</a:t>
            </a:r>
            <a:r>
              <a:rPr lang="en-US" altLang="ja-JP" sz="2000" dirty="0" smtClean="0"/>
              <a:t>gets</a:t>
            </a:r>
            <a:r>
              <a:rPr lang="ja-JP" altLang="en-US" sz="2000" dirty="0" smtClean="0"/>
              <a:t>関数でキーボードから受け取り、それを関数</a:t>
            </a:r>
            <a:r>
              <a:rPr lang="en-US" altLang="ja-JP" sz="2000" dirty="0" err="1" smtClean="0"/>
              <a:t>getLength</a:t>
            </a:r>
            <a:r>
              <a:rPr lang="ja-JP" altLang="en-US" sz="2000" dirty="0" smtClean="0"/>
              <a:t>に渡して返り値としてその長さを受け取り、それを</a:t>
            </a:r>
            <a:r>
              <a:rPr lang="en-US" altLang="ja-JP" sz="2000" dirty="0" smtClean="0"/>
              <a:t>main</a:t>
            </a:r>
            <a:r>
              <a:rPr lang="ja-JP" altLang="en-US" sz="2000" dirty="0" smtClean="0"/>
              <a:t>関数中で以下の実行例のように画面に表示するようにプログラムを作成する。</a:t>
            </a:r>
            <a:endParaRPr lang="en-US" altLang="ja-JP" sz="2000" dirty="0" smtClean="0"/>
          </a:p>
          <a:p>
            <a:endParaRPr lang="en-US" altLang="ja-JP" sz="2000" dirty="0" smtClean="0"/>
          </a:p>
          <a:p>
            <a:r>
              <a:rPr lang="ja-JP" altLang="en-US" sz="2000" dirty="0" smtClean="0"/>
              <a:t>（実行例）</a:t>
            </a:r>
          </a:p>
          <a:p>
            <a:r>
              <a:rPr lang="en-US" altLang="ja-JP" sz="2000" dirty="0" smtClean="0"/>
              <a:t>[</a:t>
            </a:r>
            <a:r>
              <a:rPr lang="en-US" altLang="ja-JP" sz="2000" dirty="0" err="1" smtClean="0"/>
              <a:t>sasano@localhost</a:t>
            </a:r>
            <a:r>
              <a:rPr lang="en-US" altLang="ja-JP" sz="2000" dirty="0" smtClean="0"/>
              <a:t> 2011]$ ./</a:t>
            </a:r>
            <a:r>
              <a:rPr lang="en-US" altLang="ja-JP" sz="2000" dirty="0" err="1" smtClean="0"/>
              <a:t>a.out</a:t>
            </a:r>
            <a:endParaRPr lang="en-US" altLang="ja-JP" sz="2000" dirty="0" smtClean="0"/>
          </a:p>
          <a:p>
            <a:r>
              <a:rPr lang="ja-JP" altLang="en-US" sz="2000" dirty="0" smtClean="0"/>
              <a:t>英語の文字列を入力してください</a:t>
            </a:r>
            <a:r>
              <a:rPr lang="en-US" altLang="ja-JP" sz="2000" dirty="0" smtClean="0"/>
              <a:t>: </a:t>
            </a:r>
            <a:r>
              <a:rPr lang="en-US" altLang="ja-JP" sz="2000" dirty="0" smtClean="0">
                <a:solidFill>
                  <a:srgbClr val="FF0000"/>
                </a:solidFill>
              </a:rPr>
              <a:t>This is a pen.</a:t>
            </a:r>
          </a:p>
          <a:p>
            <a:r>
              <a:rPr lang="ja-JP" altLang="en-US" sz="2000" dirty="0" smtClean="0"/>
              <a:t>入力した文字列 </a:t>
            </a:r>
            <a:r>
              <a:rPr lang="en-US" altLang="ja-JP" sz="2000" dirty="0" smtClean="0"/>
              <a:t>"This is a pen." </a:t>
            </a:r>
            <a:r>
              <a:rPr lang="ja-JP" altLang="en-US" sz="2000" dirty="0" smtClean="0"/>
              <a:t>の長さは</a:t>
            </a:r>
            <a:r>
              <a:rPr lang="en-US" altLang="ja-JP" sz="2000" dirty="0" smtClean="0"/>
              <a:t>14</a:t>
            </a:r>
            <a:r>
              <a:rPr lang="ja-JP" altLang="en-US" sz="2000" dirty="0" smtClean="0"/>
              <a:t>です。</a:t>
            </a:r>
          </a:p>
          <a:p>
            <a:endParaRPr lang="en-US" altLang="ja-JP" sz="2000" dirty="0" smtClean="0"/>
          </a:p>
          <a:p>
            <a:r>
              <a:rPr lang="ja-JP" altLang="en-US" sz="2000" dirty="0" smtClean="0"/>
              <a:t>（注意）前回言った通り</a:t>
            </a:r>
            <a:r>
              <a:rPr lang="en-US" altLang="ja-JP" sz="2000" dirty="0" smtClean="0"/>
              <a:t>gets</a:t>
            </a:r>
            <a:r>
              <a:rPr lang="ja-JP" altLang="en-US" sz="2000" dirty="0" smtClean="0"/>
              <a:t>関数を使うと</a:t>
            </a:r>
            <a:r>
              <a:rPr lang="en-US" altLang="ja-JP" sz="2000" dirty="0" smtClean="0"/>
              <a:t>buffer overflow</a:t>
            </a:r>
            <a:r>
              <a:rPr lang="ja-JP" altLang="en-US" sz="2000" dirty="0" smtClean="0"/>
              <a:t>の問題があるが、ここでは使っていいことにする。</a:t>
            </a:r>
            <a:r>
              <a:rPr lang="en-US" altLang="ja-JP" sz="2000" dirty="0" smtClean="0"/>
              <a:t>gets</a:t>
            </a:r>
            <a:r>
              <a:rPr lang="ja-JP" altLang="en-US" sz="2000" dirty="0" smtClean="0"/>
              <a:t>関数が使われていたらコンパイル時に警告が出るがここでは無視する。ただし、文字列格納用の配列は十分な長さで宣言する。</a:t>
            </a:r>
            <a:endParaRPr lang="en-US" altLang="ja-JP" sz="2000" dirty="0" smtClean="0"/>
          </a:p>
          <a:p>
            <a:r>
              <a:rPr lang="ja-JP" altLang="en-US" sz="2000" dirty="0" smtClean="0"/>
              <a:t>（補足）関数</a:t>
            </a:r>
            <a:r>
              <a:rPr lang="en-US" altLang="ja-JP" sz="2000" dirty="0" err="1" smtClean="0"/>
              <a:t>getLength</a:t>
            </a:r>
            <a:r>
              <a:rPr lang="ja-JP" altLang="en-US" sz="2000" dirty="0" smtClean="0"/>
              <a:t>の仮引数の</a:t>
            </a:r>
            <a:r>
              <a:rPr lang="en-US" altLang="ja-JP" sz="2000" dirty="0" smtClean="0"/>
              <a:t>char *</a:t>
            </a:r>
            <a:r>
              <a:rPr lang="en-US" altLang="ja-JP" sz="2000" dirty="0" err="1" smtClean="0"/>
              <a:t>str</a:t>
            </a:r>
            <a:r>
              <a:rPr lang="ja-JP" altLang="en-US" sz="2000" dirty="0" smtClean="0"/>
              <a:t>の部分は</a:t>
            </a:r>
            <a:r>
              <a:rPr lang="en-US" altLang="ja-JP" sz="2000" dirty="0" smtClean="0"/>
              <a:t>char </a:t>
            </a:r>
            <a:r>
              <a:rPr lang="en-US" altLang="ja-JP" sz="2000" dirty="0" err="1" smtClean="0"/>
              <a:t>str</a:t>
            </a:r>
            <a:r>
              <a:rPr lang="en-US" altLang="ja-JP" sz="2000" dirty="0" smtClean="0"/>
              <a:t> []</a:t>
            </a:r>
            <a:r>
              <a:rPr lang="ja-JP" altLang="en-US" sz="2000" dirty="0" smtClean="0"/>
              <a:t>と書いても同じ意味である。</a:t>
            </a:r>
            <a:endParaRPr lang="en-US" altLang="ja-JP" sz="2000" dirty="0" smtClean="0"/>
          </a:p>
          <a:p>
            <a:endParaRPr lang="ja-JP" altLang="en-US" sz="2000"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16632"/>
            <a:ext cx="8229600" cy="1008112"/>
          </a:xfrm>
        </p:spPr>
        <p:txBody>
          <a:bodyPr/>
          <a:lstStyle/>
          <a:p>
            <a:r>
              <a:rPr kumimoji="1" lang="ja-JP" altLang="en-US" dirty="0" smtClean="0"/>
              <a:t>参考課題１解答例</a:t>
            </a:r>
            <a:endParaRPr kumimoji="1" lang="ja-JP" altLang="en-US" dirty="0"/>
          </a:p>
        </p:txBody>
      </p:sp>
      <p:sp>
        <p:nvSpPr>
          <p:cNvPr id="4" name="正方形/長方形 3"/>
          <p:cNvSpPr/>
          <p:nvPr/>
        </p:nvSpPr>
        <p:spPr>
          <a:xfrm>
            <a:off x="1043608" y="1052736"/>
            <a:ext cx="7488832" cy="5632311"/>
          </a:xfrm>
          <a:prstGeom prst="rect">
            <a:avLst/>
          </a:prstGeom>
          <a:ln>
            <a:solidFill>
              <a:schemeClr val="tx1"/>
            </a:solidFill>
          </a:ln>
        </p:spPr>
        <p:txBody>
          <a:bodyPr wrap="square">
            <a:spAutoFit/>
          </a:bodyPr>
          <a:lstStyle/>
          <a:p>
            <a:r>
              <a:rPr lang="en-US" altLang="ja-JP" sz="2400" dirty="0" smtClean="0"/>
              <a:t>#include&lt;</a:t>
            </a:r>
            <a:r>
              <a:rPr lang="en-US" altLang="ja-JP" sz="2400" dirty="0" err="1" smtClean="0"/>
              <a:t>stdio.h</a:t>
            </a:r>
            <a:r>
              <a:rPr lang="en-US" altLang="ja-JP" sz="2400" dirty="0" smtClean="0"/>
              <a:t>&gt;</a:t>
            </a:r>
          </a:p>
          <a:p>
            <a:r>
              <a:rPr lang="en-US" altLang="ja-JP" sz="2400" dirty="0" err="1" smtClean="0"/>
              <a:t>int</a:t>
            </a:r>
            <a:r>
              <a:rPr lang="en-US" altLang="ja-JP" sz="2400" dirty="0" smtClean="0"/>
              <a:t> </a:t>
            </a:r>
            <a:r>
              <a:rPr lang="en-US" altLang="ja-JP" sz="2400" dirty="0" err="1" smtClean="0"/>
              <a:t>getLength</a:t>
            </a:r>
            <a:r>
              <a:rPr lang="en-US" altLang="ja-JP" sz="2400" dirty="0" smtClean="0"/>
              <a:t> (char *</a:t>
            </a:r>
            <a:r>
              <a:rPr lang="en-US" altLang="ja-JP" sz="2400" dirty="0" err="1" smtClean="0"/>
              <a:t>str</a:t>
            </a:r>
            <a:r>
              <a:rPr lang="en-US" altLang="ja-JP" sz="2400" dirty="0" smtClean="0"/>
              <a:t>) {</a:t>
            </a:r>
          </a:p>
          <a:p>
            <a:r>
              <a:rPr lang="en-US" altLang="ja-JP" sz="2400" dirty="0" smtClean="0"/>
              <a:t>  </a:t>
            </a:r>
            <a:r>
              <a:rPr lang="en-US" altLang="ja-JP" sz="2400" dirty="0" err="1" smtClean="0"/>
              <a:t>int</a:t>
            </a:r>
            <a:r>
              <a:rPr lang="en-US" altLang="ja-JP" sz="2400" dirty="0" smtClean="0"/>
              <a:t> </a:t>
            </a:r>
            <a:r>
              <a:rPr lang="en-US" altLang="ja-JP" sz="2400" dirty="0" err="1" smtClean="0"/>
              <a:t>i</a:t>
            </a:r>
            <a:r>
              <a:rPr lang="en-US" altLang="ja-JP" sz="2400" dirty="0" smtClean="0"/>
              <a:t>;</a:t>
            </a:r>
          </a:p>
          <a:p>
            <a:r>
              <a:rPr lang="en-US" altLang="ja-JP" sz="2400" dirty="0" smtClean="0"/>
              <a:t>  for (</a:t>
            </a:r>
            <a:r>
              <a:rPr lang="en-US" altLang="ja-JP" sz="2400" dirty="0" err="1" smtClean="0"/>
              <a:t>i</a:t>
            </a:r>
            <a:r>
              <a:rPr lang="en-US" altLang="ja-JP" sz="2400" dirty="0" smtClean="0"/>
              <a:t>=0; </a:t>
            </a:r>
            <a:r>
              <a:rPr lang="en-US" altLang="ja-JP" sz="2400" dirty="0" err="1" smtClean="0"/>
              <a:t>str</a:t>
            </a:r>
            <a:r>
              <a:rPr lang="en-US" altLang="ja-JP" sz="2400" dirty="0" smtClean="0"/>
              <a:t>[</a:t>
            </a:r>
            <a:r>
              <a:rPr lang="en-US" altLang="ja-JP" sz="2400" dirty="0" err="1" smtClean="0"/>
              <a:t>i</a:t>
            </a:r>
            <a:r>
              <a:rPr lang="en-US" altLang="ja-JP" sz="2400" dirty="0" smtClean="0"/>
              <a:t>]!='\0'; </a:t>
            </a:r>
            <a:r>
              <a:rPr lang="en-US" altLang="ja-JP" sz="2400" dirty="0" err="1" smtClean="0"/>
              <a:t>i</a:t>
            </a:r>
            <a:r>
              <a:rPr lang="en-US" altLang="ja-JP" sz="2400" dirty="0" smtClean="0"/>
              <a:t>=i+1);</a:t>
            </a:r>
          </a:p>
          <a:p>
            <a:r>
              <a:rPr lang="en-US" altLang="ja-JP" sz="2400" dirty="0" smtClean="0"/>
              <a:t>  return </a:t>
            </a:r>
            <a:r>
              <a:rPr lang="en-US" altLang="ja-JP" sz="2400" dirty="0" err="1" smtClean="0"/>
              <a:t>i</a:t>
            </a:r>
            <a:r>
              <a:rPr lang="en-US" altLang="ja-JP" sz="2400" dirty="0" smtClean="0"/>
              <a:t>;</a:t>
            </a:r>
          </a:p>
          <a:p>
            <a:r>
              <a:rPr lang="en-US" altLang="ja-JP" sz="2400" dirty="0" smtClean="0"/>
              <a:t>}</a:t>
            </a:r>
          </a:p>
          <a:p>
            <a:r>
              <a:rPr lang="en-US" altLang="ja-JP" sz="2400" dirty="0" err="1" smtClean="0"/>
              <a:t>int</a:t>
            </a:r>
            <a:r>
              <a:rPr lang="en-US" altLang="ja-JP" sz="2400" dirty="0" smtClean="0"/>
              <a:t> main(void) {</a:t>
            </a:r>
          </a:p>
          <a:p>
            <a:r>
              <a:rPr lang="en-US" altLang="ja-JP" sz="2400" dirty="0" smtClean="0"/>
              <a:t>  </a:t>
            </a:r>
            <a:r>
              <a:rPr lang="en-US" altLang="ja-JP" sz="2400" dirty="0" err="1" smtClean="0"/>
              <a:t>int</a:t>
            </a:r>
            <a:r>
              <a:rPr lang="en-US" altLang="ja-JP" sz="2400" dirty="0" smtClean="0"/>
              <a:t> </a:t>
            </a:r>
            <a:r>
              <a:rPr lang="en-US" altLang="ja-JP" sz="2400" dirty="0" err="1" smtClean="0"/>
              <a:t>i</a:t>
            </a:r>
            <a:r>
              <a:rPr lang="en-US" altLang="ja-JP" sz="2400" dirty="0" smtClean="0"/>
              <a:t>;</a:t>
            </a:r>
          </a:p>
          <a:p>
            <a:r>
              <a:rPr lang="en-US" altLang="ja-JP" sz="2400" dirty="0" smtClean="0"/>
              <a:t>  char s[100];</a:t>
            </a:r>
          </a:p>
          <a:p>
            <a:r>
              <a:rPr lang="en-US" altLang="ja-JP" sz="2400" dirty="0" smtClean="0"/>
              <a:t>  </a:t>
            </a:r>
            <a:r>
              <a:rPr lang="en-US" altLang="ja-JP" sz="2400" dirty="0" err="1" smtClean="0"/>
              <a:t>printf</a:t>
            </a:r>
            <a:r>
              <a:rPr lang="en-US" altLang="ja-JP" sz="2400" dirty="0" smtClean="0"/>
              <a:t> ("</a:t>
            </a:r>
            <a:r>
              <a:rPr lang="ja-JP" altLang="en-US" sz="2400" dirty="0" smtClean="0"/>
              <a:t>英語の文字列を入力してください</a:t>
            </a:r>
            <a:r>
              <a:rPr lang="en-US" altLang="ja-JP" sz="2400" dirty="0" smtClean="0"/>
              <a:t>: ");</a:t>
            </a:r>
          </a:p>
          <a:p>
            <a:r>
              <a:rPr lang="en-US" altLang="ja-JP" sz="2400" dirty="0" smtClean="0"/>
              <a:t>  gets(s);</a:t>
            </a:r>
          </a:p>
          <a:p>
            <a:r>
              <a:rPr lang="en-US" altLang="ja-JP" sz="2400" dirty="0" smtClean="0"/>
              <a:t>  </a:t>
            </a:r>
            <a:r>
              <a:rPr lang="en-US" altLang="ja-JP" sz="2400" dirty="0" err="1" smtClean="0"/>
              <a:t>printf</a:t>
            </a:r>
            <a:r>
              <a:rPr lang="en-US" altLang="ja-JP" sz="2400" dirty="0" smtClean="0"/>
              <a:t> ("</a:t>
            </a:r>
            <a:r>
              <a:rPr lang="ja-JP" altLang="en-US" sz="2400" dirty="0" smtClean="0"/>
              <a:t>入力した文字列 </a:t>
            </a:r>
            <a:r>
              <a:rPr lang="en-US" altLang="ja-JP" sz="2400" dirty="0" smtClean="0"/>
              <a:t>\"%s\" </a:t>
            </a:r>
            <a:r>
              <a:rPr lang="ja-JP" altLang="en-US" sz="2400" dirty="0" smtClean="0"/>
              <a:t>の長さは</a:t>
            </a:r>
            <a:r>
              <a:rPr lang="en-US" altLang="ja-JP" sz="2400" dirty="0" smtClean="0"/>
              <a:t>%d</a:t>
            </a:r>
            <a:r>
              <a:rPr lang="ja-JP" altLang="en-US" sz="2400" dirty="0" smtClean="0"/>
              <a:t>です。</a:t>
            </a:r>
            <a:r>
              <a:rPr lang="en-US" altLang="ja-JP" sz="2400" dirty="0" smtClean="0"/>
              <a:t>\n",</a:t>
            </a:r>
          </a:p>
          <a:p>
            <a:r>
              <a:rPr lang="en-US" altLang="ja-JP" sz="2400" dirty="0" smtClean="0"/>
              <a:t>          s, </a:t>
            </a:r>
            <a:r>
              <a:rPr lang="en-US" altLang="ja-JP" sz="2400" dirty="0" err="1" smtClean="0"/>
              <a:t>getLength</a:t>
            </a:r>
            <a:r>
              <a:rPr lang="en-US" altLang="ja-JP" sz="2400" dirty="0" smtClean="0"/>
              <a:t>(s));</a:t>
            </a:r>
          </a:p>
          <a:p>
            <a:r>
              <a:rPr lang="en-US" altLang="ja-JP" sz="2400" dirty="0" smtClean="0"/>
              <a:t>  return 0;</a:t>
            </a:r>
          </a:p>
          <a:p>
            <a:r>
              <a:rPr lang="en-US" altLang="ja-JP" sz="2400" dirty="0" smtClean="0"/>
              <a:t>}</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831</TotalTime>
  <Words>4659</Words>
  <Application>Microsoft Office PowerPoint</Application>
  <PresentationFormat>画面に合わせる (4:3)</PresentationFormat>
  <Paragraphs>453</Paragraphs>
  <Slides>41</Slides>
  <Notes>0</Notes>
  <HiddenSlides>0</HiddenSlides>
  <MMClips>0</MMClips>
  <ScaleCrop>false</ScaleCrop>
  <HeadingPairs>
    <vt:vector size="4" baseType="variant">
      <vt:variant>
        <vt:lpstr>テーマ</vt:lpstr>
      </vt:variant>
      <vt:variant>
        <vt:i4>1</vt:i4>
      </vt:variant>
      <vt:variant>
        <vt:lpstr>スライド タイトル</vt:lpstr>
      </vt:variant>
      <vt:variant>
        <vt:i4>41</vt:i4>
      </vt:variant>
    </vt:vector>
  </HeadingPairs>
  <TitlesOfParts>
    <vt:vector size="42" baseType="lpstr">
      <vt:lpstr>Office テーマ</vt:lpstr>
      <vt:lpstr>プログラミング入門２ 第９回 ポインタ</vt:lpstr>
      <vt:lpstr>今日の内容</vt:lpstr>
      <vt:lpstr>アドレス</vt:lpstr>
      <vt:lpstr>アドレス</vt:lpstr>
      <vt:lpstr>アドレス</vt:lpstr>
      <vt:lpstr>＆演算子</vt:lpstr>
      <vt:lpstr>例（打ち込んで確認）</vt:lpstr>
      <vt:lpstr>例（打ち込んで確認）</vt:lpstr>
      <vt:lpstr>ポインタ</vt:lpstr>
      <vt:lpstr>アドレス演算子＆</vt:lpstr>
      <vt:lpstr>ポインタ型の変数の宣言</vt:lpstr>
      <vt:lpstr>例</vt:lpstr>
      <vt:lpstr>間接演算子 *</vt:lpstr>
      <vt:lpstr>例（打ち込んで確認）</vt:lpstr>
      <vt:lpstr>配列とポインタ</vt:lpstr>
      <vt:lpstr>配列とポインタ（２）</vt:lpstr>
      <vt:lpstr>配列とポインタ（３）</vt:lpstr>
      <vt:lpstr>ポインタ型とint型の足し算</vt:lpstr>
      <vt:lpstr>例（打ち込んで確認）</vt:lpstr>
      <vt:lpstr>ポインタ型変数の値の変更</vt:lpstr>
      <vt:lpstr>例</vt:lpstr>
      <vt:lpstr>例：配列の要素の和の計算 （打ち込んで確認）</vt:lpstr>
      <vt:lpstr>配列を関数に渡したい場合</vt:lpstr>
      <vt:lpstr>例（打ち込んで確認）</vt:lpstr>
      <vt:lpstr>配列の長さ</vt:lpstr>
      <vt:lpstr>例</vt:lpstr>
      <vt:lpstr>[ ] の意味</vt:lpstr>
      <vt:lpstr>例</vt:lpstr>
      <vt:lpstr>ポインタ型の仮引数表記</vt:lpstr>
      <vt:lpstr>例</vt:lpstr>
      <vt:lpstr>配列について</vt:lpstr>
      <vt:lpstr>例</vt:lpstr>
      <vt:lpstr>（補足）[ ] 記法について</vt:lpstr>
      <vt:lpstr>基本課題１</vt:lpstr>
      <vt:lpstr>基本課題２</vt:lpstr>
      <vt:lpstr>発展課題１</vt:lpstr>
      <vt:lpstr>発展課題２</vt:lpstr>
      <vt:lpstr>発展課題３</vt:lpstr>
      <vt:lpstr>発展課題４</vt:lpstr>
      <vt:lpstr>参考課題１</vt:lpstr>
      <vt:lpstr>参考課題１解答例</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プログラミング入門２ 第９回</dc:title>
  <dc:creator>sasano</dc:creator>
  <cp:lastModifiedBy>sasano</cp:lastModifiedBy>
  <cp:revision>607</cp:revision>
  <dcterms:created xsi:type="dcterms:W3CDTF">2009-11-18T15:33:34Z</dcterms:created>
  <dcterms:modified xsi:type="dcterms:W3CDTF">2011-11-29T03:00:50Z</dcterms:modified>
</cp:coreProperties>
</file>